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各位领导好，今天用二十五分钟，把 FDE 这件事一次性讲清楚。一句话立意：FDE 值钱在人、难也在人，所以我们的态度是战略重视、节奏稳妥、人才优先。我会从它是什么、为什么是机会、为什么不能急，一路讲到我们打算怎么稳妥做。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先进入第一章，FDE 到底是什么。一句话：它不是外包，也不是咨询，而是到现场解决问题、还能沉淀下资产。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同样是银行信贷自动化这一个案例，三种角色的做法完全不同。咨询顾问待两周出一沓 PPT，画完路线图就走；外包工程师等需求文档、按文档写代码、收尾款撤场。FDE 不一样，它坐到风控经理旁边，第一周就动手改模型，还把一线问题回流给产品团队。所以本质区别是：咨询卖建议，外包卖工时，FDE 卖的是结果，而且还会留下资产。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判断一个项目到底是不是 FDE，看它结束之后留下了什么。只留一套系统，那是外包；带回经验但没法复用，是项目制；把经验沉淀成可复用的 Skill 和模板，才是 FDE；如果能做到让下一个客户更便宜，那就是可规模化的 FDE。我们买的是结果，不是时间。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这里要特别提醒：带产品去找问题，不等于现场解决问题。有个反例，某协同办公团队进工厂，第一件事是装摄像头抓员工抽烟，既不核心也没门槛。真正的 FDE 会到一线重新定义问题，盯的是良率、订单延期这些真问题，本质接近创业。现在 ABC 满天飞，挂名的 FDE 多、真的 FDE 少，我们要做真 FDE。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接下来第二章，聊聊它为什么现在火，机会和销毛潜力到底在哪。结论是：这不是炒概念，而是 AI 落地进入深水区之后的结构性必然。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落地有一条八十九十九规律。从零到百分之八十，通用大模型加简单 Prompt，一天就能搭出挺好用的原型；八十到九十五这一段，要处理行业术语和边界情况，很难；真正难的是九十五到九十九，一两个点的错误可能造成严重后果，这才是 FDE、专用平台和万级真实数据的战场。要清醒看到，超过六成的企业 AI 尝试，还卡在百分之八十之前的试点阶段。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 FDE 这种过去不划算的重交付，现在突然可行了？因为 AI 同时打开了三道成本闸门。行业知识蒸馏成本下降，一线能现场写脚本、封装工具；定制开发成本下降，小团队就能完成价值验证；复合人才供给成本下降，AI 补齐了部分工程和文档能力。一句话：可编码的经验正在廉价化，不可编码的洞察正在稀缺化。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高销毛不是讲故事，是有真实逻辑的。海外标杆 Palantir 毛利率大约百分之八十二，接近纯软件公司，远高于咨询业的三到四成；Bootcamp 五天驻场，转化率百分之七十，获客成本降四到六成；国内腾讯云的 FDE 服务已经能独立定价，头部客户做到百万到五百万级别。收入逻辑上，席位费只是入口，客户越用越深所产生的持续消耗，才是长期引擎。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这不是我们在追风口，而是三股力量同时指向同一个方向。招聘端，海外 FDE 岗位一年猛增七倍多；大厂端，AWS 投十亿美元做企业交付，OpenAI、Anthropic 直接下场；政策端，上海把 FDE 写进了产业政策，全国首个。FDE 已经是行业共识，这个角色甚至还在继续升级。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现在进入全场最关键的一章，真相与风险。先把结论摆在这儿：FDE 值钱，但绝不是马上能变现的数字。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FDE 是真机会，但变现受制于三条结构性约束，这是市场的客观规律，不是我们保守。第一，新兴行业无规范，没有现成作业可抄；第二，人才苛刻到市场上几乎招不到，内部培养也是长周期；第三，客户门槛高，需要客户 IT 成熟度和 AI 接受度配合。潜力是真实的，约束也是真实的，所以结论很清楚：战略上重视，节奏上稳妥，用节奏去对冲不确定性。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硅谷的赚钱模式，国内还远达不到，两者根本不是一回事。客单价差十到一百倍；美国 ERP、CRM、ITSM 数据沉淀完善，国内流程还写在默契里；Palantir 的本体层投了十几年、数百工程师、百分之零点三的录用率，国内复制不了。核心挑战就一个词：经济性，账必须算得过来。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FDE 最怕的不是做不成，是做着做着变成换名字的外包。五类系统性风险里，最核心的是本体缺失的恶性循环：没沉淀、每单从零开始、更没时间沉淀。其他还有组织归属两难、落地容易扩展难、利润率结构性偏重、模型厂商既是伙伴也是竞争者。所有这些风险，本质上都指向同一个问题，就是能不能持续降低边际成本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要承认，国内很多岗位挂着 FDE 的名，干的还是实施、部署、培训。三类最常见的挂羊头：岗位认知和驻场外包混淆、组织授权不足、产品沉淀弱。从业者把自己比作十年前的产品经理，窗口期五到十年，会大浪淘沙。我们的立场很明确：做真 FDE，不做伪 FDE。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聊完风险，进入第四章，我们打算怎么稳妥推进。九个字：先验证、先沉淀、先打标杆。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先证明价值，再谈规模，卖的是成果而不是软件。一线有四步打法：业务理解，搞清钱从哪来、卡在哪、AI 该撬哪；协作搭建，业务专家和 FDE 共建 Agent 和工作流；质量保障，用真实数据做测试集、自动评测加 A/B 对照；结果验证，AI 组对照人工组逐环节比。要特别警惕死亡之谷，多数项目死在试点到生产之间，数据质量被回避、审批没打通。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FDE 能不能赚钱，看会不会把经验变成资产，这是一笔复利账。第一个客户要从零定制，成本是常规的三倍，毛利率只有百分之二十五；到第四个客户，单客户增量工时降到四个人天；第五到第八个客户，上线周期从六周压到一周，毛利率做到五十五到七十。冷启动大约投一百五十万，到第八个客户累计省三百万，正式回本。七个客户之后本体趋稳，复利才真正兑现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节奏上，原厂打样、伙伴复制、先易后难。第一阶段原厂亲自做，跑通重点行业标杆，沉淀 Skill、模板和方法论；第二阶段交给 ISV、SI 和区域伙伴规模化交付，配套培训和认证；终态是客户自助，部署是脚手架，而不是房子。行业优先序上，先做高容错的教育、传媒、文旅，后做高精度的工业和金融。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最后一章，人才与组织。这一章的主线是：价值在人，瓶颈也在人。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真正的 FDE 市场上几乎招不到，出路是内部转型加项目制培养。强 FDE 高溢价、弱 FDE 普通化，全靠外招成本高、流失快。最接近 FDE 能力模型的是深耕行业的 SA，交付和行业专家也都能转。培养是项目制不是课堂制，零到三个月打基础，九到十八个月独立交付，十八个月以上才能定义问题。要特别警惕一线失血：刚培养成熟就被调回总部，是最大的隐性损耗。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人才理念必须彻底扭转，从把人当资源，转向把人当资产。落到机制上，就是双轨绩效加内部结算，让沉淀和跨客户复用算进绩效。要知道，能力越往上越值钱，行业洞察、客户信任、组织推动，这些 AI 替代不了。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让工程执行变便宜，让判断能力更稀缺。前线角色正在从写代码的人，变成指挥 AI 完成业务的人。模型再强，仍然需要有人知道行业怎么运转、客户怎么决策。所以结论是：懂业务、懂组织、懂指挥 AI 的人，不会被取代；能把知识变成组织资产的人，最值钱。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用四句话收束全场。潜力：AI 落地最后一公里，有真实的高销毛逻辑。真相：新兴行业、国内国外不同，难在人、周期长，别让它变成经营压力。路径：先验证、先沉淀、先打标杆。人才：从把人当资源，转向把人当资产。一句话总结：FDE 值得战略投入，战略重视、节奏稳妥、人才优先。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最后，从认知拉齐走向具体行动，三个起步动作。第一，选一两个高容错行业做验证试点，跑出标杆；第二，盘点内部接近 FDE 能力的人，启动转型培养；第三，建机制，把经验沉淀和复用纳入绩效。这三个动作是方向性的，具体经营方案留后续专题。我的汇报到这里，谢谢各位。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6BFE">
                    <a:alpha val="24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518FEC">
                    <a:alpha val="14000"/>
                  </a:srgbClr>
                </a:gs>
                <a:gs pos="100000">
                  <a:srgbClr val="518FEC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086850" y="733425"/>
            <a:ext cx="2466975" cy="2533650"/>
            <a:chOff x="9086850" y="733425"/>
            <a:chExt cx="2466975" cy="2533650"/>
          </a:xfrm>
        </p:grpSpPr>
        <p:sp>
          <p:nvSpPr>
            <p:cNvPr id="6" name="Ellipse 6"/>
            <p:cNvSpPr/>
            <p:nvPr/>
          </p:nvSpPr>
          <p:spPr>
            <a:xfrm>
              <a:off x="9115425" y="733425"/>
              <a:ext cx="2247900" cy="2247900"/>
            </a:xfrm>
            <a:prstGeom prst="ellipse">
              <a:avLst/>
            </a:prstGeom>
            <a:noFill/>
            <a:ln w="14288">
              <a:solidFill>
                <a:srgbClr val="518FEC">
                  <a:alpha val="18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363075" y="981075"/>
              <a:ext cx="1752600" cy="1752600"/>
            </a:xfrm>
            <a:prstGeom prst="ellipse">
              <a:avLst/>
            </a:prstGeom>
            <a:noFill/>
            <a:ln w="14288">
              <a:solidFill>
                <a:srgbClr val="246BFE">
                  <a:alpha val="32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629775" y="1247775"/>
              <a:ext cx="1219200" cy="1219200"/>
            </a:xfrm>
            <a:prstGeom prst="ellipse">
              <a:avLst/>
            </a:prstGeom>
            <a:solidFill>
              <a:srgbClr val="246BFE">
                <a:alpha val="140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9925050" y="1543050"/>
              <a:ext cx="628650" cy="628650"/>
              <a:chOff x="9925050" y="1543050"/>
              <a:chExt cx="628650" cy="6286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239375" y="1892300"/>
                <a:ext cx="244475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79400">
                    <a:moveTo>
                      <a:pt x="122237" y="0"/>
                    </a:moveTo>
                    <a:cubicBezTo>
                      <a:pt x="54728" y="0"/>
                      <a:pt x="0" y="54728"/>
                      <a:pt x="0" y="122238"/>
                    </a:cubicBezTo>
                    <a:lnTo>
                      <a:pt x="0" y="157162"/>
                    </a:lnTo>
                    <a:cubicBezTo>
                      <a:pt x="0" y="224672"/>
                      <a:pt x="54728" y="279400"/>
                      <a:pt x="122237" y="279400"/>
                    </a:cubicBezTo>
                    <a:cubicBezTo>
                      <a:pt x="189747" y="279400"/>
                      <a:pt x="244475" y="224672"/>
                      <a:pt x="244475" y="157162"/>
                    </a:cubicBezTo>
                    <a:lnTo>
                      <a:pt x="244475" y="94298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994900" y="1892300"/>
                <a:ext cx="244475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79400">
                    <a:moveTo>
                      <a:pt x="122238" y="0"/>
                    </a:moveTo>
                    <a:cubicBezTo>
                      <a:pt x="189747" y="0"/>
                      <a:pt x="244475" y="54728"/>
                      <a:pt x="244475" y="122238"/>
                    </a:cubicBezTo>
                    <a:lnTo>
                      <a:pt x="244475" y="157162"/>
                    </a:lnTo>
                    <a:cubicBezTo>
                      <a:pt x="244475" y="224672"/>
                      <a:pt x="189747" y="279400"/>
                      <a:pt x="122238" y="279400"/>
                    </a:cubicBezTo>
                    <a:cubicBezTo>
                      <a:pt x="54728" y="279400"/>
                      <a:pt x="0" y="224672"/>
                      <a:pt x="0" y="157162"/>
                    </a:cubicBezTo>
                    <a:lnTo>
                      <a:pt x="0" y="94298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14000" y="1752600"/>
                <a:ext cx="139700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244475">
                    <a:moveTo>
                      <a:pt x="17463" y="244475"/>
                    </a:moveTo>
                    <a:cubicBezTo>
                      <a:pt x="84972" y="244475"/>
                      <a:pt x="139700" y="189747"/>
                      <a:pt x="139700" y="122237"/>
                    </a:cubicBezTo>
                    <a:cubicBezTo>
                      <a:pt x="139700" y="54728"/>
                      <a:pt x="84972" y="0"/>
                      <a:pt x="1746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239375" y="1543050"/>
                <a:ext cx="244475" cy="220027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220027">
                    <a:moveTo>
                      <a:pt x="244475" y="220027"/>
                    </a:moveTo>
                    <a:lnTo>
                      <a:pt x="244475" y="122238"/>
                    </a:lnTo>
                    <a:cubicBezTo>
                      <a:pt x="244475" y="54728"/>
                      <a:pt x="189747" y="0"/>
                      <a:pt x="122237" y="0"/>
                    </a:cubicBezTo>
                    <a:cubicBezTo>
                      <a:pt x="54728" y="0"/>
                      <a:pt x="0" y="54728"/>
                      <a:pt x="0" y="122238"/>
                    </a:cubicBez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25050" y="1752600"/>
                <a:ext cx="139700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244475">
                    <a:moveTo>
                      <a:pt x="122237" y="244475"/>
                    </a:moveTo>
                    <a:cubicBezTo>
                      <a:pt x="54728" y="244475"/>
                      <a:pt x="0" y="189747"/>
                      <a:pt x="0" y="122237"/>
                    </a:cubicBezTo>
                    <a:cubicBezTo>
                      <a:pt x="0" y="54728"/>
                      <a:pt x="54728" y="0"/>
                      <a:pt x="122237" y="0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994900" y="1543050"/>
                <a:ext cx="244475" cy="471488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471488">
                    <a:moveTo>
                      <a:pt x="0" y="220027"/>
                    </a:moveTo>
                    <a:lnTo>
                      <a:pt x="0" y="122238"/>
                    </a:lnTo>
                    <a:cubicBezTo>
                      <a:pt x="0" y="54728"/>
                      <a:pt x="54728" y="0"/>
                      <a:pt x="122238" y="0"/>
                    </a:cubicBezTo>
                    <a:cubicBezTo>
                      <a:pt x="189747" y="0"/>
                      <a:pt x="244475" y="54728"/>
                      <a:pt x="244475" y="122238"/>
                    </a:cubicBezTo>
                    <a:lnTo>
                      <a:pt x="244475" y="471488"/>
                    </a:lnTo>
                  </a:path>
                </a:pathLst>
              </a:custGeom>
              <a:noFill/>
              <a:ln w="19050">
                <a:solidFill>
                  <a:srgbClr val="518FEC"/>
                </a:solidFill>
              </a:ln>
            </p:spPr>
          </p:sp>
        </p:grpSp>
        <p:sp>
          <p:nvSpPr>
            <p:cNvPr id="16" name="Ellipse 16"/>
            <p:cNvSpPr/>
            <p:nvPr/>
          </p:nvSpPr>
          <p:spPr>
            <a:xfrm>
              <a:off x="11306175" y="3171825"/>
              <a:ext cx="95250" cy="95250"/>
            </a:xfrm>
            <a:prstGeom prst="ellipse">
              <a:avLst/>
            </a:prstGeom>
            <a:solidFill>
              <a:srgbClr val="246BFE">
                <a:alpha val="50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86850" y="838200"/>
              <a:ext cx="76200" cy="76200"/>
            </a:xfrm>
            <a:prstGeom prst="ellipse">
              <a:avLst/>
            </a:prstGeom>
            <a:solidFill>
              <a:srgbClr val="518FEC">
                <a:alpha val="6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1496675" y="1114425"/>
              <a:ext cx="57150" cy="57150"/>
            </a:xfrm>
            <a:prstGeom prst="ellipse">
              <a:avLst/>
            </a:prstGeom>
            <a:solidFill>
              <a:srgbClr val="518FEC">
                <a:alpha val="450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857250" y="2209800"/>
            <a:ext cx="57150" cy="1905000"/>
            <a:chOff x="857250" y="2209800"/>
            <a:chExt cx="57150" cy="1905000"/>
          </a:xfrm>
        </p:grpSpPr>
        <p:sp>
          <p:nvSpPr>
            <p:cNvPr id="20" name="Rectangle 20"/>
            <p:cNvSpPr/>
            <p:nvPr/>
          </p:nvSpPr>
          <p:spPr>
            <a:xfrm>
              <a:off x="857250" y="2209800"/>
              <a:ext cx="57150" cy="1905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/>
                </a:gs>
              </a:gsLst>
              <a:lin ang="5400000" scaled="1"/>
            </a:gra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1128712" y="2374106"/>
            <a:ext cx="1934563" cy="228600"/>
            <a:chOff x="1128712" y="2374106"/>
            <a:chExt cx="1934563" cy="228600"/>
          </a:xfrm>
        </p:grpSpPr>
        <p:sp>
          <p:nvSpPr>
            <p:cNvPr id="22" name="TextBox 22"/>
            <p:cNvSpPr txBox="1"/>
            <p:nvPr/>
          </p:nvSpPr>
          <p:spPr>
            <a:xfrm>
              <a:off x="1128712" y="2374106"/>
              <a:ext cx="19345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认知拉齐 · 经分会汇报</a:t>
              </a:r>
              <a:endParaRPr lang="zh-CN" sz="1125" b="1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70610" y="2832735"/>
            <a:ext cx="8222094" cy="853440"/>
            <a:chOff x="1070610" y="2832735"/>
            <a:chExt cx="8222094" cy="853440"/>
          </a:xfrm>
        </p:grpSpPr>
        <p:sp>
          <p:nvSpPr>
            <p:cNvPr id="24" name="TextBox 24"/>
            <p:cNvSpPr txBox="1"/>
            <p:nvPr/>
          </p:nvSpPr>
          <p:spPr>
            <a:xfrm>
              <a:off x="1070610" y="2832735"/>
              <a:ext cx="8222094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FDE：AI 落地的「最后一公里」</a:t>
              </a:r>
              <a:endParaRPr lang="zh-CN" sz="4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43000" y="3524250"/>
              <a:ext cx="28575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2000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118235" y="3837622"/>
            <a:ext cx="2904173" cy="734378"/>
            <a:chOff x="1118235" y="3837622"/>
            <a:chExt cx="2904173" cy="734378"/>
          </a:xfrm>
        </p:grpSpPr>
        <p:sp>
          <p:nvSpPr>
            <p:cNvPr id="27" name="TextBox 27"/>
            <p:cNvSpPr txBox="1"/>
            <p:nvPr/>
          </p:nvSpPr>
          <p:spPr>
            <a:xfrm>
              <a:off x="1118235" y="3837622"/>
              <a:ext cx="250683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B8C7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值钱在人，难也在人</a:t>
              </a:r>
              <a:endParaRPr lang="zh-CN" sz="1950" b="1" dirty="0">
                <a:solidFill>
                  <a:srgbClr val="B8C7E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3950" y="4267200"/>
              <a:ext cx="28984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CE6F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战略重视 · 节奏稳妥 · 人才优先</a:t>
              </a:r>
              <a:endParaRPr lang="zh-CN" sz="1500" dirty="0">
                <a:solidFill>
                  <a:srgbClr val="DCE6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29665" y="6096000"/>
            <a:ext cx="10313670" cy="366712"/>
            <a:chOff x="1129665" y="6096000"/>
            <a:chExt cx="10313670" cy="366712"/>
          </a:xfrm>
        </p:grpSpPr>
        <p:sp>
          <p:nvSpPr>
            <p:cNvPr id="30" name="Line 30"/>
            <p:cNvSpPr/>
            <p:nvPr/>
          </p:nvSpPr>
          <p:spPr>
            <a:xfrm>
              <a:off x="1143000" y="6096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518FEC">
                  <a:alpha val="35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29665" y="6249352"/>
              <a:ext cx="25049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法本信息 ｜ 2026-08-12 ｜ 经分会汇报</a:t>
              </a:r>
              <a:endParaRPr lang="zh-CN" sz="1050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47606" y="6249352"/>
              <a:ext cx="4957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/ 25</a:t>
              </a:r>
              <a:endParaRPr lang="zh-CN" sz="1050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6" grpId="0"/>
      <p:bldP spid="2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6BFE">
                    <a:alpha val="20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393382" y="2981325"/>
            <a:ext cx="2960418" cy="3352800"/>
            <a:chOff x="8393382" y="2981325"/>
            <a:chExt cx="2960418" cy="3352800"/>
          </a:xfrm>
        </p:grpSpPr>
        <p:sp>
          <p:nvSpPr>
            <p:cNvPr id="5" name="TextBox 5"/>
            <p:cNvSpPr txBox="1"/>
            <p:nvPr/>
          </p:nvSpPr>
          <p:spPr>
            <a:xfrm>
              <a:off x="8393382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16500" b="1" dirty="0">
                <a:solidFill>
                  <a:srgbClr val="FFFFFF">
                    <a:alphaMod val="1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762250"/>
            <a:ext cx="1200019" cy="338138"/>
            <a:chOff x="1143000" y="2762250"/>
            <a:chExt cx="1200019" cy="338138"/>
          </a:xfrm>
        </p:grpSpPr>
        <p:sp>
          <p:nvSpPr>
            <p:cNvPr id="7" name="Rectangle 7"/>
            <p:cNvSpPr/>
            <p:nvPr/>
          </p:nvSpPr>
          <p:spPr>
            <a:xfrm>
              <a:off x="1143000" y="2762250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6355" y="2826068"/>
              <a:ext cx="1026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CHAPTER 01</a:t>
              </a:r>
              <a:endParaRPr lang="zh-CN" sz="1350" b="1" dirty="0">
                <a:solidFill>
                  <a:srgbClr val="518F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1090" y="3453765"/>
            <a:ext cx="4891564" cy="1213485"/>
            <a:chOff x="1101090" y="3453765"/>
            <a:chExt cx="4891564" cy="1213485"/>
          </a:xfrm>
        </p:grpSpPr>
        <p:sp>
          <p:nvSpPr>
            <p:cNvPr id="10" name="TextBox 10"/>
            <p:cNvSpPr txBox="1"/>
            <p:nvPr/>
          </p:nvSpPr>
          <p:spPr>
            <a:xfrm>
              <a:off x="1101090" y="3453765"/>
              <a:ext cx="329512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到底是什么</a:t>
              </a:r>
              <a:endParaRPr lang="zh-CN" sz="33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4048125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3950" y="4362450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7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不是外包、不是咨询，是「现场解决问题 + 沉淀资产」</a:t>
              </a:r>
              <a:endParaRPr lang="zh-CN" sz="1500" dirty="0">
                <a:solidFill>
                  <a:srgbClr val="B8C7E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0618" y="6257449"/>
            <a:ext cx="10311764" cy="198120"/>
            <a:chOff x="1130618" y="6257449"/>
            <a:chExt cx="10311764" cy="198120"/>
          </a:xfrm>
        </p:grpSpPr>
        <p:sp>
          <p:nvSpPr>
            <p:cNvPr id="14" name="TextBox 14"/>
            <p:cNvSpPr txBox="1"/>
            <p:nvPr/>
          </p:nvSpPr>
          <p:spPr>
            <a:xfrm>
              <a:off x="1130618" y="6257449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经委会汇报 · 第一章</a:t>
              </a:r>
              <a:endParaRPr lang="zh-CN" sz="975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2063" y="62574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/ 25</a:t>
              </a:r>
              <a:endParaRPr lang="zh-CN" sz="975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247674" cy="1046798"/>
            <a:chOff x="542925" y="458152"/>
            <a:chExt cx="6247674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· FDE 到底是什么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24767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咨询、外包、FDE，解决的是不同层面的问题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9911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同一案例（银行信贷自动化）下，三种角色的做法与留下东西完全不同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6750" y="1762125"/>
            <a:ext cx="3429000" cy="4095750"/>
            <a:chOff x="666750" y="1762125"/>
            <a:chExt cx="3429000" cy="4095750"/>
          </a:xfrm>
        </p:grpSpPr>
        <p:sp>
          <p:nvSpPr>
            <p:cNvPr id="8" name="Rectangle 8"/>
            <p:cNvSpPr/>
            <p:nvPr/>
          </p:nvSpPr>
          <p:spPr>
            <a:xfrm>
              <a:off x="666750" y="1762125"/>
              <a:ext cx="3429000" cy="409575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95350" y="1952625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20A7B8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535362" y="1957388"/>
              <a:ext cx="244475" cy="314325"/>
              <a:chOff x="3535362" y="1957388"/>
              <a:chExt cx="244475" cy="3143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692525" y="1957388"/>
                <a:ext cx="87312" cy="87312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87312">
                    <a:moveTo>
                      <a:pt x="0" y="0"/>
                    </a:moveTo>
                    <a:lnTo>
                      <a:pt x="0" y="69850"/>
                    </a:lnTo>
                    <a:cubicBezTo>
                      <a:pt x="0" y="79494"/>
                      <a:pt x="7818" y="87312"/>
                      <a:pt x="17462" y="87312"/>
                    </a:cubicBezTo>
                    <a:lnTo>
                      <a:pt x="87312" y="87312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3535362" y="1957388"/>
                <a:ext cx="24447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44475" h="314325">
                    <a:moveTo>
                      <a:pt x="209550" y="314325"/>
                    </a:moveTo>
                    <a:lnTo>
                      <a:pt x="34925" y="314325"/>
                    </a:lnTo>
                    <a:cubicBezTo>
                      <a:pt x="15636" y="314325"/>
                      <a:pt x="0" y="298689"/>
                      <a:pt x="0" y="279400"/>
                    </a:cubicBez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157162" y="0"/>
                    </a:lnTo>
                    <a:lnTo>
                      <a:pt x="244475" y="87312"/>
                    </a:lnTo>
                    <a:lnTo>
                      <a:pt x="244475" y="279400"/>
                    </a:lnTo>
                    <a:cubicBezTo>
                      <a:pt x="244475" y="298689"/>
                      <a:pt x="228839" y="314325"/>
                      <a:pt x="209550" y="314325"/>
                    </a:cubicBez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605212" y="2062162"/>
                <a:ext cx="17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9525">
                    <a:moveTo>
                      <a:pt x="0" y="0"/>
                    </a:moveTo>
                    <a:lnTo>
                      <a:pt x="17462" y="0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605212" y="2132012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605212" y="2201862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72490" y="23964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咨询顾问</a:t>
              </a:r>
              <a:endParaRPr lang="zh-CN" sz="18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895350" y="27813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8205" y="2997518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驻场两周，产出 80 页诊断 PPT</a:t>
              </a:r>
              <a:endParaRPr lang="zh-CN" sz="13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8205" y="33023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画出转型路线图与优先级</a:t>
              </a:r>
              <a:endParaRPr lang="zh-CN" sz="13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8205" y="36071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交付报告后撤出，不碰系统</a:t>
              </a:r>
              <a:endParaRPr lang="zh-CN" sz="13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95350" y="5029200"/>
              <a:ext cx="2971800" cy="590550"/>
            </a:xfrm>
            <a:prstGeom prst="roundRect">
              <a:avLst>
                <a:gd name="adj" fmla="val 12903"/>
              </a:avLst>
            </a:prstGeom>
            <a:solidFill>
              <a:srgbClr val="20A7B8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35368" y="51906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0A7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本质</a:t>
              </a:r>
              <a:endParaRPr lang="zh-CN" sz="975" b="1" dirty="0">
                <a:solidFill>
                  <a:srgbClr val="20A7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31558" y="5367814"/>
              <a:ext cx="1817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买的是建议，不是结果</a:t>
              </a:r>
              <a:endParaRPr lang="zh-CN" sz="127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81500" y="1762125"/>
            <a:ext cx="3429000" cy="4095750"/>
            <a:chOff x="4381500" y="1762125"/>
            <a:chExt cx="3429000" cy="4095750"/>
          </a:xfrm>
        </p:grpSpPr>
        <p:sp>
          <p:nvSpPr>
            <p:cNvPr id="25" name="Rectangle 25"/>
            <p:cNvSpPr/>
            <p:nvPr/>
          </p:nvSpPr>
          <p:spPr>
            <a:xfrm>
              <a:off x="4381500" y="1762125"/>
              <a:ext cx="3429000" cy="409575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10100" y="1952625"/>
              <a:ext cx="533400" cy="57150"/>
            </a:xfrm>
            <a:prstGeom prst="roundRect">
              <a:avLst>
                <a:gd name="adj" fmla="val 50000"/>
              </a:avLst>
            </a:prstGeom>
            <a:solidFill>
              <a:srgbClr val="6B7785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215188" y="1957388"/>
              <a:ext cx="314325" cy="296862"/>
              <a:chOff x="7215188" y="1957388"/>
              <a:chExt cx="314325" cy="29686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7215188" y="2027238"/>
                <a:ext cx="314325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227012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279400" y="0"/>
                    </a:lnTo>
                    <a:cubicBezTo>
                      <a:pt x="298689" y="0"/>
                      <a:pt x="314325" y="15636"/>
                      <a:pt x="314325" y="34925"/>
                    </a:cubicBezTo>
                    <a:lnTo>
                      <a:pt x="314325" y="192087"/>
                    </a:lnTo>
                    <a:cubicBezTo>
                      <a:pt x="314325" y="211376"/>
                      <a:pt x="298689" y="227012"/>
                      <a:pt x="279400" y="227012"/>
                    </a:cubicBezTo>
                    <a:lnTo>
                      <a:pt x="34925" y="227012"/>
                    </a:lnTo>
                    <a:cubicBezTo>
                      <a:pt x="15636" y="227012"/>
                      <a:pt x="0" y="211376"/>
                      <a:pt x="0" y="192087"/>
                    </a:cubicBez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302500" y="1957388"/>
                <a:ext cx="13970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9850">
                    <a:moveTo>
                      <a:pt x="0" y="69850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104775" y="0"/>
                    </a:lnTo>
                    <a:cubicBezTo>
                      <a:pt x="124064" y="0"/>
                      <a:pt x="139700" y="15636"/>
                      <a:pt x="139700" y="34925"/>
                    </a:cubicBezTo>
                    <a:lnTo>
                      <a:pt x="139700" y="69850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372350" y="2114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215188" y="2132012"/>
                <a:ext cx="314325" cy="49813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49813">
                    <a:moveTo>
                      <a:pt x="0" y="0"/>
                    </a:moveTo>
                    <a:cubicBezTo>
                      <a:pt x="98854" y="49813"/>
                      <a:pt x="215471" y="49813"/>
                      <a:pt x="314325" y="0"/>
                    </a:cubicBez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587240" y="23964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外包工程师</a:t>
              </a:r>
              <a:endParaRPr lang="zh-CN" sz="18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4610100" y="27813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92955" y="29975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等待需求文档到位</a:t>
              </a:r>
              <a:endParaRPr lang="zh-CN" sz="13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92955" y="33023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按文档编码、上线、收尾款</a:t>
              </a:r>
              <a:endParaRPr lang="zh-CN" sz="13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92955" y="36071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交付一套系统后撤场</a:t>
              </a:r>
              <a:endParaRPr lang="zh-CN" sz="13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610100" y="5029200"/>
              <a:ext cx="2971800" cy="590550"/>
            </a:xfrm>
            <a:prstGeom prst="roundRect">
              <a:avLst>
                <a:gd name="adj" fmla="val 12903"/>
              </a:avLst>
            </a:prstGeom>
            <a:solidFill>
              <a:srgbClr val="6B7785">
                <a:alpha val="8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50118" y="51906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本质</a:t>
              </a:r>
              <a:endParaRPr lang="zh-CN" sz="975" b="1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46308" y="5367814"/>
              <a:ext cx="1817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买的是工时，不是能力</a:t>
              </a:r>
              <a:endParaRPr lang="zh-CN" sz="127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096250" y="1762125"/>
            <a:ext cx="3429000" cy="4095750"/>
            <a:chOff x="8096250" y="1762125"/>
            <a:chExt cx="3429000" cy="4095750"/>
          </a:xfrm>
        </p:grpSpPr>
        <p:sp>
          <p:nvSpPr>
            <p:cNvPr id="41" name="Rectangle 41"/>
            <p:cNvSpPr/>
            <p:nvPr/>
          </p:nvSpPr>
          <p:spPr>
            <a:xfrm>
              <a:off x="8096250" y="1762125"/>
              <a:ext cx="3429000" cy="4095750"/>
            </a:xfrm>
            <a:prstGeom prst="roundRect">
              <a:avLst>
                <a:gd name="adj" fmla="val 3333"/>
              </a:avLst>
            </a:prstGeom>
            <a:solidFill>
              <a:srgbClr val="0052A6">
                <a:alpha val="4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324850" y="1952625"/>
              <a:ext cx="609600" cy="762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10929938" y="1957388"/>
              <a:ext cx="314325" cy="314325"/>
              <a:chOff x="10929938" y="1957388"/>
              <a:chExt cx="314325" cy="3143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11069638" y="2097088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999788" y="2027238"/>
                <a:ext cx="1746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74625">
                    <a:moveTo>
                      <a:pt x="0" y="87312"/>
                    </a:moveTo>
                    <a:cubicBezTo>
                      <a:pt x="0" y="135534"/>
                      <a:pt x="39091" y="174625"/>
                      <a:pt x="87313" y="174625"/>
                    </a:cubicBezTo>
                    <a:cubicBezTo>
                      <a:pt x="135534" y="174625"/>
                      <a:pt x="174625" y="135534"/>
                      <a:pt x="174625" y="87312"/>
                    </a:cubicBezTo>
                    <a:cubicBezTo>
                      <a:pt x="174625" y="39091"/>
                      <a:pt x="135534" y="0"/>
                      <a:pt x="87313" y="0"/>
                    </a:cubicBezTo>
                    <a:cubicBezTo>
                      <a:pt x="39091" y="0"/>
                      <a:pt x="0" y="39091"/>
                      <a:pt x="0" y="87312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929938" y="1957388"/>
                <a:ext cx="3143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314325">
                    <a:moveTo>
                      <a:pt x="0" y="157162"/>
                    </a:moveTo>
                    <a:cubicBezTo>
                      <a:pt x="0" y="243961"/>
                      <a:pt x="70364" y="314325"/>
                      <a:pt x="157162" y="314325"/>
                    </a:cubicBezTo>
                    <a:cubicBezTo>
                      <a:pt x="243961" y="314325"/>
                      <a:pt x="314325" y="243961"/>
                      <a:pt x="314325" y="157162"/>
                    </a:cubicBezTo>
                    <a:cubicBezTo>
                      <a:pt x="314325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47" name="Rectangle 47"/>
            <p:cNvSpPr/>
            <p:nvPr/>
          </p:nvSpPr>
          <p:spPr>
            <a:xfrm>
              <a:off x="10115550" y="1962150"/>
              <a:ext cx="1104900" cy="2857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14325" y="2047399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我们的方向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01990" y="2396490"/>
              <a:ext cx="179733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现场工程师</a:t>
              </a:r>
              <a:endParaRPr lang="zh-CN" sz="180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Line 50"/>
            <p:cNvSpPr/>
            <p:nvPr/>
          </p:nvSpPr>
          <p:spPr>
            <a:xfrm>
              <a:off x="8324850" y="27813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B8C7E0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307705" y="29975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坐到风控经理旁边</a:t>
              </a:r>
              <a:endParaRPr lang="zh-CN" sz="1350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307705" y="33023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第一周就动手改模型</a:t>
              </a:r>
              <a:endParaRPr lang="zh-CN" sz="1350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07705" y="36071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把一线问题回流给产品团队</a:t>
              </a:r>
              <a:endParaRPr lang="zh-CN" sz="1350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8324850" y="5029200"/>
              <a:ext cx="2971800" cy="590550"/>
            </a:xfrm>
            <a:prstGeom prst="roundRect">
              <a:avLst>
                <a:gd name="adj" fmla="val 12903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64868" y="5190649"/>
              <a:ext cx="2977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CE6F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本质</a:t>
              </a:r>
              <a:endParaRPr lang="zh-CN" sz="975" b="1" dirty="0">
                <a:solidFill>
                  <a:srgbClr val="DCE6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61058" y="5367814"/>
              <a:ext cx="19961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买的是结果，还留下资产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0070" y="6475095"/>
            <a:ext cx="11070907" cy="182880"/>
            <a:chOff x="560070" y="6475095"/>
            <a:chExt cx="11070907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60070" y="6475095"/>
              <a:ext cx="328126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案例：银行信贷自动化 · 三种角色对同一问题的不同介入层面</a:t>
              </a:r>
              <a:endParaRPr lang="zh-CN" sz="900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41476" y="64831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/ 25</a:t>
              </a:r>
              <a:endPara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0" grpId="0"/>
      <p:bldP spid="5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027146" cy="1046798"/>
            <a:chOff x="542925" y="458152"/>
            <a:chExt cx="6027146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· FDE 到底是什么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02714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判断是不是 FDE，看项目结束后留下了什么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99910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买的是结果，不是时间——只留系统是外包，沉淀为可复用资产才是 FDE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2468" y="2104549"/>
            <a:ext cx="472416" cy="3589020"/>
            <a:chOff x="692468" y="2104549"/>
            <a:chExt cx="472416" cy="3589020"/>
          </a:xfrm>
        </p:grpSpPr>
        <p:sp>
          <p:nvSpPr>
            <p:cNvPr id="8" name="TextBox 8"/>
            <p:cNvSpPr txBox="1"/>
            <p:nvPr/>
          </p:nvSpPr>
          <p:spPr>
            <a:xfrm>
              <a:off x="730568" y="210454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价值高</a:t>
              </a:r>
              <a:endParaRPr lang="zh-CN" sz="975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2343150"/>
              <a:ext cx="9525" cy="2990850"/>
            </a:xfrm>
            <a:custGeom>
              <a:avLst/>
              <a:gdLst/>
              <a:ahLst/>
              <a:cxnLst/>
              <a:rect l="l" t="t" r="r" b="b"/>
              <a:pathLst>
                <a:path w="9525" h="2990850">
                  <a:moveTo>
                    <a:pt x="0" y="0"/>
                  </a:moveTo>
                  <a:lnTo>
                    <a:pt x="0" y="2990850"/>
                  </a:lnTo>
                </a:path>
              </a:pathLst>
            </a:custGeom>
            <a:noFill/>
            <a:ln w="19050">
              <a:solidFill>
                <a:srgbClr val="B8C7E0"/>
              </a:solidFill>
              <a:prstDash val="dash"/>
            </a:ln>
          </p:spPr>
        </p:sp>
        <p:sp>
          <p:nvSpPr>
            <p:cNvPr id="10" name="Polygon 10"/>
            <p:cNvSpPr/>
            <p:nvPr/>
          </p:nvSpPr>
          <p:spPr>
            <a:xfrm>
              <a:off x="819150" y="529590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0"/>
                  </a:moveTo>
                  <a:lnTo>
                    <a:pt x="57150" y="1524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8C7E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92468" y="549544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价值低</a:t>
              </a:r>
              <a:endParaRPr lang="zh-CN" sz="975" b="1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81125" y="1714500"/>
            <a:ext cx="3810000" cy="4000500"/>
            <a:chOff x="1381125" y="1714500"/>
            <a:chExt cx="3810000" cy="4000500"/>
          </a:xfrm>
        </p:grpSpPr>
        <p:sp>
          <p:nvSpPr>
            <p:cNvPr id="13" name="Polygon 13"/>
            <p:cNvSpPr/>
            <p:nvPr/>
          </p:nvSpPr>
          <p:spPr>
            <a:xfrm>
              <a:off x="2524125" y="1714500"/>
              <a:ext cx="1524000" cy="1000125"/>
            </a:xfrm>
            <a:custGeom>
              <a:avLst/>
              <a:gdLst/>
              <a:ahLst/>
              <a:cxnLst/>
              <a:rect l="l" t="t" r="r" b="b"/>
              <a:pathLst>
                <a:path w="1524000" h="1000125">
                  <a:moveTo>
                    <a:pt x="381000" y="0"/>
                  </a:moveTo>
                  <a:lnTo>
                    <a:pt x="1143000" y="0"/>
                  </a:lnTo>
                  <a:lnTo>
                    <a:pt x="1524000" y="1000125"/>
                  </a:lnTo>
                  <a:lnTo>
                    <a:pt x="0" y="1000125"/>
                  </a:lnTo>
                  <a:close/>
                </a:path>
              </a:pathLst>
            </a:custGeom>
            <a:solidFill>
              <a:srgbClr val="0052A6"/>
            </a:solidFill>
            <a:ln>
              <a:noFill/>
            </a:ln>
          </p:spPr>
        </p:sp>
        <p:sp>
          <p:nvSpPr>
            <p:cNvPr id="14" name="Polygon 14"/>
            <p:cNvSpPr/>
            <p:nvPr/>
          </p:nvSpPr>
          <p:spPr>
            <a:xfrm>
              <a:off x="2143125" y="2714625"/>
              <a:ext cx="2286000" cy="1000125"/>
            </a:xfrm>
            <a:custGeom>
              <a:avLst/>
              <a:gdLst/>
              <a:ahLst/>
              <a:cxnLst/>
              <a:rect l="l" t="t" r="r" b="b"/>
              <a:pathLst>
                <a:path w="2286000" h="1000125">
                  <a:moveTo>
                    <a:pt x="381000" y="0"/>
                  </a:moveTo>
                  <a:lnTo>
                    <a:pt x="1905000" y="0"/>
                  </a:lnTo>
                  <a:lnTo>
                    <a:pt x="2286000" y="1000125"/>
                  </a:lnTo>
                  <a:lnTo>
                    <a:pt x="0" y="1000125"/>
                  </a:lnTo>
                  <a:close/>
                </a:path>
              </a:pathLst>
            </a:custGeom>
            <a:solidFill>
              <a:srgbClr val="246BFE"/>
            </a:solidFill>
            <a:ln>
              <a:noFill/>
            </a:ln>
          </p:spPr>
        </p:sp>
        <p:sp>
          <p:nvSpPr>
            <p:cNvPr id="15" name="Polygon 15"/>
            <p:cNvSpPr/>
            <p:nvPr/>
          </p:nvSpPr>
          <p:spPr>
            <a:xfrm>
              <a:off x="1762125" y="3714750"/>
              <a:ext cx="3048000" cy="1000125"/>
            </a:xfrm>
            <a:custGeom>
              <a:avLst/>
              <a:gdLst/>
              <a:ahLst/>
              <a:cxnLst/>
              <a:rect l="l" t="t" r="r" b="b"/>
              <a:pathLst>
                <a:path w="3048000" h="1000125">
                  <a:moveTo>
                    <a:pt x="381000" y="0"/>
                  </a:moveTo>
                  <a:lnTo>
                    <a:pt x="2667000" y="0"/>
                  </a:lnTo>
                  <a:lnTo>
                    <a:pt x="3048000" y="1000125"/>
                  </a:lnTo>
                  <a:lnTo>
                    <a:pt x="0" y="1000125"/>
                  </a:lnTo>
                  <a:close/>
                </a:path>
              </a:pathLst>
            </a:custGeom>
            <a:solidFill>
              <a:srgbClr val="518FEC"/>
            </a:solidFill>
            <a:ln>
              <a:noFill/>
            </a:ln>
          </p:spPr>
        </p:sp>
        <p:sp>
          <p:nvSpPr>
            <p:cNvPr id="16" name="Polygon 16"/>
            <p:cNvSpPr/>
            <p:nvPr/>
          </p:nvSpPr>
          <p:spPr>
            <a:xfrm>
              <a:off x="1381125" y="4714875"/>
              <a:ext cx="3810000" cy="1000125"/>
            </a:xfrm>
            <a:custGeom>
              <a:avLst/>
              <a:gdLst/>
              <a:ahLst/>
              <a:cxnLst/>
              <a:rect l="l" t="t" r="r" b="b"/>
              <a:pathLst>
                <a:path w="3810000" h="1000125">
                  <a:moveTo>
                    <a:pt x="381000" y="0"/>
                  </a:moveTo>
                  <a:lnTo>
                    <a:pt x="3429000" y="0"/>
                  </a:lnTo>
                  <a:lnTo>
                    <a:pt x="3810000" y="1000125"/>
                  </a:lnTo>
                  <a:lnTo>
                    <a:pt x="0" y="1000125"/>
                  </a:lnTo>
                  <a:close/>
                </a:path>
              </a:pathLst>
            </a:custGeom>
            <a:solidFill>
              <a:srgbClr val="6B778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56798" y="21455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可规模化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13036" y="3130868"/>
              <a:ext cx="346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85445" y="413099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项目制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57049" y="51149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外包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048125" y="2200275"/>
            <a:ext cx="2238375" cy="3086100"/>
            <a:chOff x="4048125" y="2200275"/>
            <a:chExt cx="2238375" cy="3086100"/>
          </a:xfrm>
        </p:grpSpPr>
        <p:sp>
          <p:nvSpPr>
            <p:cNvPr id="22" name="Line 22"/>
            <p:cNvSpPr/>
            <p:nvPr/>
          </p:nvSpPr>
          <p:spPr>
            <a:xfrm>
              <a:off x="4048125" y="2200275"/>
              <a:ext cx="2238375" cy="9525"/>
            </a:xfrm>
            <a:custGeom>
              <a:avLst/>
              <a:gdLst/>
              <a:ahLst/>
              <a:cxnLst/>
              <a:rect l="l" t="t" r="r" b="b"/>
              <a:pathLst>
                <a:path w="2238375" h="9525">
                  <a:moveTo>
                    <a:pt x="0" y="9525"/>
                  </a:moveTo>
                  <a:lnTo>
                    <a:pt x="2238375" y="0"/>
                  </a:lnTo>
                </a:path>
              </a:pathLst>
            </a:custGeom>
            <a:noFill/>
            <a:ln w="14288">
              <a:solidFill>
                <a:srgbClr val="0052A6">
                  <a:alpha val="50000"/>
                </a:srgbClr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4429125" y="3219450"/>
              <a:ext cx="1857375" cy="9525"/>
            </a:xfrm>
            <a:custGeom>
              <a:avLst/>
              <a:gdLst/>
              <a:ahLst/>
              <a:cxnLst/>
              <a:rect l="l" t="t" r="r" b="b"/>
              <a:pathLst>
                <a:path w="1857375" h="9525">
                  <a:moveTo>
                    <a:pt x="0" y="0"/>
                  </a:moveTo>
                  <a:lnTo>
                    <a:pt x="1857375" y="9525"/>
                  </a:lnTo>
                </a:path>
              </a:pathLst>
            </a:custGeom>
            <a:noFill/>
            <a:ln w="14288">
              <a:solidFill>
                <a:srgbClr val="246BFE">
                  <a:alpha val="50000"/>
                </a:srgbClr>
              </a:solidFill>
              <a:prstDash val="dash"/>
            </a:ln>
          </p:spPr>
        </p:sp>
        <p:sp>
          <p:nvSpPr>
            <p:cNvPr id="24" name="Line 24"/>
            <p:cNvSpPr/>
            <p:nvPr/>
          </p:nvSpPr>
          <p:spPr>
            <a:xfrm>
              <a:off x="4810125" y="4219575"/>
              <a:ext cx="1476375" cy="38100"/>
            </a:xfrm>
            <a:custGeom>
              <a:avLst/>
              <a:gdLst/>
              <a:ahLst/>
              <a:cxnLst/>
              <a:rect l="l" t="t" r="r" b="b"/>
              <a:pathLst>
                <a:path w="1476375" h="38100">
                  <a:moveTo>
                    <a:pt x="0" y="0"/>
                  </a:moveTo>
                  <a:lnTo>
                    <a:pt x="1476375" y="38100"/>
                  </a:lnTo>
                </a:path>
              </a:pathLst>
            </a:custGeom>
            <a:noFill/>
            <a:ln w="14288">
              <a:solidFill>
                <a:srgbClr val="518FEC">
                  <a:alpha val="50000"/>
                </a:srgbClr>
              </a:solidFill>
              <a:prstDash val="dash"/>
            </a:ln>
          </p:spPr>
        </p:sp>
        <p:sp>
          <p:nvSpPr>
            <p:cNvPr id="25" name="Line 25"/>
            <p:cNvSpPr/>
            <p:nvPr/>
          </p:nvSpPr>
          <p:spPr>
            <a:xfrm>
              <a:off x="5191125" y="5219700"/>
              <a:ext cx="1095375" cy="66675"/>
            </a:xfrm>
            <a:custGeom>
              <a:avLst/>
              <a:gdLst/>
              <a:ahLst/>
              <a:cxnLst/>
              <a:rect l="l" t="t" r="r" b="b"/>
              <a:pathLst>
                <a:path w="1095375" h="66675">
                  <a:moveTo>
                    <a:pt x="0" y="0"/>
                  </a:moveTo>
                  <a:lnTo>
                    <a:pt x="1095375" y="66675"/>
                  </a:lnTo>
                </a:path>
              </a:pathLst>
            </a:custGeom>
            <a:noFill/>
            <a:ln w="14288">
              <a:solidFill>
                <a:srgbClr val="6B7785">
                  <a:alpha val="50000"/>
                </a:srgbClr>
              </a:solidFill>
              <a:prstDash val="dash"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286500" y="1762125"/>
            <a:ext cx="5334000" cy="876300"/>
            <a:chOff x="6286500" y="1762125"/>
            <a:chExt cx="5334000" cy="876300"/>
          </a:xfrm>
        </p:grpSpPr>
        <p:sp>
          <p:nvSpPr>
            <p:cNvPr id="27" name="Rectangle 27"/>
            <p:cNvSpPr/>
            <p:nvPr/>
          </p:nvSpPr>
          <p:spPr>
            <a:xfrm>
              <a:off x="6286500" y="1762125"/>
              <a:ext cx="53340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1762125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515100" y="2009775"/>
              <a:ext cx="381000" cy="3810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36474" y="21212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④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30402" y="1960721"/>
              <a:ext cx="243049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沉淀后让下一个客户更便宜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34212" y="2278856"/>
              <a:ext cx="38315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可规模化的 FDE ——边际交付成本持续下降，复利开始兑现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2790825"/>
            <a:ext cx="5334000" cy="876300"/>
            <a:chOff x="6286500" y="2790825"/>
            <a:chExt cx="5334000" cy="876300"/>
          </a:xfrm>
        </p:grpSpPr>
        <p:sp>
          <p:nvSpPr>
            <p:cNvPr id="34" name="Rectangle 34"/>
            <p:cNvSpPr/>
            <p:nvPr/>
          </p:nvSpPr>
          <p:spPr>
            <a:xfrm>
              <a:off x="6286500" y="2790825"/>
              <a:ext cx="53340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86500" y="2790825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515100" y="3038475"/>
              <a:ext cx="381000" cy="38100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36474" y="31499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30402" y="2989421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沉淀为可复用能力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34212" y="3307556"/>
              <a:ext cx="31264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——把现场经验封装成 Skill / 模板 / 连接器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86500" y="3819525"/>
            <a:ext cx="5334000" cy="876300"/>
            <a:chOff x="6286500" y="3819525"/>
            <a:chExt cx="5334000" cy="876300"/>
          </a:xfrm>
        </p:grpSpPr>
        <p:sp>
          <p:nvSpPr>
            <p:cNvPr id="41" name="Rectangle 41"/>
            <p:cNvSpPr/>
            <p:nvPr/>
          </p:nvSpPr>
          <p:spPr>
            <a:xfrm>
              <a:off x="6286500" y="3819525"/>
              <a:ext cx="53340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86500" y="3819525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515100" y="4067175"/>
              <a:ext cx="381000" cy="38100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36474" y="41786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30402" y="4018121"/>
              <a:ext cx="18319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带回经验但无法复用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34212" y="4336256"/>
              <a:ext cx="35390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项目制 ——每个项目都从零开始，经验留在个人脑子里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0" y="4848225"/>
            <a:ext cx="5334000" cy="876300"/>
            <a:chOff x="6286500" y="4848225"/>
            <a:chExt cx="5334000" cy="876300"/>
          </a:xfrm>
        </p:grpSpPr>
        <p:sp>
          <p:nvSpPr>
            <p:cNvPr id="48" name="Rectangle 48"/>
            <p:cNvSpPr/>
            <p:nvPr/>
          </p:nvSpPr>
          <p:spPr>
            <a:xfrm>
              <a:off x="6286500" y="4848225"/>
              <a:ext cx="5334000" cy="876300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86500" y="4848225"/>
              <a:ext cx="57150" cy="876300"/>
            </a:xfrm>
            <a:prstGeom prst="roundRect">
              <a:avLst>
                <a:gd name="adj" fmla="val 50000"/>
              </a:avLst>
            </a:prstGeom>
            <a:solidFill>
              <a:srgbClr val="6B7785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515100" y="5095875"/>
              <a:ext cx="381000" cy="381000"/>
            </a:xfrm>
            <a:prstGeom prst="ellipse">
              <a:avLst/>
            </a:prstGeom>
            <a:solidFill>
              <a:srgbClr val="6B778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36474" y="5207318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30402" y="504682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只留一个系统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34212" y="5364956"/>
              <a:ext cx="2938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外包 ——交付即结束，能力不沉淀、不可复用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60070" y="6475095"/>
            <a:ext cx="11070907" cy="182880"/>
            <a:chOff x="560070" y="6475095"/>
            <a:chExt cx="11070907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560070" y="6475095"/>
              <a:ext cx="32632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「试金石」：项目结束后，经验是否变成了组织可复用的资产</a:t>
              </a:r>
              <a:endParaRPr lang="zh-CN" sz="900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241476" y="64831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 / 25</a:t>
              </a:r>
              <a:endPara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26" grpId="0"/>
      <p:bldP spid="33" grpId="0"/>
      <p:bldP spid="40" grpId="0"/>
      <p:bldP spid="47" grpId="0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676394" cy="1046798"/>
            <a:chOff x="542925" y="458152"/>
            <a:chExt cx="4676394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792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 · FDE 到底是什么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419991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带产品找问题 ≠ 现场解决问题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6630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很多公司只是「把员工扔到一线」，FDE 的本质是接近创业的能力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714500"/>
            <a:ext cx="5334000" cy="3762375"/>
            <a:chOff x="571500" y="1714500"/>
            <a:chExt cx="5334000" cy="3762375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5334000" cy="3762375"/>
            </a:xfrm>
            <a:prstGeom prst="roundRect">
              <a:avLst>
                <a:gd name="adj" fmla="val 3038"/>
              </a:avLst>
            </a:prstGeom>
            <a:solidFill>
              <a:srgbClr val="FFFFFF"/>
            </a:solidFill>
            <a:ln w="14288">
              <a:solidFill>
                <a:srgbClr val="F59E0B">
                  <a:alpha val="50000"/>
                </a:srgbClr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1943100"/>
              <a:ext cx="990600" cy="3238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2329" y="2032635"/>
              <a:ext cx="5261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伪 FDE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5294279" y="1936771"/>
              <a:ext cx="384228" cy="330103"/>
              <a:chOff x="5294279" y="1936771"/>
              <a:chExt cx="384228" cy="33010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486400" y="20574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294279" y="1936771"/>
                <a:ext cx="384228" cy="330103"/>
              </a:xfrm>
              <a:custGeom>
                <a:avLst/>
                <a:gdLst/>
                <a:ahLst/>
                <a:cxnLst/>
                <a:rect l="l" t="t" r="r" b="b"/>
                <a:pathLst>
                  <a:path w="384228" h="330103">
                    <a:moveTo>
                      <a:pt x="160937" y="17587"/>
                    </a:moveTo>
                    <a:lnTo>
                      <a:pt x="6517" y="275410"/>
                    </a:lnTo>
                    <a:cubicBezTo>
                      <a:pt x="40" y="286628"/>
                      <a:pt x="0" y="300440"/>
                      <a:pt x="6413" y="311695"/>
                    </a:cubicBezTo>
                    <a:cubicBezTo>
                      <a:pt x="12827" y="322950"/>
                      <a:pt x="24730" y="329957"/>
                      <a:pt x="37683" y="330103"/>
                    </a:cubicBezTo>
                    <a:lnTo>
                      <a:pt x="346560" y="330103"/>
                    </a:lnTo>
                    <a:cubicBezTo>
                      <a:pt x="359507" y="329953"/>
                      <a:pt x="371404" y="322949"/>
                      <a:pt x="377816" y="311700"/>
                    </a:cubicBezTo>
                    <a:cubicBezTo>
                      <a:pt x="384228" y="300451"/>
                      <a:pt x="384194" y="286646"/>
                      <a:pt x="377726" y="275429"/>
                    </a:cubicBezTo>
                    <a:lnTo>
                      <a:pt x="223306" y="17568"/>
                    </a:lnTo>
                    <a:cubicBezTo>
                      <a:pt x="216699" y="6662"/>
                      <a:pt x="204873" y="0"/>
                      <a:pt x="192121" y="0"/>
                    </a:cubicBezTo>
                    <a:cubicBezTo>
                      <a:pt x="179370" y="0"/>
                      <a:pt x="167544" y="6662"/>
                      <a:pt x="160937" y="1756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486400" y="2190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773430" y="2592705"/>
              <a:ext cx="181756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带产品找问题</a:t>
              </a:r>
              <a:endParaRPr lang="zh-CN" sz="21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0100" y="3048000"/>
              <a:ext cx="4876800" cy="1257300"/>
            </a:xfrm>
            <a:prstGeom prst="roundRect">
              <a:avLst>
                <a:gd name="adj" fmla="val 6061"/>
              </a:avLst>
            </a:prstGeom>
            <a:solidFill>
              <a:srgbClr val="F59E0B">
                <a:alpha val="7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6312" y="3231356"/>
              <a:ext cx="1918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案例：协同办公团队进工厂</a:t>
              </a:r>
              <a:endParaRPr lang="zh-CN" sz="1125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4408" y="35199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第一件事：装摄像头抓员工抽烟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4408" y="38247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盯着细枝末节，绕开了核心业务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2955" y="4616768"/>
              <a:ext cx="17071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既不触及核心业务</a:t>
              </a:r>
              <a:endParaRPr lang="zh-CN" sz="135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2955" y="4940618"/>
              <a:ext cx="15181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又没有技术门槛</a:t>
              </a:r>
              <a:endParaRPr lang="zh-CN" sz="135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0" y="3209925"/>
            <a:ext cx="762000" cy="809625"/>
            <a:chOff x="5715000" y="3209925"/>
            <a:chExt cx="762000" cy="809625"/>
          </a:xfrm>
        </p:grpSpPr>
        <p:sp>
          <p:nvSpPr>
            <p:cNvPr id="23" name="Ellipse 23"/>
            <p:cNvSpPr/>
            <p:nvPr/>
          </p:nvSpPr>
          <p:spPr>
            <a:xfrm>
              <a:off x="5715000" y="3209925"/>
              <a:ext cx="762000" cy="7620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52A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42386" y="3409950"/>
              <a:ext cx="30722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≠</a:t>
              </a:r>
              <a:endParaRPr lang="zh-CN" sz="300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286500" y="1714500"/>
            <a:ext cx="5334000" cy="3762375"/>
            <a:chOff x="6286500" y="1714500"/>
            <a:chExt cx="5334000" cy="3762375"/>
          </a:xfrm>
        </p:grpSpPr>
        <p:sp>
          <p:nvSpPr>
            <p:cNvPr id="26" name="Rectangle 26"/>
            <p:cNvSpPr/>
            <p:nvPr/>
          </p:nvSpPr>
          <p:spPr>
            <a:xfrm>
              <a:off x="6286500" y="1714500"/>
              <a:ext cx="5334000" cy="3762375"/>
            </a:xfrm>
            <a:prstGeom prst="roundRect">
              <a:avLst>
                <a:gd name="adj" fmla="val 3038"/>
              </a:avLst>
            </a:prstGeom>
            <a:solidFill>
              <a:srgbClr val="0052A6">
                <a:alpha val="4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515100" y="1943100"/>
              <a:ext cx="990600" cy="3238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47329" y="2032635"/>
              <a:ext cx="5261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 FDE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1029950" y="1943100"/>
              <a:ext cx="342900" cy="342900"/>
              <a:chOff x="11029950" y="1943100"/>
              <a:chExt cx="342900" cy="342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11029950" y="19431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33350"/>
                    </a:moveTo>
                    <a:cubicBezTo>
                      <a:pt x="0" y="206997"/>
                      <a:pt x="59703" y="266700"/>
                      <a:pt x="133350" y="266700"/>
                    </a:cubicBezTo>
                    <a:cubicBezTo>
                      <a:pt x="206997" y="266700"/>
                      <a:pt x="266700" y="206997"/>
                      <a:pt x="266700" y="133350"/>
                    </a:cubicBezTo>
                    <a:cubicBezTo>
                      <a:pt x="266700" y="59703"/>
                      <a:pt x="206997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258550" y="21717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1143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488430" y="259270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现场重新看业务</a:t>
              </a:r>
              <a:endParaRPr lang="zh-CN" sz="210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515100" y="3048000"/>
              <a:ext cx="4876800" cy="1257300"/>
            </a:xfrm>
            <a:prstGeom prst="roundRect">
              <a:avLst>
                <a:gd name="adj" fmla="val 6061"/>
              </a:avLst>
            </a:prstGeom>
            <a:solidFill>
              <a:srgbClr val="0052A6">
                <a:alpha val="7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91312" y="3231356"/>
              <a:ext cx="19188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做法：到一线重新定义问题</a:t>
              </a:r>
              <a:endParaRPr lang="zh-CN" sz="1125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89408" y="35199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找产品良率、订单延期、库存周转</a:t>
              </a:r>
              <a:endParaRPr lang="zh-CN" sz="127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89408" y="3824764"/>
              <a:ext cx="27527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盯住「真问题」而不是好交付的问题</a:t>
              </a:r>
              <a:endParaRPr lang="zh-CN" sz="127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97955" y="4616768"/>
              <a:ext cx="18961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定义问题、快速试错</a:t>
              </a:r>
              <a:endParaRPr lang="zh-CN" sz="13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97955" y="4940618"/>
              <a:ext cx="18961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本质接近创业的能力</a:t>
              </a:r>
              <a:endParaRPr lang="zh-CN" sz="13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5667375"/>
            <a:ext cx="11049000" cy="645319"/>
            <a:chOff x="571500" y="5667375"/>
            <a:chExt cx="11049000" cy="645319"/>
          </a:xfrm>
        </p:grpSpPr>
        <p:sp>
          <p:nvSpPr>
            <p:cNvPr id="40" name="Rectangle 40"/>
            <p:cNvSpPr/>
            <p:nvPr/>
          </p:nvSpPr>
          <p:spPr>
            <a:xfrm>
              <a:off x="571500" y="5667375"/>
              <a:ext cx="11049000" cy="628650"/>
            </a:xfrm>
            <a:prstGeom prst="roundRect">
              <a:avLst>
                <a:gd name="adj" fmla="val 18182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71500" y="5667375"/>
              <a:ext cx="57150" cy="6286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25939" y="5855773"/>
              <a:ext cx="272162" cy="233823"/>
              <a:chOff x="825939" y="5855773"/>
              <a:chExt cx="272162" cy="2338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62025" y="5941219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5939" y="5855773"/>
                <a:ext cx="272162" cy="233823"/>
              </a:xfrm>
              <a:custGeom>
                <a:avLst/>
                <a:gdLst/>
                <a:ahLst/>
                <a:cxnLst/>
                <a:rect l="l" t="t" r="r" b="b"/>
                <a:pathLst>
                  <a:path w="272162" h="233823">
                    <a:moveTo>
                      <a:pt x="113997" y="12458"/>
                    </a:moveTo>
                    <a:lnTo>
                      <a:pt x="4616" y="195082"/>
                    </a:lnTo>
                    <a:cubicBezTo>
                      <a:pt x="28" y="203028"/>
                      <a:pt x="0" y="212812"/>
                      <a:pt x="4543" y="220784"/>
                    </a:cubicBezTo>
                    <a:cubicBezTo>
                      <a:pt x="9086" y="228756"/>
                      <a:pt x="17517" y="233720"/>
                      <a:pt x="26692" y="233823"/>
                    </a:cubicBezTo>
                    <a:lnTo>
                      <a:pt x="245480" y="233823"/>
                    </a:lnTo>
                    <a:cubicBezTo>
                      <a:pt x="254651" y="233717"/>
                      <a:pt x="263078" y="228755"/>
                      <a:pt x="267620" y="220788"/>
                    </a:cubicBezTo>
                    <a:cubicBezTo>
                      <a:pt x="272162" y="212820"/>
                      <a:pt x="272137" y="203041"/>
                      <a:pt x="267556" y="195096"/>
                    </a:cubicBezTo>
                    <a:lnTo>
                      <a:pt x="158175" y="12444"/>
                    </a:lnTo>
                    <a:cubicBezTo>
                      <a:pt x="153495" y="4719"/>
                      <a:pt x="145119" y="0"/>
                      <a:pt x="136086" y="0"/>
                    </a:cubicBezTo>
                    <a:cubicBezTo>
                      <a:pt x="127053" y="0"/>
                      <a:pt x="118677" y="4719"/>
                      <a:pt x="113997" y="12444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62025" y="60356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243012" y="583168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概念泡沫警示</a:t>
              </a:r>
              <a:endParaRPr lang="zh-CN" sz="1125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41108" y="6053614"/>
              <a:ext cx="55580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ABC 满天飞，但「FDE 就死了」——挂名 FDE 多、真 FDE 少，做了不如不做</a:t>
              </a:r>
              <a:endParaRPr lang="zh-CN" sz="127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  <p:bldP spid="39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6BFE">
                    <a:alpha val="20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393382" y="2981325"/>
            <a:ext cx="2960418" cy="3352800"/>
            <a:chOff x="8393382" y="2981325"/>
            <a:chExt cx="2960418" cy="3352800"/>
          </a:xfrm>
        </p:grpSpPr>
        <p:sp>
          <p:nvSpPr>
            <p:cNvPr id="5" name="TextBox 5"/>
            <p:cNvSpPr txBox="1"/>
            <p:nvPr/>
          </p:nvSpPr>
          <p:spPr>
            <a:xfrm>
              <a:off x="8393382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16500" b="1" dirty="0">
                <a:solidFill>
                  <a:srgbClr val="FFFFFF">
                    <a:alphaMod val="1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667000"/>
            <a:ext cx="1200019" cy="338138"/>
            <a:chOff x="1143000" y="2667000"/>
            <a:chExt cx="1200019" cy="338138"/>
          </a:xfrm>
        </p:grpSpPr>
        <p:sp>
          <p:nvSpPr>
            <p:cNvPr id="7" name="Rectangle 7"/>
            <p:cNvSpPr/>
            <p:nvPr/>
          </p:nvSpPr>
          <p:spPr>
            <a:xfrm>
              <a:off x="1143000" y="2667000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6355" y="2730818"/>
              <a:ext cx="1026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CHAPTER 02</a:t>
              </a:r>
              <a:endParaRPr lang="zh-CN" sz="1350" b="1" dirty="0">
                <a:solidFill>
                  <a:srgbClr val="518F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2995" y="3374708"/>
            <a:ext cx="7136892" cy="1197292"/>
            <a:chOff x="1102995" y="3374708"/>
            <a:chExt cx="7136892" cy="1197292"/>
          </a:xfrm>
        </p:grpSpPr>
        <p:sp>
          <p:nvSpPr>
            <p:cNvPr id="10" name="TextBox 10"/>
            <p:cNvSpPr txBox="1"/>
            <p:nvPr/>
          </p:nvSpPr>
          <p:spPr>
            <a:xfrm>
              <a:off x="1102995" y="3374708"/>
              <a:ext cx="7136892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为什么现在火，机会与销毛潜力在哪</a:t>
              </a:r>
              <a:endParaRPr lang="zh-CN" sz="31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3952875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3950" y="4267200"/>
              <a:ext cx="39285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7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不是炒概念，是 AI 落地深水区的结构性必然</a:t>
              </a:r>
              <a:endParaRPr lang="zh-CN" sz="1500" dirty="0">
                <a:solidFill>
                  <a:srgbClr val="B8C7E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0618" y="6257449"/>
            <a:ext cx="10311764" cy="198120"/>
            <a:chOff x="1130618" y="6257449"/>
            <a:chExt cx="10311764" cy="198120"/>
          </a:xfrm>
        </p:grpSpPr>
        <p:sp>
          <p:nvSpPr>
            <p:cNvPr id="14" name="TextBox 14"/>
            <p:cNvSpPr txBox="1"/>
            <p:nvPr/>
          </p:nvSpPr>
          <p:spPr>
            <a:xfrm>
              <a:off x="1130618" y="6257449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经委会汇报 · 第二章</a:t>
              </a:r>
              <a:endParaRPr lang="zh-CN" sz="975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2063" y="62574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06 / 25</a:t>
              </a:r>
              <a:endParaRPr lang="zh-CN" sz="975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5460075" cy="1046798"/>
            <a:chOff x="542925" y="458152"/>
            <a:chExt cx="5460075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865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· 机会与销毛潜力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54600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不缺 Demo，缺把 AI 真正跑进业务的人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52151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矛盾从「模型能不能做」转向「组织怎么用」——95→99％ 才是 FDE 的战场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29050" y="3600450"/>
            <a:ext cx="4495800" cy="1"/>
            <a:chOff x="3829050" y="3600450"/>
            <a:chExt cx="4495800" cy="1"/>
          </a:xfrm>
        </p:grpSpPr>
        <p:sp>
          <p:nvSpPr>
            <p:cNvPr id="8" name="Line 8"/>
            <p:cNvSpPr/>
            <p:nvPr/>
          </p:nvSpPr>
          <p:spPr>
            <a:xfrm>
              <a:off x="3829050" y="3600450"/>
              <a:ext cx="590550" cy="1"/>
            </a:xfrm>
            <a:prstGeom prst="line">
              <a:avLst/>
            </a:prstGeom>
            <a:noFill/>
            <a:ln w="28575">
              <a:solidFill>
                <a:srgbClr val="B8C7E0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7734300" y="3600450"/>
              <a:ext cx="590550" cy="1"/>
            </a:xfrm>
            <a:prstGeom prst="line">
              <a:avLst/>
            </a:prstGeom>
            <a:noFill/>
            <a:ln w="28575">
              <a:solidFill>
                <a:srgbClr val="B8C7E0"/>
              </a:solidFill>
              <a:tailEnd type="triangle" w="lg" len="lg"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1809750"/>
            <a:ext cx="3238500" cy="3524250"/>
            <a:chOff x="571500" y="1809750"/>
            <a:chExt cx="3238500" cy="3524250"/>
          </a:xfrm>
        </p:grpSpPr>
        <p:sp>
          <p:nvSpPr>
            <p:cNvPr id="11" name="Rectangle 11"/>
            <p:cNvSpPr/>
            <p:nvPr/>
          </p:nvSpPr>
          <p:spPr>
            <a:xfrm>
              <a:off x="571500" y="1809750"/>
              <a:ext cx="3238500" cy="3524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32440" y="2171700"/>
              <a:ext cx="191662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</a:t>
              </a:r>
              <a:r>
                <a:rPr lang="zh-CN" sz="2400" b="1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％</a:t>
              </a:r>
              <a:endParaRPr lang="zh-CN" sz="2400" b="1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11382" y="3010852"/>
              <a:ext cx="5587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 → 80％</a:t>
              </a:r>
              <a:endParaRPr lang="zh-CN" sz="1050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331470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6B7785">
                <a:alpha val="12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23478" y="33947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原型期</a:t>
              </a:r>
              <a:endParaRPr lang="zh-CN" sz="1200" b="1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952500" y="38290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8681" y="4034314"/>
              <a:ext cx="20641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通用大模型 + 简单 Prompt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409" y="4320064"/>
              <a:ext cx="241268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一天就能搭出「挺好用」的原型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2500" y="4819650"/>
              <a:ext cx="2286000" cy="342900"/>
            </a:xfrm>
            <a:prstGeom prst="roundRect">
              <a:avLst>
                <a:gd name="adj" fmla="val 50000"/>
              </a:avLst>
            </a:prstGeom>
            <a:solidFill>
              <a:srgbClr val="6B7785">
                <a:alpha val="8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39320" y="4926806"/>
              <a:ext cx="13123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门槛低 · 人人能做</a:t>
              </a:r>
              <a:endParaRPr lang="zh-CN" sz="1125" b="1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76750" y="1809750"/>
            <a:ext cx="3238500" cy="3524250"/>
            <a:chOff x="4476750" y="1809750"/>
            <a:chExt cx="3238500" cy="3524250"/>
          </a:xfrm>
        </p:grpSpPr>
        <p:sp>
          <p:nvSpPr>
            <p:cNvPr id="22" name="Rectangle 22"/>
            <p:cNvSpPr/>
            <p:nvPr/>
          </p:nvSpPr>
          <p:spPr>
            <a:xfrm>
              <a:off x="4476750" y="1809750"/>
              <a:ext cx="3238500" cy="352425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37690" y="2171700"/>
              <a:ext cx="191662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95</a:t>
              </a:r>
              <a:r>
                <a:rPr lang="zh-CN" sz="2400" b="1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％</a:t>
              </a:r>
              <a:endParaRPr lang="zh-CN" sz="2400" b="1" dirty="0">
                <a:solidFill>
                  <a:srgbClr val="518F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78127" y="3010852"/>
              <a:ext cx="635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 → 95％</a:t>
              </a:r>
              <a:endParaRPr lang="zh-CN" sz="1050" dirty="0">
                <a:solidFill>
                  <a:srgbClr val="518F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524500" y="3314700"/>
              <a:ext cx="1143000" cy="304800"/>
            </a:xfrm>
            <a:prstGeom prst="roundRect">
              <a:avLst>
                <a:gd name="adj" fmla="val 50000"/>
              </a:avLst>
            </a:prstGeom>
            <a:solidFill>
              <a:srgbClr val="518FEC">
                <a:alpha val="14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28728" y="33947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可用期</a:t>
              </a:r>
              <a:endParaRPr lang="zh-CN" sz="1200" b="1" dirty="0">
                <a:solidFill>
                  <a:srgbClr val="518F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4857750" y="38290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14712" y="40343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行业术语、边界情况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83395" y="4320064"/>
              <a:ext cx="26252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需 Prompt / 规则 / 数据 / 测试集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857750" y="4819650"/>
              <a:ext cx="2476500" cy="342900"/>
            </a:xfrm>
            <a:prstGeom prst="roundRect">
              <a:avLst>
                <a:gd name="adj" fmla="val 50000"/>
              </a:avLst>
            </a:prstGeom>
            <a:solidFill>
              <a:srgbClr val="518FEC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18580" y="4926806"/>
              <a:ext cx="1154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很难 · 投入陡增</a:t>
              </a:r>
              <a:endParaRPr lang="zh-CN" sz="1125" b="1" dirty="0">
                <a:solidFill>
                  <a:srgbClr val="518F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382000" y="1809750"/>
            <a:ext cx="3238500" cy="3524250"/>
            <a:chOff x="8382000" y="1809750"/>
            <a:chExt cx="3238500" cy="3524250"/>
          </a:xfrm>
        </p:grpSpPr>
        <p:sp>
          <p:nvSpPr>
            <p:cNvPr id="33" name="Rectangle 33"/>
            <p:cNvSpPr/>
            <p:nvPr/>
          </p:nvSpPr>
          <p:spPr>
            <a:xfrm>
              <a:off x="8382000" y="1809750"/>
              <a:ext cx="3238500" cy="3524250"/>
            </a:xfrm>
            <a:prstGeom prst="roundRect">
              <a:avLst>
                <a:gd name="adj" fmla="val 3529"/>
              </a:avLst>
            </a:prstGeom>
            <a:solidFill>
              <a:srgbClr val="0052A6">
                <a:alpha val="5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042940" y="2171700"/>
              <a:ext cx="191662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99</a:t>
              </a:r>
              <a:r>
                <a:rPr lang="zh-CN" sz="24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％</a:t>
              </a:r>
              <a:endParaRPr lang="zh-CN" sz="240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83377" y="3010852"/>
              <a:ext cx="635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95 → 99％</a:t>
              </a:r>
              <a:endParaRPr lang="zh-CN" sz="1050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334500" y="3314700"/>
              <a:ext cx="1333500" cy="3048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98749" y="3394710"/>
              <a:ext cx="10050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可靠期 · FDE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8763000" y="382905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B8C7E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62692" y="4034314"/>
              <a:ext cx="18771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1％ 错误可能致严重后果</a:t>
              </a:r>
              <a:endParaRPr lang="zh-CN" sz="127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037189" y="4320064"/>
              <a:ext cx="19281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专用平台 + 万级真实数据</a:t>
              </a:r>
              <a:endParaRPr lang="zh-CN" sz="127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763000" y="4819650"/>
              <a:ext cx="2476500" cy="3429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518341" y="4926806"/>
              <a:ext cx="9658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的主战场</a:t>
              </a:r>
              <a:endParaRPr lang="zh-CN" sz="11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5600700"/>
            <a:ext cx="11049000" cy="742950"/>
            <a:chOff x="571500" y="5600700"/>
            <a:chExt cx="11049000" cy="742950"/>
          </a:xfrm>
        </p:grpSpPr>
        <p:sp>
          <p:nvSpPr>
            <p:cNvPr id="44" name="Rectangle 44"/>
            <p:cNvSpPr/>
            <p:nvPr/>
          </p:nvSpPr>
          <p:spPr>
            <a:xfrm>
              <a:off x="571500" y="560070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500" y="5600700"/>
              <a:ext cx="57150" cy="6667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38200" y="5734050"/>
              <a:ext cx="1189339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&gt;60％</a:t>
              </a:r>
              <a:endParaRPr lang="zh-CN" sz="300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269808" y="5786914"/>
              <a:ext cx="243351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的企业 AI 尝试仍停在试点阶段</a:t>
              </a:r>
              <a:endParaRPr lang="zh-CN" sz="127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72665" y="6039802"/>
              <a:ext cx="34570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即卡在「80％ 之前」——多数项目死在试点走向生产之间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1" grpId="0"/>
      <p:bldP spid="32" grpId="0"/>
      <p:bldP spid="43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7980390" cy="1046798"/>
            <a:chOff x="542925" y="458152"/>
            <a:chExt cx="7980390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865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· 机会与销毛潜力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798039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打开三道成本闸门，过去「不划算」的重交付重新可行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50311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三项成本同时下降，是 FDE 这类重交付模式「现在才成立」的底层原因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762125"/>
            <a:ext cx="3238500" cy="3619500"/>
            <a:chOff x="571500" y="1762125"/>
            <a:chExt cx="3238500" cy="3619500"/>
          </a:xfrm>
        </p:grpSpPr>
        <p:sp>
          <p:nvSpPr>
            <p:cNvPr id="8" name="Rectangle 8"/>
            <p:cNvSpPr/>
            <p:nvPr/>
          </p:nvSpPr>
          <p:spPr>
            <a:xfrm>
              <a:off x="571500" y="1762125"/>
              <a:ext cx="3238500" cy="361950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771650" y="1981200"/>
              <a:ext cx="838200" cy="838200"/>
            </a:xfrm>
            <a:prstGeom prst="ellipse">
              <a:avLst/>
            </a:prstGeom>
            <a:solidFill>
              <a:srgbClr val="0052A6">
                <a:alpha val="8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2033588" y="2243138"/>
              <a:ext cx="314325" cy="314325"/>
              <a:chOff x="2033588" y="2243138"/>
              <a:chExt cx="314325" cy="31432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033588" y="2243138"/>
                <a:ext cx="3143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157162">
                    <a:moveTo>
                      <a:pt x="0" y="157162"/>
                    </a:moveTo>
                    <a:lnTo>
                      <a:pt x="17463" y="157162"/>
                    </a:lnTo>
                    <a:moveTo>
                      <a:pt x="157162" y="0"/>
                    </a:moveTo>
                    <a:lnTo>
                      <a:pt x="157162" y="17463"/>
                    </a:lnTo>
                    <a:moveTo>
                      <a:pt x="296862" y="157162"/>
                    </a:moveTo>
                    <a:lnTo>
                      <a:pt x="314325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9" y="57626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96034" y="2312988"/>
                <a:ext cx="189433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3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3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9"/>
                      <a:pt x="114005" y="244475"/>
                      <a:pt x="94716" y="244475"/>
                    </a:cubicBezTo>
                    <a:cubicBezTo>
                      <a:pt x="75428" y="244475"/>
                      <a:pt x="59791" y="228839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150586" y="2487612"/>
                <a:ext cx="8032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8" h="9525">
                    <a:moveTo>
                      <a:pt x="0" y="0"/>
                    </a:moveTo>
                    <a:lnTo>
                      <a:pt x="80328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2371725" y="1933575"/>
              <a:ext cx="323850" cy="323850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449162" y="19840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↓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31595" y="3028950"/>
              <a:ext cx="1718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行业知识蒸馏成本</a:t>
              </a:r>
              <a:endParaRPr lang="zh-CN" sz="15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428750" y="335280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0E9F6E">
                <a:alpha val="12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13330" y="3440906"/>
              <a:ext cx="1154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成本 ↓ 显著下降</a:t>
              </a:r>
              <a:endParaRPr lang="zh-CN" sz="1125" b="1" dirty="0">
                <a:solidFill>
                  <a:srgbClr val="0E9F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39441" y="386286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一线人员能现场写脚本、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94472" y="412956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封装工具、搭原型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6291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56887" y="478250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意味着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51359" y="4974431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经验不再锁在专家脑子里</a:t>
              </a:r>
              <a:endParaRPr lang="zh-CN" sz="112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76750" y="1762125"/>
            <a:ext cx="3238500" cy="3619500"/>
            <a:chOff x="4476750" y="1762125"/>
            <a:chExt cx="3238500" cy="3619500"/>
          </a:xfrm>
        </p:grpSpPr>
        <p:sp>
          <p:nvSpPr>
            <p:cNvPr id="25" name="Rectangle 25"/>
            <p:cNvSpPr/>
            <p:nvPr/>
          </p:nvSpPr>
          <p:spPr>
            <a:xfrm>
              <a:off x="4476750" y="1762125"/>
              <a:ext cx="3238500" cy="361950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676900" y="1981200"/>
              <a:ext cx="838200" cy="838200"/>
            </a:xfrm>
            <a:prstGeom prst="ellipse">
              <a:avLst/>
            </a:prstGeom>
            <a:solidFill>
              <a:srgbClr val="0052A6">
                <a:alpha val="8000"/>
              </a:srgbClr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938838" y="2243138"/>
              <a:ext cx="314324" cy="314324"/>
              <a:chOff x="5938838" y="2243138"/>
              <a:chExt cx="314324" cy="31432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938838" y="2487612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183312" y="2243138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34925" y="69850"/>
                    </a:move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  <a:cubicBezTo>
                      <a:pt x="0" y="54214"/>
                      <a:pt x="15636" y="69850"/>
                      <a:pt x="34925" y="698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973762" y="2278062"/>
                <a:ext cx="261938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61938" h="244475">
                    <a:moveTo>
                      <a:pt x="104775" y="244475"/>
                    </a:moveTo>
                    <a:lnTo>
                      <a:pt x="200819" y="244475"/>
                    </a:lnTo>
                    <a:cubicBezTo>
                      <a:pt x="234574" y="244475"/>
                      <a:pt x="261938" y="217111"/>
                      <a:pt x="261938" y="183356"/>
                    </a:cubicBezTo>
                    <a:cubicBezTo>
                      <a:pt x="261938" y="149601"/>
                      <a:pt x="234574" y="122238"/>
                      <a:pt x="200819" y="122238"/>
                    </a:cubicBezTo>
                    <a:lnTo>
                      <a:pt x="61119" y="122238"/>
                    </a:lnTo>
                    <a:cubicBezTo>
                      <a:pt x="27364" y="122238"/>
                      <a:pt x="0" y="94874"/>
                      <a:pt x="0" y="61119"/>
                    </a:cubicBezTo>
                    <a:cubicBezTo>
                      <a:pt x="0" y="27364"/>
                      <a:pt x="27364" y="0"/>
                      <a:pt x="61119" y="0"/>
                    </a:cubicBez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1" name="Ellipse 31"/>
            <p:cNvSpPr/>
            <p:nvPr/>
          </p:nvSpPr>
          <p:spPr>
            <a:xfrm>
              <a:off x="6276975" y="1933575"/>
              <a:ext cx="323850" cy="323850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4412" y="19840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↓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46871" y="30289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定制开发成本</a:t>
              </a:r>
              <a:endParaRPr lang="zh-CN" sz="15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0" y="335280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0E9F6E">
                <a:alpha val="12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18580" y="3440906"/>
              <a:ext cx="1154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成本 ↓ 显著下降</a:t>
              </a:r>
              <a:endParaRPr lang="zh-CN" sz="1125" b="1" dirty="0">
                <a:solidFill>
                  <a:srgbClr val="0E9F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84733" y="3862864"/>
              <a:ext cx="12225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小团队即可完成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99722" y="412956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从想法到价值验证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705350" y="46291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62137" y="478250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意味着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031581" y="4974431"/>
              <a:ext cx="21288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过去不划算的定制，现在做得起</a:t>
              </a:r>
              <a:endParaRPr lang="zh-CN" sz="112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382000" y="1762125"/>
            <a:ext cx="3238500" cy="3619500"/>
            <a:chOff x="8382000" y="1762125"/>
            <a:chExt cx="3238500" cy="3619500"/>
          </a:xfrm>
        </p:grpSpPr>
        <p:sp>
          <p:nvSpPr>
            <p:cNvPr id="42" name="Rectangle 42"/>
            <p:cNvSpPr/>
            <p:nvPr/>
          </p:nvSpPr>
          <p:spPr>
            <a:xfrm>
              <a:off x="8382000" y="1762125"/>
              <a:ext cx="3238500" cy="3619500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582150" y="1981200"/>
              <a:ext cx="838200" cy="838200"/>
            </a:xfrm>
            <a:prstGeom prst="ellipse">
              <a:avLst/>
            </a:prstGeom>
            <a:solidFill>
              <a:srgbClr val="0052A6">
                <a:alpha val="8000"/>
              </a:srgbClr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844088" y="2243138"/>
              <a:ext cx="314325" cy="314325"/>
              <a:chOff x="9844088" y="2243138"/>
              <a:chExt cx="314325" cy="3143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879012" y="2243138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844088" y="2452688"/>
                <a:ext cx="209550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139700" y="0"/>
                    </a:lnTo>
                    <a:cubicBezTo>
                      <a:pt x="178277" y="0"/>
                      <a:pt x="209550" y="31273"/>
                      <a:pt x="209550" y="69850"/>
                    </a:cubicBezTo>
                    <a:lnTo>
                      <a:pt x="209550" y="10477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071100" y="2245408"/>
                <a:ext cx="52524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52524" h="135334">
                    <a:moveTo>
                      <a:pt x="0" y="0"/>
                    </a:moveTo>
                    <a:cubicBezTo>
                      <a:pt x="30907" y="7913"/>
                      <a:pt x="52524" y="35763"/>
                      <a:pt x="52524" y="67667"/>
                    </a:cubicBezTo>
                    <a:cubicBezTo>
                      <a:pt x="52524" y="99571"/>
                      <a:pt x="30907" y="127421"/>
                      <a:pt x="0" y="135334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106025" y="2455307"/>
                <a:ext cx="52388" cy="102156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02156">
                    <a:moveTo>
                      <a:pt x="52388" y="102156"/>
                    </a:moveTo>
                    <a:lnTo>
                      <a:pt x="52388" y="67231"/>
                    </a:lnTo>
                    <a:cubicBezTo>
                      <a:pt x="52205" y="35529"/>
                      <a:pt x="30696" y="7925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49" name="Ellipse 49"/>
            <p:cNvSpPr/>
            <p:nvPr/>
          </p:nvSpPr>
          <p:spPr>
            <a:xfrm>
              <a:off x="10182225" y="1933575"/>
              <a:ext cx="323850" cy="323850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259662" y="1984058"/>
              <a:ext cx="1689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↓</a:t>
              </a:r>
              <a:endParaRPr lang="zh-CN" sz="16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37082" y="3028950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复合型人才供给成本</a:t>
              </a:r>
              <a:endParaRPr lang="zh-CN" sz="15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239250" y="335280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0E9F6E">
                <a:alpha val="12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23830" y="3440906"/>
              <a:ext cx="1154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成本 ↓ 显著下降</a:t>
              </a:r>
              <a:endParaRPr lang="zh-CN" sz="1125" b="1" dirty="0">
                <a:solidFill>
                  <a:srgbClr val="0E9F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37189" y="3862864"/>
              <a:ext cx="19281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补齐部分工程 / 文档 /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45015" y="4129564"/>
              <a:ext cx="71247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产品能力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610600" y="46291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767387" y="478250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意味着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11878" y="4974431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一个人能顶多个角色</a:t>
              </a:r>
              <a:endParaRPr lang="zh-CN" sz="112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71500" y="5600700"/>
            <a:ext cx="11049000" cy="700088"/>
            <a:chOff x="571500" y="5600700"/>
            <a:chExt cx="11049000" cy="700088"/>
          </a:xfrm>
        </p:grpSpPr>
        <p:sp>
          <p:nvSpPr>
            <p:cNvPr id="60" name="Rectangle 60"/>
            <p:cNvSpPr/>
            <p:nvPr/>
          </p:nvSpPr>
          <p:spPr>
            <a:xfrm>
              <a:off x="571500" y="5600700"/>
              <a:ext cx="11049000" cy="666750"/>
            </a:xfrm>
            <a:prstGeom prst="roundRect">
              <a:avLst>
                <a:gd name="adj" fmla="val 17143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78681" y="5866606"/>
              <a:ext cx="242888" cy="134938"/>
              <a:chOff x="878681" y="5866606"/>
              <a:chExt cx="242888" cy="134938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78681" y="5866606"/>
                <a:ext cx="242888" cy="13493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34938">
                    <a:moveTo>
                      <a:pt x="0" y="134938"/>
                    </a:moveTo>
                    <a:lnTo>
                      <a:pt x="80962" y="53975"/>
                    </a:lnTo>
                    <a:lnTo>
                      <a:pt x="134938" y="107950"/>
                    </a:lnTo>
                    <a:lnTo>
                      <a:pt x="2428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027113" y="5866606"/>
                <a:ext cx="94456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4456">
                    <a:moveTo>
                      <a:pt x="0" y="0"/>
                    </a:moveTo>
                    <a:lnTo>
                      <a:pt x="94456" y="0"/>
                    </a:lnTo>
                    <a:lnTo>
                      <a:pt x="94456" y="9445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282065" y="58302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CE6F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底层逻辑</a:t>
              </a:r>
              <a:endParaRPr lang="zh-CN" sz="1050" b="1" dirty="0">
                <a:solidFill>
                  <a:srgbClr val="DCE6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278255" y="6026468"/>
              <a:ext cx="45708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可编码的经验正在廉价化，不可编码的洞察正在稀缺化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1" grpId="0"/>
      <p:bldP spid="59" grpId="0"/>
      <p:bldP spid="6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672977" cy="1046798"/>
            <a:chOff x="542925" y="458152"/>
            <a:chExt cx="6672977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865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· 机会与销毛潜力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672977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不是只讲故事的赔本买卖，有真实的高毛利逻辑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9749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标杆毛利 82％，国内已有真金白银验证 FDE 可独立定价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71500" y="1714500"/>
            <a:ext cx="5334000" cy="1952625"/>
            <a:chOff x="571500" y="1714500"/>
            <a:chExt cx="5334000" cy="1952625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5334000" cy="1952625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23900" y="1905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6308" y="1976914"/>
              <a:ext cx="13177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Palantir 毛利率</a:t>
              </a:r>
              <a:endParaRPr lang="zh-CN" sz="127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0118" y="2218849"/>
              <a:ext cx="14289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Forward Deployed 标杆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0" y="19050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246BFE">
                <a:alpha val="12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953333" y="19807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海外标杆</a:t>
              </a:r>
              <a:endParaRPr lang="zh-CN" sz="975" b="1" dirty="0">
                <a:solidFill>
                  <a:srgbClr val="246B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9635" y="2513648"/>
              <a:ext cx="1581212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82</a:t>
              </a:r>
              <a:r>
                <a:rPr lang="zh-CN" sz="2250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％</a:t>
              </a:r>
              <a:endParaRPr lang="zh-CN" sz="2250" b="1" dirty="0">
                <a:solidFill>
                  <a:srgbClr val="246B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8212" y="3307556"/>
              <a:ext cx="27589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接近纯软件公司 · 远高于咨询业 </a:t>
              </a:r>
              <a:r>
                <a:rPr lang="zh-CN" sz="11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30–40％</a:t>
              </a:r>
              <a:endParaRPr lang="zh-CN" sz="11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1714500"/>
            <a:ext cx="5334000" cy="1952625"/>
            <a:chOff x="6286500" y="1714500"/>
            <a:chExt cx="5334000" cy="1952625"/>
          </a:xfrm>
        </p:grpSpPr>
        <p:sp>
          <p:nvSpPr>
            <p:cNvPr id="17" name="Rectangle 17"/>
            <p:cNvSpPr/>
            <p:nvPr/>
          </p:nvSpPr>
          <p:spPr>
            <a:xfrm>
              <a:off x="6286500" y="1714500"/>
              <a:ext cx="5334000" cy="1952625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38900" y="19050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51308" y="1976914"/>
              <a:ext cx="23353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Bootcamp 5 天驻场 · 转化率</a:t>
              </a:r>
              <a:endParaRPr lang="zh-CN" sz="127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55118" y="221884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现场培训 + 工具落地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477500" y="19050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E9F6E">
                <a:alpha val="12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668333" y="19807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海外案例</a:t>
              </a:r>
              <a:endParaRPr lang="zh-CN" sz="975" b="1" dirty="0">
                <a:solidFill>
                  <a:srgbClr val="0E9F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04635" y="2513648"/>
              <a:ext cx="1581212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950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70</a:t>
              </a:r>
              <a:r>
                <a:rPr lang="zh-CN" sz="2250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％</a:t>
              </a:r>
              <a:endParaRPr lang="zh-CN" sz="2250" b="1" dirty="0">
                <a:solidFill>
                  <a:srgbClr val="0E9F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53212" y="3307556"/>
              <a:ext cx="18363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同时获客成本降低 </a:t>
              </a:r>
              <a:r>
                <a:rPr lang="zh-CN" sz="11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40–60％</a:t>
              </a:r>
              <a:endParaRPr lang="zh-CN" sz="11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3810000"/>
            <a:ext cx="5334000" cy="1952625"/>
            <a:chOff x="571500" y="3810000"/>
            <a:chExt cx="5334000" cy="1952625"/>
          </a:xfrm>
        </p:grpSpPr>
        <p:sp>
          <p:nvSpPr>
            <p:cNvPr id="26" name="Rectangle 26"/>
            <p:cNvSpPr/>
            <p:nvPr/>
          </p:nvSpPr>
          <p:spPr>
            <a:xfrm>
              <a:off x="571500" y="3810000"/>
              <a:ext cx="5334000" cy="1952625"/>
            </a:xfrm>
            <a:prstGeom prst="roundRect">
              <a:avLst>
                <a:gd name="adj" fmla="val 5854"/>
              </a:avLst>
            </a:prstGeom>
            <a:solidFill>
              <a:srgbClr val="0052A6">
                <a:alpha val="4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23900" y="40005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36308" y="4072414"/>
              <a:ext cx="242458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腾讯云 FDE 服务 · 头部客单价</a:t>
              </a:r>
              <a:endParaRPr lang="zh-CN" sz="127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0118" y="43143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已被验证可独立定价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762500" y="40005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53333" y="40762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国内验证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1065" y="4658678"/>
              <a:ext cx="3590356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100–500</a:t>
              </a:r>
              <a:r>
                <a:rPr lang="zh-CN" sz="19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万元</a:t>
              </a:r>
              <a:endParaRPr lang="zh-CN" sz="19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8212" y="5326856"/>
              <a:ext cx="30439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头部客户年合同量级 · FDE 作为服务单独定价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86500" y="3810000"/>
            <a:ext cx="5334000" cy="1952625"/>
            <a:chOff x="6286500" y="3810000"/>
            <a:chExt cx="5334000" cy="1952625"/>
          </a:xfrm>
        </p:grpSpPr>
        <p:sp>
          <p:nvSpPr>
            <p:cNvPr id="35" name="Rectangle 35"/>
            <p:cNvSpPr/>
            <p:nvPr/>
          </p:nvSpPr>
          <p:spPr>
            <a:xfrm>
              <a:off x="6286500" y="3810000"/>
              <a:ext cx="5334000" cy="1952625"/>
            </a:xfrm>
            <a:prstGeom prst="roundRect">
              <a:avLst>
                <a:gd name="adj" fmla="val 585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38900" y="4000500"/>
              <a:ext cx="57150" cy="762000"/>
            </a:xfrm>
            <a:prstGeom prst="roundRect">
              <a:avLst>
                <a:gd name="adj" fmla="val 50000"/>
              </a:avLst>
            </a:prstGeom>
            <a:solidFill>
              <a:srgbClr val="20A7B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51308" y="4072414"/>
              <a:ext cx="16658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收入逻辑 · 长期引擎</a:t>
              </a:r>
              <a:endParaRPr lang="zh-CN" sz="127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5118" y="43143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席位费是入口，不是终局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477500" y="40005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20A7B8">
                <a:alpha val="14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68333" y="407622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0A7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商业模式</a:t>
              </a:r>
              <a:endParaRPr lang="zh-CN" sz="975" b="1" dirty="0">
                <a:solidFill>
                  <a:srgbClr val="20A7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6550" y="4791075"/>
              <a:ext cx="419100" cy="419100"/>
            </a:xfrm>
            <a:prstGeom prst="ellipse">
              <a:avLst/>
            </a:prstGeom>
            <a:solidFill>
              <a:srgbClr val="20A7B8">
                <a:alpha val="12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781800" y="4880812"/>
              <a:ext cx="228600" cy="239625"/>
              <a:chOff x="6781800" y="4880812"/>
              <a:chExt cx="228600" cy="2396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781800" y="488081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81800" y="501491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19050">
                <a:solidFill>
                  <a:srgbClr val="20A7B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229475" y="4710112"/>
              <a:ext cx="131730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0A7B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持续消耗</a:t>
              </a:r>
              <a:endParaRPr lang="zh-CN" sz="2250" b="1" dirty="0">
                <a:solidFill>
                  <a:srgbClr val="20A7B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43762" y="5117306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客户越用越深，消耗才是长期收入引擎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0070" y="6189345"/>
            <a:ext cx="11070907" cy="461486"/>
            <a:chOff x="560070" y="6189345"/>
            <a:chExt cx="11070907" cy="461486"/>
          </a:xfrm>
        </p:grpSpPr>
        <p:sp>
          <p:nvSpPr>
            <p:cNvPr id="48" name="TextBox 48"/>
            <p:cNvSpPr txBox="1"/>
            <p:nvPr/>
          </p:nvSpPr>
          <p:spPr>
            <a:xfrm>
              <a:off x="560070" y="6189345"/>
              <a:ext cx="29212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数据来源：公开财报与行业案例整理 · 数字为量级参考</a:t>
              </a:r>
              <a:endParaRPr lang="zh-CN" sz="900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41476" y="64831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 / 25</a:t>
              </a:r>
              <a:endPara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5" grpId="0"/>
      <p:bldP spid="34" grpId="0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704481" cy="1046798"/>
            <a:chOff x="542925" y="458152"/>
            <a:chExt cx="6704481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3865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 · 机会与销毛潜力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70448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招聘、大厂、政策三重信号——不是我们在追风口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54291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三股力量同时指向同一个方向：FDE 已成行业共识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666875"/>
            <a:ext cx="11049000" cy="1143000"/>
            <a:chOff x="571500" y="1666875"/>
            <a:chExt cx="11049000" cy="114300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666875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76300" y="1933575"/>
              <a:ext cx="609600" cy="609600"/>
            </a:xfrm>
            <a:prstGeom prst="ellipse">
              <a:avLst/>
            </a:prstGeom>
            <a:solidFill>
              <a:srgbClr val="246BFE">
                <a:alpha val="12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09650" y="2143125"/>
              <a:ext cx="342900" cy="190500"/>
              <a:chOff x="1009650" y="2143125"/>
              <a:chExt cx="342900" cy="190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09650" y="2143125"/>
                <a:ext cx="3429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90500">
                    <a:moveTo>
                      <a:pt x="0" y="190500"/>
                    </a:moveTo>
                    <a:lnTo>
                      <a:pt x="114300" y="76200"/>
                    </a:lnTo>
                    <a:lnTo>
                      <a:pt x="190500" y="152400"/>
                    </a:lnTo>
                    <a:lnTo>
                      <a:pt x="3429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9200" y="21431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0"/>
                    </a:moveTo>
                    <a:lnTo>
                      <a:pt x="133350" y="0"/>
                    </a:lnTo>
                    <a:lnTo>
                      <a:pt x="133350" y="13335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696402" y="20178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招聘信号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2118" y="22950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海外岗位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40355" y="1968818"/>
              <a:ext cx="1971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海外 FDE 岗位一年猛增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43212" y="2259806"/>
              <a:ext cx="29614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643 个 → 5330 个 · 平均年薪约 19.6 万美元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83369" y="2060258"/>
              <a:ext cx="149138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150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+729％</a:t>
              </a:r>
              <a:endParaRPr lang="zh-CN" sz="3150" b="1" dirty="0">
                <a:solidFill>
                  <a:srgbClr val="246B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71500" y="3019425"/>
            <a:ext cx="11049000" cy="1143000"/>
            <a:chOff x="571500" y="3019425"/>
            <a:chExt cx="11049000" cy="1143000"/>
          </a:xfrm>
        </p:grpSpPr>
        <p:sp>
          <p:nvSpPr>
            <p:cNvPr id="20" name="Rectangle 20"/>
            <p:cNvSpPr/>
            <p:nvPr/>
          </p:nvSpPr>
          <p:spPr>
            <a:xfrm>
              <a:off x="571500" y="3019425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71500" y="3019425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76300" y="3286125"/>
              <a:ext cx="609600" cy="609600"/>
            </a:xfrm>
            <a:prstGeom prst="ellipse">
              <a:avLst/>
            </a:prstGeom>
            <a:solidFill>
              <a:srgbClr val="0052A6">
                <a:alpha val="12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09650" y="3419475"/>
              <a:ext cx="342900" cy="361950"/>
              <a:chOff x="1009650" y="3419475"/>
              <a:chExt cx="342900" cy="3619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1066800" y="3419475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81100" y="3419475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0" y="0"/>
                    </a:moveTo>
                    <a:cubicBezTo>
                      <a:pt x="25394" y="6344"/>
                      <a:pt x="38100" y="44444"/>
                      <a:pt x="38100" y="114300"/>
                    </a:cubicBezTo>
                    <a:cubicBezTo>
                      <a:pt x="38100" y="184156"/>
                      <a:pt x="25394" y="222256"/>
                      <a:pt x="0" y="2286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43000" y="3419475"/>
                <a:ext cx="381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228600">
                    <a:moveTo>
                      <a:pt x="38100" y="0"/>
                    </a:moveTo>
                    <a:cubicBezTo>
                      <a:pt x="12706" y="6344"/>
                      <a:pt x="0" y="44444"/>
                      <a:pt x="0" y="114300"/>
                    </a:cubicBezTo>
                    <a:cubicBezTo>
                      <a:pt x="0" y="184156"/>
                      <a:pt x="12706" y="222256"/>
                      <a:pt x="38100" y="2286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66800" y="353377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09650" y="374332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19200" y="3743325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43000" y="370522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81100" y="3648075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696402" y="33704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大厂下场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02118" y="36475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真金白银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40355" y="3321368"/>
              <a:ext cx="30303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AWS 投 10 亿美元组建企业交付团队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43212" y="3612356"/>
              <a:ext cx="3471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OpenAI、Anthropic 直接做企业交付，不再只卖 API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25949" y="3412808"/>
              <a:ext cx="1248806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1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$10亿</a:t>
              </a:r>
              <a:endParaRPr lang="zh-CN" sz="31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4371975"/>
            <a:ext cx="11049000" cy="1143000"/>
            <a:chOff x="571500" y="4371975"/>
            <a:chExt cx="11049000" cy="1143000"/>
          </a:xfrm>
        </p:grpSpPr>
        <p:sp>
          <p:nvSpPr>
            <p:cNvPr id="38" name="Rectangle 38"/>
            <p:cNvSpPr/>
            <p:nvPr/>
          </p:nvSpPr>
          <p:spPr>
            <a:xfrm>
              <a:off x="571500" y="4371975"/>
              <a:ext cx="11049000" cy="1143000"/>
            </a:xfrm>
            <a:prstGeom prst="roundRect">
              <a:avLst>
                <a:gd name="adj" fmla="val 10000"/>
              </a:avLst>
            </a:prstGeom>
            <a:solidFill>
              <a:srgbClr val="0E9F6E">
                <a:alpha val="6000"/>
              </a:srgbClr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71500" y="4371975"/>
              <a:ext cx="57150" cy="114300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76300" y="4638675"/>
              <a:ext cx="609600" cy="609600"/>
            </a:xfrm>
            <a:prstGeom prst="ellipse">
              <a:avLst/>
            </a:prstGeom>
            <a:solidFill>
              <a:srgbClr val="0E9F6E">
                <a:alpha val="14000"/>
              </a:srgbClr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009650" y="4810125"/>
              <a:ext cx="342900" cy="323850"/>
              <a:chOff x="1009650" y="4810125"/>
              <a:chExt cx="342900" cy="3238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1181100" y="4943475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00150" y="5048250"/>
                <a:ext cx="762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85725">
                    <a:moveTo>
                      <a:pt x="0" y="0"/>
                    </a:moveTo>
                    <a:lnTo>
                      <a:pt x="0" y="85725"/>
                    </a:lnTo>
                    <a:lnTo>
                      <a:pt x="38100" y="57150"/>
                    </a:lnTo>
                    <a:lnTo>
                      <a:pt x="76200" y="85725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09650" y="4810125"/>
                <a:ext cx="3429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266700">
                    <a:moveTo>
                      <a:pt x="133350" y="266700"/>
                    </a:move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145"/>
                      <a:pt x="17145" y="0"/>
                      <a:pt x="38100" y="0"/>
                    </a:cubicBezTo>
                    <a:lnTo>
                      <a:pt x="304800" y="0"/>
                    </a:lnTo>
                    <a:cubicBezTo>
                      <a:pt x="325842" y="0"/>
                      <a:pt x="342900" y="17058"/>
                      <a:pt x="342900" y="38100"/>
                    </a:cubicBezTo>
                    <a:lnTo>
                      <a:pt x="342900" y="228600"/>
                    </a:lnTo>
                    <a:cubicBezTo>
                      <a:pt x="342886" y="242198"/>
                      <a:pt x="335626" y="254758"/>
                      <a:pt x="323850" y="261556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66800" y="4886325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66800" y="4943475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66800" y="5000625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696402" y="47229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政策信号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702118" y="50001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产业共识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840355" y="4673918"/>
              <a:ext cx="29169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上海全国首个将 FDE 写入产业政策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43212" y="4964906"/>
              <a:ext cx="34865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2026 年 1 月 · 标志 FDE 从市场行为升级为产业方向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874186" y="4830128"/>
              <a:ext cx="149294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550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全国首个</a:t>
              </a:r>
              <a:endParaRPr lang="zh-CN" sz="2550" b="1" dirty="0">
                <a:solidFill>
                  <a:srgbClr val="0E9F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71500" y="5695950"/>
            <a:ext cx="11049000" cy="571500"/>
            <a:chOff x="571500" y="5695950"/>
            <a:chExt cx="11049000" cy="571500"/>
          </a:xfrm>
        </p:grpSpPr>
        <p:sp>
          <p:nvSpPr>
            <p:cNvPr id="54" name="Rectangle 54"/>
            <p:cNvSpPr/>
            <p:nvPr/>
          </p:nvSpPr>
          <p:spPr>
            <a:xfrm>
              <a:off x="571500" y="569595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59631" y="5919788"/>
              <a:ext cx="166688" cy="142875"/>
              <a:chOff x="859631" y="5919788"/>
              <a:chExt cx="166688" cy="14287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59631" y="5991225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954881" y="5991225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71438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54881" y="5919788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183958" y="5920264"/>
              <a:ext cx="50042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已成行业共识，角色还在升级：从 FDE → FDX「外置 CEO」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7" grpId="0"/>
      <p:bldP spid="53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59E0B">
                    <a:alpha val="14000"/>
                  </a:srgbClr>
                </a:gs>
                <a:gs pos="100000">
                  <a:srgbClr val="F59E0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393382" y="2981325"/>
            <a:ext cx="2960418" cy="3352800"/>
            <a:chOff x="8393382" y="2981325"/>
            <a:chExt cx="2960418" cy="3352800"/>
          </a:xfrm>
        </p:grpSpPr>
        <p:sp>
          <p:nvSpPr>
            <p:cNvPr id="5" name="TextBox 5"/>
            <p:cNvSpPr txBox="1"/>
            <p:nvPr/>
          </p:nvSpPr>
          <p:spPr>
            <a:xfrm>
              <a:off x="8393382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16500" b="1" dirty="0">
                <a:solidFill>
                  <a:srgbClr val="FFFFFF">
                    <a:alphaMod val="1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667000"/>
            <a:ext cx="1795443" cy="338138"/>
            <a:chOff x="1143000" y="2667000"/>
            <a:chExt cx="1795443" cy="338138"/>
          </a:xfrm>
        </p:grpSpPr>
        <p:sp>
          <p:nvSpPr>
            <p:cNvPr id="7" name="Rectangle 7"/>
            <p:cNvSpPr/>
            <p:nvPr/>
          </p:nvSpPr>
          <p:spPr>
            <a:xfrm>
              <a:off x="1143000" y="2667000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246BF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6355" y="2730818"/>
              <a:ext cx="16220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CHAPTER 03 · 重头</a:t>
              </a:r>
              <a:endParaRPr lang="zh-CN" sz="135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1090" y="3358515"/>
            <a:ext cx="3061335" cy="1213485"/>
            <a:chOff x="1101090" y="3358515"/>
            <a:chExt cx="3061335" cy="1213485"/>
          </a:xfrm>
        </p:grpSpPr>
        <p:sp>
          <p:nvSpPr>
            <p:cNvPr id="10" name="TextBox 10"/>
            <p:cNvSpPr txBox="1"/>
            <p:nvPr/>
          </p:nvSpPr>
          <p:spPr>
            <a:xfrm>
              <a:off x="1101090" y="3358515"/>
              <a:ext cx="239410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真相与风险</a:t>
              </a:r>
              <a:endParaRPr lang="zh-CN" sz="33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3952875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3950" y="4267200"/>
              <a:ext cx="3038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7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值钱，但绝不是马上能变现的数字</a:t>
              </a:r>
              <a:endParaRPr lang="zh-CN" sz="1500" dirty="0">
                <a:solidFill>
                  <a:srgbClr val="B8C7E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0618" y="6257449"/>
            <a:ext cx="10311764" cy="198120"/>
            <a:chOff x="1130618" y="6257449"/>
            <a:chExt cx="10311764" cy="198120"/>
          </a:xfrm>
        </p:grpSpPr>
        <p:sp>
          <p:nvSpPr>
            <p:cNvPr id="14" name="TextBox 14"/>
            <p:cNvSpPr txBox="1"/>
            <p:nvPr/>
          </p:nvSpPr>
          <p:spPr>
            <a:xfrm>
              <a:off x="1130618" y="6257449"/>
              <a:ext cx="23780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经委会汇报 · 第三章（全场最关键）</a:t>
              </a:r>
              <a:endParaRPr lang="zh-CN" sz="975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2063" y="62574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 / 25</a:t>
              </a:r>
              <a:endParaRPr lang="zh-CN" sz="975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7287304" cy="1046798"/>
            <a:chOff x="542925" y="458152"/>
            <a:chExt cx="7287304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5556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真相与风险 · 重头</a:t>
              </a:r>
              <a:endParaRPr lang="zh-CN" sz="105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72873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是真机会，但三条约束决定了「能做、不能急」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F59E0B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8470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这三条是市场的客观规律，不是保守——风险不在做不成，在用错节奏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666875"/>
            <a:ext cx="3429000" cy="3619500"/>
            <a:chOff x="571500" y="1666875"/>
            <a:chExt cx="3429000" cy="361950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F59E0B">
                  <a:alpha val="45000"/>
                </a:srgbClr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71500" y="1666875"/>
              <a:ext cx="3429000" cy="952500"/>
            </a:xfrm>
            <a:custGeom>
              <a:avLst/>
              <a:gdLst/>
              <a:ahLst/>
              <a:cxnLst/>
              <a:rect l="l" t="t" r="r" b="b"/>
              <a:pathLst>
                <a:path w="3429000" h="952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000250" y="1762125"/>
              <a:ext cx="571500" cy="571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093879" y="1870096"/>
              <a:ext cx="384228" cy="330103"/>
              <a:chOff x="2093879" y="1870096"/>
              <a:chExt cx="384228" cy="33010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2286000" y="199072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093879" y="1870096"/>
                <a:ext cx="384228" cy="330103"/>
              </a:xfrm>
              <a:custGeom>
                <a:avLst/>
                <a:gdLst/>
                <a:ahLst/>
                <a:cxnLst/>
                <a:rect l="l" t="t" r="r" b="b"/>
                <a:pathLst>
                  <a:path w="384228" h="330103">
                    <a:moveTo>
                      <a:pt x="160937" y="17587"/>
                    </a:moveTo>
                    <a:lnTo>
                      <a:pt x="6517" y="275410"/>
                    </a:lnTo>
                    <a:cubicBezTo>
                      <a:pt x="40" y="286628"/>
                      <a:pt x="0" y="300440"/>
                      <a:pt x="6413" y="311695"/>
                    </a:cubicBezTo>
                    <a:cubicBezTo>
                      <a:pt x="12827" y="322950"/>
                      <a:pt x="24730" y="329957"/>
                      <a:pt x="37683" y="330103"/>
                    </a:cubicBezTo>
                    <a:lnTo>
                      <a:pt x="346560" y="330103"/>
                    </a:lnTo>
                    <a:cubicBezTo>
                      <a:pt x="359507" y="329953"/>
                      <a:pt x="371404" y="322949"/>
                      <a:pt x="377816" y="311700"/>
                    </a:cubicBezTo>
                    <a:cubicBezTo>
                      <a:pt x="384228" y="300451"/>
                      <a:pt x="384194" y="286646"/>
                      <a:pt x="377726" y="275429"/>
                    </a:cubicBezTo>
                    <a:lnTo>
                      <a:pt x="223306" y="17568"/>
                    </a:lnTo>
                    <a:cubicBezTo>
                      <a:pt x="216699" y="6662"/>
                      <a:pt x="204873" y="0"/>
                      <a:pt x="192121" y="0"/>
                    </a:cubicBezTo>
                    <a:cubicBezTo>
                      <a:pt x="179370" y="0"/>
                      <a:pt x="167544" y="6662"/>
                      <a:pt x="160937" y="1756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286000" y="21240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91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063164" y="2382202"/>
              <a:ext cx="4456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风险 ①</a:t>
              </a:r>
              <a:endParaRPr lang="zh-CN" sz="10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56444" y="27936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新兴行业无规范</a:t>
              </a:r>
              <a:endParaRPr lang="zh-CN" sz="16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876300" y="32194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14288">
              <a:solidFill>
                <a:srgbClr val="FBD9A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0108" y="3462814"/>
              <a:ext cx="17070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业务流程无行业标准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0108" y="3786664"/>
              <a:ext cx="17070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商业化路径尚不成熟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0108" y="4110514"/>
              <a:ext cx="20471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成功案例可复制性待验证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76300" y="4552950"/>
              <a:ext cx="2819400" cy="495300"/>
            </a:xfrm>
            <a:prstGeom prst="roundRect">
              <a:avLst>
                <a:gd name="adj" fmla="val 15385"/>
              </a:avLst>
            </a:prstGeom>
            <a:solidFill>
              <a:srgbClr val="F59E0B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12595" y="47444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没有现成作业可抄</a:t>
              </a:r>
              <a:endParaRPr lang="zh-CN" sz="1050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381500" y="1666875"/>
            <a:ext cx="3429000" cy="3619500"/>
            <a:chOff x="4381500" y="1666875"/>
            <a:chExt cx="3429000" cy="3619500"/>
          </a:xfrm>
        </p:grpSpPr>
        <p:sp>
          <p:nvSpPr>
            <p:cNvPr id="24" name="Rectangle 24"/>
            <p:cNvSpPr/>
            <p:nvPr/>
          </p:nvSpPr>
          <p:spPr>
            <a:xfrm>
              <a:off x="4381500" y="1666875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F59E0B">
                  <a:alpha val="45000"/>
                </a:srgbClr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4381500" y="1666875"/>
              <a:ext cx="3429000" cy="952500"/>
            </a:xfrm>
            <a:custGeom>
              <a:avLst/>
              <a:gdLst/>
              <a:ahLst/>
              <a:cxnLst/>
              <a:rect l="l" t="t" r="r" b="b"/>
              <a:pathLst>
                <a:path w="3429000" h="952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810250" y="1762125"/>
              <a:ext cx="571500" cy="571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924550" y="1876425"/>
              <a:ext cx="342900" cy="342900"/>
              <a:chOff x="5924550" y="1876425"/>
              <a:chExt cx="342900" cy="3429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962650" y="187642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924550" y="210502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152400" y="0"/>
                    </a:lnTo>
                    <a:cubicBezTo>
                      <a:pt x="194484" y="0"/>
                      <a:pt x="228600" y="34116"/>
                      <a:pt x="228600" y="76200"/>
                    </a:cubicBezTo>
                    <a:lnTo>
                      <a:pt x="228600" y="1143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172200" y="1878902"/>
                <a:ext cx="57299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57299" h="147638">
                    <a:moveTo>
                      <a:pt x="0" y="0"/>
                    </a:moveTo>
                    <a:cubicBezTo>
                      <a:pt x="33717" y="8633"/>
                      <a:pt x="57299" y="39014"/>
                      <a:pt x="57299" y="73819"/>
                    </a:cubicBezTo>
                    <a:cubicBezTo>
                      <a:pt x="57299" y="108623"/>
                      <a:pt x="33717" y="139005"/>
                      <a:pt x="0" y="14763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210300" y="2107882"/>
                <a:ext cx="57150" cy="11144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1442">
                    <a:moveTo>
                      <a:pt x="57150" y="111442"/>
                    </a:moveTo>
                    <a:lnTo>
                      <a:pt x="57150" y="73342"/>
                    </a:lnTo>
                    <a:cubicBezTo>
                      <a:pt x="56951" y="38759"/>
                      <a:pt x="33486" y="8646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873164" y="2382202"/>
              <a:ext cx="4456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风险 ②</a:t>
              </a:r>
              <a:endParaRPr lang="zh-CN" sz="10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50930" y="27936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人才苛刻到招不到</a:t>
              </a:r>
              <a:endParaRPr lang="zh-CN" sz="16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4686300" y="32194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14288">
              <a:solidFill>
                <a:srgbClr val="FBD9A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670108" y="3462814"/>
              <a:ext cx="25572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复合人才极度稀缺，几乎招不到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70108" y="3786664"/>
              <a:ext cx="27782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内部转型需「意愿 + 培训 + 工具」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70108" y="4110514"/>
              <a:ext cx="201313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培养周期长达 9–18 个月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686300" y="4552950"/>
              <a:ext cx="2819400" cy="495300"/>
            </a:xfrm>
            <a:prstGeom prst="roundRect">
              <a:avLst>
                <a:gd name="adj" fmla="val 15385"/>
              </a:avLst>
            </a:prstGeom>
            <a:solidFill>
              <a:srgbClr val="F59E0B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82578" y="47444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瓶颈在人，且是长周期</a:t>
              </a:r>
              <a:endParaRPr lang="zh-CN" sz="1050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8191500" y="1666875"/>
            <a:ext cx="3429000" cy="3619500"/>
            <a:chOff x="8191500" y="1666875"/>
            <a:chExt cx="3429000" cy="3619500"/>
          </a:xfrm>
        </p:grpSpPr>
        <p:sp>
          <p:nvSpPr>
            <p:cNvPr id="41" name="Rectangle 41"/>
            <p:cNvSpPr/>
            <p:nvPr/>
          </p:nvSpPr>
          <p:spPr>
            <a:xfrm>
              <a:off x="8191500" y="1666875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F59E0B">
                  <a:alpha val="45000"/>
                </a:srgbClr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191500" y="1666875"/>
              <a:ext cx="3429000" cy="952500"/>
            </a:xfrm>
            <a:custGeom>
              <a:avLst/>
              <a:gdLst/>
              <a:ahLst/>
              <a:cxnLst/>
              <a:rect l="l" t="t" r="r" b="b"/>
              <a:pathLst>
                <a:path w="3429000" h="952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52500"/>
                  </a:lnTo>
                  <a:lnTo>
                    <a:pt x="0" y="9525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9620250" y="1762125"/>
              <a:ext cx="571500" cy="571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734550" y="1895159"/>
              <a:ext cx="361950" cy="333691"/>
              <a:chOff x="9734550" y="1895159"/>
              <a:chExt cx="361950" cy="333691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753600" y="1990725"/>
                <a:ext cx="190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28600">
                    <a:moveTo>
                      <a:pt x="0" y="228600"/>
                    </a:moveTo>
                    <a:cubicBezTo>
                      <a:pt x="21850" y="152019"/>
                      <a:pt x="37776" y="75686"/>
                      <a:pt x="38100" y="0"/>
                    </a:cubicBezTo>
                    <a:lnTo>
                      <a:pt x="152400" y="0"/>
                    </a:lnTo>
                    <a:cubicBezTo>
                      <a:pt x="152724" y="75686"/>
                      <a:pt x="168650" y="152019"/>
                      <a:pt x="190500" y="22860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915525" y="2066925"/>
                <a:ext cx="1238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52400">
                    <a:moveTo>
                      <a:pt x="0" y="0"/>
                    </a:moveTo>
                    <a:lnTo>
                      <a:pt x="85725" y="0"/>
                    </a:lnTo>
                    <a:cubicBezTo>
                      <a:pt x="86201" y="49759"/>
                      <a:pt x="102756" y="100889"/>
                      <a:pt x="123825" y="15240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848850" y="1895159"/>
                <a:ext cx="228600" cy="38731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8731">
                    <a:moveTo>
                      <a:pt x="0" y="19366"/>
                    </a:moveTo>
                    <a:cubicBezTo>
                      <a:pt x="8785" y="7126"/>
                      <a:pt x="23037" y="0"/>
                      <a:pt x="38100" y="316"/>
                    </a:cubicBezTo>
                    <a:cubicBezTo>
                      <a:pt x="53163" y="0"/>
                      <a:pt x="67415" y="7126"/>
                      <a:pt x="76200" y="19366"/>
                    </a:cubicBezTo>
                    <a:cubicBezTo>
                      <a:pt x="84985" y="31605"/>
                      <a:pt x="99237" y="38731"/>
                      <a:pt x="114300" y="38416"/>
                    </a:cubicBezTo>
                    <a:cubicBezTo>
                      <a:pt x="129363" y="38731"/>
                      <a:pt x="143615" y="31605"/>
                      <a:pt x="152400" y="19366"/>
                    </a:cubicBezTo>
                    <a:cubicBezTo>
                      <a:pt x="161185" y="7126"/>
                      <a:pt x="175437" y="0"/>
                      <a:pt x="190500" y="316"/>
                    </a:cubicBezTo>
                    <a:cubicBezTo>
                      <a:pt x="205563" y="0"/>
                      <a:pt x="219815" y="7126"/>
                      <a:pt x="228600" y="19366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734550" y="2219325"/>
                <a:ext cx="361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9525">
                    <a:moveTo>
                      <a:pt x="0" y="0"/>
                    </a:moveTo>
                    <a:lnTo>
                      <a:pt x="36195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683164" y="2382202"/>
              <a:ext cx="4456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风险 ③</a:t>
              </a:r>
              <a:endParaRPr lang="zh-CN" sz="10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07473" y="27936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客户门槛高</a:t>
              </a:r>
              <a:endParaRPr lang="zh-CN" sz="16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Line 51"/>
            <p:cNvSpPr/>
            <p:nvPr/>
          </p:nvSpPr>
          <p:spPr>
            <a:xfrm>
              <a:off x="8496300" y="321945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14288">
              <a:solidFill>
                <a:srgbClr val="FBD9A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80108" y="3462814"/>
              <a:ext cx="23446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需客户 IT 成熟度 + AI 接受度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80108" y="3786664"/>
              <a:ext cx="191962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需客户侧配备 FDE 协同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80108" y="4110514"/>
              <a:ext cx="18771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行业壁垒明显，非普适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496300" y="4552950"/>
              <a:ext cx="2819400" cy="495300"/>
            </a:xfrm>
            <a:prstGeom prst="roundRect">
              <a:avLst>
                <a:gd name="adj" fmla="val 15385"/>
              </a:avLst>
            </a:prstGeom>
            <a:solidFill>
              <a:srgbClr val="F59E0B">
                <a:alpha val="8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122569" y="47444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双边市场，难以快速起量</a:t>
              </a:r>
              <a:endParaRPr lang="zh-CN" sz="1050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5476875"/>
            <a:ext cx="11049000" cy="628650"/>
            <a:chOff x="571500" y="5476875"/>
            <a:chExt cx="11049000" cy="628650"/>
          </a:xfrm>
        </p:grpSpPr>
        <p:sp>
          <p:nvSpPr>
            <p:cNvPr id="58" name="Rectangle 58"/>
            <p:cNvSpPr/>
            <p:nvPr/>
          </p:nvSpPr>
          <p:spPr>
            <a:xfrm>
              <a:off x="571500" y="5476875"/>
              <a:ext cx="11049000" cy="628650"/>
            </a:xfrm>
            <a:prstGeom prst="roundRect">
              <a:avLst>
                <a:gd name="adj" fmla="val 18182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71500" y="5476875"/>
              <a:ext cx="57150" cy="6286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86765" y="57540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逻辑链条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714500" y="5629275"/>
              <a:ext cx="1143000" cy="323850"/>
            </a:xfrm>
            <a:prstGeom prst="roundRect">
              <a:avLst>
                <a:gd name="adj" fmla="val 50000"/>
              </a:avLst>
            </a:prstGeom>
            <a:solidFill>
              <a:srgbClr val="0E9F6E">
                <a:alpha val="14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035433" y="5717381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真机会</a:t>
              </a:r>
              <a:endParaRPr lang="zh-CN" sz="1125" b="1" dirty="0">
                <a:solidFill>
                  <a:srgbClr val="0E9F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988945" y="5679758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650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276600" y="5629275"/>
              <a:ext cx="2209800" cy="32385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43335" y="5717381"/>
              <a:ext cx="2076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三条结构性约束（客观规律）</a:t>
              </a:r>
              <a:endParaRPr lang="zh-CN" sz="1125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617845" y="5679758"/>
              <a:ext cx="1629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</a:t>
              </a:r>
              <a:endParaRPr lang="zh-CN" sz="1650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905500" y="5610225"/>
              <a:ext cx="2895600" cy="3619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69364" y="5718810"/>
              <a:ext cx="15678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战略重视 · 节奏稳妥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978265" y="57350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潜力真实，约束也真实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0" grpId="0"/>
      <p:bldP spid="57" grpId="0"/>
      <p:bldP spid="7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782741" cy="1046798"/>
            <a:chOff x="542925" y="458152"/>
            <a:chExt cx="4782741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5556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真相与风险 · 重头</a:t>
              </a:r>
              <a:endParaRPr lang="zh-CN" sz="105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47827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硅谷的赚钱模式，国内还远达不到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F59E0B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0869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国内 FDE 和国外「根本不是一回事」——核心挑战是经济性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571625"/>
            <a:ext cx="11049000" cy="533400"/>
            <a:chOff x="571500" y="1571625"/>
            <a:chExt cx="11049000" cy="533400"/>
          </a:xfrm>
        </p:grpSpPr>
        <p:sp>
          <p:nvSpPr>
            <p:cNvPr id="8" name="Rectangle 8"/>
            <p:cNvSpPr/>
            <p:nvPr/>
          </p:nvSpPr>
          <p:spPr>
            <a:xfrm>
              <a:off x="571500" y="1571625"/>
              <a:ext cx="2095500" cy="533400"/>
            </a:xfrm>
            <a:prstGeom prst="roundRect">
              <a:avLst>
                <a:gd name="adj" fmla="val 14286"/>
              </a:avLst>
            </a:prstGeom>
            <a:solidFill>
              <a:srgbClr val="E3E9F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67968" y="17659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对比维度</a:t>
              </a:r>
              <a:endParaRPr lang="zh-CN" sz="1200" b="1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57500" y="1571625"/>
              <a:ext cx="4191000" cy="533400"/>
            </a:xfrm>
            <a:prstGeom prst="roundRect">
              <a:avLst>
                <a:gd name="adj" fmla="val 14286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68739" y="1711350"/>
              <a:ext cx="253644" cy="241211"/>
            </a:xfrm>
            <a:custGeom>
              <a:avLst/>
              <a:gdLst/>
              <a:ahLst/>
              <a:cxnLst/>
              <a:rect l="l" t="t" r="r" b="b"/>
              <a:pathLst>
                <a:path w="253644" h="241211">
                  <a:moveTo>
                    <a:pt x="126911" y="200000"/>
                  </a:moveTo>
                  <a:lnTo>
                    <a:pt x="48527" y="241211"/>
                  </a:lnTo>
                  <a:lnTo>
                    <a:pt x="63500" y="153924"/>
                  </a:lnTo>
                  <a:lnTo>
                    <a:pt x="0" y="92113"/>
                  </a:lnTo>
                  <a:lnTo>
                    <a:pt x="87630" y="79413"/>
                  </a:lnTo>
                  <a:lnTo>
                    <a:pt x="126822" y="0"/>
                  </a:lnTo>
                  <a:lnTo>
                    <a:pt x="166014" y="79413"/>
                  </a:lnTo>
                  <a:lnTo>
                    <a:pt x="253644" y="92113"/>
                  </a:lnTo>
                  <a:lnTo>
                    <a:pt x="190144" y="153924"/>
                  </a:lnTo>
                  <a:lnTo>
                    <a:pt x="205118" y="241211"/>
                  </a:lnTo>
                  <a:lnTo>
                    <a:pt x="126911" y="20000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48308" y="17497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硅谷标杆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39000" y="1571625"/>
              <a:ext cx="4381500" cy="533400"/>
            </a:xfrm>
            <a:prstGeom prst="roundRect">
              <a:avLst>
                <a:gd name="adj" fmla="val 14286"/>
              </a:avLst>
            </a:prstGeom>
            <a:solidFill>
              <a:srgbClr val="6B778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034558" y="17497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国内现实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2200275"/>
            <a:ext cx="11049000" cy="742950"/>
            <a:chOff x="571500" y="2200275"/>
            <a:chExt cx="11049000" cy="742950"/>
          </a:xfrm>
        </p:grpSpPr>
        <p:sp>
          <p:nvSpPr>
            <p:cNvPr id="16" name="Rectangle 16"/>
            <p:cNvSpPr/>
            <p:nvPr/>
          </p:nvSpPr>
          <p:spPr>
            <a:xfrm>
              <a:off x="571500" y="2200275"/>
              <a:ext cx="2095500" cy="742950"/>
            </a:xfrm>
            <a:prstGeom prst="roundRect">
              <a:avLst>
                <a:gd name="adj" fmla="val 10256"/>
              </a:avLst>
            </a:prstGeom>
            <a:solidFill>
              <a:srgbClr val="F4F7FC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1526381" y="2366169"/>
              <a:ext cx="185737" cy="144462"/>
              <a:chOff x="1526381" y="2366169"/>
              <a:chExt cx="185737" cy="14446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1526381" y="2366169"/>
                <a:ext cx="144462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03188">
                    <a:moveTo>
                      <a:pt x="41275" y="103188"/>
                    </a:moveTo>
                    <a:lnTo>
                      <a:pt x="10319" y="103188"/>
                    </a:lnTo>
                    <a:cubicBezTo>
                      <a:pt x="4620" y="103188"/>
                      <a:pt x="0" y="98568"/>
                      <a:pt x="0" y="92869"/>
                    </a:cubicBezTo>
                    <a:lnTo>
                      <a:pt x="0" y="10319"/>
                    </a:lnTo>
                    <a:cubicBezTo>
                      <a:pt x="0" y="4620"/>
                      <a:pt x="4620" y="0"/>
                      <a:pt x="10319" y="0"/>
                    </a:cubicBezTo>
                    <a:lnTo>
                      <a:pt x="134144" y="0"/>
                    </a:lnTo>
                    <a:cubicBezTo>
                      <a:pt x="139843" y="0"/>
                      <a:pt x="144462" y="4620"/>
                      <a:pt x="144462" y="10319"/>
                    </a:cubicBezTo>
                    <a:lnTo>
                      <a:pt x="144462" y="4127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567656" y="2407444"/>
                <a:ext cx="144462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03187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134144" y="0"/>
                    </a:lnTo>
                    <a:cubicBezTo>
                      <a:pt x="139843" y="0"/>
                      <a:pt x="144462" y="4620"/>
                      <a:pt x="144462" y="10319"/>
                    </a:cubicBezTo>
                    <a:lnTo>
                      <a:pt x="144462" y="92869"/>
                    </a:lnTo>
                    <a:cubicBezTo>
                      <a:pt x="144462" y="98568"/>
                      <a:pt x="139843" y="103187"/>
                      <a:pt x="134144" y="103187"/>
                    </a:cubicBezTo>
                    <a:lnTo>
                      <a:pt x="10319" y="103187"/>
                    </a:lnTo>
                    <a:cubicBezTo>
                      <a:pt x="4620" y="103187"/>
                      <a:pt x="0" y="98568"/>
                      <a:pt x="0" y="92869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619250" y="2438400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351978" y="266128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客单价</a:t>
              </a:r>
              <a:endParaRPr lang="zh-CN" sz="12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857500" y="2200275"/>
              <a:ext cx="4191000" cy="742950"/>
            </a:xfrm>
            <a:prstGeom prst="roundRect">
              <a:avLst>
                <a:gd name="adj" fmla="val 10256"/>
              </a:avLst>
            </a:prstGeom>
            <a:solidFill>
              <a:srgbClr val="0052A6">
                <a:alpha val="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76560" y="2359342"/>
              <a:ext cx="19528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六七位数美元 / 年合同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20552" y="26474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单客户百万美元级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239000" y="2200275"/>
              <a:ext cx="4381500" cy="742950"/>
            </a:xfrm>
            <a:prstGeom prst="roundRect">
              <a:avLst>
                <a:gd name="adj" fmla="val 10256"/>
              </a:avLst>
            </a:prstGeom>
            <a:solidFill>
              <a:srgbClr val="F59E0B">
                <a:alpha val="7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42334" y="2359342"/>
              <a:ext cx="1574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十万 – 百万人民币</a:t>
              </a:r>
              <a:endParaRPr lang="zh-CN" sz="13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03803" y="2647474"/>
              <a:ext cx="10518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差距约 10–100 倍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3019425"/>
            <a:ext cx="11049000" cy="742950"/>
            <a:chOff x="571500" y="3019425"/>
            <a:chExt cx="11049000" cy="742950"/>
          </a:xfrm>
        </p:grpSpPr>
        <p:sp>
          <p:nvSpPr>
            <p:cNvPr id="29" name="Rectangle 29"/>
            <p:cNvSpPr/>
            <p:nvPr/>
          </p:nvSpPr>
          <p:spPr>
            <a:xfrm>
              <a:off x="571500" y="3019425"/>
              <a:ext cx="2095500" cy="742950"/>
            </a:xfrm>
            <a:prstGeom prst="roundRect">
              <a:avLst>
                <a:gd name="adj" fmla="val 10256"/>
              </a:avLst>
            </a:prstGeom>
            <a:solidFill>
              <a:srgbClr val="F4F7FC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526381" y="3175000"/>
              <a:ext cx="185737" cy="174625"/>
              <a:chOff x="1526381" y="3175000"/>
              <a:chExt cx="185737" cy="1746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526381" y="3257550"/>
                <a:ext cx="6191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82550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72231"/>
                    </a:lnTo>
                    <a:cubicBezTo>
                      <a:pt x="61912" y="77930"/>
                      <a:pt x="57293" y="82550"/>
                      <a:pt x="51594" y="82550"/>
                    </a:cubicBezTo>
                    <a:lnTo>
                      <a:pt x="10319" y="82550"/>
                    </a:lnTo>
                    <a:cubicBezTo>
                      <a:pt x="4620" y="82550"/>
                      <a:pt x="0" y="77930"/>
                      <a:pt x="0" y="7223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650206" y="3216275"/>
                <a:ext cx="61912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23825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113506"/>
                    </a:lnTo>
                    <a:cubicBezTo>
                      <a:pt x="61912" y="119205"/>
                      <a:pt x="57293" y="123825"/>
                      <a:pt x="51594" y="123825"/>
                    </a:cubicBezTo>
                    <a:lnTo>
                      <a:pt x="10319" y="123825"/>
                    </a:lnTo>
                    <a:cubicBezTo>
                      <a:pt x="4620" y="123825"/>
                      <a:pt x="0" y="119205"/>
                      <a:pt x="0" y="113506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588294" y="3175000"/>
                <a:ext cx="61912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65100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3" y="0"/>
                      <a:pt x="61912" y="4620"/>
                      <a:pt x="61912" y="10319"/>
                    </a:cubicBezTo>
                    <a:lnTo>
                      <a:pt x="61912" y="154781"/>
                    </a:lnTo>
                    <a:cubicBezTo>
                      <a:pt x="61912" y="160480"/>
                      <a:pt x="57293" y="165100"/>
                      <a:pt x="51594" y="165100"/>
                    </a:cubicBezTo>
                    <a:lnTo>
                      <a:pt x="10319" y="165100"/>
                    </a:lnTo>
                    <a:cubicBezTo>
                      <a:pt x="4620" y="165100"/>
                      <a:pt x="0" y="160480"/>
                      <a:pt x="0" y="15478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536700" y="3340100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267968" y="34804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数据底子</a:t>
              </a:r>
              <a:endParaRPr lang="zh-CN" sz="12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857500" y="3019425"/>
              <a:ext cx="4191000" cy="742950"/>
            </a:xfrm>
            <a:prstGeom prst="roundRect">
              <a:avLst>
                <a:gd name="adj" fmla="val 10256"/>
              </a:avLst>
            </a:prstGeom>
            <a:solidFill>
              <a:srgbClr val="0052A6">
                <a:alpha val="5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967109" y="3178492"/>
              <a:ext cx="19717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ERP / CRM / ITSM 完善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225528" y="3466624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数据沉淀深厚、可结构化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239000" y="3019425"/>
              <a:ext cx="4381500" cy="742950"/>
            </a:xfrm>
            <a:prstGeom prst="roundRect">
              <a:avLst>
                <a:gd name="adj" fmla="val 10256"/>
              </a:avLst>
            </a:prstGeom>
            <a:solidFill>
              <a:srgbClr val="F59E0B">
                <a:alpha val="7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1022" y="3178492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流程写在默契里</a:t>
              </a:r>
              <a:endParaRPr lang="zh-CN" sz="13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32294" y="346662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数据散落、未结构化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3838575"/>
            <a:ext cx="11049000" cy="742950"/>
            <a:chOff x="571500" y="3838575"/>
            <a:chExt cx="11049000" cy="742950"/>
          </a:xfrm>
        </p:grpSpPr>
        <p:sp>
          <p:nvSpPr>
            <p:cNvPr id="43" name="Rectangle 43"/>
            <p:cNvSpPr/>
            <p:nvPr/>
          </p:nvSpPr>
          <p:spPr>
            <a:xfrm>
              <a:off x="571500" y="3838575"/>
              <a:ext cx="2095500" cy="742950"/>
            </a:xfrm>
            <a:prstGeom prst="roundRect">
              <a:avLst>
                <a:gd name="adj" fmla="val 10256"/>
              </a:avLst>
            </a:prstGeom>
            <a:solidFill>
              <a:srgbClr val="F4F7FC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526381" y="3993979"/>
              <a:ext cx="196056" cy="185115"/>
              <a:chOff x="1526381" y="3993979"/>
              <a:chExt cx="196056" cy="18511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536700" y="4045744"/>
                <a:ext cx="103187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23825">
                    <a:moveTo>
                      <a:pt x="0" y="123825"/>
                    </a:moveTo>
                    <a:cubicBezTo>
                      <a:pt x="11836" y="82344"/>
                      <a:pt x="20462" y="40996"/>
                      <a:pt x="20637" y="0"/>
                    </a:cubicBezTo>
                    <a:lnTo>
                      <a:pt x="82550" y="0"/>
                    </a:lnTo>
                    <a:cubicBezTo>
                      <a:pt x="82725" y="40996"/>
                      <a:pt x="91352" y="82344"/>
                      <a:pt x="103187" y="12382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624409" y="4087019"/>
                <a:ext cx="6707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67072" h="82550">
                    <a:moveTo>
                      <a:pt x="0" y="0"/>
                    </a:moveTo>
                    <a:lnTo>
                      <a:pt x="46434" y="0"/>
                    </a:lnTo>
                    <a:cubicBezTo>
                      <a:pt x="46692" y="26953"/>
                      <a:pt x="55659" y="54648"/>
                      <a:pt x="67072" y="825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588294" y="3993979"/>
                <a:ext cx="123825" cy="2097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20979">
                    <a:moveTo>
                      <a:pt x="0" y="10490"/>
                    </a:moveTo>
                    <a:cubicBezTo>
                      <a:pt x="4759" y="3860"/>
                      <a:pt x="12478" y="0"/>
                      <a:pt x="20637" y="171"/>
                    </a:cubicBezTo>
                    <a:cubicBezTo>
                      <a:pt x="28797" y="0"/>
                      <a:pt x="36516" y="3860"/>
                      <a:pt x="41275" y="10490"/>
                    </a:cubicBezTo>
                    <a:cubicBezTo>
                      <a:pt x="46034" y="17120"/>
                      <a:pt x="53753" y="20979"/>
                      <a:pt x="61912" y="20808"/>
                    </a:cubicBezTo>
                    <a:cubicBezTo>
                      <a:pt x="70072" y="20979"/>
                      <a:pt x="77791" y="17120"/>
                      <a:pt x="82550" y="10490"/>
                    </a:cubicBezTo>
                    <a:cubicBezTo>
                      <a:pt x="87309" y="3860"/>
                      <a:pt x="95028" y="0"/>
                      <a:pt x="103188" y="171"/>
                    </a:cubicBezTo>
                    <a:cubicBezTo>
                      <a:pt x="111347" y="0"/>
                      <a:pt x="119066" y="3860"/>
                      <a:pt x="123825" y="1049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526381" y="4169569"/>
                <a:ext cx="1960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6056" h="9525">
                    <a:moveTo>
                      <a:pt x="0" y="0"/>
                    </a:moveTo>
                    <a:lnTo>
                      <a:pt x="196056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267968" y="42995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标杆投入</a:t>
              </a:r>
              <a:endParaRPr lang="zh-CN" sz="12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857500" y="3838575"/>
              <a:ext cx="4191000" cy="742950"/>
            </a:xfrm>
            <a:prstGeom prst="roundRect">
              <a:avLst>
                <a:gd name="adj" fmla="val 10256"/>
              </a:avLst>
            </a:prstGeom>
            <a:solidFill>
              <a:srgbClr val="0052A6">
                <a:alpha val="5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948207" y="3997642"/>
              <a:ext cx="20095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Palantir 本体层 10+ 年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154019" y="4285774"/>
              <a:ext cx="15979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数百工程师 · 0.3％ 录用率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239000" y="3838575"/>
              <a:ext cx="4381500" cy="742950"/>
            </a:xfrm>
            <a:prstGeom prst="roundRect">
              <a:avLst>
                <a:gd name="adj" fmla="val 10256"/>
              </a:avLst>
            </a:prstGeom>
            <a:solidFill>
              <a:srgbClr val="F59E0B">
                <a:alpha val="7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034558" y="39976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无法复制</a:t>
              </a:r>
              <a:endParaRPr lang="zh-CN" sz="13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897302" y="42857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投入差几个数量级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71500" y="4657725"/>
            <a:ext cx="11049000" cy="742950"/>
            <a:chOff x="571500" y="4657725"/>
            <a:chExt cx="11049000" cy="742950"/>
          </a:xfrm>
        </p:grpSpPr>
        <p:sp>
          <p:nvSpPr>
            <p:cNvPr id="57" name="Rectangle 57"/>
            <p:cNvSpPr/>
            <p:nvPr/>
          </p:nvSpPr>
          <p:spPr>
            <a:xfrm>
              <a:off x="571500" y="4657725"/>
              <a:ext cx="2095500" cy="742950"/>
            </a:xfrm>
            <a:prstGeom prst="roundRect">
              <a:avLst>
                <a:gd name="adj" fmla="val 10256"/>
              </a:avLst>
            </a:prstGeom>
            <a:solidFill>
              <a:srgbClr val="F4F7FC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1526381" y="4802981"/>
              <a:ext cx="185738" cy="185738"/>
              <a:chOff x="1526381" y="4802981"/>
              <a:chExt cx="185738" cy="18573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1608931" y="4885531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20638" h="20638">
                    <a:moveTo>
                      <a:pt x="0" y="10319"/>
                    </a:moveTo>
                    <a:cubicBezTo>
                      <a:pt x="0" y="16018"/>
                      <a:pt x="4620" y="20638"/>
                      <a:pt x="10319" y="20638"/>
                    </a:cubicBezTo>
                    <a:cubicBezTo>
                      <a:pt x="16018" y="20638"/>
                      <a:pt x="20638" y="16018"/>
                      <a:pt x="20638" y="10319"/>
                    </a:cubicBezTo>
                    <a:cubicBezTo>
                      <a:pt x="20638" y="4620"/>
                      <a:pt x="16018" y="0"/>
                      <a:pt x="10319" y="0"/>
                    </a:cubicBezTo>
                    <a:cubicBezTo>
                      <a:pt x="4620" y="0"/>
                      <a:pt x="0" y="4620"/>
                      <a:pt x="0" y="10319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567656" y="4844256"/>
                <a:ext cx="10318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03187" h="103187">
                    <a:moveTo>
                      <a:pt x="0" y="51594"/>
                    </a:moveTo>
                    <a:cubicBezTo>
                      <a:pt x="0" y="80088"/>
                      <a:pt x="23099" y="103187"/>
                      <a:pt x="51594" y="103187"/>
                    </a:cubicBezTo>
                    <a:cubicBezTo>
                      <a:pt x="80088" y="103187"/>
                      <a:pt x="103187" y="80088"/>
                      <a:pt x="103187" y="51594"/>
                    </a:cubicBezTo>
                    <a:cubicBezTo>
                      <a:pt x="103187" y="23099"/>
                      <a:pt x="80088" y="0"/>
                      <a:pt x="51594" y="0"/>
                    </a:cubicBezTo>
                    <a:cubicBezTo>
                      <a:pt x="23099" y="0"/>
                      <a:pt x="0" y="23099"/>
                      <a:pt x="0" y="51594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526381" y="4802981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267968" y="51187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核心挑战</a:t>
              </a:r>
              <a:endParaRPr lang="zh-CN" sz="12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857500" y="4657725"/>
              <a:ext cx="4191000" cy="742950"/>
            </a:xfrm>
            <a:prstGeom prst="roundRect">
              <a:avLst>
                <a:gd name="adj" fmla="val 10256"/>
              </a:avLst>
            </a:prstGeom>
            <a:solidFill>
              <a:srgbClr val="0E9F6E">
                <a:alpha val="8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368784" y="481679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高毛利已验证</a:t>
              </a:r>
              <a:endParaRPr lang="zh-CN" sz="1350" b="1" dirty="0">
                <a:solidFill>
                  <a:srgbClr val="0E9F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524566" y="5104924"/>
              <a:ext cx="8568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82％ 标杆成立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239000" y="4657725"/>
              <a:ext cx="4381500" cy="742950"/>
            </a:xfrm>
            <a:prstGeom prst="roundRect">
              <a:avLst>
                <a:gd name="adj" fmla="val 10256"/>
              </a:avLst>
            </a:prstGeom>
            <a:solidFill>
              <a:srgbClr val="F59E0B">
                <a:alpha val="7000"/>
              </a:srgb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129070" y="4816792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经济性</a:t>
              </a:r>
              <a:endParaRPr lang="zh-CN" sz="13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27319" y="510492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账要算得过来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71500" y="5572125"/>
            <a:ext cx="11049000" cy="571500"/>
            <a:chOff x="571500" y="5572125"/>
            <a:chExt cx="11049000" cy="571500"/>
          </a:xfrm>
        </p:grpSpPr>
        <p:sp>
          <p:nvSpPr>
            <p:cNvPr id="70" name="Rectangle 70"/>
            <p:cNvSpPr/>
            <p:nvPr/>
          </p:nvSpPr>
          <p:spPr>
            <a:xfrm>
              <a:off x="571500" y="5572125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25364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503408" y="5778818"/>
              <a:ext cx="51851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结论：硅谷模式不能照搬，国内 FDE 必须找到自己的经济模型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13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2" grpId="0"/>
      <p:bldP spid="56" grpId="0"/>
      <p:bldP spid="69" grpId="0"/>
      <p:bldP spid="7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357938" cy="1046798"/>
            <a:chOff x="542925" y="458152"/>
            <a:chExt cx="6357938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5556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真相与风险 · 重头</a:t>
              </a:r>
              <a:endParaRPr lang="zh-CN" sz="105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3579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最怕的不是做不成，是变成「换名字的外包」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F59E0B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3910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五类系统性风险，决定了 FDE 能不能从「项目」变成「生意」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666875"/>
            <a:ext cx="3429000" cy="2000250"/>
            <a:chOff x="571500" y="1666875"/>
            <a:chExt cx="3429000" cy="200025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3429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4288">
              <a:solidFill>
                <a:srgbClr val="F59E0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158619" y="1865948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F59E0B">
                      <a:alphaMod val="12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3450" b="1" dirty="0">
                <a:solidFill>
                  <a:srgbClr val="F59E0B">
                    <a:alphaMod val="12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" y="1895475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33450" y="2023312"/>
              <a:ext cx="228600" cy="239625"/>
              <a:chOff x="933450" y="2023312"/>
              <a:chExt cx="228600" cy="2396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33450" y="202331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3450" y="215741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82002" y="2589371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本体缺失恶性循环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6765" y="2915602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没沉淀 → 每单从零开始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3144202"/>
              <a:ext cx="9857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更没时间沉淀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00100" y="3371850"/>
              <a:ext cx="1714500" cy="2095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2406" y="3427095"/>
              <a:ext cx="104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最核心 · 边际成本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381500" y="1666875"/>
            <a:ext cx="3429000" cy="2000250"/>
            <a:chOff x="4381500" y="1666875"/>
            <a:chExt cx="34290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4381500" y="1666875"/>
              <a:ext cx="3429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68619" y="1865948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052A6">
                      <a:alphaMod val="1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3450" b="1" dirty="0">
                <a:solidFill>
                  <a:srgbClr val="0052A6">
                    <a:alphaMod val="1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610100" y="1895475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729162" y="2014538"/>
              <a:ext cx="257175" cy="271462"/>
              <a:chOff x="4729162" y="2014538"/>
              <a:chExt cx="257175" cy="2714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772025" y="2014538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857750" y="2014538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0" y="0"/>
                    </a:moveTo>
                    <a:cubicBezTo>
                      <a:pt x="19045" y="4758"/>
                      <a:pt x="28575" y="33333"/>
                      <a:pt x="28575" y="85725"/>
                    </a:cubicBezTo>
                    <a:cubicBezTo>
                      <a:pt x="28575" y="138117"/>
                      <a:pt x="19045" y="166692"/>
                      <a:pt x="0" y="1714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829175" y="2014538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28575" y="0"/>
                    </a:moveTo>
                    <a:cubicBezTo>
                      <a:pt x="9530" y="4758"/>
                      <a:pt x="0" y="33333"/>
                      <a:pt x="0" y="85725"/>
                    </a:cubicBezTo>
                    <a:cubicBezTo>
                      <a:pt x="0" y="138117"/>
                      <a:pt x="9530" y="166692"/>
                      <a:pt x="28575" y="1714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72025" y="2100262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729162" y="2257425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886325" y="2257425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829175" y="22288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857750" y="2185988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592002" y="258937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组织归属两难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96765" y="2915602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放销售 / 交付 / 产品体系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96765" y="31442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每种归属各有陷阱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91500" y="1666875"/>
            <a:ext cx="3429000" cy="2000250"/>
            <a:chOff x="8191500" y="1666875"/>
            <a:chExt cx="3429000" cy="2000250"/>
          </a:xfrm>
        </p:grpSpPr>
        <p:sp>
          <p:nvSpPr>
            <p:cNvPr id="36" name="Rectangle 36"/>
            <p:cNvSpPr/>
            <p:nvPr/>
          </p:nvSpPr>
          <p:spPr>
            <a:xfrm>
              <a:off x="8191500" y="1666875"/>
              <a:ext cx="3429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778619" y="1865948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052A6">
                      <a:alphaMod val="1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3450" b="1" dirty="0">
                <a:solidFill>
                  <a:srgbClr val="0052A6">
                    <a:alphaMod val="1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420100" y="1895475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8539162" y="2028825"/>
              <a:ext cx="257175" cy="238125"/>
              <a:chOff x="8539162" y="2028825"/>
              <a:chExt cx="257175" cy="2381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539162" y="2143125"/>
                <a:ext cx="857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143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00012"/>
                    </a:lnTo>
                    <a:cubicBezTo>
                      <a:pt x="85725" y="107903"/>
                      <a:pt x="79328" y="114300"/>
                      <a:pt x="71438" y="114300"/>
                    </a:cubicBez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0612" y="2085975"/>
                <a:ext cx="857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7145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157162"/>
                    </a:lnTo>
                    <a:cubicBezTo>
                      <a:pt x="85725" y="165053"/>
                      <a:pt x="79328" y="171450"/>
                      <a:pt x="71438" y="171450"/>
                    </a:cubicBezTo>
                    <a:lnTo>
                      <a:pt x="14288" y="171450"/>
                    </a:lnTo>
                    <a:cubicBezTo>
                      <a:pt x="6397" y="171450"/>
                      <a:pt x="0" y="165053"/>
                      <a:pt x="0" y="15716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624888" y="2028825"/>
                <a:ext cx="857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22860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214312"/>
                    </a:lnTo>
                    <a:cubicBezTo>
                      <a:pt x="85725" y="222203"/>
                      <a:pt x="79328" y="228600"/>
                      <a:pt x="71438" y="228600"/>
                    </a:cubicBezTo>
                    <a:lnTo>
                      <a:pt x="14288" y="228600"/>
                    </a:lnTo>
                    <a:cubicBezTo>
                      <a:pt x="6397" y="228600"/>
                      <a:pt x="0" y="222203"/>
                      <a:pt x="0" y="21431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553450" y="2257425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402002" y="2589371"/>
              <a:ext cx="14328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落地易、扩展难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06765" y="29156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新鲜感退去之后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06765" y="31442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使用率持续下滑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476500" y="3829050"/>
            <a:ext cx="3429000" cy="2000250"/>
            <a:chOff x="2476500" y="3829050"/>
            <a:chExt cx="3429000" cy="2000250"/>
          </a:xfrm>
        </p:grpSpPr>
        <p:sp>
          <p:nvSpPr>
            <p:cNvPr id="48" name="Rectangle 48"/>
            <p:cNvSpPr/>
            <p:nvPr/>
          </p:nvSpPr>
          <p:spPr>
            <a:xfrm>
              <a:off x="2476500" y="3829050"/>
              <a:ext cx="3429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063619" y="4028122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052A6">
                      <a:alphaMod val="1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3450" b="1" dirty="0">
                <a:solidFill>
                  <a:srgbClr val="0052A6">
                    <a:alphaMod val="1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705100" y="405765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2824162" y="4205288"/>
              <a:ext cx="257175" cy="200025"/>
              <a:chOff x="2824162" y="4205288"/>
              <a:chExt cx="257175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2824162" y="4205288"/>
                <a:ext cx="2000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42875">
                    <a:moveTo>
                      <a:pt x="57150" y="142875"/>
                    </a:moveTo>
                    <a:lnTo>
                      <a:pt x="14288" y="142875"/>
                    </a:lnTo>
                    <a:cubicBezTo>
                      <a:pt x="6397" y="142875"/>
                      <a:pt x="0" y="136478"/>
                      <a:pt x="0" y="128588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5715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2881312" y="4262438"/>
                <a:ext cx="2000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42875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185738" y="0"/>
                    </a:lnTo>
                    <a:cubicBezTo>
                      <a:pt x="193628" y="0"/>
                      <a:pt x="200025" y="6397"/>
                      <a:pt x="200025" y="14288"/>
                    </a:cubicBezTo>
                    <a:lnTo>
                      <a:pt x="200025" y="128588"/>
                    </a:lnTo>
                    <a:cubicBezTo>
                      <a:pt x="200025" y="136478"/>
                      <a:pt x="193628" y="142875"/>
                      <a:pt x="185738" y="142875"/>
                    </a:cubicBezTo>
                    <a:lnTo>
                      <a:pt x="14288" y="142875"/>
                    </a:lnTo>
                    <a:cubicBezTo>
                      <a:pt x="6397" y="142875"/>
                      <a:pt x="0" y="136478"/>
                      <a:pt x="0" y="128588"/>
                    </a:cubicBezTo>
                    <a:lnTo>
                      <a:pt x="0" y="142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2952750" y="43053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2687002" y="4751546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利润率结构性偏重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691765" y="50777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依赖人力的交付模式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691765" y="530637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价值定价在国内有障碍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6286500" y="3829050"/>
            <a:ext cx="3429000" cy="2000250"/>
            <a:chOff x="6286500" y="3829050"/>
            <a:chExt cx="3429000" cy="2000250"/>
          </a:xfrm>
        </p:grpSpPr>
        <p:sp>
          <p:nvSpPr>
            <p:cNvPr id="59" name="Rectangle 59"/>
            <p:cNvSpPr/>
            <p:nvPr/>
          </p:nvSpPr>
          <p:spPr>
            <a:xfrm>
              <a:off x="6286500" y="3829050"/>
              <a:ext cx="3429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873619" y="4028122"/>
              <a:ext cx="618996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450" b="1" dirty="0">
                  <a:solidFill>
                    <a:srgbClr val="0052A6">
                      <a:alphaMod val="1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</a:t>
              </a:r>
              <a:endParaRPr lang="zh-CN" sz="3450" b="1" dirty="0">
                <a:solidFill>
                  <a:srgbClr val="0052A6">
                    <a:alphaMod val="1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515100" y="405765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62738" y="4162425"/>
              <a:ext cx="200024" cy="271463"/>
              <a:chOff x="6662738" y="4162425"/>
              <a:chExt cx="200024" cy="27146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677025" y="419100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142875" y="0"/>
                    </a:lnTo>
                    <a:cubicBezTo>
                      <a:pt x="158657" y="0"/>
                      <a:pt x="171450" y="12793"/>
                      <a:pt x="171450" y="28575"/>
                    </a:cubicBezTo>
                    <a:lnTo>
                      <a:pt x="171450" y="85725"/>
                    </a:lnTo>
                    <a:cubicBezTo>
                      <a:pt x="171450" y="101507"/>
                      <a:pt x="158657" y="114300"/>
                      <a:pt x="142875" y="114300"/>
                    </a:cubicBezTo>
                    <a:lnTo>
                      <a:pt x="28575" y="114300"/>
                    </a:lnTo>
                    <a:cubicBezTo>
                      <a:pt x="12793" y="114300"/>
                      <a:pt x="0" y="101507"/>
                      <a:pt x="0" y="857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62750" y="4162425"/>
                <a:ext cx="95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">
                    <a:moveTo>
                      <a:pt x="0" y="0"/>
                    </a:move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19888" y="4305300"/>
                <a:ext cx="95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8588">
                    <a:moveTo>
                      <a:pt x="0" y="0"/>
                    </a:moveTo>
                    <a:lnTo>
                      <a:pt x="0" y="1285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805612" y="4305300"/>
                <a:ext cx="95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8588">
                    <a:moveTo>
                      <a:pt x="0" y="0"/>
                    </a:moveTo>
                    <a:lnTo>
                      <a:pt x="0" y="128588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662738" y="433387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28575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6805612" y="4333875"/>
                <a:ext cx="5715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28575">
                    <a:moveTo>
                      <a:pt x="0" y="0"/>
                    </a:moveTo>
                    <a:lnTo>
                      <a:pt x="57150" y="2857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719888" y="4391025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734175" y="4248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6791325" y="4248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6497002" y="4751546"/>
              <a:ext cx="14328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伙伴也是竞争者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501765" y="507777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模型厂商既是合作伙伴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501765" y="53063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也随时可能下场替代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571500" y="6000750"/>
            <a:ext cx="11049000" cy="457200"/>
            <a:chOff x="571500" y="6000750"/>
            <a:chExt cx="11049000" cy="457200"/>
          </a:xfrm>
        </p:grpSpPr>
        <p:sp>
          <p:nvSpPr>
            <p:cNvPr id="76" name="Rectangle 76"/>
            <p:cNvSpPr/>
            <p:nvPr/>
          </p:nvSpPr>
          <p:spPr>
            <a:xfrm>
              <a:off x="571500" y="6000750"/>
              <a:ext cx="11049000" cy="457200"/>
            </a:xfrm>
            <a:prstGeom prst="roundRect">
              <a:avLst>
                <a:gd name="adj" fmla="val 25000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83279" y="6125646"/>
              <a:ext cx="224133" cy="192560"/>
              <a:chOff x="783279" y="6125646"/>
              <a:chExt cx="224133" cy="19256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895350" y="619601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783279" y="612564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95350" y="6273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127760" y="6156960"/>
              <a:ext cx="45838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所有风险本质上都指向同一个问题——能不能持续降低边际成本</a:t>
              </a:r>
              <a:endParaRPr lang="zh-CN" sz="120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5" grpId="0"/>
      <p:bldP spid="47" grpId="0"/>
      <p:bldP spid="58" grpId="0"/>
      <p:bldP spid="75" grpId="0"/>
      <p:bldP spid="8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900422" cy="1046798"/>
            <a:chOff x="542925" y="458152"/>
            <a:chExt cx="4900422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5556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 · 真相与风险 · 重头</a:t>
              </a:r>
              <a:endParaRPr lang="zh-CN" sz="105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328630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很多 FDE 是「挂羊头」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59E0B"/>
                </a:gs>
                <a:gs pos="100000">
                  <a:srgbClr val="F59E0B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8870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名义上是 FDE，实质还是实施 / 部署 / 培训——这是当前最普遍的泡沫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619250"/>
            <a:ext cx="11049000" cy="771525"/>
            <a:chOff x="571500" y="1619250"/>
            <a:chExt cx="11049000" cy="771525"/>
          </a:xfrm>
        </p:grpSpPr>
        <p:sp>
          <p:nvSpPr>
            <p:cNvPr id="8" name="Rectangle 8"/>
            <p:cNvSpPr/>
            <p:nvPr/>
          </p:nvSpPr>
          <p:spPr>
            <a:xfrm>
              <a:off x="571500" y="161925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33539" y="1837286"/>
              <a:ext cx="352209" cy="302594"/>
              <a:chOff x="833539" y="1837286"/>
              <a:chExt cx="352209" cy="3025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09650" y="1947862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3539" y="1837286"/>
                <a:ext cx="352209" cy="302594"/>
              </a:xfrm>
              <a:custGeom>
                <a:avLst/>
                <a:gdLst/>
                <a:ahLst/>
                <a:cxnLst/>
                <a:rect l="l" t="t" r="r" b="b"/>
                <a:pathLst>
                  <a:path w="352209" h="302594">
                    <a:moveTo>
                      <a:pt x="147525" y="16122"/>
                    </a:moveTo>
                    <a:lnTo>
                      <a:pt x="5974" y="252459"/>
                    </a:lnTo>
                    <a:cubicBezTo>
                      <a:pt x="36" y="262742"/>
                      <a:pt x="0" y="275404"/>
                      <a:pt x="5879" y="285721"/>
                    </a:cubicBezTo>
                    <a:cubicBezTo>
                      <a:pt x="11758" y="296038"/>
                      <a:pt x="22669" y="302461"/>
                      <a:pt x="34543" y="302594"/>
                    </a:cubicBezTo>
                    <a:lnTo>
                      <a:pt x="317680" y="302594"/>
                    </a:lnTo>
                    <a:cubicBezTo>
                      <a:pt x="329548" y="302457"/>
                      <a:pt x="340453" y="296036"/>
                      <a:pt x="346331" y="285725"/>
                    </a:cubicBezTo>
                    <a:cubicBezTo>
                      <a:pt x="352209" y="275414"/>
                      <a:pt x="352178" y="262759"/>
                      <a:pt x="346248" y="252477"/>
                    </a:cubicBezTo>
                    <a:lnTo>
                      <a:pt x="204697" y="16104"/>
                    </a:lnTo>
                    <a:cubicBezTo>
                      <a:pt x="198640" y="6107"/>
                      <a:pt x="187801" y="0"/>
                      <a:pt x="176111" y="0"/>
                    </a:cubicBezTo>
                    <a:cubicBezTo>
                      <a:pt x="164422" y="0"/>
                      <a:pt x="153582" y="6107"/>
                      <a:pt x="147525" y="16104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09650" y="2070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96365" y="18678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DCE6F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核心判断</a:t>
              </a:r>
              <a:endParaRPr lang="zh-CN" sz="1050" b="1" dirty="0">
                <a:solidFill>
                  <a:srgbClr val="DCE6F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90650" y="2085975"/>
              <a:ext cx="66014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国内大量岗位挂着 FDE 的名，干的还是驻场实施、系统部署、操作培训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2524125"/>
            <a:ext cx="11049000" cy="800100"/>
            <a:chOff x="571500" y="2524125"/>
            <a:chExt cx="11049000" cy="800100"/>
          </a:xfrm>
        </p:grpSpPr>
        <p:sp>
          <p:nvSpPr>
            <p:cNvPr id="16" name="Rectangle 16"/>
            <p:cNvSpPr/>
            <p:nvPr/>
          </p:nvSpPr>
          <p:spPr>
            <a:xfrm>
              <a:off x="571500" y="2524125"/>
              <a:ext cx="11049000" cy="800100"/>
            </a:xfrm>
            <a:prstGeom prst="roundRect">
              <a:avLst>
                <a:gd name="adj" fmla="val 1428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71500" y="2524125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19150" y="2695575"/>
              <a:ext cx="457200" cy="457200"/>
            </a:xfrm>
            <a:prstGeom prst="ellipse">
              <a:avLst/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919162" y="2795588"/>
              <a:ext cx="257175" cy="257175"/>
              <a:chOff x="919162" y="2795588"/>
              <a:chExt cx="257175" cy="2571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19162" y="27955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90612" y="2967038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857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68755" y="2711768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岗位认知易与驻场外包混淆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72565" y="3010852"/>
              <a:ext cx="33590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招的 title 是 FDE，实际干的是按文档实施、上线收尾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096500" y="2752725"/>
              <a:ext cx="1314450" cy="30480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87546" y="2839402"/>
              <a:ext cx="732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× 不是 FDE</a:t>
              </a:r>
              <a:endParaRPr lang="zh-CN" sz="10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3419475"/>
            <a:ext cx="11049000" cy="800100"/>
            <a:chOff x="571500" y="3419475"/>
            <a:chExt cx="11049000" cy="800100"/>
          </a:xfrm>
        </p:grpSpPr>
        <p:sp>
          <p:nvSpPr>
            <p:cNvPr id="27" name="Rectangle 27"/>
            <p:cNvSpPr/>
            <p:nvPr/>
          </p:nvSpPr>
          <p:spPr>
            <a:xfrm>
              <a:off x="571500" y="3419475"/>
              <a:ext cx="11049000" cy="800100"/>
            </a:xfrm>
            <a:prstGeom prst="roundRect">
              <a:avLst>
                <a:gd name="adj" fmla="val 1428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1500" y="3419475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19150" y="3590925"/>
              <a:ext cx="457200" cy="457200"/>
            </a:xfrm>
            <a:prstGeom prst="ellipse">
              <a:avLst/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919162" y="3690938"/>
              <a:ext cx="257175" cy="271462"/>
              <a:chOff x="919162" y="3690938"/>
              <a:chExt cx="257175" cy="27146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962025" y="3690938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47750" y="3690938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0" y="0"/>
                    </a:moveTo>
                    <a:cubicBezTo>
                      <a:pt x="19045" y="4758"/>
                      <a:pt x="28575" y="33333"/>
                      <a:pt x="28575" y="85725"/>
                    </a:cubicBezTo>
                    <a:cubicBezTo>
                      <a:pt x="28575" y="138117"/>
                      <a:pt x="19045" y="166692"/>
                      <a:pt x="0" y="17145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19175" y="3690938"/>
                <a:ext cx="285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171450">
                    <a:moveTo>
                      <a:pt x="28575" y="0"/>
                    </a:moveTo>
                    <a:cubicBezTo>
                      <a:pt x="9530" y="4758"/>
                      <a:pt x="0" y="33333"/>
                      <a:pt x="0" y="85725"/>
                    </a:cubicBezTo>
                    <a:cubicBezTo>
                      <a:pt x="0" y="138117"/>
                      <a:pt x="9530" y="166692"/>
                      <a:pt x="28575" y="17145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62025" y="3776662"/>
                <a:ext cx="171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19162" y="3933825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76325" y="3933825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19175" y="39052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47750" y="3862388"/>
                <a:ext cx="95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2862">
                    <a:moveTo>
                      <a:pt x="0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468755" y="36071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组织授权不足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472565" y="3906202"/>
              <a:ext cx="39401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没有改模型、调流程的授权，FDE 沦为传话筒，离一线决策太远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096500" y="3648075"/>
              <a:ext cx="1314450" cy="30480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387546" y="3734752"/>
              <a:ext cx="732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× 不是 FDE</a:t>
              </a:r>
              <a:endParaRPr lang="zh-CN" sz="10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4314825"/>
            <a:ext cx="11049000" cy="800100"/>
            <a:chOff x="571500" y="4314825"/>
            <a:chExt cx="11049000" cy="800100"/>
          </a:xfrm>
        </p:grpSpPr>
        <p:sp>
          <p:nvSpPr>
            <p:cNvPr id="44" name="Rectangle 44"/>
            <p:cNvSpPr/>
            <p:nvPr/>
          </p:nvSpPr>
          <p:spPr>
            <a:xfrm>
              <a:off x="571500" y="4314825"/>
              <a:ext cx="11049000" cy="800100"/>
            </a:xfrm>
            <a:prstGeom prst="roundRect">
              <a:avLst>
                <a:gd name="adj" fmla="val 14286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500" y="4314825"/>
              <a:ext cx="57150" cy="8001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19150" y="4486275"/>
              <a:ext cx="457200" cy="457200"/>
            </a:xfrm>
            <a:prstGeom prst="ellipse">
              <a:avLst/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33450" y="4595062"/>
              <a:ext cx="228600" cy="239625"/>
              <a:chOff x="933450" y="4595062"/>
              <a:chExt cx="228600" cy="239625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33450" y="459506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228600" y="105525"/>
                    </a:moveTo>
                    <a:cubicBezTo>
                      <a:pt x="221417" y="53841"/>
                      <a:pt x="180535" y="13355"/>
                      <a:pt x="128783" y="6678"/>
                    </a:cubicBezTo>
                    <a:cubicBezTo>
                      <a:pt x="77031" y="0"/>
                      <a:pt x="27211" y="28782"/>
                      <a:pt x="7144" y="76950"/>
                    </a:cubicBezTo>
                    <a:moveTo>
                      <a:pt x="0" y="19800"/>
                    </a:moveTo>
                    <a:lnTo>
                      <a:pt x="0" y="76950"/>
                    </a:lnTo>
                    <a:lnTo>
                      <a:pt x="57150" y="769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33450" y="4729162"/>
                <a:ext cx="228600" cy="105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5525">
                    <a:moveTo>
                      <a:pt x="0" y="0"/>
                    </a:moveTo>
                    <a:cubicBezTo>
                      <a:pt x="7183" y="51684"/>
                      <a:pt x="48065" y="92170"/>
                      <a:pt x="99817" y="98847"/>
                    </a:cubicBezTo>
                    <a:cubicBezTo>
                      <a:pt x="151569" y="105525"/>
                      <a:pt x="201389" y="76743"/>
                      <a:pt x="221456" y="28575"/>
                    </a:cubicBezTo>
                    <a:moveTo>
                      <a:pt x="228600" y="85725"/>
                    </a:moveTo>
                    <a:lnTo>
                      <a:pt x="228600" y="28575"/>
                    </a:lnTo>
                    <a:lnTo>
                      <a:pt x="171450" y="285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468755" y="45024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产品沉淀弱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72565" y="4801552"/>
              <a:ext cx="38911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交付完即走，不留 Skill / 模板 / 本体，下一个客户又从零开始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096500" y="4543425"/>
              <a:ext cx="1314450" cy="30480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387546" y="4630102"/>
              <a:ext cx="7323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× 不是 FDE</a:t>
              </a:r>
              <a:endParaRPr lang="zh-CN" sz="10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5257800"/>
            <a:ext cx="11049000" cy="726281"/>
            <a:chOff x="571500" y="5257800"/>
            <a:chExt cx="11049000" cy="726281"/>
          </a:xfrm>
        </p:grpSpPr>
        <p:sp>
          <p:nvSpPr>
            <p:cNvPr id="55" name="Rectangle 55"/>
            <p:cNvSpPr/>
            <p:nvPr/>
          </p:nvSpPr>
          <p:spPr>
            <a:xfrm>
              <a:off x="571500" y="5257800"/>
              <a:ext cx="11049000" cy="723900"/>
            </a:xfrm>
            <a:prstGeom prst="roundRect">
              <a:avLst>
                <a:gd name="adj" fmla="val 15789"/>
              </a:avLst>
            </a:prstGeom>
            <a:solidFill>
              <a:srgbClr val="0E9F6E">
                <a:alpha val="10000"/>
              </a:srgbClr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71500" y="5257800"/>
              <a:ext cx="57150" cy="72390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42962" y="5491162"/>
              <a:ext cx="257175" cy="257175"/>
              <a:chOff x="842962" y="5491162"/>
              <a:chExt cx="257175" cy="25717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42962" y="54911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928688" y="559117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243012" y="5460206"/>
              <a:ext cx="43641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从业者类比「十年前的产品经理」——窗口期 5–10 年，会大浪淘沙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39202" y="5694521"/>
              <a:ext cx="320864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我们的立场：做真 FDE，不做伪 FDE</a:t>
              </a:r>
              <a:endParaRPr lang="zh-CN" sz="1425" b="1" dirty="0">
                <a:solidFill>
                  <a:srgbClr val="0E9F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15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6" grpId="0"/>
      <p:bldP spid="43" grpId="0"/>
      <p:bldP spid="54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6BFE">
                    <a:alpha val="20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393382" y="2981325"/>
            <a:ext cx="2960418" cy="3352800"/>
            <a:chOff x="8393382" y="2981325"/>
            <a:chExt cx="2960418" cy="3352800"/>
          </a:xfrm>
        </p:grpSpPr>
        <p:sp>
          <p:nvSpPr>
            <p:cNvPr id="5" name="TextBox 5"/>
            <p:cNvSpPr txBox="1"/>
            <p:nvPr/>
          </p:nvSpPr>
          <p:spPr>
            <a:xfrm>
              <a:off x="8393382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16500" b="1" dirty="0">
                <a:solidFill>
                  <a:srgbClr val="FFFFFF">
                    <a:alphaMod val="1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667000"/>
            <a:ext cx="1200019" cy="338138"/>
            <a:chOff x="1143000" y="2667000"/>
            <a:chExt cx="1200019" cy="338138"/>
          </a:xfrm>
        </p:grpSpPr>
        <p:sp>
          <p:nvSpPr>
            <p:cNvPr id="7" name="Rectangle 7"/>
            <p:cNvSpPr/>
            <p:nvPr/>
          </p:nvSpPr>
          <p:spPr>
            <a:xfrm>
              <a:off x="1143000" y="2667000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6355" y="2730818"/>
              <a:ext cx="1026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CHAPTER 04</a:t>
              </a:r>
              <a:endParaRPr lang="zh-CN" sz="1350" b="1" dirty="0">
                <a:solidFill>
                  <a:srgbClr val="518F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1090" y="3358515"/>
            <a:ext cx="2856166" cy="1213485"/>
            <a:chOff x="1101090" y="3358515"/>
            <a:chExt cx="2856166" cy="1213485"/>
          </a:xfrm>
        </p:grpSpPr>
        <p:sp>
          <p:nvSpPr>
            <p:cNvPr id="10" name="TextBox 10"/>
            <p:cNvSpPr txBox="1"/>
            <p:nvPr/>
          </p:nvSpPr>
          <p:spPr>
            <a:xfrm>
              <a:off x="1101090" y="3358515"/>
              <a:ext cx="285616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怎么稳妥推进</a:t>
              </a:r>
              <a:endParaRPr lang="zh-CN" sz="33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3952875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3950" y="4267200"/>
              <a:ext cx="24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7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先验证、先沉淀、先打标杆</a:t>
              </a:r>
              <a:endParaRPr lang="zh-CN" sz="1500" dirty="0">
                <a:solidFill>
                  <a:srgbClr val="B8C7E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0618" y="6257449"/>
            <a:ext cx="10311764" cy="198120"/>
            <a:chOff x="1130618" y="6257449"/>
            <a:chExt cx="10311764" cy="198120"/>
          </a:xfrm>
        </p:grpSpPr>
        <p:sp>
          <p:nvSpPr>
            <p:cNvPr id="14" name="TextBox 14"/>
            <p:cNvSpPr txBox="1"/>
            <p:nvPr/>
          </p:nvSpPr>
          <p:spPr>
            <a:xfrm>
              <a:off x="1130618" y="6257449"/>
              <a:ext cx="1389380" cy="1504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经</a:t>
              </a:r>
              <a:r>
                <a:rPr lang="zh-CN" sz="975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分会汇报 · 第四章</a:t>
              </a:r>
              <a:endParaRPr lang="zh-CN" sz="975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2063" y="62574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16 / 25</a:t>
              </a:r>
              <a:endParaRPr lang="zh-CN" sz="975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3260217" cy="1046798"/>
            <a:chOff x="542925" y="458152"/>
            <a:chExt cx="3260217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2395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 · 怎么稳妥推进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3207544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先证明价值，再谈规模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2468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卖成果，不卖软件——客户为业务真的变好付费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52575" y="1743075"/>
            <a:ext cx="9086850" cy="800100"/>
            <a:chOff x="1552575" y="1743075"/>
            <a:chExt cx="9086850" cy="800100"/>
          </a:xfrm>
        </p:grpSpPr>
        <p:sp>
          <p:nvSpPr>
            <p:cNvPr id="8" name="Line 8"/>
            <p:cNvSpPr/>
            <p:nvPr/>
          </p:nvSpPr>
          <p:spPr>
            <a:xfrm>
              <a:off x="2352675" y="2143125"/>
              <a:ext cx="1962150" cy="1"/>
            </a:xfrm>
            <a:prstGeom prst="line">
              <a:avLst/>
            </a:prstGeom>
            <a:noFill/>
            <a:ln w="28575">
              <a:solidFill>
                <a:srgbClr val="518FEC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5114925" y="2143125"/>
              <a:ext cx="1962150" cy="1"/>
            </a:xfrm>
            <a:prstGeom prst="line">
              <a:avLst/>
            </a:prstGeom>
            <a:noFill/>
            <a:ln w="28575">
              <a:solidFill>
                <a:srgbClr val="518FEC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7877175" y="2143125"/>
              <a:ext cx="1962150" cy="1"/>
            </a:xfrm>
            <a:prstGeom prst="line">
              <a:avLst/>
            </a:prstGeom>
            <a:noFill/>
            <a:ln w="28575">
              <a:solidFill>
                <a:srgbClr val="518FEC"/>
              </a:solidFill>
              <a:tailEnd type="triangle" w="lg" len="lg"/>
            </a:ln>
          </p:spPr>
        </p:sp>
        <p:sp>
          <p:nvSpPr>
            <p:cNvPr id="11" name="Ellipse 11"/>
            <p:cNvSpPr/>
            <p:nvPr/>
          </p:nvSpPr>
          <p:spPr>
            <a:xfrm>
              <a:off x="1552575" y="1743075"/>
              <a:ext cx="800100" cy="8001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91148" y="20345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4314825" y="1743075"/>
              <a:ext cx="800100" cy="8001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53398" y="20345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77075" y="1743075"/>
              <a:ext cx="800100" cy="8001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15648" y="20345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9839325" y="1743075"/>
              <a:ext cx="800100" cy="8001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77898" y="20345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952625" y="2543175"/>
            <a:ext cx="8296275" cy="314325"/>
            <a:chOff x="1952625" y="2543175"/>
            <a:chExt cx="8296275" cy="314325"/>
          </a:xfrm>
        </p:grpSpPr>
        <p:sp>
          <p:nvSpPr>
            <p:cNvPr id="20" name="Line 20"/>
            <p:cNvSpPr/>
            <p:nvPr/>
          </p:nvSpPr>
          <p:spPr>
            <a:xfrm>
              <a:off x="1952625" y="25431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9050">
              <a:solidFill>
                <a:srgbClr val="B8C7E0"/>
              </a:solidFill>
              <a:prstDash val="dash"/>
            </a:ln>
          </p:spPr>
        </p:sp>
        <p:sp>
          <p:nvSpPr>
            <p:cNvPr id="21" name="Line 21"/>
            <p:cNvSpPr/>
            <p:nvPr/>
          </p:nvSpPr>
          <p:spPr>
            <a:xfrm>
              <a:off x="4714875" y="25431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9050">
              <a:solidFill>
                <a:srgbClr val="B8C7E0"/>
              </a:solidFill>
              <a:prstDash val="dash"/>
            </a:ln>
          </p:spPr>
        </p:sp>
        <p:sp>
          <p:nvSpPr>
            <p:cNvPr id="22" name="Line 22"/>
            <p:cNvSpPr/>
            <p:nvPr/>
          </p:nvSpPr>
          <p:spPr>
            <a:xfrm>
              <a:off x="7477125" y="25431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9050">
              <a:solidFill>
                <a:srgbClr val="B8C7E0"/>
              </a:solidFill>
              <a:prstDash val="dash"/>
            </a:ln>
          </p:spPr>
        </p:sp>
        <p:sp>
          <p:nvSpPr>
            <p:cNvPr id="23" name="Line 23"/>
            <p:cNvSpPr/>
            <p:nvPr/>
          </p:nvSpPr>
          <p:spPr>
            <a:xfrm>
              <a:off x="10239375" y="2543175"/>
              <a:ext cx="9525" cy="314325"/>
            </a:xfrm>
            <a:custGeom>
              <a:avLst/>
              <a:gdLst/>
              <a:ahLst/>
              <a:cxnLst/>
              <a:rect l="l" t="t" r="r" b="b"/>
              <a:pathLst>
                <a:path w="9525" h="314325">
                  <a:moveTo>
                    <a:pt x="0" y="0"/>
                  </a:moveTo>
                  <a:lnTo>
                    <a:pt x="0" y="314325"/>
                  </a:lnTo>
                </a:path>
              </a:pathLst>
            </a:custGeom>
            <a:noFill/>
            <a:ln w="19050">
              <a:solidFill>
                <a:srgbClr val="B8C7E0"/>
              </a:solidFill>
              <a:prstDash val="dash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762000" y="2857500"/>
            <a:ext cx="2381250" cy="2381250"/>
            <a:chOff x="762000" y="2857500"/>
            <a:chExt cx="2381250" cy="2381250"/>
          </a:xfrm>
        </p:grpSpPr>
        <p:sp>
          <p:nvSpPr>
            <p:cNvPr id="25" name="Rectangle 25"/>
            <p:cNvSpPr/>
            <p:nvPr/>
          </p:nvSpPr>
          <p:spPr>
            <a:xfrm>
              <a:off x="762000" y="2857500"/>
              <a:ext cx="2381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33450" y="3028950"/>
              <a:ext cx="419100" cy="419100"/>
            </a:xfrm>
            <a:prstGeom prst="ellipse">
              <a:avLst/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1014412" y="3109912"/>
              <a:ext cx="257175" cy="257175"/>
              <a:chOff x="1014412" y="3109912"/>
              <a:chExt cx="257175" cy="25717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14412" y="3109912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85862" y="32813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8572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68755" y="3159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业务理解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952500" y="35433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8212" y="3745706"/>
              <a:ext cx="9061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钱从哪里来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8212" y="4031456"/>
              <a:ext cx="1056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业务卡在哪里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8212" y="43172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AI 该撬哪个环节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2500" y="4686300"/>
              <a:ext cx="2000250" cy="381000"/>
            </a:xfrm>
            <a:prstGeom prst="roundRect">
              <a:avLst>
                <a:gd name="adj" fmla="val 20000"/>
              </a:avLst>
            </a:prstGeom>
            <a:solidFill>
              <a:srgbClr val="0052A6">
                <a:alpha val="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550194" y="481917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先找准真问题</a:t>
              </a:r>
              <a:endParaRPr lang="zh-CN" sz="975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524250" y="2857500"/>
            <a:ext cx="2381250" cy="2381250"/>
            <a:chOff x="3524250" y="2857500"/>
            <a:chExt cx="2381250" cy="2381250"/>
          </a:xfrm>
        </p:grpSpPr>
        <p:sp>
          <p:nvSpPr>
            <p:cNvPr id="38" name="Rectangle 38"/>
            <p:cNvSpPr/>
            <p:nvPr/>
          </p:nvSpPr>
          <p:spPr>
            <a:xfrm>
              <a:off x="3524250" y="2857500"/>
              <a:ext cx="2381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695700" y="3028950"/>
              <a:ext cx="419100" cy="419100"/>
            </a:xfrm>
            <a:prstGeom prst="ellipse">
              <a:avLst/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3776662" y="3109912"/>
              <a:ext cx="257175" cy="257176"/>
              <a:chOff x="3776662" y="3109912"/>
              <a:chExt cx="257175" cy="25717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3805238" y="31099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3776662" y="32813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3962400" y="311177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3990975" y="328350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4231005" y="3159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协作搭建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3714750" y="35433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700462" y="3745706"/>
              <a:ext cx="15212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业务专家 + FDE 共建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00462" y="4031456"/>
              <a:ext cx="13862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搭 Agent / 工作流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700462" y="431720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边搭边用、快速迭代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714750" y="4686300"/>
              <a:ext cx="2000250" cy="381000"/>
            </a:xfrm>
            <a:prstGeom prst="roundRect">
              <a:avLst>
                <a:gd name="adj" fmla="val 20000"/>
              </a:avLst>
            </a:prstGeom>
            <a:solidFill>
              <a:srgbClr val="0052A6">
                <a:alpha val="6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312444" y="481917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共建而非代建</a:t>
              </a:r>
              <a:endParaRPr lang="zh-CN" sz="975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86500" y="2857500"/>
            <a:ext cx="2381250" cy="2381250"/>
            <a:chOff x="6286500" y="2857500"/>
            <a:chExt cx="2381250" cy="2381250"/>
          </a:xfrm>
        </p:grpSpPr>
        <p:sp>
          <p:nvSpPr>
            <p:cNvPr id="53" name="Rectangle 53"/>
            <p:cNvSpPr/>
            <p:nvPr/>
          </p:nvSpPr>
          <p:spPr>
            <a:xfrm>
              <a:off x="6286500" y="2857500"/>
              <a:ext cx="2381250" cy="2381250"/>
            </a:xfrm>
            <a:prstGeom prst="roundRect">
              <a:avLst>
                <a:gd name="adj" fmla="val 4800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6457950" y="3028950"/>
              <a:ext cx="419100" cy="419100"/>
            </a:xfrm>
            <a:prstGeom prst="ellipse">
              <a:avLst/>
            </a:prstGeom>
            <a:solidFill>
              <a:srgbClr val="0052A6">
                <a:alpha val="10000"/>
              </a:srgbClr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538912" y="3109912"/>
              <a:ext cx="257175" cy="257175"/>
              <a:chOff x="6538912" y="3109912"/>
              <a:chExt cx="257175" cy="25717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538912" y="31099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624638" y="320992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993255" y="3159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质量保障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Line 59"/>
            <p:cNvSpPr/>
            <p:nvPr/>
          </p:nvSpPr>
          <p:spPr>
            <a:xfrm>
              <a:off x="6477000" y="35433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62712" y="374570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真实数据生成测试集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2712" y="4031456"/>
              <a:ext cx="10562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自动评测体系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62712" y="4317206"/>
              <a:ext cx="7486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A/B 对照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477000" y="4686300"/>
              <a:ext cx="2000250" cy="381000"/>
            </a:xfrm>
            <a:prstGeom prst="roundRect">
              <a:avLst>
                <a:gd name="adj" fmla="val 20000"/>
              </a:avLst>
            </a:prstGeom>
            <a:solidFill>
              <a:srgbClr val="0052A6">
                <a:alpha val="6000"/>
              </a:srgbClr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39702" y="481917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用数据说话</a:t>
              </a:r>
              <a:endParaRPr lang="zh-CN" sz="975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048750" y="2857500"/>
            <a:ext cx="2381250" cy="2381250"/>
            <a:chOff x="9048750" y="2857500"/>
            <a:chExt cx="2381250" cy="2381250"/>
          </a:xfrm>
        </p:grpSpPr>
        <p:sp>
          <p:nvSpPr>
            <p:cNvPr id="66" name="Rectangle 66"/>
            <p:cNvSpPr/>
            <p:nvPr/>
          </p:nvSpPr>
          <p:spPr>
            <a:xfrm>
              <a:off x="9048750" y="2857500"/>
              <a:ext cx="2381250" cy="2381250"/>
            </a:xfrm>
            <a:prstGeom prst="roundRect">
              <a:avLst>
                <a:gd name="adj" fmla="val 4800"/>
              </a:avLst>
            </a:prstGeom>
            <a:solidFill>
              <a:srgbClr val="0052A6">
                <a:alpha val="5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220200" y="3028950"/>
              <a:ext cx="419100" cy="419100"/>
            </a:xfrm>
            <a:prstGeom prst="ellipse">
              <a:avLst/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9301162" y="3109912"/>
              <a:ext cx="257175" cy="257175"/>
              <a:chOff x="9301162" y="3109912"/>
              <a:chExt cx="257175" cy="257175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9415462" y="32242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358312" y="31670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9301162" y="31099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9755505" y="3159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结果验证</a:t>
              </a:r>
              <a:endParaRPr lang="zh-CN" sz="13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Line 73"/>
            <p:cNvSpPr/>
            <p:nvPr/>
          </p:nvSpPr>
          <p:spPr>
            <a:xfrm>
              <a:off x="9239250" y="3543300"/>
              <a:ext cx="2000250" cy="9525"/>
            </a:xfrm>
            <a:custGeom>
              <a:avLst/>
              <a:gdLst/>
              <a:ahLst/>
              <a:cxnLst/>
              <a:rect l="l" t="t" r="r" b="b"/>
              <a:pathLst>
                <a:path w="2000250" h="9525">
                  <a:moveTo>
                    <a:pt x="0" y="0"/>
                  </a:moveTo>
                  <a:lnTo>
                    <a:pt x="2000250" y="0"/>
                  </a:lnTo>
                </a:path>
              </a:pathLst>
            </a:custGeom>
            <a:noFill/>
            <a:ln w="9525">
              <a:solidFill>
                <a:srgbClr val="B8C7E0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224962" y="3745706"/>
              <a:ext cx="1183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AI 组 vs 人工组</a:t>
              </a:r>
              <a:endParaRPr lang="zh-CN" sz="112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224962" y="4031456"/>
              <a:ext cx="9061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逐环节对比</a:t>
              </a:r>
              <a:endParaRPr lang="zh-CN" sz="112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224962" y="431720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用业务结果证明价值</a:t>
              </a:r>
              <a:endParaRPr lang="zh-CN" sz="112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9239250" y="4686300"/>
              <a:ext cx="2000250" cy="381000"/>
            </a:xfrm>
            <a:prstGeom prst="roundRect">
              <a:avLst>
                <a:gd name="adj" fmla="val 2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749183" y="4819174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客户为变好付费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71500" y="5448300"/>
            <a:ext cx="11049000" cy="685800"/>
            <a:chOff x="571500" y="5448300"/>
            <a:chExt cx="11049000" cy="685800"/>
          </a:xfrm>
        </p:grpSpPr>
        <p:sp>
          <p:nvSpPr>
            <p:cNvPr id="80" name="Rectangle 80"/>
            <p:cNvSpPr/>
            <p:nvPr/>
          </p:nvSpPr>
          <p:spPr>
            <a:xfrm>
              <a:off x="571500" y="5448300"/>
              <a:ext cx="11049000" cy="685800"/>
            </a:xfrm>
            <a:prstGeom prst="roundRect">
              <a:avLst>
                <a:gd name="adj" fmla="val 16667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71500" y="544830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830499" y="5643051"/>
              <a:ext cx="320190" cy="275085"/>
              <a:chOff x="830499" y="5643051"/>
              <a:chExt cx="320190" cy="27508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990600" y="574357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830499" y="5643051"/>
                <a:ext cx="320190" cy="275085"/>
              </a:xfrm>
              <a:custGeom>
                <a:avLst/>
                <a:gdLst/>
                <a:ahLst/>
                <a:cxnLst/>
                <a:rect l="l" t="t" r="r" b="b"/>
                <a:pathLst>
                  <a:path w="320190" h="275085">
                    <a:moveTo>
                      <a:pt x="134114" y="14656"/>
                    </a:moveTo>
                    <a:lnTo>
                      <a:pt x="5431" y="229508"/>
                    </a:lnTo>
                    <a:cubicBezTo>
                      <a:pt x="33" y="238857"/>
                      <a:pt x="0" y="250367"/>
                      <a:pt x="5344" y="259746"/>
                    </a:cubicBezTo>
                    <a:cubicBezTo>
                      <a:pt x="10689" y="269125"/>
                      <a:pt x="20608" y="274964"/>
                      <a:pt x="31403" y="275085"/>
                    </a:cubicBezTo>
                    <a:lnTo>
                      <a:pt x="288800" y="275085"/>
                    </a:lnTo>
                    <a:cubicBezTo>
                      <a:pt x="299589" y="274961"/>
                      <a:pt x="309503" y="269124"/>
                      <a:pt x="314847" y="259750"/>
                    </a:cubicBezTo>
                    <a:cubicBezTo>
                      <a:pt x="320190" y="250376"/>
                      <a:pt x="320161" y="238871"/>
                      <a:pt x="314771" y="229524"/>
                    </a:cubicBezTo>
                    <a:lnTo>
                      <a:pt x="186089" y="14640"/>
                    </a:lnTo>
                    <a:cubicBezTo>
                      <a:pt x="180582" y="5552"/>
                      <a:pt x="170728" y="0"/>
                      <a:pt x="160101" y="0"/>
                    </a:cubicBezTo>
                    <a:cubicBezTo>
                      <a:pt x="149475" y="0"/>
                      <a:pt x="139620" y="5552"/>
                      <a:pt x="134114" y="1464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90600" y="5854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319212" y="5631656"/>
              <a:ext cx="1627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死亡之谷：试点 → 生产</a:t>
              </a:r>
              <a:endParaRPr lang="zh-CN" sz="1125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318260" y="5871210"/>
              <a:ext cx="59192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多数项目死在这里——数据质量被回避、审批流程未打通，Demo 永远停在「挺好用」</a:t>
              </a:r>
              <a:endParaRPr lang="zh-CN" sz="1200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17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37" grpId="0"/>
      <p:bldP spid="52" grpId="0"/>
      <p:bldP spid="65" grpId="0"/>
      <p:bldP spid="79" grpId="0"/>
      <p:bldP spid="8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8279678" cy="1046798"/>
            <a:chOff x="542925" y="458152"/>
            <a:chExt cx="8279678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2395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 · 怎么稳妥推进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827967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先投入、后回收——会不会把经验变成资产，决定能不能赚钱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870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本体沉淀是一条复利曲线：冷启动亏、中期平、后期赚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838325" y="3476625"/>
            <a:ext cx="8639175" cy="381000"/>
            <a:chOff x="1838325" y="3476625"/>
            <a:chExt cx="8639175" cy="381000"/>
          </a:xfrm>
        </p:grpSpPr>
        <p:sp>
          <p:nvSpPr>
            <p:cNvPr id="8" name="Line 8"/>
            <p:cNvSpPr/>
            <p:nvPr/>
          </p:nvSpPr>
          <p:spPr>
            <a:xfrm>
              <a:off x="2000250" y="3667125"/>
              <a:ext cx="8286750" cy="9525"/>
            </a:xfrm>
            <a:custGeom>
              <a:avLst/>
              <a:gdLst/>
              <a:ahLst/>
              <a:cxnLst/>
              <a:rect l="l" t="t" r="r" b="b"/>
              <a:pathLst>
                <a:path w="8286750" h="9525">
                  <a:moveTo>
                    <a:pt x="0" y="0"/>
                  </a:moveTo>
                  <a:lnTo>
                    <a:pt x="8286750" y="0"/>
                  </a:lnTo>
                </a:path>
              </a:pathLst>
            </a:custGeom>
            <a:noFill/>
            <a:ln w="95250" cap="rnd">
              <a:solidFill>
                <a:srgbClr val="E3E9F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000250" y="3667125"/>
              <a:ext cx="8286750" cy="9525"/>
            </a:xfrm>
            <a:custGeom>
              <a:avLst/>
              <a:gdLst/>
              <a:ahLst/>
              <a:cxnLst/>
              <a:rect l="l" t="t" r="r" b="b"/>
              <a:pathLst>
                <a:path w="8286750" h="9525">
                  <a:moveTo>
                    <a:pt x="0" y="0"/>
                  </a:moveTo>
                  <a:lnTo>
                    <a:pt x="8286750" y="0"/>
                  </a:lnTo>
                </a:path>
              </a:pathLst>
            </a:custGeom>
            <a:noFill/>
            <a:ln w="95250" cap="rnd">
              <a:gradFill>
                <a:gsLst>
                  <a:gs pos="0">
                    <a:srgbClr val="F59E0B"/>
                  </a:gs>
                  <a:gs pos="40000">
                    <a:srgbClr val="518FEC"/>
                  </a:gs>
                  <a:gs pos="75000">
                    <a:srgbClr val="246BFE"/>
                  </a:gs>
                  <a:gs pos="100000">
                    <a:srgbClr val="0E9F6E"/>
                  </a:gs>
                </a:gsLst>
                <a:lin ang="0" scaled="1"/>
              </a:gra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838325" y="3505200"/>
              <a:ext cx="323850" cy="32385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943100" y="360997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600575" y="3505200"/>
              <a:ext cx="323850" cy="323850"/>
            </a:xfrm>
            <a:prstGeom prst="ellipse">
              <a:avLst/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4705350" y="360997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62825" y="3505200"/>
              <a:ext cx="323850" cy="323850"/>
            </a:xfrm>
            <a:prstGeom prst="ellipse">
              <a:avLst/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467600" y="360997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096500" y="3476625"/>
              <a:ext cx="381000" cy="381000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0229850" y="361950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0" y="47625"/>
                  </a:moveTo>
                  <a:lnTo>
                    <a:pt x="47625" y="95250"/>
                  </a:lnTo>
                  <a:lnTo>
                    <a:pt x="133350" y="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857250" y="3829050"/>
            <a:ext cx="2286000" cy="1790700"/>
            <a:chOff x="857250" y="3829050"/>
            <a:chExt cx="2286000" cy="1790700"/>
          </a:xfrm>
        </p:grpSpPr>
        <p:sp>
          <p:nvSpPr>
            <p:cNvPr id="19" name="Line 19"/>
            <p:cNvSpPr/>
            <p:nvPr/>
          </p:nvSpPr>
          <p:spPr>
            <a:xfrm>
              <a:off x="2000250" y="3829050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F59E0B"/>
              </a:solidFill>
              <a:prstDash val="dash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57250" y="4048125"/>
              <a:ext cx="2286000" cy="157162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59E0B">
                  <a:alpha val="50000"/>
                </a:srgbClr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57250" y="4048125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114300" y="0"/>
                  </a:move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342900"/>
                  </a:lnTo>
                  <a:lnTo>
                    <a:pt x="0" y="3429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59E0B">
                <a:alpha val="12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03280" y="4191952"/>
              <a:ext cx="13939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 1 个客户 · 冷启动</a:t>
              </a:r>
              <a:endParaRPr lang="zh-CN" sz="10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73179" y="4501515"/>
              <a:ext cx="1054141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25</a:t>
              </a:r>
              <a:r>
                <a:rPr lang="zh-CN" sz="16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％</a:t>
              </a:r>
              <a:endParaRPr lang="zh-CN" sz="165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92843" y="5000149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毛利率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36309" y="5296852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从零定制，成本是常规 3 倍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619500" y="1714500"/>
            <a:ext cx="2286000" cy="1790700"/>
            <a:chOff x="3619500" y="1714500"/>
            <a:chExt cx="2286000" cy="1790700"/>
          </a:xfrm>
        </p:grpSpPr>
        <p:sp>
          <p:nvSpPr>
            <p:cNvPr id="27" name="Line 27"/>
            <p:cNvSpPr/>
            <p:nvPr/>
          </p:nvSpPr>
          <p:spPr>
            <a:xfrm>
              <a:off x="4762500" y="328612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2190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518FEC"/>
              </a:solidFill>
              <a:prstDash val="dash"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619500" y="1714500"/>
              <a:ext cx="2286000" cy="157162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619500" y="1828800"/>
              <a:ext cx="2286000" cy="1457325"/>
            </a:xfrm>
            <a:custGeom>
              <a:avLst/>
              <a:gdLst/>
              <a:ahLst/>
              <a:cxnLst/>
              <a:rect l="l" t="t" r="r" b="b"/>
              <a:pathLst>
                <a:path w="2286000" h="1457325">
                  <a:moveTo>
                    <a:pt x="0" y="1343025"/>
                  </a:move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1343025"/>
                  </a:lnTo>
                  <a:cubicBezTo>
                    <a:pt x="2286000" y="1406151"/>
                    <a:pt x="2234826" y="1457325"/>
                    <a:pt x="2171700" y="1457325"/>
                  </a:cubicBezTo>
                  <a:lnTo>
                    <a:pt x="114300" y="1457325"/>
                  </a:lnTo>
                  <a:cubicBezTo>
                    <a:pt x="51174" y="1457325"/>
                    <a:pt x="0" y="1406151"/>
                    <a:pt x="0" y="1343025"/>
                  </a:cubicBez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619500" y="2943225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228600"/>
                  </a:moveTo>
                  <a:lnTo>
                    <a:pt x="0" y="228600"/>
                  </a:lnTo>
                  <a:cubicBezTo>
                    <a:pt x="0" y="291726"/>
                    <a:pt x="51174" y="342900"/>
                    <a:pt x="114300" y="342900"/>
                  </a:cubicBezTo>
                  <a:lnTo>
                    <a:pt x="2171700" y="342900"/>
                  </a:lnTo>
                  <a:cubicBezTo>
                    <a:pt x="2234826" y="342900"/>
                    <a:pt x="2286000" y="291726"/>
                    <a:pt x="2286000" y="228600"/>
                  </a:cubicBezTo>
                  <a:lnTo>
                    <a:pt x="2286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18FEC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955266" y="3048952"/>
              <a:ext cx="16144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 4 个客户 · 本体 V1.3</a:t>
              </a:r>
              <a:endParaRPr lang="zh-CN" sz="1050" b="1" dirty="0">
                <a:solidFill>
                  <a:srgbClr val="518F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125825" y="2038350"/>
              <a:ext cx="127335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 人天</a:t>
              </a:r>
              <a:endParaRPr lang="zh-CN" sz="3000" b="1" dirty="0">
                <a:solidFill>
                  <a:srgbClr val="518F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93535" y="2504599"/>
              <a:ext cx="13379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单客户 Delta 增量工时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49078" y="28013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边际成本开始快速下降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81750" y="3829050"/>
            <a:ext cx="2286000" cy="1790700"/>
            <a:chOff x="6381750" y="3829050"/>
            <a:chExt cx="2286000" cy="1790700"/>
          </a:xfrm>
        </p:grpSpPr>
        <p:sp>
          <p:nvSpPr>
            <p:cNvPr id="36" name="Line 36"/>
            <p:cNvSpPr/>
            <p:nvPr/>
          </p:nvSpPr>
          <p:spPr>
            <a:xfrm>
              <a:off x="7524750" y="3829050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9050">
              <a:solidFill>
                <a:srgbClr val="246BFE"/>
              </a:solidFill>
              <a:prstDash val="dash"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381750" y="4048125"/>
              <a:ext cx="2286000" cy="157162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381750" y="4048125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114300" y="0"/>
                  </a:move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342900"/>
                  </a:lnTo>
                  <a:lnTo>
                    <a:pt x="0" y="342900"/>
                  </a:ln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246BFE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46919" y="4191952"/>
              <a:ext cx="155566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 5–8 个客户 · 规模化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99052" y="4533900"/>
              <a:ext cx="165139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55→70</a:t>
              </a:r>
              <a:r>
                <a:rPr lang="zh-CN" sz="1650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％</a:t>
              </a:r>
              <a:endParaRPr lang="zh-CN" sz="1650" b="1" dirty="0">
                <a:solidFill>
                  <a:srgbClr val="246B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47759" y="5000149"/>
              <a:ext cx="17539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毛利率 · 上线周期 6 周 → 1 周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91362" y="52968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复利效应显现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144000" y="1714500"/>
            <a:ext cx="2286000" cy="1790700"/>
            <a:chOff x="9144000" y="1714500"/>
            <a:chExt cx="2286000" cy="1790700"/>
          </a:xfrm>
        </p:grpSpPr>
        <p:sp>
          <p:nvSpPr>
            <p:cNvPr id="44" name="Line 44"/>
            <p:cNvSpPr/>
            <p:nvPr/>
          </p:nvSpPr>
          <p:spPr>
            <a:xfrm>
              <a:off x="10287000" y="328612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2190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E9F6E"/>
              </a:solidFill>
              <a:prstDash val="dash"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144000" y="1714500"/>
              <a:ext cx="2286000" cy="1571625"/>
            </a:xfrm>
            <a:prstGeom prst="roundRect">
              <a:avLst>
                <a:gd name="adj" fmla="val 7273"/>
              </a:avLst>
            </a:prstGeom>
            <a:solidFill>
              <a:srgbClr val="0E9F6E">
                <a:alpha val="6000"/>
              </a:srgbClr>
            </a:solidFill>
            <a:ln w="14288">
              <a:solidFill>
                <a:srgbClr val="0E9F6E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144000" y="2943225"/>
              <a:ext cx="2286000" cy="342900"/>
            </a:xfrm>
            <a:custGeom>
              <a:avLst/>
              <a:gdLst/>
              <a:ahLst/>
              <a:cxnLst/>
              <a:rect l="l" t="t" r="r" b="b"/>
              <a:pathLst>
                <a:path w="2286000" h="342900">
                  <a:moveTo>
                    <a:pt x="0" y="228600"/>
                  </a:moveTo>
                  <a:lnTo>
                    <a:pt x="0" y="228600"/>
                  </a:lnTo>
                  <a:cubicBezTo>
                    <a:pt x="0" y="291726"/>
                    <a:pt x="51174" y="342900"/>
                    <a:pt x="114300" y="342900"/>
                  </a:cubicBezTo>
                  <a:lnTo>
                    <a:pt x="2171700" y="342900"/>
                  </a:lnTo>
                  <a:cubicBezTo>
                    <a:pt x="2234826" y="342900"/>
                    <a:pt x="2286000" y="291726"/>
                    <a:pt x="2286000" y="228600"/>
                  </a:cubicBezTo>
                  <a:lnTo>
                    <a:pt x="2286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9F6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16520" y="3048952"/>
              <a:ext cx="15409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 8 个客户 · 正式回本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29323" y="2038350"/>
              <a:ext cx="13153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300 万</a:t>
              </a:r>
              <a:endParaRPr lang="zh-CN" sz="3000" b="1" dirty="0">
                <a:solidFill>
                  <a:srgbClr val="0E9F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79793" y="2504599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累计节省 · 本体趋稳</a:t>
              </a:r>
              <a:endParaRPr lang="zh-CN" sz="97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16058" y="2801302"/>
              <a:ext cx="17418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冷启动约 150 万，至此回本</a:t>
              </a:r>
              <a:endParaRPr lang="zh-CN" sz="1050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71500" y="5791200"/>
            <a:ext cx="11049000" cy="533400"/>
            <a:chOff x="571500" y="5791200"/>
            <a:chExt cx="11049000" cy="533400"/>
          </a:xfrm>
        </p:grpSpPr>
        <p:sp>
          <p:nvSpPr>
            <p:cNvPr id="52" name="Rectangle 52"/>
            <p:cNvSpPr/>
            <p:nvPr/>
          </p:nvSpPr>
          <p:spPr>
            <a:xfrm>
              <a:off x="571500" y="5791200"/>
              <a:ext cx="11049000" cy="533400"/>
            </a:xfrm>
            <a:prstGeom prst="roundRect">
              <a:avLst>
                <a:gd name="adj" fmla="val 21429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850900" y="5951400"/>
              <a:ext cx="203200" cy="213000"/>
              <a:chOff x="850900" y="5951400"/>
              <a:chExt cx="203200" cy="213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50900" y="59514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203200" y="93800"/>
                    </a:moveTo>
                    <a:cubicBezTo>
                      <a:pt x="196815" y="47858"/>
                      <a:pt x="160476" y="11871"/>
                      <a:pt x="114474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50900" y="60706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0" y="0"/>
                    </a:moveTo>
                    <a:cubicBezTo>
                      <a:pt x="6385" y="45942"/>
                      <a:pt x="42724" y="81929"/>
                      <a:pt x="88726" y="87864"/>
                    </a:cubicBezTo>
                    <a:cubicBezTo>
                      <a:pt x="134728" y="93800"/>
                      <a:pt x="179013" y="68216"/>
                      <a:pt x="196850" y="25400"/>
                    </a:cubicBezTo>
                    <a:moveTo>
                      <a:pt x="203200" y="76200"/>
                    </a:moveTo>
                    <a:lnTo>
                      <a:pt x="203200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203008" y="5986939"/>
              <a:ext cx="57540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复利公式：每个客户都在为下一个客户降低成本——7–8 个客户后本体趋稳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6" grpId="0"/>
      <p:bldP spid="35" grpId="0"/>
      <p:bldP spid="43" grpId="0"/>
      <p:bldP spid="51" grpId="0"/>
      <p:bldP spid="5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467701" cy="1046798"/>
            <a:chOff x="542925" y="458152"/>
            <a:chExt cx="4467701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2395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 · 怎么稳妥推进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446770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原厂打样、伙伴复制，先易后难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870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0→1 原厂、1→N 伙伴——部署是「脚手架」不是「房子」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24000" y="2238375"/>
            <a:ext cx="9429750" cy="857250"/>
            <a:chOff x="1524000" y="2238375"/>
            <a:chExt cx="9429750" cy="857250"/>
          </a:xfrm>
        </p:grpSpPr>
        <p:sp>
          <p:nvSpPr>
            <p:cNvPr id="8" name="Polygon 8"/>
            <p:cNvSpPr/>
            <p:nvPr/>
          </p:nvSpPr>
          <p:spPr>
            <a:xfrm>
              <a:off x="1524000" y="2238375"/>
              <a:ext cx="3143250" cy="857250"/>
            </a:xfrm>
            <a:custGeom>
              <a:avLst/>
              <a:gdLst/>
              <a:ahLst/>
              <a:cxnLst/>
              <a:rect l="l" t="t" r="r" b="b"/>
              <a:pathLst>
                <a:path w="3143250" h="857250">
                  <a:moveTo>
                    <a:pt x="0" y="0"/>
                  </a:moveTo>
                  <a:lnTo>
                    <a:pt x="2857500" y="0"/>
                  </a:lnTo>
                  <a:lnTo>
                    <a:pt x="3143250" y="428625"/>
                  </a:lnTo>
                  <a:lnTo>
                    <a:pt x="2857500" y="85725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0052A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535603" y="24560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原厂打样</a:t>
              </a:r>
              <a:endParaRPr lang="zh-CN" sz="14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94099" y="2733199"/>
              <a:ext cx="3173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 → 1</a:t>
              </a:r>
              <a:endParaRPr lang="zh-CN" sz="975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Polygon 11"/>
            <p:cNvSpPr/>
            <p:nvPr/>
          </p:nvSpPr>
          <p:spPr>
            <a:xfrm>
              <a:off x="4667250" y="2238375"/>
              <a:ext cx="3143250" cy="857250"/>
            </a:xfrm>
            <a:custGeom>
              <a:avLst/>
              <a:gdLst/>
              <a:ahLst/>
              <a:cxnLst/>
              <a:rect l="l" t="t" r="r" b="b"/>
              <a:pathLst>
                <a:path w="3143250" h="857250">
                  <a:moveTo>
                    <a:pt x="0" y="0"/>
                  </a:moveTo>
                  <a:lnTo>
                    <a:pt x="2857500" y="0"/>
                  </a:lnTo>
                  <a:lnTo>
                    <a:pt x="3143250" y="428625"/>
                  </a:lnTo>
                  <a:lnTo>
                    <a:pt x="2857500" y="857250"/>
                  </a:lnTo>
                  <a:lnTo>
                    <a:pt x="0" y="857250"/>
                  </a:lnTo>
                  <a:lnTo>
                    <a:pt x="285750" y="428625"/>
                  </a:lnTo>
                  <a:close/>
                </a:path>
              </a:pathLst>
            </a:custGeom>
            <a:solidFill>
              <a:srgbClr val="246B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821728" y="24560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伙伴复制</a:t>
              </a:r>
              <a:endParaRPr lang="zh-CN" sz="14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0224" y="2733199"/>
              <a:ext cx="3173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 → N</a:t>
              </a:r>
              <a:endParaRPr lang="zh-CN" sz="975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Polygon 14"/>
            <p:cNvSpPr/>
            <p:nvPr/>
          </p:nvSpPr>
          <p:spPr>
            <a:xfrm>
              <a:off x="7810500" y="2238375"/>
              <a:ext cx="3143250" cy="857250"/>
            </a:xfrm>
            <a:custGeom>
              <a:avLst/>
              <a:gdLst/>
              <a:ahLst/>
              <a:cxnLst/>
              <a:rect l="l" t="t" r="r" b="b"/>
              <a:pathLst>
                <a:path w="3143250" h="857250">
                  <a:moveTo>
                    <a:pt x="0" y="0"/>
                  </a:moveTo>
                  <a:lnTo>
                    <a:pt x="2857500" y="0"/>
                  </a:lnTo>
                  <a:lnTo>
                    <a:pt x="3143250" y="428625"/>
                  </a:lnTo>
                  <a:lnTo>
                    <a:pt x="2857500" y="857250"/>
                  </a:lnTo>
                  <a:lnTo>
                    <a:pt x="0" y="857250"/>
                  </a:lnTo>
                  <a:lnTo>
                    <a:pt x="285750" y="428625"/>
                  </a:lnTo>
                  <a:close/>
                </a:path>
              </a:pathLst>
            </a:custGeom>
            <a:solidFill>
              <a:srgbClr val="0E9F6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64978" y="24560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客户自助</a:t>
              </a:r>
              <a:endParaRPr lang="zh-CN" sz="14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74718" y="2733199"/>
              <a:ext cx="4148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自助化</a:t>
              </a:r>
              <a:endParaRPr lang="zh-CN" sz="975" dirty="0">
                <a:solidFill>
                  <a:srgbClr val="FFFFFF">
                    <a:alphaMod val="85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19250" y="3429000"/>
            <a:ext cx="2667000" cy="2000250"/>
            <a:chOff x="1619250" y="3429000"/>
            <a:chExt cx="26670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1619250" y="3429000"/>
              <a:ext cx="2667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19250" y="342900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771650" y="3619500"/>
              <a:ext cx="381000" cy="381000"/>
            </a:xfrm>
            <a:prstGeom prst="ellipse">
              <a:avLst/>
            </a:prstGeom>
            <a:solidFill>
              <a:srgbClr val="0052A6">
                <a:alpha val="12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847850" y="3695700"/>
              <a:ext cx="228600" cy="228600"/>
              <a:chOff x="1847850" y="3695700"/>
              <a:chExt cx="228600" cy="2286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847850" y="38735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025650" y="36957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873250" y="3721100"/>
                <a:ext cx="190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77800">
                    <a:moveTo>
                      <a:pt x="76200" y="177800"/>
                    </a:moveTo>
                    <a:lnTo>
                      <a:pt x="146050" y="177800"/>
                    </a:lnTo>
                    <a:cubicBezTo>
                      <a:pt x="170599" y="177800"/>
                      <a:pt x="190500" y="157899"/>
                      <a:pt x="190500" y="133350"/>
                    </a:cubicBezTo>
                    <a:cubicBezTo>
                      <a:pt x="190500" y="108801"/>
                      <a:pt x="170599" y="88900"/>
                      <a:pt x="146050" y="88900"/>
                    </a:cubicBezTo>
                    <a:lnTo>
                      <a:pt x="44450" y="88900"/>
                    </a:ln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2250758" y="37295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原厂亲自做</a:t>
              </a:r>
              <a:endParaRPr lang="zh-CN" sz="127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180975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795462" y="426005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重点行业标杆跑通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95462" y="4526756"/>
              <a:ext cx="18963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沉淀 Skill / 模板 / 连接器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95462" y="47934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沉淀可复制的方法论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809750" y="5067300"/>
              <a:ext cx="2286000" cy="266700"/>
            </a:xfrm>
            <a:prstGeom prst="roundRect">
              <a:avLst>
                <a:gd name="adj" fmla="val 50000"/>
              </a:avLst>
            </a:prstGeom>
            <a:solidFill>
              <a:srgbClr val="0052A6">
                <a:alpha val="8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257782" y="51430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把做法跑通、固化下来</a:t>
              </a:r>
              <a:endParaRPr lang="zh-CN" sz="975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762500" y="3429000"/>
            <a:ext cx="2667000" cy="2000250"/>
            <a:chOff x="4762500" y="3429000"/>
            <a:chExt cx="26670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4762500" y="3429000"/>
              <a:ext cx="2667000" cy="2000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762500" y="342900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914900" y="3619500"/>
              <a:ext cx="381000" cy="381000"/>
            </a:xfrm>
            <a:prstGeom prst="ellipse">
              <a:avLst/>
            </a:prstGeom>
            <a:solidFill>
              <a:srgbClr val="246BFE">
                <a:alpha val="12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4991100" y="3695700"/>
              <a:ext cx="228600" cy="241300"/>
              <a:chOff x="4991100" y="3695700"/>
              <a:chExt cx="228600" cy="2413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029200" y="36957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105400" y="36957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0" y="0"/>
                    </a:moveTo>
                    <a:cubicBezTo>
                      <a:pt x="16929" y="4229"/>
                      <a:pt x="25400" y="29629"/>
                      <a:pt x="25400" y="76200"/>
                    </a:cubicBezTo>
                    <a:cubicBezTo>
                      <a:pt x="25400" y="122771"/>
                      <a:pt x="16929" y="148171"/>
                      <a:pt x="0" y="1524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080000" y="3695700"/>
                <a:ext cx="25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152400">
                    <a:moveTo>
                      <a:pt x="25400" y="0"/>
                    </a:moveTo>
                    <a:cubicBezTo>
                      <a:pt x="8471" y="4229"/>
                      <a:pt x="0" y="29629"/>
                      <a:pt x="0" y="76200"/>
                    </a:cubicBezTo>
                    <a:cubicBezTo>
                      <a:pt x="0" y="122771"/>
                      <a:pt x="8471" y="148171"/>
                      <a:pt x="25400" y="1524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029200" y="37719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4991100" y="39116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130800" y="3911600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080000" y="38862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105400" y="384810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5394008" y="37295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伙伴规模化</a:t>
              </a:r>
              <a:endParaRPr lang="zh-CN" sz="127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495300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938712" y="4260056"/>
              <a:ext cx="17387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ISV / SI / 区域伙伴交付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38712" y="45267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平台培训 + 认证体系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38712" y="4793456"/>
              <a:ext cx="12062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从单点走向规模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53000" y="5067300"/>
              <a:ext cx="2286000" cy="266700"/>
            </a:xfrm>
            <a:prstGeom prst="roundRect">
              <a:avLst>
                <a:gd name="adj" fmla="val 50000"/>
              </a:avLst>
            </a:prstGeom>
            <a:solidFill>
              <a:srgbClr val="246BFE">
                <a:alpha val="1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05808" y="5143024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把能力交给伙伴</a:t>
              </a:r>
              <a:endParaRPr lang="zh-CN" sz="975" b="1" dirty="0">
                <a:solidFill>
                  <a:srgbClr val="246B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905750" y="3429000"/>
            <a:ext cx="2667000" cy="2000250"/>
            <a:chOff x="7905750" y="3429000"/>
            <a:chExt cx="2667000" cy="2000250"/>
          </a:xfrm>
        </p:grpSpPr>
        <p:sp>
          <p:nvSpPr>
            <p:cNvPr id="53" name="Rectangle 53"/>
            <p:cNvSpPr/>
            <p:nvPr/>
          </p:nvSpPr>
          <p:spPr>
            <a:xfrm>
              <a:off x="7905750" y="3429000"/>
              <a:ext cx="2667000" cy="2000250"/>
            </a:xfrm>
            <a:prstGeom prst="roundRect">
              <a:avLst>
                <a:gd name="adj" fmla="val 5714"/>
              </a:avLst>
            </a:prstGeom>
            <a:solidFill>
              <a:srgbClr val="0E9F6E">
                <a:alpha val="5000"/>
              </a:srgbClr>
            </a:solidFill>
            <a:ln w="14288">
              <a:solidFill>
                <a:srgbClr val="0E9F6E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905750" y="3429000"/>
              <a:ext cx="2667000" cy="5715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058150" y="3619500"/>
              <a:ext cx="381000" cy="381000"/>
            </a:xfrm>
            <a:prstGeom prst="ellipse">
              <a:avLst/>
            </a:prstGeom>
            <a:solidFill>
              <a:srgbClr val="0E9F6E">
                <a:alpha val="14000"/>
              </a:srgbClr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134350" y="3695700"/>
              <a:ext cx="228600" cy="228600"/>
              <a:chOff x="8134350" y="3695700"/>
              <a:chExt cx="228600" cy="22860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8134350" y="36957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210550" y="37846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8537258" y="37295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客户自服务</a:t>
              </a:r>
              <a:endParaRPr lang="zh-CN" sz="127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Line 60"/>
            <p:cNvSpPr/>
            <p:nvPr/>
          </p:nvSpPr>
          <p:spPr>
            <a:xfrm>
              <a:off x="8096250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81962" y="4260056"/>
              <a:ext cx="13562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客户自助构建能力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081962" y="452675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部署是脚手架，不是房子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81962" y="4793456"/>
              <a:ext cx="15062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厂商逐步退到平台层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096250" y="5067300"/>
              <a:ext cx="2286000" cy="266700"/>
            </a:xfrm>
            <a:prstGeom prst="roundRect">
              <a:avLst>
                <a:gd name="adj" fmla="val 50000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680799" y="5143024"/>
              <a:ext cx="1116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终态：客户自己跑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571500" y="5638800"/>
            <a:ext cx="11049000" cy="602456"/>
            <a:chOff x="571500" y="5638800"/>
            <a:chExt cx="11049000" cy="602456"/>
          </a:xfrm>
        </p:grpSpPr>
        <p:sp>
          <p:nvSpPr>
            <p:cNvPr id="67" name="Rectangle 67"/>
            <p:cNvSpPr/>
            <p:nvPr/>
          </p:nvSpPr>
          <p:spPr>
            <a:xfrm>
              <a:off x="571500" y="5638800"/>
              <a:ext cx="11049000" cy="590550"/>
            </a:xfrm>
            <a:prstGeom prst="roundRect">
              <a:avLst>
                <a:gd name="adj" fmla="val 19355"/>
              </a:avLst>
            </a:prstGeom>
            <a:solidFill>
              <a:srgbClr val="F4F7FC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71500" y="5638800"/>
              <a:ext cx="57150" cy="5905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827088" y="5839619"/>
              <a:ext cx="269875" cy="188912"/>
              <a:chOff x="827088" y="5839619"/>
              <a:chExt cx="269875" cy="188912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27088" y="5839619"/>
                <a:ext cx="269875" cy="134937"/>
              </a:xfrm>
              <a:custGeom>
                <a:avLst/>
                <a:gdLst/>
                <a:ahLst/>
                <a:cxnLst/>
                <a:rect l="l" t="t" r="r" b="b"/>
                <a:pathLst>
                  <a:path w="269875" h="134937">
                    <a:moveTo>
                      <a:pt x="269875" y="53975"/>
                    </a:moveTo>
                    <a:lnTo>
                      <a:pt x="134938" y="0"/>
                    </a:lnTo>
                    <a:lnTo>
                      <a:pt x="0" y="53975"/>
                    </a:lnTo>
                    <a:lnTo>
                      <a:pt x="134938" y="107950"/>
                    </a:lnTo>
                    <a:lnTo>
                      <a:pt x="269875" y="53975"/>
                    </a:lnTo>
                    <a:lnTo>
                      <a:pt x="269875" y="134937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81062" y="5915184"/>
                <a:ext cx="161925" cy="113347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13347">
                    <a:moveTo>
                      <a:pt x="0" y="0"/>
                    </a:moveTo>
                    <a:lnTo>
                      <a:pt x="0" y="72866"/>
                    </a:lnTo>
                    <a:cubicBezTo>
                      <a:pt x="0" y="95223"/>
                      <a:pt x="36248" y="113347"/>
                      <a:pt x="80962" y="113347"/>
                    </a:cubicBezTo>
                    <a:cubicBezTo>
                      <a:pt x="125677" y="113347"/>
                      <a:pt x="161925" y="95223"/>
                      <a:pt x="161925" y="72866"/>
                    </a:cubicBezTo>
                    <a:lnTo>
                      <a:pt x="161925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224915" y="58302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行业优先序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223962" y="6012656"/>
              <a:ext cx="2173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先高容错（教育 / 传媒 / 文旅）</a:t>
              </a:r>
              <a:endParaRPr lang="zh-CN" sz="112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77" name="Group 77"/>
            <p:cNvGrpSpPr/>
            <p:nvPr/>
          </p:nvGrpSpPr>
          <p:grpSpPr>
            <a:xfrm>
              <a:off x="5389562" y="5895975"/>
              <a:ext cx="155575" cy="133350"/>
              <a:chOff x="5389562" y="5895975"/>
              <a:chExt cx="155575" cy="13335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5389562" y="596265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478462" y="59626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478462" y="58959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19050">
                <a:solidFill>
                  <a:srgbClr val="6B7785"/>
                </a:solidFill>
              </a:ln>
            </p:spPr>
          </p:sp>
        </p:grpSp>
        <p:grpSp>
          <p:nvGrpSpPr>
            <p:cNvPr id="82" name="Group 82"/>
            <p:cNvGrpSpPr/>
            <p:nvPr/>
          </p:nvGrpSpPr>
          <p:grpSpPr>
            <a:xfrm>
              <a:off x="5850731" y="5825901"/>
              <a:ext cx="256381" cy="239143"/>
              <a:chOff x="5850731" y="5825901"/>
              <a:chExt cx="256381" cy="239143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5864225" y="5893594"/>
                <a:ext cx="134938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34938" h="161925">
                    <a:moveTo>
                      <a:pt x="0" y="161925"/>
                    </a:moveTo>
                    <a:cubicBezTo>
                      <a:pt x="15477" y="107680"/>
                      <a:pt x="26758" y="53611"/>
                      <a:pt x="26988" y="0"/>
                    </a:cubicBezTo>
                    <a:lnTo>
                      <a:pt x="107950" y="0"/>
                    </a:lnTo>
                    <a:cubicBezTo>
                      <a:pt x="108179" y="53611"/>
                      <a:pt x="119460" y="107680"/>
                      <a:pt x="134938" y="161925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5978922" y="5947569"/>
                <a:ext cx="87709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7709" h="107950">
                    <a:moveTo>
                      <a:pt x="0" y="0"/>
                    </a:moveTo>
                    <a:lnTo>
                      <a:pt x="60722" y="0"/>
                    </a:lnTo>
                    <a:cubicBezTo>
                      <a:pt x="61059" y="35246"/>
                      <a:pt x="72785" y="71463"/>
                      <a:pt x="87709" y="107950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5931694" y="5825901"/>
                <a:ext cx="161925" cy="2743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7435">
                    <a:moveTo>
                      <a:pt x="0" y="13717"/>
                    </a:moveTo>
                    <a:cubicBezTo>
                      <a:pt x="6223" y="5047"/>
                      <a:pt x="16318" y="0"/>
                      <a:pt x="26988" y="224"/>
                    </a:cubicBezTo>
                    <a:cubicBezTo>
                      <a:pt x="37657" y="0"/>
                      <a:pt x="47752" y="5047"/>
                      <a:pt x="53975" y="13717"/>
                    </a:cubicBezTo>
                    <a:cubicBezTo>
                      <a:pt x="60198" y="22387"/>
                      <a:pt x="70293" y="27435"/>
                      <a:pt x="80962" y="27211"/>
                    </a:cubicBezTo>
                    <a:cubicBezTo>
                      <a:pt x="91632" y="27435"/>
                      <a:pt x="101727" y="22387"/>
                      <a:pt x="107950" y="13717"/>
                    </a:cubicBezTo>
                    <a:cubicBezTo>
                      <a:pt x="114173" y="5047"/>
                      <a:pt x="124268" y="0"/>
                      <a:pt x="134937" y="224"/>
                    </a:cubicBezTo>
                    <a:cubicBezTo>
                      <a:pt x="145607" y="0"/>
                      <a:pt x="155702" y="5047"/>
                      <a:pt x="161925" y="13717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5850731" y="6055519"/>
                <a:ext cx="25638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6381" h="9525">
                    <a:moveTo>
                      <a:pt x="0" y="0"/>
                    </a:moveTo>
                    <a:lnTo>
                      <a:pt x="256381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6235065" y="58302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后高精度</a:t>
              </a:r>
              <a:endParaRPr lang="zh-CN" sz="105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34112" y="6012656"/>
              <a:ext cx="170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后高精度（工业 / 金融）</a:t>
              </a:r>
              <a:endParaRPr lang="zh-CN" sz="112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19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2" grpId="0"/>
      <p:bldP spid="52" grpId="0"/>
      <p:bldP spid="66" grpId="0"/>
      <p:bldP spid="8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A2A5E"/>
                </a:gs>
                <a:gs pos="60000">
                  <a:srgbClr val="0E367A"/>
                </a:gs>
                <a:gs pos="100000">
                  <a:srgbClr val="17365D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46BFE">
                    <a:alpha val="20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8393382" y="2981325"/>
            <a:ext cx="2960418" cy="3352800"/>
            <a:chOff x="8393382" y="2981325"/>
            <a:chExt cx="2960418" cy="3352800"/>
          </a:xfrm>
        </p:grpSpPr>
        <p:sp>
          <p:nvSpPr>
            <p:cNvPr id="5" name="TextBox 5"/>
            <p:cNvSpPr txBox="1"/>
            <p:nvPr/>
          </p:nvSpPr>
          <p:spPr>
            <a:xfrm>
              <a:off x="8393382" y="2981325"/>
              <a:ext cx="2960418" cy="3352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6500" b="1" dirty="0">
                  <a:solidFill>
                    <a:srgbClr val="FFFFFF">
                      <a:alphaMod val="1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</a:t>
              </a:r>
              <a:endParaRPr lang="zh-CN" sz="16500" b="1" dirty="0">
                <a:solidFill>
                  <a:srgbClr val="FFFFFF">
                    <a:alphaMod val="1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000" y="2667000"/>
            <a:ext cx="1200019" cy="338138"/>
            <a:chOff x="1143000" y="2667000"/>
            <a:chExt cx="1200019" cy="338138"/>
          </a:xfrm>
        </p:grpSpPr>
        <p:sp>
          <p:nvSpPr>
            <p:cNvPr id="7" name="Rectangle 7"/>
            <p:cNvSpPr/>
            <p:nvPr/>
          </p:nvSpPr>
          <p:spPr>
            <a:xfrm>
              <a:off x="1143000" y="2667000"/>
              <a:ext cx="57150" cy="2667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0E9F6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16355" y="2730818"/>
              <a:ext cx="10266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CHAPTER 05</a:t>
              </a:r>
              <a:endParaRPr lang="zh-CN" sz="1350" b="1" dirty="0">
                <a:solidFill>
                  <a:srgbClr val="518F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01090" y="3358515"/>
            <a:ext cx="2394109" cy="1213485"/>
            <a:chOff x="1101090" y="3358515"/>
            <a:chExt cx="2394109" cy="1213485"/>
          </a:xfrm>
        </p:grpSpPr>
        <p:sp>
          <p:nvSpPr>
            <p:cNvPr id="10" name="TextBox 10"/>
            <p:cNvSpPr txBox="1"/>
            <p:nvPr/>
          </p:nvSpPr>
          <p:spPr>
            <a:xfrm>
              <a:off x="1101090" y="3358515"/>
              <a:ext cx="239410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人才与组织</a:t>
              </a:r>
              <a:endParaRPr lang="zh-CN" sz="33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62050" y="3952875"/>
              <a:ext cx="2095500" cy="3810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23950" y="4267200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7E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价值在人，瓶颈也在人</a:t>
              </a:r>
              <a:endParaRPr lang="zh-CN" sz="1500" dirty="0">
                <a:solidFill>
                  <a:srgbClr val="B8C7E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30618" y="6257449"/>
            <a:ext cx="10311764" cy="198120"/>
            <a:chOff x="1130618" y="6257449"/>
            <a:chExt cx="10311764" cy="198120"/>
          </a:xfrm>
        </p:grpSpPr>
        <p:sp>
          <p:nvSpPr>
            <p:cNvPr id="14" name="TextBox 14"/>
            <p:cNvSpPr txBox="1"/>
            <p:nvPr/>
          </p:nvSpPr>
          <p:spPr>
            <a:xfrm>
              <a:off x="1130618" y="6257449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经委会汇报 · 第五章</a:t>
              </a:r>
              <a:endParaRPr lang="zh-CN" sz="975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82063" y="62574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 / 25</a:t>
              </a:r>
              <a:endParaRPr lang="zh-CN" sz="975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7035272" cy="1046798"/>
            <a:chOff x="542925" y="458152"/>
            <a:chExt cx="7035272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092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 · 人才与组织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703527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市场上几乎招不到，出路是内部转型 + 项目制培养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8950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复合人才极度稀缺，关键在现有角色（SA / 交付 / 行业专家）的转型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571625"/>
            <a:ext cx="5334000" cy="1571625"/>
            <a:chOff x="571500" y="1571625"/>
            <a:chExt cx="5334000" cy="1571625"/>
          </a:xfrm>
        </p:grpSpPr>
        <p:sp>
          <p:nvSpPr>
            <p:cNvPr id="8" name="Rectangle 8"/>
            <p:cNvSpPr/>
            <p:nvPr/>
          </p:nvSpPr>
          <p:spPr>
            <a:xfrm>
              <a:off x="571500" y="1571625"/>
              <a:ext cx="5334000" cy="1571625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F59E0B">
                  <a:alpha val="50000"/>
                </a:srgb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742950" y="1743075"/>
              <a:ext cx="419100" cy="419100"/>
            </a:xfrm>
            <a:prstGeom prst="ellipse">
              <a:avLst/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08409" y="1819291"/>
              <a:ext cx="288171" cy="247577"/>
              <a:chOff x="808409" y="1819291"/>
              <a:chExt cx="288171" cy="24757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52500" y="1909762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8409" y="1819291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52500" y="2009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0206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现实困境</a:t>
              </a:r>
              <a:endParaRPr lang="zh-CN" sz="975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96352" y="1960721"/>
              <a:ext cx="123334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不能全靠外招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5812" y="2336006"/>
              <a:ext cx="21813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强 FDE 高溢价、弱 FDE 普通化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5812" y="2602706"/>
              <a:ext cx="22488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真正的 FDE，市场上几乎招不到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5812" y="2869406"/>
              <a:ext cx="24063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外招成本高、文化融合难、流失快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571625"/>
            <a:ext cx="5334000" cy="1571625"/>
            <a:chOff x="6286500" y="1571625"/>
            <a:chExt cx="5334000" cy="1571625"/>
          </a:xfrm>
        </p:grpSpPr>
        <p:sp>
          <p:nvSpPr>
            <p:cNvPr id="20" name="Rectangle 20"/>
            <p:cNvSpPr/>
            <p:nvPr/>
          </p:nvSpPr>
          <p:spPr>
            <a:xfrm>
              <a:off x="6286500" y="1571625"/>
              <a:ext cx="5334000" cy="1571625"/>
            </a:xfrm>
            <a:prstGeom prst="roundRect">
              <a:avLst>
                <a:gd name="adj" fmla="val 7273"/>
              </a:avLst>
            </a:prstGeom>
            <a:solidFill>
              <a:srgbClr val="0052A6">
                <a:alpha val="4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457950" y="1743075"/>
              <a:ext cx="419100" cy="419100"/>
            </a:xfrm>
            <a:prstGeom prst="ellipse">
              <a:avLst/>
            </a:prstGeom>
            <a:solidFill>
              <a:srgbClr val="0052A6">
                <a:alpha val="12000"/>
              </a:srgbClr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538912" y="1824038"/>
              <a:ext cx="257175" cy="257175"/>
              <a:chOff x="6538912" y="1824038"/>
              <a:chExt cx="257175" cy="2571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567488" y="18240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38912" y="1995488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24650" y="1825895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753225" y="1997631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017068" y="17997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真正出路</a:t>
              </a:r>
              <a:endParaRPr lang="zh-CN" sz="975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11352" y="19607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内部转型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00812" y="2336006"/>
              <a:ext cx="28489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深耕行业的 SA 最接近完整 FDE 能力模型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00812" y="2602706"/>
              <a:ext cx="1806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交付、行业专家皆可转型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00812" y="2869406"/>
              <a:ext cx="1873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关键 = 意愿 + 培训 + 工具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54355" y="3378518"/>
            <a:ext cx="4982528" cy="274320"/>
            <a:chOff x="554355" y="3378518"/>
            <a:chExt cx="4982528" cy="274320"/>
          </a:xfrm>
        </p:grpSpPr>
        <p:sp>
          <p:nvSpPr>
            <p:cNvPr id="33" name="TextBox 33"/>
            <p:cNvSpPr txBox="1"/>
            <p:nvPr/>
          </p:nvSpPr>
          <p:spPr>
            <a:xfrm>
              <a:off x="554355" y="3378518"/>
              <a:ext cx="23025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培养是项目制，不是课堂制</a:t>
              </a:r>
              <a:endParaRPr lang="zh-CN" sz="13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29915" y="341090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在项目里长出来，不是在课堂里教出来</a:t>
              </a:r>
              <a:endParaRPr lang="zh-CN" sz="1050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10000" y="4333875"/>
            <a:ext cx="3962400" cy="1"/>
            <a:chOff x="3810000" y="4333875"/>
            <a:chExt cx="3962400" cy="1"/>
          </a:xfrm>
        </p:grpSpPr>
        <p:sp>
          <p:nvSpPr>
            <p:cNvPr id="36" name="Line 36"/>
            <p:cNvSpPr/>
            <p:nvPr/>
          </p:nvSpPr>
          <p:spPr>
            <a:xfrm>
              <a:off x="3810000" y="4333875"/>
              <a:ext cx="342900" cy="1"/>
            </a:xfrm>
            <a:prstGeom prst="line">
              <a:avLst/>
            </a:prstGeom>
            <a:noFill/>
            <a:ln w="28575">
              <a:solidFill>
                <a:srgbClr val="518FEC"/>
              </a:solidFill>
              <a:tailEnd type="triangle" w="lg" len="lg"/>
            </a:ln>
          </p:spPr>
        </p:sp>
        <p:sp>
          <p:nvSpPr>
            <p:cNvPr id="37" name="Line 37"/>
            <p:cNvSpPr/>
            <p:nvPr/>
          </p:nvSpPr>
          <p:spPr>
            <a:xfrm>
              <a:off x="7429500" y="4333875"/>
              <a:ext cx="342900" cy="1"/>
            </a:xfrm>
            <a:prstGeom prst="line">
              <a:avLst/>
            </a:prstGeom>
            <a:noFill/>
            <a:ln w="28575">
              <a:solidFill>
                <a:srgbClr val="518FEC"/>
              </a:solidFill>
              <a:tailEnd type="triangle" w="lg" len="lg"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571500" y="3667125"/>
            <a:ext cx="3238500" cy="1335881"/>
            <a:chOff x="571500" y="3667125"/>
            <a:chExt cx="3238500" cy="1335881"/>
          </a:xfrm>
        </p:grpSpPr>
        <p:sp>
          <p:nvSpPr>
            <p:cNvPr id="39" name="Rectangle 39"/>
            <p:cNvSpPr/>
            <p:nvPr/>
          </p:nvSpPr>
          <p:spPr>
            <a:xfrm>
              <a:off x="571500" y="3667125"/>
              <a:ext cx="3238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71500" y="366712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518FEC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62000" y="3848100"/>
              <a:ext cx="876300" cy="266700"/>
            </a:xfrm>
            <a:prstGeom prst="roundRect">
              <a:avLst>
                <a:gd name="adj" fmla="val 50000"/>
              </a:avLst>
            </a:prstGeom>
            <a:solidFill>
              <a:srgbClr val="518FEC">
                <a:alpha val="14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96454" y="3915728"/>
              <a:ext cx="607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18FE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0–3 个月</a:t>
              </a:r>
              <a:endParaRPr lang="zh-CN" sz="1050" b="1" dirty="0">
                <a:solidFill>
                  <a:srgbClr val="518FE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3902" y="4246721"/>
              <a:ext cx="63477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打基础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7712" y="4564856"/>
              <a:ext cx="1873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工具链 · 方法论 · 跟岗实习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7712" y="4774406"/>
              <a:ext cx="14162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建立 FDE 的基本手感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191000" y="3667125"/>
            <a:ext cx="3238500" cy="1335881"/>
            <a:chOff x="4191000" y="3667125"/>
            <a:chExt cx="3238500" cy="1335881"/>
          </a:xfrm>
        </p:grpSpPr>
        <p:sp>
          <p:nvSpPr>
            <p:cNvPr id="47" name="Rectangle 47"/>
            <p:cNvSpPr/>
            <p:nvPr/>
          </p:nvSpPr>
          <p:spPr>
            <a:xfrm>
              <a:off x="4191000" y="3667125"/>
              <a:ext cx="3238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4191000" y="366712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381500" y="3848100"/>
              <a:ext cx="1047750" cy="266700"/>
            </a:xfrm>
            <a:prstGeom prst="roundRect">
              <a:avLst>
                <a:gd name="adj" fmla="val 50000"/>
              </a:avLst>
            </a:prstGeom>
            <a:solidFill>
              <a:srgbClr val="246BFE">
                <a:alpha val="14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61249" y="3915728"/>
              <a:ext cx="6882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9–18 个月</a:t>
              </a:r>
              <a:endParaRPr lang="zh-CN" sz="1050" b="1" dirty="0">
                <a:solidFill>
                  <a:srgbClr val="246B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363402" y="424672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独立交付</a:t>
              </a:r>
              <a:endParaRPr lang="zh-CN" sz="14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67212" y="456485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独立带客户、端到端落地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367212" y="4774406"/>
              <a:ext cx="13712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成为可上战场的 FDE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810500" y="3667125"/>
            <a:ext cx="3238500" cy="1335881"/>
            <a:chOff x="7810500" y="3667125"/>
            <a:chExt cx="3238500" cy="1335881"/>
          </a:xfrm>
        </p:grpSpPr>
        <p:sp>
          <p:nvSpPr>
            <p:cNvPr id="55" name="Rectangle 55"/>
            <p:cNvSpPr/>
            <p:nvPr/>
          </p:nvSpPr>
          <p:spPr>
            <a:xfrm>
              <a:off x="7810500" y="3667125"/>
              <a:ext cx="3238500" cy="1333500"/>
            </a:xfrm>
            <a:prstGeom prst="roundRect">
              <a:avLst>
                <a:gd name="adj" fmla="val 8571"/>
              </a:avLst>
            </a:prstGeom>
            <a:solidFill>
              <a:srgbClr val="0052A6">
                <a:alpha val="5000"/>
              </a:srgbClr>
            </a:solidFill>
            <a:ln w="14288">
              <a:solidFill>
                <a:srgbClr val="0052A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7810500" y="3667125"/>
              <a:ext cx="3238500" cy="5715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001000" y="3848100"/>
              <a:ext cx="952500" cy="266700"/>
            </a:xfrm>
            <a:prstGeom prst="roundRect">
              <a:avLst>
                <a:gd name="adj" fmla="val 50000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73554" y="3915728"/>
              <a:ext cx="60739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18 个月+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82902" y="4246721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能定义问题</a:t>
              </a:r>
              <a:endParaRPr lang="zh-CN" sz="1425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86712" y="45648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从解决问题到定义问题</a:t>
              </a:r>
              <a:endParaRPr lang="zh-CN" sz="112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986712" y="47744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接近创业的能力</a:t>
              </a:r>
              <a:endParaRPr lang="zh-CN" sz="1125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71500" y="5191125"/>
            <a:ext cx="11049000" cy="609600"/>
            <a:chOff x="571500" y="5191125"/>
            <a:chExt cx="11049000" cy="609600"/>
          </a:xfrm>
        </p:grpSpPr>
        <p:sp>
          <p:nvSpPr>
            <p:cNvPr id="63" name="Rectangle 63"/>
            <p:cNvSpPr/>
            <p:nvPr/>
          </p:nvSpPr>
          <p:spPr>
            <a:xfrm>
              <a:off x="571500" y="5191125"/>
              <a:ext cx="11049000" cy="590550"/>
            </a:xfrm>
            <a:prstGeom prst="roundRect">
              <a:avLst>
                <a:gd name="adj" fmla="val 19355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71500" y="5191125"/>
              <a:ext cx="57150" cy="59055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25939" y="5360473"/>
              <a:ext cx="272162" cy="233823"/>
              <a:chOff x="825939" y="5360473"/>
              <a:chExt cx="272162" cy="233823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962025" y="5445919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5939" y="5360473"/>
                <a:ext cx="272162" cy="233823"/>
              </a:xfrm>
              <a:custGeom>
                <a:avLst/>
                <a:gdLst/>
                <a:ahLst/>
                <a:cxnLst/>
                <a:rect l="l" t="t" r="r" b="b"/>
                <a:pathLst>
                  <a:path w="272162" h="233823">
                    <a:moveTo>
                      <a:pt x="113997" y="12458"/>
                    </a:moveTo>
                    <a:lnTo>
                      <a:pt x="4616" y="195082"/>
                    </a:lnTo>
                    <a:cubicBezTo>
                      <a:pt x="28" y="203028"/>
                      <a:pt x="0" y="212812"/>
                      <a:pt x="4543" y="220784"/>
                    </a:cubicBezTo>
                    <a:cubicBezTo>
                      <a:pt x="9086" y="228756"/>
                      <a:pt x="17517" y="233720"/>
                      <a:pt x="26692" y="233823"/>
                    </a:cubicBezTo>
                    <a:lnTo>
                      <a:pt x="245480" y="233823"/>
                    </a:lnTo>
                    <a:cubicBezTo>
                      <a:pt x="254651" y="233717"/>
                      <a:pt x="263078" y="228755"/>
                      <a:pt x="267620" y="220788"/>
                    </a:cubicBezTo>
                    <a:cubicBezTo>
                      <a:pt x="272162" y="212820"/>
                      <a:pt x="272137" y="203041"/>
                      <a:pt x="267556" y="195096"/>
                    </a:cubicBezTo>
                    <a:lnTo>
                      <a:pt x="158175" y="12444"/>
                    </a:lnTo>
                    <a:cubicBezTo>
                      <a:pt x="153495" y="4719"/>
                      <a:pt x="145119" y="0"/>
                      <a:pt x="136086" y="0"/>
                    </a:cubicBezTo>
                    <a:cubicBezTo>
                      <a:pt x="127053" y="0"/>
                      <a:pt x="118677" y="4719"/>
                      <a:pt x="113997" y="12444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62025" y="55403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35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243965" y="536352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530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一线失血陷阱</a:t>
              </a:r>
              <a:endParaRPr lang="zh-CN" sz="1050" b="1" dirty="0">
                <a:solidFill>
                  <a:srgbClr val="B4530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242060" y="5556885"/>
              <a:ext cx="56871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警惕「干得好就调回总部」——刚培养成熟就被抽走，是 FDE 团队最大的隐性损耗</a:t>
              </a:r>
              <a:endParaRPr lang="zh-CN" sz="1200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21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2" grpId="0"/>
      <p:bldP spid="35" grpId="0"/>
      <p:bldP spid="38" grpId="0"/>
      <p:bldP spid="46" grpId="0"/>
      <p:bldP spid="54" grpId="0"/>
      <p:bldP spid="62" grpId="0"/>
      <p:bldP spid="7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782741" cy="1046798"/>
            <a:chOff x="542925" y="458152"/>
            <a:chExt cx="4782741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7985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 · 人才观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47827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彻底扭转「把人当资源」的旧理念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0E9F6E">
                    <a:alpha val="20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406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尊重、培养、吸引——让沉淀的经验真正算进绩效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476500" y="1804988"/>
            <a:ext cx="7239000" cy="2767012"/>
            <a:chOff x="2476500" y="1804988"/>
            <a:chExt cx="7239000" cy="2767012"/>
          </a:xfrm>
        </p:grpSpPr>
        <p:sp>
          <p:nvSpPr>
            <p:cNvPr id="8" name="TextBox 8"/>
            <p:cNvSpPr txBox="1"/>
            <p:nvPr/>
          </p:nvSpPr>
          <p:spPr>
            <a:xfrm>
              <a:off x="5317331" y="1804988"/>
              <a:ext cx="155733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strike="sngStrike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把人当资源</a:t>
              </a:r>
              <a:endParaRPr lang="zh-CN" sz="2250" strike="sngStrike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Polygon 9"/>
            <p:cNvSpPr/>
            <p:nvPr/>
          </p:nvSpPr>
          <p:spPr>
            <a:xfrm>
              <a:off x="5953125" y="2266950"/>
              <a:ext cx="285750" cy="323850"/>
            </a:xfrm>
            <a:custGeom>
              <a:avLst/>
              <a:gdLst/>
              <a:ahLst/>
              <a:cxnLst/>
              <a:rect l="l" t="t" r="r" b="b"/>
              <a:pathLst>
                <a:path w="285750" h="323850">
                  <a:moveTo>
                    <a:pt x="0" y="0"/>
                  </a:moveTo>
                  <a:lnTo>
                    <a:pt x="285750" y="0"/>
                  </a:lnTo>
                  <a:lnTo>
                    <a:pt x="142875" y="323850"/>
                  </a:lnTo>
                  <a:close/>
                </a:path>
              </a:pathLst>
            </a:custGeom>
            <a:solidFill>
              <a:srgbClr val="0052A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476500" y="2286000"/>
              <a:ext cx="7239000" cy="2286000"/>
            </a:xfrm>
            <a:prstGeom prst="ellipse">
              <a:avLst/>
            </a:prstGeom>
            <a:gradFill>
              <a:gsLst>
                <a:gs pos="0">
                  <a:srgbClr val="246BFE">
                    <a:alpha val="10000"/>
                  </a:srgbClr>
                </a:gs>
                <a:gs pos="100000">
                  <a:srgbClr val="246BFE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048000" y="2762250"/>
              <a:ext cx="6096000" cy="1428750"/>
            </a:xfrm>
            <a:prstGeom prst="roundRect">
              <a:avLst>
                <a:gd name="adj" fmla="val 10667"/>
              </a:avLst>
            </a:prstGeom>
            <a:solidFill>
              <a:srgbClr val="0052A6">
                <a:alpha val="6000"/>
              </a:srgbClr>
            </a:solidFill>
            <a:ln w="19050">
              <a:solidFill>
                <a:srgbClr val="0052A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463653" y="3038475"/>
              <a:ext cx="3264694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5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把人当资产</a:t>
              </a:r>
              <a:endParaRPr lang="zh-CN" sz="450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0" y="3714750"/>
              <a:ext cx="1524000" cy="28575"/>
            </a:xfrm>
            <a:prstGeom prst="roundRect">
              <a:avLst>
                <a:gd name="adj" fmla="val 50000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91694" y="3854768"/>
              <a:ext cx="26086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尊重人才 · 培养人才 · 吸引人才</a:t>
              </a:r>
              <a:endParaRPr lang="zh-CN" sz="1350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6" name="Line 16"/>
          <p:cNvSpPr/>
          <p:nvPr/>
        </p:nvSpPr>
        <p:spPr>
          <a:xfrm>
            <a:off x="1905000" y="4714875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E3E9F2"/>
            </a:solidFill>
          </a:ln>
        </p:spPr>
      </p:sp>
      <p:grpSp>
        <p:nvGrpSpPr>
          <p:cNvPr id="20" name="Group 20"/>
          <p:cNvGrpSpPr/>
          <p:nvPr/>
        </p:nvGrpSpPr>
        <p:grpSpPr>
          <a:xfrm>
            <a:off x="2249091" y="4989671"/>
            <a:ext cx="1978819" cy="794385"/>
            <a:chOff x="2249091" y="4989671"/>
            <a:chExt cx="1978819" cy="794385"/>
          </a:xfrm>
        </p:grpSpPr>
        <p:sp>
          <p:nvSpPr>
            <p:cNvPr id="17" name="TextBox 17"/>
            <p:cNvSpPr txBox="1"/>
            <p:nvPr/>
          </p:nvSpPr>
          <p:spPr>
            <a:xfrm>
              <a:off x="2821353" y="49896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机制保障</a:t>
              </a:r>
              <a:endParaRPr lang="zh-CN" sz="1425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37877" y="53268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双轨绩效 + 内部结算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49091" y="55554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让沉淀、跨客户复用算进绩效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1" name="Line 21"/>
          <p:cNvSpPr/>
          <p:nvPr/>
        </p:nvSpPr>
        <p:spPr>
          <a:xfrm>
            <a:off x="6096000" y="4953000"/>
            <a:ext cx="9525" cy="857250"/>
          </a:xfrm>
          <a:custGeom>
            <a:avLst/>
            <a:gdLst/>
            <a:ahLst/>
            <a:cxnLst/>
            <a:rect l="l" t="t" r="r" b="b"/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/>
          <a:ln w="9525">
            <a:solidFill>
              <a:srgbClr val="E3E9F2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7866578" y="4989671"/>
            <a:ext cx="2173843" cy="794385"/>
            <a:chOff x="7866578" y="4989671"/>
            <a:chExt cx="2173843" cy="794385"/>
          </a:xfrm>
        </p:grpSpPr>
        <p:sp>
          <p:nvSpPr>
            <p:cNvPr id="22" name="TextBox 22"/>
            <p:cNvSpPr txBox="1"/>
            <p:nvPr/>
          </p:nvSpPr>
          <p:spPr>
            <a:xfrm>
              <a:off x="8137303" y="4989671"/>
              <a:ext cx="16323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能力越往上越值钱</a:t>
              </a:r>
              <a:endParaRPr lang="zh-CN" sz="1425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66578" y="5326856"/>
              <a:ext cx="2173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行业洞察 · 客户信任 · 组织推动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0393" y="5555456"/>
              <a:ext cx="11462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这些 AI 替代不了</a:t>
              </a:r>
              <a:endParaRPr lang="zh-CN" sz="112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22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6499705" cy="1046798"/>
            <a:chOff x="542925" y="458152"/>
            <a:chExt cx="6499705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10925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 · 人才与组织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649970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懂业务、懂组织、懂指挥 AI 的人，不会被取代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44630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既要讲 AI 的革新力，也要安抚焦虑——AI 不会取代能驾驭它的人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13503" y="2075498"/>
            <a:ext cx="1849993" cy="1720214"/>
            <a:chOff x="2313503" y="2075498"/>
            <a:chExt cx="1849993" cy="1720214"/>
          </a:xfrm>
        </p:grpSpPr>
        <p:sp>
          <p:nvSpPr>
            <p:cNvPr id="8" name="TextBox 8"/>
            <p:cNvSpPr txBox="1"/>
            <p:nvPr/>
          </p:nvSpPr>
          <p:spPr>
            <a:xfrm>
              <a:off x="2693670" y="2075498"/>
              <a:ext cx="108966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工程执行</a:t>
              </a:r>
              <a:endParaRPr lang="zh-CN" sz="1950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38801" y="2484120"/>
              <a:ext cx="39939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8FA3C4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↓</a:t>
              </a:r>
              <a:endParaRPr lang="zh-CN" sz="3900" b="1" dirty="0">
                <a:solidFill>
                  <a:srgbClr val="8FA3C4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13503" y="3106102"/>
              <a:ext cx="18499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越来越便宜</a:t>
              </a:r>
              <a:endParaRPr lang="zh-CN" sz="2550" b="1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24602" y="35823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995A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让执行商品化</a:t>
              </a:r>
              <a:endParaRPr lang="zh-CN" sz="1050" dirty="0">
                <a:solidFill>
                  <a:srgbClr val="8995A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3" name="Line 13"/>
          <p:cNvSpPr/>
          <p:nvPr/>
        </p:nvSpPr>
        <p:spPr>
          <a:xfrm>
            <a:off x="6096000" y="1952625"/>
            <a:ext cx="9525" cy="1905000"/>
          </a:xfrm>
          <a:custGeom>
            <a:avLst/>
            <a:gdLst/>
            <a:ahLst/>
            <a:cxnLst/>
            <a:rect l="l" t="t" r="r" b="b"/>
            <a:pathLst>
              <a:path w="9525"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14288">
            <a:solidFill>
              <a:srgbClr val="E3E9F2"/>
            </a:solidFill>
            <a:prstDash val="dash"/>
          </a:ln>
        </p:spPr>
      </p:sp>
      <p:sp>
        <p:nvSpPr>
          <p:cNvPr id="14" name="Ellipse 14"/>
          <p:cNvSpPr/>
          <p:nvPr/>
        </p:nvSpPr>
        <p:spPr>
          <a:xfrm>
            <a:off x="5848350" y="2657475"/>
            <a:ext cx="495300" cy="495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2A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980789" y="2786062"/>
            <a:ext cx="23042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≠</a:t>
            </a:r>
            <a:endParaRPr lang="zh-CN" sz="2250" b="1" dirty="0">
              <a:solidFill>
                <a:srgbClr val="0052A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8028503" y="2075498"/>
            <a:ext cx="1849993" cy="1720214"/>
            <a:chOff x="8028503" y="2075498"/>
            <a:chExt cx="1849993" cy="1720214"/>
          </a:xfrm>
        </p:grpSpPr>
        <p:sp>
          <p:nvSpPr>
            <p:cNvPr id="16" name="TextBox 16"/>
            <p:cNvSpPr txBox="1"/>
            <p:nvPr/>
          </p:nvSpPr>
          <p:spPr>
            <a:xfrm>
              <a:off x="8382667" y="20754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判断能力</a:t>
              </a:r>
              <a:endParaRPr lang="zh-CN" sz="19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53801" y="2484120"/>
              <a:ext cx="39939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↑</a:t>
              </a:r>
              <a:endParaRPr lang="zh-CN" sz="390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28503" y="3106102"/>
              <a:ext cx="184999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越来越稀缺</a:t>
              </a:r>
              <a:endParaRPr lang="zh-CN" sz="25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79620" y="3582352"/>
              <a:ext cx="747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替代不了</a:t>
              </a:r>
              <a:endParaRPr lang="zh-CN" sz="105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4191000"/>
            <a:ext cx="8572500" cy="1143000"/>
            <a:chOff x="1809750" y="4191000"/>
            <a:chExt cx="8572500" cy="1143000"/>
          </a:xfrm>
        </p:grpSpPr>
        <p:sp>
          <p:nvSpPr>
            <p:cNvPr id="21" name="Rectangle 21"/>
            <p:cNvSpPr/>
            <p:nvPr/>
          </p:nvSpPr>
          <p:spPr>
            <a:xfrm>
              <a:off x="1809750" y="4191000"/>
              <a:ext cx="8572500" cy="1143000"/>
            </a:xfrm>
            <a:prstGeom prst="roundRect">
              <a:avLst>
                <a:gd name="adj" fmla="val 13333"/>
              </a:avLst>
            </a:prstGeom>
            <a:solidFill>
              <a:srgbClr val="0052A6">
                <a:alpha val="6000"/>
              </a:srgbClr>
            </a:solidFill>
            <a:ln w="19050">
              <a:solidFill>
                <a:srgbClr val="0052A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393871" y="4459605"/>
              <a:ext cx="740425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前线角色：从「写代码的人」→「指挥 AI 完成业务的人」</a:t>
              </a:r>
              <a:endParaRPr lang="zh-CN" sz="210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38125" y="4902518"/>
              <a:ext cx="37157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懂业务、懂组织、懂指挥 AI 的人，不会被取代</a:t>
              </a:r>
              <a:endParaRPr lang="zh-CN" sz="1350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112389" y="5585460"/>
            <a:ext cx="59672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模型再强，仍需知道行业如何运转、客户如何决策——把知识变成组织资产的人最值钱</a:t>
            </a:r>
            <a:endParaRPr lang="zh-CN" sz="1200" dirty="0">
              <a:solidFill>
                <a:srgbClr val="5E6A7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23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3100197" cy="1046798"/>
            <a:chOff x="542925" y="458152"/>
            <a:chExt cx="3100197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9308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收束 · 四句话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226242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四句话收束全场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518FEC">
                    <a:alpha val="15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0868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潜力、真相、路径、人才——一句话一个判断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71500" y="1710690"/>
            <a:ext cx="11049000" cy="894398"/>
            <a:chOff x="571500" y="1710690"/>
            <a:chExt cx="11049000" cy="894398"/>
          </a:xfrm>
        </p:grpSpPr>
        <p:sp>
          <p:nvSpPr>
            <p:cNvPr id="8" name="Ellipse 8"/>
            <p:cNvSpPr/>
            <p:nvPr/>
          </p:nvSpPr>
          <p:spPr>
            <a:xfrm>
              <a:off x="876300" y="1733550"/>
              <a:ext cx="533400" cy="533400"/>
            </a:xfrm>
            <a:prstGeom prst="ellipse">
              <a:avLst/>
            </a:prstGeom>
            <a:solidFill>
              <a:srgbClr val="0052A6">
                <a:alpha val="12000"/>
              </a:srgbClr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71550" y="1828800"/>
              <a:ext cx="342900" cy="342900"/>
              <a:chOff x="971550" y="1828800"/>
              <a:chExt cx="342900" cy="3429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23950" y="19812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7750" y="19050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71550" y="18288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171450"/>
                    </a:moveTo>
                    <a:cubicBezTo>
                      <a:pt x="0" y="266139"/>
                      <a:pt x="76761" y="342900"/>
                      <a:pt x="171450" y="342900"/>
                    </a:cubicBezTo>
                    <a:cubicBezTo>
                      <a:pt x="266139" y="342900"/>
                      <a:pt x="342900" y="266139"/>
                      <a:pt x="342900" y="171450"/>
                    </a:cubicBezTo>
                    <a:cubicBezTo>
                      <a:pt x="342900" y="76761"/>
                      <a:pt x="266139" y="0"/>
                      <a:pt x="171450" y="0"/>
                    </a:cubicBezTo>
                    <a:cubicBezTo>
                      <a:pt x="76761" y="0"/>
                      <a:pt x="0" y="76761"/>
                      <a:pt x="0" y="171450"/>
                    </a:cubicBez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672590" y="17106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潜力</a:t>
              </a:r>
              <a:endParaRPr lang="zh-CN" sz="180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79258" y="2072164"/>
              <a:ext cx="32882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 落地的最后一公里，有真实的高销毛逻辑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09521" y="1721168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350" b="1" dirty="0">
                  <a:solidFill>
                    <a:srgbClr val="0052A6">
                      <a:alphaMod val="1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4350" b="1" dirty="0">
                <a:solidFill>
                  <a:srgbClr val="0052A6">
                    <a:alphaMod val="1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Line 16"/>
            <p:cNvSpPr/>
            <p:nvPr/>
          </p:nvSpPr>
          <p:spPr>
            <a:xfrm>
              <a:off x="571500" y="24955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71500" y="2806065"/>
            <a:ext cx="11049000" cy="894397"/>
            <a:chOff x="571500" y="2806065"/>
            <a:chExt cx="11049000" cy="894397"/>
          </a:xfrm>
        </p:grpSpPr>
        <p:sp>
          <p:nvSpPr>
            <p:cNvPr id="18" name="Ellipse 18"/>
            <p:cNvSpPr/>
            <p:nvPr/>
          </p:nvSpPr>
          <p:spPr>
            <a:xfrm>
              <a:off x="876300" y="2828925"/>
              <a:ext cx="533400" cy="533400"/>
            </a:xfrm>
            <a:prstGeom prst="ellipse">
              <a:avLst/>
            </a:prstGeom>
            <a:solidFill>
              <a:srgbClr val="F59E0B">
                <a:alpha val="14000"/>
              </a:srgbClr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50879" y="2917846"/>
              <a:ext cx="384228" cy="330103"/>
              <a:chOff x="950879" y="2917846"/>
              <a:chExt cx="384228" cy="33010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143000" y="303847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50879" y="2917846"/>
                <a:ext cx="384228" cy="330103"/>
              </a:xfrm>
              <a:custGeom>
                <a:avLst/>
                <a:gdLst/>
                <a:ahLst/>
                <a:cxnLst/>
                <a:rect l="l" t="t" r="r" b="b"/>
                <a:pathLst>
                  <a:path w="384228" h="330103">
                    <a:moveTo>
                      <a:pt x="160937" y="17587"/>
                    </a:moveTo>
                    <a:lnTo>
                      <a:pt x="6517" y="275410"/>
                    </a:lnTo>
                    <a:cubicBezTo>
                      <a:pt x="40" y="286628"/>
                      <a:pt x="0" y="300440"/>
                      <a:pt x="6413" y="311695"/>
                    </a:cubicBezTo>
                    <a:cubicBezTo>
                      <a:pt x="12827" y="322950"/>
                      <a:pt x="24730" y="329957"/>
                      <a:pt x="37683" y="330103"/>
                    </a:cubicBezTo>
                    <a:lnTo>
                      <a:pt x="346560" y="330103"/>
                    </a:lnTo>
                    <a:cubicBezTo>
                      <a:pt x="359507" y="329953"/>
                      <a:pt x="371404" y="322949"/>
                      <a:pt x="377816" y="311700"/>
                    </a:cubicBezTo>
                    <a:cubicBezTo>
                      <a:pt x="384228" y="300451"/>
                      <a:pt x="384194" y="286646"/>
                      <a:pt x="377726" y="275429"/>
                    </a:cubicBezTo>
                    <a:lnTo>
                      <a:pt x="223306" y="17568"/>
                    </a:lnTo>
                    <a:cubicBezTo>
                      <a:pt x="216699" y="6662"/>
                      <a:pt x="204873" y="0"/>
                      <a:pt x="192121" y="0"/>
                    </a:cubicBezTo>
                    <a:cubicBezTo>
                      <a:pt x="179370" y="0"/>
                      <a:pt x="167544" y="6662"/>
                      <a:pt x="160937" y="17568"/>
                    </a:cubicBez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143000" y="31718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90" y="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672590" y="2806065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59E0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真相</a:t>
              </a:r>
              <a:endParaRPr lang="zh-CN" sz="1800" b="1" dirty="0">
                <a:solidFill>
                  <a:srgbClr val="F59E0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79258" y="3167539"/>
              <a:ext cx="49800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新兴行业，国内国外不同，难在人、周期长——别让它变成经营压力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09521" y="2816542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350" b="1" dirty="0">
                  <a:solidFill>
                    <a:srgbClr val="F59E0B">
                      <a:alphaMod val="12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4350" b="1" dirty="0">
                <a:solidFill>
                  <a:srgbClr val="F59E0B">
                    <a:alphaMod val="12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571500" y="35909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" y="3901440"/>
            <a:ext cx="11049000" cy="894398"/>
            <a:chOff x="571500" y="3901440"/>
            <a:chExt cx="11049000" cy="894398"/>
          </a:xfrm>
        </p:grpSpPr>
        <p:sp>
          <p:nvSpPr>
            <p:cNvPr id="28" name="Ellipse 28"/>
            <p:cNvSpPr/>
            <p:nvPr/>
          </p:nvSpPr>
          <p:spPr>
            <a:xfrm>
              <a:off x="876300" y="3924300"/>
              <a:ext cx="533400" cy="533400"/>
            </a:xfrm>
            <a:prstGeom prst="ellipse">
              <a:avLst/>
            </a:prstGeom>
            <a:solidFill>
              <a:srgbClr val="246BFE">
                <a:alpha val="12000"/>
              </a:srgbClr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971550" y="4019550"/>
              <a:ext cx="342900" cy="342900"/>
              <a:chOff x="971550" y="4019550"/>
              <a:chExt cx="342900" cy="3429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971550" y="42862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238250" y="40195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38100" y="76200"/>
                    </a:move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  <a:cubicBezTo>
                      <a:pt x="0" y="59142"/>
                      <a:pt x="17058" y="76200"/>
                      <a:pt x="38100" y="762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09650" y="4057650"/>
                <a:ext cx="28575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66700">
                    <a:moveTo>
                      <a:pt x="114300" y="266700"/>
                    </a:moveTo>
                    <a:lnTo>
                      <a:pt x="219075" y="266700"/>
                    </a:lnTo>
                    <a:cubicBezTo>
                      <a:pt x="255899" y="266700"/>
                      <a:pt x="285750" y="236849"/>
                      <a:pt x="285750" y="200025"/>
                    </a:cubicBezTo>
                    <a:cubicBezTo>
                      <a:pt x="285750" y="163201"/>
                      <a:pt x="255899" y="133350"/>
                      <a:pt x="219075" y="133350"/>
                    </a:cubicBezTo>
                    <a:lnTo>
                      <a:pt x="66675" y="133350"/>
                    </a:lnTo>
                    <a:cubicBezTo>
                      <a:pt x="29851" y="133350"/>
                      <a:pt x="0" y="103499"/>
                      <a:pt x="0" y="66675"/>
                    </a:cubicBezTo>
                    <a:cubicBezTo>
                      <a:pt x="0" y="29851"/>
                      <a:pt x="29851" y="0"/>
                      <a:pt x="66675" y="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672590" y="390144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路径</a:t>
              </a:r>
              <a:endParaRPr lang="zh-CN" sz="1800" b="1" dirty="0">
                <a:solidFill>
                  <a:srgbClr val="246B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679258" y="4262914"/>
              <a:ext cx="46399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先验证、先沉淀、先打标杆——原厂打样、伙伴复制、先易后难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609521" y="3911918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350" b="1" dirty="0">
                  <a:solidFill>
                    <a:srgbClr val="246BFE">
                      <a:alphaMod val="1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4350" b="1" dirty="0">
                <a:solidFill>
                  <a:srgbClr val="246BFE">
                    <a:alphaMod val="1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571500" y="4686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76300" y="4996815"/>
            <a:ext cx="10513695" cy="894397"/>
            <a:chOff x="876300" y="4996815"/>
            <a:chExt cx="10513695" cy="894397"/>
          </a:xfrm>
        </p:grpSpPr>
        <p:sp>
          <p:nvSpPr>
            <p:cNvPr id="38" name="Ellipse 38"/>
            <p:cNvSpPr/>
            <p:nvPr/>
          </p:nvSpPr>
          <p:spPr>
            <a:xfrm>
              <a:off x="876300" y="5019675"/>
              <a:ext cx="533400" cy="533400"/>
            </a:xfrm>
            <a:prstGeom prst="ellipse">
              <a:avLst/>
            </a:prstGeom>
            <a:solidFill>
              <a:srgbClr val="0E9F6E">
                <a:alpha val="14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71550" y="5114925"/>
              <a:ext cx="342900" cy="342900"/>
              <a:chOff x="971550" y="5114925"/>
              <a:chExt cx="342900" cy="3429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009650" y="511492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71550" y="5343525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152400" y="0"/>
                    </a:lnTo>
                    <a:cubicBezTo>
                      <a:pt x="194484" y="0"/>
                      <a:pt x="228600" y="34116"/>
                      <a:pt x="228600" y="76200"/>
                    </a:cubicBezTo>
                    <a:lnTo>
                      <a:pt x="228600" y="11430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219200" y="5117402"/>
                <a:ext cx="57299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57299" h="147638">
                    <a:moveTo>
                      <a:pt x="0" y="0"/>
                    </a:moveTo>
                    <a:cubicBezTo>
                      <a:pt x="33717" y="8633"/>
                      <a:pt x="57299" y="39014"/>
                      <a:pt x="57299" y="73819"/>
                    </a:cubicBezTo>
                    <a:cubicBezTo>
                      <a:pt x="57299" y="108623"/>
                      <a:pt x="33717" y="139005"/>
                      <a:pt x="0" y="147638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57300" y="5346382"/>
                <a:ext cx="57150" cy="111443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1443">
                    <a:moveTo>
                      <a:pt x="57150" y="111443"/>
                    </a:moveTo>
                    <a:lnTo>
                      <a:pt x="57150" y="73343"/>
                    </a:lnTo>
                    <a:cubicBezTo>
                      <a:pt x="56951" y="38759"/>
                      <a:pt x="33486" y="8646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672590" y="4996815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人才</a:t>
              </a:r>
              <a:endParaRPr lang="zh-CN" sz="1800" b="1" dirty="0">
                <a:solidFill>
                  <a:srgbClr val="0E9F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79258" y="5358289"/>
              <a:ext cx="46654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从「把人当资源」转向「把人当资产」——AI 不取代驾驭它的人</a:t>
              </a:r>
              <a:endParaRPr lang="zh-CN" sz="1275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609521" y="5007292"/>
              <a:ext cx="780474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350" b="1" dirty="0">
                  <a:solidFill>
                    <a:srgbClr val="0E9F6E">
                      <a:alphaMod val="12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4350" b="1" dirty="0">
                <a:solidFill>
                  <a:srgbClr val="0E9F6E">
                    <a:alphaMod val="12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5886450"/>
            <a:ext cx="11049000" cy="495300"/>
            <a:chOff x="571500" y="5886450"/>
            <a:chExt cx="11049000" cy="495300"/>
          </a:xfrm>
        </p:grpSpPr>
        <p:sp>
          <p:nvSpPr>
            <p:cNvPr id="48" name="Rectangle 48"/>
            <p:cNvSpPr/>
            <p:nvPr/>
          </p:nvSpPr>
          <p:spPr>
            <a:xfrm>
              <a:off x="571500" y="5886450"/>
              <a:ext cx="11049000" cy="495300"/>
            </a:xfrm>
            <a:prstGeom prst="roundRect">
              <a:avLst>
                <a:gd name="adj" fmla="val 23077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743461" y="6046946"/>
              <a:ext cx="470507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FDE 值得战略投入 · 战略重视 · 节奏稳妥 · 人才优先</a:t>
              </a:r>
              <a:endParaRPr lang="zh-CN" sz="14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241476" y="6483191"/>
            <a:ext cx="3895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24 / 25</a:t>
            </a:r>
            <a:endParaRPr lang="zh-CN" sz="825" dirty="0">
              <a:solidFill>
                <a:srgbClr val="6B778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37" grpId="0"/>
      <p:bldP spid="47" grpId="0"/>
      <p:bldP spid="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42925" y="458152"/>
            <a:ext cx="4782741" cy="1046798"/>
            <a:chOff x="542925" y="458152"/>
            <a:chExt cx="4782741" cy="1046798"/>
          </a:xfrm>
        </p:grpSpPr>
        <p:sp>
          <p:nvSpPr>
            <p:cNvPr id="3" name="TextBox 3"/>
            <p:cNvSpPr txBox="1"/>
            <p:nvPr/>
          </p:nvSpPr>
          <p:spPr>
            <a:xfrm>
              <a:off x="558165" y="458152"/>
              <a:ext cx="9308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收尾 · 下一步</a:t>
              </a:r>
              <a:endParaRPr lang="zh-CN" sz="1050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42925" y="709612"/>
              <a:ext cx="4782741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从「认知拉齐」走向「具体行动」</a:t>
              </a:r>
              <a:endParaRPr lang="zh-CN" sz="225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1085850"/>
              <a:ext cx="2286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46BFE"/>
                </a:gs>
                <a:gs pos="100000">
                  <a:srgbClr val="0E9F6E">
                    <a:alpha val="20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56260" y="1261110"/>
              <a:ext cx="38869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三个起步动作，方向性推进——具体经营方案留后续专题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1500" y="1762125"/>
            <a:ext cx="3238500" cy="3762375"/>
            <a:chOff x="571500" y="1762125"/>
            <a:chExt cx="3238500" cy="3762375"/>
          </a:xfrm>
        </p:grpSpPr>
        <p:sp>
          <p:nvSpPr>
            <p:cNvPr id="8" name="Rectangle 8"/>
            <p:cNvSpPr/>
            <p:nvPr/>
          </p:nvSpPr>
          <p:spPr>
            <a:xfrm>
              <a:off x="571500" y="1762125"/>
              <a:ext cx="3238500" cy="3762375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1952625"/>
              <a:ext cx="609600" cy="66675"/>
            </a:xfrm>
            <a:prstGeom prst="roundRect">
              <a:avLst>
                <a:gd name="adj" fmla="val 42857"/>
              </a:avLst>
            </a:prstGeom>
            <a:solidFill>
              <a:srgbClr val="0052A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2950" y="2085975"/>
              <a:ext cx="80738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052A6">
                      <a:alphaMod val="14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4500" b="1" dirty="0">
                <a:solidFill>
                  <a:srgbClr val="0052A6">
                    <a:alphaMod val="14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3048000" y="2000250"/>
              <a:ext cx="381000" cy="266700"/>
              <a:chOff x="3048000" y="2000250"/>
              <a:chExt cx="381000" cy="2667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048000" y="2000250"/>
                <a:ext cx="381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0">
                    <a:moveTo>
                      <a:pt x="381000" y="76200"/>
                    </a:moveTo>
                    <a:lnTo>
                      <a:pt x="190500" y="0"/>
                    </a:lnTo>
                    <a:lnTo>
                      <a:pt x="0" y="76200"/>
                    </a:lnTo>
                    <a:lnTo>
                      <a:pt x="190500" y="152400"/>
                    </a:lnTo>
                    <a:lnTo>
                      <a:pt x="381000" y="76200"/>
                    </a:lnTo>
                    <a:lnTo>
                      <a:pt x="381000" y="19050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124200" y="2106930"/>
                <a:ext cx="22860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60020">
                    <a:moveTo>
                      <a:pt x="0" y="0"/>
                    </a:moveTo>
                    <a:lnTo>
                      <a:pt x="0" y="102870"/>
                    </a:lnTo>
                    <a:cubicBezTo>
                      <a:pt x="0" y="134433"/>
                      <a:pt x="51174" y="160020"/>
                      <a:pt x="114300" y="160020"/>
                    </a:cubicBezTo>
                    <a:cubicBezTo>
                      <a:pt x="177426" y="160020"/>
                      <a:pt x="228600" y="134433"/>
                      <a:pt x="228600" y="102870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0052A6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8192" y="27855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验证试点</a:t>
              </a:r>
              <a:endParaRPr lang="zh-CN" sz="17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800100" y="31623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4860" y="3394710"/>
              <a:ext cx="16466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选 1–2 个高容错行业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4860" y="3699510"/>
              <a:ext cx="14946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教育 / 传媒 / 文旅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4860" y="4004310"/>
              <a:ext cx="14466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跑出可复制的标杆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0100" y="46672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0052A6">
                <a:alpha val="7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73592" y="4800124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052A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第一步</a:t>
              </a:r>
              <a:endParaRPr lang="zh-CN" sz="975" b="1" dirty="0">
                <a:solidFill>
                  <a:srgbClr val="0052A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39468" y="4994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先打标杆</a:t>
              </a:r>
              <a:endParaRPr lang="zh-CN" sz="12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76750" y="1762125"/>
            <a:ext cx="3238500" cy="3762375"/>
            <a:chOff x="4476750" y="1762125"/>
            <a:chExt cx="3238500" cy="3762375"/>
          </a:xfrm>
        </p:grpSpPr>
        <p:sp>
          <p:nvSpPr>
            <p:cNvPr id="23" name="Rectangle 23"/>
            <p:cNvSpPr/>
            <p:nvPr/>
          </p:nvSpPr>
          <p:spPr>
            <a:xfrm>
              <a:off x="4476750" y="1762125"/>
              <a:ext cx="3238500" cy="3762375"/>
            </a:xfrm>
            <a:prstGeom prst="roundRect">
              <a:avLst>
                <a:gd name="adj" fmla="val 3529"/>
              </a:avLst>
            </a:prstGeom>
            <a:solidFill>
              <a:srgbClr val="FFFFFF"/>
            </a:solidFill>
            <a:ln w="9525">
              <a:solidFill>
                <a:srgbClr val="E3E9F2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705350" y="1952625"/>
              <a:ext cx="609600" cy="66675"/>
            </a:xfrm>
            <a:prstGeom prst="roundRect">
              <a:avLst>
                <a:gd name="adj" fmla="val 42857"/>
              </a:avLst>
            </a:prstGeom>
            <a:solidFill>
              <a:srgbClr val="246BF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48200" y="2085975"/>
              <a:ext cx="80738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246BFE">
                      <a:alphaMod val="14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4500" b="1" dirty="0">
                <a:solidFill>
                  <a:srgbClr val="246BFE">
                    <a:alphaMod val="14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972300" y="1962150"/>
              <a:ext cx="342900" cy="342900"/>
              <a:chOff x="6972300" y="1962150"/>
              <a:chExt cx="342900" cy="3429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010400" y="19621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76200"/>
                    </a:moveTo>
                    <a:cubicBezTo>
                      <a:pt x="0" y="118284"/>
                      <a:pt x="34116" y="152400"/>
                      <a:pt x="76200" y="152400"/>
                    </a:cubicBezTo>
                    <a:cubicBezTo>
                      <a:pt x="118284" y="152400"/>
                      <a:pt x="152400" y="118284"/>
                      <a:pt x="152400" y="76200"/>
                    </a:cubicBezTo>
                    <a:cubicBezTo>
                      <a:pt x="152400" y="34116"/>
                      <a:pt x="118284" y="0"/>
                      <a:pt x="76200" y="0"/>
                    </a:cubicBezTo>
                    <a:cubicBezTo>
                      <a:pt x="34116" y="0"/>
                      <a:pt x="0" y="34116"/>
                      <a:pt x="0" y="7620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972300" y="219075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lnTo>
                      <a:pt x="152400" y="0"/>
                    </a:lnTo>
                    <a:cubicBezTo>
                      <a:pt x="194484" y="0"/>
                      <a:pt x="228600" y="34116"/>
                      <a:pt x="228600" y="76200"/>
                    </a:cubicBezTo>
                    <a:lnTo>
                      <a:pt x="228600" y="114300"/>
                    </a:ln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219950" y="1964626"/>
                <a:ext cx="57299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57299" h="147638">
                    <a:moveTo>
                      <a:pt x="0" y="0"/>
                    </a:moveTo>
                    <a:cubicBezTo>
                      <a:pt x="33717" y="8633"/>
                      <a:pt x="57299" y="39014"/>
                      <a:pt x="57299" y="73819"/>
                    </a:cubicBezTo>
                    <a:cubicBezTo>
                      <a:pt x="57299" y="108623"/>
                      <a:pt x="33717" y="139005"/>
                      <a:pt x="0" y="147638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258050" y="2193608"/>
                <a:ext cx="57150" cy="11144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11442">
                    <a:moveTo>
                      <a:pt x="57150" y="111442"/>
                    </a:moveTo>
                    <a:lnTo>
                      <a:pt x="57150" y="73342"/>
                    </a:lnTo>
                    <a:cubicBezTo>
                      <a:pt x="56951" y="38759"/>
                      <a:pt x="33486" y="8646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246BFE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4683442" y="27855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人才盘点</a:t>
              </a:r>
              <a:endParaRPr lang="zh-CN" sz="17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Line 32"/>
            <p:cNvSpPr/>
            <p:nvPr/>
          </p:nvSpPr>
          <p:spPr>
            <a:xfrm>
              <a:off x="4705350" y="31623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690110" y="3394710"/>
              <a:ext cx="18067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盘点接近 FDE 能力的人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90110" y="3699510"/>
              <a:ext cx="16706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SA / 交付 / 行业专家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90110" y="4004310"/>
              <a:ext cx="11266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启动转型培养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705350" y="46672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246BFE">
                <a:alpha val="8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878842" y="4800124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46BF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第二步</a:t>
              </a:r>
              <a:endParaRPr lang="zh-CN" sz="975" b="1" dirty="0">
                <a:solidFill>
                  <a:srgbClr val="246BF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44718" y="4994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人才优先</a:t>
              </a:r>
              <a:endParaRPr lang="zh-CN" sz="1200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382000" y="1762125"/>
            <a:ext cx="3238500" cy="3762375"/>
            <a:chOff x="8382000" y="1762125"/>
            <a:chExt cx="3238500" cy="3762375"/>
          </a:xfrm>
        </p:grpSpPr>
        <p:sp>
          <p:nvSpPr>
            <p:cNvPr id="40" name="Rectangle 40"/>
            <p:cNvSpPr/>
            <p:nvPr/>
          </p:nvSpPr>
          <p:spPr>
            <a:xfrm>
              <a:off x="8382000" y="1762125"/>
              <a:ext cx="3238500" cy="3762375"/>
            </a:xfrm>
            <a:prstGeom prst="roundRect">
              <a:avLst>
                <a:gd name="adj" fmla="val 3529"/>
              </a:avLst>
            </a:prstGeom>
            <a:solidFill>
              <a:srgbClr val="0E9F6E">
                <a:alpha val="5000"/>
              </a:srgbClr>
            </a:solidFill>
            <a:ln w="14288">
              <a:solidFill>
                <a:srgbClr val="0E9F6E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8610600" y="1952625"/>
              <a:ext cx="609600" cy="66675"/>
            </a:xfrm>
            <a:prstGeom prst="roundRect">
              <a:avLst>
                <a:gd name="adj" fmla="val 42857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53450" y="2085975"/>
              <a:ext cx="807387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0E9F6E">
                      <a:alphaMod val="16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4500" b="1" dirty="0">
                <a:solidFill>
                  <a:srgbClr val="0E9F6E">
                    <a:alphaMod val="16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10896600" y="1973850"/>
              <a:ext cx="304800" cy="319500"/>
              <a:chOff x="10896600" y="1973850"/>
              <a:chExt cx="304800" cy="319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10896600" y="197385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304800" y="140700"/>
                    </a:moveTo>
                    <a:cubicBezTo>
                      <a:pt x="295223" y="71787"/>
                      <a:pt x="240713" y="17807"/>
                      <a:pt x="171710" y="8904"/>
                    </a:cubicBezTo>
                    <a:cubicBezTo>
                      <a:pt x="102708" y="0"/>
                      <a:pt x="36281" y="38375"/>
                      <a:pt x="9525" y="102600"/>
                    </a:cubicBezTo>
                    <a:moveTo>
                      <a:pt x="0" y="26400"/>
                    </a:moveTo>
                    <a:lnTo>
                      <a:pt x="0" y="102600"/>
                    </a:lnTo>
                    <a:lnTo>
                      <a:pt x="76200" y="10260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896600" y="2152650"/>
                <a:ext cx="304800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40700">
                    <a:moveTo>
                      <a:pt x="0" y="0"/>
                    </a:moveTo>
                    <a:cubicBezTo>
                      <a:pt x="9577" y="68913"/>
                      <a:pt x="64087" y="122893"/>
                      <a:pt x="133090" y="131796"/>
                    </a:cubicBezTo>
                    <a:cubicBezTo>
                      <a:pt x="202092" y="140700"/>
                      <a:pt x="268519" y="102325"/>
                      <a:pt x="295275" y="38100"/>
                    </a:cubicBezTo>
                    <a:moveTo>
                      <a:pt x="304800" y="114300"/>
                    </a:moveTo>
                    <a:lnTo>
                      <a:pt x="304800" y="38100"/>
                    </a:lnTo>
                    <a:lnTo>
                      <a:pt x="228600" y="38100"/>
                    </a:lnTo>
                  </a:path>
                </a:pathLst>
              </a:custGeom>
              <a:noFill/>
              <a:ln w="19050">
                <a:solidFill>
                  <a:srgbClr val="0E9F6E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588692" y="2785586"/>
              <a:ext cx="76840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25364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建机制</a:t>
              </a:r>
              <a:endParaRPr lang="zh-CN" sz="1725" b="1" dirty="0">
                <a:solidFill>
                  <a:srgbClr val="2536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8610600" y="31623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9525">
              <a:solidFill>
                <a:srgbClr val="E3E9F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95360" y="33947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沉淀 / 复用纳入绩效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595360" y="3699510"/>
              <a:ext cx="18387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设 Skill / 本体沉淀专项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95360" y="4004310"/>
              <a:ext cx="16066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9F6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</a:t>
              </a:r>
              <a:r>
                <a:rPr lang="zh-CN" sz="1200" dirty="0">
                  <a:solidFill>
                    <a:srgbClr val="5E6A7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让经验真正算进绩效</a:t>
              </a:r>
              <a:endParaRPr lang="zh-CN" sz="1200" dirty="0">
                <a:solidFill>
                  <a:srgbClr val="5E6A7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610600" y="4667250"/>
              <a:ext cx="2781300" cy="571500"/>
            </a:xfrm>
            <a:prstGeom prst="roundRect">
              <a:avLst>
                <a:gd name="adj" fmla="val 13333"/>
              </a:avLst>
            </a:prstGeom>
            <a:solidFill>
              <a:srgbClr val="0E9F6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84092" y="4800124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第三步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49968" y="49949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机制保障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5715000"/>
            <a:ext cx="11049000" cy="571500"/>
            <a:chOff x="571500" y="5715000"/>
            <a:chExt cx="11049000" cy="571500"/>
          </a:xfrm>
        </p:grpSpPr>
        <p:sp>
          <p:nvSpPr>
            <p:cNvPr id="55" name="Rectangle 55"/>
            <p:cNvSpPr/>
            <p:nvPr/>
          </p:nvSpPr>
          <p:spPr>
            <a:xfrm>
              <a:off x="571500" y="5715000"/>
              <a:ext cx="11049000" cy="571500"/>
            </a:xfrm>
            <a:prstGeom prst="roundRect">
              <a:avLst>
                <a:gd name="adj" fmla="val 20000"/>
              </a:avLst>
            </a:prstGeom>
            <a:solidFill>
              <a:srgbClr val="0052A6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4818062" y="5934075"/>
              <a:ext cx="155575" cy="133350"/>
              <a:chOff x="4818062" y="5934075"/>
              <a:chExt cx="155575" cy="133350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4818062" y="6000750"/>
                <a:ext cx="155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9525">
                    <a:moveTo>
                      <a:pt x="0" y="0"/>
                    </a:move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906962" y="60007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4906962" y="5934075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0"/>
                    </a:moveTo>
                    <a:lnTo>
                      <a:pt x="66675" y="666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3796395" y="5931218"/>
              <a:ext cx="45992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三个起步动作，方向性推进 · 具体经营方案留后续专题</a:t>
              </a:r>
              <a:endParaRPr lang="zh-CN" sz="13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0070" y="6475095"/>
            <a:ext cx="11070907" cy="182880"/>
            <a:chOff x="560070" y="6475095"/>
            <a:chExt cx="11070907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60070" y="6475095"/>
              <a:ext cx="185308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法本信息 · FDE 经委会汇报 · 谢谢</a:t>
              </a:r>
              <a:endParaRPr lang="zh-CN" sz="900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241476" y="64831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6B7785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25 / 25</a:t>
              </a:r>
              <a:endParaRPr lang="zh-CN" sz="825" dirty="0">
                <a:solidFill>
                  <a:srgbClr val="6B778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9" grpId="0"/>
      <p:bldP spid="54" grpId="0"/>
      <p:bldP spid="6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5510</Words>
  <Application>WPS 演示</Application>
  <PresentationFormat>On-screen Show (16:9)</PresentationFormat>
  <Paragraphs>968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Andy</cp:lastModifiedBy>
  <cp:revision>2</cp:revision>
  <dcterms:created xsi:type="dcterms:W3CDTF">2026-08-12T09:58:00Z</dcterms:created>
  <dcterms:modified xsi:type="dcterms:W3CDTF">2026-08-12T10:07:06Z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1DDD59AF1934497EA9FE1CDF5615D98B_12</vt:lpwstr>
  </property>
  <property fmtid="{D5CDD505-2E9C-101B-9397-08002B2CF9AE}" pid="3" name="KSOProductBuildVer">
    <vt:lpwstr>2052-12.1.0.28043</vt:lpwstr>
  </property>
</Properties>
</file>