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各位领导好，今天用二十五分钟，把 FDE 这件事一次性讲清楚。一句话立意：FDE 值钱在人、难也在人，所以我们的态度是战略重视、节奏稳妥、人才优先。我会从它是什么、为什么是机会、为什么不能急，一路讲到我们打算怎么稳妥做。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先进入第一章，FDE 到底是什么。一句话：它不是外包，也不是咨询，而是到现场解决问题、还能沉淀下资产。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同样是银行信贷自动化这一个案例，三种角色的做法完全不同。咨询顾问待两周出一沓 PPT，画完路线图就走；外包工程师等需求文档、按文档写代码、收尾款撤场。FDE 不一样，它坐到风控经理旁边，第一周就动手改模型，还把一线问题回流给产品团队。所以本质区别是：咨询卖建议，外包卖工时，FDE 卖的是结果，而且还会留下资产。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判断一个项目到底是不是 FDE，看它结束之后留下了什么。只留一套系统，那是外包；带回经验但没法复用，是项目制；把经验沉淀成可复用的 Skill 和模板，才是 FDE；如果能做到让下一个客户更便宜，那就是可规模化的 FDE。我们买的是结果，不是时间。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这里要特别提醒：带产品去找问题，不等于现场解决问题。有个反例，某协同办公团队进工厂，第一件事是装摄像头抓员工抽烟，既不核心也没门槛。真正的 FDE 会到一线重新定义问题，盯的是良率、订单延期这些真问题，本质接近创业。现在 ABC 满天飞，挂名的 FDE 多、真的 FDE 少，我们要做真 FDE。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接下来第二章，聊聊它为什么现在火，机会和销毛潜力到底在哪。结论是：这不是炒概念，而是 AI 落地进入深水区之后的结构性必然。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落地有一条八十九十九规律。从零到百分之八十，通用大模型加简单 Prompt，一天就能搭出挺好用的原型；八十到九十五这一段，要处理行业术语和边界情况，很难；真正难的是九十五到九十九，一两个点的错误可能造成严重后果，这才是 FDE、专用平台和万级真实数据的战场。要清醒看到，超过六成的企业 AI 尝试，还卡在百分之八十之前的试点阶段。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 FDE 这种过去不划算的重交付，现在突然可行了？因为 AI 同时打开了三道成本闸门。行业知识蒸馏成本下降，一线能现场写脚本、封装工具；定制开发成本下降，小团队就能完成价值验证；复合人才供给成本下降，AI 补齐了部分工程和文档能力。一句话：可编码的经验正在廉价化，不可编码的洞察正在稀缺化。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高销毛不是讲故事，是有真实逻辑的。海外标杆 Palantir 毛利率大约百分之八十二，接近纯软件公司，远高于咨询业的三到四成；Bootcamp 五天驻场，转化率百分之七十，获客成本降四到六成；国内腾讯云的 FDE 服务已经能独立定价，头部客户做到百万到五百万级别。收入逻辑上，席位费只是入口，客户越用越深所产生的持续消耗，才是长期引擎。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这不是我们在追风口，而是三股力量同时指向同一个方向。招聘端，海外 FDE 岗位一年猛增七倍多；大厂端，AWS 投十亿美元做企业交付，OpenAI、Anthropic 直接下场；政策端，上海把 FDE 写进了产业政策，全国首个。FDE 已经是行业共识，这个角色甚至还在继续升级。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现在进入全场最关键的一章，真相与风险。先把结论摆在这儿：FDE 值钱，但绝不是马上能变现的数字。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FDE 是真机会，但变现受制于三条结构性约束，这是市场的客观规律，不是我们保守。第一，新兴行业无规范，没有现成作业可抄；第二，人才苛刻到市场上几乎招不到，内部培养也是长周期；第三，客户门槛高，需要客户 IT 成熟度和 AI 接受度配合。潜力是真实的，约束也是真实的，所以结论很清楚：战略上重视，节奏上稳妥，用节奏去对冲不确定性。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硅谷的赚钱模式，国内还远达不到，两者根本不是一回事。客单价差十到一百倍；美国 ERP、CRM、ITSM 数据沉淀完善，国内流程还写在默契里；Palantir 的本体层投了十几年、数百工程师、百分之零点三的录用率，国内复制不了。核心挑战就一个词：经济性，账必须算得过来。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FDE 最怕的不是做不成，是做着做着变成换名字的外包。五类系统性风险里，最核心的是本体缺失的恶性循环：没沉淀、每单从零开始、更没时间沉淀。其他还有组织归属两难、落地容易扩展难、利润率结构性偏重、模型厂商既是伙伴也是竞争者。所有这些风险，本质上都指向同一个问题，就是能不能持续降低边际成本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要承认，国内很多岗位挂着 FDE 的名，干的还是实施、部署、培训。三类最常见的挂羊头：岗位认知和驻场外包混淆、组织授权不足、产品沉淀弱。从业者把自己比作十年前的产品经理，窗口期五到十年，会大浪淘沙。我们的立场很明确：做真 FDE，不做伪 FDE。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聊完风险，进入第四章，我们打算怎么稳妥推进。九个字：先验证、先沉淀、先打标杆。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先证明价值，再谈规模，卖的是成果而不是软件。一线有四步打法：业务理解，搞清钱从哪来、卡在哪、AI 该撬哪；协作搭建，业务专家和 FDE 共建 Agent 和工作流；质量保障，用真实数据做测试集、自动评测加 A/B 对照；结果验证，AI 组对照人工组逐环节比。要特别警惕死亡之谷，多数项目死在试点到生产之间，数据质量被回避、审批没打通。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FDE 能不能赚钱，看会不会把经验变成资产，这是一笔复利账。第一个客户要从零定制，成本是常规的三倍，毛利率只有百分之二十五；到第四个客户，单客户增量工时降到四个人天；第五到第八个客户，上线周期从六周压到一周，毛利率做到五十五到七十。冷启动大约投一百五十万，到第八个客户累计省三百万，正式回本。七个客户之后本体趋稳，复利才真正兑现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节奏上，原厂打样、伙伴复制、先易后难。第一阶段原厂亲自做，跑通重点行业标杆，沉淀 Skill、模板和方法论；第二阶段交给 ISV、SI 和区域伙伴规模化交付，配套培训和认证；终态是客户自助，部署是脚手架，而不是房子。行业优先序上，先做高容错的教育、传媒、文旅，后做高精度的工业和金融。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最后一章，人才与组织。这一章的主线是：价值在人，瓶颈也在人。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讲到人才，第一个问题不是要不要招 FDE，而是谁对 AI 落地结果负责。企业需要的不是一个岗位名称，而是一套能力。这里有一个四阶段的框架。第一阶段刚开始探索，先借能力，外部 FDE 加内部负责人，目标是跑通第一个项目，不急着建团队；第二阶段项目跑通了，从内部筛选苗子来孵化，选人不看原有岗位；第三阶段多个项目并行、需求爆发，才正式招聘、建团队，FDE 从项目能力变成组织能力；第四阶段复杂大型企业，内部团队加外部伙伴协同。这个框架对我们有两层含义：对客户，他们正处在阶段一和二「先借能力」，这正是我们作为外部 FDE 的市场窗口；对自己，人本来就招不到，就更不能从招聘入手，先借力验证、再内部转型。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真正的 FDE 市场上几乎招不到，出路是内部转型加项目制培养。选人只看四项特质：懂业务、能动手实操、懂 AI、对结果负责——不看原有岗位。最接近这个画像的是深耕行业的 SA，交付和行业专家也都能转。培养是项目制不是课堂制，零到三个月打基础，九到十八个月独立交付，十八个月以上才能定义问题。一句话，FDE 能力不是培训出来的，是在真实项目里长出来的。要特别警惕一线失血：刚培养成熟就被调回总部，是最大的隐性损耗。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人才理念必须彻底扭转，从把人当资源，转向把人当资产。落到机制上，就是双轨绩效加内部结算，让沉淀和跨客户复用算进绩效。要知道，能力越往上越值钱，行业洞察、客户信任、组织推动，这些 AI 替代不了。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让工程执行变便宜，让判断能力更稀缺。前线角色正在从写代码的人，变成指挥 AI 完成业务的人。模型再强，仍然需要有人知道行业怎么运转、客户怎么决策。所以结论是：懂业务、懂组织、懂指挥 AI 的人，不会被取代；能把知识变成组织资产的人，最值钱。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用四句话收束全场。潜力：AI 落地最后一公里，有真实的高销毛逻辑。真相：新兴行业、国内国外不同，难在人、周期长，别让它变成经营压力。路径：先验证、先沉淀、先打标杆。人才：人才策略跟着阶段走，从把人当资源，转向把人当资产。一句话总结：FDE 值得战略投入，战略重视、节奏稳妥、人才优先。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最后，从认知拉齐走向具体行动，三个起步动作。第一，选一两个高容错行业做验证试点，跑出标杆；第二，按懂业务、能实操、懂 AI、对结果负责这四项特质盘一遍内部的人，SA、交付、行业专家最接近，启动转型培养；第三，建机制，把经验沉淀和复用纳入绩效。这三个动作是方向性的，具体经营方案留后续专题。我的汇报到这里，谢谢各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4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518FEC">
                    <a:alpha val="14000"/>
                  </a:srgbClr>
                </a:gs>
                <a:gs pos="100000">
                  <a:srgbClr val="518FE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086850" y="733425"/>
            <a:ext cx="2466975" cy="2533650"/>
            <a:chOff x="9086850" y="733425"/>
            <a:chExt cx="2466975" cy="2533650"/>
          </a:xfrm>
        </p:grpSpPr>
        <p:sp>
          <p:nvSpPr>
            <p:cNvPr id="6" name="Ellipse 6"/>
            <p:cNvSpPr/>
            <p:nvPr/>
          </p:nvSpPr>
          <p:spPr>
            <a:xfrm>
              <a:off x="9115425" y="733425"/>
              <a:ext cx="2247900" cy="2247900"/>
            </a:xfrm>
            <a:prstGeom prst="ellipse">
              <a:avLst/>
            </a:prstGeom>
            <a:noFill/>
            <a:ln w="14288">
              <a:solidFill>
                <a:srgbClr val="518FEC">
                  <a:alpha val="1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363075" y="981075"/>
              <a:ext cx="1752600" cy="1752600"/>
            </a:xfrm>
            <a:prstGeom prst="ellipse">
              <a:avLst/>
            </a:prstGeom>
            <a:noFill/>
            <a:ln w="14288">
              <a:solidFill>
                <a:srgbClr val="246BFE">
                  <a:alpha val="32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629775" y="1247775"/>
              <a:ext cx="1219200" cy="1219200"/>
            </a:xfrm>
            <a:prstGeom prst="ellipse">
              <a:avLst/>
            </a:prstGeom>
            <a:solidFill>
              <a:srgbClr val="246BFE">
                <a:alpha val="14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925050" y="1543050"/>
              <a:ext cx="628650" cy="628650"/>
              <a:chOff x="9925050" y="1543050"/>
              <a:chExt cx="628650" cy="628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239375" y="1892300"/>
                <a:ext cx="244475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79400">
                    <a:moveTo>
                      <a:pt x="122237" y="0"/>
                    </a:moveTo>
                    <a:cubicBezTo>
                      <a:pt x="54728" y="0"/>
                      <a:pt x="0" y="54728"/>
                      <a:pt x="0" y="122238"/>
                    </a:cubicBezTo>
                    <a:lnTo>
                      <a:pt x="0" y="157162"/>
                    </a:lnTo>
                    <a:cubicBezTo>
                      <a:pt x="0" y="224672"/>
                      <a:pt x="54728" y="279400"/>
                      <a:pt x="122237" y="279400"/>
                    </a:cubicBezTo>
                    <a:cubicBezTo>
                      <a:pt x="189747" y="279400"/>
                      <a:pt x="244475" y="224672"/>
                      <a:pt x="244475" y="157162"/>
                    </a:cubicBezTo>
                    <a:lnTo>
                      <a:pt x="244475" y="94298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994900" y="1892300"/>
                <a:ext cx="244475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79400">
                    <a:moveTo>
                      <a:pt x="122238" y="0"/>
                    </a:moveTo>
                    <a:cubicBezTo>
                      <a:pt x="189747" y="0"/>
                      <a:pt x="244475" y="54728"/>
                      <a:pt x="244475" y="122238"/>
                    </a:cubicBezTo>
                    <a:lnTo>
                      <a:pt x="244475" y="157162"/>
                    </a:lnTo>
                    <a:cubicBezTo>
                      <a:pt x="244475" y="224672"/>
                      <a:pt x="189747" y="279400"/>
                      <a:pt x="122238" y="279400"/>
                    </a:cubicBezTo>
                    <a:cubicBezTo>
                      <a:pt x="54728" y="279400"/>
                      <a:pt x="0" y="224672"/>
                      <a:pt x="0" y="157162"/>
                    </a:cubicBezTo>
                    <a:lnTo>
                      <a:pt x="0" y="94298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14000" y="1752600"/>
                <a:ext cx="13970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244475">
                    <a:moveTo>
                      <a:pt x="17463" y="244475"/>
                    </a:moveTo>
                    <a:cubicBezTo>
                      <a:pt x="84972" y="244475"/>
                      <a:pt x="139700" y="189747"/>
                      <a:pt x="139700" y="122237"/>
                    </a:cubicBezTo>
                    <a:cubicBezTo>
                      <a:pt x="139700" y="54728"/>
                      <a:pt x="84972" y="0"/>
                      <a:pt x="1746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239375" y="1543050"/>
                <a:ext cx="244475" cy="220027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20027">
                    <a:moveTo>
                      <a:pt x="244475" y="220027"/>
                    </a:moveTo>
                    <a:lnTo>
                      <a:pt x="244475" y="122238"/>
                    </a:lnTo>
                    <a:cubicBezTo>
                      <a:pt x="244475" y="54728"/>
                      <a:pt x="189747" y="0"/>
                      <a:pt x="122237" y="0"/>
                    </a:cubicBezTo>
                    <a:cubicBezTo>
                      <a:pt x="54728" y="0"/>
                      <a:pt x="0" y="54728"/>
                      <a:pt x="0" y="122238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25050" y="1752600"/>
                <a:ext cx="13970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244475">
                    <a:moveTo>
                      <a:pt x="122237" y="244475"/>
                    </a:moveTo>
                    <a:cubicBezTo>
                      <a:pt x="54728" y="244475"/>
                      <a:pt x="0" y="189747"/>
                      <a:pt x="0" y="122237"/>
                    </a:cubicBezTo>
                    <a:cubicBezTo>
                      <a:pt x="0" y="54728"/>
                      <a:pt x="54728" y="0"/>
                      <a:pt x="122237" y="0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994900" y="1543050"/>
                <a:ext cx="244475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471488">
                    <a:moveTo>
                      <a:pt x="0" y="220027"/>
                    </a:moveTo>
                    <a:lnTo>
                      <a:pt x="0" y="122238"/>
                    </a:lnTo>
                    <a:cubicBezTo>
                      <a:pt x="0" y="54728"/>
                      <a:pt x="54728" y="0"/>
                      <a:pt x="122238" y="0"/>
                    </a:cubicBezTo>
                    <a:cubicBezTo>
                      <a:pt x="189747" y="0"/>
                      <a:pt x="244475" y="54728"/>
                      <a:pt x="244475" y="122238"/>
                    </a:cubicBezTo>
                    <a:lnTo>
                      <a:pt x="244475" y="471488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16" name="Ellipse 16"/>
            <p:cNvSpPr/>
            <p:nvPr/>
          </p:nvSpPr>
          <p:spPr>
            <a:xfrm>
              <a:off x="11306175" y="3171825"/>
              <a:ext cx="95250" cy="95250"/>
            </a:xfrm>
            <a:prstGeom prst="ellipse">
              <a:avLst/>
            </a:prstGeom>
            <a:solidFill>
              <a:srgbClr val="246BFE">
                <a:alpha val="5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86850" y="838200"/>
              <a:ext cx="76200" cy="76200"/>
            </a:xfrm>
            <a:prstGeom prst="ellipse">
              <a:avLst/>
            </a:prstGeom>
            <a:solidFill>
              <a:srgbClr val="518FEC">
                <a:alpha val="6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496675" y="1114425"/>
              <a:ext cx="57150" cy="57150"/>
            </a:xfrm>
            <a:prstGeom prst="ellipse">
              <a:avLst/>
            </a:prstGeom>
            <a:solidFill>
              <a:srgbClr val="518FEC">
                <a:alpha val="450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57250" y="2209800"/>
            <a:ext cx="57150" cy="1905000"/>
            <a:chOff x="857250" y="2209800"/>
            <a:chExt cx="5715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57250" y="2209800"/>
              <a:ext cx="57150" cy="1905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28712" y="2374106"/>
            <a:ext cx="1934563" cy="228600"/>
            <a:chOff x="1128712" y="2374106"/>
            <a:chExt cx="1934563" cy="228600"/>
          </a:xfrm>
        </p:grpSpPr>
        <p:sp>
          <p:nvSpPr>
            <p:cNvPr id="22" name="TextBox 22"/>
            <p:cNvSpPr txBox="1"/>
            <p:nvPr/>
          </p:nvSpPr>
          <p:spPr>
            <a:xfrm>
              <a:off x="1128712" y="2374106"/>
              <a:ext cx="19345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FDE 认知拉齐 · 经分会汇报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70610" y="2832735"/>
            <a:ext cx="8222094" cy="853440"/>
            <a:chOff x="1070610" y="2832735"/>
            <a:chExt cx="8222094" cy="853440"/>
          </a:xfrm>
        </p:grpSpPr>
        <p:sp>
          <p:nvSpPr>
            <p:cNvPr id="24" name="TextBox 24"/>
            <p:cNvSpPr txBox="1"/>
            <p:nvPr/>
          </p:nvSpPr>
          <p:spPr>
            <a:xfrm>
              <a:off x="1070610" y="2832735"/>
              <a:ext cx="822209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FDE：AI 落地的「最后一公里」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43000" y="3524250"/>
              <a:ext cx="28575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2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118235" y="3837622"/>
            <a:ext cx="2904173" cy="734378"/>
            <a:chOff x="1118235" y="3837622"/>
            <a:chExt cx="2904173" cy="734378"/>
          </a:xfrm>
        </p:grpSpPr>
        <p:sp>
          <p:nvSpPr>
            <p:cNvPr id="27" name="TextBox 27"/>
            <p:cNvSpPr txBox="1"/>
            <p:nvPr/>
          </p:nvSpPr>
          <p:spPr>
            <a:xfrm>
              <a:off x="1118235" y="3837622"/>
              <a:ext cx="250683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值钱在人，难也在人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3950" y="4267200"/>
              <a:ext cx="28984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战略重视 · 节奏稳妥 · 人才优先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29665" y="6096000"/>
            <a:ext cx="10313670" cy="366712"/>
            <a:chOff x="1129665" y="6096000"/>
            <a:chExt cx="10313670" cy="366712"/>
          </a:xfrm>
        </p:grpSpPr>
        <p:sp>
          <p:nvSpPr>
            <p:cNvPr id="30" name="Line 30"/>
            <p:cNvSpPr/>
            <p:nvPr/>
          </p:nvSpPr>
          <p:spPr>
            <a:xfrm>
              <a:off x="1143000" y="6096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518FEC">
                  <a:alpha val="35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9665" y="6249352"/>
              <a:ext cx="2504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法本信息 ｜ 2026-08-12 ｜ 经分会汇报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47606" y="6249352"/>
              <a:ext cx="495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01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6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762250"/>
            <a:ext cx="1200019" cy="338138"/>
            <a:chOff x="1143000" y="276225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76225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82606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453765"/>
            <a:ext cx="4891564" cy="1213485"/>
            <a:chOff x="1101090" y="3453765"/>
            <a:chExt cx="4891564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453765"/>
              <a:ext cx="329512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FDE 到底是什么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404812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3624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不是外包、不是咨询，是「现场解决问题 + 沉淀资产」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FDE 经委会汇报 · 第一章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02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247674" cy="1046798"/>
            <a:chOff x="542925" y="458152"/>
            <a:chExt cx="6247674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01 · FDE 到底是什么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24767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咨询、外包、FDE，解决的是不同层面的问题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9911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同一案例（银行信贷自动化）下，三种角色的做法与留下东西完全不同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" y="1762125"/>
            <a:ext cx="3429000" cy="4095750"/>
            <a:chOff x="666750" y="1762125"/>
            <a:chExt cx="3429000" cy="4095750"/>
          </a:xfrm>
        </p:grpSpPr>
        <p:sp>
          <p:nvSpPr>
            <p:cNvPr id="8" name="Rectangle 8"/>
            <p:cNvSpPr/>
            <p:nvPr/>
          </p:nvSpPr>
          <p:spPr>
            <a:xfrm>
              <a:off x="666750" y="1762125"/>
              <a:ext cx="3429000" cy="40957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95350" y="1952625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20A7B8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535362" y="1957388"/>
              <a:ext cx="244475" cy="314325"/>
              <a:chOff x="3535362" y="1957388"/>
              <a:chExt cx="244475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692525" y="1957388"/>
                <a:ext cx="8731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2">
                    <a:moveTo>
                      <a:pt x="0" y="0"/>
                    </a:moveTo>
                    <a:lnTo>
                      <a:pt x="0" y="69850"/>
                    </a:lnTo>
                    <a:cubicBezTo>
                      <a:pt x="0" y="79494"/>
                      <a:pt x="7818" y="87312"/>
                      <a:pt x="17462" y="87312"/>
                    </a:cubicBezTo>
                    <a:lnTo>
                      <a:pt x="87312" y="87312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535362" y="1957388"/>
                <a:ext cx="24447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14325">
                    <a:moveTo>
                      <a:pt x="209550" y="314325"/>
                    </a:moveTo>
                    <a:lnTo>
                      <a:pt x="34925" y="314325"/>
                    </a:lnTo>
                    <a:cubicBezTo>
                      <a:pt x="15636" y="314325"/>
                      <a:pt x="0" y="298689"/>
                      <a:pt x="0" y="279400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57162" y="0"/>
                    </a:lnTo>
                    <a:lnTo>
                      <a:pt x="244475" y="87312"/>
                    </a:lnTo>
                    <a:lnTo>
                      <a:pt x="244475" y="279400"/>
                    </a:lnTo>
                    <a:cubicBezTo>
                      <a:pt x="244475" y="298689"/>
                      <a:pt x="228839" y="314325"/>
                      <a:pt x="209550" y="314325"/>
                    </a:cubicBez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605212" y="2062162"/>
                <a:ext cx="17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9525">
                    <a:moveTo>
                      <a:pt x="0" y="0"/>
                    </a:moveTo>
                    <a:lnTo>
                      <a:pt x="17462" y="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605212" y="213201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605212" y="220186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72490" y="23964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咨询顾问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781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8205" y="299751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驻场两周，产出 80 页诊断 PPT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8205" y="33023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画出转型路线图与优先级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8205" y="36071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交付报告后撤出，不碰系统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95350" y="5029200"/>
              <a:ext cx="2971800" cy="590550"/>
            </a:xfrm>
            <a:prstGeom prst="roundRect">
              <a:avLst>
                <a:gd name="adj" fmla="val 12903"/>
              </a:avLst>
            </a:prstGeom>
            <a:solidFill>
              <a:srgbClr val="20A7B8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5368" y="5190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0A7B8"/>
                  </a:solidFill>
                  <a:latin typeface="Arial"/>
                  <a:ea typeface="Microsoft YaHei"/>
                  <a:cs typeface="Arial"/>
                </a:rPr>
                <a:t>本质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1558" y="536781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买的是建议，不是结果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1762125"/>
            <a:ext cx="3429000" cy="4095750"/>
            <a:chOff x="4381500" y="1762125"/>
            <a:chExt cx="3429000" cy="4095750"/>
          </a:xfrm>
        </p:grpSpPr>
        <p:sp>
          <p:nvSpPr>
            <p:cNvPr id="25" name="Rectangle 25"/>
            <p:cNvSpPr/>
            <p:nvPr/>
          </p:nvSpPr>
          <p:spPr>
            <a:xfrm>
              <a:off x="4381500" y="1762125"/>
              <a:ext cx="3429000" cy="40957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10100" y="1952625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6B7785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15188" y="1957388"/>
              <a:ext cx="314325" cy="296862"/>
              <a:chOff x="7215188" y="1957388"/>
              <a:chExt cx="314325" cy="29686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215188" y="2027238"/>
                <a:ext cx="3143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27012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279400" y="0"/>
                    </a:lnTo>
                    <a:cubicBezTo>
                      <a:pt x="298689" y="0"/>
                      <a:pt x="314325" y="15636"/>
                      <a:pt x="314325" y="34925"/>
                    </a:cubicBezTo>
                    <a:lnTo>
                      <a:pt x="314325" y="192087"/>
                    </a:lnTo>
                    <a:cubicBezTo>
                      <a:pt x="314325" y="211376"/>
                      <a:pt x="298689" y="227012"/>
                      <a:pt x="279400" y="227012"/>
                    </a:cubicBezTo>
                    <a:lnTo>
                      <a:pt x="34925" y="227012"/>
                    </a:lnTo>
                    <a:cubicBezTo>
                      <a:pt x="15636" y="227012"/>
                      <a:pt x="0" y="211376"/>
                      <a:pt x="0" y="192087"/>
                    </a:cubicBez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302500" y="1957388"/>
                <a:ext cx="1397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9850">
                    <a:moveTo>
                      <a:pt x="0" y="69850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04775" y="0"/>
                    </a:lnTo>
                    <a:cubicBezTo>
                      <a:pt x="124064" y="0"/>
                      <a:pt x="139700" y="15636"/>
                      <a:pt x="139700" y="34925"/>
                    </a:cubicBezTo>
                    <a:lnTo>
                      <a:pt x="139700" y="69850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372350" y="2114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15188" y="2132012"/>
                <a:ext cx="314325" cy="49813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49813">
                    <a:moveTo>
                      <a:pt x="0" y="0"/>
                    </a:moveTo>
                    <a:cubicBezTo>
                      <a:pt x="98854" y="49813"/>
                      <a:pt x="215471" y="49813"/>
                      <a:pt x="314325" y="0"/>
                    </a:cubicBez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587240" y="2396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外包工程师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610100" y="2781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92955" y="29975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等待需求文档到位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92955" y="33023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按文档编码、上线、收尾款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92955" y="36071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交付一套系统后撤场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610100" y="5029200"/>
              <a:ext cx="2971800" cy="590550"/>
            </a:xfrm>
            <a:prstGeom prst="roundRect">
              <a:avLst>
                <a:gd name="adj" fmla="val 12903"/>
              </a:avLst>
            </a:prstGeom>
            <a:solidFill>
              <a:srgbClr val="6B7785">
                <a:alpha val="8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50118" y="5190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本质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46308" y="536781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买的是工时，不是能力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96250" y="1762125"/>
            <a:ext cx="3429000" cy="4095750"/>
            <a:chOff x="8096250" y="1762125"/>
            <a:chExt cx="3429000" cy="4095750"/>
          </a:xfrm>
        </p:grpSpPr>
        <p:sp>
          <p:nvSpPr>
            <p:cNvPr id="41" name="Rectangle 41"/>
            <p:cNvSpPr/>
            <p:nvPr/>
          </p:nvSpPr>
          <p:spPr>
            <a:xfrm>
              <a:off x="8096250" y="1762125"/>
              <a:ext cx="3429000" cy="4095750"/>
            </a:xfrm>
            <a:prstGeom prst="roundRect">
              <a:avLst>
                <a:gd name="adj" fmla="val 3333"/>
              </a:avLst>
            </a:prstGeom>
            <a:solidFill>
              <a:srgbClr val="0052A6">
                <a:alpha val="4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24850" y="1952625"/>
              <a:ext cx="609600" cy="762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10929938" y="1957388"/>
              <a:ext cx="314325" cy="314325"/>
              <a:chOff x="10929938" y="1957388"/>
              <a:chExt cx="314325" cy="3143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1069638" y="2097088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999788" y="2027238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0" y="87312"/>
                    </a:moveTo>
                    <a:cubicBezTo>
                      <a:pt x="0" y="135534"/>
                      <a:pt x="39091" y="174625"/>
                      <a:pt x="87313" y="174625"/>
                    </a:cubicBezTo>
                    <a:cubicBezTo>
                      <a:pt x="135534" y="174625"/>
                      <a:pt x="174625" y="135534"/>
                      <a:pt x="174625" y="87312"/>
                    </a:cubicBezTo>
                    <a:cubicBezTo>
                      <a:pt x="174625" y="39091"/>
                      <a:pt x="135534" y="0"/>
                      <a:pt x="87313" y="0"/>
                    </a:cubicBezTo>
                    <a:cubicBezTo>
                      <a:pt x="39091" y="0"/>
                      <a:pt x="0" y="39091"/>
                      <a:pt x="0" y="8731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929938" y="1957388"/>
                <a:ext cx="3143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14325">
                    <a:moveTo>
                      <a:pt x="0" y="157162"/>
                    </a:moveTo>
                    <a:cubicBezTo>
                      <a:pt x="0" y="243961"/>
                      <a:pt x="70364" y="314325"/>
                      <a:pt x="157162" y="314325"/>
                    </a:cubicBezTo>
                    <a:cubicBezTo>
                      <a:pt x="243961" y="314325"/>
                      <a:pt x="314325" y="243961"/>
                      <a:pt x="314325" y="157162"/>
                    </a:cubicBezTo>
                    <a:cubicBezTo>
                      <a:pt x="314325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7" name="Rectangle 47"/>
            <p:cNvSpPr/>
            <p:nvPr/>
          </p:nvSpPr>
          <p:spPr>
            <a:xfrm>
              <a:off x="10115550" y="1962150"/>
              <a:ext cx="1104900" cy="2857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14325" y="2047399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我们的方向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01990" y="2396490"/>
              <a:ext cx="17973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FDE 现场工程师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324850" y="2781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B8C7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07705" y="29975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坐到风控经理旁边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07705" y="33023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第一周就动手改模型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07705" y="36071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把一线问题回流给产品团队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324850" y="5029200"/>
              <a:ext cx="2971800" cy="590550"/>
            </a:xfrm>
            <a:prstGeom prst="roundRect">
              <a:avLst>
                <a:gd name="adj" fmla="val 12903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64868" y="5190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本质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61058" y="5367814"/>
              <a:ext cx="19961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买的是结果，还留下资产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475095"/>
            <a:ext cx="11070907" cy="182880"/>
            <a:chOff x="560070" y="6475095"/>
            <a:chExt cx="11070907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475095"/>
              <a:ext cx="32812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案例：银行信贷自动化 · 三种角色对同一问题的不同介入层面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03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0" grpId="0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027146" cy="1046798"/>
            <a:chOff x="542925" y="458152"/>
            <a:chExt cx="6027146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01 · FDE 到底是什么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02714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判断是不是 FDE，看项目结束后留下了什么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9991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买的是结果，不是时间——只留系统是外包，沉淀为可复用资产才是 FDE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2468" y="2104549"/>
            <a:ext cx="472416" cy="3589020"/>
            <a:chOff x="692468" y="2104549"/>
            <a:chExt cx="472416" cy="3589020"/>
          </a:xfrm>
        </p:grpSpPr>
        <p:sp>
          <p:nvSpPr>
            <p:cNvPr id="8" name="TextBox 8"/>
            <p:cNvSpPr txBox="1"/>
            <p:nvPr/>
          </p:nvSpPr>
          <p:spPr>
            <a:xfrm>
              <a:off x="730568" y="21045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价值高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2343150"/>
              <a:ext cx="9525" cy="2990850"/>
            </a:xfrm>
            <a:custGeom>
              <a:avLst/>
              <a:gdLst/>
              <a:ahLst/>
              <a:cxnLst/>
              <a:rect l="l" t="t" r="r" b="b"/>
              <a:pathLst>
                <a:path w="9525" h="2990850">
                  <a:moveTo>
                    <a:pt x="0" y="0"/>
                  </a:moveTo>
                  <a:lnTo>
                    <a:pt x="0" y="2990850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10" name="Polygon 10"/>
            <p:cNvSpPr/>
            <p:nvPr/>
          </p:nvSpPr>
          <p:spPr>
            <a:xfrm>
              <a:off x="819150" y="52959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57150" y="1524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8C7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2468" y="54954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价值低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1125" y="1714500"/>
            <a:ext cx="3810000" cy="4000500"/>
            <a:chOff x="1381125" y="1714500"/>
            <a:chExt cx="3810000" cy="4000500"/>
          </a:xfrm>
        </p:grpSpPr>
        <p:sp>
          <p:nvSpPr>
            <p:cNvPr id="13" name="Polygon 13"/>
            <p:cNvSpPr/>
            <p:nvPr/>
          </p:nvSpPr>
          <p:spPr>
            <a:xfrm>
              <a:off x="2524125" y="1714500"/>
              <a:ext cx="1524000" cy="1000125"/>
            </a:xfrm>
            <a:custGeom>
              <a:avLst/>
              <a:gdLst/>
              <a:ahLst/>
              <a:cxnLst/>
              <a:rect l="l" t="t" r="r" b="b"/>
              <a:pathLst>
                <a:path w="1524000" h="1000125">
                  <a:moveTo>
                    <a:pt x="381000" y="0"/>
                  </a:moveTo>
                  <a:lnTo>
                    <a:pt x="1143000" y="0"/>
                  </a:lnTo>
                  <a:lnTo>
                    <a:pt x="1524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2143125" y="2714625"/>
              <a:ext cx="2286000" cy="1000125"/>
            </a:xfrm>
            <a:custGeom>
              <a:avLst/>
              <a:gdLst/>
              <a:ahLst/>
              <a:cxnLst/>
              <a:rect l="l" t="t" r="r" b="b"/>
              <a:pathLst>
                <a:path w="2286000" h="1000125">
                  <a:moveTo>
                    <a:pt x="381000" y="0"/>
                  </a:moveTo>
                  <a:lnTo>
                    <a:pt x="1905000" y="0"/>
                  </a:lnTo>
                  <a:lnTo>
                    <a:pt x="2286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246BFE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1762125" y="3714750"/>
              <a:ext cx="3048000" cy="1000125"/>
            </a:xfrm>
            <a:custGeom>
              <a:avLst/>
              <a:gdLst/>
              <a:ahLst/>
              <a:cxnLst/>
              <a:rect l="l" t="t" r="r" b="b"/>
              <a:pathLst>
                <a:path w="3048000" h="1000125">
                  <a:moveTo>
                    <a:pt x="381000" y="0"/>
                  </a:moveTo>
                  <a:lnTo>
                    <a:pt x="2667000" y="0"/>
                  </a:lnTo>
                  <a:lnTo>
                    <a:pt x="3048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518FEC"/>
            </a:solidFill>
            <a:ln>
              <a:noFill/>
            </a:ln>
          </p:spPr>
        </p:sp>
        <p:sp>
          <p:nvSpPr>
            <p:cNvPr id="16" name="Polygon 16"/>
            <p:cNvSpPr/>
            <p:nvPr/>
          </p:nvSpPr>
          <p:spPr>
            <a:xfrm>
              <a:off x="1381125" y="4714875"/>
              <a:ext cx="3810000" cy="1000125"/>
            </a:xfrm>
            <a:custGeom>
              <a:avLst/>
              <a:gdLst/>
              <a:ahLst/>
              <a:cxnLst/>
              <a:rect l="l" t="t" r="r" b="b"/>
              <a:pathLst>
                <a:path w="3810000" h="1000125">
                  <a:moveTo>
                    <a:pt x="381000" y="0"/>
                  </a:moveTo>
                  <a:lnTo>
                    <a:pt x="3429000" y="0"/>
                  </a:lnTo>
                  <a:lnTo>
                    <a:pt x="3810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6B778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6798" y="2145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可规模化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13036" y="313086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85445" y="41309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57049" y="51149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外包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48125" y="2200275"/>
            <a:ext cx="2238375" cy="3086100"/>
            <a:chOff x="4048125" y="2200275"/>
            <a:chExt cx="2238375" cy="3086100"/>
          </a:xfrm>
        </p:grpSpPr>
        <p:sp>
          <p:nvSpPr>
            <p:cNvPr id="22" name="Line 22"/>
            <p:cNvSpPr/>
            <p:nvPr/>
          </p:nvSpPr>
          <p:spPr>
            <a:xfrm>
              <a:off x="4048125" y="2200275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9525"/>
                  </a:moveTo>
                  <a:lnTo>
                    <a:pt x="2238375" y="0"/>
                  </a:lnTo>
                </a:path>
              </a:pathLst>
            </a:custGeom>
            <a:noFill/>
            <a:ln w="14288">
              <a:solidFill>
                <a:srgbClr val="0052A6">
                  <a:alpha val="50000"/>
                </a:srgbClr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4429125" y="3219450"/>
              <a:ext cx="1857375" cy="9525"/>
            </a:xfrm>
            <a:custGeom>
              <a:avLst/>
              <a:gdLst/>
              <a:ahLst/>
              <a:cxnLst/>
              <a:rect l="l" t="t" r="r" b="b"/>
              <a:pathLst>
                <a:path w="1857375" h="9525">
                  <a:moveTo>
                    <a:pt x="0" y="0"/>
                  </a:moveTo>
                  <a:lnTo>
                    <a:pt x="1857375" y="9525"/>
                  </a:lnTo>
                </a:path>
              </a:pathLst>
            </a:custGeom>
            <a:noFill/>
            <a:ln w="14288">
              <a:solidFill>
                <a:srgbClr val="246BFE">
                  <a:alpha val="50000"/>
                </a:srgbClr>
              </a:solidFill>
              <a:prstDash val="dash"/>
            </a:ln>
          </p:spPr>
        </p:sp>
        <p:sp>
          <p:nvSpPr>
            <p:cNvPr id="24" name="Line 24"/>
            <p:cNvSpPr/>
            <p:nvPr/>
          </p:nvSpPr>
          <p:spPr>
            <a:xfrm>
              <a:off x="4810125" y="4219575"/>
              <a:ext cx="1476375" cy="38100"/>
            </a:xfrm>
            <a:custGeom>
              <a:avLst/>
              <a:gdLst/>
              <a:ahLst/>
              <a:cxnLst/>
              <a:rect l="l" t="t" r="r" b="b"/>
              <a:pathLst>
                <a:path w="1476375" h="38100">
                  <a:moveTo>
                    <a:pt x="0" y="0"/>
                  </a:moveTo>
                  <a:lnTo>
                    <a:pt x="1476375" y="38100"/>
                  </a:lnTo>
                </a:path>
              </a:pathLst>
            </a:custGeom>
            <a:noFill/>
            <a:ln w="14288">
              <a:solidFill>
                <a:srgbClr val="518FEC">
                  <a:alpha val="50000"/>
                </a:srgbClr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5191125" y="5219700"/>
              <a:ext cx="1095375" cy="66675"/>
            </a:xfrm>
            <a:custGeom>
              <a:avLst/>
              <a:gdLst/>
              <a:ahLst/>
              <a:cxnLst/>
              <a:rect l="l" t="t" r="r" b="b"/>
              <a:pathLst>
                <a:path w="1095375" h="66675">
                  <a:moveTo>
                    <a:pt x="0" y="0"/>
                  </a:moveTo>
                  <a:lnTo>
                    <a:pt x="1095375" y="66675"/>
                  </a:lnTo>
                </a:path>
              </a:pathLst>
            </a:custGeom>
            <a:noFill/>
            <a:ln w="14288">
              <a:solidFill>
                <a:srgbClr val="6B7785">
                  <a:alpha val="50000"/>
                </a:srgbClr>
              </a:solidFill>
              <a:prstDash val="dash"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286500" y="1762125"/>
            <a:ext cx="5334000" cy="876300"/>
            <a:chOff x="6286500" y="1762125"/>
            <a:chExt cx="5334000" cy="876300"/>
          </a:xfrm>
        </p:grpSpPr>
        <p:sp>
          <p:nvSpPr>
            <p:cNvPr id="27" name="Rectangle 27"/>
            <p:cNvSpPr/>
            <p:nvPr/>
          </p:nvSpPr>
          <p:spPr>
            <a:xfrm>
              <a:off x="6286500" y="17621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7621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515100" y="2009775"/>
              <a:ext cx="381000" cy="3810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6474" y="2121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30402" y="1960721"/>
              <a:ext cx="24304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沉淀后让下一个客户更便宜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4212" y="22788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可规模化的 FDE ——边际交付成本持续下降，复利开始兑现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2790825"/>
            <a:ext cx="5334000" cy="876300"/>
            <a:chOff x="6286500" y="2790825"/>
            <a:chExt cx="5334000" cy="876300"/>
          </a:xfrm>
        </p:grpSpPr>
        <p:sp>
          <p:nvSpPr>
            <p:cNvPr id="34" name="Rectangle 34"/>
            <p:cNvSpPr/>
            <p:nvPr/>
          </p:nvSpPr>
          <p:spPr>
            <a:xfrm>
              <a:off x="6286500" y="27908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86500" y="27908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515100" y="3038475"/>
              <a:ext cx="381000" cy="3810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6474" y="31499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0402" y="298942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沉淀为可复用能力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4212" y="3307556"/>
              <a:ext cx="3126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FDE ——把现场经验封装成 Skill / 模板 / 连接器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86500" y="3819525"/>
            <a:ext cx="5334000" cy="876300"/>
            <a:chOff x="6286500" y="3819525"/>
            <a:chExt cx="5334000" cy="876300"/>
          </a:xfrm>
        </p:grpSpPr>
        <p:sp>
          <p:nvSpPr>
            <p:cNvPr id="41" name="Rectangle 41"/>
            <p:cNvSpPr/>
            <p:nvPr/>
          </p:nvSpPr>
          <p:spPr>
            <a:xfrm>
              <a:off x="6286500" y="38195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38195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515100" y="4067175"/>
              <a:ext cx="381000" cy="3810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6474" y="41786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0402" y="4018121"/>
              <a:ext cx="18319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带回经验但无法复用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34212" y="4336256"/>
              <a:ext cx="35390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项目制 ——每个项目都从零开始，经验留在个人脑子里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4848225"/>
            <a:ext cx="5334000" cy="876300"/>
            <a:chOff x="6286500" y="4848225"/>
            <a:chExt cx="5334000" cy="876300"/>
          </a:xfrm>
        </p:grpSpPr>
        <p:sp>
          <p:nvSpPr>
            <p:cNvPr id="48" name="Rectangle 48"/>
            <p:cNvSpPr/>
            <p:nvPr/>
          </p:nvSpPr>
          <p:spPr>
            <a:xfrm>
              <a:off x="6286500" y="48482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86500" y="48482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6B7785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515100" y="5095875"/>
              <a:ext cx="381000" cy="381000"/>
            </a:xfrm>
            <a:prstGeom prst="ellipse">
              <a:avLst/>
            </a:prstGeom>
            <a:solidFill>
              <a:srgbClr val="6B778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36474" y="52073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30402" y="504682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只留一个系统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4212" y="5364956"/>
              <a:ext cx="2938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外包 ——交付即结束，能力不沉淀、不可复用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0070" y="6475095"/>
            <a:ext cx="11070907" cy="182880"/>
            <a:chOff x="560070" y="6475095"/>
            <a:chExt cx="11070907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60070" y="6475095"/>
              <a:ext cx="32632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「试金石」：项目结束后，经验是否变成了组织可复用的资产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04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6" grpId="0"/>
      <p:bldP spid="33" grpId="0"/>
      <p:bldP spid="40" grpId="0"/>
      <p:bldP spid="47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676394" cy="1046798"/>
            <a:chOff x="542925" y="458152"/>
            <a:chExt cx="4676394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01 · FDE 到底是什么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1999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带产品找问题 ≠ 现场解决问题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6630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很多公司只是「把员工扔到一线」，FDE 的本质是接近创业的能力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714500"/>
            <a:ext cx="5334000" cy="3762375"/>
            <a:chOff x="571500" y="1714500"/>
            <a:chExt cx="5334000" cy="3762375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5334000" cy="3762375"/>
            </a:xfrm>
            <a:prstGeom prst="roundRect">
              <a:avLst>
                <a:gd name="adj" fmla="val 3038"/>
              </a:avLst>
            </a:prstGeom>
            <a:solidFill>
              <a:srgbClr val="FFFFFF"/>
            </a:solidFill>
            <a:ln w="14288">
              <a:solidFill>
                <a:srgbClr val="F59E0B">
                  <a:alpha val="50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943100"/>
              <a:ext cx="990600" cy="3238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2329" y="2032635"/>
              <a:ext cx="526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伪 FDE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294279" y="1936771"/>
              <a:ext cx="384228" cy="330103"/>
              <a:chOff x="5294279" y="1936771"/>
              <a:chExt cx="384228" cy="33010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486400" y="20574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294279" y="1936771"/>
                <a:ext cx="384228" cy="330103"/>
              </a:xfrm>
              <a:custGeom>
                <a:avLst/>
                <a:gdLst/>
                <a:ahLst/>
                <a:cxnLst/>
                <a:rect l="l" t="t" r="r" b="b"/>
                <a:pathLst>
                  <a:path w="384228" h="330103">
                    <a:moveTo>
                      <a:pt x="160937" y="17587"/>
                    </a:moveTo>
                    <a:lnTo>
                      <a:pt x="6517" y="275410"/>
                    </a:lnTo>
                    <a:cubicBezTo>
                      <a:pt x="40" y="286628"/>
                      <a:pt x="0" y="300440"/>
                      <a:pt x="6413" y="311695"/>
                    </a:cubicBezTo>
                    <a:cubicBezTo>
                      <a:pt x="12827" y="322950"/>
                      <a:pt x="24730" y="329957"/>
                      <a:pt x="37683" y="330103"/>
                    </a:cubicBezTo>
                    <a:lnTo>
                      <a:pt x="346560" y="330103"/>
                    </a:lnTo>
                    <a:cubicBezTo>
                      <a:pt x="359507" y="329953"/>
                      <a:pt x="371404" y="322949"/>
                      <a:pt x="377816" y="311700"/>
                    </a:cubicBezTo>
                    <a:cubicBezTo>
                      <a:pt x="384228" y="300451"/>
                      <a:pt x="384194" y="286646"/>
                      <a:pt x="377726" y="275429"/>
                    </a:cubicBezTo>
                    <a:lnTo>
                      <a:pt x="223306" y="17568"/>
                    </a:lnTo>
                    <a:cubicBezTo>
                      <a:pt x="216699" y="6662"/>
                      <a:pt x="204873" y="0"/>
                      <a:pt x="192121" y="0"/>
                    </a:cubicBezTo>
                    <a:cubicBezTo>
                      <a:pt x="179370" y="0"/>
                      <a:pt x="167544" y="6662"/>
                      <a:pt x="160937" y="1756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486400" y="2190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73430" y="25927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带产品找问题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3048000"/>
              <a:ext cx="4876800" cy="1257300"/>
            </a:xfrm>
            <a:prstGeom prst="roundRect">
              <a:avLst>
                <a:gd name="adj" fmla="val 6061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6312" y="3231356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案例：协同办公团队进工厂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4408" y="35199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第一件事：装摄像头抓员工抽烟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4408" y="38247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盯着细枝末节，绕开了核心业务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4616768"/>
              <a:ext cx="17071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 既不触及核心业务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4940618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 又没有技术门槛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0" y="3209925"/>
            <a:ext cx="762000" cy="809625"/>
            <a:chOff x="5715000" y="3209925"/>
            <a:chExt cx="762000" cy="809625"/>
          </a:xfrm>
        </p:grpSpPr>
        <p:sp>
          <p:nvSpPr>
            <p:cNvPr id="23" name="Ellipse 23"/>
            <p:cNvSpPr/>
            <p:nvPr/>
          </p:nvSpPr>
          <p:spPr>
            <a:xfrm>
              <a:off x="5715000" y="3209925"/>
              <a:ext cx="762000" cy="762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52A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42386" y="340995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≠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714500"/>
            <a:ext cx="5334000" cy="3762375"/>
            <a:chOff x="6286500" y="1714500"/>
            <a:chExt cx="5334000" cy="3762375"/>
          </a:xfrm>
        </p:grpSpPr>
        <p:sp>
          <p:nvSpPr>
            <p:cNvPr id="26" name="Rectangle 26"/>
            <p:cNvSpPr/>
            <p:nvPr/>
          </p:nvSpPr>
          <p:spPr>
            <a:xfrm>
              <a:off x="6286500" y="1714500"/>
              <a:ext cx="5334000" cy="3762375"/>
            </a:xfrm>
            <a:prstGeom prst="roundRect">
              <a:avLst>
                <a:gd name="adj" fmla="val 3038"/>
              </a:avLst>
            </a:prstGeom>
            <a:solidFill>
              <a:srgbClr val="0052A6">
                <a:alpha val="4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515100" y="1943100"/>
              <a:ext cx="990600" cy="3238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47329" y="2032635"/>
              <a:ext cx="526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 FDE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1029950" y="1943100"/>
              <a:ext cx="342900" cy="342900"/>
              <a:chOff x="11029950" y="1943100"/>
              <a:chExt cx="342900" cy="342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1029950" y="19431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258550" y="21717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488430" y="259270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现场重新看业务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15100" y="3048000"/>
              <a:ext cx="4876800" cy="1257300"/>
            </a:xfrm>
            <a:prstGeom prst="roundRect">
              <a:avLst>
                <a:gd name="adj" fmla="val 6061"/>
              </a:avLst>
            </a:prstGeom>
            <a:solidFill>
              <a:srgbClr val="0052A6">
                <a:alpha val="7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91312" y="3231356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做法：到一线重新定义问题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89408" y="35199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找产品良率、订单延期、库存周转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9408" y="38247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盯住「真问题」而不是好交付的问题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97955" y="4616768"/>
              <a:ext cx="18961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 定义问题、快速试错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97955" y="4940618"/>
              <a:ext cx="18961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 本质接近创业的能力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5667375"/>
            <a:ext cx="11049000" cy="645319"/>
            <a:chOff x="571500" y="5667375"/>
            <a:chExt cx="11049000" cy="645319"/>
          </a:xfrm>
        </p:grpSpPr>
        <p:sp>
          <p:nvSpPr>
            <p:cNvPr id="40" name="Rectangle 40"/>
            <p:cNvSpPr/>
            <p:nvPr/>
          </p:nvSpPr>
          <p:spPr>
            <a:xfrm>
              <a:off x="571500" y="5667375"/>
              <a:ext cx="11049000" cy="628650"/>
            </a:xfrm>
            <a:prstGeom prst="roundRect">
              <a:avLst>
                <a:gd name="adj" fmla="val 18182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500" y="5667375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25939" y="5855773"/>
              <a:ext cx="272162" cy="233823"/>
              <a:chOff x="825939" y="5855773"/>
              <a:chExt cx="272162" cy="2338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62025" y="5941219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5939" y="5855773"/>
                <a:ext cx="272162" cy="233823"/>
              </a:xfrm>
              <a:custGeom>
                <a:avLst/>
                <a:gdLst/>
                <a:ahLst/>
                <a:cxnLst/>
                <a:rect l="l" t="t" r="r" b="b"/>
                <a:pathLst>
                  <a:path w="272162" h="233823">
                    <a:moveTo>
                      <a:pt x="113997" y="12458"/>
                    </a:moveTo>
                    <a:lnTo>
                      <a:pt x="4616" y="195082"/>
                    </a:lnTo>
                    <a:cubicBezTo>
                      <a:pt x="28" y="203028"/>
                      <a:pt x="0" y="212812"/>
                      <a:pt x="4543" y="220784"/>
                    </a:cubicBezTo>
                    <a:cubicBezTo>
                      <a:pt x="9086" y="228756"/>
                      <a:pt x="17517" y="233720"/>
                      <a:pt x="26692" y="233823"/>
                    </a:cubicBezTo>
                    <a:lnTo>
                      <a:pt x="245480" y="233823"/>
                    </a:lnTo>
                    <a:cubicBezTo>
                      <a:pt x="254651" y="233717"/>
                      <a:pt x="263078" y="228755"/>
                      <a:pt x="267620" y="220788"/>
                    </a:cubicBezTo>
                    <a:cubicBezTo>
                      <a:pt x="272162" y="212820"/>
                      <a:pt x="272137" y="203041"/>
                      <a:pt x="267556" y="195096"/>
                    </a:cubicBezTo>
                    <a:lnTo>
                      <a:pt x="158175" y="12444"/>
                    </a:lnTo>
                    <a:cubicBezTo>
                      <a:pt x="153495" y="4719"/>
                      <a:pt x="145119" y="0"/>
                      <a:pt x="136086" y="0"/>
                    </a:cubicBezTo>
                    <a:cubicBezTo>
                      <a:pt x="127053" y="0"/>
                      <a:pt x="118677" y="4719"/>
                      <a:pt x="113997" y="12444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2025" y="6035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243012" y="583168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概念泡沫警示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41108" y="6053614"/>
              <a:ext cx="55580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ABC 满天飞，但「FDE 就死了」——挂名 FDE 多、真 FDE 少，做了不如不做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05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39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200019" cy="338138"/>
            <a:chOff x="1143000" y="266700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2995" y="3374708"/>
            <a:ext cx="7136892" cy="1197292"/>
            <a:chOff x="1102995" y="3374708"/>
            <a:chExt cx="7136892" cy="1197292"/>
          </a:xfrm>
        </p:grpSpPr>
        <p:sp>
          <p:nvSpPr>
            <p:cNvPr id="10" name="TextBox 10"/>
            <p:cNvSpPr txBox="1"/>
            <p:nvPr/>
          </p:nvSpPr>
          <p:spPr>
            <a:xfrm>
              <a:off x="1102995" y="3374708"/>
              <a:ext cx="713689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为什么现在火，机会与销毛潜力在哪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39285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不是炒概念，是 AI 落地深水区的结构性必然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FDE 经委会汇报 · 第二章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06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5460075" cy="1046798"/>
            <a:chOff x="542925" y="458152"/>
            <a:chExt cx="5460075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02 · 机会与销毛潜力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54600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不缺 Demo，缺把 AI 真正跑进业务的人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2151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矛盾从「模型能不能做」转向「组织怎么用」——95→99％ 才是 FDE 的战场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29050" y="3600450"/>
            <a:ext cx="4495800" cy="1"/>
            <a:chOff x="3829050" y="3600450"/>
            <a:chExt cx="4495800" cy="1"/>
          </a:xfrm>
        </p:grpSpPr>
        <p:sp>
          <p:nvSpPr>
            <p:cNvPr id="8" name="Line 8"/>
            <p:cNvSpPr/>
            <p:nvPr/>
          </p:nvSpPr>
          <p:spPr>
            <a:xfrm>
              <a:off x="3829050" y="3600450"/>
              <a:ext cx="590550" cy="1"/>
            </a:xfrm>
            <a:prstGeom prst="line">
              <a:avLst/>
            </a:prstGeom>
            <a:noFill/>
            <a:ln w="28575">
              <a:solidFill>
                <a:srgbClr val="B8C7E0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7734300" y="3600450"/>
              <a:ext cx="590550" cy="1"/>
            </a:xfrm>
            <a:prstGeom prst="line">
              <a:avLst/>
            </a:prstGeom>
            <a:noFill/>
            <a:ln w="28575">
              <a:solidFill>
                <a:srgbClr val="B8C7E0"/>
              </a:solidFill>
              <a:tailEnd type="triangle" w="lg" len="lg"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809750"/>
            <a:ext cx="3238500" cy="3524250"/>
            <a:chOff x="571500" y="1809750"/>
            <a:chExt cx="3238500" cy="3524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3238500" cy="3524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2440" y="2171700"/>
              <a:ext cx="191662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80</a:t>
              </a:r>
              <a:r>
                <a:rPr lang="zh-CN" sz="2400" b="1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1382" y="3010852"/>
              <a:ext cx="5587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 → 80％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3147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6B7785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23478" y="33947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原型期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52500" y="38290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8681" y="4034314"/>
              <a:ext cx="20641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通用大模型 + 简单 Prompt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409" y="43200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一天就能搭出「挺好用」的原型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4819650"/>
              <a:ext cx="2286000" cy="342900"/>
            </a:xfrm>
            <a:prstGeom prst="roundRect">
              <a:avLst>
                <a:gd name="adj" fmla="val 50000"/>
              </a:avLst>
            </a:prstGeom>
            <a:solidFill>
              <a:srgbClr val="6B778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39320" y="4926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门槛低 · 人人能做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6750" y="1809750"/>
            <a:ext cx="3238500" cy="3524250"/>
            <a:chOff x="4476750" y="1809750"/>
            <a:chExt cx="3238500" cy="3524250"/>
          </a:xfrm>
        </p:grpSpPr>
        <p:sp>
          <p:nvSpPr>
            <p:cNvPr id="22" name="Rectangle 22"/>
            <p:cNvSpPr/>
            <p:nvPr/>
          </p:nvSpPr>
          <p:spPr>
            <a:xfrm>
              <a:off x="4476750" y="1809750"/>
              <a:ext cx="3238500" cy="3524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37690" y="2171700"/>
              <a:ext cx="191662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95</a:t>
              </a:r>
              <a:r>
                <a:rPr lang="zh-CN" sz="24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78127" y="3010852"/>
              <a:ext cx="635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80 → 95％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524500" y="33147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28728" y="33947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可用期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857750" y="38290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14712" y="40343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行业术语、边界情况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83395" y="4320064"/>
              <a:ext cx="26252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需 Prompt / 规则 / 数据 / 测试集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57750" y="4819650"/>
              <a:ext cx="2476500" cy="3429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18580" y="49268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很难 · 投入陡增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382000" y="1809750"/>
            <a:ext cx="3238500" cy="3524250"/>
            <a:chOff x="8382000" y="1809750"/>
            <a:chExt cx="3238500" cy="3524250"/>
          </a:xfrm>
        </p:grpSpPr>
        <p:sp>
          <p:nvSpPr>
            <p:cNvPr id="33" name="Rectangle 33"/>
            <p:cNvSpPr/>
            <p:nvPr/>
          </p:nvSpPr>
          <p:spPr>
            <a:xfrm>
              <a:off x="8382000" y="1809750"/>
              <a:ext cx="3238500" cy="3524250"/>
            </a:xfrm>
            <a:prstGeom prst="roundRect">
              <a:avLst>
                <a:gd name="adj" fmla="val 3529"/>
              </a:avLst>
            </a:prstGeom>
            <a:solidFill>
              <a:srgbClr val="0052A6">
                <a:alpha val="5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42940" y="2171700"/>
              <a:ext cx="191662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99</a:t>
              </a:r>
              <a:r>
                <a:rPr lang="zh-CN" sz="24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83377" y="3010852"/>
              <a:ext cx="635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95 → 99％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334500" y="3314700"/>
              <a:ext cx="1333500" cy="3048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98749" y="3394710"/>
              <a:ext cx="1005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可靠期 · FDE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763000" y="38290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B8C7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2692" y="4034314"/>
              <a:ext cx="18771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1％ 错误可能致严重后果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189" y="432006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专用平台 + 万级真实数据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763000" y="4819650"/>
              <a:ext cx="2476500" cy="3429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18341" y="4926806"/>
              <a:ext cx="9658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FDE 的主战场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5600700"/>
            <a:ext cx="11049000" cy="742950"/>
            <a:chOff x="571500" y="5600700"/>
            <a:chExt cx="11049000" cy="742950"/>
          </a:xfrm>
        </p:grpSpPr>
        <p:sp>
          <p:nvSpPr>
            <p:cNvPr id="44" name="Rectangle 44"/>
            <p:cNvSpPr/>
            <p:nvPr/>
          </p:nvSpPr>
          <p:spPr>
            <a:xfrm>
              <a:off x="571500" y="56007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560070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8200" y="5734050"/>
              <a:ext cx="118933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&gt;60％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69808" y="5786914"/>
              <a:ext cx="24335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的企业 AI 尝试仍停在试点阶段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72665" y="6039802"/>
              <a:ext cx="34570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即卡在「80％ 之前」——多数项目死在试点走向生产之间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07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32" grpId="0"/>
      <p:bldP spid="43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7980390" cy="1046798"/>
            <a:chOff x="542925" y="458152"/>
            <a:chExt cx="7980390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02 · 机会与销毛潜力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798039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AI 打开三道成本闸门，过去「不划算」的重交付重新可行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0311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三项成本同时下降，是 FDE 这类重交付模式「现在才成立」的底层原因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762125"/>
            <a:ext cx="3238500" cy="3619500"/>
            <a:chOff x="571500" y="1762125"/>
            <a:chExt cx="3238500" cy="3619500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3238500" cy="3619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71650" y="1981200"/>
              <a:ext cx="838200" cy="838200"/>
            </a:xfrm>
            <a:prstGeom prst="ellipse">
              <a:avLst/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033588" y="2243138"/>
              <a:ext cx="314325" cy="314325"/>
              <a:chOff x="2033588" y="2243138"/>
              <a:chExt cx="314325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033588" y="2243138"/>
                <a:ext cx="3143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157162">
                    <a:moveTo>
                      <a:pt x="0" y="157162"/>
                    </a:moveTo>
                    <a:lnTo>
                      <a:pt x="17463" y="157162"/>
                    </a:lnTo>
                    <a:moveTo>
                      <a:pt x="157162" y="0"/>
                    </a:moveTo>
                    <a:lnTo>
                      <a:pt x="157162" y="17463"/>
                    </a:lnTo>
                    <a:moveTo>
                      <a:pt x="296862" y="157162"/>
                    </a:moveTo>
                    <a:lnTo>
                      <a:pt x="314325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9" y="57626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96034" y="2312988"/>
                <a:ext cx="189433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3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3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9"/>
                      <a:pt x="114005" y="244475"/>
                      <a:pt x="94716" y="244475"/>
                    </a:cubicBezTo>
                    <a:cubicBezTo>
                      <a:pt x="75428" y="244475"/>
                      <a:pt x="59791" y="228839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150586" y="2487612"/>
                <a:ext cx="8032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8" h="9525">
                    <a:moveTo>
                      <a:pt x="0" y="0"/>
                    </a:moveTo>
                    <a:lnTo>
                      <a:pt x="80328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2371725" y="1933575"/>
              <a:ext cx="323850" cy="32385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49162" y="19840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31595" y="302895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行业知识蒸馏成本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28750" y="33528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13330" y="34409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成本 ↓ 显著下降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9441" y="38628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一线人员能现场写脚本、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4472" y="412956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封装工具、搭原型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6291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56887" y="47825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意味着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51359" y="4974431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经验不再锁在专家脑子里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76750" y="1762125"/>
            <a:ext cx="3238500" cy="3619500"/>
            <a:chOff x="4476750" y="1762125"/>
            <a:chExt cx="3238500" cy="3619500"/>
          </a:xfrm>
        </p:grpSpPr>
        <p:sp>
          <p:nvSpPr>
            <p:cNvPr id="25" name="Rectangle 25"/>
            <p:cNvSpPr/>
            <p:nvPr/>
          </p:nvSpPr>
          <p:spPr>
            <a:xfrm>
              <a:off x="4476750" y="1762125"/>
              <a:ext cx="3238500" cy="3619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76900" y="1981200"/>
              <a:ext cx="838200" cy="838200"/>
            </a:xfrm>
            <a:prstGeom prst="ellipse">
              <a:avLst/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938838" y="2243138"/>
              <a:ext cx="314324" cy="314324"/>
              <a:chOff x="5938838" y="2243138"/>
              <a:chExt cx="314324" cy="31432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938838" y="24876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183312" y="224313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34925" y="69850"/>
                    </a:move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  <a:cubicBezTo>
                      <a:pt x="0" y="54214"/>
                      <a:pt x="15636" y="69850"/>
                      <a:pt x="34925" y="698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973762" y="2278062"/>
                <a:ext cx="261938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244475">
                    <a:moveTo>
                      <a:pt x="104775" y="244475"/>
                    </a:moveTo>
                    <a:lnTo>
                      <a:pt x="200819" y="244475"/>
                    </a:lnTo>
                    <a:cubicBezTo>
                      <a:pt x="234574" y="244475"/>
                      <a:pt x="261938" y="217111"/>
                      <a:pt x="261938" y="183356"/>
                    </a:cubicBezTo>
                    <a:cubicBezTo>
                      <a:pt x="261938" y="149601"/>
                      <a:pt x="234574" y="122238"/>
                      <a:pt x="200819" y="122238"/>
                    </a:cubicBezTo>
                    <a:lnTo>
                      <a:pt x="61119" y="122238"/>
                    </a:lnTo>
                    <a:cubicBezTo>
                      <a:pt x="27364" y="122238"/>
                      <a:pt x="0" y="94874"/>
                      <a:pt x="0" y="61119"/>
                    </a:cubicBezTo>
                    <a:cubicBezTo>
                      <a:pt x="0" y="27364"/>
                      <a:pt x="27364" y="0"/>
                      <a:pt x="61119" y="0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1" name="Ellipse 31"/>
            <p:cNvSpPr/>
            <p:nvPr/>
          </p:nvSpPr>
          <p:spPr>
            <a:xfrm>
              <a:off x="6276975" y="1933575"/>
              <a:ext cx="323850" cy="32385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4412" y="19840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46871" y="30289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定制开发成本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0" y="33528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18580" y="34409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成本 ↓ 显著下降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84733" y="386286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小团队即可完成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99722" y="412956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从想法到价值验证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05350" y="46291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62137" y="47825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意味着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31581" y="4974431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过去不划算的定制，现在做得起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382000" y="1762125"/>
            <a:ext cx="3238500" cy="3619500"/>
            <a:chOff x="8382000" y="1762125"/>
            <a:chExt cx="3238500" cy="3619500"/>
          </a:xfrm>
        </p:grpSpPr>
        <p:sp>
          <p:nvSpPr>
            <p:cNvPr id="42" name="Rectangle 42"/>
            <p:cNvSpPr/>
            <p:nvPr/>
          </p:nvSpPr>
          <p:spPr>
            <a:xfrm>
              <a:off x="8382000" y="1762125"/>
              <a:ext cx="3238500" cy="3619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582150" y="1981200"/>
              <a:ext cx="838200" cy="838200"/>
            </a:xfrm>
            <a:prstGeom prst="ellipse">
              <a:avLst/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844088" y="2243138"/>
              <a:ext cx="314325" cy="314325"/>
              <a:chOff x="9844088" y="2243138"/>
              <a:chExt cx="314325" cy="3143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879012" y="2243138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44088" y="2452688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071100" y="2245408"/>
                <a:ext cx="52524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52524" h="135334">
                    <a:moveTo>
                      <a:pt x="0" y="0"/>
                    </a:moveTo>
                    <a:cubicBezTo>
                      <a:pt x="30907" y="7913"/>
                      <a:pt x="52524" y="35763"/>
                      <a:pt x="52524" y="67667"/>
                    </a:cubicBezTo>
                    <a:cubicBezTo>
                      <a:pt x="52524" y="99571"/>
                      <a:pt x="30907" y="127421"/>
                      <a:pt x="0" y="135334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106025" y="2455307"/>
                <a:ext cx="52388" cy="102156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02156">
                    <a:moveTo>
                      <a:pt x="52388" y="102156"/>
                    </a:moveTo>
                    <a:lnTo>
                      <a:pt x="52388" y="67231"/>
                    </a:lnTo>
                    <a:cubicBezTo>
                      <a:pt x="52205" y="35529"/>
                      <a:pt x="30696" y="792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9" name="Ellipse 49"/>
            <p:cNvSpPr/>
            <p:nvPr/>
          </p:nvSpPr>
          <p:spPr>
            <a:xfrm>
              <a:off x="10182225" y="1933575"/>
              <a:ext cx="323850" cy="32385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259662" y="19840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37082" y="302895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复合型人才供给成本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239250" y="33528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23830" y="34409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成本 ↓ 显著下降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37189" y="386286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AI 补齐部分工程 / 文档 /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45015" y="41295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产品能力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610600" y="46291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67387" y="47825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意味着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11878" y="49744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一个人能顶多个角色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5600700"/>
            <a:ext cx="11049000" cy="700088"/>
            <a:chOff x="571500" y="5600700"/>
            <a:chExt cx="11049000" cy="700088"/>
          </a:xfrm>
        </p:grpSpPr>
        <p:sp>
          <p:nvSpPr>
            <p:cNvPr id="60" name="Rectangle 60"/>
            <p:cNvSpPr/>
            <p:nvPr/>
          </p:nvSpPr>
          <p:spPr>
            <a:xfrm>
              <a:off x="571500" y="56007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78681" y="5866606"/>
              <a:ext cx="242888" cy="134938"/>
              <a:chOff x="878681" y="5866606"/>
              <a:chExt cx="242888" cy="134938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78681" y="5866606"/>
                <a:ext cx="24288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34938">
                    <a:moveTo>
                      <a:pt x="0" y="134938"/>
                    </a:moveTo>
                    <a:lnTo>
                      <a:pt x="80962" y="53975"/>
                    </a:lnTo>
                    <a:lnTo>
                      <a:pt x="134938" y="107950"/>
                    </a:ln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27113" y="5866606"/>
                <a:ext cx="94456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4456">
                    <a:moveTo>
                      <a:pt x="0" y="0"/>
                    </a:moveTo>
                    <a:lnTo>
                      <a:pt x="94456" y="0"/>
                    </a:lnTo>
                    <a:lnTo>
                      <a:pt x="94456" y="9445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82065" y="58302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底层逻辑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78255" y="6026468"/>
              <a:ext cx="45708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可编码的经验正在廉价化，不可编码的洞察正在稀缺化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08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59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672977" cy="1046798"/>
            <a:chOff x="542925" y="458152"/>
            <a:chExt cx="6672977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02 · 机会与销毛潜力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67297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不是只讲故事的赔本买卖，有真实的高毛利逻辑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9749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标杆毛利 82％，国内已有真金白银验证 FDE 可独立定价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714500"/>
            <a:ext cx="5334000" cy="1952625"/>
            <a:chOff x="571500" y="1714500"/>
            <a:chExt cx="5334000" cy="1952625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23900" y="1905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6308" y="1976914"/>
              <a:ext cx="1317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Palantir 毛利率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0118" y="2218849"/>
              <a:ext cx="1428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Forward Deployed 标杆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0" y="19050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953333" y="19807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海外标杆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9635" y="2513648"/>
              <a:ext cx="1581212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82</a:t>
              </a:r>
              <a:r>
                <a:rPr lang="zh-CN" sz="22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8212" y="3307556"/>
              <a:ext cx="27589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接近纯软件公司 · 远高于咨询业 </a:t>
              </a:r>
              <a:r>
                <a:rPr lang="zh-CN" sz="11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30–40％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714500"/>
            <a:ext cx="5334000" cy="1952625"/>
            <a:chOff x="6286500" y="1714500"/>
            <a:chExt cx="5334000" cy="1952625"/>
          </a:xfrm>
        </p:grpSpPr>
        <p:sp>
          <p:nvSpPr>
            <p:cNvPr id="17" name="Rectangle 17"/>
            <p:cNvSpPr/>
            <p:nvPr/>
          </p:nvSpPr>
          <p:spPr>
            <a:xfrm>
              <a:off x="6286500" y="17145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38900" y="1905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51308" y="1976914"/>
              <a:ext cx="23353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Bootcamp 5 天驻场 · 转化率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5118" y="221884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现场培训 + 工具落地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77500" y="19050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668333" y="19807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海外案例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04635" y="2513648"/>
              <a:ext cx="1581212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70</a:t>
              </a:r>
              <a:r>
                <a:rPr lang="zh-CN" sz="22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3212" y="3307556"/>
              <a:ext cx="18363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同时获客成本降低 </a:t>
              </a:r>
              <a:r>
                <a:rPr lang="zh-CN" sz="11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40–60％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810000"/>
            <a:ext cx="5334000" cy="1952625"/>
            <a:chOff x="571500" y="3810000"/>
            <a:chExt cx="5334000" cy="1952625"/>
          </a:xfrm>
        </p:grpSpPr>
        <p:sp>
          <p:nvSpPr>
            <p:cNvPr id="26" name="Rectangle 26"/>
            <p:cNvSpPr/>
            <p:nvPr/>
          </p:nvSpPr>
          <p:spPr>
            <a:xfrm>
              <a:off x="571500" y="38100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0052A6">
                <a:alpha val="4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" y="40005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6308" y="4072414"/>
              <a:ext cx="24245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腾讯云 FDE 服务 · 头部客单价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0118" y="43143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已被验证可独立定价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400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53333" y="40762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国内验证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1065" y="4658678"/>
              <a:ext cx="359035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100–500</a:t>
              </a:r>
              <a:r>
                <a:rPr lang="zh-CN" sz="19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 xml:space="preserve"> 万元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8212" y="5326856"/>
              <a:ext cx="30439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头部客户年合同量级 · FDE 作为服务单独定价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86500" y="3810000"/>
            <a:ext cx="5334000" cy="1952625"/>
            <a:chOff x="6286500" y="3810000"/>
            <a:chExt cx="5334000" cy="1952625"/>
          </a:xfrm>
        </p:grpSpPr>
        <p:sp>
          <p:nvSpPr>
            <p:cNvPr id="35" name="Rectangle 35"/>
            <p:cNvSpPr/>
            <p:nvPr/>
          </p:nvSpPr>
          <p:spPr>
            <a:xfrm>
              <a:off x="6286500" y="38100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38900" y="40005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20A7B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1308" y="4072414"/>
              <a:ext cx="16658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收入逻辑 · 长期引擎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5118" y="43143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席位费是入口，不是终局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400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20A7B8">
                <a:alpha val="14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68333" y="40762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0A7B8"/>
                  </a:solidFill>
                  <a:latin typeface="Arial"/>
                  <a:ea typeface="Microsoft YaHei"/>
                  <a:cs typeface="Arial"/>
                </a:rPr>
                <a:t>商业模式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6550" y="4791075"/>
              <a:ext cx="419100" cy="419100"/>
            </a:xfrm>
            <a:prstGeom prst="ellipse">
              <a:avLst/>
            </a:prstGeom>
            <a:solidFill>
              <a:srgbClr val="20A7B8">
                <a:alpha val="12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81800" y="4880812"/>
              <a:ext cx="228600" cy="239625"/>
              <a:chOff x="6781800" y="4880812"/>
              <a:chExt cx="228600" cy="2396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81800" y="48808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81800" y="50149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229475" y="471011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0A7B8"/>
                  </a:solidFill>
                  <a:latin typeface="Arial"/>
                  <a:ea typeface="Microsoft YaHei"/>
                  <a:cs typeface="Arial"/>
                </a:rPr>
                <a:t>持续消耗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3762" y="511730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客户越用越深，消耗才是长期收入引擎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189345"/>
            <a:ext cx="11070907" cy="461486"/>
            <a:chOff x="560070" y="6189345"/>
            <a:chExt cx="11070907" cy="461486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189345"/>
              <a:ext cx="2921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数据来源：公开财报与行业案例整理 · 数字为量级参考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09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4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704481" cy="1046798"/>
            <a:chOff x="542925" y="458152"/>
            <a:chExt cx="670448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02 · 机会与销毛潜力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7044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招聘、大厂、政策三重信号——不是我们在追风口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5429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三股力量同时指向同一个方向：FDE 已成行业共识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66875"/>
            <a:ext cx="11049000" cy="1143000"/>
            <a:chOff x="571500" y="1666875"/>
            <a:chExt cx="11049000" cy="11430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66875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1933575"/>
              <a:ext cx="609600" cy="609600"/>
            </a:xfrm>
            <a:prstGeom prst="ellipse">
              <a:avLst/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09650" y="2143125"/>
              <a:ext cx="342900" cy="190500"/>
              <a:chOff x="1009650" y="2143125"/>
              <a:chExt cx="342900" cy="19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09650" y="2143125"/>
                <a:ext cx="3429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0500">
                    <a:moveTo>
                      <a:pt x="0" y="190500"/>
                    </a:moveTo>
                    <a:lnTo>
                      <a:pt x="114300" y="76200"/>
                    </a:lnTo>
                    <a:lnTo>
                      <a:pt x="190500" y="152400"/>
                    </a:lnTo>
                    <a:lnTo>
                      <a:pt x="342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200" y="21431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696402" y="20178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招聘信号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118" y="22950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海外岗位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0355" y="1968818"/>
              <a:ext cx="1971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海外 FDE 岗位一年猛增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43212" y="225980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643 个 → 5330 个 · 平均年薪约 19.6 万美元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83369" y="2060258"/>
              <a:ext cx="14913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1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+729％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019425"/>
            <a:ext cx="11049000" cy="1143000"/>
            <a:chOff x="571500" y="3019425"/>
            <a:chExt cx="11049000" cy="1143000"/>
          </a:xfrm>
        </p:grpSpPr>
        <p:sp>
          <p:nvSpPr>
            <p:cNvPr id="20" name="Rectangle 20"/>
            <p:cNvSpPr/>
            <p:nvPr/>
          </p:nvSpPr>
          <p:spPr>
            <a:xfrm>
              <a:off x="571500" y="3019425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3019425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" y="3286125"/>
              <a:ext cx="609600" cy="60960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09650" y="3419475"/>
              <a:ext cx="342900" cy="361950"/>
              <a:chOff x="1009650" y="3419475"/>
              <a:chExt cx="342900" cy="3619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66800" y="34194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81100" y="3419475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0" y="0"/>
                    </a:moveTo>
                    <a:cubicBezTo>
                      <a:pt x="25394" y="6344"/>
                      <a:pt x="38100" y="44444"/>
                      <a:pt x="38100" y="114300"/>
                    </a:cubicBezTo>
                    <a:cubicBezTo>
                      <a:pt x="38100" y="184156"/>
                      <a:pt x="25394" y="222256"/>
                      <a:pt x="0" y="2286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43000" y="3419475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100" y="0"/>
                    </a:moveTo>
                    <a:cubicBezTo>
                      <a:pt x="12706" y="6344"/>
                      <a:pt x="0" y="44444"/>
                      <a:pt x="0" y="114300"/>
                    </a:cubicBezTo>
                    <a:cubicBezTo>
                      <a:pt x="0" y="184156"/>
                      <a:pt x="12706" y="222256"/>
                      <a:pt x="38100" y="2286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66800" y="353377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09650" y="374332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19200" y="374332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43000" y="37052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81100" y="364807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696402" y="33704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大厂下场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02118" y="36475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真金白银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40355" y="3321368"/>
              <a:ext cx="3030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AWS 投 10 亿美元组建企业交付团队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43212" y="3612356"/>
              <a:ext cx="3471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OpenAI、Anthropic 直接做企业交付，不再只卖 API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25949" y="3412808"/>
              <a:ext cx="12488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1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$10亿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4371975"/>
            <a:ext cx="11049000" cy="1143000"/>
            <a:chOff x="571500" y="4371975"/>
            <a:chExt cx="110490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571500" y="4371975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0E9F6E">
                <a:alpha val="6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1500" y="4371975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76300" y="4638675"/>
              <a:ext cx="609600" cy="609600"/>
            </a:xfrm>
            <a:prstGeom prst="ellipse">
              <a:avLst/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009650" y="4810125"/>
              <a:ext cx="342900" cy="323850"/>
              <a:chOff x="1009650" y="4810125"/>
              <a:chExt cx="342900" cy="3238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181100" y="49434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00150" y="5048250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>
                    <a:moveTo>
                      <a:pt x="0" y="0"/>
                    </a:moveTo>
                    <a:lnTo>
                      <a:pt x="0" y="85725"/>
                    </a:lnTo>
                    <a:lnTo>
                      <a:pt x="38100" y="57150"/>
                    </a:lnTo>
                    <a:lnTo>
                      <a:pt x="76200" y="857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09650" y="4810125"/>
                <a:ext cx="3429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66700">
                    <a:moveTo>
                      <a:pt x="133350" y="266700"/>
                    </a:move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145"/>
                      <a:pt x="17145" y="0"/>
                      <a:pt x="38100" y="0"/>
                    </a:cubicBezTo>
                    <a:lnTo>
                      <a:pt x="304800" y="0"/>
                    </a:lnTo>
                    <a:cubicBezTo>
                      <a:pt x="325842" y="0"/>
                      <a:pt x="342900" y="17058"/>
                      <a:pt x="342900" y="38100"/>
                    </a:cubicBezTo>
                    <a:lnTo>
                      <a:pt x="342900" y="228600"/>
                    </a:lnTo>
                    <a:cubicBezTo>
                      <a:pt x="342886" y="242198"/>
                      <a:pt x="335626" y="254758"/>
                      <a:pt x="323850" y="261556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66800" y="488632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66800" y="49434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66800" y="50006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696402" y="47229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政策信号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02118" y="50001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产业共识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40355" y="4673918"/>
              <a:ext cx="29169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上海全国首个将 FDE 写入产业政策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43212" y="4964906"/>
              <a:ext cx="34865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2026 年 1 月 · 标志 FDE 从市场行为升级为产业方向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74186" y="48301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5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全国首个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695950"/>
            <a:ext cx="11049000" cy="571500"/>
            <a:chOff x="571500" y="5695950"/>
            <a:chExt cx="11049000" cy="571500"/>
          </a:xfrm>
        </p:grpSpPr>
        <p:sp>
          <p:nvSpPr>
            <p:cNvPr id="54" name="Rectangle 54"/>
            <p:cNvSpPr/>
            <p:nvPr/>
          </p:nvSpPr>
          <p:spPr>
            <a:xfrm>
              <a:off x="571500" y="569595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59631" y="5919788"/>
              <a:ext cx="166688" cy="142875"/>
              <a:chOff x="859631" y="5919788"/>
              <a:chExt cx="166688" cy="1428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59631" y="5991225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54881" y="5991225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4881" y="591978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183958" y="5920264"/>
              <a:ext cx="50042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FDE 已成行业共识，角色还在升级：从 FDE → FDX「外置 CEO」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10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7" grpId="0"/>
      <p:bldP spid="53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59E0B">
                    <a:alpha val="14000"/>
                  </a:srgbClr>
                </a:gs>
                <a:gs pos="100000">
                  <a:srgbClr val="F59E0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795443" cy="338138"/>
            <a:chOff x="1143000" y="2667000"/>
            <a:chExt cx="1795443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246BF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6220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CHAPTER 03 · 重头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358515"/>
            <a:ext cx="3061335" cy="1213485"/>
            <a:chOff x="1101090" y="3358515"/>
            <a:chExt cx="3061335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35851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真相与风险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值钱，但绝不是马上能变现的数字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2378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FDE 经委会汇报 · 第三章（全场最关键）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11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7287304" cy="1046798"/>
            <a:chOff x="542925" y="458152"/>
            <a:chExt cx="7287304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 · 真相与风险 · 重头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72873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FDE 是真机会，但三条约束决定了「能做、不能急」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847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这三条是市场的客观规律，不是保守——风险不在做不成，在用错节奏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666875"/>
            <a:ext cx="3429000" cy="3619500"/>
            <a:chOff x="571500" y="1666875"/>
            <a:chExt cx="3429000" cy="36195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F59E0B">
                  <a:alpha val="45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71500" y="1666875"/>
              <a:ext cx="3429000" cy="952500"/>
            </a:xfrm>
            <a:custGeom>
              <a:avLst/>
              <a:gdLst/>
              <a:ahLst/>
              <a:cxnLst/>
              <a:rect l="l" t="t" r="r" b="b"/>
              <a:pathLst>
                <a:path w="3429000" h="952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000250" y="1762125"/>
              <a:ext cx="571500" cy="571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093879" y="1870096"/>
              <a:ext cx="384228" cy="330103"/>
              <a:chOff x="2093879" y="1870096"/>
              <a:chExt cx="384228" cy="33010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286000" y="19907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093879" y="1870096"/>
                <a:ext cx="384228" cy="330103"/>
              </a:xfrm>
              <a:custGeom>
                <a:avLst/>
                <a:gdLst/>
                <a:ahLst/>
                <a:cxnLst/>
                <a:rect l="l" t="t" r="r" b="b"/>
                <a:pathLst>
                  <a:path w="384228" h="330103">
                    <a:moveTo>
                      <a:pt x="160937" y="17587"/>
                    </a:moveTo>
                    <a:lnTo>
                      <a:pt x="6517" y="275410"/>
                    </a:lnTo>
                    <a:cubicBezTo>
                      <a:pt x="40" y="286628"/>
                      <a:pt x="0" y="300440"/>
                      <a:pt x="6413" y="311695"/>
                    </a:cubicBezTo>
                    <a:cubicBezTo>
                      <a:pt x="12827" y="322950"/>
                      <a:pt x="24730" y="329957"/>
                      <a:pt x="37683" y="330103"/>
                    </a:cubicBezTo>
                    <a:lnTo>
                      <a:pt x="346560" y="330103"/>
                    </a:lnTo>
                    <a:cubicBezTo>
                      <a:pt x="359507" y="329953"/>
                      <a:pt x="371404" y="322949"/>
                      <a:pt x="377816" y="311700"/>
                    </a:cubicBezTo>
                    <a:cubicBezTo>
                      <a:pt x="384228" y="300451"/>
                      <a:pt x="384194" y="286646"/>
                      <a:pt x="377726" y="275429"/>
                    </a:cubicBezTo>
                    <a:lnTo>
                      <a:pt x="223306" y="17568"/>
                    </a:lnTo>
                    <a:cubicBezTo>
                      <a:pt x="216699" y="6662"/>
                      <a:pt x="204873" y="0"/>
                      <a:pt x="192121" y="0"/>
                    </a:cubicBezTo>
                    <a:cubicBezTo>
                      <a:pt x="179370" y="0"/>
                      <a:pt x="167544" y="6662"/>
                      <a:pt x="160937" y="1756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86000" y="2124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1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63164" y="2382202"/>
              <a:ext cx="4456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风险 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6444" y="27936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新兴行业无规范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76300" y="32194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rgbClr val="FBD9A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0108" y="3462814"/>
              <a:ext cx="17070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业务流程无行业标准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0108" y="3786664"/>
              <a:ext cx="17070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商业化路径尚不成熟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0108" y="4110514"/>
              <a:ext cx="20471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成功案例可复制性待验证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4552950"/>
              <a:ext cx="2819400" cy="495300"/>
            </a:xfrm>
            <a:prstGeom prst="roundRect">
              <a:avLst>
                <a:gd name="adj" fmla="val 15385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12595" y="4744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没有现成作业可抄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1666875"/>
            <a:ext cx="3429000" cy="3619500"/>
            <a:chOff x="4381500" y="1666875"/>
            <a:chExt cx="3429000" cy="3619500"/>
          </a:xfrm>
        </p:grpSpPr>
        <p:sp>
          <p:nvSpPr>
            <p:cNvPr id="24" name="Rectangle 24"/>
            <p:cNvSpPr/>
            <p:nvPr/>
          </p:nvSpPr>
          <p:spPr>
            <a:xfrm>
              <a:off x="4381500" y="1666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F59E0B">
                  <a:alpha val="45000"/>
                </a:srgb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381500" y="1666875"/>
              <a:ext cx="3429000" cy="952500"/>
            </a:xfrm>
            <a:custGeom>
              <a:avLst/>
              <a:gdLst/>
              <a:ahLst/>
              <a:cxnLst/>
              <a:rect l="l" t="t" r="r" b="b"/>
              <a:pathLst>
                <a:path w="3429000" h="952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810250" y="1762125"/>
              <a:ext cx="571500" cy="571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924550" y="1876425"/>
              <a:ext cx="342900" cy="342900"/>
              <a:chOff x="5924550" y="1876425"/>
              <a:chExt cx="342900" cy="3429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962650" y="187642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924550" y="210502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172200" y="1878902"/>
                <a:ext cx="57299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57299" h="147638">
                    <a:moveTo>
                      <a:pt x="0" y="0"/>
                    </a:moveTo>
                    <a:cubicBezTo>
                      <a:pt x="33717" y="8633"/>
                      <a:pt x="57299" y="39014"/>
                      <a:pt x="57299" y="73819"/>
                    </a:cubicBezTo>
                    <a:cubicBezTo>
                      <a:pt x="57299" y="108623"/>
                      <a:pt x="33717" y="139005"/>
                      <a:pt x="0" y="14763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10300" y="2107882"/>
                <a:ext cx="57150" cy="11144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1442">
                    <a:moveTo>
                      <a:pt x="57150" y="111442"/>
                    </a:moveTo>
                    <a:lnTo>
                      <a:pt x="57150" y="73342"/>
                    </a:lnTo>
                    <a:cubicBezTo>
                      <a:pt x="56951" y="38759"/>
                      <a:pt x="33486" y="8646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873164" y="2382202"/>
              <a:ext cx="4456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风险 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50930" y="27936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人才苛刻到招不到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686300" y="32194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rgbClr val="FBD9A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70108" y="346281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复合人才极度稀缺，几乎招不到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70108" y="3786664"/>
              <a:ext cx="27782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内部转型需「意愿 + 培训 + 工具」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70108" y="4110514"/>
              <a:ext cx="2013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培养周期长达 9–18 个月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86300" y="4552950"/>
              <a:ext cx="2819400" cy="495300"/>
            </a:xfrm>
            <a:prstGeom prst="roundRect">
              <a:avLst>
                <a:gd name="adj" fmla="val 15385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82578" y="47444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瓶颈在人，且是长周期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91500" y="1666875"/>
            <a:ext cx="3429000" cy="3619500"/>
            <a:chOff x="8191500" y="1666875"/>
            <a:chExt cx="3429000" cy="3619500"/>
          </a:xfrm>
        </p:grpSpPr>
        <p:sp>
          <p:nvSpPr>
            <p:cNvPr id="41" name="Rectangle 41"/>
            <p:cNvSpPr/>
            <p:nvPr/>
          </p:nvSpPr>
          <p:spPr>
            <a:xfrm>
              <a:off x="8191500" y="1666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F59E0B">
                  <a:alpha val="45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191500" y="1666875"/>
              <a:ext cx="3429000" cy="952500"/>
            </a:xfrm>
            <a:custGeom>
              <a:avLst/>
              <a:gdLst/>
              <a:ahLst/>
              <a:cxnLst/>
              <a:rect l="l" t="t" r="r" b="b"/>
              <a:pathLst>
                <a:path w="3429000" h="952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620250" y="1762125"/>
              <a:ext cx="571500" cy="571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734550" y="1895159"/>
              <a:ext cx="361950" cy="333691"/>
              <a:chOff x="9734550" y="1895159"/>
              <a:chExt cx="361950" cy="33369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753600" y="1990725"/>
                <a:ext cx="190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28600">
                    <a:moveTo>
                      <a:pt x="0" y="228600"/>
                    </a:moveTo>
                    <a:cubicBezTo>
                      <a:pt x="21850" y="152019"/>
                      <a:pt x="37776" y="75686"/>
                      <a:pt x="38100" y="0"/>
                    </a:cubicBezTo>
                    <a:lnTo>
                      <a:pt x="152400" y="0"/>
                    </a:lnTo>
                    <a:cubicBezTo>
                      <a:pt x="152724" y="75686"/>
                      <a:pt x="168650" y="152019"/>
                      <a:pt x="190500" y="2286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915525" y="2066925"/>
                <a:ext cx="1238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52400">
                    <a:moveTo>
                      <a:pt x="0" y="0"/>
                    </a:moveTo>
                    <a:lnTo>
                      <a:pt x="85725" y="0"/>
                    </a:lnTo>
                    <a:cubicBezTo>
                      <a:pt x="86201" y="49759"/>
                      <a:pt x="102756" y="100889"/>
                      <a:pt x="123825" y="1524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848850" y="1895159"/>
                <a:ext cx="228600" cy="38731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8731">
                    <a:moveTo>
                      <a:pt x="0" y="19366"/>
                    </a:moveTo>
                    <a:cubicBezTo>
                      <a:pt x="8785" y="7126"/>
                      <a:pt x="23037" y="0"/>
                      <a:pt x="38100" y="316"/>
                    </a:cubicBezTo>
                    <a:cubicBezTo>
                      <a:pt x="53163" y="0"/>
                      <a:pt x="67415" y="7126"/>
                      <a:pt x="76200" y="19366"/>
                    </a:cubicBezTo>
                    <a:cubicBezTo>
                      <a:pt x="84985" y="31605"/>
                      <a:pt x="99237" y="38731"/>
                      <a:pt x="114300" y="38416"/>
                    </a:cubicBezTo>
                    <a:cubicBezTo>
                      <a:pt x="129363" y="38731"/>
                      <a:pt x="143615" y="31605"/>
                      <a:pt x="152400" y="19366"/>
                    </a:cubicBezTo>
                    <a:cubicBezTo>
                      <a:pt x="161185" y="7126"/>
                      <a:pt x="175437" y="0"/>
                      <a:pt x="190500" y="316"/>
                    </a:cubicBezTo>
                    <a:cubicBezTo>
                      <a:pt x="205563" y="0"/>
                      <a:pt x="219815" y="7126"/>
                      <a:pt x="228600" y="19366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734550" y="2219325"/>
                <a:ext cx="361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9525">
                    <a:moveTo>
                      <a:pt x="0" y="0"/>
                    </a:moveTo>
                    <a:lnTo>
                      <a:pt x="36195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683164" y="2382202"/>
              <a:ext cx="4456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风险 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07473" y="27936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客户门槛高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496300" y="32194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rgbClr val="FBD9A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80108" y="3462814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需客户 IT 成熟度 + AI 接受度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80108" y="3786664"/>
              <a:ext cx="19196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需客户侧配备 FDE 协同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80108" y="4110514"/>
              <a:ext cx="18771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行业壁垒明显，非普适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496300" y="4552950"/>
              <a:ext cx="2819400" cy="495300"/>
            </a:xfrm>
            <a:prstGeom prst="roundRect">
              <a:avLst>
                <a:gd name="adj" fmla="val 15385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22569" y="47444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双边市场，难以快速起量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5476875"/>
            <a:ext cx="11049000" cy="628650"/>
            <a:chOff x="571500" y="5476875"/>
            <a:chExt cx="11049000" cy="628650"/>
          </a:xfrm>
        </p:grpSpPr>
        <p:sp>
          <p:nvSpPr>
            <p:cNvPr id="58" name="Rectangle 58"/>
            <p:cNvSpPr/>
            <p:nvPr/>
          </p:nvSpPr>
          <p:spPr>
            <a:xfrm>
              <a:off x="571500" y="5476875"/>
              <a:ext cx="11049000" cy="628650"/>
            </a:xfrm>
            <a:prstGeom prst="roundRect">
              <a:avLst>
                <a:gd name="adj" fmla="val 18182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71500" y="5476875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6765" y="57540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逻辑链条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714500" y="5629275"/>
              <a:ext cx="1143000" cy="32385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035433" y="571738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真机会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988945" y="5679758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276600" y="5629275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43335" y="5717381"/>
              <a:ext cx="2076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三条结构性约束（客观规律）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17845" y="5679758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905500" y="5610225"/>
              <a:ext cx="2895600" cy="3619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69364" y="5718810"/>
              <a:ext cx="1567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战略重视 · 节奏稳妥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78265" y="57350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潜力真实，约束也真实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12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0" grpId="0"/>
      <p:bldP spid="57" grpId="0"/>
      <p:bldP spid="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782741" cy="1046798"/>
            <a:chOff x="542925" y="458152"/>
            <a:chExt cx="478274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 · 真相与风险 · 重头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硅谷的赚钱模式，国内还远达不到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086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国内 FDE 和国外「根本不是一回事」——核心挑战是经济性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571625"/>
            <a:ext cx="11049000" cy="533400"/>
            <a:chOff x="571500" y="1571625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1571625"/>
              <a:ext cx="2095500" cy="533400"/>
            </a:xfrm>
            <a:prstGeom prst="roundRect">
              <a:avLst>
                <a:gd name="adj" fmla="val 14286"/>
              </a:avLst>
            </a:prstGeom>
            <a:solidFill>
              <a:srgbClr val="E3E9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7968" y="17659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对比维度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57500" y="1571625"/>
              <a:ext cx="4191000" cy="533400"/>
            </a:xfrm>
            <a:prstGeom prst="roundRect">
              <a:avLst>
                <a:gd name="adj" fmla="val 14286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68739" y="1711350"/>
              <a:ext cx="253644" cy="241211"/>
            </a:xfrm>
            <a:custGeom>
              <a:avLst/>
              <a:gdLst/>
              <a:ahLst/>
              <a:cxnLst/>
              <a:rect l="l" t="t" r="r" b="b"/>
              <a:pathLst>
                <a:path w="253644" h="241211">
                  <a:moveTo>
                    <a:pt x="126911" y="200000"/>
                  </a:moveTo>
                  <a:lnTo>
                    <a:pt x="48527" y="241211"/>
                  </a:lnTo>
                  <a:lnTo>
                    <a:pt x="63500" y="153924"/>
                  </a:lnTo>
                  <a:lnTo>
                    <a:pt x="0" y="92113"/>
                  </a:lnTo>
                  <a:lnTo>
                    <a:pt x="87630" y="79413"/>
                  </a:lnTo>
                  <a:lnTo>
                    <a:pt x="126822" y="0"/>
                  </a:lnTo>
                  <a:lnTo>
                    <a:pt x="166014" y="79413"/>
                  </a:lnTo>
                  <a:lnTo>
                    <a:pt x="253644" y="92113"/>
                  </a:lnTo>
                  <a:lnTo>
                    <a:pt x="190144" y="153924"/>
                  </a:lnTo>
                  <a:lnTo>
                    <a:pt x="205118" y="241211"/>
                  </a:lnTo>
                  <a:lnTo>
                    <a:pt x="126911" y="20000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48308" y="17497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硅谷标杆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39000" y="1571625"/>
              <a:ext cx="4381500" cy="533400"/>
            </a:xfrm>
            <a:prstGeom prst="roundRect">
              <a:avLst>
                <a:gd name="adj" fmla="val 14286"/>
              </a:avLst>
            </a:prstGeom>
            <a:solidFill>
              <a:srgbClr val="6B778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34558" y="17497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国内现实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200275"/>
            <a:ext cx="11049000" cy="742950"/>
            <a:chOff x="571500" y="2200275"/>
            <a:chExt cx="11049000" cy="742950"/>
          </a:xfrm>
        </p:grpSpPr>
        <p:sp>
          <p:nvSpPr>
            <p:cNvPr id="16" name="Rectangle 16"/>
            <p:cNvSpPr/>
            <p:nvPr/>
          </p:nvSpPr>
          <p:spPr>
            <a:xfrm>
              <a:off x="571500" y="220027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26381" y="2366169"/>
              <a:ext cx="185737" cy="144462"/>
              <a:chOff x="1526381" y="2366169"/>
              <a:chExt cx="185737" cy="14446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526381" y="2366169"/>
                <a:ext cx="1444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8">
                    <a:moveTo>
                      <a:pt x="41275" y="103188"/>
                    </a:moveTo>
                    <a:lnTo>
                      <a:pt x="10319" y="103188"/>
                    </a:lnTo>
                    <a:cubicBezTo>
                      <a:pt x="4620" y="103188"/>
                      <a:pt x="0" y="98568"/>
                      <a:pt x="0" y="92869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2" y="4620"/>
                      <a:pt x="144462" y="10319"/>
                    </a:cubicBezTo>
                    <a:lnTo>
                      <a:pt x="144462" y="412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567656" y="2407444"/>
                <a:ext cx="144462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7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2" y="4620"/>
                      <a:pt x="144462" y="10319"/>
                    </a:cubicBezTo>
                    <a:lnTo>
                      <a:pt x="144462" y="92869"/>
                    </a:lnTo>
                    <a:cubicBezTo>
                      <a:pt x="144462" y="98568"/>
                      <a:pt x="139843" y="103187"/>
                      <a:pt x="134144" y="103187"/>
                    </a:cubicBezTo>
                    <a:lnTo>
                      <a:pt x="10319" y="103187"/>
                    </a:lnTo>
                    <a:cubicBezTo>
                      <a:pt x="4620" y="103187"/>
                      <a:pt x="0" y="98568"/>
                      <a:pt x="0" y="92869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619250" y="2438400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51978" y="266128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客单价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57500" y="220027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052A6">
                <a:alpha val="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76560" y="2359342"/>
              <a:ext cx="1952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六七位数美元 / 年合同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20552" y="26474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单客户百万美元级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39000" y="220027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42334" y="2359342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十万 – 百万人民币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3803" y="2647474"/>
              <a:ext cx="1051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差距约 10–100 倍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019425"/>
            <a:ext cx="11049000" cy="742950"/>
            <a:chOff x="571500" y="3019425"/>
            <a:chExt cx="11049000" cy="742950"/>
          </a:xfrm>
        </p:grpSpPr>
        <p:sp>
          <p:nvSpPr>
            <p:cNvPr id="29" name="Rectangle 29"/>
            <p:cNvSpPr/>
            <p:nvPr/>
          </p:nvSpPr>
          <p:spPr>
            <a:xfrm>
              <a:off x="571500" y="301942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526381" y="3175000"/>
              <a:ext cx="185737" cy="174625"/>
              <a:chOff x="1526381" y="3175000"/>
              <a:chExt cx="185737" cy="1746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26381" y="3257550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72231"/>
                    </a:lnTo>
                    <a:cubicBezTo>
                      <a:pt x="61912" y="77930"/>
                      <a:pt x="57293" y="82550"/>
                      <a:pt x="51594" y="82550"/>
                    </a:cubicBez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50206" y="3216275"/>
                <a:ext cx="61912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23825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113506"/>
                    </a:lnTo>
                    <a:cubicBezTo>
                      <a:pt x="61912" y="119205"/>
                      <a:pt x="57293" y="123825"/>
                      <a:pt x="51594" y="123825"/>
                    </a:cubicBezTo>
                    <a:lnTo>
                      <a:pt x="10319" y="123825"/>
                    </a:lnTo>
                    <a:cubicBezTo>
                      <a:pt x="4620" y="123825"/>
                      <a:pt x="0" y="119205"/>
                      <a:pt x="0" y="113506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588294" y="3175000"/>
                <a:ext cx="61912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6510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154781"/>
                    </a:lnTo>
                    <a:cubicBezTo>
                      <a:pt x="61912" y="160480"/>
                      <a:pt x="57293" y="165100"/>
                      <a:pt x="51594" y="165100"/>
                    </a:cubicBezTo>
                    <a:lnTo>
                      <a:pt x="10319" y="165100"/>
                    </a:lnTo>
                    <a:cubicBezTo>
                      <a:pt x="4620" y="165100"/>
                      <a:pt x="0" y="160480"/>
                      <a:pt x="0" y="15478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536700" y="3340100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67968" y="34804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数据底子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57500" y="301942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052A6">
                <a:alpha val="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67109" y="3178492"/>
              <a:ext cx="1971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ERP / CRM / ITSM 完善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25528" y="346662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数据沉淀深厚、可结构化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0" y="301942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1022" y="317849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流程写在默契里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32294" y="3466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数据散落、未结构化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3838575"/>
            <a:ext cx="11049000" cy="742950"/>
            <a:chOff x="571500" y="3838575"/>
            <a:chExt cx="11049000" cy="742950"/>
          </a:xfrm>
        </p:grpSpPr>
        <p:sp>
          <p:nvSpPr>
            <p:cNvPr id="43" name="Rectangle 43"/>
            <p:cNvSpPr/>
            <p:nvPr/>
          </p:nvSpPr>
          <p:spPr>
            <a:xfrm>
              <a:off x="571500" y="383857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526381" y="3993979"/>
              <a:ext cx="196056" cy="185115"/>
              <a:chOff x="1526381" y="3993979"/>
              <a:chExt cx="196056" cy="18511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536700" y="4045744"/>
                <a:ext cx="103187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23825">
                    <a:moveTo>
                      <a:pt x="0" y="123825"/>
                    </a:moveTo>
                    <a:cubicBezTo>
                      <a:pt x="11836" y="82344"/>
                      <a:pt x="20462" y="40996"/>
                      <a:pt x="20637" y="0"/>
                    </a:cubicBezTo>
                    <a:lnTo>
                      <a:pt x="82550" y="0"/>
                    </a:lnTo>
                    <a:cubicBezTo>
                      <a:pt x="82725" y="40996"/>
                      <a:pt x="91352" y="82344"/>
                      <a:pt x="103187" y="1238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624409" y="4087019"/>
                <a:ext cx="6707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7072" h="82550">
                    <a:moveTo>
                      <a:pt x="0" y="0"/>
                    </a:moveTo>
                    <a:lnTo>
                      <a:pt x="46434" y="0"/>
                    </a:lnTo>
                    <a:cubicBezTo>
                      <a:pt x="46692" y="26953"/>
                      <a:pt x="55659" y="54648"/>
                      <a:pt x="67072" y="825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588294" y="3993979"/>
                <a:ext cx="123825" cy="2097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0979">
                    <a:moveTo>
                      <a:pt x="0" y="10490"/>
                    </a:moveTo>
                    <a:cubicBezTo>
                      <a:pt x="4759" y="3860"/>
                      <a:pt x="12478" y="0"/>
                      <a:pt x="20637" y="171"/>
                    </a:cubicBezTo>
                    <a:cubicBezTo>
                      <a:pt x="28797" y="0"/>
                      <a:pt x="36516" y="3860"/>
                      <a:pt x="41275" y="10490"/>
                    </a:cubicBezTo>
                    <a:cubicBezTo>
                      <a:pt x="46034" y="17120"/>
                      <a:pt x="53753" y="20979"/>
                      <a:pt x="61912" y="20808"/>
                    </a:cubicBezTo>
                    <a:cubicBezTo>
                      <a:pt x="70072" y="20979"/>
                      <a:pt x="77791" y="17120"/>
                      <a:pt x="82550" y="10490"/>
                    </a:cubicBezTo>
                    <a:cubicBezTo>
                      <a:pt x="87309" y="3860"/>
                      <a:pt x="95028" y="0"/>
                      <a:pt x="103188" y="171"/>
                    </a:cubicBezTo>
                    <a:cubicBezTo>
                      <a:pt x="111347" y="0"/>
                      <a:pt x="119066" y="3860"/>
                      <a:pt x="123825" y="1049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526381" y="4169569"/>
                <a:ext cx="1960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6056" h="9525">
                    <a:moveTo>
                      <a:pt x="0" y="0"/>
                    </a:moveTo>
                    <a:lnTo>
                      <a:pt x="196056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267968" y="4299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标杆投入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857500" y="383857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052A6">
                <a:alpha val="5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948207" y="3997642"/>
              <a:ext cx="20095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Palantir 本体层 10+ 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54019" y="4285774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数百工程师 · 0.3％ 录用率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239000" y="383857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34558" y="3997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无法复制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97302" y="42857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投入差几个数量级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4657725"/>
            <a:ext cx="11049000" cy="742950"/>
            <a:chOff x="571500" y="4657725"/>
            <a:chExt cx="11049000" cy="742950"/>
          </a:xfrm>
        </p:grpSpPr>
        <p:sp>
          <p:nvSpPr>
            <p:cNvPr id="57" name="Rectangle 57"/>
            <p:cNvSpPr/>
            <p:nvPr/>
          </p:nvSpPr>
          <p:spPr>
            <a:xfrm>
              <a:off x="571500" y="465772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526381" y="4802981"/>
              <a:ext cx="185738" cy="185738"/>
              <a:chOff x="1526381" y="4802981"/>
              <a:chExt cx="185738" cy="18573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1608931" y="4885531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567656" y="4844256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526381" y="480298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267968" y="51187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核心挑战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857500" y="465772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E9F6E">
                <a:alpha val="8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368784" y="48167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高毛利已验证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24566" y="5104924"/>
              <a:ext cx="856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82％ 标杆成立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239000" y="465772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129070" y="48167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经济性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27319" y="51049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账要算得过来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71500" y="5572125"/>
            <a:ext cx="11049000" cy="571500"/>
            <a:chOff x="571500" y="5572125"/>
            <a:chExt cx="11049000" cy="571500"/>
          </a:xfrm>
        </p:grpSpPr>
        <p:sp>
          <p:nvSpPr>
            <p:cNvPr id="70" name="Rectangle 70"/>
            <p:cNvSpPr/>
            <p:nvPr/>
          </p:nvSpPr>
          <p:spPr>
            <a:xfrm>
              <a:off x="571500" y="5572125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25364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503408" y="5778818"/>
              <a:ext cx="51851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结论：硅谷模式不能照搬，国内 FDE 必须找到自己的经济模型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13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2" grpId="0"/>
      <p:bldP spid="56" grpId="0"/>
      <p:bldP spid="69" grpId="0"/>
      <p:bldP spid="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357938" cy="1046798"/>
            <a:chOff x="542925" y="458152"/>
            <a:chExt cx="6357938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 · 真相与风险 · 重头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357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最怕的不是做不成，是变成「换名字的外包」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3910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五类系统性风险，决定了 FDE 能不能从「项目」变成「生意」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66875"/>
            <a:ext cx="3429000" cy="2000250"/>
            <a:chOff x="571500" y="1666875"/>
            <a:chExt cx="3429000" cy="2000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58619" y="1865948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F59E0B">
                      <a:alphaMod val="12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1895475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3450" y="2023312"/>
              <a:ext cx="228600" cy="239625"/>
              <a:chOff x="933450" y="2023312"/>
              <a:chExt cx="228600" cy="2396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33450" y="20233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3450" y="21574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82002" y="258937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本体缺失恶性循环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6765" y="2915602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没沉淀 → 每单从零开始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31442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→ 更没时间沉淀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3371850"/>
              <a:ext cx="1714500" cy="2095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2406" y="3427095"/>
              <a:ext cx="104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最核心 · 边际成本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1666875"/>
            <a:ext cx="3429000" cy="2000250"/>
            <a:chOff x="4381500" y="1666875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4381500" y="1666875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68619" y="1865948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10100" y="1895475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729162" y="2014538"/>
              <a:ext cx="257175" cy="271462"/>
              <a:chOff x="4729162" y="2014538"/>
              <a:chExt cx="257175" cy="2714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772025" y="2014538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57750" y="20145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29175" y="20145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72025" y="2100262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729162" y="22574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886325" y="22574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29175" y="22288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857750" y="2185988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592002" y="25893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组织归属两难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6765" y="29156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放销售 / 交付 / 产品体系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96765" y="31442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每种归属各有陷阱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91500" y="1666875"/>
            <a:ext cx="3429000" cy="2000250"/>
            <a:chOff x="8191500" y="1666875"/>
            <a:chExt cx="3429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8191500" y="1666875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78619" y="1865948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420100" y="1895475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539162" y="2028825"/>
              <a:ext cx="257175" cy="238125"/>
              <a:chOff x="8539162" y="2028825"/>
              <a:chExt cx="257175" cy="2381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539162" y="2143125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00012"/>
                    </a:lnTo>
                    <a:cubicBezTo>
                      <a:pt x="85725" y="107903"/>
                      <a:pt x="79328" y="114300"/>
                      <a:pt x="71438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0612" y="2085975"/>
                <a:ext cx="857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57162"/>
                    </a:lnTo>
                    <a:cubicBezTo>
                      <a:pt x="85725" y="165053"/>
                      <a:pt x="79328" y="171450"/>
                      <a:pt x="7143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24888" y="2028825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214312"/>
                    </a:lnTo>
                    <a:cubicBezTo>
                      <a:pt x="85725" y="222203"/>
                      <a:pt x="79328" y="228600"/>
                      <a:pt x="71438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553450" y="2257425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402002" y="2589371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落地易、扩展难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06765" y="29156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新鲜感退去之后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06765" y="3144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使用率持续下滑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476500" y="3829050"/>
            <a:ext cx="3429000" cy="2000250"/>
            <a:chOff x="2476500" y="3829050"/>
            <a:chExt cx="3429000" cy="2000250"/>
          </a:xfrm>
        </p:grpSpPr>
        <p:sp>
          <p:nvSpPr>
            <p:cNvPr id="48" name="Rectangle 48"/>
            <p:cNvSpPr/>
            <p:nvPr/>
          </p:nvSpPr>
          <p:spPr>
            <a:xfrm>
              <a:off x="2476500" y="3829050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063619" y="402812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705100" y="405765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2824162" y="4205288"/>
              <a:ext cx="257175" cy="200025"/>
              <a:chOff x="2824162" y="4205288"/>
              <a:chExt cx="257175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2824162" y="4205288"/>
                <a:ext cx="2000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42875">
                    <a:moveTo>
                      <a:pt x="57150" y="142875"/>
                    </a:move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5715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881312" y="4262438"/>
                <a:ext cx="2000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4287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28588"/>
                    </a:lnTo>
                    <a:cubicBezTo>
                      <a:pt x="200025" y="136478"/>
                      <a:pt x="193628" y="142875"/>
                      <a:pt x="185738" y="142875"/>
                    </a:cubicBez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952750" y="43053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687002" y="4751546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利润率结构性偏重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691765" y="50777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依赖人力的交付模式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91765" y="53063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价值定价在国内有障碍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86500" y="3829050"/>
            <a:ext cx="3429000" cy="2000250"/>
            <a:chOff x="6286500" y="3829050"/>
            <a:chExt cx="3429000" cy="2000250"/>
          </a:xfrm>
        </p:grpSpPr>
        <p:sp>
          <p:nvSpPr>
            <p:cNvPr id="59" name="Rectangle 59"/>
            <p:cNvSpPr/>
            <p:nvPr/>
          </p:nvSpPr>
          <p:spPr>
            <a:xfrm>
              <a:off x="6286500" y="3829050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873619" y="402812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15100" y="405765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62738" y="4162425"/>
              <a:ext cx="200024" cy="271463"/>
              <a:chOff x="6662738" y="4162425"/>
              <a:chExt cx="200024" cy="27146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77025" y="41910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85725"/>
                    </a:lnTo>
                    <a:cubicBezTo>
                      <a:pt x="171450" y="101507"/>
                      <a:pt x="158657" y="114300"/>
                      <a:pt x="14287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62750" y="41624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19888" y="430530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05612" y="430530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62738" y="43338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805612" y="43338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0"/>
                    </a:move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719888" y="4391025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34175" y="424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91325" y="424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497002" y="4751546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伙伴也是竞争者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01765" y="50777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模型厂商既是合作伙伴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01765" y="53063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也随时可能下场替代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6000750"/>
            <a:ext cx="11049000" cy="457200"/>
            <a:chOff x="571500" y="6000750"/>
            <a:chExt cx="11049000" cy="457200"/>
          </a:xfrm>
        </p:grpSpPr>
        <p:sp>
          <p:nvSpPr>
            <p:cNvPr id="76" name="Rectangle 76"/>
            <p:cNvSpPr/>
            <p:nvPr/>
          </p:nvSpPr>
          <p:spPr>
            <a:xfrm>
              <a:off x="571500" y="6000750"/>
              <a:ext cx="11049000" cy="457200"/>
            </a:xfrm>
            <a:prstGeom prst="roundRect">
              <a:avLst>
                <a:gd name="adj" fmla="val 25000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83279" y="6125646"/>
              <a:ext cx="224133" cy="192560"/>
              <a:chOff x="783279" y="6125646"/>
              <a:chExt cx="224133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95350" y="61960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83279" y="61256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95350" y="6273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127760" y="6156960"/>
              <a:ext cx="45838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所有风险本质上都指向同一个问题——能不能持续降低边际成本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14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5" grpId="0"/>
      <p:bldP spid="47" grpId="0"/>
      <p:bldP spid="58" grpId="0"/>
      <p:bldP spid="75" grpId="0"/>
      <p:bldP spid="8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900422" cy="1046798"/>
            <a:chOff x="542925" y="458152"/>
            <a:chExt cx="4900422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 · 真相与风险 · 重头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32863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很多 FDE 是「挂羊头」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8870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名义上是 FDE，实质还是实施 / 部署 / 培训——这是当前最普遍的泡沫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619250"/>
            <a:ext cx="11049000" cy="771525"/>
            <a:chOff x="571500" y="1619250"/>
            <a:chExt cx="11049000" cy="771525"/>
          </a:xfrm>
        </p:grpSpPr>
        <p:sp>
          <p:nvSpPr>
            <p:cNvPr id="8" name="Rectangle 8"/>
            <p:cNvSpPr/>
            <p:nvPr/>
          </p:nvSpPr>
          <p:spPr>
            <a:xfrm>
              <a:off x="571500" y="16192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3539" y="1837286"/>
              <a:ext cx="352209" cy="302594"/>
              <a:chOff x="833539" y="1837286"/>
              <a:chExt cx="352209" cy="3025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09650" y="1947862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539" y="1837286"/>
                <a:ext cx="352209" cy="302594"/>
              </a:xfrm>
              <a:custGeom>
                <a:avLst/>
                <a:gdLst/>
                <a:ahLst/>
                <a:cxnLst/>
                <a:rect l="l" t="t" r="r" b="b"/>
                <a:pathLst>
                  <a:path w="352209" h="302594">
                    <a:moveTo>
                      <a:pt x="147525" y="16122"/>
                    </a:moveTo>
                    <a:lnTo>
                      <a:pt x="5974" y="252459"/>
                    </a:lnTo>
                    <a:cubicBezTo>
                      <a:pt x="36" y="262742"/>
                      <a:pt x="0" y="275404"/>
                      <a:pt x="5879" y="285721"/>
                    </a:cubicBezTo>
                    <a:cubicBezTo>
                      <a:pt x="11758" y="296038"/>
                      <a:pt x="22669" y="302461"/>
                      <a:pt x="34543" y="302594"/>
                    </a:cubicBezTo>
                    <a:lnTo>
                      <a:pt x="317680" y="302594"/>
                    </a:lnTo>
                    <a:cubicBezTo>
                      <a:pt x="329548" y="302457"/>
                      <a:pt x="340453" y="296036"/>
                      <a:pt x="346331" y="285725"/>
                    </a:cubicBezTo>
                    <a:cubicBezTo>
                      <a:pt x="352209" y="275414"/>
                      <a:pt x="352178" y="262759"/>
                      <a:pt x="346248" y="252477"/>
                    </a:cubicBezTo>
                    <a:lnTo>
                      <a:pt x="204697" y="16104"/>
                    </a:lnTo>
                    <a:cubicBezTo>
                      <a:pt x="198640" y="6107"/>
                      <a:pt x="187801" y="0"/>
                      <a:pt x="176111" y="0"/>
                    </a:cubicBezTo>
                    <a:cubicBezTo>
                      <a:pt x="164422" y="0"/>
                      <a:pt x="153582" y="6107"/>
                      <a:pt x="147525" y="1610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9650" y="207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96365" y="18678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CE6FB"/>
                  </a:solidFill>
                  <a:latin typeface="Arial"/>
                  <a:ea typeface="Microsoft YaHei"/>
                  <a:cs typeface="Arial"/>
                </a:rPr>
                <a:t>核心判断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0650" y="2085975"/>
              <a:ext cx="66014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国内大量岗位挂着 FDE 的名，干的还是驻场实施、系统部署、操作培训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2524125"/>
            <a:ext cx="11049000" cy="800100"/>
            <a:chOff x="571500" y="2524125"/>
            <a:chExt cx="11049000" cy="800100"/>
          </a:xfrm>
        </p:grpSpPr>
        <p:sp>
          <p:nvSpPr>
            <p:cNvPr id="16" name="Rectangle 16"/>
            <p:cNvSpPr/>
            <p:nvPr/>
          </p:nvSpPr>
          <p:spPr>
            <a:xfrm>
              <a:off x="571500" y="2524125"/>
              <a:ext cx="11049000" cy="800100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524125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19150" y="2695575"/>
              <a:ext cx="457200" cy="4572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919162" y="2795588"/>
              <a:ext cx="257175" cy="257175"/>
              <a:chOff x="919162" y="2795588"/>
              <a:chExt cx="257175" cy="2571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19162" y="27955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90612" y="29670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68755" y="271176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岗位认知易与驻场外包混淆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2565" y="3010852"/>
              <a:ext cx="3359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招的 title 是 FDE，实际干的是按文档实施、上线收尾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096500" y="2752725"/>
              <a:ext cx="1314450" cy="3048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7546" y="2839402"/>
              <a:ext cx="732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× 不是 FDE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419475"/>
            <a:ext cx="11049000" cy="800100"/>
            <a:chOff x="571500" y="3419475"/>
            <a:chExt cx="11049000" cy="800100"/>
          </a:xfrm>
        </p:grpSpPr>
        <p:sp>
          <p:nvSpPr>
            <p:cNvPr id="27" name="Rectangle 27"/>
            <p:cNvSpPr/>
            <p:nvPr/>
          </p:nvSpPr>
          <p:spPr>
            <a:xfrm>
              <a:off x="571500" y="3419475"/>
              <a:ext cx="11049000" cy="800100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3419475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19150" y="3590925"/>
              <a:ext cx="457200" cy="4572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19162" y="3690938"/>
              <a:ext cx="257175" cy="271462"/>
              <a:chOff x="919162" y="3690938"/>
              <a:chExt cx="257175" cy="27146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62025" y="3690938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47750" y="36909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19175" y="36909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62025" y="3776662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9162" y="39338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76325" y="39338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19175" y="39052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47750" y="3862388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468755" y="36071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组织授权不足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72565" y="3906202"/>
              <a:ext cx="3940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没有改模型、调流程的授权，FDE 沦为传话筒，离一线决策太远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96500" y="3648075"/>
              <a:ext cx="1314450" cy="3048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87546" y="3734752"/>
              <a:ext cx="732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× 不是 FDE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4314825"/>
            <a:ext cx="11049000" cy="800100"/>
            <a:chOff x="571500" y="4314825"/>
            <a:chExt cx="11049000" cy="800100"/>
          </a:xfrm>
        </p:grpSpPr>
        <p:sp>
          <p:nvSpPr>
            <p:cNvPr id="44" name="Rectangle 44"/>
            <p:cNvSpPr/>
            <p:nvPr/>
          </p:nvSpPr>
          <p:spPr>
            <a:xfrm>
              <a:off x="571500" y="4314825"/>
              <a:ext cx="11049000" cy="800100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4314825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19150" y="4486275"/>
              <a:ext cx="457200" cy="4572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33450" y="4595062"/>
              <a:ext cx="228600" cy="239625"/>
              <a:chOff x="933450" y="4595062"/>
              <a:chExt cx="228600" cy="2396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3450" y="459506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33450" y="472916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468755" y="45024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产品沉淀弱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72565" y="480155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交付完即走，不留 Skill / 模板 / 本体，下一个客户又从零开始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096500" y="4543425"/>
              <a:ext cx="1314450" cy="3048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87546" y="4630102"/>
              <a:ext cx="732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× 不是 FDE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257800"/>
            <a:ext cx="11049000" cy="726281"/>
            <a:chOff x="571500" y="5257800"/>
            <a:chExt cx="11049000" cy="726281"/>
          </a:xfrm>
        </p:grpSpPr>
        <p:sp>
          <p:nvSpPr>
            <p:cNvPr id="55" name="Rectangle 55"/>
            <p:cNvSpPr/>
            <p:nvPr/>
          </p:nvSpPr>
          <p:spPr>
            <a:xfrm>
              <a:off x="571500" y="5257800"/>
              <a:ext cx="11049000" cy="723900"/>
            </a:xfrm>
            <a:prstGeom prst="roundRect">
              <a:avLst>
                <a:gd name="adj" fmla="val 15789"/>
              </a:avLst>
            </a:prstGeom>
            <a:solidFill>
              <a:srgbClr val="0E9F6E">
                <a:alpha val="10000"/>
              </a:srgbClr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1500" y="52578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42962" y="5491162"/>
              <a:ext cx="257175" cy="257175"/>
              <a:chOff x="842962" y="5491162"/>
              <a:chExt cx="257175" cy="25717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42962" y="54911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28688" y="559117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243012" y="5460206"/>
              <a:ext cx="43641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从业者类比「十年前的产品经理」——窗口期 5–10 年，会大浪淘沙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39202" y="5694521"/>
              <a:ext cx="320864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我们的立场：做真 FDE，不做伪 FDE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15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43" grpId="0"/>
      <p:bldP spid="54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200019" cy="338138"/>
            <a:chOff x="1143000" y="266700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358515"/>
            <a:ext cx="2856166" cy="1213485"/>
            <a:chOff x="1101090" y="3358515"/>
            <a:chExt cx="2856166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358515"/>
              <a:ext cx="285616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怎么稳妥推进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先验证、先沉淀、先打标杆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FDE 经委会汇报 · 第四章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16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3260217" cy="1046798"/>
            <a:chOff x="542925" y="458152"/>
            <a:chExt cx="3260217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04 · 怎么稳妥推进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32075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先证明价值，再谈规模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2468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卖成果，不卖软件——客户为业务真的变好付费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52575" y="1743075"/>
            <a:ext cx="9086850" cy="800100"/>
            <a:chOff x="1552575" y="1743075"/>
            <a:chExt cx="9086850" cy="800100"/>
          </a:xfrm>
        </p:grpSpPr>
        <p:sp>
          <p:nvSpPr>
            <p:cNvPr id="8" name="Line 8"/>
            <p:cNvSpPr/>
            <p:nvPr/>
          </p:nvSpPr>
          <p:spPr>
            <a:xfrm>
              <a:off x="2352675" y="2143125"/>
              <a:ext cx="196215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5114925" y="2143125"/>
              <a:ext cx="196215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7877175" y="2143125"/>
              <a:ext cx="196215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11" name="Ellipse 11"/>
            <p:cNvSpPr/>
            <p:nvPr/>
          </p:nvSpPr>
          <p:spPr>
            <a:xfrm>
              <a:off x="155257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9114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431482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5339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7707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1564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83932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7789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52625" y="2543175"/>
            <a:ext cx="8296275" cy="314325"/>
            <a:chOff x="1952625" y="2543175"/>
            <a:chExt cx="8296275" cy="314325"/>
          </a:xfrm>
        </p:grpSpPr>
        <p:sp>
          <p:nvSpPr>
            <p:cNvPr id="20" name="Line 20"/>
            <p:cNvSpPr/>
            <p:nvPr/>
          </p:nvSpPr>
          <p:spPr>
            <a:xfrm>
              <a:off x="195262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471487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747712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023937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62000" y="2857500"/>
            <a:ext cx="2381250" cy="2381250"/>
            <a:chOff x="762000" y="2857500"/>
            <a:chExt cx="2381250" cy="2381250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33450" y="3028950"/>
              <a:ext cx="419100" cy="419100"/>
            </a:xfrm>
            <a:prstGeom prst="ellipse">
              <a:avLst/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014412" y="3109912"/>
              <a:ext cx="257175" cy="257175"/>
              <a:chOff x="1014412" y="3109912"/>
              <a:chExt cx="257175" cy="25717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14412" y="31099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85862" y="32813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6875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业务理解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5250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8212" y="3745706"/>
              <a:ext cx="9061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钱从哪里来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8212" y="40314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业务卡在哪里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8212" y="43172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AI 该撬哪个环节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>
                <a:alpha val="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550194" y="48191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先找准真问题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524250" y="2857500"/>
            <a:ext cx="2381250" cy="2381250"/>
            <a:chOff x="3524250" y="2857500"/>
            <a:chExt cx="2381250" cy="2381250"/>
          </a:xfrm>
        </p:grpSpPr>
        <p:sp>
          <p:nvSpPr>
            <p:cNvPr id="38" name="Rectangle 38"/>
            <p:cNvSpPr/>
            <p:nvPr/>
          </p:nvSpPr>
          <p:spPr>
            <a:xfrm>
              <a:off x="352425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695700" y="3028950"/>
              <a:ext cx="419100" cy="419100"/>
            </a:xfrm>
            <a:prstGeom prst="ellipse">
              <a:avLst/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3776662" y="3109912"/>
              <a:ext cx="257175" cy="257176"/>
              <a:chOff x="3776662" y="3109912"/>
              <a:chExt cx="257175" cy="25717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3805238" y="31099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776662" y="32813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962400" y="31117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990975" y="32835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423100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协作搭建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371475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00462" y="374570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业务专家 + FDE 共建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00462" y="4031456"/>
              <a:ext cx="1386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搭 Agent / 工作流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00462" y="431720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边搭边用、快速迭代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71475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>
                <a:alpha val="6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12444" y="48191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共建而非代建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2857500"/>
            <a:ext cx="2381250" cy="2381250"/>
            <a:chOff x="6286500" y="2857500"/>
            <a:chExt cx="2381250" cy="2381250"/>
          </a:xfrm>
        </p:grpSpPr>
        <p:sp>
          <p:nvSpPr>
            <p:cNvPr id="53" name="Rectangle 53"/>
            <p:cNvSpPr/>
            <p:nvPr/>
          </p:nvSpPr>
          <p:spPr>
            <a:xfrm>
              <a:off x="628650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457950" y="3028950"/>
              <a:ext cx="419100" cy="419100"/>
            </a:xfrm>
            <a:prstGeom prst="ellipse">
              <a:avLst/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538912" y="3109912"/>
              <a:ext cx="257175" cy="257175"/>
              <a:chOff x="6538912" y="3109912"/>
              <a:chExt cx="257175" cy="2571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38912" y="31099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24638" y="32099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9325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质量保障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47700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62712" y="374570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真实数据生成测试集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2712" y="40314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自动评测体系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2712" y="4317206"/>
              <a:ext cx="7486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A/B 对照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7700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>
                <a:alpha val="6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9702" y="48191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用数据说话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048750" y="2857500"/>
            <a:ext cx="2381250" cy="2381250"/>
            <a:chOff x="9048750" y="2857500"/>
            <a:chExt cx="2381250" cy="2381250"/>
          </a:xfrm>
        </p:grpSpPr>
        <p:sp>
          <p:nvSpPr>
            <p:cNvPr id="66" name="Rectangle 66"/>
            <p:cNvSpPr/>
            <p:nvPr/>
          </p:nvSpPr>
          <p:spPr>
            <a:xfrm>
              <a:off x="904875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0052A6">
                <a:alpha val="5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220200" y="3028950"/>
              <a:ext cx="419100" cy="419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9301162" y="3109912"/>
              <a:ext cx="257175" cy="257175"/>
              <a:chOff x="9301162" y="3109912"/>
              <a:chExt cx="257175" cy="25717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9415462" y="32242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58312" y="3167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301162" y="31099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75550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结果验证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23925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B8C7E0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24962" y="3745706"/>
              <a:ext cx="1183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 xml:space="preserve"> AI 组 vs 人工组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24962" y="4031456"/>
              <a:ext cx="9061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 xml:space="preserve"> 逐环节对比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24962" y="431720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 xml:space="preserve"> 用业务结果证明价值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23925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749183" y="481917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客户为变好付费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448300"/>
            <a:ext cx="11049000" cy="685800"/>
            <a:chOff x="571500" y="5448300"/>
            <a:chExt cx="11049000" cy="685800"/>
          </a:xfrm>
        </p:grpSpPr>
        <p:sp>
          <p:nvSpPr>
            <p:cNvPr id="80" name="Rectangle 80"/>
            <p:cNvSpPr/>
            <p:nvPr/>
          </p:nvSpPr>
          <p:spPr>
            <a:xfrm>
              <a:off x="571500" y="54483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1500" y="54483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30499" y="5643051"/>
              <a:ext cx="320190" cy="275085"/>
              <a:chOff x="830499" y="5643051"/>
              <a:chExt cx="320190" cy="27508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990600" y="57435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0499" y="5643051"/>
                <a:ext cx="320190" cy="275085"/>
              </a:xfrm>
              <a:custGeom>
                <a:avLst/>
                <a:gdLst/>
                <a:ahLst/>
                <a:cxnLst/>
                <a:rect l="l" t="t" r="r" b="b"/>
                <a:pathLst>
                  <a:path w="320190" h="275085">
                    <a:moveTo>
                      <a:pt x="134114" y="14656"/>
                    </a:moveTo>
                    <a:lnTo>
                      <a:pt x="5431" y="229508"/>
                    </a:lnTo>
                    <a:cubicBezTo>
                      <a:pt x="33" y="238857"/>
                      <a:pt x="0" y="250367"/>
                      <a:pt x="5344" y="259746"/>
                    </a:cubicBezTo>
                    <a:cubicBezTo>
                      <a:pt x="10689" y="269125"/>
                      <a:pt x="20608" y="274964"/>
                      <a:pt x="31403" y="275085"/>
                    </a:cubicBezTo>
                    <a:lnTo>
                      <a:pt x="288800" y="275085"/>
                    </a:lnTo>
                    <a:cubicBezTo>
                      <a:pt x="299589" y="274961"/>
                      <a:pt x="309503" y="269124"/>
                      <a:pt x="314847" y="259750"/>
                    </a:cubicBezTo>
                    <a:cubicBezTo>
                      <a:pt x="320190" y="250376"/>
                      <a:pt x="320161" y="238871"/>
                      <a:pt x="314771" y="229524"/>
                    </a:cubicBezTo>
                    <a:lnTo>
                      <a:pt x="186089" y="14640"/>
                    </a:lnTo>
                    <a:cubicBezTo>
                      <a:pt x="180582" y="5552"/>
                      <a:pt x="170728" y="0"/>
                      <a:pt x="160101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90600" y="5854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319212" y="5631656"/>
              <a:ext cx="1627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死亡之谷：试点 → 生产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318260" y="5871210"/>
              <a:ext cx="5919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多数项目死在这里——数据质量被回避、审批流程未打通，Demo 永远停在「挺好用」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17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37" grpId="0"/>
      <p:bldP spid="52" grpId="0"/>
      <p:bldP spid="65" grpId="0"/>
      <p:bldP spid="79" grpId="0"/>
      <p:bldP spid="8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8279678" cy="1046798"/>
            <a:chOff x="542925" y="458152"/>
            <a:chExt cx="8279678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04 · 怎么稳妥推进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827967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先投入、后回收——会不会把经验变成资产，决定能不能赚钱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870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本体沉淀是一条复利曲线：冷启动亏、中期平、后期赚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38325" y="3476625"/>
            <a:ext cx="8639175" cy="381000"/>
            <a:chOff x="1838325" y="3476625"/>
            <a:chExt cx="8639175" cy="381000"/>
          </a:xfrm>
        </p:grpSpPr>
        <p:sp>
          <p:nvSpPr>
            <p:cNvPr id="8" name="Line 8"/>
            <p:cNvSpPr/>
            <p:nvPr/>
          </p:nvSpPr>
          <p:spPr>
            <a:xfrm>
              <a:off x="2000250" y="3667125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noFill/>
            <a:ln w="95250" cap="rnd">
              <a:solidFill>
                <a:srgbClr val="E3E9F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000250" y="3667125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noFill/>
            <a:ln w="95250" cap="rnd">
              <a:gradFill>
                <a:gsLst>
                  <a:gs pos="0">
                    <a:srgbClr val="F59E0B"/>
                  </a:gs>
                  <a:gs pos="40000">
                    <a:srgbClr val="518FEC"/>
                  </a:gs>
                  <a:gs pos="75000">
                    <a:srgbClr val="246BFE"/>
                  </a:gs>
                  <a:gs pos="100000">
                    <a:srgbClr val="0E9F6E"/>
                  </a:gs>
                </a:gsLst>
                <a:lin ang="0" scaled="1"/>
              </a:gra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838325" y="3505200"/>
              <a:ext cx="323850" cy="3238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943100" y="360997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600575" y="3505200"/>
              <a:ext cx="323850" cy="32385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705350" y="360997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62825" y="3505200"/>
              <a:ext cx="323850" cy="32385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467600" y="360997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096500" y="3476625"/>
              <a:ext cx="381000" cy="38100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229850" y="361950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0" y="47625"/>
                  </a:moveTo>
                  <a:lnTo>
                    <a:pt x="47625" y="95250"/>
                  </a:lnTo>
                  <a:lnTo>
                    <a:pt x="13335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57250" y="3829050"/>
            <a:ext cx="2286000" cy="1790700"/>
            <a:chOff x="857250" y="3829050"/>
            <a:chExt cx="2286000" cy="1790700"/>
          </a:xfrm>
        </p:grpSpPr>
        <p:sp>
          <p:nvSpPr>
            <p:cNvPr id="19" name="Line 19"/>
            <p:cNvSpPr/>
            <p:nvPr/>
          </p:nvSpPr>
          <p:spPr>
            <a:xfrm>
              <a:off x="2000250" y="38290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F59E0B"/>
              </a:solidFill>
              <a:prstDash val="dash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7250" y="4048125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59E0B">
                  <a:alpha val="50000"/>
                </a:srgbClr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57250" y="40481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342900"/>
                  </a:lnTo>
                  <a:lnTo>
                    <a:pt x="0" y="3429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03280" y="4191952"/>
              <a:ext cx="1393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第 1 个客户 · 冷启动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3179" y="4501515"/>
              <a:ext cx="105414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25</a:t>
              </a:r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92843" y="500014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毛利率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309" y="529685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从零定制，成本是常规 3 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619500" y="1714500"/>
            <a:ext cx="2286000" cy="1790700"/>
            <a:chOff x="3619500" y="1714500"/>
            <a:chExt cx="2286000" cy="1790700"/>
          </a:xfrm>
        </p:grpSpPr>
        <p:sp>
          <p:nvSpPr>
            <p:cNvPr id="27" name="Line 27"/>
            <p:cNvSpPr/>
            <p:nvPr/>
          </p:nvSpPr>
          <p:spPr>
            <a:xfrm>
              <a:off x="4762500" y="32861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2190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518FEC"/>
              </a:solidFill>
              <a:prstDash val="dash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19500" y="1714500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619500" y="1828800"/>
              <a:ext cx="2286000" cy="1457325"/>
            </a:xfrm>
            <a:custGeom>
              <a:avLst/>
              <a:gdLst/>
              <a:ahLst/>
              <a:cxnLst/>
              <a:rect l="l" t="t" r="r" b="b"/>
              <a:pathLst>
                <a:path w="2286000" h="1457325">
                  <a:moveTo>
                    <a:pt x="0" y="1343025"/>
                  </a:move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1343025"/>
                  </a:lnTo>
                  <a:cubicBezTo>
                    <a:pt x="2286000" y="1406151"/>
                    <a:pt x="2234826" y="1457325"/>
                    <a:pt x="2171700" y="1457325"/>
                  </a:cubicBezTo>
                  <a:lnTo>
                    <a:pt x="114300" y="1457325"/>
                  </a:lnTo>
                  <a:cubicBezTo>
                    <a:pt x="51174" y="1457325"/>
                    <a:pt x="0" y="1406151"/>
                    <a:pt x="0" y="1343025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619500" y="29432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228600"/>
                  </a:moveTo>
                  <a:lnTo>
                    <a:pt x="0" y="228600"/>
                  </a:lnTo>
                  <a:cubicBezTo>
                    <a:pt x="0" y="291726"/>
                    <a:pt x="51174" y="342900"/>
                    <a:pt x="114300" y="342900"/>
                  </a:cubicBezTo>
                  <a:lnTo>
                    <a:pt x="2171700" y="342900"/>
                  </a:lnTo>
                  <a:cubicBezTo>
                    <a:pt x="2234826" y="342900"/>
                    <a:pt x="2286000" y="291726"/>
                    <a:pt x="2286000" y="228600"/>
                  </a:cubicBezTo>
                  <a:lnTo>
                    <a:pt x="228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FEC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55266" y="3048952"/>
              <a:ext cx="1614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第 4 个客户 · 本体 V1.3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25825" y="2038350"/>
              <a:ext cx="12733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4 人天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93535" y="2504599"/>
              <a:ext cx="13379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单客户 Delta 增量工时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49078" y="28013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边际成本开始快速下降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81750" y="3829050"/>
            <a:ext cx="2286000" cy="1790700"/>
            <a:chOff x="6381750" y="3829050"/>
            <a:chExt cx="2286000" cy="1790700"/>
          </a:xfrm>
        </p:grpSpPr>
        <p:sp>
          <p:nvSpPr>
            <p:cNvPr id="36" name="Line 36"/>
            <p:cNvSpPr/>
            <p:nvPr/>
          </p:nvSpPr>
          <p:spPr>
            <a:xfrm>
              <a:off x="7524750" y="38290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246BFE"/>
              </a:solidFill>
              <a:prstDash val="dash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381750" y="4048125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381750" y="40481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342900"/>
                  </a:lnTo>
                  <a:lnTo>
                    <a:pt x="0" y="3429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246BFE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46919" y="41919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第 5–8 个客户 · 规模化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9052" y="4533900"/>
              <a:ext cx="165139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55→70</a:t>
              </a:r>
              <a:r>
                <a:rPr lang="zh-CN" sz="16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47759" y="5000149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毛利率 · 上线周期 6 周 → 1 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1362" y="52968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复利效应显现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0" y="1714500"/>
            <a:ext cx="2286000" cy="1790700"/>
            <a:chOff x="9144000" y="1714500"/>
            <a:chExt cx="2286000" cy="1790700"/>
          </a:xfrm>
        </p:grpSpPr>
        <p:sp>
          <p:nvSpPr>
            <p:cNvPr id="44" name="Line 44"/>
            <p:cNvSpPr/>
            <p:nvPr/>
          </p:nvSpPr>
          <p:spPr>
            <a:xfrm>
              <a:off x="10287000" y="32861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2190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9F6E"/>
              </a:solidFill>
              <a:prstDash val="dash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44000" y="1714500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0E9F6E">
                <a:alpha val="6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144000" y="29432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228600"/>
                  </a:moveTo>
                  <a:lnTo>
                    <a:pt x="0" y="228600"/>
                  </a:lnTo>
                  <a:cubicBezTo>
                    <a:pt x="0" y="291726"/>
                    <a:pt x="51174" y="342900"/>
                    <a:pt x="114300" y="342900"/>
                  </a:cubicBezTo>
                  <a:lnTo>
                    <a:pt x="2171700" y="342900"/>
                  </a:lnTo>
                  <a:cubicBezTo>
                    <a:pt x="2234826" y="342900"/>
                    <a:pt x="2286000" y="291726"/>
                    <a:pt x="2286000" y="228600"/>
                  </a:cubicBezTo>
                  <a:lnTo>
                    <a:pt x="228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9F6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16520" y="3048952"/>
              <a:ext cx="1540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 8 个客户 · 正式回本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29323" y="2038350"/>
              <a:ext cx="13153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300 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79793" y="25045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累计节省 · 本体趋稳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16058" y="2801302"/>
              <a:ext cx="1741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冷启动约 150 万，至此回本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5791200"/>
            <a:ext cx="11049000" cy="533400"/>
            <a:chOff x="571500" y="5791200"/>
            <a:chExt cx="110490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71500" y="5791200"/>
              <a:ext cx="11049000" cy="533400"/>
            </a:xfrm>
            <a:prstGeom prst="roundRect">
              <a:avLst>
                <a:gd name="adj" fmla="val 21429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50900" y="5951400"/>
              <a:ext cx="203200" cy="213000"/>
              <a:chOff x="850900" y="5951400"/>
              <a:chExt cx="203200" cy="213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50900" y="59514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50900" y="60706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03008" y="5986939"/>
              <a:ext cx="57540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复利公式：每个客户都在为下一个客户降低成本——7–8 个客户后本体趋稳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18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5" grpId="0"/>
      <p:bldP spid="43" grpId="0"/>
      <p:bldP spid="51" grpId="0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467701" cy="1046798"/>
            <a:chOff x="542925" y="458152"/>
            <a:chExt cx="446770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04 · 怎么稳妥推进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4677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原厂打样、伙伴复制，先易后难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870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0→1 原厂、1→N 伙伴——部署是「脚手架」不是「房子」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000" y="2238375"/>
            <a:ext cx="9429750" cy="857250"/>
            <a:chOff x="1524000" y="2238375"/>
            <a:chExt cx="9429750" cy="857250"/>
          </a:xfrm>
        </p:grpSpPr>
        <p:sp>
          <p:nvSpPr>
            <p:cNvPr id="8" name="Polygon 8"/>
            <p:cNvSpPr/>
            <p:nvPr/>
          </p:nvSpPr>
          <p:spPr>
            <a:xfrm>
              <a:off x="1524000" y="2238375"/>
              <a:ext cx="3143250" cy="857250"/>
            </a:xfrm>
            <a:custGeom>
              <a:avLst/>
              <a:gdLst/>
              <a:ahLst/>
              <a:cxnLst/>
              <a:rect l="l" t="t" r="r" b="b"/>
              <a:pathLst>
                <a:path w="3143250" h="857250">
                  <a:moveTo>
                    <a:pt x="0" y="0"/>
                  </a:moveTo>
                  <a:lnTo>
                    <a:pt x="2857500" y="0"/>
                  </a:lnTo>
                  <a:lnTo>
                    <a:pt x="3143250" y="428625"/>
                  </a:lnTo>
                  <a:lnTo>
                    <a:pt x="2857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535603" y="24560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原厂打样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94099" y="2733199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0 → 1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4667250" y="2238375"/>
              <a:ext cx="3143250" cy="857250"/>
            </a:xfrm>
            <a:custGeom>
              <a:avLst/>
              <a:gdLst/>
              <a:ahLst/>
              <a:cxnLst/>
              <a:rect l="l" t="t" r="r" b="b"/>
              <a:pathLst>
                <a:path w="3143250" h="857250">
                  <a:moveTo>
                    <a:pt x="0" y="0"/>
                  </a:moveTo>
                  <a:lnTo>
                    <a:pt x="2857500" y="0"/>
                  </a:lnTo>
                  <a:lnTo>
                    <a:pt x="3143250" y="428625"/>
                  </a:lnTo>
                  <a:lnTo>
                    <a:pt x="2857500" y="857250"/>
                  </a:lnTo>
                  <a:lnTo>
                    <a:pt x="0" y="857250"/>
                  </a:lnTo>
                  <a:lnTo>
                    <a:pt x="285750" y="428625"/>
                  </a:lnTo>
                  <a:close/>
                </a:path>
              </a:pathLst>
            </a:cu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21728" y="24560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伙伴复制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0224" y="2733199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1 → N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7810500" y="2238375"/>
              <a:ext cx="3143250" cy="857250"/>
            </a:xfrm>
            <a:custGeom>
              <a:avLst/>
              <a:gdLst/>
              <a:ahLst/>
              <a:cxnLst/>
              <a:rect l="l" t="t" r="r" b="b"/>
              <a:pathLst>
                <a:path w="3143250" h="857250">
                  <a:moveTo>
                    <a:pt x="0" y="0"/>
                  </a:moveTo>
                  <a:lnTo>
                    <a:pt x="2857500" y="0"/>
                  </a:lnTo>
                  <a:lnTo>
                    <a:pt x="3143250" y="428625"/>
                  </a:lnTo>
                  <a:lnTo>
                    <a:pt x="2857500" y="857250"/>
                  </a:lnTo>
                  <a:lnTo>
                    <a:pt x="0" y="857250"/>
                  </a:lnTo>
                  <a:lnTo>
                    <a:pt x="285750" y="428625"/>
                  </a:lnTo>
                  <a:close/>
                </a:path>
              </a:pathLst>
            </a:custGeom>
            <a:solidFill>
              <a:srgbClr val="0E9F6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64978" y="24560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客户自助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74718" y="273319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自助化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19250" y="3429000"/>
            <a:ext cx="2667000" cy="2000250"/>
            <a:chOff x="1619250" y="3429000"/>
            <a:chExt cx="26670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1619250" y="3429000"/>
              <a:ext cx="2667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19250" y="342900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771650" y="3619500"/>
              <a:ext cx="381000" cy="38100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847850" y="3695700"/>
              <a:ext cx="228600" cy="228600"/>
              <a:chOff x="1847850" y="3695700"/>
              <a:chExt cx="228600" cy="228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847850" y="38735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025650" y="3695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873250" y="37211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2250758" y="37295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原厂亲自做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80975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95462" y="42600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重点行业标杆跑通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95462" y="4526756"/>
              <a:ext cx="18963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沉淀 Skill / 模板 / 连接器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95462" y="47934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沉淀可复制的方法论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809750" y="5067300"/>
              <a:ext cx="2286000" cy="266700"/>
            </a:xfrm>
            <a:prstGeom prst="roundRect">
              <a:avLst>
                <a:gd name="adj" fmla="val 50000"/>
              </a:avLst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257782" y="51430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把做法跑通、固化下来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62500" y="3429000"/>
            <a:ext cx="2667000" cy="2000250"/>
            <a:chOff x="4762500" y="3429000"/>
            <a:chExt cx="26670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4762500" y="3429000"/>
              <a:ext cx="2667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62500" y="342900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914900" y="3619500"/>
              <a:ext cx="381000" cy="381000"/>
            </a:xfrm>
            <a:prstGeom prst="ellipse">
              <a:avLst/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4991100" y="3695700"/>
              <a:ext cx="228600" cy="241300"/>
              <a:chOff x="4991100" y="3695700"/>
              <a:chExt cx="228600" cy="2413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029200" y="36957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105400" y="3695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080000" y="3695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029200" y="37719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991100" y="3911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130800" y="3911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080000" y="3886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105400" y="3848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394008" y="37295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伙伴规模化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9530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38712" y="4260056"/>
              <a:ext cx="1738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ISV / SI / 区域伙伴交付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38712" y="45267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平台培训 + 认证体系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38712" y="479345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从单点走向规模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53000" y="5067300"/>
              <a:ext cx="2286000" cy="2667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05808" y="514302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把能力交给伙伴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905750" y="3429000"/>
            <a:ext cx="2667000" cy="2000250"/>
            <a:chOff x="7905750" y="3429000"/>
            <a:chExt cx="2667000" cy="2000250"/>
          </a:xfrm>
        </p:grpSpPr>
        <p:sp>
          <p:nvSpPr>
            <p:cNvPr id="53" name="Rectangle 53"/>
            <p:cNvSpPr/>
            <p:nvPr/>
          </p:nvSpPr>
          <p:spPr>
            <a:xfrm>
              <a:off x="7905750" y="3429000"/>
              <a:ext cx="2667000" cy="2000250"/>
            </a:xfrm>
            <a:prstGeom prst="roundRect">
              <a:avLst>
                <a:gd name="adj" fmla="val 5714"/>
              </a:avLst>
            </a:prstGeom>
            <a:solidFill>
              <a:srgbClr val="0E9F6E">
                <a:alpha val="5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05750" y="342900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058150" y="3619500"/>
              <a:ext cx="381000" cy="381000"/>
            </a:xfrm>
            <a:prstGeom prst="ellipse">
              <a:avLst/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134350" y="3695700"/>
              <a:ext cx="228600" cy="228600"/>
              <a:chOff x="8134350" y="3695700"/>
              <a:chExt cx="228600" cy="2286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1343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10550" y="37846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8537258" y="37295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客户自服务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809625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81962" y="42600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客户自助构建能力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81962" y="45267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部署是脚手架，不是房子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81962" y="47934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厂商逐步退到平台层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096250" y="5067300"/>
              <a:ext cx="2286000" cy="2667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680799" y="514302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终态：客户自己跑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5638800"/>
            <a:ext cx="11049000" cy="602456"/>
            <a:chOff x="571500" y="5638800"/>
            <a:chExt cx="11049000" cy="602456"/>
          </a:xfrm>
        </p:grpSpPr>
        <p:sp>
          <p:nvSpPr>
            <p:cNvPr id="67" name="Rectangle 67"/>
            <p:cNvSpPr/>
            <p:nvPr/>
          </p:nvSpPr>
          <p:spPr>
            <a:xfrm>
              <a:off x="571500" y="5638800"/>
              <a:ext cx="11049000" cy="590550"/>
            </a:xfrm>
            <a:prstGeom prst="roundRect">
              <a:avLst>
                <a:gd name="adj" fmla="val 19355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71500" y="5638800"/>
              <a:ext cx="57150" cy="5905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827088" y="5839619"/>
              <a:ext cx="269875" cy="188912"/>
              <a:chOff x="827088" y="5839619"/>
              <a:chExt cx="269875" cy="188912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27088" y="5839619"/>
                <a:ext cx="269875" cy="134937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134937">
                    <a:moveTo>
                      <a:pt x="269875" y="53975"/>
                    </a:moveTo>
                    <a:lnTo>
                      <a:pt x="134938" y="0"/>
                    </a:lnTo>
                    <a:lnTo>
                      <a:pt x="0" y="53975"/>
                    </a:lnTo>
                    <a:lnTo>
                      <a:pt x="134938" y="107950"/>
                    </a:lnTo>
                    <a:lnTo>
                      <a:pt x="269875" y="53975"/>
                    </a:lnTo>
                    <a:lnTo>
                      <a:pt x="269875" y="134937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81062" y="5915184"/>
                <a:ext cx="161925" cy="113347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13347">
                    <a:moveTo>
                      <a:pt x="0" y="0"/>
                    </a:moveTo>
                    <a:lnTo>
                      <a:pt x="0" y="72866"/>
                    </a:lnTo>
                    <a:cubicBezTo>
                      <a:pt x="0" y="95223"/>
                      <a:pt x="36248" y="113347"/>
                      <a:pt x="80962" y="113347"/>
                    </a:cubicBezTo>
                    <a:cubicBezTo>
                      <a:pt x="125677" y="113347"/>
                      <a:pt x="161925" y="95223"/>
                      <a:pt x="161925" y="72866"/>
                    </a:cubicBez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224915" y="58302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行业优先序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223962" y="6012656"/>
              <a:ext cx="217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先高容错（教育 / 传媒 / 文旅）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5389562" y="5895975"/>
              <a:ext cx="155575" cy="133350"/>
              <a:chOff x="5389562" y="5895975"/>
              <a:chExt cx="155575" cy="13335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5389562" y="59626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478462" y="59626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478462" y="58959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</p:grpSp>
        <p:grpSp>
          <p:nvGrpSpPr>
            <p:cNvPr id="82" name="Group 82"/>
            <p:cNvGrpSpPr/>
            <p:nvPr/>
          </p:nvGrpSpPr>
          <p:grpSpPr>
            <a:xfrm>
              <a:off x="5850731" y="5825901"/>
              <a:ext cx="256381" cy="239143"/>
              <a:chOff x="5850731" y="5825901"/>
              <a:chExt cx="256381" cy="23914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5864225" y="5893594"/>
                <a:ext cx="13493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61925">
                    <a:moveTo>
                      <a:pt x="0" y="161925"/>
                    </a:moveTo>
                    <a:cubicBezTo>
                      <a:pt x="15477" y="107680"/>
                      <a:pt x="26758" y="53611"/>
                      <a:pt x="26988" y="0"/>
                    </a:cubicBezTo>
                    <a:lnTo>
                      <a:pt x="107950" y="0"/>
                    </a:lnTo>
                    <a:cubicBezTo>
                      <a:pt x="108179" y="53611"/>
                      <a:pt x="119460" y="107680"/>
                      <a:pt x="134938" y="16192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5978922" y="5947569"/>
                <a:ext cx="8770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7709" h="107950">
                    <a:moveTo>
                      <a:pt x="0" y="0"/>
                    </a:moveTo>
                    <a:lnTo>
                      <a:pt x="60722" y="0"/>
                    </a:lnTo>
                    <a:cubicBezTo>
                      <a:pt x="61059" y="35246"/>
                      <a:pt x="72785" y="71463"/>
                      <a:pt x="87709" y="10795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931694" y="5825901"/>
                <a:ext cx="161925" cy="2743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7435">
                    <a:moveTo>
                      <a:pt x="0" y="13717"/>
                    </a:moveTo>
                    <a:cubicBezTo>
                      <a:pt x="6223" y="5047"/>
                      <a:pt x="16318" y="0"/>
                      <a:pt x="26988" y="224"/>
                    </a:cubicBezTo>
                    <a:cubicBezTo>
                      <a:pt x="37657" y="0"/>
                      <a:pt x="47752" y="5047"/>
                      <a:pt x="53975" y="13717"/>
                    </a:cubicBezTo>
                    <a:cubicBezTo>
                      <a:pt x="60198" y="22387"/>
                      <a:pt x="70293" y="27435"/>
                      <a:pt x="80962" y="27211"/>
                    </a:cubicBezTo>
                    <a:cubicBezTo>
                      <a:pt x="91632" y="27435"/>
                      <a:pt x="101727" y="22387"/>
                      <a:pt x="107950" y="13717"/>
                    </a:cubicBezTo>
                    <a:cubicBezTo>
                      <a:pt x="114173" y="5047"/>
                      <a:pt x="124268" y="0"/>
                      <a:pt x="134937" y="224"/>
                    </a:cubicBezTo>
                    <a:cubicBezTo>
                      <a:pt x="145607" y="0"/>
                      <a:pt x="155702" y="5047"/>
                      <a:pt x="161925" y="13717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5850731" y="6055519"/>
                <a:ext cx="2563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6381" h="9525">
                    <a:moveTo>
                      <a:pt x="0" y="0"/>
                    </a:moveTo>
                    <a:lnTo>
                      <a:pt x="256381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235065" y="58302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后高精度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34112" y="601265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后高精度（工业 / 金融）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19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52" grpId="0"/>
      <p:bldP spid="66" grpId="0"/>
      <p:bldP spid="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200019" cy="338138"/>
            <a:chOff x="1143000" y="266700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0E9F6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CHAPTER 05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358515"/>
            <a:ext cx="2394109" cy="1213485"/>
            <a:chOff x="1101090" y="3358515"/>
            <a:chExt cx="2394109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35851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人才与组织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/>
                  <a:ea typeface="Microsoft YaHei"/>
                  <a:cs typeface="Arial"/>
                </a:rPr>
                <a:t>价值在人，瓶颈也在人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FDE 经委会汇报 · 第五章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20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7324725" cy="1046798"/>
            <a:chOff x="542925" y="458152"/>
            <a:chExt cx="7324725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092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05 · 人才与组织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04289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人才策略跟着阶段走：先想能力，不想岗位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73113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第一步不是「要不要招 FDE」，而是「谁对 AI 落地结果负责」——需要的是一套能力，不是一个岗位名称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714500"/>
            <a:ext cx="10668000" cy="857250"/>
            <a:chOff x="571500" y="1714500"/>
            <a:chExt cx="10668000" cy="857250"/>
          </a:xfrm>
        </p:grpSpPr>
        <p:sp>
          <p:nvSpPr>
            <p:cNvPr id="8" name="Polygon 8"/>
            <p:cNvSpPr/>
            <p:nvPr/>
          </p:nvSpPr>
          <p:spPr>
            <a:xfrm>
              <a:off x="571500" y="1714500"/>
              <a:ext cx="2762250" cy="857250"/>
            </a:xfrm>
            <a:custGeom>
              <a:avLst/>
              <a:gdLst/>
              <a:ahLst/>
              <a:cxnLst/>
              <a:rect l="l" t="t" r="r" b="b"/>
              <a:pathLst>
                <a:path w="2762250" h="857250">
                  <a:moveTo>
                    <a:pt x="0" y="0"/>
                  </a:moveTo>
                  <a:lnTo>
                    <a:pt x="2476500" y="0"/>
                  </a:lnTo>
                  <a:lnTo>
                    <a:pt x="2762250" y="428625"/>
                  </a:lnTo>
                  <a:lnTo>
                    <a:pt x="2476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1848" y="191166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先借能力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5922" y="2226945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探索期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3333750" y="1714500"/>
              <a:ext cx="2762250" cy="857250"/>
            </a:xfrm>
            <a:custGeom>
              <a:avLst/>
              <a:gdLst/>
              <a:ahLst/>
              <a:cxnLst/>
              <a:rect l="l" t="t" r="r" b="b"/>
              <a:pathLst>
                <a:path w="2762250" h="857250">
                  <a:moveTo>
                    <a:pt x="0" y="0"/>
                  </a:moveTo>
                  <a:lnTo>
                    <a:pt x="2476500" y="0"/>
                  </a:lnTo>
                  <a:lnTo>
                    <a:pt x="2762250" y="428625"/>
                  </a:lnTo>
                  <a:lnTo>
                    <a:pt x="2476500" y="857250"/>
                  </a:lnTo>
                  <a:lnTo>
                    <a:pt x="0" y="857250"/>
                  </a:lnTo>
                  <a:lnTo>
                    <a:pt x="285750" y="428625"/>
                  </a:lnTo>
                  <a:close/>
                </a:path>
              </a:pathLst>
            </a:cu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44098" y="191166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内部孵化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48150" y="22269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已有成功项目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6096000" y="1714500"/>
              <a:ext cx="2762250" cy="857250"/>
            </a:xfrm>
            <a:custGeom>
              <a:avLst/>
              <a:gdLst/>
              <a:ahLst/>
              <a:cxnLst/>
              <a:rect l="l" t="t" r="r" b="b"/>
              <a:pathLst>
                <a:path w="2762250" h="857250">
                  <a:moveTo>
                    <a:pt x="0" y="0"/>
                  </a:moveTo>
                  <a:lnTo>
                    <a:pt x="2476500" y="0"/>
                  </a:lnTo>
                  <a:lnTo>
                    <a:pt x="2762250" y="428625"/>
                  </a:lnTo>
                  <a:lnTo>
                    <a:pt x="2476500" y="857250"/>
                  </a:lnTo>
                  <a:lnTo>
                    <a:pt x="0" y="857250"/>
                  </a:lnTo>
                  <a:lnTo>
                    <a:pt x="285750" y="428625"/>
                  </a:lnTo>
                  <a:close/>
                </a:path>
              </a:pathLst>
            </a:custGeom>
            <a:solidFill>
              <a:srgbClr val="518FE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06348" y="191166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正式招聘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0408" y="22269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多项目推进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8858250" y="1714500"/>
              <a:ext cx="2381250" cy="857250"/>
            </a:xfrm>
            <a:custGeom>
              <a:avLst/>
              <a:gdLst/>
              <a:ahLst/>
              <a:cxnLst/>
              <a:rect l="l" t="t" r="r" b="b"/>
              <a:pathLst>
                <a:path w="2381250" h="857250">
                  <a:moveTo>
                    <a:pt x="0" y="0"/>
                  </a:moveTo>
                  <a:lnTo>
                    <a:pt x="2381250" y="0"/>
                  </a:lnTo>
                  <a:lnTo>
                    <a:pt x="2381250" y="857250"/>
                  </a:lnTo>
                  <a:lnTo>
                    <a:pt x="0" y="857250"/>
                  </a:lnTo>
                  <a:lnTo>
                    <a:pt x="285750" y="428625"/>
                  </a:lnTo>
                  <a:close/>
                </a:path>
              </a:pathLst>
            </a:custGeom>
            <a:solidFill>
              <a:srgbClr val="0E9F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73348" y="191166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 内外协同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77400" y="22269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复杂大型企业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2857500"/>
            <a:ext cx="2619375" cy="2047875"/>
            <a:chOff x="571500" y="2857500"/>
            <a:chExt cx="2619375" cy="2047875"/>
          </a:xfrm>
        </p:grpSpPr>
        <p:sp>
          <p:nvSpPr>
            <p:cNvPr id="21" name="Rectangle 21"/>
            <p:cNvSpPr/>
            <p:nvPr/>
          </p:nvSpPr>
          <p:spPr>
            <a:xfrm>
              <a:off x="571500" y="2857500"/>
              <a:ext cx="2619375" cy="2047875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285750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52475" y="3057525"/>
              <a:ext cx="361950" cy="36195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26294" y="3131344"/>
              <a:ext cx="214312" cy="214312"/>
              <a:chOff x="826294" y="3131344"/>
              <a:chExt cx="214312" cy="214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26294" y="3298031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2981" y="313134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0106" y="3155156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203008" y="31675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先借能力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" y="3524250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0"/>
                  </a:moveTo>
                  <a:lnTo>
                    <a:pt x="223837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8665" y="36966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刚开始探索、场景少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8665" y="3963352"/>
              <a:ext cx="1559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外部 FDE + 内部负责人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8665" y="423005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不急着建团队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4495800"/>
              <a:ext cx="2238375" cy="266700"/>
            </a:xfrm>
            <a:prstGeom prst="roundRect">
              <a:avLst>
                <a:gd name="adj" fmla="val 50000"/>
              </a:avLst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81457" y="45715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目标：跑通第一个项目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381375" y="2857500"/>
            <a:ext cx="2619375" cy="2047875"/>
            <a:chOff x="3381375" y="2857500"/>
            <a:chExt cx="2619375" cy="2047875"/>
          </a:xfrm>
        </p:grpSpPr>
        <p:sp>
          <p:nvSpPr>
            <p:cNvPr id="36" name="Rectangle 36"/>
            <p:cNvSpPr/>
            <p:nvPr/>
          </p:nvSpPr>
          <p:spPr>
            <a:xfrm>
              <a:off x="3381375" y="2857500"/>
              <a:ext cx="2619375" cy="2047875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81375" y="285750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562350" y="3057525"/>
              <a:ext cx="361950" cy="361950"/>
            </a:xfrm>
            <a:prstGeom prst="ellipse">
              <a:avLst/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636169" y="3131344"/>
              <a:ext cx="214312" cy="214313"/>
              <a:chOff x="3636169" y="3131344"/>
              <a:chExt cx="214312" cy="21431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3659981" y="3131344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636169" y="327421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790950" y="3132892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814762" y="3276005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012882" y="31675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内部孵化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3571875" y="3524250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0"/>
                  </a:moveTo>
                  <a:lnTo>
                    <a:pt x="223837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58540" y="36966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首个项目跑通之后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58540" y="39633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内部筛选苗子、不扩张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58540" y="42300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选人不看原有岗位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571875" y="4495800"/>
              <a:ext cx="2238375" cy="2667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91332" y="45715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目标：把经验沉淀成人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91250" y="2857500"/>
            <a:ext cx="2619375" cy="2047875"/>
            <a:chOff x="6191250" y="2857500"/>
            <a:chExt cx="2619375" cy="2047875"/>
          </a:xfrm>
        </p:grpSpPr>
        <p:sp>
          <p:nvSpPr>
            <p:cNvPr id="52" name="Rectangle 52"/>
            <p:cNvSpPr/>
            <p:nvPr/>
          </p:nvSpPr>
          <p:spPr>
            <a:xfrm>
              <a:off x="6191250" y="2857500"/>
              <a:ext cx="2619375" cy="2047875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191250" y="285750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372225" y="3057525"/>
              <a:ext cx="361950" cy="361950"/>
            </a:xfrm>
            <a:prstGeom prst="ellipse">
              <a:avLst/>
            </a:prstGeom>
            <a:solidFill>
              <a:srgbClr val="518FEC">
                <a:alpha val="14000"/>
              </a:srgbClr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46044" y="3131344"/>
              <a:ext cx="214312" cy="202406"/>
              <a:chOff x="6446044" y="3131344"/>
              <a:chExt cx="214312" cy="20240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46044" y="3178969"/>
                <a:ext cx="214312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54781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90500" y="0"/>
                    </a:lnTo>
                    <a:cubicBezTo>
                      <a:pt x="203651" y="0"/>
                      <a:pt x="214312" y="10661"/>
                      <a:pt x="214312" y="23812"/>
                    </a:cubicBezTo>
                    <a:lnTo>
                      <a:pt x="214312" y="130969"/>
                    </a:lnTo>
                    <a:cubicBezTo>
                      <a:pt x="214312" y="144120"/>
                      <a:pt x="203651" y="154781"/>
                      <a:pt x="190500" y="154781"/>
                    </a:cubicBezTo>
                    <a:lnTo>
                      <a:pt x="23812" y="154781"/>
                    </a:lnTo>
                    <a:cubicBezTo>
                      <a:pt x="10661" y="154781"/>
                      <a:pt x="0" y="144120"/>
                      <a:pt x="0" y="130969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05575" y="3131344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71438" y="0"/>
                    </a:lnTo>
                    <a:cubicBezTo>
                      <a:pt x="84589" y="0"/>
                      <a:pt x="95250" y="10661"/>
                      <a:pt x="95250" y="23812"/>
                    </a:cubicBezTo>
                    <a:lnTo>
                      <a:pt x="95250" y="47625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53200" y="3238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46044" y="3250406"/>
                <a:ext cx="214312" cy="33963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33963">
                    <a:moveTo>
                      <a:pt x="0" y="0"/>
                    </a:moveTo>
                    <a:cubicBezTo>
                      <a:pt x="67401" y="33963"/>
                      <a:pt x="146912" y="33963"/>
                      <a:pt x="214312" y="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822758" y="31675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正式招聘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381750" y="3524250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0"/>
                  </a:moveTo>
                  <a:lnTo>
                    <a:pt x="223837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68415" y="36966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多项目并行、需求爆发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68415" y="39633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招专职 + 建团队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68415" y="42300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AI 进入关键业务流程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81750" y="4495800"/>
              <a:ext cx="2238375" cy="2667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01207" y="45715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从项目能力到组织能力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001125" y="2857500"/>
            <a:ext cx="2619375" cy="2047875"/>
            <a:chOff x="9001125" y="2857500"/>
            <a:chExt cx="2619375" cy="2047875"/>
          </a:xfrm>
        </p:grpSpPr>
        <p:sp>
          <p:nvSpPr>
            <p:cNvPr id="68" name="Rectangle 68"/>
            <p:cNvSpPr/>
            <p:nvPr/>
          </p:nvSpPr>
          <p:spPr>
            <a:xfrm>
              <a:off x="9001125" y="2857500"/>
              <a:ext cx="2619375" cy="2047875"/>
            </a:xfrm>
            <a:prstGeom prst="roundRect">
              <a:avLst>
                <a:gd name="adj" fmla="val 5581"/>
              </a:avLst>
            </a:prstGeom>
            <a:solidFill>
              <a:srgbClr val="0E9F6E">
                <a:alpha val="5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001125" y="285750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9182100" y="3057525"/>
              <a:ext cx="361950" cy="361950"/>
            </a:xfrm>
            <a:prstGeom prst="ellipse">
              <a:avLst/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9255919" y="3131344"/>
              <a:ext cx="214313" cy="226219"/>
              <a:chOff x="9255919" y="3131344"/>
              <a:chExt cx="214313" cy="226219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9291638" y="3131344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363075" y="3131344"/>
                <a:ext cx="238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142875">
                    <a:moveTo>
                      <a:pt x="0" y="0"/>
                    </a:moveTo>
                    <a:cubicBezTo>
                      <a:pt x="15871" y="3965"/>
                      <a:pt x="23812" y="27777"/>
                      <a:pt x="23812" y="71438"/>
                    </a:cubicBezTo>
                    <a:cubicBezTo>
                      <a:pt x="23812" y="115098"/>
                      <a:pt x="15871" y="138910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339262" y="3131344"/>
                <a:ext cx="238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142875">
                    <a:moveTo>
                      <a:pt x="23812" y="0"/>
                    </a:moveTo>
                    <a:cubicBezTo>
                      <a:pt x="7941" y="3965"/>
                      <a:pt x="0" y="27777"/>
                      <a:pt x="0" y="71438"/>
                    </a:cubicBezTo>
                    <a:cubicBezTo>
                      <a:pt x="0" y="115098"/>
                      <a:pt x="7941" y="138910"/>
                      <a:pt x="23812" y="142875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291638" y="3202781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9255919" y="3333750"/>
                <a:ext cx="833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">
                    <a:moveTo>
                      <a:pt x="0" y="0"/>
                    </a:moveTo>
                    <a:lnTo>
                      <a:pt x="83344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9386888" y="3333750"/>
                <a:ext cx="833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">
                    <a:moveTo>
                      <a:pt x="0" y="0"/>
                    </a:moveTo>
                    <a:lnTo>
                      <a:pt x="83344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9339262" y="3309938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363075" y="3274219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9632632" y="31675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内外协同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191625" y="3524250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0"/>
                  </a:moveTo>
                  <a:lnTo>
                    <a:pt x="2238375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178290" y="369665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复杂大型企业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178290" y="39633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内部团队 + 外部伙伴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178290" y="42300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权限与系统复杂度高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191625" y="4495800"/>
              <a:ext cx="2238375" cy="2667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590605" y="4571524"/>
              <a:ext cx="14308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规模 × 专业 × 变革速度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71500" y="5191125"/>
            <a:ext cx="11049000" cy="742950"/>
            <a:chOff x="571500" y="5191125"/>
            <a:chExt cx="11049000" cy="742950"/>
          </a:xfrm>
        </p:grpSpPr>
        <p:sp>
          <p:nvSpPr>
            <p:cNvPr id="88" name="Rectangle 88"/>
            <p:cNvSpPr/>
            <p:nvPr/>
          </p:nvSpPr>
          <p:spPr>
            <a:xfrm>
              <a:off x="571500" y="5191125"/>
              <a:ext cx="5429250" cy="742950"/>
            </a:xfrm>
            <a:prstGeom prst="roundRect">
              <a:avLst>
                <a:gd name="adj" fmla="val 15385"/>
              </a:avLst>
            </a:prstGeom>
            <a:solidFill>
              <a:srgbClr val="0052A6">
                <a:alpha val="5000"/>
              </a:srgbClr>
            </a:solidFill>
            <a:ln w="9525">
              <a:solidFill>
                <a:srgbClr val="0052A6">
                  <a:alpha val="35000"/>
                </a:srgbClr>
              </a:solidFill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840581" y="5441156"/>
              <a:ext cx="242888" cy="242888"/>
              <a:chOff x="840581" y="5441156"/>
              <a:chExt cx="242888" cy="242888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948531" y="5549106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94556" y="5495131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40581" y="5441156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5"/>
                      <a:pt x="54372" y="242888"/>
                      <a:pt x="121444" y="242888"/>
                    </a:cubicBezTo>
                    <a:cubicBezTo>
                      <a:pt x="188515" y="242888"/>
                      <a:pt x="242888" y="188515"/>
                      <a:pt x="242888" y="121444"/>
                    </a:cubicBezTo>
                    <a:cubicBezTo>
                      <a:pt x="242888" y="54372"/>
                      <a:pt x="188515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243965" y="5392102"/>
              <a:ext cx="1812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客户视角 · 我们的市场窗口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243965" y="5620702"/>
              <a:ext cx="38491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客户正处在阶段 1–2「先借能力」——正是外部 FDE 的切入机会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191250" y="5191125"/>
              <a:ext cx="5429250" cy="742950"/>
            </a:xfrm>
            <a:prstGeom prst="roundRect">
              <a:avLst>
                <a:gd name="adj" fmla="val 15385"/>
              </a:avLst>
            </a:prstGeom>
            <a:solidFill>
              <a:srgbClr val="246BFE">
                <a:alpha val="5000"/>
              </a:srgbClr>
            </a:solidFill>
            <a:ln w="9525">
              <a:solidFill>
                <a:srgbClr val="246BFE">
                  <a:alpha val="35000"/>
                </a:srgbClr>
              </a:solidFill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500812" y="5441156"/>
              <a:ext cx="161925" cy="242887"/>
              <a:chOff x="6500812" y="5441156"/>
              <a:chExt cx="161925" cy="242887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527800" y="5441156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500812" y="5603081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6863715" y="5392102"/>
              <a:ext cx="1812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自身视角 · 我们的人才策略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863715" y="5620702"/>
              <a:ext cx="3681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人招不到，就更不能从招聘入手——先借力验证、再内部转型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21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5" grpId="0"/>
      <p:bldP spid="51" grpId="0"/>
      <p:bldP spid="67" grpId="0"/>
      <p:bldP spid="87" grpId="0"/>
      <p:bldP spid="10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388608" cy="1046798"/>
            <a:chOff x="542925" y="458152"/>
            <a:chExt cx="6388608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092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05 · 人才与组织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54128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从内部挖人：4 特质选人 + 项目制培养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63752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市场上几乎招不到——行业 SA、交付、行业专家最接近，选人只看 4 项特质，不看原有岗位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571625"/>
            <a:ext cx="2619375" cy="1238250"/>
            <a:chOff x="571500" y="1571625"/>
            <a:chExt cx="2619375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571625"/>
              <a:ext cx="261937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571625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7716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0831" y="1828324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特质 1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495550" y="1790700"/>
              <a:ext cx="228600" cy="215900"/>
              <a:chOff x="2495550" y="1790700"/>
              <a:chExt cx="228600" cy="2159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495550" y="1841500"/>
                <a:ext cx="2286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651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200" y="0"/>
                    </a:lnTo>
                    <a:cubicBezTo>
                      <a:pt x="217228" y="0"/>
                      <a:pt x="228600" y="11372"/>
                      <a:pt x="228600" y="25400"/>
                    </a:cubicBezTo>
                    <a:lnTo>
                      <a:pt x="228600" y="139700"/>
                    </a:lnTo>
                    <a:cubicBezTo>
                      <a:pt x="228600" y="153728"/>
                      <a:pt x="217228" y="165100"/>
                      <a:pt x="203200" y="165100"/>
                    </a:cubicBezTo>
                    <a:lnTo>
                      <a:pt x="25400" y="165100"/>
                    </a:lnTo>
                    <a:cubicBezTo>
                      <a:pt x="11372" y="165100"/>
                      <a:pt x="0" y="153728"/>
                      <a:pt x="0" y="1397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559050" y="1790700"/>
                <a:ext cx="1016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0800">
                    <a:moveTo>
                      <a:pt x="0" y="508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76200" y="0"/>
                    </a:ln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508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609850" y="190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495550" y="1917700"/>
                <a:ext cx="228600" cy="3622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6228">
                    <a:moveTo>
                      <a:pt x="0" y="0"/>
                    </a:moveTo>
                    <a:cubicBezTo>
                      <a:pt x="71894" y="36228"/>
                      <a:pt x="156706" y="36228"/>
                      <a:pt x="228600" y="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742950" y="21526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懂业务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2477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知道业务怎么运转、价值在哪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381375" y="1571625"/>
            <a:ext cx="2619375" cy="1238250"/>
            <a:chOff x="3381375" y="1571625"/>
            <a:chExt cx="2619375" cy="1238250"/>
          </a:xfrm>
        </p:grpSpPr>
        <p:sp>
          <p:nvSpPr>
            <p:cNvPr id="20" name="Rectangle 20"/>
            <p:cNvSpPr/>
            <p:nvPr/>
          </p:nvSpPr>
          <p:spPr>
            <a:xfrm>
              <a:off x="3381375" y="1571625"/>
              <a:ext cx="261937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81375" y="1571625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571875" y="17716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50706" y="1828324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特质 2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330825" y="1778000"/>
              <a:ext cx="177800" cy="241300"/>
              <a:chOff x="5330825" y="1778000"/>
              <a:chExt cx="177800" cy="2413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343525" y="1803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419725" y="1778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381625" y="1905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457825" y="1905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330825" y="1930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457825" y="1930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381625" y="19812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3943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4451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3552825" y="21526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能动手实操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8540" y="24774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不只出方案，能下场做出来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91250" y="1571625"/>
            <a:ext cx="2619375" cy="1238250"/>
            <a:chOff x="6191250" y="1571625"/>
            <a:chExt cx="2619375" cy="1238250"/>
          </a:xfrm>
        </p:grpSpPr>
        <p:sp>
          <p:nvSpPr>
            <p:cNvPr id="37" name="Rectangle 37"/>
            <p:cNvSpPr/>
            <p:nvPr/>
          </p:nvSpPr>
          <p:spPr>
            <a:xfrm>
              <a:off x="6191250" y="1571625"/>
              <a:ext cx="261937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91250" y="1571625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381750" y="17716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60581" y="1828324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特质 3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8115300" y="1790700"/>
              <a:ext cx="228600" cy="228600"/>
              <a:chOff x="8115300" y="1790700"/>
              <a:chExt cx="228600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229600" y="19177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40700" y="19177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93100" y="18669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29600" y="17907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15300" y="18669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40700" y="17907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362700" y="2152650"/>
              <a:ext cx="4896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懂 AI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68415" y="2477452"/>
              <a:ext cx="1769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知道 AI 能干什么、边界在哪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001125" y="1571625"/>
            <a:ext cx="2619375" cy="1238250"/>
            <a:chOff x="9001125" y="1571625"/>
            <a:chExt cx="2619375" cy="1238250"/>
          </a:xfrm>
        </p:grpSpPr>
        <p:sp>
          <p:nvSpPr>
            <p:cNvPr id="51" name="Rectangle 51"/>
            <p:cNvSpPr/>
            <p:nvPr/>
          </p:nvSpPr>
          <p:spPr>
            <a:xfrm>
              <a:off x="9001125" y="1571625"/>
              <a:ext cx="2619375" cy="1238250"/>
            </a:xfrm>
            <a:prstGeom prst="roundRect">
              <a:avLst>
                <a:gd name="adj" fmla="val 9231"/>
              </a:avLst>
            </a:prstGeom>
            <a:solidFill>
              <a:srgbClr val="0E9F6E">
                <a:alpha val="5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001125" y="1571625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191625" y="17716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70456" y="1828324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特质 4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0925175" y="1790700"/>
              <a:ext cx="228600" cy="228600"/>
              <a:chOff x="10925175" y="1790700"/>
              <a:chExt cx="228600" cy="2286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1026775" y="18923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975975" y="18415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925175" y="1790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9172575" y="21526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对结果负责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78290" y="24774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盯业务结果，不只交付验收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4355" y="3378518"/>
            <a:ext cx="5815632" cy="274320"/>
            <a:chOff x="554355" y="3378518"/>
            <a:chExt cx="5815632" cy="274320"/>
          </a:xfrm>
        </p:grpSpPr>
        <p:sp>
          <p:nvSpPr>
            <p:cNvPr id="62" name="TextBox 62"/>
            <p:cNvSpPr txBox="1"/>
            <p:nvPr/>
          </p:nvSpPr>
          <p:spPr>
            <a:xfrm>
              <a:off x="554355" y="337851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培养是项目制，不是课堂制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129915" y="3410902"/>
              <a:ext cx="3240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FDE 能力不是培训出来的，是在真实项目里长出来的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0" y="4333875"/>
            <a:ext cx="3962400" cy="1"/>
            <a:chOff x="3810000" y="4333875"/>
            <a:chExt cx="3962400" cy="1"/>
          </a:xfrm>
        </p:grpSpPr>
        <p:sp>
          <p:nvSpPr>
            <p:cNvPr id="65" name="Line 65"/>
            <p:cNvSpPr/>
            <p:nvPr/>
          </p:nvSpPr>
          <p:spPr>
            <a:xfrm>
              <a:off x="3810000" y="4333875"/>
              <a:ext cx="34290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66" name="Line 66"/>
            <p:cNvSpPr/>
            <p:nvPr/>
          </p:nvSpPr>
          <p:spPr>
            <a:xfrm>
              <a:off x="7429500" y="4333875"/>
              <a:ext cx="34290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571500" y="3667125"/>
            <a:ext cx="3238500" cy="1335881"/>
            <a:chOff x="571500" y="3667125"/>
            <a:chExt cx="3238500" cy="1335881"/>
          </a:xfrm>
        </p:grpSpPr>
        <p:sp>
          <p:nvSpPr>
            <p:cNvPr id="68" name="Rectangle 68"/>
            <p:cNvSpPr/>
            <p:nvPr/>
          </p:nvSpPr>
          <p:spPr>
            <a:xfrm>
              <a:off x="571500" y="3667125"/>
              <a:ext cx="3238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71500" y="366712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2000" y="384810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4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6454" y="3915728"/>
              <a:ext cx="60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18FEC"/>
                  </a:solidFill>
                  <a:latin typeface="Arial"/>
                  <a:ea typeface="Microsoft YaHei"/>
                  <a:cs typeface="Arial"/>
                </a:rPr>
                <a:t>0–3 个月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3902" y="4246721"/>
              <a:ext cx="6347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打基础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7712" y="4564856"/>
              <a:ext cx="1873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工具链 · 方法论 · 跟岗实习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7712" y="4774406"/>
              <a:ext cx="14162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建立 FDE 的基本手感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4191000" y="3667125"/>
            <a:ext cx="3238500" cy="1335881"/>
            <a:chOff x="4191000" y="3667125"/>
            <a:chExt cx="3238500" cy="1335881"/>
          </a:xfrm>
        </p:grpSpPr>
        <p:sp>
          <p:nvSpPr>
            <p:cNvPr id="76" name="Rectangle 76"/>
            <p:cNvSpPr/>
            <p:nvPr/>
          </p:nvSpPr>
          <p:spPr>
            <a:xfrm>
              <a:off x="4191000" y="3667125"/>
              <a:ext cx="3238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4191000" y="366712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4381500" y="3848100"/>
              <a:ext cx="1047750" cy="2667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4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561249" y="3915728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9–18 个月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363402" y="4246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独立交付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367212" y="45648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独立带客户、端到端落地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367212" y="4774406"/>
              <a:ext cx="13712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成为可上战场的 FDE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810500" y="3667125"/>
            <a:ext cx="3238500" cy="1335881"/>
            <a:chOff x="7810500" y="3667125"/>
            <a:chExt cx="3238500" cy="1335881"/>
          </a:xfrm>
        </p:grpSpPr>
        <p:sp>
          <p:nvSpPr>
            <p:cNvPr id="84" name="Rectangle 84"/>
            <p:cNvSpPr/>
            <p:nvPr/>
          </p:nvSpPr>
          <p:spPr>
            <a:xfrm>
              <a:off x="7810500" y="3667125"/>
              <a:ext cx="3238500" cy="1333500"/>
            </a:xfrm>
            <a:prstGeom prst="roundRect">
              <a:avLst>
                <a:gd name="adj" fmla="val 8571"/>
              </a:avLst>
            </a:prstGeom>
            <a:solidFill>
              <a:srgbClr val="0052A6">
                <a:alpha val="5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810500" y="366712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001000" y="38481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173554" y="3915728"/>
              <a:ext cx="60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18 个月+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982902" y="424672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能定义问题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986712" y="4564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从解决问题到定义问题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986712" y="47744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接近创业的能力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71500" y="5191125"/>
            <a:ext cx="11049000" cy="609600"/>
            <a:chOff x="571500" y="5191125"/>
            <a:chExt cx="11049000" cy="609600"/>
          </a:xfrm>
        </p:grpSpPr>
        <p:sp>
          <p:nvSpPr>
            <p:cNvPr id="92" name="Rectangle 92"/>
            <p:cNvSpPr/>
            <p:nvPr/>
          </p:nvSpPr>
          <p:spPr>
            <a:xfrm>
              <a:off x="571500" y="5191125"/>
              <a:ext cx="11049000" cy="590550"/>
            </a:xfrm>
            <a:prstGeom prst="roundRect">
              <a:avLst>
                <a:gd name="adj" fmla="val 19355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71500" y="5191125"/>
              <a:ext cx="57150" cy="5905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825939" y="5360473"/>
              <a:ext cx="272162" cy="233823"/>
              <a:chOff x="825939" y="5360473"/>
              <a:chExt cx="272162" cy="233823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962025" y="5445919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25939" y="5360473"/>
                <a:ext cx="272162" cy="233823"/>
              </a:xfrm>
              <a:custGeom>
                <a:avLst/>
                <a:gdLst/>
                <a:ahLst/>
                <a:cxnLst/>
                <a:rect l="l" t="t" r="r" b="b"/>
                <a:pathLst>
                  <a:path w="272162" h="233823">
                    <a:moveTo>
                      <a:pt x="113997" y="12458"/>
                    </a:moveTo>
                    <a:lnTo>
                      <a:pt x="4616" y="195082"/>
                    </a:lnTo>
                    <a:cubicBezTo>
                      <a:pt x="28" y="203028"/>
                      <a:pt x="0" y="212812"/>
                      <a:pt x="4543" y="220784"/>
                    </a:cubicBezTo>
                    <a:cubicBezTo>
                      <a:pt x="9086" y="228756"/>
                      <a:pt x="17517" y="233720"/>
                      <a:pt x="26692" y="233823"/>
                    </a:cubicBezTo>
                    <a:lnTo>
                      <a:pt x="245480" y="233823"/>
                    </a:lnTo>
                    <a:cubicBezTo>
                      <a:pt x="254651" y="233717"/>
                      <a:pt x="263078" y="228755"/>
                      <a:pt x="267620" y="220788"/>
                    </a:cubicBezTo>
                    <a:cubicBezTo>
                      <a:pt x="272162" y="212820"/>
                      <a:pt x="272137" y="203041"/>
                      <a:pt x="267556" y="195096"/>
                    </a:cubicBezTo>
                    <a:lnTo>
                      <a:pt x="158175" y="12444"/>
                    </a:lnTo>
                    <a:cubicBezTo>
                      <a:pt x="153495" y="4719"/>
                      <a:pt x="145119" y="0"/>
                      <a:pt x="136086" y="0"/>
                    </a:cubicBezTo>
                    <a:cubicBezTo>
                      <a:pt x="127053" y="0"/>
                      <a:pt x="118677" y="4719"/>
                      <a:pt x="113997" y="12444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962025" y="5540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243965" y="5363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一线失血陷阱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242060" y="5556885"/>
              <a:ext cx="56871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警惕「干得好就调回总部」——刚培养成熟就被抽走，是 FDE 团队最大的隐性损耗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22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6" grpId="0"/>
      <p:bldP spid="50" grpId="0"/>
      <p:bldP spid="61" grpId="0"/>
      <p:bldP spid="64" grpId="0"/>
      <p:bldP spid="67" grpId="0"/>
      <p:bldP spid="75" grpId="0"/>
      <p:bldP spid="83" grpId="0"/>
      <p:bldP spid="91" grpId="0"/>
      <p:bldP spid="10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782741" cy="1046798"/>
            <a:chOff x="542925" y="458152"/>
            <a:chExt cx="478274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05 · 人才观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彻底扭转「把人当资源」的旧理念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0E9F6E">
                    <a:alpha val="20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尊重、培养、吸引——让沉淀的经验真正算进绩效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76500" y="1804988"/>
            <a:ext cx="7239000" cy="2767012"/>
            <a:chOff x="2476500" y="1804988"/>
            <a:chExt cx="7239000" cy="2767012"/>
          </a:xfrm>
        </p:grpSpPr>
        <p:sp>
          <p:nvSpPr>
            <p:cNvPr id="8" name="TextBox 8"/>
            <p:cNvSpPr txBox="1"/>
            <p:nvPr/>
          </p:nvSpPr>
          <p:spPr>
            <a:xfrm>
              <a:off x="5317331" y="1804988"/>
              <a:ext cx="15573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strike="sngStrike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把人当资源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5953125" y="2266950"/>
              <a:ext cx="285750" cy="323850"/>
            </a:xfrm>
            <a:custGeom>
              <a:avLst/>
              <a:gdLst/>
              <a:ahLst/>
              <a:cxnLst/>
              <a:rect l="l" t="t" r="r" b="b"/>
              <a:pathLst>
                <a:path w="285750" h="323850">
                  <a:moveTo>
                    <a:pt x="0" y="0"/>
                  </a:moveTo>
                  <a:lnTo>
                    <a:pt x="285750" y="0"/>
                  </a:lnTo>
                  <a:lnTo>
                    <a:pt x="142875" y="323850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76500" y="2286000"/>
              <a:ext cx="7239000" cy="2286000"/>
            </a:xfrm>
            <a:prstGeom prst="ellipse">
              <a:avLst/>
            </a:prstGeom>
            <a:gradFill>
              <a:gsLst>
                <a:gs pos="0">
                  <a:srgbClr val="246BFE">
                    <a:alpha val="1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048000" y="2762250"/>
              <a:ext cx="6096000" cy="1428750"/>
            </a:xfrm>
            <a:prstGeom prst="roundRect">
              <a:avLst>
                <a:gd name="adj" fmla="val 10667"/>
              </a:avLst>
            </a:prstGeom>
            <a:solidFill>
              <a:srgbClr val="0052A6">
                <a:alpha val="6000"/>
              </a:srgbClr>
            </a:solidFill>
            <a:ln w="19050">
              <a:solidFill>
                <a:srgbClr val="0052A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63653" y="3038475"/>
              <a:ext cx="326469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把人当资产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7147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91694" y="3854768"/>
              <a:ext cx="26086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尊重人才 · 培养人才 · 吸引人才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1905000" y="4714875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E3E9F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2249091" y="4989671"/>
            <a:ext cx="1978819" cy="794385"/>
            <a:chOff x="2249091" y="4989671"/>
            <a:chExt cx="1978819" cy="794385"/>
          </a:xfrm>
        </p:grpSpPr>
        <p:sp>
          <p:nvSpPr>
            <p:cNvPr id="17" name="TextBox 17"/>
            <p:cNvSpPr txBox="1"/>
            <p:nvPr/>
          </p:nvSpPr>
          <p:spPr>
            <a:xfrm>
              <a:off x="2821353" y="49896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机制保障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37877" y="53268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双轨绩效 + 内部结算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49091" y="55554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让沉淀、跨客户复用算进绩效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6096000" y="4953000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9525">
            <a:solidFill>
              <a:srgbClr val="E3E9F2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7866578" y="4989671"/>
            <a:ext cx="2173843" cy="794385"/>
            <a:chOff x="7866578" y="4989671"/>
            <a:chExt cx="2173843" cy="794385"/>
          </a:xfrm>
        </p:grpSpPr>
        <p:sp>
          <p:nvSpPr>
            <p:cNvPr id="22" name="TextBox 22"/>
            <p:cNvSpPr txBox="1"/>
            <p:nvPr/>
          </p:nvSpPr>
          <p:spPr>
            <a:xfrm>
              <a:off x="8137303" y="498967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能力越往上越值钱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6578" y="5326856"/>
              <a:ext cx="217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行业洞察 · 客户信任 · 组织推动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393" y="5555456"/>
              <a:ext cx="1146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这些 AI 替代不了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23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499705" cy="1046798"/>
            <a:chOff x="542925" y="458152"/>
            <a:chExt cx="6499705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092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05 · 人才与组织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49970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懂业务、懂组织、懂指挥 AI 的人，不会被取代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4630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既要讲 AI 的革新力，也要安抚焦虑——AI 不会取代能驾驭它的人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13503" y="2075498"/>
            <a:ext cx="1849993" cy="1720214"/>
            <a:chOff x="2313503" y="2075498"/>
            <a:chExt cx="1849993" cy="1720214"/>
          </a:xfrm>
        </p:grpSpPr>
        <p:sp>
          <p:nvSpPr>
            <p:cNvPr id="8" name="TextBox 8"/>
            <p:cNvSpPr txBox="1"/>
            <p:nvPr/>
          </p:nvSpPr>
          <p:spPr>
            <a:xfrm>
              <a:off x="2693670" y="2075498"/>
              <a:ext cx="108966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工程执行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38801" y="2484120"/>
              <a:ext cx="39939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8FA3C4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13503" y="3106102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越来越便宜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24602" y="35823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995A3"/>
                  </a:solidFill>
                  <a:latin typeface="Arial"/>
                  <a:ea typeface="Microsoft YaHei"/>
                  <a:cs typeface="Arial"/>
                </a:rPr>
                <a:t>AI 让执行商品化</a:t>
              </a:r>
            </a:p>
          </p:txBody>
        </p:sp>
      </p:grpSp>
      <p:sp>
        <p:nvSpPr>
          <p:cNvPr id="13" name="Line 13"/>
          <p:cNvSpPr/>
          <p:nvPr/>
        </p:nvSpPr>
        <p:spPr>
          <a:xfrm>
            <a:off x="6096000" y="1952625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14288">
            <a:solidFill>
              <a:srgbClr val="E3E9F2"/>
            </a:solidFill>
            <a:prstDash val="dash"/>
          </a:ln>
        </p:spPr>
      </p:sp>
      <p:sp>
        <p:nvSpPr>
          <p:cNvPr id="14" name="Ellipse 14"/>
          <p:cNvSpPr/>
          <p:nvPr/>
        </p:nvSpPr>
        <p:spPr>
          <a:xfrm>
            <a:off x="5848350" y="2657475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2A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980789" y="2786062"/>
            <a:ext cx="2304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52A6"/>
                </a:solidFill>
                <a:latin typeface="Arial"/>
                <a:ea typeface="Microsoft YaHei"/>
                <a:cs typeface="Arial"/>
              </a:rPr>
              <a:t>≠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028503" y="2075498"/>
            <a:ext cx="1849993" cy="1720214"/>
            <a:chOff x="8028503" y="2075498"/>
            <a:chExt cx="1849993" cy="1720214"/>
          </a:xfrm>
        </p:grpSpPr>
        <p:sp>
          <p:nvSpPr>
            <p:cNvPr id="16" name="TextBox 16"/>
            <p:cNvSpPr txBox="1"/>
            <p:nvPr/>
          </p:nvSpPr>
          <p:spPr>
            <a:xfrm>
              <a:off x="8382667" y="20754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判断能力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53801" y="2484120"/>
              <a:ext cx="39939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8503" y="3106102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越来越稀缺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79620" y="358235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AI 替代不了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4191000"/>
            <a:ext cx="8572500" cy="1143000"/>
            <a:chOff x="1809750" y="4191000"/>
            <a:chExt cx="85725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809750" y="4191000"/>
              <a:ext cx="8572500" cy="1143000"/>
            </a:xfrm>
            <a:prstGeom prst="roundRect">
              <a:avLst>
                <a:gd name="adj" fmla="val 13333"/>
              </a:avLst>
            </a:prstGeom>
            <a:solidFill>
              <a:srgbClr val="0052A6">
                <a:alpha val="6000"/>
              </a:srgbClr>
            </a:solidFill>
            <a:ln w="19050">
              <a:solidFill>
                <a:srgbClr val="0052A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93871" y="4459605"/>
              <a:ext cx="74042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前线角色：从「写代码的人」→「指挥 AI 完成业务的人」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8125" y="4902518"/>
              <a:ext cx="37157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懂业务、懂组织、懂指挥 AI 的人，不会被取代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112389" y="5585460"/>
            <a:ext cx="5967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E6A78"/>
                </a:solidFill>
                <a:latin typeface="Arial"/>
                <a:ea typeface="Microsoft YaHei"/>
                <a:cs typeface="Arial"/>
              </a:rPr>
              <a:t>模型再强，仍需知道行业如何运转、客户如何决策——把知识变成组织资产的人最值钱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24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3100197" cy="1046798"/>
            <a:chOff x="542925" y="458152"/>
            <a:chExt cx="3100197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收束 · 四句话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四句话收束全场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0868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潜力、真相、路径、人才——一句话一个判断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710690"/>
            <a:ext cx="11049000" cy="894398"/>
            <a:chOff x="571500" y="1710690"/>
            <a:chExt cx="11049000" cy="894398"/>
          </a:xfrm>
        </p:grpSpPr>
        <p:sp>
          <p:nvSpPr>
            <p:cNvPr id="8" name="Ellipse 8"/>
            <p:cNvSpPr/>
            <p:nvPr/>
          </p:nvSpPr>
          <p:spPr>
            <a:xfrm>
              <a:off x="876300" y="1733550"/>
              <a:ext cx="533400" cy="53340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71550" y="1828800"/>
              <a:ext cx="342900" cy="342900"/>
              <a:chOff x="971550" y="1828800"/>
              <a:chExt cx="3429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23950" y="1981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7750" y="19050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1550" y="18288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171450"/>
                    </a:moveTo>
                    <a:cubicBezTo>
                      <a:pt x="0" y="266139"/>
                      <a:pt x="76761" y="342900"/>
                      <a:pt x="171450" y="342900"/>
                    </a:cubicBezTo>
                    <a:cubicBezTo>
                      <a:pt x="266139" y="342900"/>
                      <a:pt x="342900" y="266139"/>
                      <a:pt x="342900" y="171450"/>
                    </a:cubicBezTo>
                    <a:cubicBezTo>
                      <a:pt x="342900" y="76761"/>
                      <a:pt x="266139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72590" y="17106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潜力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9258" y="2072164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AI 落地的最后一公里，有真实的高销毛逻辑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9521" y="1721168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0052A6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249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2806065"/>
            <a:ext cx="11049000" cy="894397"/>
            <a:chOff x="571500" y="2806065"/>
            <a:chExt cx="11049000" cy="894397"/>
          </a:xfrm>
        </p:grpSpPr>
        <p:sp>
          <p:nvSpPr>
            <p:cNvPr id="18" name="Ellipse 18"/>
            <p:cNvSpPr/>
            <p:nvPr/>
          </p:nvSpPr>
          <p:spPr>
            <a:xfrm>
              <a:off x="876300" y="2828925"/>
              <a:ext cx="533400" cy="5334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50879" y="2917846"/>
              <a:ext cx="384228" cy="330103"/>
              <a:chOff x="950879" y="2917846"/>
              <a:chExt cx="384228" cy="33010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143000" y="30384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50879" y="2917846"/>
                <a:ext cx="384228" cy="330103"/>
              </a:xfrm>
              <a:custGeom>
                <a:avLst/>
                <a:gdLst/>
                <a:ahLst/>
                <a:cxnLst/>
                <a:rect l="l" t="t" r="r" b="b"/>
                <a:pathLst>
                  <a:path w="384228" h="330103">
                    <a:moveTo>
                      <a:pt x="160937" y="17587"/>
                    </a:moveTo>
                    <a:lnTo>
                      <a:pt x="6517" y="275410"/>
                    </a:lnTo>
                    <a:cubicBezTo>
                      <a:pt x="40" y="286628"/>
                      <a:pt x="0" y="300440"/>
                      <a:pt x="6413" y="311695"/>
                    </a:cubicBezTo>
                    <a:cubicBezTo>
                      <a:pt x="12827" y="322950"/>
                      <a:pt x="24730" y="329957"/>
                      <a:pt x="37683" y="330103"/>
                    </a:cubicBezTo>
                    <a:lnTo>
                      <a:pt x="346560" y="330103"/>
                    </a:lnTo>
                    <a:cubicBezTo>
                      <a:pt x="359507" y="329953"/>
                      <a:pt x="371404" y="322949"/>
                      <a:pt x="377816" y="311700"/>
                    </a:cubicBezTo>
                    <a:cubicBezTo>
                      <a:pt x="384228" y="300451"/>
                      <a:pt x="384194" y="286646"/>
                      <a:pt x="377726" y="275429"/>
                    </a:cubicBezTo>
                    <a:lnTo>
                      <a:pt x="223306" y="17568"/>
                    </a:lnTo>
                    <a:cubicBezTo>
                      <a:pt x="216699" y="6662"/>
                      <a:pt x="204873" y="0"/>
                      <a:pt x="192121" y="0"/>
                    </a:cubicBezTo>
                    <a:cubicBezTo>
                      <a:pt x="179370" y="0"/>
                      <a:pt x="167544" y="6662"/>
                      <a:pt x="160937" y="1756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143000" y="3171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672590" y="280606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真相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79258" y="3167539"/>
              <a:ext cx="49800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新兴行业，国内国外不同，难在人、周期长——别让它变成经营压力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09521" y="281654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F59E0B">
                      <a:alphaMod val="12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1500" y="35909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3901440"/>
            <a:ext cx="11049000" cy="894398"/>
            <a:chOff x="571500" y="3901440"/>
            <a:chExt cx="11049000" cy="894398"/>
          </a:xfrm>
        </p:grpSpPr>
        <p:sp>
          <p:nvSpPr>
            <p:cNvPr id="28" name="Ellipse 28"/>
            <p:cNvSpPr/>
            <p:nvPr/>
          </p:nvSpPr>
          <p:spPr>
            <a:xfrm>
              <a:off x="876300" y="3924300"/>
              <a:ext cx="533400" cy="533400"/>
            </a:xfrm>
            <a:prstGeom prst="ellipse">
              <a:avLst/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71550" y="4019550"/>
              <a:ext cx="342900" cy="342900"/>
              <a:chOff x="971550" y="4019550"/>
              <a:chExt cx="342900" cy="342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971550" y="42862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238250" y="40195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  <a:cubicBezTo>
                      <a:pt x="0" y="59142"/>
                      <a:pt x="17058" y="76200"/>
                      <a:pt x="38100" y="762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09650" y="4057650"/>
                <a:ext cx="2857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66700">
                    <a:moveTo>
                      <a:pt x="114300" y="266700"/>
                    </a:moveTo>
                    <a:lnTo>
                      <a:pt x="219075" y="266700"/>
                    </a:lnTo>
                    <a:cubicBezTo>
                      <a:pt x="255899" y="266700"/>
                      <a:pt x="285750" y="236849"/>
                      <a:pt x="285750" y="200025"/>
                    </a:cubicBezTo>
                    <a:cubicBezTo>
                      <a:pt x="285750" y="163201"/>
                      <a:pt x="255899" y="133350"/>
                      <a:pt x="219075" y="133350"/>
                    </a:cubicBezTo>
                    <a:lnTo>
                      <a:pt x="66675" y="133350"/>
                    </a:ln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672590" y="39014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路径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79258" y="4262914"/>
              <a:ext cx="46399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先验证、先沉淀、先打标杆——原厂打样、伙伴复制、先易后难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09521" y="3911918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246BFE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68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76300" y="4996815"/>
            <a:ext cx="10513695" cy="894397"/>
            <a:chOff x="876300" y="4996815"/>
            <a:chExt cx="10513695" cy="894397"/>
          </a:xfrm>
        </p:grpSpPr>
        <p:sp>
          <p:nvSpPr>
            <p:cNvPr id="38" name="Ellipse 38"/>
            <p:cNvSpPr/>
            <p:nvPr/>
          </p:nvSpPr>
          <p:spPr>
            <a:xfrm>
              <a:off x="876300" y="5019675"/>
              <a:ext cx="533400" cy="533400"/>
            </a:xfrm>
            <a:prstGeom prst="ellipse">
              <a:avLst/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71550" y="5114925"/>
              <a:ext cx="342900" cy="342900"/>
              <a:chOff x="971550" y="5114925"/>
              <a:chExt cx="342900" cy="342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09650" y="511492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71550" y="534352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19200" y="5117402"/>
                <a:ext cx="57299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57299" h="147638">
                    <a:moveTo>
                      <a:pt x="0" y="0"/>
                    </a:moveTo>
                    <a:cubicBezTo>
                      <a:pt x="33717" y="8633"/>
                      <a:pt x="57299" y="39014"/>
                      <a:pt x="57299" y="73819"/>
                    </a:cubicBezTo>
                    <a:cubicBezTo>
                      <a:pt x="57299" y="108623"/>
                      <a:pt x="33717" y="139005"/>
                      <a:pt x="0" y="147638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57300" y="5346382"/>
                <a:ext cx="57150" cy="111443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1443">
                    <a:moveTo>
                      <a:pt x="57150" y="111443"/>
                    </a:moveTo>
                    <a:lnTo>
                      <a:pt x="57150" y="73343"/>
                    </a:lnTo>
                    <a:cubicBezTo>
                      <a:pt x="56951" y="38759"/>
                      <a:pt x="33486" y="8646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672590" y="499681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人才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79258" y="5358289"/>
              <a:ext cx="61956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人才策略跟着阶段走——从「把人当资源」到「把人当资产」，AI 不取代驾驭它的人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09521" y="50072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0E9F6E">
                      <a:alphaMod val="12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5886450"/>
            <a:ext cx="11049000" cy="495300"/>
            <a:chOff x="571500" y="5886450"/>
            <a:chExt cx="11049000" cy="495300"/>
          </a:xfrm>
        </p:grpSpPr>
        <p:sp>
          <p:nvSpPr>
            <p:cNvPr id="48" name="Rectangle 48"/>
            <p:cNvSpPr/>
            <p:nvPr/>
          </p:nvSpPr>
          <p:spPr>
            <a:xfrm>
              <a:off x="571500" y="5886450"/>
              <a:ext cx="11049000" cy="495300"/>
            </a:xfrm>
            <a:prstGeom prst="roundRect">
              <a:avLst>
                <a:gd name="adj" fmla="val 23077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43461" y="6046946"/>
              <a:ext cx="47050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FDE 值得战略投入 · 战略重视 · 节奏稳妥 · 人才优先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/>
                <a:ea typeface="Microsoft YaHei"/>
                <a:cs typeface="Arial"/>
              </a:rPr>
              <a:t>25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7" grpId="0"/>
      <p:bldP spid="47" grpId="0"/>
      <p:bldP spid="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782741" cy="1046798"/>
            <a:chOff x="542925" y="458152"/>
            <a:chExt cx="478274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收尾 · 下一步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从「认知拉齐」走向「具体行动」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0E9F6E">
                    <a:alpha val="20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8869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>三个起步动作，方向性推进——具体经营方案留后续专题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762125"/>
            <a:ext cx="3238500" cy="3762375"/>
            <a:chOff x="571500" y="1762125"/>
            <a:chExt cx="3238500" cy="3762375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3238500" cy="3762375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952625"/>
              <a:ext cx="609600" cy="66675"/>
            </a:xfrm>
            <a:prstGeom prst="roundRect">
              <a:avLst>
                <a:gd name="adj" fmla="val 42857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950" y="208597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052A6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048000" y="2000250"/>
              <a:ext cx="381000" cy="266700"/>
              <a:chOff x="3048000" y="2000250"/>
              <a:chExt cx="381000" cy="2667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048000" y="20002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381000" y="76200"/>
                    </a:moveTo>
                    <a:lnTo>
                      <a:pt x="190500" y="0"/>
                    </a:lnTo>
                    <a:lnTo>
                      <a:pt x="0" y="76200"/>
                    </a:lnTo>
                    <a:lnTo>
                      <a:pt x="190500" y="152400"/>
                    </a:lnTo>
                    <a:lnTo>
                      <a:pt x="381000" y="76200"/>
                    </a:lnTo>
                    <a:lnTo>
                      <a:pt x="381000" y="1905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124200" y="2106930"/>
                <a:ext cx="22860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60020">
                    <a:moveTo>
                      <a:pt x="0" y="0"/>
                    </a:moveTo>
                    <a:lnTo>
                      <a:pt x="0" y="102870"/>
                    </a:lnTo>
                    <a:cubicBezTo>
                      <a:pt x="0" y="134433"/>
                      <a:pt x="51174" y="160020"/>
                      <a:pt x="114300" y="160020"/>
                    </a:cubicBezTo>
                    <a:cubicBezTo>
                      <a:pt x="177426" y="160020"/>
                      <a:pt x="228600" y="134433"/>
                      <a:pt x="228600" y="102870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8192" y="2785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验证试点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0100" y="31623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4860" y="3394710"/>
              <a:ext cx="16466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选 1–2 个高容错行业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860" y="36995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教育 / 传媒 / 文旅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60" y="400431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跑出可复制的标杆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" y="46672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0052A6">
                <a:alpha val="7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73592" y="480012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/>
                  <a:ea typeface="Microsoft YaHei"/>
                  <a:cs typeface="Arial"/>
                </a:rPr>
                <a:t>第一步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9468" y="4994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先打标杆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76750" y="1762125"/>
            <a:ext cx="3238500" cy="3762375"/>
            <a:chOff x="4476750" y="1762125"/>
            <a:chExt cx="3238500" cy="3762375"/>
          </a:xfrm>
        </p:grpSpPr>
        <p:sp>
          <p:nvSpPr>
            <p:cNvPr id="23" name="Rectangle 23"/>
            <p:cNvSpPr/>
            <p:nvPr/>
          </p:nvSpPr>
          <p:spPr>
            <a:xfrm>
              <a:off x="4476750" y="1762125"/>
              <a:ext cx="3238500" cy="3762375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05350" y="1952625"/>
              <a:ext cx="609600" cy="66675"/>
            </a:xfrm>
            <a:prstGeom prst="roundRect">
              <a:avLst>
                <a:gd name="adj" fmla="val 42857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48200" y="208597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46BFE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972300" y="1962150"/>
              <a:ext cx="342900" cy="342900"/>
              <a:chOff x="6972300" y="1962150"/>
              <a:chExt cx="342900" cy="3429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010400" y="19621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972300" y="219075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19950" y="1964626"/>
                <a:ext cx="57299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57299" h="147638">
                    <a:moveTo>
                      <a:pt x="0" y="0"/>
                    </a:moveTo>
                    <a:cubicBezTo>
                      <a:pt x="33717" y="8633"/>
                      <a:pt x="57299" y="39014"/>
                      <a:pt x="57299" y="73819"/>
                    </a:cubicBezTo>
                    <a:cubicBezTo>
                      <a:pt x="57299" y="108623"/>
                      <a:pt x="33717" y="139005"/>
                      <a:pt x="0" y="147638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58050" y="2193608"/>
                <a:ext cx="57150" cy="11144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1442">
                    <a:moveTo>
                      <a:pt x="57150" y="111442"/>
                    </a:moveTo>
                    <a:lnTo>
                      <a:pt x="57150" y="73342"/>
                    </a:lnTo>
                    <a:cubicBezTo>
                      <a:pt x="56951" y="38759"/>
                      <a:pt x="33486" y="8646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683442" y="2785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人才盘点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705350" y="31623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90110" y="3394710"/>
              <a:ext cx="2830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按 4 特质盘人（业务/实操/AI/结果）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90110" y="3699510"/>
              <a:ext cx="21507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SA / 交付 / 行业专家最接近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90110" y="400431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启动转型培养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705350" y="46672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246BFE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78842" y="480012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/>
                  <a:ea typeface="Microsoft YaHei"/>
                  <a:cs typeface="Arial"/>
                </a:rPr>
                <a:t>第二步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44718" y="4994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人才优先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382000" y="1762125"/>
            <a:ext cx="3238500" cy="3762375"/>
            <a:chOff x="8382000" y="1762125"/>
            <a:chExt cx="3238500" cy="3762375"/>
          </a:xfrm>
        </p:grpSpPr>
        <p:sp>
          <p:nvSpPr>
            <p:cNvPr id="40" name="Rectangle 40"/>
            <p:cNvSpPr/>
            <p:nvPr/>
          </p:nvSpPr>
          <p:spPr>
            <a:xfrm>
              <a:off x="8382000" y="1762125"/>
              <a:ext cx="3238500" cy="3762375"/>
            </a:xfrm>
            <a:prstGeom prst="roundRect">
              <a:avLst>
                <a:gd name="adj" fmla="val 3529"/>
              </a:avLst>
            </a:prstGeom>
            <a:solidFill>
              <a:srgbClr val="0E9F6E">
                <a:alpha val="5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10600" y="1952625"/>
              <a:ext cx="609600" cy="66675"/>
            </a:xfrm>
            <a:prstGeom prst="roundRect">
              <a:avLst>
                <a:gd name="adj" fmla="val 42857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53450" y="208597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E9F6E">
                      <a:alphaMod val="16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0896600" y="1973850"/>
              <a:ext cx="304800" cy="319500"/>
              <a:chOff x="10896600" y="1973850"/>
              <a:chExt cx="304800" cy="319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0896600" y="197385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896600" y="215265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588692" y="2785586"/>
              <a:ext cx="7684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5364A"/>
                  </a:solidFill>
                  <a:latin typeface="Arial"/>
                  <a:ea typeface="Microsoft YaHei"/>
                  <a:cs typeface="Arial"/>
                </a:rPr>
                <a:t>建机制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610600" y="31623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95360" y="3394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沉淀 / 复用纳入绩效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95360" y="3699510"/>
              <a:ext cx="1838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设 Skill / 本体沉淀专项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95360" y="400431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/>
                  <a:ea typeface="Microsoft YaHei"/>
                  <a:cs typeface="Arial"/>
                </a:rPr>
                <a:t xml:space="preserve"> 让经验真正算进绩效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610600" y="46672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84092" y="480012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49968" y="4994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机制保障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5715000"/>
            <a:ext cx="11049000" cy="571500"/>
            <a:chOff x="571500" y="5715000"/>
            <a:chExt cx="11049000" cy="571500"/>
          </a:xfrm>
        </p:grpSpPr>
        <p:sp>
          <p:nvSpPr>
            <p:cNvPr id="55" name="Rectangle 55"/>
            <p:cNvSpPr/>
            <p:nvPr/>
          </p:nvSpPr>
          <p:spPr>
            <a:xfrm>
              <a:off x="571500" y="571500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4818062" y="5934075"/>
              <a:ext cx="155575" cy="133350"/>
              <a:chOff x="4818062" y="5934075"/>
              <a:chExt cx="155575" cy="1333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4818062" y="60007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906962" y="60007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906962" y="59340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3796395" y="5931218"/>
              <a:ext cx="45992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三个起步动作，方向性推进 · 具体经营方案留后续专题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0070" y="6475095"/>
            <a:ext cx="11070907" cy="182880"/>
            <a:chOff x="560070" y="6475095"/>
            <a:chExt cx="11070907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60070" y="6475095"/>
              <a:ext cx="1853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法本信息 · FDE 经委会汇报 · 谢谢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/>
                  <a:ea typeface="Microsoft YaHei"/>
                  <a:cs typeface="Arial"/>
                </a:rPr>
                <a:t>26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9" grpId="0"/>
      <p:bldP spid="54" grpId="0"/>
      <p:bldP spid="6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2026-08-14T08:40:23Z</dcterms:created>
  <dcterms:modified xsi:type="dcterms:W3CDTF">2026-08-14T08:40:23Z</dcterms:modified>
  <cp:category/>
  <cp:contentStatus/>
</cp:coreProperties>
</file>