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82" r:id="rId3"/>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83"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1947" initials="A" lastIdx="0" clrIdx="0"/>
  <p:cmAuthor id="2" name="未知用户443" initials="未" lastIdx="0" clrIdx="1"/>
  <p:cmAuthor id="3" name="09266(符含强)" initials="0" lastIdx="0" clrIdx="2"/>
  <p:cmAuthor id="4" name="未知用户411" initials="未" lastIdx="0" clrIdx="3"/>
  <p:cmAuthor id="5" name="46094(高大鲲)" initials="4" lastIdx="0" clrIdx="4"/>
  <p:cmAuthor id="6" name="未知用户444" initials="未" lastIdx="0" clrIdx="5"/>
  <p:cmAuthor id="7" name="06569" initials="YJ" lastIdx="0" clrIdx="6"/>
  <p:cmAuthor id="8" name="未知用户413" initials="未" lastIdx="0" clrIdx="7"/>
  <p:cmAuthor id="9" name="apple" initials="a" lastIdx="0" clrIdx="8"/>
  <p:cmAuthor id="10" name="未知用户445" initials="未" lastIdx="0" clrIdx="9"/>
  <p:cmAuthor id="11" name="贾慧" initials="j" lastIdx="0" clrIdx="10"/>
  <p:cmAuthor id="12" name="殷格非" initials="殷" lastIdx="0" clrIdx="11"/>
  <p:cmAuthor id="13" name="未知用户446" initials="未" lastIdx="0" clrIdx="12"/>
  <p:cmAuthor id="14" name="黄伟" initials="c" lastIdx="0" clrIdx="13"/>
  <p:cmAuthor id="15" name="z r" initials="zr" lastIdx="0" clrIdx="14"/>
  <p:cmAuthor id="16" name="未知用户447" initials="未" lastIdx="0" clrIdx="15"/>
  <p:cmAuthor id="17" name="Microsoft Office 用户" initials="Office [3]" lastIdx="0" clrIdx="16"/>
  <p:cmAuthor id="18" name="8310" initials="8" lastIdx="0" clrIdx="17"/>
  <p:cmAuthor id="19" name="未知用户448" initials="未" lastIdx="0" clrIdx="18"/>
  <p:cmAuthor id="20" name="36329(王在翔)" initials="翔" lastIdx="0" clrIdx="19"/>
  <p:cmAuthor id="21" name="Aqf" initials="A" lastIdx="0" clrIdx="20"/>
  <p:cmAuthor id="22" name="未知用户333" initials="未" lastIdx="0" clrIdx="21"/>
  <p:cmAuthor id="23" name="homay" initials="h" lastIdx="0" clrIdx="22"/>
  <p:cmAuthor id="24" name="13709759491@139.com" initials="1" lastIdx="0" clrIdx="23"/>
  <p:cmAuthor id="25" name="未知用户417" initials="未" lastIdx="0" clrIdx="24"/>
  <p:cmAuthor id="26" name="51687" initials="5" lastIdx="0" clrIdx="25"/>
  <p:cmAuthor id="27" name="我爱肥肥" initials="我" lastIdx="0" clrIdx="26"/>
  <p:cmAuthor id="28" name="zhao jia" initials="zj" lastIdx="0" clrIdx="27"/>
  <p:cmAuthor id="29" name="未知用户449" initials="未" lastIdx="0" clrIdx="28"/>
  <p:cmAuthor id="30" name="62975" initials="6" lastIdx="0" clrIdx="29"/>
  <p:cmAuthor id="31" name="cheng" initials="c" lastIdx="0" clrIdx="30"/>
  <p:cmAuthor id="32" name="未知用户418" initials="未" lastIdx="0" clrIdx="31"/>
  <p:cmAuthor id="33" name="赵欣" initials="赵" lastIdx="0" clrIdx="32"/>
  <p:cmAuthor id="34" name="方少_UbQfrimU" initials="authorId_442114952" lastIdx="0" clrIdx="33"/>
  <p:cmAuthor id="35" name="未知用户450" initials="未" lastIdx="0" clrIdx="34"/>
  <p:cmAuthor id="36" name="Arvin" initials="A" lastIdx="0" clrIdx="35"/>
  <p:cmAuthor id="37" name="叶盛_Q3A3IfEf" initials="authorId_506280334" lastIdx="0" clrIdx="36"/>
  <p:cmAuthor id="38" name="未知用户423" initials="未" lastIdx="0" clrIdx="37"/>
  <p:cmAuthor id="39" name="John" initials="J" lastIdx="0" clrIdx="38"/>
  <p:cmAuthor id="40" name="Harley._bEJrUJ7r" initials="authorId_432156705" lastIdx="0" clrIdx="39"/>
  <p:cmAuthor id="41" name="未知用户424" initials="未" lastIdx="0" clrIdx="40"/>
  <p:cmAuthor id="42" name="10025093" initials="1" lastIdx="0" clrIdx="41"/>
  <p:cmAuthor id="43" name="罗平_VB7vJb2E" initials="authorId_305049361" lastIdx="0" clrIdx="42"/>
  <p:cmAuthor id="44" name="未知用户425" initials="未" lastIdx="0" clrIdx="43"/>
  <p:cmAuthor id="45" name="10078380" initials="1" lastIdx="0" clrIdx="44"/>
  <p:cmAuthor id="46" name="xixi_nUjqe22E" initials="authorId_359229261" lastIdx="0" clrIdx="45"/>
  <p:cmAuthor id="47" name="未知用户451" initials="未" lastIdx="0" clrIdx="46"/>
  <p:cmAuthor id="48" name="00035181" initials="0" lastIdx="0" clrIdx="47"/>
  <p:cmAuthor id="49" name="安安_zm6nYnYZ" initials="authorId_347340296" lastIdx="0" clrIdx="48"/>
  <p:cmAuthor id="50" name="未知用户452" initials="未" lastIdx="0" clrIdx="49"/>
  <p:cmAuthor id="51" name="张燕" initials="MSOffice" lastIdx="0" clrIdx="50"/>
  <p:cmAuthor id="52" name="nature_emInFJF7" initials="authorId_313163542" lastIdx="0" clrIdx="51"/>
  <p:cmAuthor id="53" name="未知用户453" initials="未" lastIdx="0" clrIdx="52"/>
  <p:cmAuthor id="54" name="Saku Uchikawa" initials="S" lastIdx="0" clrIdx="53"/>
  <p:cmAuthor id="55" name="杨思思_VNjyvY7j" initials="authorId_430925712" lastIdx="0" clrIdx="54"/>
  <p:cmAuthor id="56" name="未知用户454" initials="未" lastIdx="0" clrIdx="55"/>
  <p:cmAuthor id="57" name="00065088" initials="0" lastIdx="0" clrIdx="56"/>
  <p:cmAuthor id="58" name="高飞" initials="高" lastIdx="0" clrIdx="57"/>
  <p:cmAuthor id="59" name="周君_MfIffYra" initials="authorId_375419134" lastIdx="0" clrIdx="58"/>
  <p:cmAuthor id="60" name="未知用户455" initials="未" lastIdx="0" clrIdx="59"/>
  <p:cmAuthor id="61" name="10066351" initials="1" lastIdx="0" clrIdx="60"/>
  <p:cmAuthor id="62" name="xzb1" initials="x" lastIdx="0" clrIdx="61"/>
  <p:cmAuthor id="63" name="未知用户456" initials="未" lastIdx="0" clrIdx="62"/>
  <p:cmAuthor id="64" name="蔡建楠" initials="caijianna" lastIdx="0" clrIdx="63"/>
  <p:cmAuthor id="65" name="未知用户457" initials="未" lastIdx="0" clrIdx="64"/>
  <p:cmAuthor id="66" name="fyl" initials="f" lastIdx="0" clrIdx="65"/>
  <p:cmAuthor id="67" name="未知用户458" initials="未" lastIdx="0" clrIdx="66"/>
  <p:cmAuthor id="68" name="wenzi" initials="w" lastIdx="0" clrIdx="67"/>
  <p:cmAuthor id="69" name="風輕 雲淡" initials="風輕" lastIdx="0" clrIdx="68"/>
  <p:cmAuthor id="70" name="Shirley D Duo" initials="S" lastIdx="0" clrIdx="69"/>
  <p:cmAuthor id="71" name="张 青山" initials="张" lastIdx="0" clrIdx="70"/>
  <p:cmAuthor id="72" name="周轶奇/上研技术保障部/研发中心/总行机关/ABC" initials="周" lastIdx="0" clrIdx="71"/>
  <p:cmAuthor id="73" name="张青山" initials="张青山" lastIdx="0" clrIdx="72"/>
  <p:cmAuthor id="74" name="杨庆辰" initials="杨" lastIdx="0" clrIdx="73"/>
  <p:cmAuthor id="75" name="霍桃梅/成研开发二部/研发中心/总行机关/ABC" initials="霍" lastIdx="0" clrIdx="74"/>
  <p:cmAuthor id="76" name="ketchup" initials="k" lastIdx="0" clrIdx="75"/>
  <p:cmAuthor id="77" name="匡艺/设备资源管理处/科技与产品管理局/总行机关/ABC" initials="匡" lastIdx="0" clrIdx="76"/>
  <p:cmAuthor id="78" name="Author" initials="A" lastIdx="0" clrIdx="77"/>
  <p:cmAuthor id="79" name="张延堂/应用开发七部/研发中心/总行机关/ABC" initials="张" lastIdx="0" clrIdx="78"/>
  <p:cmAuthor id="80" name="毕瑜" initials="毕" lastIdx="0" clrIdx="79"/>
  <p:cmAuthor id="81" name="朱泳" initials="朱" lastIdx="0" clrIdx="80"/>
  <p:cmAuthor id="82" name="李亮" initials="李" lastIdx="0" clrIdx="81"/>
  <p:cmAuthor id="83" name="关全全10258021" initials="关全全10258021" lastIdx="0" clrIdx="82"/>
  <p:cmAuthor id="84" name="郏 鹏" initials="郏" lastIdx="0" clrIdx="83"/>
  <p:cmAuthor id="85" name="黄珂10009187" initials="黄珂10009187" lastIdx="0" clrIdx="84"/>
  <p:cmAuthor id="86" name="进 揭" initials="进" lastIdx="0" clrIdx="85"/>
  <p:cmAuthor id="87" name="郏鹏" initials="郏" lastIdx="0" clrIdx="86"/>
  <p:cmAuthor id="88" name="张 庆飞" initials="张" lastIdx="0" clrIdx="87"/>
  <p:cmAuthor id="89" name="10054047" initials="1" lastIdx="0" clrIdx="88"/>
  <p:cmAuthor id="90" name="姚琳" initials="姚" lastIdx="0" clrIdx="89"/>
  <p:cmAuthor id="91" name="10072453" initials="1" lastIdx="0" clrIdx="90"/>
  <p:cmAuthor id="92" name="chen" initials="c" lastIdx="0" clrIdx="91"/>
  <p:cmAuthor id="93" name="未知的使用者77" initials="" lastIdx="0" clrIdx="92"/>
  <p:cmAuthor id="94" name="未知的使用者92" initials="" lastIdx="0" clrIdx="93"/>
  <p:cmAuthor id="95" name="未知的使用者78" initials="" lastIdx="0" clrIdx="94"/>
  <p:cmAuthor id="96" name="10319231" initials="1" lastIdx="0" clrIdx="95"/>
  <p:cmAuthor id="97" name="未知的使用者79" initials="" lastIdx="0" clrIdx="96"/>
  <p:cmAuthor id="98" name="10015046" initials="1" lastIdx="0" clrIdx="97"/>
  <p:cmAuthor id="99" name="未知用户107" initials="" lastIdx="0" clrIdx="98"/>
  <p:cmAuthor id="100" name="未知的使用者80" initials="" lastIdx="0" clrIdx="99"/>
  <p:cmAuthor id="101" name="未知用户51" initials="" lastIdx="0" clrIdx="100"/>
  <p:cmAuthor id="102" name="未知用户271" initials="未" lastIdx="0" clrIdx="101"/>
  <p:cmAuthor id="103" name="未知的使用者82" initials="" lastIdx="0" clrIdx="102"/>
  <p:cmAuthor id="104" name="未知用户388" initials="未" lastIdx="0" clrIdx="103"/>
  <p:cmAuthor id="105" name="WuWanLing" initials="W" lastIdx="0" clrIdx="104"/>
  <p:cmAuthor id="106" name="未知的使用者83" initials="" lastIdx="0" clrIdx="105"/>
  <p:cmAuthor id="107" name="未知用户224" initials="未" lastIdx="0" clrIdx="106"/>
  <p:cmAuthor id="108" name="未知的使用者118" initials="" lastIdx="0" clrIdx="107"/>
  <p:cmAuthor id="109" name="jesschin" initials="j" lastIdx="0" clrIdx="108"/>
  <p:cmAuthor id="110" name="未知的使用者84" initials="" lastIdx="0" clrIdx="109"/>
  <p:cmAuthor id="111" name="未知的使用者70" initials="" lastIdx="0" clrIdx="110"/>
  <p:cmAuthor id="112" name="未知的使用者85" initials="" lastIdx="0" clrIdx="111"/>
  <p:cmAuthor id="113" name="未知的使用者40" initials="" lastIdx="0" clrIdx="112"/>
  <p:cmAuthor id="114" name="未知的使用者87" initials="" lastIdx="0" clrIdx="113"/>
  <p:cmAuthor id="115" name="曾红" initials="" lastIdx="0" clrIdx="114"/>
  <p:cmAuthor id="116" name="未知用户259" initials="未" lastIdx="0" clrIdx="115"/>
  <p:cmAuthor id="117" name="未知的使用者90" initials="" lastIdx="0" clrIdx="116"/>
  <p:cmAuthor id="118" name="未知的使用者29" initials="" lastIdx="0" clrIdx="117"/>
  <p:cmAuthor id="119" name="未知的使用者91" initials="" lastIdx="0" clrIdx="118"/>
  <p:cmAuthor id="120" name="未知的使用者98" initials="" lastIdx="0" clrIdx="119"/>
  <p:cmAuthor id="121" name="CHRISYU" initials="" lastIdx="0" clrIdx="120"/>
  <p:cmAuthor id="122" name="未知的使用者113" initials="" lastIdx="0" clrIdx="121"/>
  <p:cmAuthor id="123" name="liucunri" initials="" lastIdx="0" clrIdx="122"/>
  <p:cmAuthor id="124" name="未知用户9" initials="" lastIdx="0" clrIdx="123"/>
  <p:cmAuthor id="125" name="未知用户270" initials="未" lastIdx="0" clrIdx="124"/>
  <p:cmAuthor id="126" name="Unknown User48" initials="" lastIdx="0" clrIdx="125"/>
  <p:cmAuthor id="127" name="未知用户103" initials="" lastIdx="0" clrIdx="126"/>
  <p:cmAuthor id="128" name="Unknown User52" initials="" lastIdx="0" clrIdx="127"/>
  <p:cmAuthor id="129" name="未知的使用者42" initials="" lastIdx="0" clrIdx="128"/>
  <p:cmAuthor id="130" name="俊呈 賴" initials="俊" lastIdx="0" clrIdx="129"/>
  <p:cmAuthor id="131" name="Unknown User50" initials="" lastIdx="0" clrIdx="130"/>
  <p:cmAuthor id="132" name="未知的使用者120" initials="" lastIdx="0" clrIdx="131"/>
  <p:cmAuthor id="133" name="px" initials="" lastIdx="0" clrIdx="132"/>
  <p:cmAuthor id="134" name="Nero" initials="N" lastIdx="0" clrIdx="133"/>
  <p:cmAuthor id="135" name="作者" initials="A" lastIdx="0" clrIdx="134"/>
  <p:cmAuthor id="136" name="yifan song" initials="y" lastIdx="0" clrIdx="135"/>
  <p:cmAuthor id="137" name="30557(何云)" initials="3" lastIdx="0" clrIdx="136"/>
  <p:cmAuthor id="138" name="00332340" initials="0" lastIdx="0" clrIdx="137"/>
  <p:cmAuthor id="139" name="Admin" initials="A" lastIdx="0" clrIdx="138"/>
  <p:cmAuthor id="140" name="00260515" initials="HRP" lastIdx="0" clrIdx="139"/>
  <p:cmAuthor id="141" name="莫 华富" initials="莫" lastIdx="0" clrIdx="140"/>
  <p:cmAuthor id="142" name="v15194" initials="v" lastIdx="0" clrIdx="141"/>
  <p:cmAuthor id="143" name="微软用户" initials="" lastIdx="0" clrIdx="142"/>
  <p:cmAuthor id="144" name="莊安君" initials="莊" lastIdx="0" clrIdx="143"/>
  <p:cmAuthor id="145" name="未知的使用者73" initials="" lastIdx="0" clrIdx="144"/>
  <p:cmAuthor id="146" name="未知的使用者24" initials="" lastIdx="0" clrIdx="145"/>
  <p:cmAuthor id="147" name="未知用户16" initials="" lastIdx="0" clrIdx="146"/>
  <p:cmAuthor id="148" name="陳建璋" initials="陳" lastIdx="0" clrIdx="147"/>
  <p:cmAuthor id="149" name="Mary Feil-Jacobs" initials="" lastIdx="0" clrIdx="148"/>
  <p:cmAuthor id="150" name="建璋" initials="建" lastIdx="0" clrIdx="149"/>
  <p:cmAuthor id="151" name="LiuHui" initials="" lastIdx="0" clrIdx="150"/>
  <p:cmAuthor id="152" name="未知的使用者45" initials="" lastIdx="0" clrIdx="151"/>
  <p:cmAuthor id="153" name="77482" initials="7" lastIdx="0" clrIdx="152"/>
  <p:cmAuthor id="154" name="王鹏凯" initials="" lastIdx="0" clrIdx="153"/>
  <p:cmAuthor id="155" name="未知用户265" initials="未" lastIdx="0" clrIdx="154"/>
  <p:cmAuthor id="156" name="未知用户104" initials="" lastIdx="0" clrIdx="155"/>
  <p:cmAuthor id="157" name="未知用户267" initials="未" lastIdx="0" clrIdx="156"/>
  <p:cmAuthor id="158" name="未知用户5" initials="" lastIdx="0" clrIdx="157"/>
  <p:cmAuthor id="159" name="liuxie" initials="l" lastIdx="0" clrIdx="158"/>
  <p:cmAuthor id="160" name="未知的使用者10" initials="" lastIdx="0" clrIdx="159"/>
  <p:cmAuthor id="161" name="张因然10112423" initials="1" lastIdx="0" clrIdx="160"/>
  <p:cmAuthor id="162" name="未知的使用者93" initials="" lastIdx="0" clrIdx="161"/>
  <p:cmAuthor id="163" name="未知用户241" initials="未" lastIdx="0" clrIdx="162"/>
  <p:cmAuthor id="164" name="范作霖" initials="范" lastIdx="0" clrIdx="163"/>
  <p:cmAuthor id="165" name="未知用户242" initials="未" lastIdx="0" clrIdx="164"/>
  <p:cmAuthor id="166" name="LeeElva" initials="" lastIdx="0" clrIdx="165"/>
  <p:cmAuthor id="167" name="杨强" initials="杨" lastIdx="0" clrIdx="166"/>
  <p:cmAuthor id="168" name="10024885" initials="1" lastIdx="0" clrIdx="167"/>
  <p:cmAuthor id="169" name="未知用户99" initials="" lastIdx="0" clrIdx="168"/>
  <p:cmAuthor id="170" name="檀晟 陈" initials="檀晟" lastIdx="0" clrIdx="169"/>
  <p:cmAuthor id="171" name="未知用户227" initials="未" lastIdx="0" clrIdx="170"/>
  <p:cmAuthor id="172" name="未知的使用者34" initials="" lastIdx="0" clrIdx="171"/>
  <p:cmAuthor id="173" name="未知用户298" initials="未" lastIdx="0" clrIdx="172"/>
  <p:cmAuthor id="174" name="未知的使用者115" initials="" lastIdx="0" clrIdx="173"/>
  <p:cmAuthor id="175" name="未知用户299" initials="未" lastIdx="0" clrIdx="174"/>
  <p:cmAuthor id="176" name="未知用户57" initials="" lastIdx="0" clrIdx="175"/>
  <p:cmAuthor id="177" name="10181267" initials="1" lastIdx="0" clrIdx="176"/>
  <p:cmAuthor id="178" name="lianghb" initials="" lastIdx="0" clrIdx="177"/>
  <p:cmAuthor id="179" name="未知用户302" initials="未" lastIdx="0" clrIdx="178"/>
  <p:cmAuthor id="180" name="未知用户17" initials="" lastIdx="0" clrIdx="179"/>
  <p:cmAuthor id="181" name="Deanna Schuler (Bookey Consulting)" initials="" lastIdx="0" clrIdx="180"/>
  <p:cmAuthor id="182" name="10161768" initials="1" lastIdx="0" clrIdx="181"/>
  <p:cmAuthor id="183" name="未知的使用者57" initials="" lastIdx="0" clrIdx="182"/>
  <p:cmAuthor id="184" name="未知的使用者16" initials="" lastIdx="0" clrIdx="183"/>
  <p:cmAuthor id="185" name="許詩婕" initials="許" lastIdx="0" clrIdx="184"/>
  <p:cmAuthor id="186" name="未知的使用者35" initials="" lastIdx="0" clrIdx="185"/>
  <p:cmAuthor id="187" name="00083425" initials="0" lastIdx="0" clrIdx="186"/>
  <p:cmAuthor id="188" name="未知用户102" initials="" lastIdx="0" clrIdx="187"/>
  <p:cmAuthor id="189" name="minil" initials="m" lastIdx="0" clrIdx="188"/>
  <p:cmAuthor id="190" name="maxine" initials="" lastIdx="0" clrIdx="189"/>
  <p:cmAuthor id="191" name="15106" initials="1" lastIdx="0" clrIdx="190"/>
  <p:cmAuthor id="192" name="未知的使用者121" initials="" lastIdx="0" clrIdx="191"/>
  <p:cmAuthor id="193" name="未知的使用者12" initials="" lastIdx="0" clrIdx="192"/>
  <p:cmAuthor id="194" name="赵 璐" initials="赵" lastIdx="0" clrIdx="193"/>
  <p:cmAuthor id="195" name="周元元" initials="" lastIdx="0" clrIdx="194"/>
  <p:cmAuthor id="196" name="Zhu, Hawk" initials="Z" lastIdx="0" clrIdx="195"/>
  <p:cmAuthor id="197" name="未知的使用者27" initials="" lastIdx="0" clrIdx="196"/>
  <p:cmAuthor id="198" name="tanjp" initials="t" lastIdx="0" clrIdx="197"/>
  <p:cmAuthor id="199" name="刘豹" initials="刘" lastIdx="0" clrIdx="198"/>
  <p:cmAuthor id="200" name="YS" initials="Y" lastIdx="0" clrIdx="199"/>
  <p:cmAuthor id="201" name="未知的使用者30" initials="" lastIdx="0" clrIdx="200"/>
  <p:cmAuthor id="202" name="Unknown User27" initials="U" lastIdx="0" clrIdx="201"/>
  <p:cmAuthor id="203" name="未知的使用者53" initials="" lastIdx="0" clrIdx="202"/>
  <p:cmAuthor id="204" name="10285279" initials="1" lastIdx="0" clrIdx="203"/>
  <p:cmAuthor id="205" name="未知用户58" initials="" lastIdx="0" clrIdx="204"/>
  <p:cmAuthor id="206" name="10036782" initials="1" lastIdx="0" clrIdx="205"/>
  <p:cmAuthor id="207" name="未知的使用者25" initials="" lastIdx="0" clrIdx="206"/>
  <p:cmAuthor id="208" name="Jdi" initials="J" lastIdx="0" clrIdx="207"/>
  <p:cmAuthor id="209" name="liupeng" initials="" lastIdx="0" clrIdx="208"/>
  <p:cmAuthor id="210" name="未知用户337" initials="未" lastIdx="0" clrIdx="209"/>
  <p:cmAuthor id="211" name="未知用户24" initials="" lastIdx="0" clrIdx="210"/>
  <p:cmAuthor id="212" name="未知用户239" initials="未" lastIdx="0" clrIdx="211"/>
  <p:cmAuthor id="213" name="AbuSina" initials="" lastIdx="0" clrIdx="212"/>
  <p:cmAuthor id="214" name="chenmh" initials="c" lastIdx="0" clrIdx="213"/>
  <p:cmAuthor id="215" name="hl sun" initials="" lastIdx="0" clrIdx="214"/>
  <p:cmAuthor id="216" name="CVTEr" initials="C" lastIdx="0" clrIdx="215"/>
  <p:cmAuthor id="217" name="未知的使用者94" initials="" lastIdx="0" clrIdx="216"/>
  <p:cmAuthor id="218" name="June C" initials="J" lastIdx="0" clrIdx="217"/>
  <p:cmAuthor id="219" name="未知用户66" initials="" lastIdx="0" clrIdx="218"/>
  <p:cmAuthor id="220" name="00270" initials="0" lastIdx="0" clrIdx="219"/>
  <p:cmAuthor id="221" name="郑汝鸿" initials="郑" lastIdx="0" clrIdx="220"/>
  <p:cmAuthor id="222" name="IBM_USER" initials="I" lastIdx="0" clrIdx="221"/>
  <p:cmAuthor id="223" name="未知用户19" initials="" lastIdx="0" clrIdx="222"/>
  <p:cmAuthor id="224" name="aa" initials="a" lastIdx="0" clrIdx="223"/>
  <p:cmAuthor id="225" name="周宏達JerryChou" initials="" lastIdx="0" clrIdx="224"/>
  <p:cmAuthor id="226" name="shinevin liu" initials="s" lastIdx="0" clrIdx="225"/>
  <p:cmAuthor id="227" name="daphne" initials="d" lastIdx="0" clrIdx="226"/>
  <p:cmAuthor id="228" name="Davidpeng" initials="D" lastIdx="0" clrIdx="227"/>
  <p:cmAuthor id="229" name="未知用户7" initials="" lastIdx="0" clrIdx="228"/>
  <p:cmAuthor id="230" name="dbc" initials="d" lastIdx="0" clrIdx="229"/>
  <p:cmAuthor id="231" name="未知的使用者56" initials="" lastIdx="0" clrIdx="230"/>
  <p:cmAuthor id="232" name="吴军影" initials="吴" lastIdx="0" clrIdx="231"/>
  <p:cmAuthor id="233" name="Unknown User8" initials="U" lastIdx="0" clrIdx="232"/>
  <p:cmAuthor id="234" name="冯学沛" initials="冯" lastIdx="0" clrIdx="233"/>
  <p:cmAuthor id="235" name="未知的使用者119" initials="" lastIdx="0" clrIdx="234"/>
  <p:cmAuthor id="236" name="杨 超" initials="杨" lastIdx="0" clrIdx="235"/>
  <p:cmAuthor id="237" name="未知用户59" initials="" lastIdx="0" clrIdx="236"/>
  <p:cmAuthor id="238" name="董艺萱00344473" initials="董艺萱003444" lastIdx="0" clrIdx="237"/>
  <p:cmAuthor id="239" name="未知的使用者22" initials="" lastIdx="0" clrIdx="238"/>
  <p:cmAuthor id="240" name="Rex" initials="R" lastIdx="0" clrIdx="239"/>
  <p:cmAuthor id="241" name="未知的使用者103" initials="" lastIdx="0" clrIdx="240"/>
  <p:cmAuthor id="242" name="Wenwen" initials="" lastIdx="0" clrIdx="241"/>
  <p:cmAuthor id="243" name="10270505" initials="1" lastIdx="0" clrIdx="242"/>
  <p:cmAuthor id="244" name="未知的使用者117" initials="" lastIdx="0" clrIdx="243"/>
  <p:cmAuthor id="245" name="10145512" initials="1" lastIdx="0" clrIdx="244"/>
  <p:cmAuthor id="246" name="未知的使用者33" initials="" lastIdx="0" clrIdx="245"/>
  <p:cmAuthor id="247" name="未知的使用者28" initials="" lastIdx="0" clrIdx="246"/>
  <p:cmAuthor id="248" name="未知用户67" initials="" lastIdx="0" clrIdx="247"/>
  <p:cmAuthor id="249" name="10225041" initials="1" lastIdx="0" clrIdx="248"/>
  <p:cmAuthor id="250" name="未知用户114" initials="" lastIdx="0" clrIdx="249"/>
  <p:cmAuthor id="251" name="00158845" initials="0" lastIdx="0" clrIdx="250"/>
  <p:cmAuthor id="252" name="未知用户18" initials="" lastIdx="0" clrIdx="251"/>
  <p:cmAuthor id="253" name="未知的使用者67" initials="" lastIdx="0" clrIdx="252"/>
  <p:cmAuthor id="254" name="未知的使用者46" initials="" lastIdx="0" clrIdx="253"/>
  <p:cmAuthor id="255" name="未知的使用者26" initials="" lastIdx="0" clrIdx="254"/>
  <p:cmAuthor id="256" name="未知的使用者43" initials="" lastIdx="0" clrIdx="255"/>
  <p:cmAuthor id="257" name="10129659" initials="1" lastIdx="0" clrIdx="256"/>
  <p:cmAuthor id="258" name="tonghailan" initials="t" lastIdx="0" clrIdx="257"/>
  <p:cmAuthor id="259" name="未知的使用者9" initials="" lastIdx="0" clrIdx="258"/>
  <p:cmAuthor id="260" name="未知用户62" initials="" lastIdx="0" clrIdx="259"/>
  <p:cmAuthor id="261" name="yuanzh" initials="" lastIdx="0" clrIdx="260"/>
  <p:cmAuthor id="262" name="不明使用者57" initials="" lastIdx="0" clrIdx="261"/>
  <p:cmAuthor id="263" name="未知用户108" initials="" lastIdx="0" clrIdx="262"/>
  <p:cmAuthor id="264" name="未知的使用者110" initials="" lastIdx="0" clrIdx="263"/>
  <p:cmAuthor id="265" name="linyd" initials="" lastIdx="0" clrIdx="264"/>
  <p:cmAuthor id="266" name="未知的使用者31" initials="" lastIdx="0" clrIdx="265"/>
  <p:cmAuthor id="267" name="未知用户81" initials="" lastIdx="0" clrIdx="266"/>
  <p:cmAuthor id="268" name="未知用户115" initials="" lastIdx="0" clrIdx="267"/>
  <p:cmAuthor id="269" name="未知用户21" initials="" lastIdx="0" clrIdx="268"/>
  <p:cmAuthor id="270" name="未知的使用者68" initials="" lastIdx="0" clrIdx="269"/>
  <p:cmAuthor id="271" name="mm" initials="" lastIdx="0" clrIdx="270"/>
  <p:cmAuthor id="272" name="未知用户15" initials="" lastIdx="0" clrIdx="271"/>
  <p:cmAuthor id="273" name="朱晓瑜" initials="" lastIdx="0" clrIdx="272"/>
  <p:cmAuthor id="274" name="不明使用者20" initials="" lastIdx="0" clrIdx="273"/>
  <p:cmAuthor id="275" name="00120" initials="0" lastIdx="0" clrIdx="274"/>
  <p:cmAuthor id="276" name="未知用户82" initials="" lastIdx="0" clrIdx="275"/>
  <p:cmAuthor id="277" name="00006891" initials="0" lastIdx="0" clrIdx="276"/>
  <p:cmAuthor id="278" name="未知的使用者7" initials="" lastIdx="0" clrIdx="277"/>
  <p:cmAuthor id="279" name="莫滔10110373" initials="莫" lastIdx="0" clrIdx="278"/>
  <p:cmAuthor id="280" name="未知用户6" initials="" lastIdx="0" clrIdx="279"/>
  <p:cmAuthor id="281" name="Administrator" initials="A" lastIdx="0" clrIdx="280"/>
  <p:cmAuthor id="282" name="未知的使用者55" initials="" lastIdx="0" clrIdx="281"/>
  <p:cmAuthor id="283" name="wu alice" initials="w" lastIdx="0" clrIdx="282"/>
  <p:cmAuthor id="284" name="未知的使用者111" initials="" lastIdx="0" clrIdx="283"/>
  <p:cmAuthor id="285" name="马云飞10014438" initials="马" lastIdx="0" clrIdx="284"/>
  <p:cmAuthor id="286" name="未知的使用者50" initials="" lastIdx="0" clrIdx="285"/>
  <p:cmAuthor id="287" name="farben" initials="f" lastIdx="0" clrIdx="286"/>
  <p:cmAuthor id="288" name="未知的使用者11" initials="" lastIdx="0" clrIdx="287"/>
  <p:cmAuthor id="289" name="克迪" initials="克迪" lastIdx="0" clrIdx="288"/>
  <p:cmAuthor id="290" name="未知用户47" initials="" lastIdx="0" clrIdx="289"/>
  <p:cmAuthor id="291" name="未知用户106" initials="未" lastIdx="0" clrIdx="290"/>
  <p:cmAuthor id="292" name="未知用户116" initials="" lastIdx="0" clrIdx="291"/>
  <p:cmAuthor id="293" name="未知的使用者150" initials="未" lastIdx="0" clrIdx="292"/>
  <p:cmAuthor id="294" name="未知的使用者69" initials="" lastIdx="0" clrIdx="293"/>
  <p:cmAuthor id="295" name="未知的使用者112" initials="" lastIdx="0" clrIdx="294"/>
  <p:cmAuthor id="296" name="梁亚栋" initials="梁" lastIdx="0" clrIdx="295"/>
  <p:cmAuthor id="297" name="Kevin Hu" initials="" lastIdx="0" clrIdx="296"/>
  <p:cmAuthor id="298" name="未知的使用者38" initials="" lastIdx="0" clrIdx="297"/>
  <p:cmAuthor id="299" name="唐可欣" initials="" lastIdx="0" clrIdx="298"/>
  <p:cmAuthor id="300" name="未知的使用者8" initials="" lastIdx="0" clrIdx="299"/>
  <p:cmAuthor id="301" name="不明使用者56" initials="" lastIdx="0" clrIdx="300"/>
  <p:cmAuthor id="302" name="P00035_jeremy" initials="" lastIdx="0" clrIdx="301"/>
  <p:cmAuthor id="303" name="Unknown User7" initials="" lastIdx="0" clrIdx="302"/>
  <p:cmAuthor id="304" name="muzi wei" initials="" lastIdx="0" clrIdx="303"/>
  <p:cmAuthor id="305" name="未知的使用者41" initials="" lastIdx="0" clrIdx="304"/>
  <p:cmAuthor id="306" name="韩雨" initials="韩" lastIdx="0" clrIdx="305"/>
  <p:cmAuthor id="307" name="未知的使用者13" initials="" lastIdx="0" clrIdx="306"/>
  <p:cmAuthor id="308" name="djj" initials="" lastIdx="0" clrIdx="307"/>
  <p:cmAuthor id="309" name="未知用户117" initials="" lastIdx="0" clrIdx="308"/>
  <p:cmAuthor id="310" name="赵丽丽" initials="赵" lastIdx="0" clrIdx="309"/>
  <p:cmAuthor id="311" name="未知用户13" initials="" lastIdx="0" clrIdx="310"/>
  <p:cmAuthor id="312" name="不明使用者21" initials="" lastIdx="0" clrIdx="311"/>
  <p:cmAuthor id="313" name="YUMINGNJ" initials="" lastIdx="0" clrIdx="312"/>
  <p:cmAuthor id="314" name="未知的使用者52" initials="" lastIdx="0" clrIdx="313"/>
  <p:cmAuthor id="315" name="未知用户109" initials="" lastIdx="0" clrIdx="314"/>
  <p:cmAuthor id="316" name="Unknown User117" initials="U" lastIdx="0" clrIdx="315"/>
  <p:cmAuthor id="317" name="thomas" initials="" lastIdx="0" clrIdx="316"/>
  <p:cmAuthor id="318" name="未知的使用者3" initials="" lastIdx="0" clrIdx="317"/>
  <p:cmAuthor id="319" name="未知用户14" initials="" lastIdx="0" clrIdx="318"/>
  <p:cmAuthor id="320" name="Unknown User65" initials="U" lastIdx="0" clrIdx="319"/>
  <p:cmAuthor id="321" name="未知用户98" initials="" lastIdx="0" clrIdx="320"/>
  <p:cmAuthor id="322" name="Unknown User11" initials="U" lastIdx="0" clrIdx="321"/>
  <p:cmAuthor id="323" name="未知用户83" initials="" lastIdx="0" clrIdx="322"/>
  <p:cmAuthor id="324" name="未知用户61" initials="" lastIdx="0" clrIdx="323"/>
  <p:cmAuthor id="325" name="張秀娟" initials="" lastIdx="0" clrIdx="324"/>
  <p:cmAuthor id="326" name="Jason Wang" initials="" lastIdx="0" clrIdx="325"/>
  <p:cmAuthor id="327" name="不明使用者18" initials="" lastIdx="0" clrIdx="326"/>
  <p:cmAuthor id="328" name="未知用户28" initials="未" lastIdx="0" clrIdx="327"/>
  <p:cmAuthor id="329" name="未知的使用者72" initials="" lastIdx="0" clrIdx="328"/>
  <p:cmAuthor id="330" name="未知的使用者48" initials="" lastIdx="0" clrIdx="329"/>
  <p:cmAuthor id="331" name="未知的使用者104" initials="" lastIdx="0" clrIdx="330"/>
  <p:cmAuthor id="332" name="未知用户60" initials="" lastIdx="0" clrIdx="331"/>
  <p:cmAuthor id="333" name="未知的使用者39" initials="未" lastIdx="0" clrIdx="332"/>
  <p:cmAuthor id="334" name="Shawna Strickland" initials="" lastIdx="0" clrIdx="333"/>
  <p:cmAuthor id="335" name="未知的使用者36" initials="" lastIdx="0" clrIdx="334"/>
  <p:cmAuthor id="336" name="未知的使用者76" initials="未" lastIdx="0" clrIdx="335"/>
  <p:cmAuthor id="337" name="Daniel Wuu" initials="" lastIdx="0" clrIdx="336"/>
  <p:cmAuthor id="338" name="未知用户56" initials="" lastIdx="0" clrIdx="337"/>
  <p:cmAuthor id="339" name="未知的使用者14" initials="" lastIdx="0" clrIdx="338"/>
  <p:cmAuthor id="340" name="云峰 贾" initials="云" lastIdx="0" clrIdx="339"/>
  <p:cmAuthor id="341" name="未知的使用者197" initials="未" lastIdx="0" clrIdx="340"/>
  <p:cmAuthor id="342" name="Ashley Eberenz" initials="" lastIdx="0" clrIdx="341"/>
  <p:cmAuthor id="343" name="不明使用者19" initials="" lastIdx="0" clrIdx="342"/>
  <p:cmAuthor id="344" name="qiantong" initials="" lastIdx="0" clrIdx="343"/>
  <p:cmAuthor id="345" name="未知的使用者74" initials="" lastIdx="0" clrIdx="344"/>
  <p:cmAuthor id="346" name="未知的使用者23" initials="" lastIdx="0" clrIdx="345"/>
  <p:cmAuthor id="347" name="未知的使用者1" initials="" lastIdx="0" clrIdx="346"/>
  <p:cmAuthor id="348" name="116304" initials="" lastIdx="0" clrIdx="347"/>
  <p:cmAuthor id="349" name="未知用户31" initials="未" lastIdx="0" clrIdx="348"/>
  <p:cmAuthor id="350" name="R affer" initials="" lastIdx="0" clrIdx="349"/>
  <p:cmAuthor id="351" name="qihua-DCMS" initials="" lastIdx="0" clrIdx="350"/>
  <p:cmAuthor id="352" name="未知用户55" initials="" lastIdx="0" clrIdx="351"/>
  <p:cmAuthor id="353" name="沈霄雷" initials="沈" lastIdx="0" clrIdx="352"/>
  <p:cmAuthor id="354" name="未知的使用者95" initials="" lastIdx="0" clrIdx="353"/>
  <p:cmAuthor id="355" name="Wangjian (Frank)" initials="W(" lastIdx="0" clrIdx="354"/>
  <p:cmAuthor id="356" name="未知的使用者168" initials="未" lastIdx="0" clrIdx="355"/>
  <p:cmAuthor id="357" name="郭 浩" initials="郭" lastIdx="0" clrIdx="356"/>
  <p:cmAuthor id="358" name="未知的使用者32" initials="" lastIdx="0" clrIdx="357"/>
  <p:cmAuthor id="359" name="y x" initials="yx" lastIdx="0" clrIdx="358"/>
  <p:cmAuthor id="360" name="未知的使用者49" initials="" lastIdx="0" clrIdx="359"/>
  <p:cmAuthor id="361" name="席琛" initials="" lastIdx="0" clrIdx="360"/>
  <p:cmAuthor id="362" name="Unknown User26" initials="U" lastIdx="0" clrIdx="361"/>
  <p:cmAuthor id="363" name="韩剑侠" initials="P" lastIdx="0" clrIdx="362"/>
  <p:cmAuthor id="364" name="yuexuejun" initials="" lastIdx="0" clrIdx="363"/>
  <p:cmAuthor id="365" name="孙 笑庆" initials="孙" lastIdx="0" clrIdx="364"/>
  <p:cmAuthor id="366" name="未知的使用者71" initials="" lastIdx="0" clrIdx="365"/>
  <p:cmAuthor id="367" name="yang.yuan" initials="y" lastIdx="0" clrIdx="366"/>
  <p:cmAuthor id="368" name="未知的使用者105" initials="" lastIdx="0" clrIdx="367"/>
  <p:cmAuthor id="369" name="王娟" initials="1" lastIdx="0" clrIdx="368"/>
  <p:cmAuthor id="370" name="Unknown User70" initials="" lastIdx="0" clrIdx="369"/>
  <p:cmAuthor id="371" name="clinchen" initials="" lastIdx="0" clrIdx="370"/>
  <p:cmAuthor id="372" name="未知用户23" initials="" lastIdx="0" clrIdx="371"/>
  <p:cmAuthor id="373" name="hanjuncompany" initials="" lastIdx="0" clrIdx="372"/>
  <p:cmAuthor id="374" name="kathy chen" initials="" lastIdx="0" clrIdx="373"/>
  <p:cmAuthor id="375" name="未知的使用者63" initials="" lastIdx="0" clrIdx="374"/>
  <p:cmAuthor id="376" name="未知的使用者64" initials="" lastIdx="0" clrIdx="375"/>
  <p:cmAuthor id="377" name="未知的使用者47" initials="" lastIdx="0" clrIdx="376"/>
  <p:cmAuthor id="378" name="未知的使用者60" initials="" lastIdx="0" clrIdx="377"/>
  <p:cmAuthor id="379" name="未知的使用者59" initials="" lastIdx="0" clrIdx="378"/>
  <p:cmAuthor id="380" name="未知的使用者54" initials="" lastIdx="0" clrIdx="379"/>
  <p:cmAuthor id="381" name="未知的使用者66" initials="" lastIdx="0" clrIdx="380"/>
  <p:cmAuthor id="382" name="仇怿俊" initials="仇" lastIdx="0" clrIdx="381"/>
  <p:cmAuthor id="383" name="未知的使用者65" initials="" lastIdx="0" clrIdx="382"/>
  <p:cmAuthor id="384" name="Jimmy-Power" initials="J" lastIdx="0" clrIdx="383"/>
  <p:cmAuthor id="385" name="未知的使用者106" initials="" lastIdx="0" clrIdx="384"/>
  <p:cmAuthor id="386" name="罗 罗" initials="罗" lastIdx="0" clrIdx="385"/>
  <p:cmAuthor id="387" name="未知的使用者107" initials="" lastIdx="0" clrIdx="386"/>
  <p:cmAuthor id="388" name="mouse zz" initials="mz" lastIdx="0" clrIdx="387"/>
  <p:cmAuthor id="389" name="未知的使用者108" initials="" lastIdx="0" clrIdx="388"/>
  <p:cmAuthor id="390" name="goulei" initials="g" lastIdx="0" clrIdx="389"/>
  <p:cmAuthor id="391" name="未知的使用者86" initials="" lastIdx="0" clrIdx="390"/>
  <p:cmAuthor id="392" name="未知的使用者116" initials="" lastIdx="0" clrIdx="391"/>
  <p:cmAuthor id="393" name="未知的使用者44" initials="" lastIdx="0" clrIdx="392"/>
  <p:cmAuthor id="394" name="未知的使用者37" initials="" lastIdx="0" clrIdx="393"/>
  <p:cmAuthor id="395" name="未知的使用者126" initials="" lastIdx="0" clrIdx="394"/>
  <p:cmAuthor id="396" name="未知的使用者127" initials="" lastIdx="0" clrIdx="395"/>
  <p:cmAuthor id="397" name="未知的使用者128" initials="" lastIdx="0" clrIdx="396"/>
  <p:cmAuthor id="398" name="未知的使用者124" initials="" lastIdx="0" clrIdx="397"/>
  <p:cmAuthor id="399" name="未知的使用者125" initials="" lastIdx="0" clrIdx="398"/>
  <p:cmAuthor id="400" name="Sara Chen" initials="" lastIdx="0" clrIdx="399"/>
  <p:cmAuthor id="401" name="huang gerrard" initials="" lastIdx="0" clrIdx="400"/>
  <p:cmAuthor id="402" name="未知用户170" initials="" lastIdx="0" clrIdx="401"/>
  <p:cmAuthor id="403" name="未知用户171" initials="" lastIdx="0" clrIdx="402"/>
  <p:cmAuthor id="404" name="未知用户172" initials="" lastIdx="0" clrIdx="403"/>
  <p:cmAuthor id="405" name="未知用户173" initials="" lastIdx="0" clrIdx="404"/>
  <p:cmAuthor id="406" name="未知用户149" initials="" lastIdx="0" clrIdx="405"/>
  <p:cmAuthor id="407" name="未知用户150" initials="" lastIdx="0" clrIdx="406"/>
  <p:cmAuthor id="408" name="未知用户151" initials="" lastIdx="0" clrIdx="407"/>
  <p:cmAuthor id="409" name="未知用户152" initials="" lastIdx="0" clrIdx="408"/>
  <p:cmAuthor id="410" name="未知用户153" initials="" lastIdx="0" clrIdx="409"/>
  <p:cmAuthor id="411" name="未知用户154" initials="" lastIdx="0" clrIdx="410"/>
  <p:cmAuthor id="412" name="未知用户155" initials="" lastIdx="0" clrIdx="411"/>
  <p:cmAuthor id="413" name="未知用户41" initials="" lastIdx="0" clrIdx="412"/>
  <p:cmAuthor id="414" name="未知用户44" initials="" lastIdx="0" clrIdx="413"/>
  <p:cmAuthor id="415" name="未知用户45" initials="" lastIdx="0" clrIdx="414"/>
  <p:cmAuthor id="416" name="WPS_1725345356" initials="W" lastIdx="0" clrIdx="415"/>
  <p:cmAuthor id="417" name="未知用户156" initials="" lastIdx="0" clrIdx="416"/>
  <p:cmAuthor id="418" name="未知用户64" initials="" lastIdx="0" clrIdx="417"/>
  <p:cmAuthor id="419" name="未知用户65" initials="" lastIdx="0" clrIdx="418"/>
  <p:cmAuthor id="420" name="未知用户68" initials="" lastIdx="0" clrIdx="419"/>
  <p:cmAuthor id="421" name="未知用户69" initials="" lastIdx="0" clrIdx="420"/>
  <p:cmAuthor id="422" name="未知用户70" initials="" lastIdx="0" clrIdx="421"/>
  <p:cmAuthor id="423" name="施普希（菜菜）" initials="施" lastIdx="0" clrIdx="422"/>
  <p:cmAuthor id="424" name="未知用户71" initials="" lastIdx="0" clrIdx="423"/>
  <p:cmAuthor id="425" name="未知用户72" initials="" lastIdx="0" clrIdx="424"/>
  <p:cmAuthor id="426" name="yu 1" initials="y1" lastIdx="0" clrIdx="425"/>
  <p:cmAuthor id="427" name="未知用户73" initials="" lastIdx="0" clrIdx="426"/>
  <p:cmAuthor id="428" name="李 嘉" initials="李" lastIdx="0" clrIdx="427"/>
  <p:cmAuthor id="429" name="未知用户49" initials="" lastIdx="0" clrIdx="428"/>
  <p:cmAuthor id="430" name="汪 丹丹" initials="汪" lastIdx="0" clrIdx="429"/>
  <p:cmAuthor id="431" name="未知用户50" initials="" lastIdx="0" clrIdx="430"/>
  <p:cmAuthor id="432" name="未知用户52" initials="" lastIdx="0" clrIdx="431"/>
  <p:cmAuthor id="433" name="MA15" initials="" lastIdx="0" clrIdx="432"/>
  <p:cmAuthor id="434" name="未知用户53" initials="" lastIdx="0" clrIdx="433"/>
  <p:cmAuthor id="435" name="未知用户96" initials="" lastIdx="0" clrIdx="434"/>
  <p:cmAuthor id="436" name="未知用户48" initials="" lastIdx="0" clrIdx="435"/>
  <p:cmAuthor id="437" name="未知用户97" initials="" lastIdx="0" clrIdx="436"/>
  <p:cmAuthor id="438" name="未知用户40" initials="" lastIdx="0" clrIdx="437"/>
  <p:cmAuthor id="439" name="未知用户43" initials="" lastIdx="0" clrIdx="438"/>
  <p:cmAuthor id="440" name="未知用户100" initials="" lastIdx="0" clrIdx="439"/>
  <p:cmAuthor id="441" name="未知用户101" initials="" lastIdx="0" clrIdx="440"/>
  <p:cmAuthor id="442" name="未知用户26" initials="" lastIdx="0" clrIdx="441"/>
  <p:cmAuthor id="443" name="未知用户29" initials="" lastIdx="0" clrIdx="442"/>
  <p:cmAuthor id="444" name="未知用户32" initials="" lastIdx="0" clrIdx="443"/>
  <p:cmAuthor id="445" name="未知用户33" initials="" lastIdx="0" clrIdx="444"/>
  <p:cmAuthor id="446" name="未知用户34" initials="" lastIdx="0" clrIdx="445"/>
  <p:cmAuthor id="447" name="未知用户42" initials="" lastIdx="0" clrIdx="446"/>
  <p:cmAuthor id="448" name="未知的使用者109" initials="" lastIdx="0" clrIdx="447"/>
  <p:cmAuthor id="449" name="未知的使用者122" initials="" lastIdx="0" clrIdx="448"/>
  <p:cmAuthor id="450" name="未知的使用者123" initials="" lastIdx="0" clrIdx="449"/>
  <p:cmAuthor id="451" name="未知用户93" initials="" lastIdx="0" clrIdx="450"/>
  <p:cmAuthor id="452" name="未知用户90" initials="" lastIdx="0" clrIdx="451"/>
  <p:cmAuthor id="453" name="未知用户91" initials="" lastIdx="0" clrIdx="452"/>
  <p:cmAuthor id="454" name="未知用户92" initials="" lastIdx="0" clrIdx="453"/>
  <p:cmAuthor id="455" name="未知用户74" initials="" lastIdx="0" clrIdx="454"/>
  <p:cmAuthor id="456" name="未知用户75" initials="" lastIdx="0" clrIdx="455"/>
  <p:cmAuthor id="457" name="未知用户76" initials="" lastIdx="0" clrIdx="456"/>
  <p:cmAuthor id="458" name="未知用户77" initials="" lastIdx="0" clrIdx="457"/>
  <p:cmAuthor id="459" name="未知用户78" initials="" lastIdx="0" clrIdx="458"/>
  <p:cmAuthor id="460" name="未知用户79" initials="" lastIdx="0" clrIdx="459"/>
  <p:cmAuthor id="461" name="未知用户80" initials="" lastIdx="0" clrIdx="460"/>
  <p:cmAuthor id="462" name="Harry xu" initials="" lastIdx="0" clrIdx="461"/>
  <p:cmAuthor id="463" name="未知用户27" initials="未" lastIdx="0" clrIdx="462"/>
  <p:cmAuthor id="464" name="未知用户35" initials="未" lastIdx="0" clrIdx="463"/>
  <p:cmAuthor id="465" name="未知用户111" initials="未" lastIdx="0" clrIdx="464"/>
  <p:cmAuthor id="466" name="沙俊杰00140688" initials="沙" lastIdx="0" clrIdx="465"/>
  <p:cmAuthor id="467" name="10099398" initials="1" lastIdx="0" clrIdx="466"/>
  <p:cmAuthor id="468" name="10073868" initials="1" lastIdx="0" clrIdx="467"/>
  <p:cmAuthor id="469" name="刘春杰10244342" initials="刘" lastIdx="0" clrIdx="468"/>
  <p:cmAuthor id="470" name="唐芸" initials="唐" lastIdx="0" clrIdx="469"/>
  <p:cmAuthor id="471" name="范汗杰10197873" initials="范" lastIdx="0" clrIdx="470"/>
  <p:cmAuthor id="472" name="倪燕子00036324" initials="倪" lastIdx="0" clrIdx="471"/>
  <p:cmAuthor id="473" name="王林10186938" initials="王" lastIdx="0" clrIdx="472"/>
  <p:cmAuthor id="474" name="0045000519" initials="0" lastIdx="0" clrIdx="473"/>
  <p:cmAuthor id="475" name="WHF" initials="W" lastIdx="0" clrIdx="474"/>
  <p:cmAuthor id="476" name="Liu, Hongqing (NSB - CN/Shanghai)" initials="L" lastIdx="0" clrIdx="475"/>
  <p:cmAuthor id="477" name="10080095" initials="1" lastIdx="0" clrIdx="476"/>
  <p:cmAuthor id="478" name="00021840" initials="0" lastIdx="0" clrIdx="477"/>
  <p:cmAuthor id="479" name="JZX" initials="J" lastIdx="0" clrIdx="478"/>
  <p:cmAuthor id="480" name="10339982" initials="1" lastIdx="0" clrIdx="479"/>
  <p:cmAuthor id="481" name="李 少峰" initials="李" lastIdx="0" clrIdx="480"/>
  <p:cmAuthor id="482" name="10327298" initials="1" lastIdx="0" clrIdx="481"/>
  <p:cmAuthor id="483" name="黄媛媛" initials="黄" lastIdx="0" clrIdx="482"/>
  <p:cmAuthor id="484" name="he feng" initials="h" lastIdx="0" clrIdx="483"/>
  <p:cmAuthor id="485" name="黄晓平" initials="黄" lastIdx="0" clrIdx="484"/>
  <p:cmAuthor id="486" name="00334816" initials="0" lastIdx="0" clrIdx="485"/>
  <p:cmAuthor id="487" name="韩晓宇00207529" initials="韩晓宇00207529" lastIdx="0" clrIdx="486"/>
  <p:cmAuthor id="488" name="李奇" initials="李" lastIdx="0" clrIdx="487"/>
  <p:cmAuthor id="489" name="任涛10036216" initials="任涛10036216" lastIdx="0" clrIdx="488"/>
  <p:cmAuthor id="490" name="10095622" initials="1" lastIdx="0" clrIdx="489"/>
  <p:cmAuthor id="491" name="唐 赛" initials="唐" lastIdx="0" clrIdx="490"/>
  <p:cmAuthor id="492" name="渠沛" initials="渠" lastIdx="0" clrIdx="491"/>
  <p:cmAuthor id="493" name="00284818" initials="0" lastIdx="0" clrIdx="492"/>
  <p:cmAuthor id="494" name="江莉萍|jiangliping" initials="江" lastIdx="0" clrIdx="493"/>
  <p:cmAuthor id="495" name="10011274@zte.intra" initials="1" lastIdx="0" clrIdx="494"/>
  <p:cmAuthor id="496" name="10039985" initials="1" lastIdx="0" clrIdx="495"/>
  <p:cmAuthor id="497" name="10223621" initials="1" lastIdx="0" clrIdx="496"/>
  <p:cmAuthor id="498" name="周 辉" initials="周" lastIdx="0" clrIdx="497"/>
  <p:cmAuthor id="499" name="10288998" initials="1" lastIdx="0" clrIdx="498"/>
  <p:cmAuthor id="500" name="10283556" initials="1" lastIdx="0" clrIdx="499"/>
  <p:cmAuthor id="501" name="闫丽娟00014464" initials="闫" lastIdx="0" clrIdx="500"/>
  <p:cmAuthor id="502" name="未知的使用者114" initials="未" lastIdx="0" clrIdx="501"/>
  <p:cmAuthor id="503" name="lirui" initials="l" lastIdx="0" clrIdx="502"/>
  <p:cmAuthor id="504" name="未知的使用者184" initials="未" lastIdx="0" clrIdx="503"/>
  <p:cmAuthor id="505" name="10067286" initials="1" lastIdx="0" clrIdx="504"/>
  <p:cmAuthor id="506" name="张静_Anua7Nne" initials="张" lastIdx="0" clrIdx="505"/>
  <p:cmAuthor id="507" name="MA YOU" initials="M" lastIdx="0" clrIdx="506"/>
  <p:cmAuthor id="508" name="王竑达" initials="王" lastIdx="0" clrIdx="507"/>
  <p:cmAuthor id="509" name="未知的使用者187" initials="未" lastIdx="0" clrIdx="508"/>
  <p:cmAuthor id="510" name="10108380" initials="1" lastIdx="0" clrIdx="509"/>
  <p:cmAuthor id="511" name="未知的使用者179" initials="未" lastIdx="0" clrIdx="510"/>
  <p:cmAuthor id="512" name="00067323@zte.intra" initials="0" lastIdx="0" clrIdx="511"/>
  <p:cmAuthor id="513" name="10006799" initials="1" lastIdx="0" clrIdx="512"/>
  <p:cmAuthor id="514" name="钟 潇文" initials="钟" lastIdx="0" clrIdx="513"/>
  <p:cmAuthor id="515" name="10080235" initials="1" lastIdx="0" clrIdx="514"/>
  <p:cmAuthor id="516" name="Think" initials="T" lastIdx="0" clrIdx="515"/>
  <p:cmAuthor id="517" name="未知的使用者141" initials="未" lastIdx="0" clrIdx="516"/>
  <p:cmAuthor id="518" name="赵泽盛10022760" initials="赵" lastIdx="0" clrIdx="517"/>
  <p:cmAuthor id="519" name="未知的使用者143" initials="未" lastIdx="0" clrIdx="518"/>
  <p:cmAuthor id="520" name="Vincent" initials="VZ" lastIdx="0" clrIdx="519"/>
  <p:cmAuthor id="521" name="未知的使用者145" initials="未" lastIdx="0" clrIdx="520"/>
  <p:cmAuthor id="522" name="未知的使用者146" initials="未" lastIdx="0" clrIdx="521"/>
  <p:cmAuthor id="523" name="未知的使用者147" initials="未" lastIdx="0" clrIdx="522"/>
  <p:cmAuthor id="524" name="未知用户113" initials="未知用户113" lastIdx="0" clrIdx="523"/>
  <p:cmAuthor id="525" name="10073055" initials="1" lastIdx="0" clrIdx="524"/>
  <p:cmAuthor id="526" name="00005049" initials="0" lastIdx="0" clrIdx="525"/>
  <p:cmAuthor id="527" name="10024364" initials="1" lastIdx="0" clrIdx="526"/>
  <p:cmAuthor id="528" name="未知用户130" initials="未" lastIdx="0" clrIdx="527"/>
  <p:cmAuthor id="529" name="10265139" initials="1" lastIdx="0" clrIdx="528"/>
  <p:cmAuthor id="530" name="未知用户132" initials="未" lastIdx="0" clrIdx="529"/>
  <p:cmAuthor id="531" name="未知用户133" initials="未" lastIdx="0" clrIdx="530"/>
  <p:cmAuthor id="532" name="未知用户134" initials="未" lastIdx="0" clrIdx="531"/>
  <p:cmAuthor id="533" name="未知用户135" initials="未" lastIdx="0" clrIdx="532"/>
  <p:cmAuthor id="534" name="10191815" initials="1" lastIdx="0" clrIdx="533"/>
  <p:cmAuthor id="535" name="00337387" initials="0" lastIdx="0" clrIdx="534"/>
  <p:cmAuthor id="536" name="10036292" initials="1" lastIdx="0" clrIdx="535"/>
  <p:cmAuthor id="537" name="10208030" initials="1" lastIdx="0" clrIdx="536"/>
  <p:cmAuthor id="538" name="zhangbin" initials="z" lastIdx="0" clrIdx="537"/>
  <p:cmAuthor id="539" name="10090968" initials="1" lastIdx="0" clrIdx="538"/>
  <p:cmAuthor id="540" name="10092253" initials="1" lastIdx="0" clrIdx="539"/>
  <p:cmAuthor id="541" name="10278788" initials="1" lastIdx="0" clrIdx="540"/>
  <p:cmAuthor id="542" name="10311315" initials="1" lastIdx="0" clrIdx="541"/>
  <p:cmAuthor id="543" name="10240440" initials="1" lastIdx="0" clrIdx="542"/>
  <p:cmAuthor id="544" name="Unknown User112" initials="U" lastIdx="0" clrIdx="543"/>
  <p:cmAuthor id="545" name="齐勇" initials="齐" lastIdx="0" clrIdx="544"/>
  <p:cmAuthor id="546" name="Unknown User59" initials="U" lastIdx="0" clrIdx="545"/>
  <p:cmAuthor id="547" name="Unknown User113" initials="U" lastIdx="0" clrIdx="546"/>
  <p:cmAuthor id="548" name="未知的使用者225" initials="" lastIdx="0" clrIdx="547"/>
  <p:cmAuthor id="549" name="未知的使用者226" initials="" lastIdx="0" clrIdx="548"/>
  <p:cmAuthor id="550" name="Unknown User24" initials="U" lastIdx="0" clrIdx="549"/>
  <p:cmAuthor id="551" name="10158184" initials="1" lastIdx="0" clrIdx="550"/>
  <p:cmAuthor id="552" name="未知的使用者218" initials="" lastIdx="0" clrIdx="551"/>
  <p:cmAuthor id="553" name="未知的使用者219" initials="" lastIdx="0" clrIdx="552"/>
  <p:cmAuthor id="554" name="未知的使用者220" initials="" lastIdx="0" clrIdx="553"/>
  <p:cmAuthor id="555" name="李婧宜_YBferYVR" initials="authorId_1217247658" lastIdx="0" clrIdx="554"/>
  <p:cmAuthor id="556" name="未知的使用者228" initials="" lastIdx="0" clrIdx="555"/>
  <p:cmAuthor id="557" name="未知的使用者229" initials="" lastIdx="0" clrIdx="556"/>
  <p:cmAuthor id="558" name="金宇峰_BfyebuM3" initials="authorId_1008746-10054633" lastIdx="0" clrIdx="557"/>
  <p:cmAuthor id="559" name="未知的使用者230" initials="" lastIdx="0" clrIdx="558"/>
  <p:cmAuthor id="560" name="梁鹏" initials="u" lastIdx="0" clrIdx="559"/>
  <p:cmAuthor id="561" name="未知的使用者231" initials="" lastIdx="0" clrIdx="560"/>
  <p:cmAuthor id="562" name="范 斌" initials="范" lastIdx="0" clrIdx="561"/>
  <p:cmAuthor id="563" name="未知的使用者232" initials="" lastIdx="0" clrIdx="562"/>
  <p:cmAuthor id="564" name="毕邺" initials="党委办公室" lastIdx="0" clrIdx="563"/>
  <p:cmAuthor id="565" name="raymond luan" initials="r" lastIdx="0" clrIdx="564"/>
  <p:cmAuthor id="566" name="jiaru tiger" initials="jt" lastIdx="0" clrIdx="565"/>
  <p:cmAuthor id="567" name="Unknown User114" initials="U" lastIdx="0" clrIdx="566"/>
  <p:cmAuthor id="568" name="Unknown User111" initials="U" lastIdx="0" clrIdx="567"/>
  <p:cmAuthor id="569" name="未知的使用者131" initials="" lastIdx="0" clrIdx="568"/>
  <p:cmAuthor id="570" name="未知的使用者132" initials="" lastIdx="0" clrIdx="569"/>
  <p:cmAuthor id="571" name="未知用户118" initials="未" lastIdx="0" clrIdx="570"/>
  <p:cmAuthor id="572" name="未知的使用者235" initials="" lastIdx="0" clrIdx="571"/>
  <p:cmAuthor id="573" name="未知的使用者236" initials="" lastIdx="0" clrIdx="572"/>
  <p:cmAuthor id="574" name="未知的使用者237" initials="" lastIdx="0" clrIdx="573"/>
  <p:cmAuthor id="575" name="未知用户204" initials="未" lastIdx="0" clrIdx="574"/>
  <p:cmAuthor id="576" name="未知的使用者239" initials="" lastIdx="0" clrIdx="575"/>
  <p:cmAuthor id="577" name="未知的使用者136" initials="" lastIdx="0" clrIdx="576"/>
  <p:cmAuthor id="578" name="未知用户54" initials="未" lastIdx="0" clrIdx="577"/>
  <p:cmAuthor id="579" name="jialuo" initials="j" lastIdx="0" clrIdx="578"/>
  <p:cmAuthor id="580" name="未知的使用者206" initials="" lastIdx="0" clrIdx="579"/>
  <p:cmAuthor id="581" name="李楠10204198" initials="MSOffice" lastIdx="0" clrIdx="580"/>
  <p:cmAuthor id="582" name="未知的使用者207" initials="" lastIdx="0" clrIdx="581"/>
  <p:cmAuthor id="583" name="未知的使用者208" initials="" lastIdx="0" clrIdx="582"/>
  <p:cmAuthor id="584" name="未知的使用者209" initials="" lastIdx="0" clrIdx="583"/>
  <p:cmAuthor id="585" name="未知的使用者210" initials="" lastIdx="0" clrIdx="584"/>
  <p:cmAuthor id="586" name="未知的使用者211" initials="" lastIdx="0" clrIdx="585"/>
  <p:cmAuthor id="587" name="未知的使用者212" initials="" lastIdx="0" clrIdx="586"/>
  <p:cmAuthor id="588" name="未知的使用者213" initials="" lastIdx="0" clrIdx="587"/>
  <p:cmAuthor id="589" name="未知的使用者214" initials="" lastIdx="0" clrIdx="588"/>
  <p:cmAuthor id="590" name="未知的使用者215" initials="" lastIdx="0" clrIdx="589"/>
  <p:cmAuthor id="591" name="未知用户121" initials="未" lastIdx="0" clrIdx="590"/>
  <p:cmAuthor id="592" name="王 黎黎" initials="王" lastIdx="0" clrIdx="591"/>
  <p:cmAuthor id="593" name="未知用户219" initials="未" lastIdx="0" clrIdx="592"/>
  <p:cmAuthor id="594" name="未知的使用者163" initials="未" lastIdx="0" clrIdx="593"/>
  <p:cmAuthor id="595" name="未知的使用者165" initials="未" lastIdx="0" clrIdx="594"/>
  <p:cmAuthor id="596" name="未知的使用者158" initials="未" lastIdx="0" clrIdx="595"/>
  <p:cmAuthor id="597" name="未知的使用者166" initials="未" lastIdx="0" clrIdx="596"/>
  <p:cmAuthor id="598" name="未知的使用者167" initials="未" lastIdx="0" clrIdx="597"/>
  <p:cmAuthor id="599" name="未知的使用者159" initials="未" lastIdx="0" clrIdx="598"/>
  <p:cmAuthor id="600" name="未知的使用者160" initials="未" lastIdx="0" clrIdx="599"/>
  <p:cmAuthor id="601" name="庆芳 许" initials="庆" lastIdx="0" clrIdx="600"/>
  <p:cmAuthor id="602" name="未知用户120" initials="未" lastIdx="0" clrIdx="601"/>
  <p:cmAuthor id="603" name="未知用户122" initials="未" lastIdx="0" clrIdx="602"/>
  <p:cmAuthor id="604" name="未知用户139" initials="未" lastIdx="0" clrIdx="603"/>
  <p:cmAuthor id="605" name="未知用户141" initials="未" lastIdx="0" clrIdx="604"/>
  <p:cmAuthor id="606" name="未知用户143" initials="未" lastIdx="0" clrIdx="605"/>
  <p:cmAuthor id="607" name="未知用户144" initials="未" lastIdx="0" clrIdx="606"/>
  <p:cmAuthor id="608" name="未知用户145" initials="未" lastIdx="0" clrIdx="607"/>
  <p:cmAuthor id="609" name="未知用户119" initials="未" lastIdx="0" clrIdx="608"/>
  <p:cmAuthor id="610" name="只老虎" initials="只" lastIdx="0" clrIdx="609"/>
  <p:cmAuthor id="611" name="未知用户140" initials="未" lastIdx="0" clrIdx="610"/>
  <p:cmAuthor id="612" name="未知用户142" initials="未" lastIdx="0" clrIdx="611"/>
  <p:cmAuthor id="613" name="未知用户146" initials="未" lastIdx="0" clrIdx="612"/>
  <p:cmAuthor id="614" name="群智集" initials="群" lastIdx="0" clrIdx="613"/>
  <p:cmAuthor id="615" name="未知用户147" initials="未" lastIdx="0" clrIdx="614"/>
  <p:cmAuthor id="616" name="18937034561@189.cn" initials="1" lastIdx="0" clrIdx="615"/>
  <p:cmAuthor id="617" name="未知用户148" initials="未" lastIdx="0" clrIdx="616"/>
  <p:cmAuthor id="618" name="李金金" initials="李金金" lastIdx="0" clrIdx="617"/>
  <p:cmAuthor id="619" name="未知用户195" initials="未" lastIdx="0" clrIdx="618"/>
  <p:cmAuthor id="620" name="ma jialin" initials="mj" lastIdx="0" clrIdx="619"/>
  <p:cmAuthor id="621" name="未知用户207" initials="未" lastIdx="0" clrIdx="620"/>
  <p:cmAuthor id="622" name="刘海娜|liuhaina" initials="W用" lastIdx="0" clrIdx="621"/>
  <p:cmAuthor id="623" name="未知用户208" initials="未" lastIdx="0" clrIdx="622"/>
  <p:cmAuthor id="624" name="goforever814" initials="g" lastIdx="0" clrIdx="623"/>
  <p:cmAuthor id="625" name="未知用户198" initials="未" lastIdx="0" clrIdx="624"/>
  <p:cmAuthor id="626" name="未知用户209" initials="未" lastIdx="0" clrIdx="625"/>
  <p:cmAuthor id="627" name="未知用户206" initials="未" lastIdx="0" clrIdx="626"/>
  <p:cmAuthor id="628" name="未知用户46" initials="未" lastIdx="0" clrIdx="627"/>
  <p:cmAuthor id="629" name="未知的使用者188" initials="未" lastIdx="0" clrIdx="628"/>
  <p:cmAuthor id="630" name="未知的使用者189" initials="未" lastIdx="0" clrIdx="629"/>
  <p:cmAuthor id="631" name="未知的使用者190" initials="未" lastIdx="0" clrIdx="630"/>
  <p:cmAuthor id="632" name="未知的使用者191" initials="未" lastIdx="0" clrIdx="631"/>
  <p:cmAuthor id="633" name="未知的使用者192" initials="未" lastIdx="0" clrIdx="632"/>
  <p:cmAuthor id="634" name="未知的使用者193" initials="未" lastIdx="0" clrIdx="633"/>
  <p:cmAuthor id="635" name="未知的使用者153" initials="未" lastIdx="0" clrIdx="634"/>
  <p:cmAuthor id="636" name="未知的使用者154" initials="未" lastIdx="0" clrIdx="635"/>
  <p:cmAuthor id="637" name="未知的使用者157" initials="未" lastIdx="0" clrIdx="636"/>
  <p:cmAuthor id="638" name="未知的使用者129" initials="未" lastIdx="0" clrIdx="637"/>
  <p:cmAuthor id="639" name="未知的使用者164" initials="未" lastIdx="0" clrIdx="638"/>
  <p:cmAuthor id="640" name="未知的使用者172" initials="未" lastIdx="0" clrIdx="639"/>
  <p:cmAuthor id="641" name="未知的使用者174" initials="未" lastIdx="0" clrIdx="640"/>
  <p:cmAuthor id="642" name="未知的使用者247" initials="未" lastIdx="0" clrIdx="641"/>
  <p:cmAuthor id="643" name="未知的使用者249" initials="未" lastIdx="0" clrIdx="642"/>
  <p:cmAuthor id="644" name="未知的使用者250" initials="未" lastIdx="0" clrIdx="643"/>
  <p:cmAuthor id="645" name="未知的使用者251" initials="未" lastIdx="0" clrIdx="644"/>
  <p:cmAuthor id="646" name="未知的使用者246" initials="未" lastIdx="0" clrIdx="645"/>
  <p:cmAuthor id="647" name="未知的使用者252" initials="未" lastIdx="0" clrIdx="646"/>
  <p:cmAuthor id="648" name="未知的使用者253" initials="未" lastIdx="0" clrIdx="647"/>
  <p:cmAuthor id="649" name="未知的使用者254" initials="未" lastIdx="0" clrIdx="648"/>
  <p:cmAuthor id="650" name="未知的使用者255" initials="未" lastIdx="0" clrIdx="649"/>
  <p:cmAuthor id="651" name="未知的使用者270" initials="未" lastIdx="0" clrIdx="650"/>
  <p:cmAuthor id="652" name="未知的使用者256" initials="未" lastIdx="0" clrIdx="651"/>
  <p:cmAuthor id="653" name="未知的使用者257" initials="未" lastIdx="0" clrIdx="652"/>
  <p:cmAuthor id="654" name="未知的使用者240" initials="未" lastIdx="0" clrIdx="653"/>
  <p:cmAuthor id="655" name="未知的使用者241" initials="未" lastIdx="0" clrIdx="654"/>
  <p:cmAuthor id="656" name="未知的使用者242" initials="未" lastIdx="0" clrIdx="655"/>
  <p:cmAuthor id="657" name="未知的使用者243" initials="未" lastIdx="0" clrIdx="656"/>
  <p:cmAuthor id="658" name="未知的使用者258" initials="未" lastIdx="0" clrIdx="657"/>
  <p:cmAuthor id="659" name="未知的使用者259" initials="未" lastIdx="0" clrIdx="658"/>
  <p:cmAuthor id="660" name="未知的使用者260" initials="未" lastIdx="0" clrIdx="659"/>
  <p:cmAuthor id="661" name="未知的使用者261" initials="未" lastIdx="0" clrIdx="660"/>
  <p:cmAuthor id="662" name="未知的使用者262" initials="未" lastIdx="0" clrIdx="661"/>
  <p:cmAuthor id="663" name="未知的使用者263" initials="未" lastIdx="0" clrIdx="662"/>
  <p:cmAuthor id="664" name="未知的使用者264" initials="未" lastIdx="0" clrIdx="663"/>
  <p:cmAuthor id="665" name="未知的使用者265" initials="未" lastIdx="0" clrIdx="664"/>
  <p:cmAuthor id="666" name="未知的使用者266" initials="未" lastIdx="0" clrIdx="665"/>
  <p:cmAuthor id="667" name="未知的使用者267" initials="未" lastIdx="0" clrIdx="666"/>
  <p:cmAuthor id="668" name="未知的使用者268" initials="未" lastIdx="0" clrIdx="667"/>
  <p:cmAuthor id="669" name="未知的使用者269" initials="未" lastIdx="0" clrIdx="668"/>
  <p:cmAuthor id="670" name="lillian" initials="l" lastIdx="0" clrIdx="669"/>
  <p:cmAuthor id="671" name="未知用户197" initials="未" lastIdx="0" clrIdx="670"/>
  <p:cmAuthor id="672" name="未知用户157" initials="未" lastIdx="0" clrIdx="671"/>
  <p:cmAuthor id="673" name="未知用户158" initials="未" lastIdx="0" clrIdx="672"/>
  <p:cmAuthor id="674" name="未知用户159" initials="未" lastIdx="0" clrIdx="673"/>
  <p:cmAuthor id="675" name="未知用户160" initials="未" lastIdx="0" clrIdx="674"/>
  <p:cmAuthor id="676" name="未知用户168" initials="未" lastIdx="0" clrIdx="675"/>
  <p:cmAuthor id="677" name="順天" initials="順" lastIdx="0" clrIdx="676"/>
  <p:cmAuthor id="678" name="未知用户246" initials="未" lastIdx="0" clrIdx="677"/>
  <p:cmAuthor id="679" name="未知用户166" initials="未" lastIdx="0" clrIdx="678"/>
  <p:cmAuthor id="680" name="未知用户189" initials="未" lastIdx="0" clrIdx="679"/>
  <p:cmAuthor id="681" name="WANGZF" initials="W" lastIdx="0" clrIdx="680"/>
  <p:cmAuthor id="682" name="未知的使用者178" initials="未" lastIdx="0" clrIdx="681"/>
  <p:cmAuthor id="683" name="未知用户268" initials="未" lastIdx="0" clrIdx="682"/>
  <p:cmAuthor id="684" name="未知用户269" initials="未" lastIdx="0" clrIdx="683"/>
  <p:cmAuthor id="685" name="未知用户250" initials="未" lastIdx="0" clrIdx="684"/>
  <p:cmAuthor id="686" name="�Ÿ�" initials="�" lastIdx="0" clrIdx="685"/>
  <p:cmAuthor id="687" name="未知的使用者217" initials="未" lastIdx="0" clrIdx="686"/>
  <p:cmAuthor id="688" name="Charley" initials="C" lastIdx="0" clrIdx="687"/>
  <p:cmAuthor id="689" name="lilan" initials="l" lastIdx="0" clrIdx="688"/>
  <p:cmAuthor id="690" name="yudi lin" initials="y" lastIdx="0" clrIdx="689"/>
  <p:cmAuthor id="691" name="49554261@qq.com" initials="4" lastIdx="0" clrIdx="690"/>
  <p:cmAuthor id="692" name="hmwang" initials="dsc" lastIdx="0" clrIdx="691"/>
  <p:cmAuthor id="693" name="未知的使用者204" initials="未" lastIdx="0" clrIdx="692"/>
  <p:cmAuthor id="694" name="刘云轩" initials="刘" lastIdx="0" clrIdx="693"/>
  <p:cmAuthor id="695" name="未知的使用者151" initials="未" lastIdx="0" clrIdx="694"/>
  <p:cmAuthor id="696" name="未知的使用者216" initials="未" lastIdx="0" clrIdx="695"/>
  <p:cmAuthor id="697" name="user" initials="u" lastIdx="0" clrIdx="696"/>
  <p:cmAuthor id="698" name="未知的使用者234" initials="未" lastIdx="0" clrIdx="697"/>
  <p:cmAuthor id="699" name="未知的使用者137" initials="未" lastIdx="0" clrIdx="698"/>
  <p:cmAuthor id="700" name="heweia@digiwin.com" initials="h" lastIdx="0" clrIdx="699"/>
  <p:cmAuthor id="701" name="MM" initials="M" lastIdx="0" clrIdx="700"/>
  <p:cmAuthor id="702" name="未知用户220" initials="未" lastIdx="0" clrIdx="701"/>
  <p:cmAuthor id="703" name="super" initials="s" lastIdx="0" clrIdx="702"/>
  <p:cmAuthor id="704" name="未知的使用者238" initials="未" lastIdx="0" clrIdx="703"/>
  <p:cmAuthor id="705" name="zhuzy" initials="z" lastIdx="0" clrIdx="704"/>
  <p:cmAuthor id="706" name="方婷婷" initials="方" lastIdx="0" clrIdx="705"/>
  <p:cmAuthor id="707" name="未知用户280" initials="未" lastIdx="0" clrIdx="706"/>
  <p:cmAuthor id="708" name="未知用户313" initials="未" lastIdx="0" clrIdx="707"/>
  <p:cmAuthor id="709" name="刘晖" initials="刘" lastIdx="0" clrIdx="708"/>
  <p:cmAuthor id="710" name="未知用户190" initials="未" lastIdx="0" clrIdx="709"/>
  <p:cmAuthor id="711" name="未知用户25" initials="未" lastIdx="0" clrIdx="710"/>
  <p:cmAuthor id="712" name="未知用户20" initials="未" lastIdx="0" clrIdx="711"/>
  <p:cmAuthor id="713" name="Xia Ting" initials="X" lastIdx="0" clrIdx="712"/>
  <p:cmAuthor id="714" name="未知用户180" initials="未" lastIdx="0" clrIdx="713"/>
  <p:cmAuthor id="715" name="不明使用者54" initials="不" lastIdx="0" clrIdx="714"/>
  <p:cmAuthor id="716" name="未知用户188" initials="未" lastIdx="0" clrIdx="715"/>
  <p:cmAuthor id="717" name="未知用户94" initials="未" lastIdx="0" clrIdx="716"/>
  <p:cmAuthor id="718" name="未知用户321" initials="未" lastIdx="0" clrIdx="717"/>
  <p:cmAuthor id="719" name="Liyangjun" initials="L" lastIdx="0" clrIdx="718"/>
  <p:cmAuthor id="720" name="未知的使用者139" initials="未" lastIdx="0" clrIdx="719"/>
  <p:cmAuthor id="721" name="未知的使用者140" initials="未" lastIdx="0" clrIdx="720"/>
  <p:cmAuthor id="722" name="未知用户320" initials="未" lastIdx="0" clrIdx="721"/>
  <p:cmAuthor id="723" name="FanJQ" initials="F" lastIdx="0" clrIdx="722"/>
  <p:cmAuthor id="724" name="未知用户211" initials="未" lastIdx="0" clrIdx="723"/>
  <p:cmAuthor id="725" name="未知用户212" initials="未" lastIdx="0" clrIdx="724"/>
  <p:cmAuthor id="726" name="未知用户293" initials="未" lastIdx="0" clrIdx="725"/>
  <p:cmAuthor id="727" name="未知用户201" initials="未" lastIdx="0" clrIdx="726"/>
  <p:cmAuthor id="728" name="未知用户161" initials="未" lastIdx="0" clrIdx="727"/>
  <p:cmAuthor id="729" name="楸璐" initials="楸" lastIdx="0" clrIdx="728"/>
  <p:cmAuthor id="730" name="未知用户183" initials="未" lastIdx="0" clrIdx="729"/>
  <p:cmAuthor id="731" name="nancy" initials="n" lastIdx="0" clrIdx="730"/>
  <p:cmAuthor id="732" name="未知用户163" initials="未" lastIdx="0" clrIdx="731"/>
  <p:cmAuthor id="733" name="未知的使用者233" initials="未" lastIdx="0" clrIdx="732"/>
  <p:cmAuthor id="734" name="ll z" initials="l" lastIdx="0" clrIdx="733"/>
  <p:cmAuthor id="735" name="未知用户191" initials="未" lastIdx="0" clrIdx="734"/>
  <p:cmAuthor id="736" name="未知用户167" initials="未" lastIdx="0" clrIdx="735"/>
  <p:cmAuthor id="737" name="guanhh" initials="g" lastIdx="0" clrIdx="736"/>
  <p:cmAuthor id="738" name="未知用户169" initials="未" lastIdx="0" clrIdx="737"/>
  <p:cmAuthor id="739" name="未知用户192" initials="未" lastIdx="0" clrIdx="738"/>
  <p:cmAuthor id="740" name="未知用户203" initials="未" lastIdx="0" clrIdx="739"/>
  <p:cmAuthor id="741" name="未知用户175" initials="未" lastIdx="0" clrIdx="740"/>
  <p:cmAuthor id="742" name="未知用户176" initials="未" lastIdx="0" clrIdx="741"/>
  <p:cmAuthor id="743" name="未知用户177" initials="未" lastIdx="0" clrIdx="742"/>
  <p:cmAuthor id="744" name="未知用户184" initials="未" lastIdx="0" clrIdx="743"/>
  <p:cmAuthor id="745" name="未知用户179" initials="未" lastIdx="0" clrIdx="744"/>
  <p:cmAuthor id="746" name="未知用户185" initials="未" lastIdx="0" clrIdx="745"/>
  <p:cmAuthor id="747" name="未知用户181" initials="未" lastIdx="0" clrIdx="746"/>
  <p:cmAuthor id="748" name="ye gusong" initials="y" lastIdx="0" clrIdx="747"/>
  <p:cmAuthor id="749" name="wei muzi" initials="w" lastIdx="0" clrIdx="748"/>
  <p:cmAuthor id="750" name="孙" initials="孙" lastIdx="0" clrIdx="749"/>
  <p:cmAuthor id="751" name="未知用户187" initials="未" lastIdx="0" clrIdx="750"/>
  <p:cmAuthor id="752" name="王嘉偉" initials="王" lastIdx="0" clrIdx="751"/>
  <p:cmAuthor id="753" name="catherine" initials="c" lastIdx="0" clrIdx="752"/>
  <p:cmAuthor id="754" name="未知的使用者88" initials="未" lastIdx="0" clrIdx="753"/>
  <p:cmAuthor id="755" name="未知的使用者89" initials="未" lastIdx="0" clrIdx="754"/>
  <p:cmAuthor id="756" name="未知用户287" initials="未" lastIdx="0" clrIdx="755"/>
  <p:cmAuthor id="757" name="未知用户288" initials="未" lastIdx="0" clrIdx="756"/>
  <p:cmAuthor id="758" name="未知用户289" initials="未" lastIdx="0" clrIdx="757"/>
  <p:cmAuthor id="759" name="未知用户290" initials="未" lastIdx="0" clrIdx="758"/>
  <p:cmAuthor id="760" name="未知用户291" initials="未" lastIdx="0" clrIdx="759"/>
  <p:cmAuthor id="761" name="未知用户292" initials="未" lastIdx="0" clrIdx="760"/>
  <p:cmAuthor id="762" name="未知用户295" initials="未" lastIdx="0" clrIdx="761"/>
  <p:cmAuthor id="763" name="未知用户297" initials="未" lastIdx="0" clrIdx="762"/>
  <p:cmAuthor id="764" name="未知用户310" initials="未" lastIdx="0" clrIdx="763"/>
  <p:cmAuthor id="765" name="未知的使用者202" initials="未" lastIdx="0" clrIdx="764"/>
  <p:cmAuthor id="766" name="未知用户215" initials="未" lastIdx="0" clrIdx="765"/>
  <p:cmAuthor id="767" name="未知用户216" initials="未" lastIdx="0" clrIdx="766"/>
  <p:cmAuthor id="768" name="未知的使用者196" initials="未" lastIdx="0" clrIdx="767"/>
  <p:cmAuthor id="769" name="未知用户243" initials="未" lastIdx="0" clrIdx="768"/>
  <p:cmAuthor id="770" name="未知用户282" initials="未" lastIdx="0" clrIdx="769"/>
  <p:cmAuthor id="771" name="未知用户283" initials="未" lastIdx="0" clrIdx="770"/>
  <p:cmAuthor id="772" name="未知用户213" initials="未" lastIdx="0" clrIdx="771"/>
  <p:cmAuthor id="773" name="未知用户279" initials="未" lastIdx="0" clrIdx="772"/>
  <p:cmAuthor id="774" name="未知用户281" initials="未" lastIdx="0" clrIdx="773"/>
  <p:cmAuthor id="775" name="未知用户284" initials="未" lastIdx="0" clrIdx="774"/>
  <p:cmAuthor id="776" name="Ying Lou" initials="Y" lastIdx="0" clrIdx="775"/>
  <p:cmAuthor id="777" name="未知用户174" initials="未" lastIdx="0" clrIdx="776"/>
  <p:cmAuthor id="778" name="刘佳佳" initials="刘" lastIdx="0" clrIdx="777"/>
  <p:cmAuthor id="779" name="未知用户233" initials="未" lastIdx="0" clrIdx="778"/>
  <p:cmAuthor id="780" name="未知用户234" initials="未" lastIdx="0" clrIdx="779"/>
  <p:cmAuthor id="781" name="未知用户235" initials="未" lastIdx="0" clrIdx="780"/>
  <p:cmAuthor id="782" name="未知用户236" initials="未" lastIdx="0" clrIdx="781"/>
  <p:cmAuthor id="783" name="未知用户237" initials="未" lastIdx="0" clrIdx="782"/>
  <p:cmAuthor id="784" name="未知用户240" initials="未" lastIdx="0" clrIdx="783"/>
  <p:cmAuthor id="785" name="曾蓓/贝贝" initials="曾" lastIdx="0" clrIdx="784"/>
  <p:cmAuthor id="786" name="未知用户221" initials="未" lastIdx="0" clrIdx="785"/>
  <p:cmAuthor id="787" name="王 辰斌" initials="王" lastIdx="0" clrIdx="786"/>
  <p:cmAuthor id="788" name="未知用户89" initials="未" lastIdx="0" clrIdx="787"/>
  <p:cmAuthor id="789" name="林志强" initials="林" lastIdx="0" clrIdx="788"/>
  <p:cmAuthor id="790" name="Carol Kelly" initials="C" lastIdx="0" clrIdx="789"/>
  <p:cmAuthor id="791" name="未知的使用者205" initials="未" lastIdx="0" clrIdx="790"/>
  <p:cmAuthor id="792" name="未知的使用者200" initials="未" lastIdx="0" clrIdx="791"/>
  <p:cmAuthor id="793" name="Unknown User58" initials="U" lastIdx="0" clrIdx="792"/>
  <p:cmAuthor id="794" name="Unknown User55" initials="U" lastIdx="0" clrIdx="793"/>
  <p:cmAuthor id="795" name="未知的使用者195" initials="未" lastIdx="0" clrIdx="794"/>
  <p:cmAuthor id="796" name="Huipeng Cao" initials="H" lastIdx="0" clrIdx="795"/>
  <p:cmAuthor id="797" name="李 雷雨" initials="李" lastIdx="0" clrIdx="796"/>
  <p:cmAuthor id="798" name="91257" initials="9" lastIdx="0" clrIdx="797"/>
  <p:cmAuthor id="799" name="未知用户228" initials="未" lastIdx="0" clrIdx="798"/>
  <p:cmAuthor id="800" name="vicky" initials="v" lastIdx="0" clrIdx="799"/>
  <p:cmAuthor id="801" name="jerrychou" initials="j" lastIdx="0" clrIdx="800"/>
  <p:cmAuthor id="802" name="不明使用者12" initials="不" lastIdx="0" clrIdx="801"/>
  <p:cmAuthor id="803" name="不明使用者1" initials="不" lastIdx="0" clrIdx="802"/>
  <p:cmAuthor id="804" name="不明使用者2" initials="不" lastIdx="0" clrIdx="803"/>
  <p:cmAuthor id="805" name="不明使用者3" initials="不" lastIdx="0" clrIdx="804"/>
  <p:cmAuthor id="806" name="不明使用者4" initials="不" lastIdx="0" clrIdx="805"/>
  <p:cmAuthor id="807" name="不明使用者6" initials="不" lastIdx="0" clrIdx="806"/>
  <p:cmAuthor id="808" name="不明使用者5" initials="不" lastIdx="0" clrIdx="807"/>
  <p:cmAuthor id="809" name="不明使用者7" initials="不" lastIdx="0" clrIdx="808"/>
  <p:cmAuthor id="810" name="不明使用者8" initials="不" lastIdx="0" clrIdx="809"/>
  <p:cmAuthor id="811" name="不明使用者9" initials="不" lastIdx="0" clrIdx="810"/>
  <p:cmAuthor id="812" name="不明使用者10" initials="不" lastIdx="0" clrIdx="811"/>
  <p:cmAuthor id="813" name="不明使用者11" initials="不" lastIdx="0" clrIdx="812"/>
  <p:cmAuthor id="814" name="Carol Wu" initials="C" lastIdx="0" clrIdx="813"/>
  <p:cmAuthor id="815" name="刘浩" initials="刘" lastIdx="0" clrIdx="814"/>
  <p:cmAuthor id="816" name="10335529" initials="1" lastIdx="0" clrIdx="815"/>
  <p:cmAuthor id="817" name="Vivian Liu" initials="VL" lastIdx="0" clrIdx="816"/>
  <p:cmAuthor id="818" name="未知用户303" initials="未" lastIdx="0" clrIdx="817"/>
  <p:cmAuthor id="819" name="未知用户304" initials="未" lastIdx="0" clrIdx="818"/>
  <p:cmAuthor id="820" name="谢学斌" initials="谢" lastIdx="0" clrIdx="819"/>
  <p:cmAuthor id="821" name="win7" initials="w" lastIdx="0" clrIdx="820"/>
  <p:cmAuthor id="822" name="敢 王" initials="敢" lastIdx="0" clrIdx="821"/>
  <p:cmAuthor id="823" name="邓 勇" initials="邓" lastIdx="0" clrIdx="822"/>
  <p:cmAuthor id="824" name="陈城" initials="陈" lastIdx="0" clrIdx="823"/>
  <p:cmAuthor id="825" name="Sharon" initials="S" lastIdx="0" clrIdx="824"/>
  <p:cmAuthor id="826" name="蓝礼健" initials="蓝" lastIdx="0" clrIdx="825"/>
  <p:cmAuthor id="827" name="未知用户311" initials="未" lastIdx="0" clrIdx="826"/>
  <p:cmAuthor id="828" name="未知用户312" initials="未" lastIdx="0" clrIdx="827"/>
  <p:cmAuthor id="829" name="shenbina" initials="s" lastIdx="0" clrIdx="828"/>
  <p:cmAuthor id="830" name="未知用户314" initials="未" lastIdx="0" clrIdx="829"/>
  <p:cmAuthor id="831" name="晓  曲" initials="晓" lastIdx="0" clrIdx="830"/>
  <p:cmAuthor id="832" name="未知用户245" initials="未" lastIdx="0" clrIdx="831"/>
  <p:cmAuthor id="833" name="Kathy" initials="K" lastIdx="0" clrIdx="832"/>
  <p:cmAuthor id="834" name="孟连磊" initials="孟" lastIdx="0" clrIdx="833"/>
  <p:cmAuthor id="835" name="未知用户387" initials="未" lastIdx="0" clrIdx="834"/>
  <p:cmAuthor id="836" name="未知的使用者177" initials="未" lastIdx="0" clrIdx="835"/>
  <p:cmAuthor id="837" name="梅芬 吳" initials="梅" lastIdx="0" clrIdx="836"/>
  <p:cmAuthor id="838" name="未知的使用者221" initials="未" lastIdx="0" clrIdx="837"/>
  <p:cmAuthor id="839" name="未知的使用者222" initials="未" lastIdx="0" clrIdx="838"/>
  <p:cmAuthor id="840" name="winner1 chan" initials="wc" lastIdx="0" clrIdx="839"/>
  <p:cmAuthor id="841" name="未知用户332" initials="未" lastIdx="0" clrIdx="840"/>
  <p:cmAuthor id="842" name="未知用户217" initials="未" lastIdx="0" clrIdx="841"/>
  <p:cmAuthor id="843" name="cai yan" initials="cy" lastIdx="0" clrIdx="842"/>
  <p:cmAuthor id="844" name="俊晔 邱" initials="俊" lastIdx="0" clrIdx="843"/>
  <p:cmAuthor id="845" name="annie.gts@outlook.com" initials="a" lastIdx="0" clrIdx="844"/>
  <p:cmAuthor id="846" name="杨 升格" initials="杨" lastIdx="0" clrIdx="845"/>
  <p:cmAuthor id="847" name="Unknown User80" initials="U" lastIdx="0" clrIdx="846"/>
  <p:cmAuthor id="848" name="cy" initials="c" lastIdx="0" clrIdx="847"/>
  <p:cmAuthor id="849" name="未知用户222" initials="未" lastIdx="0" clrIdx="848"/>
  <p:cmAuthor id="850" name="未知用户200" initials="未" lastIdx="0" clrIdx="849"/>
  <p:cmAuthor id="851" name="未知用户272" initials="未" lastIdx="0" clrIdx="850"/>
  <p:cmAuthor id="852" name="lxm" initials="l" lastIdx="0" clrIdx="851"/>
  <p:cmAuthor id="853" name="未知用户231" initials="未" lastIdx="0" clrIdx="852"/>
  <p:cmAuthor id="854" name="PC" initials="P" lastIdx="0" clrIdx="853"/>
  <p:cmAuthor id="855" name="yesg" initials="y" lastIdx="0" clrIdx="854"/>
  <p:cmAuthor id="856" name="Microsoft Office User" initials="M" lastIdx="0" clrIdx="855"/>
  <p:cmAuthor id="857" name="陳珮琪" initials="陳珮琪" lastIdx="0" clrIdx="856"/>
  <p:cmAuthor id="858" name="未知用户277" initials="未" lastIdx="0" clrIdx="857"/>
  <p:cmAuthor id="859" name="soling" initials="s" lastIdx="0" clrIdx="858"/>
  <p:cmAuthor id="860" name="李 骁" initials="李" lastIdx="0" clrIdx="859"/>
  <p:cmAuthor id="861" name="Tome" initials="T" lastIdx="0" clrIdx="860"/>
  <p:cmAuthor id="862" name="未知的使用者96" initials="未" lastIdx="0" clrIdx="861"/>
  <p:cmAuthor id="863" name="未知的使用者97" initials="未" lastIdx="0" clrIdx="862"/>
  <p:cmAuthor id="864" name="未知用户301" initials="未" lastIdx="0" clrIdx="863"/>
  <p:cmAuthor id="865" name="未知用户306" initials="未" lastIdx="0" clrIdx="864"/>
  <p:cmAuthor id="866" name="未知用户308" initials="未" lastIdx="0" clrIdx="865"/>
  <p:cmAuthor id="867" name="未知用户309" initials="未" lastIdx="0" clrIdx="866"/>
  <p:cmAuthor id="868" name="未知用户249" initials="未" lastIdx="0" clrIdx="867"/>
  <p:cmAuthor id="869" name="Stacy Chiang" initials="S" lastIdx="0" clrIdx="868"/>
  <p:cmAuthor id="870" name="未知用户315" initials="未" lastIdx="0" clrIdx="869"/>
  <p:cmAuthor id="871" name="未知用户316" initials="未" lastIdx="0" clrIdx="870"/>
  <p:cmAuthor id="872" name="未知用户317" initials="未" lastIdx="0" clrIdx="871"/>
  <p:cmAuthor id="873" name="未知用户318" initials="未" lastIdx="0" clrIdx="872"/>
  <p:cmAuthor id="874" name="未知用户319" initials="未" lastIdx="0" clrIdx="873"/>
  <p:cmAuthor id="875" name="chen hui" initials="c" lastIdx="0" clrIdx="874"/>
  <p:cmAuthor id="876" name="未知用户244" initials="未" lastIdx="0" clrIdx="875"/>
  <p:cmAuthor id="877" name="未知用户322" initials="未" lastIdx="0" clrIdx="876"/>
  <p:cmAuthor id="878" name="未知用户323" initials="未" lastIdx="0" clrIdx="877"/>
  <p:cmAuthor id="879" name="未知用户324" initials="未" lastIdx="0" clrIdx="878"/>
  <p:cmAuthor id="880" name="wangxinhui" initials="w" lastIdx="0" clrIdx="879"/>
  <p:cmAuthor id="881" name="未知用户276" initials="未" lastIdx="0" clrIdx="880"/>
  <p:cmAuthor id="882" name="未知用户363" initials="未" lastIdx="0" clrIdx="881"/>
  <p:cmAuthor id="883" name="未知用户459" initials="未" lastIdx="0" clrIdx="882"/>
  <p:cmAuthor id="884" name="未知用户470" initials="未" lastIdx="0" clrIdx="883"/>
  <p:cmAuthor id="885" name="未知用户325" initials="未" lastIdx="0" clrIdx="884"/>
  <p:cmAuthor id="886" name="未知用户326" initials="未" lastIdx="0" clrIdx="885"/>
  <p:cmAuthor id="887" name="未知用户365" initials="未" lastIdx="0" clrIdx="886"/>
  <p:cmAuthor id="888" name="未知用户460" initials="未" lastIdx="0" clrIdx="887"/>
  <p:cmAuthor id="889" name="未知用户366" initials="未" lastIdx="0" clrIdx="888"/>
  <p:cmAuthor id="890" name="未知用户461" initials="未" lastIdx="0" clrIdx="889"/>
  <p:cmAuthor id="891" name="未知用户367" initials="未" lastIdx="0" clrIdx="890"/>
  <p:cmAuthor id="892" name="未知用户462" initials="未" lastIdx="0" clrIdx="891"/>
  <p:cmAuthor id="893" name="未知用户463" initials="未" lastIdx="0" clrIdx="892"/>
  <p:cmAuthor id="894" name="未知用户368" initials="未" lastIdx="0" clrIdx="893"/>
  <p:cmAuthor id="895" name="未知用户464" initials="未" lastIdx="0" clrIdx="894"/>
  <p:cmAuthor id="896" name="未知用户369" initials="未" lastIdx="0" clrIdx="895"/>
  <p:cmAuthor id="897" name="未知用户465" initials="未" lastIdx="0" clrIdx="896"/>
  <p:cmAuthor id="898" name="未知用户466" initials="未" lastIdx="0" clrIdx="897"/>
  <p:cmAuthor id="899" name="未知用户467" initials="未" lastIdx="0" clrIdx="898"/>
  <p:cmAuthor id="900" name="未知用户468" initials="未" lastIdx="0" clrIdx="899"/>
  <p:cmAuthor id="901" name="未知用户426" initials="未" lastIdx="0" clrIdx="900"/>
  <p:cmAuthor id="902" name="未知用户371" initials="未" lastIdx="0" clrIdx="901"/>
  <p:cmAuthor id="903" name="未知用户372" initials="未" lastIdx="0" clrIdx="902"/>
  <p:cmAuthor id="904" name="未知用户373" initials="未" lastIdx="0" clrIdx="903"/>
  <p:cmAuthor id="905" name="未知用户374" initials="未" lastIdx="0" clrIdx="904"/>
  <p:cmAuthor id="906" name="未知用户469" initials="未" lastIdx="0" clrIdx="905"/>
  <p:cmAuthor id="907" name="未知用户427" initials="未" lastIdx="0" clrIdx="906"/>
  <p:cmAuthor id="908" name="未知用户375" initials="未" lastIdx="0" clrIdx="907"/>
  <p:cmAuthor id="909" name="未知用户376" initials="未" lastIdx="0" clrIdx="908"/>
  <p:cmAuthor id="910" name="未知用户377" initials="未" lastIdx="0" clrIdx="909"/>
  <p:cmAuthor id="911" name="未知用户428" initials="未" lastIdx="0" clrIdx="910"/>
  <p:cmAuthor id="912" name="未知用户378" initials="未" lastIdx="0" clrIdx="911"/>
  <p:cmAuthor id="913" name="未知用户379" initials="未" lastIdx="0" clrIdx="912"/>
  <p:cmAuthor id="914" name="未知用户339" initials="未" lastIdx="0" clrIdx="913"/>
  <p:cmAuthor id="915" name="未知用户380" initials="未" lastIdx="0" clrIdx="914"/>
  <p:cmAuthor id="916" name="未知用户381" initials="未" lastIdx="0" clrIdx="915"/>
  <p:cmAuthor id="917" name="未知用户382" initials="未" lastIdx="0" clrIdx="916"/>
  <p:cmAuthor id="918" name="未知用户383" initials="未" lastIdx="0" clrIdx="917"/>
  <p:cmAuthor id="919" name="未知用户384" initials="未" lastIdx="0" clrIdx="918"/>
  <p:cmAuthor id="920" name="未知用户294" initials="未" lastIdx="0" clrIdx="919"/>
  <p:cmAuthor id="921" name="未知用户385" initials="未" lastIdx="0" clrIdx="920"/>
  <p:cmAuthor id="922" name="未知用户386" initials="未" lastIdx="0" clrIdx="921"/>
  <p:cmAuthor id="923" name="未知用户429" initials="未" lastIdx="0" clrIdx="922"/>
  <p:cmAuthor id="924" name="未知用户348" initials="未" lastIdx="0" clrIdx="923"/>
  <p:cmAuthor id="925" name="未知用户430" initials="未" lastIdx="0" clrIdx="924"/>
  <p:cmAuthor id="926" name="未知用户389" initials="未" lastIdx="0" clrIdx="925"/>
  <p:cmAuthor id="927" name="未知用户350" initials="未" lastIdx="0" clrIdx="926"/>
  <p:cmAuthor id="928" name="未知用户431" initials="未" lastIdx="0" clrIdx="927"/>
  <p:cmAuthor id="929" name="未知用户351" initials="未" lastIdx="0" clrIdx="928"/>
  <p:cmAuthor id="930" name="未知用户432" initials="未" lastIdx="0" clrIdx="929"/>
  <p:cmAuthor id="931" name="未知用户392" initials="未" lastIdx="0" clrIdx="930"/>
  <p:cmAuthor id="932" name="未知用户433" initials="未" lastIdx="0" clrIdx="931"/>
  <p:cmAuthor id="933" name="未知用户434" initials="未" lastIdx="0" clrIdx="932"/>
  <p:cmAuthor id="934" name="未知用户393" initials="未" lastIdx="0" clrIdx="933"/>
  <p:cmAuthor id="935" name="未知用户435" initials="未" lastIdx="0" clrIdx="934"/>
  <p:cmAuthor id="936" name="未知用户356" initials="未" lastIdx="0" clrIdx="935"/>
  <p:cmAuthor id="937" name="未知用户436" initials="未" lastIdx="0" clrIdx="936"/>
  <p:cmAuthor id="938" name="未知用户396" initials="未" lastIdx="0" clrIdx="937"/>
  <p:cmAuthor id="939" name="未知用户437" initials="未" lastIdx="0" clrIdx="938"/>
  <p:cmAuthor id="940" name="未知用户397" initials="未" lastIdx="0" clrIdx="939"/>
  <p:cmAuthor id="941" name="未知用户419" initials="未" lastIdx="0" clrIdx="940"/>
  <p:cmAuthor id="942" name="未知用户399" initials="未" lastIdx="0" clrIdx="941"/>
  <p:cmAuthor id="943" name="小延魔法师" initials="小" lastIdx="0" clrIdx="942"/>
  <p:cmAuthor id="944" name="未知用户438" initials="未" lastIdx="0" clrIdx="943"/>
  <p:cmAuthor id="945" name="朱红新10208100" initials="朱红新10208100" lastIdx="0" clrIdx="944"/>
  <p:cmAuthor id="946" name="未知用户401" initials="未" lastIdx="0" clrIdx="945"/>
  <p:cmAuthor id="947" name="NTKO" initials="H" lastIdx="0" clrIdx="946"/>
  <p:cmAuthor id="948" name="未知用户402" initials="未" lastIdx="0" clrIdx="947"/>
  <p:cmAuthor id="949" name="王航艳00091531" initials="王航艳00091531" lastIdx="0" clrIdx="948"/>
  <p:cmAuthor id="950" name="未知用户403" initials="未" lastIdx="0" clrIdx="949"/>
  <p:cmAuthor id="951" name="Xia Meng 00049798" initials="Mandy" lastIdx="0" clrIdx="950"/>
  <p:cmAuthor id="952" name="未知用户327" initials="未" lastIdx="0" clrIdx="951"/>
  <p:cmAuthor id="953" name="zdl" initials="z" lastIdx="0" clrIdx="952"/>
  <p:cmAuthor id="954" name="未知用户404" initials="未" lastIdx="0" clrIdx="953"/>
  <p:cmAuthor id="955" name="树东 贾" initials="树贾" lastIdx="0" clrIdx="954"/>
  <p:cmAuthor id="956" name="未知用户405" initials="未" lastIdx="0" clrIdx="955"/>
  <p:cmAuthor id="957" name="未知用户439" initials="未" lastIdx="0" clrIdx="956"/>
  <p:cmAuthor id="958" name="未知用户406" initials="未" lastIdx="0" clrIdx="957"/>
  <p:cmAuthor id="959" name="未知用户440" initials="未" lastIdx="0" clrIdx="958"/>
  <p:cmAuthor id="960" name="未知用户441" initials="未" lastIdx="0" clrIdx="959"/>
  <p:cmAuthor id="961" name="未知用户442" initials="未" lastIdx="0" clrIdx="960"/>
  <p:cmAuthor id="962" name="未知用户409" initials="未" lastIdx="0" clrIdx="96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57"/>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整个方案分为四个章节。第一章,我们先建立对高力国际业务的理解,明确四大痛点和整体价值闭环。第二章,展示总体方案架构和 FarAI 产品矩阵如何映射到这四大场景。第三章,逐一拆解招聘、商机、投标、营销四大场景的痛点、流程与价值。第四章,落到商业价值、实施路径和法本的保障能力。</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我们先从客户理解开始。这一章的核心,是和高力国际一起,明确 AI 在商业地产全生命周期服务中的切入点和价值主张。</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高力国际不是传统物业公司,而是全球商业地产五大行之一,围绕写字楼、商业综合体、产业园区提供咨询策划、招商租赁、买卖交易、资产评估、工程管理和物业管理等全生命周期服务。服务对象涵盖地产开发商、业主、投资机构、政府和大型企业。业务特点决定了四个共性挑战:项目多、信息散、跟进周期长、决策链复杂、基层招聘量大。基于此,法本 FarAI 的价值主张是,以一个平台加四大场景加一个闭环,打通从信息发现到结果复盘的完整链路。</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我们识别出四大业务痛点,它们正是 AI 的高价值切入点。第一,基层岗位招聘量大、流动频繁,招聘人员长期在五八同城等平台重复操作。第二,商业地产商机分散在政府网站、招投标平台、短视频、招聘平台等多渠道,人工收集效率低、容易遗漏。第三,同一楼宇园区被多名销售分散跟进,难以识别为同一客户,更难还原决策链。第四,销售录音数量大,依赖人工回听,话术规范、客户意向和商机都难以快速判断。这四个痛点,分别对应我们的智能招聘、智能商机、投标加客户归并、智能营销四大场景。</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大场景不是孤立的,它们串联成高力国际自己定义的完整业务闭环:信息发现、商机识别、客户归并、决策链分析、销售跟进、投标支持、结果复盘。复盘的结论会回流到下一轮商机识别,形成持续优化的飞轮。这个闭环背后,是八项关键技术能力在做支撑,包括多平台数据接入、音视频解析、客户主体识别、重复合并、人物关系分析、商机评分、录音分析,以及和客户现有 CRM、招聘、投标系统的集成。</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接下来,我们看总体方案架构。核心思路是,一个统一平台,承载四大场景,打通一个闭环。</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总体架构分三层。最上层是集成层,对接高力国际现有的 CRM、招聘、投标系统和企业微信。中间是场景层,承载招聘、商机、投标加客户归并、营销录音四大应用。最底层是 FarAgent 平台底座,提供大模型、企业知识库和多平台数据接入能力。两侧是安全合规和生态合作,保障整个体系可信、可持续。这样,从底座到场景到集成,形成端到端能力。</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法本 FarAI 已有的产品矩阵,可以直接映射高力国际的四大需求。GPTRecruit 对应智能招聘,FarAI 商机引擎对应信息收集与商机识别,GPTBidder 加上客户归并增强对应智能投标及客户关系分析,FarAI 录音分析对应智能营销。统一底座是 FarAgent 平台,具备自主规划、沙盒执行、分层记忆和权限管理能力。这意味着高力国际无需从零建设,大部分能力可快速复用。</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下面进入最核心的部分,四大场景逐一拆解。每个场景我们都会讲清楚痛点、流程和能力价值。</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场景是智能招聘。招聘对象是保安、保洁、物业服务等基层岗位,主要渠道是五八同城等招聘平台。五大痛点很明确:量大流频繁、简历质量参差、多平台重复、失联爽约到岗率低、历史数据没沉淀。我们覆盖招聘全流程:岗位批量发布、候选人信息收集、基础条件筛选、自动沟通邀约、面试安排、招聘过程跟踪,六个环节全部 AI 化。</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五大核心能力支撑这个流程。一是 JD 智能生成,自动把岗位需求转化为专业职位描述。二是简历精准匹配,语义级实现岗位到人、人到岗位、人到人的多维映射,匹配度提升超过百分之五十。三是 AI 面试,数字人模拟真实面试,千人千面出题,自动生成评估报告。四是招聘机器人,自动登录平台筛选候选人并打招呼沟通。五是人才库沉淀,多渠道简历统一存储,历史候选人智能复荐。预计价值是,简历筛选效率提升超过百分之五十,招聘周期缩短百分之四十,简历采购成本下降百分之三十。</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场景是智能信息收集与商机识别,面向市场部门。痛点是来源多而散、视频图片长文本提取难、重复缺去重、缺价值判断、难快速分配。我们重点关注六类商机:新建项目、交易并购、运营搬迁等。采集渠道覆盖政府网站、公共资源交易平台、招投标平台、抖音等短视频、招聘平台和其他公开渠道六大来源,做到全量持续采集,人工不再遗漏重要项目。</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采集到的非结构化内容,经过四步处理:内容采集、字段提取、价值评分、自动分配。系统能从网页、文档、图片、音视频里提取项目名称、地址、面积、业主、投资方、预算、招标时间等十大关键字段,按客户规则判断商机价值并自动去重,最后把结构化线索秒级推送给对应商务。预计价值是,商机发现时效从天级缩短到小时级,商机覆盖率提升三倍,重复信息自动去重。</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个场景是智能投标。投标流水线覆盖文件解析、资格识别、评分拆解、材料匹配、标书生成、风险检查六个环节。对应的痛点是:招标文件多人工拆解易漏、历史标书难复用、评分点覆盖不充分、资格和格式低级失误致废标。AI 在每个环节都提供针对性能力,智能解析拆解、历史材料匹配、评分项逐项生成、七维风险检查,把废标风险降到最低。</a:t>
            </a:r>
            <a:endParaRPr 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是我们认为对高力国际最具差异化价值的能力。同一栋大楼、同一园区或同一家企业,经常由不同销售分别对接业主、投资方、物业、采购、决策人。系统结合企业名、项目名、楼宇地址、联系人、沟通记录和股权关系,判断这些是否同一客户,归并成统一客户视图。在此基础上,梳理完整决策链:最终决策人、需求提出人、采购招标负责人、项目使用部门、技术评估人、业主投资方运营方物业方,以及他们之间的关系和影响力。这就化解了同一客户被重复跟进、名称不统一、信息分散在个人记录和录音里、关键人物识别不清这一系列痛点。</a:t>
            </a:r>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四个场景是智能营销与销售录音分析。五大痛点:录音量大无法逐条回听、缺统一沟通质量标准、真实需求商机易被忽略、优秀经验难沉淀、录音客户项目任务未关联。处理流程是:销售录音、语音转文字、按规则智能分析、输出可行动的客户洞察。更重要的是,录音信息会自动关联客户、项目、联系人和销售,补入客户档案与决策链,避免重要信息只停留在录音或销售个人认知中。</a:t>
            </a:r>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分析覆盖十个维度,分四组。需求洞察包括客户需求关注点提取和楼宇出售易主招商物业更换等商机识别。意向判断包括意向强弱判断和预算时间竞争对手决策人信息提取。质量评估包括话术使用分析、关键问题是否问全、沟通质量评分。合规与沉淀包括风险词和不规范话术识别、优秀话术沉淀和案例推荐、自动生成纪要和跟进建议。预计价值是,录音分析覆盖率达到百分之百,商机识别响应控制在一小时以内,优秀话术可复制、沟通质量可量化。</a:t>
            </a:r>
            <a:endParaRPr 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最后,我们看商业价值、落地路径和法本的保障能力。</a:t>
            </a:r>
            <a:endParaRPr 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大场景都带来可量化的价值。智能招聘,简历筛选效率提升超过百分之五十,招聘周期缩短百分之四十,简历采购成本下降百分之三十。智能商机,发现时效从天级到小时级,覆盖率提升三倍,重复信息自动去重。智能投标加客户归并,标书生产效率提升五倍,废标风险降低一半,历史标书资产可复用。智能营销,录音分析覆盖率百分之百,商机识别响应控制在一小时内,优秀话术可复制。需要说明的是,这些指标是预估值,后续可以按高力国际的实际业务量来校准。</a:t>
            </a:r>
            <a:endParaRPr 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落地分三阶段。第一阶段零到三个月试点,建议先选智能招聘和智能商机这两个高价值场景,验证价值并打通系统集成。第二阶段三到六个月扩展,四大场景全面铺开,客户归并和决策链作为核心能力重点建设。第三阶段六到十二个月闭环,打通端到端业务闭环,复盘回流持续优化,沉淀企业知识资产,完成私有化或混合部署。</a:t>
            </a:r>
            <a:endParaRPr 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为什么是法本。四个保障。能力底座上,FarAgent 平台加一加四加 X 产品矩阵加大模型和企业知识库。交付能力上,大型客户项目管理经验、行业解决方案沉淀、企业系统集成、端到端交付体系。安全合规上,支持私有化和混合部署,RBAC 权限控制,审计可追溯。生态合作上,信通院、智谱、MiniMax、华为、哈工大联合实验室,强强联合。这四点共同保障方案能真正落地、持续运营。</a:t>
            </a:r>
            <a:endParaRPr 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以上就是法本 FarAI 为高力国际打造的商业地产 AI 智能化解决方案。我们期待与高力国际携手,让 AI 真正成为商业地产增长的新引擎。感谢各位的聆听,期待深入的交流与合作。</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image" Target="../media/image7.jpeg"/><Relationship Id="rId5" Type="http://schemas.openxmlformats.org/officeDocument/2006/relationships/tags" Target="../tags/tag8.xml"/><Relationship Id="rId4" Type="http://schemas.openxmlformats.org/officeDocument/2006/relationships/image" Target="../media/image2.png"/><Relationship Id="rId3" Type="http://schemas.openxmlformats.org/officeDocument/2006/relationships/tags" Target="../tags/tag7.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7" name="组合 6"/>
          <p:cNvGrpSpPr/>
          <p:nvPr userDrawn="1"/>
        </p:nvGrpSpPr>
        <p:grpSpPr>
          <a:xfrm>
            <a:off x="0" y="0"/>
            <a:ext cx="12191365" cy="6857516"/>
            <a:chOff x="0" y="0"/>
            <a:chExt cx="38400" cy="21600"/>
          </a:xfrm>
        </p:grpSpPr>
        <p:pic>
          <p:nvPicPr>
            <p:cNvPr id="10" name="图片 9" descr="未标题-2"/>
            <p:cNvPicPr>
              <a:picLocks noChangeAspect="1"/>
            </p:cNvPicPr>
            <p:nvPr userDrawn="1"/>
          </p:nvPicPr>
          <p:blipFill>
            <a:blip r:embed="rId2"/>
            <a:stretch>
              <a:fillRect/>
            </a:stretch>
          </p:blipFill>
          <p:spPr>
            <a:xfrm>
              <a:off x="0" y="0"/>
              <a:ext cx="38400" cy="21600"/>
            </a:xfrm>
            <a:prstGeom prst="rect">
              <a:avLst/>
            </a:prstGeom>
          </p:spPr>
        </p:pic>
        <p:pic>
          <p:nvPicPr>
            <p:cNvPr id="11" name="图片 10"/>
            <p:cNvPicPr>
              <a:picLocks noChangeAspect="1"/>
            </p:cNvPicPr>
            <p:nvPr userDrawn="1">
              <p:custDataLst>
                <p:tags r:id="rId3"/>
              </p:custDataLst>
            </p:nvPr>
          </p:nvPicPr>
          <p:blipFill>
            <a:blip r:embed="rId4" cstate="screen"/>
            <a:stretch>
              <a:fillRect/>
            </a:stretch>
          </p:blipFill>
          <p:spPr>
            <a:xfrm>
              <a:off x="2164" y="1546"/>
              <a:ext cx="4126" cy="956"/>
            </a:xfrm>
            <a:prstGeom prst="rect">
              <a:avLst/>
            </a:prstGeom>
          </p:spPr>
        </p:pic>
        <p:sp>
          <p:nvSpPr>
            <p:cNvPr id="4" name="圆角矩形 3"/>
            <p:cNvSpPr/>
            <p:nvPr userDrawn="1"/>
          </p:nvSpPr>
          <p:spPr>
            <a:xfrm rot="6180000">
              <a:off x="23124" y="9832"/>
              <a:ext cx="2602" cy="930"/>
            </a:xfrm>
            <a:prstGeom prst="roundRect">
              <a:avLst>
                <a:gd name="adj" fmla="val 50000"/>
              </a:avLst>
            </a:prstGeom>
            <a:gradFill>
              <a:gsLst>
                <a:gs pos="0">
                  <a:schemeClr val="accent6">
                    <a:lumMod val="20000"/>
                    <a:lumOff val="80000"/>
                    <a:alpha val="95000"/>
                  </a:schemeClr>
                </a:gs>
                <a:gs pos="38000">
                  <a:schemeClr val="accent6">
                    <a:lumMod val="20000"/>
                    <a:lumOff val="80000"/>
                    <a:alpha val="79000"/>
                  </a:schemeClr>
                </a:gs>
                <a:gs pos="100000">
                  <a:srgbClr val="FF0000">
                    <a:alpha val="65000"/>
                  </a:srgbClr>
                </a:gs>
              </a:gsLst>
              <a:lin ang="10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zh-CN" altLang="en-US"/>
            </a:p>
          </p:txBody>
        </p:sp>
        <p:sp>
          <p:nvSpPr>
            <p:cNvPr id="19" name="Text Box 3"/>
            <p:cNvSpPr txBox="1">
              <a:spLocks noChangeArrowheads="1"/>
            </p:cNvSpPr>
            <p:nvPr userDrawn="1"/>
          </p:nvSpPr>
          <p:spPr bwMode="auto">
            <a:xfrm>
              <a:off x="2735" y="18372"/>
              <a:ext cx="10023" cy="2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29" tIns="45714" rIns="91429" bIns="45714">
              <a:spAutoFit/>
            </a:bodyPr>
            <a:lstStyle/>
            <a:p>
              <a:pPr algn="l" fontAlgn="auto">
                <a:lnSpc>
                  <a:spcPct val="125000"/>
                </a:lnSpc>
                <a:buFont typeface="Arial" panose="020B0604020202020204" pitchFamily="34" charset="0"/>
                <a:buNone/>
                <a:defRPr/>
              </a:pPr>
              <a:r>
                <a:rPr lang="zh-CN" altLang="en-US" sz="1400" cap="all" spc="100" dirty="0">
                  <a:solidFill>
                    <a:schemeClr val="bg1"/>
                  </a:solidFill>
                  <a:latin typeface="微软雅黑 Light" panose="020B0502040204020203" charset="-122"/>
                  <a:ea typeface="微软雅黑 Light" panose="020B0502040204020203" charset="-122"/>
                  <a:cs typeface="微软雅黑 Light" panose="020B0502040204020203" charset="-122"/>
                </a:rPr>
                <a:t>深圳市法本信息技术股份有限公司</a:t>
              </a:r>
              <a:endParaRPr lang="en-US" altLang="zh-CN" sz="1400" cap="all" spc="100" dirty="0">
                <a:solidFill>
                  <a:schemeClr val="bg1"/>
                </a:solidFill>
                <a:latin typeface="微软雅黑 Light" panose="020B0502040204020203" charset="-122"/>
                <a:ea typeface="微软雅黑 Light" panose="020B0502040204020203" charset="-122"/>
                <a:cs typeface="微软雅黑 Light" panose="020B0502040204020203" charset="-122"/>
              </a:endParaRPr>
            </a:p>
            <a:p>
              <a:pPr algn="l" fontAlgn="auto">
                <a:lnSpc>
                  <a:spcPct val="125000"/>
                </a:lnSpc>
                <a:defRPr/>
              </a:pPr>
              <a:r>
                <a:rPr lang="en-US" altLang="zh-CN" sz="1000" spc="-30" dirty="0" err="1">
                  <a:solidFill>
                    <a:schemeClr val="bg1"/>
                  </a:solidFill>
                  <a:latin typeface="微软雅黑 Light" panose="020B0502040204020203" charset="-122"/>
                  <a:ea typeface="微软雅黑 Light" panose="020B0502040204020203" charset="-122"/>
                  <a:cs typeface="微软雅黑 Light" panose="020B0502040204020203" charset="-122"/>
                </a:rPr>
                <a:t>Shenzhen Farben</a:t>
              </a:r>
              <a:r>
                <a:rPr lang="en-US" altLang="zh-CN" sz="1000" spc="-30" dirty="0">
                  <a:solidFill>
                    <a:schemeClr val="bg1"/>
                  </a:solidFill>
                  <a:latin typeface="微软雅黑 Light" panose="020B0502040204020203" charset="-122"/>
                  <a:ea typeface="微软雅黑 Light" panose="020B0502040204020203" charset="-122"/>
                  <a:cs typeface="微软雅黑 Light" panose="020B0502040204020203" charset="-122"/>
                </a:rPr>
                <a:t> Information Technology Co., Ltd.</a:t>
              </a:r>
              <a:endParaRPr lang="en-US" altLang="zh-CN" sz="1000" spc="-30" dirty="0">
                <a:solidFill>
                  <a:schemeClr val="bg1"/>
                </a:solidFill>
                <a:latin typeface="微软雅黑 Light" panose="020B0502040204020203" charset="-122"/>
                <a:ea typeface="微软雅黑 Light" panose="020B0502040204020203" charset="-122"/>
                <a:cs typeface="微软雅黑 Light" panose="020B0502040204020203" charset="-122"/>
              </a:endParaRPr>
            </a:p>
            <a:p>
              <a:pPr algn="l" fontAlgn="auto">
                <a:lnSpc>
                  <a:spcPct val="125000"/>
                </a:lnSpc>
                <a:buFont typeface="Arial" panose="020B0604020202020204" pitchFamily="34" charset="0"/>
                <a:buNone/>
                <a:defRPr/>
              </a:pPr>
              <a:endParaRPr lang="en-US" altLang="zh-CN" sz="1000" b="1" cap="all" spc="-30"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5" name="Text Box 3"/>
            <p:cNvSpPr txBox="1">
              <a:spLocks noChangeArrowheads="1"/>
            </p:cNvSpPr>
            <p:nvPr userDrawn="1"/>
          </p:nvSpPr>
          <p:spPr bwMode="auto">
            <a:xfrm>
              <a:off x="1893" y="2627"/>
              <a:ext cx="7386" cy="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29" tIns="45714" rIns="91429" bIns="45714">
              <a:spAutoFit/>
            </a:bodyPr>
            <a:lstStyle/>
            <a:p>
              <a:pPr algn="l" fontAlgn="auto">
                <a:lnSpc>
                  <a:spcPct val="125000"/>
                </a:lnSpc>
                <a:buFont typeface="Arial" panose="020B0604020202020204" pitchFamily="34" charset="0"/>
                <a:buNone/>
                <a:defRPr/>
              </a:pPr>
              <a:r>
                <a:rPr lang="en-US" sz="1000" cap="all" spc="700" dirty="0">
                  <a:solidFill>
                    <a:schemeClr val="bg1"/>
                  </a:solidFill>
                  <a:uFillTx/>
                  <a:latin typeface="微软雅黑 Light" panose="020B0502040204020203" charset="-122"/>
                  <a:ea typeface="微软雅黑 Light" panose="020B0502040204020203" charset="-122"/>
                  <a:cs typeface="微软雅黑 Light" panose="020B0502040204020203" charset="-122"/>
                </a:rPr>
                <a:t>300925.SZ</a:t>
              </a:r>
              <a:endParaRPr lang="en-US" sz="1000" b="1" cap="all" spc="700" dirty="0">
                <a:solidFill>
                  <a:schemeClr val="bg1"/>
                </a:solidFill>
                <a:uFillTx/>
                <a:latin typeface="微软雅黑 Light" panose="020B0502040204020203" charset="-122"/>
                <a:ea typeface="微软雅黑 Light" panose="020B0502040204020203" charset="-122"/>
                <a:cs typeface="微软雅黑 Light" panose="020B0502040204020203" charset="-122"/>
              </a:endParaRPr>
            </a:p>
          </p:txBody>
        </p:sp>
      </p:grpSp>
      <p:sp>
        <p:nvSpPr>
          <p:cNvPr id="2" name="标题 1"/>
          <p:cNvSpPr txBox="1">
            <a:spLocks noGrp="1"/>
          </p:cNvSpPr>
          <p:nvPr>
            <p:ph type="ctrTitle" hasCustomPrompt="1"/>
            <p:custDataLst>
              <p:tags r:id="rId5"/>
            </p:custDataLst>
          </p:nvPr>
        </p:nvSpPr>
        <p:spPr>
          <a:xfrm>
            <a:off x="867965" y="2239010"/>
            <a:ext cx="9799200" cy="1753235"/>
          </a:xfrm>
          <a:noFill/>
        </p:spPr>
        <p:txBody>
          <a:bodyPr wrap="square" lIns="91440" tIns="45720" rIns="91440" bIns="45720" rtlCol="0" anchor="t" anchorCtr="0">
            <a:spAutoFit/>
          </a:bodyPr>
          <a:lstStyle>
            <a:lvl1pPr marL="0" marR="0" algn="l" defTabSz="914400" rtl="0" eaLnBrk="1" fontAlgn="auto" latinLnBrk="0" hangingPunct="1">
              <a:lnSpc>
                <a:spcPct val="100000"/>
              </a:lnSpc>
              <a:buClrTx/>
              <a:buSzTx/>
              <a:buFontTx/>
              <a:buNone/>
              <a:defRPr/>
            </a:lvl1pPr>
          </a:lstStyle>
          <a:p>
            <a:pPr lvl="0"/>
            <a:r>
              <a:rPr>
                <a:sym typeface="+mn-ea"/>
              </a:rPr>
              <a:t>单击此处编辑</a:t>
            </a:r>
            <a:br>
              <a:rPr>
                <a:sym typeface="+mn-ea"/>
              </a:rPr>
            </a:br>
            <a:r>
              <a:rPr>
                <a:sym typeface="+mn-ea"/>
              </a:rPr>
              <a:t>母版标题样式</a:t>
            </a:r>
            <a:endParaRPr>
              <a:sym typeface="+mn-ea"/>
            </a:endParaRPr>
          </a:p>
        </p:txBody>
      </p:sp>
      <p:sp>
        <p:nvSpPr>
          <p:cNvPr id="3" name="副标题 2"/>
          <p:cNvSpPr>
            <a:spLocks noGrp="1"/>
          </p:cNvSpPr>
          <p:nvPr>
            <p:ph type="subTitle" idx="1"/>
            <p:custDataLst>
              <p:tags r:id="rId6"/>
            </p:custDataLst>
          </p:nvPr>
        </p:nvSpPr>
        <p:spPr>
          <a:xfrm>
            <a:off x="867965" y="4218895"/>
            <a:ext cx="9799200" cy="1472400"/>
          </a:xfrm>
        </p:spPr>
        <p:txBody>
          <a:bodyPr lIns="90000" tIns="46800" rIns="90000" bIns="46800">
            <a:normAutofit/>
          </a:bodyPr>
          <a:lstStyle>
            <a:lvl1pPr marL="0" indent="0" algn="l">
              <a:lnSpc>
                <a:spcPct val="110000"/>
              </a:lnSpc>
              <a:buNone/>
              <a:defRPr sz="2000" spc="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1">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a:gsLst>
              <a:gs pos="0">
                <a:srgbClr val="094F8A">
                  <a:alpha val="91000"/>
                </a:srgbClr>
              </a:gs>
              <a:gs pos="73000">
                <a:srgbClr val="0463C4">
                  <a:alpha val="85000"/>
                </a:srgbClr>
              </a:gs>
              <a:gs pos="100000">
                <a:srgbClr val="0070C0">
                  <a:alpha val="82000"/>
                </a:srgbClr>
              </a:gs>
            </a:gsLst>
            <a:lin ang="1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900">
              <a:sym typeface="+mn-ea"/>
            </a:endParaRPr>
          </a:p>
        </p:txBody>
      </p:sp>
      <p:grpSp>
        <p:nvGrpSpPr>
          <p:cNvPr id="9" name="组合 8"/>
          <p:cNvGrpSpPr/>
          <p:nvPr userDrawn="1"/>
        </p:nvGrpSpPr>
        <p:grpSpPr>
          <a:xfrm>
            <a:off x="1355635" y="2252980"/>
            <a:ext cx="2585720" cy="1588770"/>
            <a:chOff x="2350635" y="2194006"/>
            <a:chExt cx="2585664" cy="1588937"/>
          </a:xfrm>
        </p:grpSpPr>
        <p:sp>
          <p:nvSpPr>
            <p:cNvPr id="10" name="文本框 9"/>
            <p:cNvSpPr txBox="1"/>
            <p:nvPr/>
          </p:nvSpPr>
          <p:spPr>
            <a:xfrm>
              <a:off x="3527685" y="3075057"/>
              <a:ext cx="1210588" cy="707886"/>
            </a:xfrm>
            <a:prstGeom prst="rect">
              <a:avLst/>
            </a:prstGeom>
            <a:noFill/>
          </p:spPr>
          <p:txBody>
            <a:bodyPr wrap="none" rtlCol="0">
              <a:spAutoFit/>
            </a:bodyPr>
            <a:lstStyle/>
            <a:p>
              <a:r>
                <a:rPr lang="zh-CN" altLang="en-US" sz="4000" dirty="0">
                  <a:solidFill>
                    <a:schemeClr val="bg1"/>
                  </a:solidFill>
                  <a:cs typeface="+mn-ea"/>
                  <a:sym typeface="+mn-lt"/>
                </a:rPr>
                <a:t>目录</a:t>
              </a:r>
              <a:endParaRPr lang="zh-CN" altLang="en-US" sz="4400" dirty="0">
                <a:solidFill>
                  <a:schemeClr val="bg1"/>
                </a:solidFill>
                <a:cs typeface="+mn-ea"/>
                <a:sym typeface="+mn-lt"/>
              </a:endParaRPr>
            </a:p>
          </p:txBody>
        </p:sp>
        <p:sp>
          <p:nvSpPr>
            <p:cNvPr id="12" name="文本框 11"/>
            <p:cNvSpPr txBox="1"/>
            <p:nvPr/>
          </p:nvSpPr>
          <p:spPr>
            <a:xfrm>
              <a:off x="2350635" y="2194006"/>
              <a:ext cx="2585664" cy="922117"/>
            </a:xfrm>
            <a:prstGeom prst="rect">
              <a:avLst/>
            </a:prstGeom>
            <a:noFill/>
          </p:spPr>
          <p:txBody>
            <a:bodyPr wrap="none" rtlCol="0">
              <a:spAutoFit/>
            </a:bodyPr>
            <a:lstStyle/>
            <a:p>
              <a:r>
                <a:rPr lang="en-US" altLang="zh-CN" sz="5400" dirty="0">
                  <a:solidFill>
                    <a:schemeClr val="bg1"/>
                  </a:solidFill>
                  <a:latin typeface="+mj-lt"/>
                  <a:ea typeface="微软雅黑" panose="020B0503020204020204" charset="-122"/>
                  <a:cs typeface="+mj-lt"/>
                  <a:sym typeface="+mn-lt"/>
                </a:rPr>
                <a:t>Content</a:t>
              </a:r>
              <a:endParaRPr lang="en-US" altLang="zh-CN" sz="5400" dirty="0">
                <a:solidFill>
                  <a:schemeClr val="bg1"/>
                </a:solidFill>
                <a:latin typeface="+mj-lt"/>
                <a:ea typeface="微软雅黑" panose="020B0503020204020204" charset="-122"/>
                <a:cs typeface="+mj-lt"/>
                <a:sym typeface="+mn-lt"/>
              </a:endParaRPr>
            </a:p>
          </p:txBody>
        </p:sp>
      </p:grpSp>
      <p:pic>
        <p:nvPicPr>
          <p:cNvPr id="25" name="图片 24" descr="法本LOGO反白"/>
          <p:cNvPicPr>
            <a:picLocks noChangeAspect="1"/>
          </p:cNvPicPr>
          <p:nvPr userDrawn="1"/>
        </p:nvPicPr>
        <p:blipFill>
          <a:blip r:embed="rId3" cstate="screen">
            <a:alphaModFix amt="69000"/>
          </a:blip>
          <a:stretch>
            <a:fillRect/>
          </a:stretch>
        </p:blipFill>
        <p:spPr>
          <a:xfrm>
            <a:off x="937260" y="6092190"/>
            <a:ext cx="936000" cy="21649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2" name="矩形 21" descr="纽约世贸中心广场"/>
          <p:cNvSpPr/>
          <p:nvPr userDrawn="1"/>
        </p:nvSpPr>
        <p:spPr>
          <a:xfrm>
            <a:off x="-17147" y="-7620"/>
            <a:ext cx="5316108" cy="6865620"/>
          </a:xfrm>
          <a:prstGeom prst="rect">
            <a:avLst/>
          </a:prstGeom>
          <a:blipFill rotWithShape="1">
            <a:blip r:embed="rId2"/>
            <a:stretch>
              <a:fillRect l="-11000" r="-32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p>
        </p:txBody>
      </p:sp>
      <p:sp>
        <p:nvSpPr>
          <p:cNvPr id="23" name="矩形 22"/>
          <p:cNvSpPr/>
          <p:nvPr userDrawn="1"/>
        </p:nvSpPr>
        <p:spPr>
          <a:xfrm>
            <a:off x="0" y="-7620"/>
            <a:ext cx="5316108" cy="6865620"/>
          </a:xfrm>
          <a:prstGeom prst="rect">
            <a:avLst/>
          </a:prstGeom>
          <a:gradFill>
            <a:gsLst>
              <a:gs pos="0">
                <a:srgbClr val="094F8A">
                  <a:alpha val="91000"/>
                </a:srgbClr>
              </a:gs>
              <a:gs pos="73000">
                <a:srgbClr val="0463C4">
                  <a:alpha val="85000"/>
                </a:srgbClr>
              </a:gs>
              <a:gs pos="100000">
                <a:srgbClr val="0070C0">
                  <a:alpha val="82000"/>
                </a:srgbClr>
              </a:gs>
            </a:gsLst>
            <a:lin ang="1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p>
        </p:txBody>
      </p:sp>
      <p:sp>
        <p:nvSpPr>
          <p:cNvPr id="24" name="文本框 23"/>
          <p:cNvSpPr txBox="1"/>
          <p:nvPr userDrawn="1"/>
        </p:nvSpPr>
        <p:spPr>
          <a:xfrm>
            <a:off x="562507" y="6100128"/>
            <a:ext cx="3027661" cy="337185"/>
          </a:xfrm>
          <a:prstGeom prst="rect">
            <a:avLst/>
          </a:prstGeom>
          <a:noFill/>
        </p:spPr>
        <p:txBody>
          <a:bodyPr wrap="square" rtlCol="0" anchor="t">
            <a:spAutoFit/>
          </a:bodyPr>
          <a:lstStyle/>
          <a:p>
            <a:pPr algn="l"/>
            <a:r>
              <a:rPr lang="zh-CN" altLang="en-US" sz="1600">
                <a:solidFill>
                  <a:schemeClr val="bg1"/>
                </a:solidFill>
                <a:latin typeface="微软雅黑 Light" panose="020B0502040204020203" charset="-122"/>
                <a:ea typeface="微软雅黑 Light" panose="020B0502040204020203" charset="-122"/>
                <a:sym typeface="+mn-ea"/>
              </a:rPr>
              <a:t>软件定义世界的赋能者</a:t>
            </a:r>
            <a:endParaRPr lang="zh-CN" altLang="en-US" sz="1600">
              <a:solidFill>
                <a:schemeClr val="bg1"/>
              </a:solidFill>
              <a:latin typeface="微软雅黑 Light" panose="020B0502040204020203" charset="-122"/>
              <a:ea typeface="微软雅黑 Light" panose="020B0502040204020203" charset="-122"/>
              <a:sym typeface="+mn-ea"/>
            </a:endParaRPr>
          </a:p>
        </p:txBody>
      </p:sp>
      <p:pic>
        <p:nvPicPr>
          <p:cNvPr id="25" name="图片 24" descr="法本LOGO反白"/>
          <p:cNvPicPr>
            <a:picLocks noChangeAspect="1"/>
          </p:cNvPicPr>
          <p:nvPr userDrawn="1"/>
        </p:nvPicPr>
        <p:blipFill>
          <a:blip r:embed="rId3" cstate="print"/>
          <a:stretch>
            <a:fillRect/>
          </a:stretch>
        </p:blipFill>
        <p:spPr>
          <a:xfrm>
            <a:off x="448354" y="414338"/>
            <a:ext cx="1061507" cy="245428"/>
          </a:xfrm>
          <a:prstGeom prst="rect">
            <a:avLst/>
          </a:prstGeom>
        </p:spPr>
      </p:pic>
      <p:sp>
        <p:nvSpPr>
          <p:cNvPr id="3" name="文本占位符 2"/>
          <p:cNvSpPr txBox="1">
            <a:spLocks noGrp="1"/>
          </p:cNvSpPr>
          <p:nvPr>
            <p:ph type="body" idx="1" hasCustomPrompt="1"/>
            <p:custDataLst>
              <p:tags r:id="rId4"/>
            </p:custDataLst>
          </p:nvPr>
        </p:nvSpPr>
        <p:spPr>
          <a:xfrm>
            <a:off x="2684220" y="3451880"/>
            <a:ext cx="7768800" cy="867600"/>
          </a:xfrm>
        </p:spPr>
        <p:txBody>
          <a:bodyPr vert="horz" wrap="square" lIns="0" tIns="0" rIns="0" bIns="0" rtlCol="0" anchor="t" anchorCtr="0">
            <a:noAutofit/>
          </a:bodyPr>
          <a:lstStyle>
            <a:lvl1pPr marL="0" marR="0" indent="0" algn="r" defTabSz="914400" rtl="0" eaLnBrk="1" fontAlgn="auto" latinLnBrk="0" hangingPunct="1">
              <a:lnSpc>
                <a:spcPct val="150000"/>
              </a:lnSpc>
              <a:buClrTx/>
              <a:buSzTx/>
              <a:buFont typeface="Arial" panose="020B0604020202020204" pitchFamily="34" charset="0"/>
              <a:buNone/>
              <a:defRPr kumimoji="0" lang="zh-CN" altLang="en-US" sz="4000" b="1" i="0" u="none" strike="noStrike" kern="1200" cap="none" spc="0" normalizeH="0" baseline="0" noProof="1" dirty="0">
                <a:solidFill>
                  <a:srgbClr val="0463C4"/>
                </a:solidFill>
                <a:latin typeface="微软雅黑" panose="020B0503020204020204" charset="-122"/>
                <a:ea typeface="微软雅黑" panose="020B0503020204020204" charset="-122"/>
                <a:cs typeface="+mn-cs"/>
                <a:sym typeface="+mn-ea"/>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sym typeface="+mn-ea"/>
              </a:rPr>
              <a:t>单击此处编辑文本</a:t>
            </a:r>
            <a:endParaRPr>
              <a:sym typeface="+mn-ea"/>
            </a:endParaRPr>
          </a:p>
        </p:txBody>
      </p:sp>
      <p:grpSp>
        <p:nvGrpSpPr>
          <p:cNvPr id="31" name="组合 30"/>
          <p:cNvGrpSpPr/>
          <p:nvPr userDrawn="1"/>
        </p:nvGrpSpPr>
        <p:grpSpPr>
          <a:xfrm>
            <a:off x="1104265" y="2475230"/>
            <a:ext cx="3272155" cy="1584960"/>
            <a:chOff x="2211" y="3975"/>
            <a:chExt cx="3965" cy="1034"/>
          </a:xfrm>
        </p:grpSpPr>
        <p:sp>
          <p:nvSpPr>
            <p:cNvPr id="32" name="文本框 31"/>
            <p:cNvSpPr txBox="1"/>
            <p:nvPr>
              <p:custDataLst>
                <p:tags r:id="rId5"/>
              </p:custDataLst>
            </p:nvPr>
          </p:nvSpPr>
          <p:spPr>
            <a:xfrm>
              <a:off x="3968" y="4548"/>
              <a:ext cx="1701" cy="461"/>
            </a:xfrm>
            <a:prstGeom prst="rect">
              <a:avLst/>
            </a:prstGeom>
            <a:noFill/>
          </p:spPr>
          <p:txBody>
            <a:bodyPr wrap="square" rtlCol="0">
              <a:spAutoFit/>
            </a:bodyPr>
            <a:lstStyle/>
            <a:p>
              <a:r>
                <a:rPr lang="zh-CN" altLang="en-US" sz="4000" dirty="0">
                  <a:solidFill>
                    <a:schemeClr val="bg1"/>
                  </a:solidFill>
                  <a:cs typeface="+mn-ea"/>
                  <a:sym typeface="+mn-lt"/>
                </a:rPr>
                <a:t>章节</a:t>
              </a:r>
              <a:endParaRPr lang="zh-CN" altLang="en-US" sz="4000" dirty="0">
                <a:solidFill>
                  <a:schemeClr val="bg1"/>
                </a:solidFill>
                <a:cs typeface="+mn-ea"/>
                <a:sym typeface="+mn-lt"/>
              </a:endParaRPr>
            </a:p>
          </p:txBody>
        </p:sp>
        <p:sp>
          <p:nvSpPr>
            <p:cNvPr id="33" name="文本框 32"/>
            <p:cNvSpPr txBox="1"/>
            <p:nvPr>
              <p:custDataLst>
                <p:tags r:id="rId6"/>
              </p:custDataLst>
            </p:nvPr>
          </p:nvSpPr>
          <p:spPr>
            <a:xfrm>
              <a:off x="2211" y="3975"/>
              <a:ext cx="3965" cy="637"/>
            </a:xfrm>
            <a:prstGeom prst="rect">
              <a:avLst/>
            </a:prstGeom>
            <a:noFill/>
          </p:spPr>
          <p:txBody>
            <a:bodyPr wrap="square" rtlCol="0">
              <a:spAutoFit/>
            </a:bodyPr>
            <a:lstStyle/>
            <a:p>
              <a:r>
                <a:rPr lang="en-US" altLang="zh-CN" sz="5750" dirty="0">
                  <a:solidFill>
                    <a:schemeClr val="bg1"/>
                  </a:solidFill>
                  <a:cs typeface="+mn-ea"/>
                  <a:sym typeface="+mn-lt"/>
                </a:rPr>
                <a:t>Chapter</a:t>
              </a:r>
              <a:endParaRPr lang="en-US" altLang="zh-CN" sz="5750" dirty="0">
                <a:solidFill>
                  <a:schemeClr val="bg1"/>
                </a:solidFill>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0" name="图片 9" descr="未标题-2"/>
          <p:cNvPicPr>
            <a:picLocks noChangeAspect="1"/>
          </p:cNvPicPr>
          <p:nvPr userDrawn="1"/>
        </p:nvPicPr>
        <p:blipFill>
          <a:blip r:embed="rId2"/>
          <a:stretch>
            <a:fillRect/>
          </a:stretch>
        </p:blipFill>
        <p:spPr>
          <a:xfrm>
            <a:off x="600" y="0"/>
            <a:ext cx="12192000" cy="6858000"/>
          </a:xfrm>
          <a:prstGeom prst="rect">
            <a:avLst/>
          </a:prstGeom>
        </p:spPr>
      </p:pic>
      <p:pic>
        <p:nvPicPr>
          <p:cNvPr id="11" name="图片 10"/>
          <p:cNvPicPr>
            <a:picLocks noChangeAspect="1"/>
          </p:cNvPicPr>
          <p:nvPr userDrawn="1">
            <p:custDataLst>
              <p:tags r:id="rId3"/>
            </p:custDataLst>
          </p:nvPr>
        </p:nvPicPr>
        <p:blipFill>
          <a:blip r:embed="rId4" cstate="screen"/>
          <a:stretch>
            <a:fillRect/>
          </a:stretch>
        </p:blipFill>
        <p:spPr>
          <a:xfrm>
            <a:off x="823560" y="605155"/>
            <a:ext cx="1310005" cy="303530"/>
          </a:xfrm>
          <a:prstGeom prst="rect">
            <a:avLst/>
          </a:prstGeom>
        </p:spPr>
      </p:pic>
      <p:sp>
        <p:nvSpPr>
          <p:cNvPr id="13" name="文本框 12"/>
          <p:cNvSpPr txBox="1"/>
          <p:nvPr userDrawn="1">
            <p:custDataLst>
              <p:tags r:id="rId5"/>
            </p:custDataLst>
          </p:nvPr>
        </p:nvSpPr>
        <p:spPr>
          <a:xfrm>
            <a:off x="823560" y="2409825"/>
            <a:ext cx="6223635" cy="922020"/>
          </a:xfrm>
          <a:prstGeom prst="rect">
            <a:avLst/>
          </a:prstGeom>
          <a:noFill/>
        </p:spPr>
        <p:txBody>
          <a:bodyPr wrap="square" rtlCol="0">
            <a:spAutoFit/>
          </a:bodyPr>
          <a:lstStyle/>
          <a:p>
            <a:r>
              <a:rPr lang="en-US" sz="5400">
                <a:solidFill>
                  <a:schemeClr val="bg1"/>
                </a:solidFill>
                <a:latin typeface="微软雅黑" panose="020B0503020204020204" charset="-122"/>
                <a:ea typeface="微软雅黑" panose="020B0503020204020204" charset="-122"/>
                <a:cs typeface="微软雅黑" panose="020B0503020204020204" charset="-122"/>
              </a:rPr>
              <a:t>THANK YOU</a:t>
            </a:r>
            <a:endParaRPr lang="en-US" sz="54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6" name="图片 5" descr="订阅号二维码"/>
          <p:cNvPicPr>
            <a:picLocks noChangeAspect="1"/>
          </p:cNvPicPr>
          <p:nvPr userDrawn="1"/>
        </p:nvPicPr>
        <p:blipFill>
          <a:blip r:embed="rId6" cstate="screen"/>
          <a:stretch>
            <a:fillRect/>
          </a:stretch>
        </p:blipFill>
        <p:spPr>
          <a:xfrm>
            <a:off x="974690" y="4037965"/>
            <a:ext cx="1428115" cy="1428115"/>
          </a:xfrm>
          <a:prstGeom prst="rect">
            <a:avLst/>
          </a:prstGeom>
        </p:spPr>
      </p:pic>
      <p:sp>
        <p:nvSpPr>
          <p:cNvPr id="8" name="文本框 7"/>
          <p:cNvSpPr txBox="1"/>
          <p:nvPr userDrawn="1">
            <p:custDataLst>
              <p:tags r:id="rId7"/>
            </p:custDataLst>
          </p:nvPr>
        </p:nvSpPr>
        <p:spPr>
          <a:xfrm>
            <a:off x="2678937" y="4230370"/>
            <a:ext cx="995680" cy="337185"/>
          </a:xfrm>
          <a:prstGeom prst="rect">
            <a:avLst/>
          </a:prstGeom>
          <a:noFill/>
        </p:spPr>
        <p:txBody>
          <a:bodyPr wrap="none" rtlCol="0">
            <a:spAutoFit/>
          </a:bodyPr>
          <a:lstStyle/>
          <a:p>
            <a:r>
              <a:rPr lang="zh-CN" altLang="en-US" sz="1600" dirty="0">
                <a:solidFill>
                  <a:schemeClr val="bg1"/>
                </a:solidFill>
                <a:latin typeface="微软雅黑" panose="020B0503020204020204" charset="-122"/>
                <a:ea typeface="微软雅黑" panose="020B0503020204020204" charset="-122"/>
                <a:cs typeface="Arial" panose="020B0604020202020204" pitchFamily="34" charset="0"/>
              </a:rPr>
              <a:t>法本信息</a:t>
            </a:r>
            <a:endParaRPr lang="zh-CN" altLang="en-US" sz="1600"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15" name="文本框 14"/>
          <p:cNvSpPr txBox="1"/>
          <p:nvPr userDrawn="1">
            <p:custDataLst>
              <p:tags r:id="rId8"/>
            </p:custDataLst>
          </p:nvPr>
        </p:nvSpPr>
        <p:spPr>
          <a:xfrm>
            <a:off x="2679030" y="4575175"/>
            <a:ext cx="4479290" cy="922020"/>
          </a:xfrm>
          <a:prstGeom prst="rect">
            <a:avLst/>
          </a:prstGeom>
          <a:noFill/>
        </p:spPr>
        <p:txBody>
          <a:bodyPr wrap="square" rtlCol="0">
            <a:spAutoFit/>
          </a:bodyPr>
          <a:lstStyle/>
          <a:p>
            <a:pPr indent="0" algn="l" fontAlgn="auto">
              <a:lnSpc>
                <a:spcPct val="150000"/>
              </a:lnSpc>
              <a:defRPr/>
            </a:pPr>
            <a:r>
              <a:rPr lang="zh-CN" altLang="en-US"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广东省深圳市南山区高新北六道</a:t>
            </a:r>
            <a:r>
              <a:rPr lang="en-US" altLang="zh-CN"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15</a:t>
            </a:r>
            <a:r>
              <a:rPr lang="zh-CN" altLang="en-US"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号威大科技园</a:t>
            </a:r>
            <a:r>
              <a:rPr lang="en-US" altLang="zh-CN"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B</a:t>
            </a:r>
            <a:r>
              <a:rPr lang="zh-CN" altLang="en-US"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座</a:t>
            </a:r>
            <a:endParaRPr lang="zh-CN" altLang="en-US"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a:p>
            <a:pPr indent="0" algn="l" fontAlgn="auto">
              <a:lnSpc>
                <a:spcPct val="150000"/>
              </a:lnSpc>
              <a:defRPr/>
            </a:pPr>
            <a:r>
              <a:rPr lang="en-US"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www.farben.com.cn</a:t>
            </a:r>
            <a:endParaRPr lang="zh-CN" altLang="en-US"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a:p>
            <a:pPr indent="0" algn="l" fontAlgn="auto">
              <a:lnSpc>
                <a:spcPct val="150000"/>
              </a:lnSpc>
              <a:defRPr/>
            </a:pPr>
            <a:r>
              <a:rPr lang="en-US" altLang="zh-CN"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0755-2363 3188</a:t>
            </a:r>
            <a:endParaRPr lang="en-US" altLang="zh-CN" sz="1200" spc="-23" dirty="0">
              <a:solidFill>
                <a:schemeClr val="bg1"/>
              </a:solidFill>
              <a:effectLst/>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9" name="Text Box 3"/>
          <p:cNvSpPr txBox="1">
            <a:spLocks noChangeArrowheads="1"/>
          </p:cNvSpPr>
          <p:nvPr userDrawn="1"/>
        </p:nvSpPr>
        <p:spPr bwMode="auto">
          <a:xfrm>
            <a:off x="792445" y="948373"/>
            <a:ext cx="2345055" cy="236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14" tIns="22857" rIns="45714" bIns="22857">
            <a:spAutoFit/>
          </a:bodyPr>
          <a:lstStyle/>
          <a:p>
            <a:pPr algn="l" fontAlgn="auto">
              <a:lnSpc>
                <a:spcPct val="125000"/>
              </a:lnSpc>
              <a:buFont typeface="Arial" panose="020B0604020202020204" pitchFamily="34" charset="0"/>
              <a:buNone/>
              <a:defRPr/>
            </a:pPr>
            <a:r>
              <a:rPr lang="en-US" sz="1000" cap="all" spc="700" dirty="0">
                <a:solidFill>
                  <a:schemeClr val="bg1"/>
                </a:solidFill>
                <a:uFillTx/>
                <a:latin typeface="微软雅黑 Light" panose="020B0502040204020203" charset="-122"/>
                <a:ea typeface="微软雅黑 Light" panose="020B0502040204020203" charset="-122"/>
                <a:cs typeface="微软雅黑 Light" panose="020B0502040204020203" charset="-122"/>
              </a:rPr>
              <a:t>300925.SZ</a:t>
            </a:r>
            <a:endParaRPr lang="en-US" sz="1000" b="1" cap="all" spc="700" dirty="0">
              <a:solidFill>
                <a:schemeClr val="bg1"/>
              </a:solidFill>
              <a:uFillTx/>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custDataLst>
              <p:tags r:id="rId1"/>
            </p:custDataLst>
          </p:nvPr>
        </p:nvSpPr>
        <p:spPr>
          <a:xfrm>
            <a:off x="867965" y="2239010"/>
            <a:ext cx="9799200" cy="1753235"/>
          </a:xfrm>
        </p:spPr>
        <p:txBody>
          <a:bodyPr/>
          <a:p>
            <a:r>
              <a:rPr lang="zh-CN" sz="5400" b="1" dirty="0">
                <a:solidFill>
                  <a:schemeClr val="bg1"/>
                </a:solidFill>
                <a:latin typeface="Arial" panose="020B0604020202020204"/>
                <a:ea typeface="微软雅黑" panose="020B0503020204020204" charset="-122"/>
                <a:cs typeface="Arial" panose="020B0604020202020204"/>
                <a:sym typeface="+mn-ea"/>
              </a:rPr>
              <a:t>商业地产 AI 智能化</a:t>
            </a:r>
            <a:br>
              <a:rPr lang="zh-CN" sz="5400" b="1" dirty="0">
                <a:solidFill>
                  <a:schemeClr val="bg1"/>
                </a:solidFill>
                <a:latin typeface="Arial" panose="020B0604020202020204"/>
                <a:ea typeface="微软雅黑" panose="020B0503020204020204" charset="-122"/>
                <a:cs typeface="Arial" panose="020B0604020202020204"/>
                <a:sym typeface="+mn-ea"/>
              </a:rPr>
            </a:br>
            <a:r>
              <a:rPr lang="zh-CN" sz="5400" b="1" dirty="0">
                <a:solidFill>
                  <a:schemeClr val="bg1"/>
                </a:solidFill>
                <a:latin typeface="Arial" panose="020B0604020202020204"/>
                <a:ea typeface="微软雅黑" panose="020B0503020204020204" charset="-122"/>
                <a:cs typeface="Arial" panose="020B0604020202020204"/>
                <a:sym typeface="+mn-ea"/>
              </a:rPr>
              <a:t>解决方案</a:t>
            </a:r>
            <a:endParaRPr lang="zh-CN" altLang="en-US" sz="5400" b="1" dirty="0">
              <a:solidFill>
                <a:schemeClr val="bg1"/>
              </a:solidFill>
              <a:latin typeface="Arial" panose="020B0604020202020204"/>
              <a:ea typeface="微软雅黑" panose="020B0503020204020204" charset="-122"/>
              <a:cs typeface="Arial" panose="020B0604020202020204"/>
              <a:sym typeface="+mn-ea"/>
            </a:endParaRPr>
          </a:p>
        </p:txBody>
      </p:sp>
      <p:sp>
        <p:nvSpPr>
          <p:cNvPr id="3" name="副标题 2"/>
          <p:cNvSpPr>
            <a:spLocks noGrp="1"/>
          </p:cNvSpPr>
          <p:nvPr>
            <p:ph type="subTitle" idx="1"/>
            <p:custDataLst>
              <p:tags r:id="rId2"/>
            </p:custDataLst>
          </p:nvPr>
        </p:nvSpPr>
        <p:spPr>
          <a:xfrm>
            <a:off x="868045" y="3992245"/>
            <a:ext cx="9799320" cy="382905"/>
          </a:xfrm>
        </p:spPr>
        <p:txBody>
          <a:bodyPr>
            <a:normAutofit fontScale="90000" lnSpcReduction="20000"/>
          </a:bodyPr>
          <a:p>
            <a:r>
              <a:rPr lang="zh-CN" b="1" dirty="0">
                <a:solidFill>
                  <a:schemeClr val="bg1"/>
                </a:solidFill>
                <a:latin typeface="Arial" panose="020B0604020202020204"/>
                <a:ea typeface="微软雅黑" panose="020B0503020204020204" charset="-122"/>
                <a:cs typeface="Arial" panose="020B0604020202020204"/>
                <a:sym typeface="+mn-ea"/>
              </a:rPr>
              <a:t>一个平台 · 四大场景 · 一个闭环 </a:t>
            </a:r>
            <a:endParaRPr lang="zh-CN" b="1" dirty="0">
              <a:solidFill>
                <a:schemeClr val="bg1"/>
              </a:solidFill>
              <a:latin typeface="Arial" panose="020B0604020202020204"/>
              <a:ea typeface="微软雅黑" panose="020B0503020204020204" charset="-122"/>
              <a:cs typeface="Arial" panose="020B0604020202020204"/>
              <a:sym typeface="+mn-ea"/>
            </a:endParaRPr>
          </a:p>
          <a:p>
            <a:endParaRPr lang="zh-CN" altLang="en-US" b="1" dirty="0">
              <a:solidFill>
                <a:schemeClr val="bg1"/>
              </a:solidFill>
              <a:latin typeface="Arial" panose="020B0604020202020204"/>
              <a:ea typeface="微软雅黑" panose="020B0503020204020204" charset="-122"/>
              <a:cs typeface="Arial" panose="020B0604020202020204"/>
              <a:sym typeface="+mn-ea"/>
            </a:endParaRPr>
          </a:p>
        </p:txBody>
      </p:sp>
      <p:sp>
        <p:nvSpPr>
          <p:cNvPr id="4" name="副标题 2"/>
          <p:cNvSpPr>
            <a:spLocks noGrp="1"/>
          </p:cNvSpPr>
          <p:nvPr>
            <p:custDataLst>
              <p:tags r:id="rId3"/>
            </p:custDataLst>
          </p:nvPr>
        </p:nvSpPr>
        <p:spPr>
          <a:xfrm>
            <a:off x="994965" y="4345895"/>
            <a:ext cx="9799200" cy="1472400"/>
          </a:xfrm>
          <a:prstGeom prst="rect">
            <a:avLst/>
          </a:prstGeom>
        </p:spPr>
        <p:txBody>
          <a:bodyPr vert="horz" lIns="90000" tIns="46800" rIns="90000" bIns="46800" rtlCol="0">
            <a:normAutofit/>
          </a:bodyPr>
          <a:lstStyle>
            <a:lvl1pPr marL="0" indent="0" algn="l" defTabSz="914400" rtl="0" eaLnBrk="1" fontAlgn="auto" latinLnBrk="0" hangingPunct="1">
              <a:lnSpc>
                <a:spcPct val="110000"/>
              </a:lnSpc>
              <a:spcBef>
                <a:spcPts val="0"/>
              </a:spcBef>
              <a:spcAft>
                <a:spcPts val="1000"/>
              </a:spcAft>
              <a:buFont typeface="Arial" panose="020B0604020202020204" pitchFamily="34" charset="0"/>
              <a:buNone/>
              <a:defRPr sz="2000" u="none" strike="noStrike" kern="1200" cap="none" spc="200" normalizeH="0" baseline="0">
                <a:solidFill>
                  <a:schemeClr val="bg1"/>
                </a:solidFill>
                <a:uFillTx/>
                <a:latin typeface="+mn-lt"/>
                <a:ea typeface="+mn-ea"/>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mn-lt"/>
                <a:ea typeface="+mn-ea"/>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mn-lt"/>
                <a:ea typeface="+mn-ea"/>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mn-lt"/>
                <a:ea typeface="+mn-ea"/>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dirty="0">
                <a:cs typeface="Arial" panose="020B0604020202020204" pitchFamily="34" charset="0"/>
                <a:sym typeface="+mn-ea"/>
              </a:rPr>
              <a:t>领先的软硬一体化、解决方案服务商</a:t>
            </a:r>
            <a:endParaRPr lang="zh-CN" altLang="en-US" dirty="0">
              <a:cs typeface="Arial" panose="020B0604020202020204" pitchFamily="34" charset="0"/>
              <a:sym typeface="+mn-ea"/>
            </a:endParaRPr>
          </a:p>
          <a:p>
            <a:r>
              <a:rPr lang="en-US" altLang="zh-CN" dirty="0">
                <a:cs typeface="Arial" panose="020B0604020202020204" pitchFamily="34" charset="0"/>
                <a:sym typeface="+mn-ea"/>
              </a:rPr>
              <a:t>Integration Software-Hardware And Solution Project</a:t>
            </a:r>
            <a:endParaRPr lang="zh-CN" altLang="en-US"/>
          </a:p>
        </p:txBody>
      </p:sp>
      <p:sp>
        <p:nvSpPr>
          <p:cNvPr id="5" name="文本框 4"/>
          <p:cNvSpPr txBox="1"/>
          <p:nvPr/>
        </p:nvSpPr>
        <p:spPr>
          <a:xfrm>
            <a:off x="868045" y="1988185"/>
            <a:ext cx="6096000" cy="344805"/>
          </a:xfrm>
          <a:prstGeom prst="rect">
            <a:avLst/>
          </a:prstGeom>
          <a:noFill/>
        </p:spPr>
        <p:txBody>
          <a:bodyPr wrap="square" rtlCol="0" anchor="t">
            <a:spAutoFit/>
          </a:bodyPr>
          <a:p>
            <a:pPr algn="l"/>
            <a:r>
              <a:rPr lang="zh-CN" sz="1650" b="1" dirty="0">
                <a:solidFill>
                  <a:schemeClr val="bg1"/>
                </a:solidFill>
                <a:latin typeface="Arial" panose="020B0604020202020204"/>
                <a:ea typeface="微软雅黑" panose="020B0503020204020204" charset="-122"/>
                <a:cs typeface="Arial" panose="020B0604020202020204"/>
                <a:sym typeface="+mn-ea"/>
              </a:rPr>
              <a:t> COLLIERS</a:t>
            </a:r>
            <a:r>
              <a:rPr lang="en-US" altLang="zh-CN" sz="1650" b="1" dirty="0">
                <a:solidFill>
                  <a:schemeClr val="bg1"/>
                </a:solidFill>
                <a:latin typeface="Arial" panose="020B0604020202020204"/>
                <a:ea typeface="微软雅黑" panose="020B0503020204020204" charset="-122"/>
                <a:cs typeface="Arial" panose="020B0604020202020204"/>
                <a:sym typeface="+mn-ea"/>
              </a:rPr>
              <a:t> </a:t>
            </a:r>
            <a:r>
              <a:rPr lang="zh-CN" sz="1650" b="1" dirty="0">
                <a:solidFill>
                  <a:schemeClr val="bg1"/>
                </a:solidFill>
                <a:latin typeface="Arial" panose="020B0604020202020204"/>
                <a:ea typeface="微软雅黑" panose="020B0503020204020204" charset="-122"/>
                <a:cs typeface="Arial" panose="020B0604020202020204"/>
                <a:sym typeface="+mn-ea"/>
              </a:rPr>
              <a:t>×</a:t>
            </a:r>
            <a:r>
              <a:rPr lang="en-US" altLang="zh-CN" sz="1650" b="1" dirty="0">
                <a:solidFill>
                  <a:schemeClr val="bg1"/>
                </a:solidFill>
                <a:latin typeface="Arial" panose="020B0604020202020204"/>
                <a:ea typeface="微软雅黑" panose="020B0503020204020204" charset="-122"/>
                <a:cs typeface="Arial" panose="020B0604020202020204"/>
                <a:sym typeface="+mn-ea"/>
              </a:rPr>
              <a:t> </a:t>
            </a:r>
            <a:r>
              <a:rPr lang="zh-CN" sz="1650" b="1" dirty="0">
                <a:solidFill>
                  <a:schemeClr val="bg1"/>
                </a:solidFill>
                <a:latin typeface="Arial" panose="020B0604020202020204"/>
                <a:ea typeface="微软雅黑" panose="020B0503020204020204" charset="-122"/>
                <a:cs typeface="Arial" panose="020B0604020202020204"/>
                <a:sym typeface="+mn-ea"/>
              </a:rPr>
              <a:t>FarAI </a:t>
            </a:r>
            <a:endParaRPr lang="zh-CN" altLang="en-US" sz="1650" b="1" dirty="0">
              <a:solidFill>
                <a:schemeClr val="bg1"/>
              </a:solidFill>
              <a:latin typeface="Arial" panose="020B0604020202020204"/>
              <a:ea typeface="微软雅黑" panose="020B0503020204020204" charset="-122"/>
              <a:cs typeface="Arial" panose="020B0604020202020204"/>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0052A6"/>
            </a:solidFill>
            <a:ln>
              <a:noFill/>
            </a:ln>
          </p:spPr>
        </p:sp>
        <p:sp>
          <p:nvSpPr>
            <p:cNvPr id="4" name="Rectangle 4"/>
            <p:cNvSpPr/>
            <p:nvPr/>
          </p:nvSpPr>
          <p:spPr>
            <a:xfrm>
              <a:off x="857250" y="1619250"/>
              <a:ext cx="3619500" cy="4095750"/>
            </a:xfrm>
            <a:prstGeom prst="roundRect">
              <a:avLst>
                <a:gd name="adj" fmla="val 3158"/>
              </a:avLst>
            </a:prstGeom>
            <a:solidFill>
              <a:srgbClr val="F4F7FC"/>
            </a:solidFill>
            <a:ln>
              <a:noFill/>
            </a:ln>
          </p:spPr>
        </p:sp>
      </p:grpSp>
      <p:grpSp>
        <p:nvGrpSpPr>
          <p:cNvPr id="8" name="Group 8"/>
          <p:cNvGrpSpPr/>
          <p:nvPr/>
        </p:nvGrpSpPr>
        <p:grpSpPr>
          <a:xfrm>
            <a:off x="828675" y="743902"/>
            <a:ext cx="718195" cy="756286"/>
            <a:chOff x="828675" y="743902"/>
            <a:chExt cx="718195" cy="756286"/>
          </a:xfrm>
        </p:grpSpPr>
        <p:sp>
          <p:nvSpPr>
            <p:cNvPr id="6" name="TextBox 6"/>
            <p:cNvSpPr txBox="1"/>
            <p:nvPr/>
          </p:nvSpPr>
          <p:spPr>
            <a:xfrm>
              <a:off x="843915" y="743902"/>
              <a:ext cx="702955"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CONTENTS</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828675" y="1042988"/>
              <a:ext cx="687229"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目录</a:t>
              </a:r>
              <a:endParaRPr lang="zh-CN" sz="2250" b="1" dirty="0">
                <a:solidFill>
                  <a:srgbClr val="17365D"/>
                </a:solidFill>
                <a:latin typeface="Arial" panose="020B0604020202020204"/>
                <a:ea typeface="微软雅黑" panose="020B0503020204020204" charset="-122"/>
                <a:cs typeface="Arial" panose="020B0604020202020204"/>
              </a:endParaRPr>
            </a:p>
          </p:txBody>
        </p:sp>
      </p:grpSp>
      <p:grpSp>
        <p:nvGrpSpPr>
          <p:cNvPr id="20" name="Group 20"/>
          <p:cNvGrpSpPr/>
          <p:nvPr/>
        </p:nvGrpSpPr>
        <p:grpSpPr>
          <a:xfrm>
            <a:off x="1125855" y="2000250"/>
            <a:ext cx="1787700" cy="3474244"/>
            <a:chOff x="1125855" y="2000250"/>
            <a:chExt cx="1787700" cy="3474244"/>
          </a:xfrm>
        </p:grpSpPr>
        <p:sp>
          <p:nvSpPr>
            <p:cNvPr id="9" name="Rectangle 9"/>
            <p:cNvSpPr/>
            <p:nvPr/>
          </p:nvSpPr>
          <p:spPr>
            <a:xfrm>
              <a:off x="1143000" y="2000250"/>
              <a:ext cx="457200" cy="38100"/>
            </a:xfrm>
            <a:prstGeom prst="roundRect">
              <a:avLst>
                <a:gd name="adj" fmla="val 50000"/>
              </a:avLst>
            </a:prstGeom>
            <a:solidFill>
              <a:srgbClr val="246BFE"/>
            </a:solidFill>
            <a:ln>
              <a:noFill/>
            </a:ln>
          </p:spPr>
        </p:sp>
        <p:sp>
          <p:nvSpPr>
            <p:cNvPr id="10" name="TextBox 10"/>
            <p:cNvSpPr txBox="1"/>
            <p:nvPr/>
          </p:nvSpPr>
          <p:spPr>
            <a:xfrm>
              <a:off x="1125855" y="2235518"/>
              <a:ext cx="790384" cy="274320"/>
            </a:xfrm>
            <a:prstGeom prst="rect">
              <a:avLst/>
            </a:prstGeom>
            <a:noFill/>
            <a:ln>
              <a:noFill/>
            </a:ln>
          </p:spPr>
          <p:txBody>
            <a:bodyPr wrap="none" lIns="0" tIns="0" rIns="0" bIns="0" anchor="t" anchorCtr="0">
              <a:spAutoFit/>
            </a:bodyPr>
            <a:lstStyle/>
            <a:p>
              <a:pPr algn="l"/>
              <a:r>
                <a:rPr lang="zh-CN" sz="1350" b="1" dirty="0">
                  <a:solidFill>
                    <a:srgbClr val="17365D"/>
                  </a:solidFill>
                  <a:latin typeface="Arial" panose="020B0604020202020204"/>
                  <a:ea typeface="微软雅黑" panose="020B0503020204020204" charset="-122"/>
                  <a:cs typeface="Arial" panose="020B0604020202020204"/>
                </a:rPr>
                <a:t>四大章节</a:t>
              </a:r>
              <a:endParaRPr lang="zh-CN" sz="1350" b="1" dirty="0">
                <a:solidFill>
                  <a:srgbClr val="17365D"/>
                </a:solidFill>
                <a:latin typeface="Arial" panose="020B0604020202020204"/>
                <a:ea typeface="微软雅黑" panose="020B0503020204020204" charset="-122"/>
                <a:cs typeface="Arial" panose="020B0604020202020204"/>
              </a:endParaRPr>
            </a:p>
          </p:txBody>
        </p:sp>
        <p:sp>
          <p:nvSpPr>
            <p:cNvPr id="11" name="TextBox 11"/>
            <p:cNvSpPr txBox="1"/>
            <p:nvPr/>
          </p:nvSpPr>
          <p:spPr>
            <a:xfrm>
              <a:off x="1125855" y="2502218"/>
              <a:ext cx="127000" cy="207645"/>
            </a:xfrm>
            <a:prstGeom prst="rect">
              <a:avLst/>
            </a:prstGeom>
            <a:noFill/>
            <a:ln>
              <a:noFill/>
            </a:ln>
          </p:spPr>
          <p:txBody>
            <a:bodyPr wrap="none" lIns="0" tIns="0" rIns="0" bIns="0" anchor="t" anchorCtr="0">
              <a:spAutoFit/>
            </a:bodyPr>
            <a:lstStyle/>
            <a:p>
              <a:pPr algn="l"/>
              <a:endParaRPr lang="zh-CN" sz="1350" b="1" dirty="0">
                <a:solidFill>
                  <a:srgbClr val="17365D"/>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1129665" y="3029902"/>
              <a:ext cx="178389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panose="020B0604020202020204"/>
                  <a:ea typeface="微软雅黑" panose="020B0503020204020204" charset="-122"/>
                  <a:cs typeface="Arial" panose="020B0604020202020204"/>
                </a:rPr>
                <a:t>从客户理解出发,经总体架构</a:t>
              </a:r>
              <a:endParaRPr lang="zh-CN" sz="1050" dirty="0">
                <a:solidFill>
                  <a:srgbClr val="5E6A78"/>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1129665" y="3258502"/>
              <a:ext cx="178389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panose="020B0604020202020204"/>
                  <a:ea typeface="微软雅黑" panose="020B0503020204020204" charset="-122"/>
                  <a:cs typeface="Arial" panose="020B0604020202020204"/>
                </a:rPr>
                <a:t>与场景方案,落到价值与实施</a:t>
              </a:r>
              <a:endParaRPr lang="zh-CN" sz="1050" dirty="0">
                <a:solidFill>
                  <a:srgbClr val="5E6A78"/>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1129665" y="3487102"/>
              <a:ext cx="1629410" cy="161290"/>
            </a:xfrm>
            <a:prstGeom prst="rect">
              <a:avLst/>
            </a:prstGeom>
            <a:noFill/>
            <a:ln>
              <a:noFill/>
            </a:ln>
          </p:spPr>
          <p:txBody>
            <a:bodyPr wrap="none" lIns="0" tIns="0" rIns="0" bIns="0" anchor="t" anchorCtr="0">
              <a:spAutoFit/>
            </a:bodyPr>
            <a:lstStyle/>
            <a:p>
              <a:pPr algn="l"/>
              <a:r>
                <a:rPr lang="zh-CN" sz="1050" dirty="0">
                  <a:solidFill>
                    <a:srgbClr val="5E6A78"/>
                  </a:solidFill>
                  <a:latin typeface="Arial" panose="020B0604020202020204"/>
                  <a:ea typeface="微软雅黑" panose="020B0503020204020204" charset="-122"/>
                  <a:cs typeface="Arial" panose="020B0604020202020204"/>
                </a:rPr>
                <a:t>—— 一条完整的定制</a:t>
              </a:r>
              <a:r>
                <a:rPr lang="en-US" altLang="zh-CN" sz="1050" dirty="0">
                  <a:solidFill>
                    <a:srgbClr val="5E6A78"/>
                  </a:solidFill>
                  <a:latin typeface="Arial" panose="020B0604020202020204"/>
                  <a:ea typeface="微软雅黑" panose="020B0503020204020204" charset="-122"/>
                  <a:cs typeface="Arial" panose="020B0604020202020204"/>
                </a:rPr>
                <a:t>AI</a:t>
              </a:r>
              <a:r>
                <a:rPr lang="zh-CN" altLang="en-US" sz="1050" dirty="0">
                  <a:solidFill>
                    <a:srgbClr val="5E6A78"/>
                  </a:solidFill>
                  <a:latin typeface="Arial" panose="020B0604020202020204"/>
                  <a:ea typeface="微软雅黑" panose="020B0503020204020204" charset="-122"/>
                  <a:cs typeface="Arial" panose="020B0604020202020204"/>
                </a:rPr>
                <a:t>服务</a:t>
              </a:r>
              <a:endParaRPr lang="zh-CN" altLang="en-US" sz="1050" dirty="0">
                <a:solidFill>
                  <a:srgbClr val="5E6A78"/>
                </a:solidFill>
                <a:latin typeface="Arial" panose="020B0604020202020204"/>
                <a:ea typeface="微软雅黑" panose="020B0503020204020204" charset="-122"/>
                <a:cs typeface="Arial" panose="020B0604020202020204"/>
              </a:endParaRPr>
            </a:p>
          </p:txBody>
        </p:sp>
        <p:grpSp>
          <p:nvGrpSpPr>
            <p:cNvPr id="18" name="Group 18"/>
            <p:cNvGrpSpPr/>
            <p:nvPr/>
          </p:nvGrpSpPr>
          <p:grpSpPr>
            <a:xfrm>
              <a:off x="1214438" y="4848225"/>
              <a:ext cx="200025" cy="171450"/>
              <a:chOff x="1214438" y="4848225"/>
              <a:chExt cx="200025" cy="171450"/>
            </a:xfrm>
          </p:grpSpPr>
          <p:sp>
            <p:nvSpPr>
              <p:cNvPr id="15" name="Freeform 15"/>
              <p:cNvSpPr/>
              <p:nvPr/>
            </p:nvSpPr>
            <p:spPr>
              <a:xfrm>
                <a:off x="1214438" y="4933950"/>
                <a:ext cx="200025" cy="9525"/>
              </a:xfrm>
              <a:custGeom>
                <a:avLst/>
                <a:gdLst/>
                <a:ahLst/>
                <a:cxnLst/>
                <a:rect l="l" t="t" r="r" b="b"/>
                <a:pathLst>
                  <a:path w="200025" h="9525">
                    <a:moveTo>
                      <a:pt x="0" y="0"/>
                    </a:moveTo>
                    <a:lnTo>
                      <a:pt x="200025" y="0"/>
                    </a:lnTo>
                  </a:path>
                </a:pathLst>
              </a:custGeom>
              <a:noFill/>
              <a:ln w="19050">
                <a:solidFill>
                  <a:srgbClr val="246BFE"/>
                </a:solidFill>
              </a:ln>
            </p:spPr>
          </p:sp>
          <p:sp>
            <p:nvSpPr>
              <p:cNvPr id="16" name="Freeform 16"/>
              <p:cNvSpPr/>
              <p:nvPr/>
            </p:nvSpPr>
            <p:spPr>
              <a:xfrm>
                <a:off x="1328738" y="4933950"/>
                <a:ext cx="85725" cy="85725"/>
              </a:xfrm>
              <a:custGeom>
                <a:avLst/>
                <a:gdLst/>
                <a:ahLst/>
                <a:cxnLst/>
                <a:rect l="l" t="t" r="r" b="b"/>
                <a:pathLst>
                  <a:path w="85725" h="85725">
                    <a:moveTo>
                      <a:pt x="0" y="85725"/>
                    </a:moveTo>
                    <a:lnTo>
                      <a:pt x="85725" y="0"/>
                    </a:lnTo>
                  </a:path>
                </a:pathLst>
              </a:custGeom>
              <a:noFill/>
              <a:ln w="19050">
                <a:solidFill>
                  <a:srgbClr val="246BFE"/>
                </a:solidFill>
              </a:ln>
            </p:spPr>
          </p:sp>
          <p:sp>
            <p:nvSpPr>
              <p:cNvPr id="17" name="Freeform 17"/>
              <p:cNvSpPr/>
              <p:nvPr/>
            </p:nvSpPr>
            <p:spPr>
              <a:xfrm>
                <a:off x="1328738" y="4848225"/>
                <a:ext cx="85725" cy="85725"/>
              </a:xfrm>
              <a:custGeom>
                <a:avLst/>
                <a:gdLst/>
                <a:ahLst/>
                <a:cxnLst/>
                <a:rect l="l" t="t" r="r" b="b"/>
                <a:pathLst>
                  <a:path w="85725" h="85725">
                    <a:moveTo>
                      <a:pt x="0" y="0"/>
                    </a:moveTo>
                    <a:lnTo>
                      <a:pt x="85725" y="85725"/>
                    </a:lnTo>
                  </a:path>
                </a:pathLst>
              </a:custGeom>
              <a:noFill/>
              <a:ln w="19050">
                <a:solidFill>
                  <a:srgbClr val="246BFE"/>
                </a:solidFill>
              </a:ln>
            </p:spPr>
          </p:sp>
        </p:grpSp>
        <p:sp>
          <p:nvSpPr>
            <p:cNvPr id="19" name="TextBox 19"/>
            <p:cNvSpPr txBox="1"/>
            <p:nvPr/>
          </p:nvSpPr>
          <p:spPr>
            <a:xfrm>
              <a:off x="1130618" y="5276374"/>
              <a:ext cx="1136404"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panose="020B0604020202020204"/>
                  <a:ea typeface="微软雅黑" panose="020B0503020204020204" charset="-122"/>
                  <a:cs typeface="Arial" panose="020B0604020202020204"/>
                </a:rPr>
                <a:t>©法本信息版权所有</a:t>
              </a:r>
              <a:endParaRPr lang="zh-CN" sz="975" dirty="0">
                <a:solidFill>
                  <a:srgbClr val="6B7785"/>
                </a:solidFill>
                <a:latin typeface="Arial" panose="020B0604020202020204"/>
                <a:ea typeface="微软雅黑" panose="020B0503020204020204" charset="-122"/>
                <a:cs typeface="Arial" panose="020B0604020202020204"/>
              </a:endParaRPr>
            </a:p>
          </p:txBody>
        </p:sp>
      </p:grpSp>
      <p:grpSp>
        <p:nvGrpSpPr>
          <p:cNvPr id="27" name="Group 27"/>
          <p:cNvGrpSpPr/>
          <p:nvPr/>
        </p:nvGrpSpPr>
        <p:grpSpPr>
          <a:xfrm>
            <a:off x="4857750" y="1857375"/>
            <a:ext cx="6477000" cy="876300"/>
            <a:chOff x="4857750" y="1857375"/>
            <a:chExt cx="6477000" cy="876300"/>
          </a:xfrm>
        </p:grpSpPr>
        <p:sp>
          <p:nvSpPr>
            <p:cNvPr id="21" name="Rectangle 21"/>
            <p:cNvSpPr/>
            <p:nvPr/>
          </p:nvSpPr>
          <p:spPr>
            <a:xfrm>
              <a:off x="4857750" y="1857375"/>
              <a:ext cx="6477000" cy="876300"/>
            </a:xfrm>
            <a:prstGeom prst="roundRect">
              <a:avLst>
                <a:gd name="adj" fmla="val 13043"/>
              </a:avLst>
            </a:prstGeom>
            <a:solidFill>
              <a:srgbClr val="FFFFFF"/>
            </a:solidFill>
            <a:ln w="14288">
              <a:solidFill>
                <a:srgbClr val="E3E9F2"/>
              </a:solidFill>
            </a:ln>
          </p:spPr>
        </p:sp>
        <p:sp>
          <p:nvSpPr>
            <p:cNvPr id="22" name="Rectangle 22"/>
            <p:cNvSpPr/>
            <p:nvPr/>
          </p:nvSpPr>
          <p:spPr>
            <a:xfrm>
              <a:off x="4857750" y="1857375"/>
              <a:ext cx="57150" cy="876300"/>
            </a:xfrm>
            <a:prstGeom prst="roundRect">
              <a:avLst>
                <a:gd name="adj" fmla="val 50000"/>
              </a:avLst>
            </a:prstGeom>
            <a:solidFill>
              <a:srgbClr val="246BFE"/>
            </a:solidFill>
            <a:ln>
              <a:noFill/>
            </a:ln>
          </p:spPr>
        </p:sp>
        <p:sp>
          <p:nvSpPr>
            <p:cNvPr id="23" name="TextBox 23"/>
            <p:cNvSpPr txBox="1"/>
            <p:nvPr/>
          </p:nvSpPr>
          <p:spPr>
            <a:xfrm>
              <a:off x="5105400" y="1885950"/>
              <a:ext cx="538258" cy="609600"/>
            </a:xfrm>
            <a:prstGeom prst="rect">
              <a:avLst/>
            </a:prstGeom>
            <a:noFill/>
            <a:ln>
              <a:noFill/>
            </a:ln>
          </p:spPr>
          <p:txBody>
            <a:bodyPr wrap="none" lIns="0" tIns="0" rIns="0" bIns="0" anchor="t" anchorCtr="0">
              <a:spAutoFit/>
            </a:bodyPr>
            <a:lstStyle/>
            <a:p>
              <a:pPr algn="l"/>
              <a:r>
                <a:rPr lang="zh-CN" sz="3000" b="1" dirty="0">
                  <a:gradFill>
                    <a:gsLst>
                      <a:gs pos="0">
                        <a:srgbClr val="246BFE"/>
                      </a:gs>
                      <a:gs pos="100000">
                        <a:srgbClr val="0052A6"/>
                      </a:gs>
                    </a:gsLst>
                    <a:lin ang="5400000" scaled="1"/>
                  </a:gradFill>
                  <a:latin typeface="Arial" panose="020B0604020202020204"/>
                  <a:ea typeface="微软雅黑" panose="020B0503020204020204" charset="-122"/>
                  <a:cs typeface="Arial" panose="020B0604020202020204"/>
                </a:rPr>
                <a:t>01</a:t>
              </a:r>
              <a:endParaRPr lang="zh-CN" sz="3000" b="1" dirty="0">
                <a:gradFill>
                  <a:gsLst>
                    <a:gs pos="0">
                      <a:srgbClr val="246BFE"/>
                    </a:gs>
                    <a:gs pos="100000">
                      <a:srgbClr val="0052A6"/>
                    </a:gs>
                  </a:gsLst>
                  <a:lin ang="5400000" scaled="1"/>
                </a:gradFill>
                <a:latin typeface="Arial" panose="020B0604020202020204"/>
                <a:ea typeface="微软雅黑" panose="020B0503020204020204" charset="-122"/>
                <a:cs typeface="Arial" panose="020B0604020202020204"/>
              </a:endParaRPr>
            </a:p>
          </p:txBody>
        </p:sp>
        <p:sp>
          <p:nvSpPr>
            <p:cNvPr id="24" name="TextBox 24"/>
            <p:cNvSpPr txBox="1"/>
            <p:nvPr/>
          </p:nvSpPr>
          <p:spPr>
            <a:xfrm>
              <a:off x="5836920" y="2031682"/>
              <a:ext cx="2121170"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客户理解与价值主张</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5844540" y="2420302"/>
              <a:ext cx="3583115"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panose="020B0604020202020204"/>
                  <a:ea typeface="微软雅黑" panose="020B0503020204020204" charset="-122"/>
                  <a:cs typeface="Arial" panose="020B0604020202020204"/>
                </a:rPr>
                <a:t>Customer Insight · 高力国际定位、四大痛点、价值闭环</a:t>
              </a:r>
              <a:endParaRPr lang="zh-CN" sz="1050" dirty="0">
                <a:solidFill>
                  <a:srgbClr val="5E6A78"/>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10362795" y="2295049"/>
              <a:ext cx="603337" cy="198120"/>
            </a:xfrm>
            <a:prstGeom prst="rect">
              <a:avLst/>
            </a:prstGeom>
            <a:noFill/>
            <a:ln>
              <a:noFill/>
            </a:ln>
          </p:spPr>
          <p:txBody>
            <a:bodyPr wrap="none" lIns="0" tIns="0" rIns="0" bIns="0" anchor="t" anchorCtr="0">
              <a:spAutoFit/>
            </a:bodyPr>
            <a:lstStyle/>
            <a:p>
              <a:pPr algn="r"/>
              <a:r>
                <a:rPr lang="zh-CN" sz="975" dirty="0">
                  <a:solidFill>
                    <a:srgbClr val="6B7785"/>
                  </a:solidFill>
                  <a:latin typeface="Arial" panose="020B0604020202020204"/>
                  <a:ea typeface="微软雅黑" panose="020B0503020204020204" charset="-122"/>
                  <a:cs typeface="Arial" panose="020B0604020202020204"/>
                </a:rPr>
                <a:t>P03 — P06</a:t>
              </a:r>
              <a:endParaRPr lang="zh-CN" sz="975" dirty="0">
                <a:solidFill>
                  <a:srgbClr val="6B7785"/>
                </a:solidFill>
                <a:latin typeface="Arial" panose="020B0604020202020204"/>
                <a:ea typeface="微软雅黑" panose="020B0503020204020204" charset="-122"/>
                <a:cs typeface="Arial" panose="020B0604020202020204"/>
              </a:endParaRPr>
            </a:p>
          </p:txBody>
        </p:sp>
      </p:grpSp>
      <p:grpSp>
        <p:nvGrpSpPr>
          <p:cNvPr id="34" name="Group 34"/>
          <p:cNvGrpSpPr/>
          <p:nvPr/>
        </p:nvGrpSpPr>
        <p:grpSpPr>
          <a:xfrm>
            <a:off x="4857750" y="2876550"/>
            <a:ext cx="6477000" cy="876300"/>
            <a:chOff x="4857750" y="2876550"/>
            <a:chExt cx="6477000" cy="876300"/>
          </a:xfrm>
        </p:grpSpPr>
        <p:sp>
          <p:nvSpPr>
            <p:cNvPr id="28" name="Rectangle 28"/>
            <p:cNvSpPr/>
            <p:nvPr/>
          </p:nvSpPr>
          <p:spPr>
            <a:xfrm>
              <a:off x="4857750" y="2876550"/>
              <a:ext cx="6477000" cy="876300"/>
            </a:xfrm>
            <a:prstGeom prst="roundRect">
              <a:avLst>
                <a:gd name="adj" fmla="val 13043"/>
              </a:avLst>
            </a:prstGeom>
            <a:solidFill>
              <a:srgbClr val="FFFFFF"/>
            </a:solidFill>
            <a:ln w="14288">
              <a:solidFill>
                <a:srgbClr val="E3E9F2"/>
              </a:solidFill>
            </a:ln>
          </p:spPr>
        </p:sp>
        <p:sp>
          <p:nvSpPr>
            <p:cNvPr id="29" name="Rectangle 29"/>
            <p:cNvSpPr/>
            <p:nvPr/>
          </p:nvSpPr>
          <p:spPr>
            <a:xfrm>
              <a:off x="4857750" y="2876550"/>
              <a:ext cx="57150" cy="876300"/>
            </a:xfrm>
            <a:prstGeom prst="roundRect">
              <a:avLst>
                <a:gd name="adj" fmla="val 50000"/>
              </a:avLst>
            </a:prstGeom>
            <a:solidFill>
              <a:srgbClr val="246BFE"/>
            </a:solidFill>
            <a:ln>
              <a:noFill/>
            </a:ln>
          </p:spPr>
        </p:sp>
        <p:sp>
          <p:nvSpPr>
            <p:cNvPr id="30" name="TextBox 30"/>
            <p:cNvSpPr txBox="1"/>
            <p:nvPr/>
          </p:nvSpPr>
          <p:spPr>
            <a:xfrm>
              <a:off x="5105400" y="2905125"/>
              <a:ext cx="538258" cy="609600"/>
            </a:xfrm>
            <a:prstGeom prst="rect">
              <a:avLst/>
            </a:prstGeom>
            <a:noFill/>
            <a:ln>
              <a:noFill/>
            </a:ln>
          </p:spPr>
          <p:txBody>
            <a:bodyPr wrap="none" lIns="0" tIns="0" rIns="0" bIns="0" anchor="t" anchorCtr="0">
              <a:spAutoFit/>
            </a:bodyPr>
            <a:lstStyle/>
            <a:p>
              <a:pPr algn="l"/>
              <a:r>
                <a:rPr lang="zh-CN" sz="3000" b="1" dirty="0">
                  <a:gradFill>
                    <a:gsLst>
                      <a:gs pos="0">
                        <a:srgbClr val="246BFE"/>
                      </a:gs>
                      <a:gs pos="100000">
                        <a:srgbClr val="0052A6"/>
                      </a:gs>
                    </a:gsLst>
                    <a:lin ang="5400000" scaled="1"/>
                  </a:gradFill>
                  <a:latin typeface="Arial" panose="020B0604020202020204"/>
                  <a:ea typeface="微软雅黑" panose="020B0503020204020204" charset="-122"/>
                  <a:cs typeface="Arial" panose="020B0604020202020204"/>
                </a:rPr>
                <a:t>02</a:t>
              </a:r>
              <a:endParaRPr lang="zh-CN" sz="3000" b="1" dirty="0">
                <a:gradFill>
                  <a:gsLst>
                    <a:gs pos="0">
                      <a:srgbClr val="246BFE"/>
                    </a:gs>
                    <a:gs pos="100000">
                      <a:srgbClr val="0052A6"/>
                    </a:gs>
                  </a:gsLst>
                  <a:lin ang="5400000" scaled="1"/>
                </a:gradFill>
                <a:latin typeface="Arial" panose="020B0604020202020204"/>
                <a:ea typeface="微软雅黑" panose="020B0503020204020204" charset="-122"/>
                <a:cs typeface="Arial" panose="020B0604020202020204"/>
              </a:endParaRPr>
            </a:p>
          </p:txBody>
        </p:sp>
        <p:sp>
          <p:nvSpPr>
            <p:cNvPr id="31" name="TextBox 31"/>
            <p:cNvSpPr txBox="1"/>
            <p:nvPr/>
          </p:nvSpPr>
          <p:spPr>
            <a:xfrm>
              <a:off x="5836920" y="3050858"/>
              <a:ext cx="1428083"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总体方案架构</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5844540" y="3439478"/>
              <a:ext cx="322607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panose="020B0604020202020204"/>
                  <a:ea typeface="微软雅黑" panose="020B0503020204020204" charset="-122"/>
                  <a:cs typeface="Arial" panose="020B0604020202020204"/>
                </a:rPr>
                <a:t>Overall Solution · 三层架构 + FarAI 产品矩阵映射</a:t>
              </a:r>
              <a:endParaRPr lang="zh-CN" sz="1050" dirty="0">
                <a:solidFill>
                  <a:srgbClr val="5E6A78"/>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10362795" y="3314224"/>
              <a:ext cx="603337" cy="198120"/>
            </a:xfrm>
            <a:prstGeom prst="rect">
              <a:avLst/>
            </a:prstGeom>
            <a:noFill/>
            <a:ln>
              <a:noFill/>
            </a:ln>
          </p:spPr>
          <p:txBody>
            <a:bodyPr wrap="none" lIns="0" tIns="0" rIns="0" bIns="0" anchor="t" anchorCtr="0">
              <a:spAutoFit/>
            </a:bodyPr>
            <a:lstStyle/>
            <a:p>
              <a:pPr algn="r"/>
              <a:r>
                <a:rPr lang="zh-CN" sz="975" dirty="0">
                  <a:solidFill>
                    <a:srgbClr val="6B7785"/>
                  </a:solidFill>
                  <a:latin typeface="Arial" panose="020B0604020202020204"/>
                  <a:ea typeface="微软雅黑" panose="020B0503020204020204" charset="-122"/>
                  <a:cs typeface="Arial" panose="020B0604020202020204"/>
                </a:rPr>
                <a:t>P07 — P09</a:t>
              </a:r>
              <a:endParaRPr lang="zh-CN" sz="975" dirty="0">
                <a:solidFill>
                  <a:srgbClr val="6B7785"/>
                </a:solidFill>
                <a:latin typeface="Arial" panose="020B0604020202020204"/>
                <a:ea typeface="微软雅黑" panose="020B0503020204020204" charset="-122"/>
                <a:cs typeface="Arial" panose="020B0604020202020204"/>
              </a:endParaRPr>
            </a:p>
          </p:txBody>
        </p:sp>
      </p:grpSp>
      <p:grpSp>
        <p:nvGrpSpPr>
          <p:cNvPr id="41" name="Group 41"/>
          <p:cNvGrpSpPr/>
          <p:nvPr/>
        </p:nvGrpSpPr>
        <p:grpSpPr>
          <a:xfrm>
            <a:off x="4857750" y="3895725"/>
            <a:ext cx="6477000" cy="876300"/>
            <a:chOff x="4857750" y="3895725"/>
            <a:chExt cx="6477000" cy="876300"/>
          </a:xfrm>
        </p:grpSpPr>
        <p:sp>
          <p:nvSpPr>
            <p:cNvPr id="35" name="Rectangle 35"/>
            <p:cNvSpPr/>
            <p:nvPr/>
          </p:nvSpPr>
          <p:spPr>
            <a:xfrm>
              <a:off x="4857750" y="3895725"/>
              <a:ext cx="6477000" cy="876300"/>
            </a:xfrm>
            <a:prstGeom prst="roundRect">
              <a:avLst>
                <a:gd name="adj" fmla="val 13043"/>
              </a:avLst>
            </a:prstGeom>
            <a:solidFill>
              <a:srgbClr val="0052A6"/>
            </a:solidFill>
            <a:ln>
              <a:noFill/>
            </a:ln>
          </p:spPr>
        </p:sp>
        <p:sp>
          <p:nvSpPr>
            <p:cNvPr id="36" name="Rectangle 36"/>
            <p:cNvSpPr/>
            <p:nvPr/>
          </p:nvSpPr>
          <p:spPr>
            <a:xfrm>
              <a:off x="4857750" y="3895725"/>
              <a:ext cx="57150" cy="876300"/>
            </a:xfrm>
            <a:prstGeom prst="roundRect">
              <a:avLst>
                <a:gd name="adj" fmla="val 50000"/>
              </a:avLst>
            </a:prstGeom>
            <a:solidFill>
              <a:srgbClr val="246BFE"/>
            </a:solidFill>
            <a:ln>
              <a:noFill/>
            </a:ln>
          </p:spPr>
        </p:sp>
        <p:sp>
          <p:nvSpPr>
            <p:cNvPr id="37" name="TextBox 37"/>
            <p:cNvSpPr txBox="1"/>
            <p:nvPr/>
          </p:nvSpPr>
          <p:spPr>
            <a:xfrm>
              <a:off x="5105400" y="3924300"/>
              <a:ext cx="538258" cy="609600"/>
            </a:xfrm>
            <a:prstGeom prst="rect">
              <a:avLst/>
            </a:prstGeom>
            <a:noFill/>
            <a:ln>
              <a:noFill/>
            </a:ln>
          </p:spPr>
          <p:txBody>
            <a:bodyPr wrap="none" lIns="0" tIns="0" rIns="0" bIns="0" anchor="t" anchorCtr="0">
              <a:spAutoFit/>
            </a:bodyPr>
            <a:lstStyle/>
            <a:p>
              <a:pPr algn="l"/>
              <a:r>
                <a:rPr lang="zh-CN" sz="3000" b="1" dirty="0">
                  <a:solidFill>
                    <a:srgbClr val="518FEC"/>
                  </a:solidFill>
                  <a:latin typeface="Arial" panose="020B0604020202020204"/>
                  <a:ea typeface="微软雅黑" panose="020B0503020204020204" charset="-122"/>
                  <a:cs typeface="Arial" panose="020B0604020202020204"/>
                </a:rPr>
                <a:t>03</a:t>
              </a:r>
              <a:endParaRPr lang="zh-CN" sz="3000" b="1" dirty="0">
                <a:solidFill>
                  <a:srgbClr val="518FEC"/>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5836920" y="4070032"/>
              <a:ext cx="1428083"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panose="020B0604020202020204"/>
                  <a:ea typeface="微软雅黑" panose="020B0503020204020204" charset="-122"/>
                  <a:cs typeface="Arial" panose="020B0604020202020204"/>
                </a:rPr>
                <a:t>四大场景方案</a:t>
              </a:r>
              <a:endParaRPr lang="zh-CN" sz="1650" b="1" dirty="0">
                <a:solidFill>
                  <a:srgbClr val="FFFFFF"/>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5844540" y="4458652"/>
              <a:ext cx="3037046"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panose="020B0604020202020204"/>
                  <a:ea typeface="微软雅黑" panose="020B0503020204020204" charset="-122"/>
                  <a:cs typeface="Arial" panose="020B0604020202020204"/>
                </a:rPr>
                <a:t>Scenario Solutions · 招聘 / 商机 / 投标 / 营销</a:t>
              </a:r>
              <a:endParaRPr lang="zh-CN" sz="1050" dirty="0">
                <a:solidFill>
                  <a:srgbClr val="B8C7E0"/>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10362795" y="4333399"/>
              <a:ext cx="603337" cy="198120"/>
            </a:xfrm>
            <a:prstGeom prst="rect">
              <a:avLst/>
            </a:prstGeom>
            <a:noFill/>
            <a:ln>
              <a:noFill/>
            </a:ln>
          </p:spPr>
          <p:txBody>
            <a:bodyPr wrap="none" lIns="0" tIns="0" rIns="0" bIns="0" anchor="t" anchorCtr="0">
              <a:spAutoFit/>
            </a:bodyPr>
            <a:lstStyle/>
            <a:p>
              <a:pPr algn="r"/>
              <a:r>
                <a:rPr lang="zh-CN" sz="975" dirty="0">
                  <a:solidFill>
                    <a:srgbClr val="8FA3C4"/>
                  </a:solidFill>
                  <a:latin typeface="Arial" panose="020B0604020202020204"/>
                  <a:ea typeface="微软雅黑" panose="020B0503020204020204" charset="-122"/>
                  <a:cs typeface="Arial" panose="020B0604020202020204"/>
                </a:rPr>
                <a:t>P10 — P18</a:t>
              </a:r>
              <a:endParaRPr lang="zh-CN" sz="975" dirty="0">
                <a:solidFill>
                  <a:srgbClr val="8FA3C4"/>
                </a:solidFill>
                <a:latin typeface="Arial" panose="020B0604020202020204"/>
                <a:ea typeface="微软雅黑" panose="020B0503020204020204" charset="-122"/>
                <a:cs typeface="Arial" panose="020B0604020202020204"/>
              </a:endParaRPr>
            </a:p>
          </p:txBody>
        </p:sp>
      </p:grpSp>
      <p:grpSp>
        <p:nvGrpSpPr>
          <p:cNvPr id="48" name="Group 48"/>
          <p:cNvGrpSpPr/>
          <p:nvPr/>
        </p:nvGrpSpPr>
        <p:grpSpPr>
          <a:xfrm>
            <a:off x="4857750" y="4914900"/>
            <a:ext cx="6477000" cy="876300"/>
            <a:chOff x="4857750" y="4914900"/>
            <a:chExt cx="6477000" cy="876300"/>
          </a:xfrm>
        </p:grpSpPr>
        <p:sp>
          <p:nvSpPr>
            <p:cNvPr id="42" name="Rectangle 42"/>
            <p:cNvSpPr/>
            <p:nvPr/>
          </p:nvSpPr>
          <p:spPr>
            <a:xfrm>
              <a:off x="4857750" y="4914900"/>
              <a:ext cx="6477000" cy="876300"/>
            </a:xfrm>
            <a:prstGeom prst="roundRect">
              <a:avLst>
                <a:gd name="adj" fmla="val 13043"/>
              </a:avLst>
            </a:prstGeom>
            <a:solidFill>
              <a:srgbClr val="FFFFFF"/>
            </a:solidFill>
            <a:ln w="14288">
              <a:solidFill>
                <a:srgbClr val="E3E9F2"/>
              </a:solidFill>
            </a:ln>
          </p:spPr>
        </p:sp>
        <p:sp>
          <p:nvSpPr>
            <p:cNvPr id="43" name="Rectangle 43"/>
            <p:cNvSpPr/>
            <p:nvPr/>
          </p:nvSpPr>
          <p:spPr>
            <a:xfrm>
              <a:off x="4857750" y="4914900"/>
              <a:ext cx="57150" cy="876300"/>
            </a:xfrm>
            <a:prstGeom prst="roundRect">
              <a:avLst>
                <a:gd name="adj" fmla="val 50000"/>
              </a:avLst>
            </a:prstGeom>
            <a:solidFill>
              <a:srgbClr val="246BFE"/>
            </a:solidFill>
            <a:ln>
              <a:noFill/>
            </a:ln>
          </p:spPr>
        </p:sp>
        <p:sp>
          <p:nvSpPr>
            <p:cNvPr id="44" name="TextBox 44"/>
            <p:cNvSpPr txBox="1"/>
            <p:nvPr/>
          </p:nvSpPr>
          <p:spPr>
            <a:xfrm>
              <a:off x="5105400" y="4943475"/>
              <a:ext cx="538258" cy="609600"/>
            </a:xfrm>
            <a:prstGeom prst="rect">
              <a:avLst/>
            </a:prstGeom>
            <a:noFill/>
            <a:ln>
              <a:noFill/>
            </a:ln>
          </p:spPr>
          <p:txBody>
            <a:bodyPr wrap="none" lIns="0" tIns="0" rIns="0" bIns="0" anchor="t" anchorCtr="0">
              <a:spAutoFit/>
            </a:bodyPr>
            <a:lstStyle/>
            <a:p>
              <a:pPr algn="l"/>
              <a:r>
                <a:rPr lang="zh-CN" sz="3000" b="1" dirty="0">
                  <a:gradFill>
                    <a:gsLst>
                      <a:gs pos="0">
                        <a:srgbClr val="246BFE"/>
                      </a:gs>
                      <a:gs pos="100000">
                        <a:srgbClr val="0052A6"/>
                      </a:gs>
                    </a:gsLst>
                    <a:lin ang="5400000" scaled="1"/>
                  </a:gradFill>
                  <a:latin typeface="Arial" panose="020B0604020202020204"/>
                  <a:ea typeface="微软雅黑" panose="020B0503020204020204" charset="-122"/>
                  <a:cs typeface="Arial" panose="020B0604020202020204"/>
                </a:rPr>
                <a:t>04</a:t>
              </a:r>
              <a:endParaRPr lang="zh-CN" sz="3000" b="1" dirty="0">
                <a:gradFill>
                  <a:gsLst>
                    <a:gs pos="0">
                      <a:srgbClr val="246BFE"/>
                    </a:gs>
                    <a:gs pos="100000">
                      <a:srgbClr val="0052A6"/>
                    </a:gs>
                  </a:gsLst>
                  <a:lin ang="5400000" scaled="1"/>
                </a:gradFill>
                <a:latin typeface="Arial" panose="020B0604020202020204"/>
                <a:ea typeface="微软雅黑" panose="020B0503020204020204" charset="-122"/>
                <a:cs typeface="Arial" panose="020B0604020202020204"/>
              </a:endParaRPr>
            </a:p>
          </p:txBody>
        </p:sp>
        <p:sp>
          <p:nvSpPr>
            <p:cNvPr id="45" name="TextBox 45"/>
            <p:cNvSpPr txBox="1"/>
            <p:nvPr/>
          </p:nvSpPr>
          <p:spPr>
            <a:xfrm>
              <a:off x="5836920" y="5089208"/>
              <a:ext cx="1890141"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价值、实施与保障</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5844540" y="5477828"/>
              <a:ext cx="3205067"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panose="020B0604020202020204"/>
                  <a:ea typeface="微软雅黑" panose="020B0503020204020204" charset="-122"/>
                  <a:cs typeface="Arial" panose="020B0604020202020204"/>
                </a:rPr>
                <a:t>Value &amp; Delivery · 价值矩阵、实施路径、法本保障</a:t>
              </a:r>
              <a:endParaRPr lang="zh-CN" sz="1050" dirty="0">
                <a:solidFill>
                  <a:srgbClr val="5E6A78"/>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10362795" y="5352574"/>
              <a:ext cx="603337" cy="198120"/>
            </a:xfrm>
            <a:prstGeom prst="rect">
              <a:avLst/>
            </a:prstGeom>
            <a:noFill/>
            <a:ln>
              <a:noFill/>
            </a:ln>
          </p:spPr>
          <p:txBody>
            <a:bodyPr wrap="none" lIns="0" tIns="0" rIns="0" bIns="0" anchor="t" anchorCtr="0">
              <a:spAutoFit/>
            </a:bodyPr>
            <a:lstStyle/>
            <a:p>
              <a:pPr algn="r"/>
              <a:r>
                <a:rPr lang="zh-CN" sz="975" dirty="0">
                  <a:solidFill>
                    <a:srgbClr val="6B7785"/>
                  </a:solidFill>
                  <a:latin typeface="Arial" panose="020B0604020202020204"/>
                  <a:ea typeface="微软雅黑" panose="020B0503020204020204" charset="-122"/>
                  <a:cs typeface="Arial" panose="020B0604020202020204"/>
                </a:rPr>
                <a:t>P19 — P23</a:t>
              </a:r>
              <a:endParaRPr lang="zh-CN" sz="97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Bottom)">
                                      <p:cBhvr>
                                        <p:cTn id="7" dur="400"/>
                                        <p:tgtEl>
                                          <p:spTgt spid="2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00"/>
                                        <p:tgtEl>
                                          <p:spTgt spid="3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7" grpId="0"/>
      <p:bldP spid="34" grpId="0"/>
      <p:bldP spid="41" grpId="0"/>
      <p:bldP spid="4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2A5E"/>
                </a:gs>
                <a:gs pos="100000">
                  <a:srgbClr val="17365D"/>
                </a:gs>
              </a:gsLst>
              <a:lin ang="2700000" scaled="1"/>
            </a:gradFill>
            <a:ln>
              <a:noFill/>
            </a:ln>
          </p:spPr>
        </p:sp>
        <p:sp>
          <p:nvSpPr>
            <p:cNvPr id="3" name="Rectangle 3"/>
            <p:cNvSpPr/>
            <p:nvPr/>
          </p:nvSpPr>
          <p:spPr>
            <a:xfrm>
              <a:off x="0" y="0"/>
              <a:ext cx="12192000" cy="6858000"/>
            </a:xfrm>
            <a:prstGeom prst="rect">
              <a:avLst/>
            </a:prstGeom>
            <a:gradFill>
              <a:gsLst>
                <a:gs pos="0">
                  <a:srgbClr val="246BFE">
                    <a:alpha val="20000"/>
                  </a:srgbClr>
                </a:gs>
                <a:gs pos="100000">
                  <a:srgbClr val="246BFE">
                    <a:alpha val="0"/>
                  </a:srgbClr>
                </a:gs>
              </a:gsLst>
              <a:path path="circle">
                <a:fillToRect l="50000" t="50000" r="50000" b="50000"/>
              </a:path>
            </a:gradFill>
            <a:ln>
              <a:noFill/>
            </a:ln>
          </p:spPr>
        </p:sp>
      </p:grpSp>
      <p:grpSp>
        <p:nvGrpSpPr>
          <p:cNvPr id="9" name="Group 9"/>
          <p:cNvGrpSpPr/>
          <p:nvPr/>
        </p:nvGrpSpPr>
        <p:grpSpPr>
          <a:xfrm>
            <a:off x="1866900" y="1381125"/>
            <a:ext cx="8734425" cy="3990975"/>
            <a:chOff x="1866900" y="1381125"/>
            <a:chExt cx="8734425" cy="3990975"/>
          </a:xfrm>
        </p:grpSpPr>
        <p:sp>
          <p:nvSpPr>
            <p:cNvPr id="5" name="Ellipse 5"/>
            <p:cNvSpPr/>
            <p:nvPr/>
          </p:nvSpPr>
          <p:spPr>
            <a:xfrm>
              <a:off x="9953625" y="1381125"/>
              <a:ext cx="95250" cy="95250"/>
            </a:xfrm>
            <a:prstGeom prst="ellipse">
              <a:avLst/>
            </a:prstGeom>
            <a:solidFill>
              <a:srgbClr val="518FEC">
                <a:alpha val="25000"/>
              </a:srgbClr>
            </a:solidFill>
            <a:ln>
              <a:noFill/>
            </a:ln>
          </p:spPr>
        </p:sp>
        <p:sp>
          <p:nvSpPr>
            <p:cNvPr id="6" name="Ellipse 6"/>
            <p:cNvSpPr/>
            <p:nvPr/>
          </p:nvSpPr>
          <p:spPr>
            <a:xfrm>
              <a:off x="10544175" y="1971675"/>
              <a:ext cx="57150" cy="57150"/>
            </a:xfrm>
            <a:prstGeom prst="ellipse">
              <a:avLst/>
            </a:prstGeom>
            <a:solidFill>
              <a:srgbClr val="246BFE">
                <a:alpha val="30000"/>
              </a:srgbClr>
            </a:solidFill>
            <a:ln>
              <a:noFill/>
            </a:ln>
          </p:spPr>
        </p:sp>
        <p:sp>
          <p:nvSpPr>
            <p:cNvPr id="7" name="Ellipse 7"/>
            <p:cNvSpPr/>
            <p:nvPr/>
          </p:nvSpPr>
          <p:spPr>
            <a:xfrm>
              <a:off x="9405938" y="2166938"/>
              <a:ext cx="47625" cy="47625"/>
            </a:xfrm>
            <a:prstGeom prst="ellipse">
              <a:avLst/>
            </a:prstGeom>
            <a:solidFill>
              <a:srgbClr val="518FEC">
                <a:alpha val="20000"/>
              </a:srgbClr>
            </a:solidFill>
            <a:ln>
              <a:noFill/>
            </a:ln>
          </p:spPr>
        </p:sp>
        <p:sp>
          <p:nvSpPr>
            <p:cNvPr id="8" name="Ellipse 8"/>
            <p:cNvSpPr/>
            <p:nvPr/>
          </p:nvSpPr>
          <p:spPr>
            <a:xfrm>
              <a:off x="1866900" y="5295900"/>
              <a:ext cx="76200" cy="76200"/>
            </a:xfrm>
            <a:prstGeom prst="ellipse">
              <a:avLst/>
            </a:prstGeom>
            <a:solidFill>
              <a:srgbClr val="518FEC">
                <a:alpha val="18000"/>
              </a:srgbClr>
            </a:solidFill>
            <a:ln>
              <a:noFill/>
            </a:ln>
          </p:spPr>
        </p:sp>
      </p:grpSp>
      <p:grpSp>
        <p:nvGrpSpPr>
          <p:cNvPr id="11" name="Group 11"/>
          <p:cNvGrpSpPr/>
          <p:nvPr/>
        </p:nvGrpSpPr>
        <p:grpSpPr>
          <a:xfrm>
            <a:off x="647700" y="1838325"/>
            <a:ext cx="2960418" cy="3352800"/>
            <a:chOff x="647700" y="1838325"/>
            <a:chExt cx="2960418" cy="3352800"/>
          </a:xfrm>
        </p:grpSpPr>
        <p:sp>
          <p:nvSpPr>
            <p:cNvPr id="10" name="TextBox 10"/>
            <p:cNvSpPr txBox="1"/>
            <p:nvPr/>
          </p:nvSpPr>
          <p:spPr>
            <a:xfrm>
              <a:off x="647700" y="1838325"/>
              <a:ext cx="2960418" cy="3352800"/>
            </a:xfrm>
            <a:prstGeom prst="rect">
              <a:avLst/>
            </a:prstGeom>
            <a:noFill/>
            <a:ln>
              <a:noFill/>
            </a:ln>
          </p:spPr>
          <p:txBody>
            <a:bodyPr wrap="none" lIns="0" tIns="0" rIns="0" bIns="0" anchor="t" anchorCtr="0">
              <a:spAutoFit/>
            </a:bodyPr>
            <a:lstStyle/>
            <a:p>
              <a:pPr algn="l"/>
              <a:r>
                <a:rPr lang="zh-CN" sz="16500" b="1" dirty="0">
                  <a:solidFill>
                    <a:srgbClr val="246BFE">
                      <a:alphaMod val="22000"/>
                    </a:srgbClr>
                  </a:solidFill>
                  <a:latin typeface="Arial" panose="020B0604020202020204"/>
                  <a:ea typeface="微软雅黑" panose="020B0503020204020204" charset="-122"/>
                  <a:cs typeface="Arial" panose="020B0604020202020204"/>
                </a:rPr>
                <a:t>01</a:t>
              </a:r>
              <a:endParaRPr lang="zh-CN" sz="16500" b="1" dirty="0">
                <a:solidFill>
                  <a:srgbClr val="246BFE">
                    <a:alphaMod val="22000"/>
                  </a:srgbClr>
                </a:solidFill>
                <a:latin typeface="Arial" panose="020B0604020202020204"/>
                <a:ea typeface="微软雅黑" panose="020B0503020204020204" charset="-122"/>
                <a:cs typeface="Arial" panose="020B0604020202020204"/>
              </a:endParaRPr>
            </a:p>
          </p:txBody>
        </p:sp>
      </p:grpSp>
      <p:grpSp>
        <p:nvGrpSpPr>
          <p:cNvPr id="16" name="Group 16"/>
          <p:cNvGrpSpPr/>
          <p:nvPr/>
        </p:nvGrpSpPr>
        <p:grpSpPr>
          <a:xfrm>
            <a:off x="819150" y="2762250"/>
            <a:ext cx="3856673" cy="1809750"/>
            <a:chOff x="819150" y="2762250"/>
            <a:chExt cx="3856673" cy="1809750"/>
          </a:xfrm>
        </p:grpSpPr>
        <p:sp>
          <p:nvSpPr>
            <p:cNvPr id="12" name="Rectangle 12"/>
            <p:cNvSpPr/>
            <p:nvPr/>
          </p:nvSpPr>
          <p:spPr>
            <a:xfrm>
              <a:off x="857250" y="2762250"/>
              <a:ext cx="685800" cy="57150"/>
            </a:xfrm>
            <a:prstGeom prst="roundRect">
              <a:avLst>
                <a:gd name="adj" fmla="val 50000"/>
              </a:avLst>
            </a:prstGeom>
            <a:solidFill>
              <a:srgbClr val="518FEC"/>
            </a:solidFill>
            <a:ln>
              <a:noFill/>
            </a:ln>
          </p:spPr>
        </p:sp>
        <p:sp>
          <p:nvSpPr>
            <p:cNvPr id="13" name="TextBox 13"/>
            <p:cNvSpPr txBox="1"/>
            <p:nvPr/>
          </p:nvSpPr>
          <p:spPr>
            <a:xfrm>
              <a:off x="838200" y="3124200"/>
              <a:ext cx="1140738" cy="304800"/>
            </a:xfrm>
            <a:prstGeom prst="rect">
              <a:avLst/>
            </a:prstGeom>
            <a:noFill/>
            <a:ln>
              <a:noFill/>
            </a:ln>
          </p:spPr>
          <p:txBody>
            <a:bodyPr wrap="none" lIns="0" tIns="0" rIns="0" bIns="0" anchor="t" anchorCtr="0">
              <a:spAutoFit/>
            </a:bodyPr>
            <a:lstStyle/>
            <a:p>
              <a:pPr algn="l"/>
              <a:r>
                <a:rPr lang="zh-CN" sz="1500" b="1" dirty="0">
                  <a:solidFill>
                    <a:srgbClr val="518FEC"/>
                  </a:solidFill>
                  <a:latin typeface="Arial" panose="020B0604020202020204"/>
                  <a:ea typeface="微软雅黑" panose="020B0503020204020204" charset="-122"/>
                  <a:cs typeface="Arial" panose="020B0604020202020204"/>
                </a:rPr>
                <a:t>CHAPTER 01</a:t>
              </a:r>
              <a:endParaRPr lang="zh-CN" sz="1500" b="1" dirty="0">
                <a:solidFill>
                  <a:srgbClr val="518FEC"/>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819150" y="3629025"/>
              <a:ext cx="3856673"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panose="020B0604020202020204"/>
                  <a:ea typeface="微软雅黑" panose="020B0503020204020204" charset="-122"/>
                  <a:cs typeface="Arial" panose="020B0604020202020204"/>
                </a:rPr>
                <a:t>客户理解与价值主张</a:t>
              </a:r>
              <a:endParaRPr lang="zh-CN" sz="3000" b="1" dirty="0">
                <a:solidFill>
                  <a:srgbClr val="FFFFFF"/>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838200" y="4267200"/>
              <a:ext cx="3128486" cy="304800"/>
            </a:xfrm>
            <a:prstGeom prst="rect">
              <a:avLst/>
            </a:prstGeom>
            <a:noFill/>
            <a:ln>
              <a:noFill/>
            </a:ln>
          </p:spPr>
          <p:txBody>
            <a:bodyPr wrap="none" lIns="0" tIns="0" rIns="0" bIns="0" anchor="t" anchorCtr="0">
              <a:spAutoFit/>
            </a:bodyPr>
            <a:lstStyle/>
            <a:p>
              <a:pPr algn="l"/>
              <a:r>
                <a:rPr lang="zh-CN" sz="1500" dirty="0">
                  <a:solidFill>
                    <a:srgbClr val="B8C7E0"/>
                  </a:solidFill>
                  <a:latin typeface="Arial" panose="020B0604020202020204"/>
                  <a:ea typeface="微软雅黑" panose="020B0503020204020204" charset="-122"/>
                  <a:cs typeface="Arial" panose="020B0604020202020204"/>
                </a:rPr>
                <a:t>与高力国际共建商业地产 AI 新基建</a:t>
              </a:r>
              <a:endParaRPr lang="zh-CN" sz="1500" dirty="0">
                <a:solidFill>
                  <a:srgbClr val="B8C7E0"/>
                </a:solidFill>
                <a:latin typeface="Arial" panose="020B0604020202020204"/>
                <a:ea typeface="微软雅黑" panose="020B0503020204020204" charset="-122"/>
                <a:cs typeface="Arial" panose="020B0604020202020204"/>
              </a:endParaRPr>
            </a:p>
          </p:txBody>
        </p:sp>
      </p:grpSp>
      <p:grpSp>
        <p:nvGrpSpPr>
          <p:cNvPr id="19" name="Group 19"/>
          <p:cNvGrpSpPr/>
          <p:nvPr/>
        </p:nvGrpSpPr>
        <p:grpSpPr>
          <a:xfrm>
            <a:off x="844868" y="5905500"/>
            <a:ext cx="2742105" cy="426244"/>
            <a:chOff x="844868" y="5905500"/>
            <a:chExt cx="2742105" cy="426244"/>
          </a:xfrm>
        </p:grpSpPr>
        <p:sp>
          <p:nvSpPr>
            <p:cNvPr id="17" name="Line 17"/>
            <p:cNvSpPr/>
            <p:nvPr/>
          </p:nvSpPr>
          <p:spPr>
            <a:xfrm>
              <a:off x="857250" y="5905500"/>
              <a:ext cx="857250" cy="9525"/>
            </a:xfrm>
            <a:custGeom>
              <a:avLst/>
              <a:gdLst/>
              <a:ahLst/>
              <a:cxnLst/>
              <a:rect l="l" t="t" r="r" b="b"/>
              <a:pathLst>
                <a:path w="857250" h="9525">
                  <a:moveTo>
                    <a:pt x="0" y="0"/>
                  </a:moveTo>
                  <a:lnTo>
                    <a:pt x="857250" y="0"/>
                  </a:lnTo>
                </a:path>
              </a:pathLst>
            </a:custGeom>
            <a:noFill/>
            <a:ln w="19050">
              <a:solidFill>
                <a:srgbClr val="518FEC"/>
              </a:solidFill>
            </a:ln>
          </p:spPr>
        </p:sp>
        <p:sp>
          <p:nvSpPr>
            <p:cNvPr id="18" name="TextBox 18"/>
            <p:cNvSpPr txBox="1"/>
            <p:nvPr/>
          </p:nvSpPr>
          <p:spPr>
            <a:xfrm>
              <a:off x="844868" y="6133624"/>
              <a:ext cx="2742105"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FarAI × Colliers · 商业地产 AI 智能化解决方案</a:t>
              </a:r>
              <a:endParaRPr lang="zh-CN" sz="975" dirty="0">
                <a:solidFill>
                  <a:srgbClr val="8FA3C4"/>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7404735" cy="970598"/>
            <a:chOff x="542925" y="553402"/>
            <a:chExt cx="7404735" cy="970598"/>
          </a:xfrm>
        </p:grpSpPr>
        <p:sp>
          <p:nvSpPr>
            <p:cNvPr id="5" name="TextBox 5"/>
            <p:cNvSpPr txBox="1"/>
            <p:nvPr/>
          </p:nvSpPr>
          <p:spPr>
            <a:xfrm>
              <a:off x="558165" y="553402"/>
              <a:ext cx="820569"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01 客户理解</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5491579"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高力国际 — 全球商业地产"五大行"之一</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7391400"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非传统物业公司,而是商业地产全生命周期服务商;FarAI 愿为其打造覆盖招聘—商机—投标—营销的 AI 闭环</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21" name="Group 21"/>
          <p:cNvGrpSpPr/>
          <p:nvPr/>
        </p:nvGrpSpPr>
        <p:grpSpPr>
          <a:xfrm>
            <a:off x="556260" y="1800225"/>
            <a:ext cx="3638931" cy="904875"/>
            <a:chOff x="556260" y="1800225"/>
            <a:chExt cx="3638931" cy="904875"/>
          </a:xfrm>
        </p:grpSpPr>
        <p:grpSp>
          <p:nvGrpSpPr>
            <p:cNvPr id="17" name="Group 17"/>
            <p:cNvGrpSpPr/>
            <p:nvPr/>
          </p:nvGrpSpPr>
          <p:grpSpPr>
            <a:xfrm>
              <a:off x="609600" y="1800225"/>
              <a:ext cx="228600" cy="238125"/>
              <a:chOff x="609600" y="1800225"/>
              <a:chExt cx="228600" cy="238125"/>
            </a:xfrm>
          </p:grpSpPr>
          <p:sp>
            <p:nvSpPr>
              <p:cNvPr id="9" name="Freeform 9"/>
              <p:cNvSpPr/>
              <p:nvPr/>
            </p:nvSpPr>
            <p:spPr>
              <a:xfrm>
                <a:off x="609600" y="2028825"/>
                <a:ext cx="228600" cy="9525"/>
              </a:xfrm>
              <a:custGeom>
                <a:avLst/>
                <a:gdLst/>
                <a:ahLst/>
                <a:cxnLst/>
                <a:rect l="l" t="t" r="r" b="b"/>
                <a:pathLst>
                  <a:path w="228600" h="9525">
                    <a:moveTo>
                      <a:pt x="0" y="0"/>
                    </a:moveTo>
                    <a:lnTo>
                      <a:pt x="228600" y="0"/>
                    </a:lnTo>
                  </a:path>
                </a:pathLst>
              </a:custGeom>
              <a:noFill/>
              <a:ln w="19050">
                <a:solidFill>
                  <a:srgbClr val="0052A6"/>
                </a:solidFill>
              </a:ln>
            </p:spPr>
          </p:sp>
          <p:sp>
            <p:nvSpPr>
              <p:cNvPr id="10" name="Freeform 10"/>
              <p:cNvSpPr/>
              <p:nvPr/>
            </p:nvSpPr>
            <p:spPr>
              <a:xfrm>
                <a:off x="685800" y="1863725"/>
                <a:ext cx="12700" cy="9525"/>
              </a:xfrm>
              <a:custGeom>
                <a:avLst/>
                <a:gdLst/>
                <a:ahLst/>
                <a:cxnLst/>
                <a:rect l="l" t="t" r="r" b="b"/>
                <a:pathLst>
                  <a:path w="12700" h="9525">
                    <a:moveTo>
                      <a:pt x="0" y="0"/>
                    </a:moveTo>
                    <a:lnTo>
                      <a:pt x="12700" y="0"/>
                    </a:lnTo>
                  </a:path>
                </a:pathLst>
              </a:custGeom>
              <a:noFill/>
              <a:ln w="19050">
                <a:solidFill>
                  <a:srgbClr val="0052A6"/>
                </a:solidFill>
              </a:ln>
            </p:spPr>
          </p:sp>
          <p:sp>
            <p:nvSpPr>
              <p:cNvPr id="11" name="Freeform 11"/>
              <p:cNvSpPr/>
              <p:nvPr/>
            </p:nvSpPr>
            <p:spPr>
              <a:xfrm>
                <a:off x="685800" y="1914525"/>
                <a:ext cx="12700" cy="9525"/>
              </a:xfrm>
              <a:custGeom>
                <a:avLst/>
                <a:gdLst/>
                <a:ahLst/>
                <a:cxnLst/>
                <a:rect l="l" t="t" r="r" b="b"/>
                <a:pathLst>
                  <a:path w="12700" h="9525">
                    <a:moveTo>
                      <a:pt x="0" y="0"/>
                    </a:moveTo>
                    <a:lnTo>
                      <a:pt x="12700" y="0"/>
                    </a:lnTo>
                  </a:path>
                </a:pathLst>
              </a:custGeom>
              <a:noFill/>
              <a:ln w="19050">
                <a:solidFill>
                  <a:srgbClr val="0052A6"/>
                </a:solidFill>
              </a:ln>
            </p:spPr>
          </p:sp>
          <p:sp>
            <p:nvSpPr>
              <p:cNvPr id="12" name="Freeform 12"/>
              <p:cNvSpPr/>
              <p:nvPr/>
            </p:nvSpPr>
            <p:spPr>
              <a:xfrm>
                <a:off x="685800" y="1965325"/>
                <a:ext cx="12700" cy="9525"/>
              </a:xfrm>
              <a:custGeom>
                <a:avLst/>
                <a:gdLst/>
                <a:ahLst/>
                <a:cxnLst/>
                <a:rect l="l" t="t" r="r" b="b"/>
                <a:pathLst>
                  <a:path w="12700" h="9525">
                    <a:moveTo>
                      <a:pt x="0" y="0"/>
                    </a:moveTo>
                    <a:lnTo>
                      <a:pt x="12700" y="0"/>
                    </a:lnTo>
                  </a:path>
                </a:pathLst>
              </a:custGeom>
              <a:noFill/>
              <a:ln w="19050">
                <a:solidFill>
                  <a:srgbClr val="0052A6"/>
                </a:solidFill>
              </a:ln>
            </p:spPr>
          </p:sp>
          <p:sp>
            <p:nvSpPr>
              <p:cNvPr id="13" name="Freeform 13"/>
              <p:cNvSpPr/>
              <p:nvPr/>
            </p:nvSpPr>
            <p:spPr>
              <a:xfrm>
                <a:off x="749300" y="1863725"/>
                <a:ext cx="12700" cy="9525"/>
              </a:xfrm>
              <a:custGeom>
                <a:avLst/>
                <a:gdLst/>
                <a:ahLst/>
                <a:cxnLst/>
                <a:rect l="l" t="t" r="r" b="b"/>
                <a:pathLst>
                  <a:path w="12700" h="9525">
                    <a:moveTo>
                      <a:pt x="0" y="0"/>
                    </a:moveTo>
                    <a:lnTo>
                      <a:pt x="12700" y="0"/>
                    </a:lnTo>
                  </a:path>
                </a:pathLst>
              </a:custGeom>
              <a:noFill/>
              <a:ln w="19050">
                <a:solidFill>
                  <a:srgbClr val="0052A6"/>
                </a:solidFill>
              </a:ln>
            </p:spPr>
          </p:sp>
          <p:sp>
            <p:nvSpPr>
              <p:cNvPr id="14" name="Freeform 14"/>
              <p:cNvSpPr/>
              <p:nvPr/>
            </p:nvSpPr>
            <p:spPr>
              <a:xfrm>
                <a:off x="749300" y="1914525"/>
                <a:ext cx="12700" cy="9525"/>
              </a:xfrm>
              <a:custGeom>
                <a:avLst/>
                <a:gdLst/>
                <a:ahLst/>
                <a:cxnLst/>
                <a:rect l="l" t="t" r="r" b="b"/>
                <a:pathLst>
                  <a:path w="12700" h="9525">
                    <a:moveTo>
                      <a:pt x="0" y="0"/>
                    </a:moveTo>
                    <a:lnTo>
                      <a:pt x="12700" y="0"/>
                    </a:lnTo>
                  </a:path>
                </a:pathLst>
              </a:custGeom>
              <a:noFill/>
              <a:ln w="19050">
                <a:solidFill>
                  <a:srgbClr val="0052A6"/>
                </a:solidFill>
              </a:ln>
            </p:spPr>
          </p:sp>
          <p:sp>
            <p:nvSpPr>
              <p:cNvPr id="15" name="Freeform 15"/>
              <p:cNvSpPr/>
              <p:nvPr/>
            </p:nvSpPr>
            <p:spPr>
              <a:xfrm>
                <a:off x="749300" y="1965325"/>
                <a:ext cx="12700" cy="9525"/>
              </a:xfrm>
              <a:custGeom>
                <a:avLst/>
                <a:gdLst/>
                <a:ahLst/>
                <a:cxnLst/>
                <a:rect l="l" t="t" r="r" b="b"/>
                <a:pathLst>
                  <a:path w="12700" h="9525">
                    <a:moveTo>
                      <a:pt x="0" y="0"/>
                    </a:moveTo>
                    <a:lnTo>
                      <a:pt x="12700" y="0"/>
                    </a:lnTo>
                  </a:path>
                </a:pathLst>
              </a:custGeom>
              <a:noFill/>
              <a:ln w="19050">
                <a:solidFill>
                  <a:srgbClr val="0052A6"/>
                </a:solidFill>
              </a:ln>
            </p:spPr>
          </p:sp>
          <p:sp>
            <p:nvSpPr>
              <p:cNvPr id="16" name="Freeform 16"/>
              <p:cNvSpPr/>
              <p:nvPr/>
            </p:nvSpPr>
            <p:spPr>
              <a:xfrm>
                <a:off x="635000" y="1800225"/>
                <a:ext cx="177800" cy="228600"/>
              </a:xfrm>
              <a:custGeom>
                <a:avLst/>
                <a:gdLst/>
                <a:ahLst/>
                <a:cxnLst/>
                <a:rect l="l" t="t" r="r" b="b"/>
                <a:pathLst>
                  <a:path w="177800" h="228600">
                    <a:moveTo>
                      <a:pt x="0" y="228600"/>
                    </a:moveTo>
                    <a:lnTo>
                      <a:pt x="0" y="25400"/>
                    </a:lnTo>
                    <a:cubicBezTo>
                      <a:pt x="0" y="11372"/>
                      <a:pt x="11372" y="0"/>
                      <a:pt x="25400" y="0"/>
                    </a:cubicBezTo>
                    <a:lnTo>
                      <a:pt x="152400" y="0"/>
                    </a:lnTo>
                    <a:cubicBezTo>
                      <a:pt x="166428" y="0"/>
                      <a:pt x="177800" y="11372"/>
                      <a:pt x="177800" y="25400"/>
                    </a:cubicBezTo>
                    <a:lnTo>
                      <a:pt x="177800" y="228600"/>
                    </a:lnTo>
                  </a:path>
                </a:pathLst>
              </a:custGeom>
              <a:noFill/>
              <a:ln w="19050">
                <a:solidFill>
                  <a:srgbClr val="0052A6"/>
                </a:solidFill>
              </a:ln>
            </p:spPr>
          </p:sp>
        </p:grpSp>
        <p:sp>
          <p:nvSpPr>
            <p:cNvPr id="18" name="TextBox 18"/>
            <p:cNvSpPr txBox="1"/>
            <p:nvPr/>
          </p:nvSpPr>
          <p:spPr>
            <a:xfrm>
              <a:off x="971550" y="1828800"/>
              <a:ext cx="878205" cy="304800"/>
            </a:xfrm>
            <a:prstGeom prst="rect">
              <a:avLst/>
            </a:prstGeom>
            <a:noFill/>
            <a:ln>
              <a:noFill/>
            </a:ln>
          </p:spPr>
          <p:txBody>
            <a:bodyPr wrap="none" lIns="0" tIns="0" rIns="0" bIns="0" anchor="t" anchorCtr="0">
              <a:spAutoFit/>
            </a:bodyPr>
            <a:lstStyle/>
            <a:p>
              <a:pPr algn="l"/>
              <a:r>
                <a:rPr lang="zh-CN" sz="1500" b="1" dirty="0">
                  <a:solidFill>
                    <a:srgbClr val="17365D"/>
                  </a:solidFill>
                  <a:latin typeface="Arial" panose="020B0604020202020204"/>
                  <a:ea typeface="微软雅黑" panose="020B0503020204020204" charset="-122"/>
                  <a:cs typeface="Arial" panose="020B0604020202020204"/>
                </a:rPr>
                <a:t>行业定位</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556260" y="2204085"/>
              <a:ext cx="3638931"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panose="020B0604020202020204"/>
                  <a:ea typeface="微软雅黑" panose="020B0503020204020204" charset="-122"/>
                  <a:cs typeface="Arial" panose="020B0604020202020204"/>
                </a:rPr>
                <a:t>高力国际(Colliers),全球商业地产 </a:t>
              </a:r>
              <a:r>
                <a:rPr lang="zh-CN" sz="1200" b="1" dirty="0">
                  <a:solidFill>
                    <a:srgbClr val="0052A6"/>
                  </a:solidFill>
                  <a:latin typeface="Arial" panose="020B0604020202020204"/>
                  <a:ea typeface="微软雅黑" panose="020B0503020204020204" charset="-122"/>
                  <a:cs typeface="Arial" panose="020B0604020202020204"/>
                </a:rPr>
                <a:t>"五大行"</a:t>
              </a:r>
              <a:r>
                <a:rPr lang="zh-CN" sz="1200" dirty="0">
                  <a:solidFill>
                    <a:srgbClr val="25364A"/>
                  </a:solidFill>
                  <a:latin typeface="Arial" panose="020B0604020202020204"/>
                  <a:ea typeface="微软雅黑" panose="020B0503020204020204" charset="-122"/>
                  <a:cs typeface="Arial" panose="020B0604020202020204"/>
                </a:rPr>
                <a:t> 之一,</a:t>
              </a:r>
              <a:endParaRPr lang="zh-CN" sz="1200" dirty="0">
                <a:solidFill>
                  <a:srgbClr val="25364A"/>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556260" y="2461260"/>
              <a:ext cx="2590800"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panose="020B0604020202020204"/>
                  <a:ea typeface="微软雅黑" panose="020B0503020204020204" charset="-122"/>
                  <a:cs typeface="Arial" panose="020B0604020202020204"/>
                </a:rPr>
                <a:t>围绕商业地产提供全生命周期服务。</a:t>
              </a:r>
              <a:endParaRPr lang="zh-CN" sz="1200" dirty="0">
                <a:solidFill>
                  <a:srgbClr val="25364A"/>
                </a:solidFill>
                <a:latin typeface="Arial" panose="020B0604020202020204"/>
                <a:ea typeface="微软雅黑" panose="020B0503020204020204" charset="-122"/>
                <a:cs typeface="Arial" panose="020B0604020202020204"/>
              </a:endParaRPr>
            </a:p>
          </p:txBody>
        </p:sp>
      </p:grpSp>
      <p:grpSp>
        <p:nvGrpSpPr>
          <p:cNvPr id="39" name="Group 39"/>
          <p:cNvGrpSpPr/>
          <p:nvPr/>
        </p:nvGrpSpPr>
        <p:grpSpPr>
          <a:xfrm>
            <a:off x="571500" y="2905125"/>
            <a:ext cx="3524250" cy="2143125"/>
            <a:chOff x="571500" y="2905125"/>
            <a:chExt cx="3524250" cy="2143125"/>
          </a:xfrm>
        </p:grpSpPr>
        <p:sp>
          <p:nvSpPr>
            <p:cNvPr id="22" name="Rectangle 22"/>
            <p:cNvSpPr/>
            <p:nvPr/>
          </p:nvSpPr>
          <p:spPr>
            <a:xfrm>
              <a:off x="571500" y="2905125"/>
              <a:ext cx="3524250" cy="2143125"/>
            </a:xfrm>
            <a:prstGeom prst="roundRect">
              <a:avLst>
                <a:gd name="adj" fmla="val 5333"/>
              </a:avLst>
            </a:prstGeom>
            <a:solidFill>
              <a:srgbClr val="F4F7FC"/>
            </a:solidFill>
            <a:ln>
              <a:noFill/>
            </a:ln>
          </p:spPr>
        </p:sp>
        <p:sp>
          <p:nvSpPr>
            <p:cNvPr id="23" name="Rectangle 23"/>
            <p:cNvSpPr/>
            <p:nvPr/>
          </p:nvSpPr>
          <p:spPr>
            <a:xfrm>
              <a:off x="571500" y="2905125"/>
              <a:ext cx="3524250" cy="457200"/>
            </a:xfrm>
            <a:prstGeom prst="roundRect">
              <a:avLst>
                <a:gd name="adj" fmla="val 25000"/>
              </a:avLst>
            </a:prstGeom>
            <a:solidFill>
              <a:srgbClr val="0052A6"/>
            </a:solidFill>
            <a:ln>
              <a:noFill/>
            </a:ln>
          </p:spPr>
        </p:sp>
        <p:sp>
          <p:nvSpPr>
            <p:cNvPr id="24" name="Rectangle 24"/>
            <p:cNvSpPr/>
            <p:nvPr/>
          </p:nvSpPr>
          <p:spPr>
            <a:xfrm>
              <a:off x="571500" y="3209925"/>
              <a:ext cx="3524250" cy="152400"/>
            </a:xfrm>
            <a:prstGeom prst="rect">
              <a:avLst/>
            </a:prstGeom>
            <a:solidFill>
              <a:srgbClr val="0052A6"/>
            </a:solidFill>
            <a:ln>
              <a:noFill/>
            </a:ln>
          </p:spPr>
        </p:sp>
        <p:grpSp>
          <p:nvGrpSpPr>
            <p:cNvPr id="29" name="Group 29"/>
            <p:cNvGrpSpPr/>
            <p:nvPr/>
          </p:nvGrpSpPr>
          <p:grpSpPr>
            <a:xfrm>
              <a:off x="792956" y="3040856"/>
              <a:ext cx="185738" cy="175419"/>
              <a:chOff x="792956" y="3040856"/>
              <a:chExt cx="185738" cy="175419"/>
            </a:xfrm>
          </p:grpSpPr>
          <p:sp>
            <p:nvSpPr>
              <p:cNvPr id="25" name="Freeform 25"/>
              <p:cNvSpPr/>
              <p:nvPr/>
            </p:nvSpPr>
            <p:spPr>
              <a:xfrm>
                <a:off x="792956" y="3082131"/>
                <a:ext cx="185738" cy="134144"/>
              </a:xfrm>
              <a:custGeom>
                <a:avLst/>
                <a:gdLst/>
                <a:ahLst/>
                <a:cxnLst/>
                <a:rect l="l" t="t" r="r" b="b"/>
                <a:pathLst>
                  <a:path w="185738" h="134144">
                    <a:moveTo>
                      <a:pt x="0" y="20638"/>
                    </a:moveTo>
                    <a:cubicBezTo>
                      <a:pt x="0" y="9240"/>
                      <a:pt x="9240" y="0"/>
                      <a:pt x="20638" y="0"/>
                    </a:cubicBezTo>
                    <a:lnTo>
                      <a:pt x="165100" y="0"/>
                    </a:lnTo>
                    <a:cubicBezTo>
                      <a:pt x="176498" y="0"/>
                      <a:pt x="185738" y="9240"/>
                      <a:pt x="185738" y="20638"/>
                    </a:cubicBezTo>
                    <a:lnTo>
                      <a:pt x="185738" y="113506"/>
                    </a:lnTo>
                    <a:cubicBezTo>
                      <a:pt x="185738" y="124904"/>
                      <a:pt x="176498" y="134144"/>
                      <a:pt x="165100" y="134144"/>
                    </a:cubicBezTo>
                    <a:lnTo>
                      <a:pt x="20638" y="134144"/>
                    </a:lnTo>
                    <a:cubicBezTo>
                      <a:pt x="9240" y="134144"/>
                      <a:pt x="0" y="124904"/>
                      <a:pt x="0" y="113506"/>
                    </a:cubicBezTo>
                    <a:lnTo>
                      <a:pt x="0" y="20638"/>
                    </a:lnTo>
                  </a:path>
                </a:pathLst>
              </a:custGeom>
              <a:noFill/>
              <a:ln w="19050">
                <a:solidFill>
                  <a:srgbClr val="FFFFFF"/>
                </a:solidFill>
              </a:ln>
            </p:spPr>
          </p:sp>
          <p:sp>
            <p:nvSpPr>
              <p:cNvPr id="26" name="Freeform 26"/>
              <p:cNvSpPr/>
              <p:nvPr/>
            </p:nvSpPr>
            <p:spPr>
              <a:xfrm>
                <a:off x="844550" y="3040856"/>
                <a:ext cx="82550" cy="41275"/>
              </a:xfrm>
              <a:custGeom>
                <a:avLst/>
                <a:gdLst/>
                <a:ahLst/>
                <a:cxnLst/>
                <a:rect l="l" t="t" r="r" b="b"/>
                <a:pathLst>
                  <a:path w="82550" h="41275">
                    <a:moveTo>
                      <a:pt x="0" y="41275"/>
                    </a:moveTo>
                    <a:lnTo>
                      <a:pt x="0" y="20638"/>
                    </a:lnTo>
                    <a:cubicBezTo>
                      <a:pt x="0" y="9240"/>
                      <a:pt x="9240" y="0"/>
                      <a:pt x="20637" y="0"/>
                    </a:cubicBezTo>
                    <a:lnTo>
                      <a:pt x="61912" y="0"/>
                    </a:lnTo>
                    <a:cubicBezTo>
                      <a:pt x="73310" y="0"/>
                      <a:pt x="82550" y="9240"/>
                      <a:pt x="82550" y="20638"/>
                    </a:cubicBezTo>
                    <a:lnTo>
                      <a:pt x="82550" y="41275"/>
                    </a:lnTo>
                  </a:path>
                </a:pathLst>
              </a:custGeom>
              <a:noFill/>
              <a:ln w="19050">
                <a:solidFill>
                  <a:srgbClr val="FFFFFF"/>
                </a:solidFill>
              </a:ln>
            </p:spPr>
          </p:sp>
          <p:sp>
            <p:nvSpPr>
              <p:cNvPr id="27" name="Freeform 27"/>
              <p:cNvSpPr/>
              <p:nvPr/>
            </p:nvSpPr>
            <p:spPr>
              <a:xfrm>
                <a:off x="885825" y="3133725"/>
                <a:ext cx="9525" cy="9525"/>
              </a:xfrm>
              <a:custGeom>
                <a:avLst/>
                <a:gdLst/>
                <a:ahLst/>
                <a:cxnLst/>
                <a:rect l="l" t="t" r="r" b="b"/>
                <a:pathLst>
                  <a:path w="9525" h="9525">
                    <a:moveTo>
                      <a:pt x="0" y="0"/>
                    </a:moveTo>
                    <a:lnTo>
                      <a:pt x="0" y="103"/>
                    </a:lnTo>
                  </a:path>
                </a:pathLst>
              </a:custGeom>
              <a:noFill/>
              <a:ln w="19050">
                <a:solidFill>
                  <a:srgbClr val="FFFFFF"/>
                </a:solidFill>
              </a:ln>
            </p:spPr>
          </p:sp>
          <p:sp>
            <p:nvSpPr>
              <p:cNvPr id="28" name="Freeform 28"/>
              <p:cNvSpPr/>
              <p:nvPr/>
            </p:nvSpPr>
            <p:spPr>
              <a:xfrm>
                <a:off x="792956" y="3144044"/>
                <a:ext cx="185738" cy="29435"/>
              </a:xfrm>
              <a:custGeom>
                <a:avLst/>
                <a:gdLst/>
                <a:ahLst/>
                <a:cxnLst/>
                <a:rect l="l" t="t" r="r" b="b"/>
                <a:pathLst>
                  <a:path w="185738" h="29435">
                    <a:moveTo>
                      <a:pt x="0" y="0"/>
                    </a:moveTo>
                    <a:cubicBezTo>
                      <a:pt x="58414" y="29435"/>
                      <a:pt x="127324" y="29435"/>
                      <a:pt x="185738" y="0"/>
                    </a:cubicBezTo>
                  </a:path>
                </a:pathLst>
              </a:custGeom>
              <a:noFill/>
              <a:ln w="19050">
                <a:solidFill>
                  <a:srgbClr val="FFFFFF"/>
                </a:solidFill>
              </a:ln>
            </p:spPr>
          </p:sp>
        </p:grpSp>
        <p:sp>
          <p:nvSpPr>
            <p:cNvPr id="30" name="TextBox 30"/>
            <p:cNvSpPr txBox="1"/>
            <p:nvPr/>
          </p:nvSpPr>
          <p:spPr>
            <a:xfrm>
              <a:off x="1087755" y="3064192"/>
              <a:ext cx="135745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604020202020204"/>
                  <a:ea typeface="微软雅黑" panose="020B0503020204020204" charset="-122"/>
                  <a:cs typeface="Arial" panose="020B0604020202020204"/>
                </a:rPr>
                <a:t>全生命周期服务</a:t>
              </a:r>
              <a:endParaRPr lang="zh-CN" sz="1350" b="1" dirty="0">
                <a:solidFill>
                  <a:srgbClr val="FFFFFF"/>
                </a:solidFill>
                <a:latin typeface="Arial" panose="020B0604020202020204"/>
                <a:ea typeface="微软雅黑" panose="020B0503020204020204" charset="-122"/>
                <a:cs typeface="Arial" panose="020B0604020202020204"/>
              </a:endParaRPr>
            </a:p>
          </p:txBody>
        </p:sp>
        <p:sp>
          <p:nvSpPr>
            <p:cNvPr id="31" name="Ellipse 31"/>
            <p:cNvSpPr/>
            <p:nvPr/>
          </p:nvSpPr>
          <p:spPr>
            <a:xfrm>
              <a:off x="752475" y="3667125"/>
              <a:ext cx="57150" cy="57150"/>
            </a:xfrm>
            <a:prstGeom prst="ellipse">
              <a:avLst/>
            </a:prstGeom>
            <a:solidFill>
              <a:srgbClr val="246BFE"/>
            </a:solidFill>
            <a:ln>
              <a:noFill/>
            </a:ln>
          </p:spPr>
        </p:sp>
        <p:sp>
          <p:nvSpPr>
            <p:cNvPr id="32" name="TextBox 32"/>
            <p:cNvSpPr txBox="1"/>
            <p:nvPr/>
          </p:nvSpPr>
          <p:spPr>
            <a:xfrm>
              <a:off x="890588" y="3612356"/>
              <a:ext cx="140124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咨询策划 · 招商租赁</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33" name="Ellipse 33"/>
            <p:cNvSpPr/>
            <p:nvPr/>
          </p:nvSpPr>
          <p:spPr>
            <a:xfrm>
              <a:off x="752475" y="3971925"/>
              <a:ext cx="57150" cy="57150"/>
            </a:xfrm>
            <a:prstGeom prst="ellipse">
              <a:avLst/>
            </a:prstGeom>
            <a:solidFill>
              <a:srgbClr val="246BFE"/>
            </a:solidFill>
            <a:ln>
              <a:noFill/>
            </a:ln>
          </p:spPr>
        </p:sp>
        <p:sp>
          <p:nvSpPr>
            <p:cNvPr id="34" name="TextBox 34"/>
            <p:cNvSpPr txBox="1"/>
            <p:nvPr/>
          </p:nvSpPr>
          <p:spPr>
            <a:xfrm>
              <a:off x="890588" y="3917156"/>
              <a:ext cx="140124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买卖交易 · 资产评估</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35" name="Ellipse 35"/>
            <p:cNvSpPr/>
            <p:nvPr/>
          </p:nvSpPr>
          <p:spPr>
            <a:xfrm>
              <a:off x="752475" y="4276725"/>
              <a:ext cx="57150" cy="57150"/>
            </a:xfrm>
            <a:prstGeom prst="ellipse">
              <a:avLst/>
            </a:prstGeom>
            <a:solidFill>
              <a:srgbClr val="246BFE"/>
            </a:solidFill>
            <a:ln>
              <a:noFill/>
            </a:ln>
          </p:spPr>
        </p:sp>
        <p:sp>
          <p:nvSpPr>
            <p:cNvPr id="36" name="TextBox 36"/>
            <p:cNvSpPr txBox="1"/>
            <p:nvPr/>
          </p:nvSpPr>
          <p:spPr>
            <a:xfrm>
              <a:off x="890588" y="4221956"/>
              <a:ext cx="928688"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工程项目管理</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37" name="Ellipse 37"/>
            <p:cNvSpPr/>
            <p:nvPr/>
          </p:nvSpPr>
          <p:spPr>
            <a:xfrm>
              <a:off x="752475" y="4581525"/>
              <a:ext cx="57150" cy="57150"/>
            </a:xfrm>
            <a:prstGeom prst="ellipse">
              <a:avLst/>
            </a:prstGeom>
            <a:solidFill>
              <a:srgbClr val="246BFE"/>
            </a:solidFill>
            <a:ln>
              <a:noFill/>
            </a:ln>
          </p:spPr>
        </p:sp>
        <p:sp>
          <p:nvSpPr>
            <p:cNvPr id="38" name="TextBox 38"/>
            <p:cNvSpPr txBox="1"/>
            <p:nvPr/>
          </p:nvSpPr>
          <p:spPr>
            <a:xfrm>
              <a:off x="890588" y="4526756"/>
              <a:ext cx="1078706"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物业及资产管理</a:t>
              </a:r>
              <a:endParaRPr lang="zh-CN" sz="1125" dirty="0">
                <a:solidFill>
                  <a:srgbClr val="25364A"/>
                </a:solidFill>
                <a:latin typeface="Arial" panose="020B0604020202020204"/>
                <a:ea typeface="微软雅黑" panose="020B0503020204020204" charset="-122"/>
                <a:cs typeface="Arial" panose="020B0604020202020204"/>
              </a:endParaRPr>
            </a:p>
          </p:txBody>
        </p:sp>
      </p:grpSp>
      <p:grpSp>
        <p:nvGrpSpPr>
          <p:cNvPr id="57" name="Group 57"/>
          <p:cNvGrpSpPr/>
          <p:nvPr/>
        </p:nvGrpSpPr>
        <p:grpSpPr>
          <a:xfrm>
            <a:off x="4333875" y="2905125"/>
            <a:ext cx="3524250" cy="2143125"/>
            <a:chOff x="4333875" y="2905125"/>
            <a:chExt cx="3524250" cy="2143125"/>
          </a:xfrm>
        </p:grpSpPr>
        <p:sp>
          <p:nvSpPr>
            <p:cNvPr id="40" name="Rectangle 40"/>
            <p:cNvSpPr/>
            <p:nvPr/>
          </p:nvSpPr>
          <p:spPr>
            <a:xfrm>
              <a:off x="4333875" y="2905125"/>
              <a:ext cx="3524250" cy="2143125"/>
            </a:xfrm>
            <a:prstGeom prst="roundRect">
              <a:avLst>
                <a:gd name="adj" fmla="val 5333"/>
              </a:avLst>
            </a:prstGeom>
            <a:solidFill>
              <a:srgbClr val="F4F7FC"/>
            </a:solidFill>
            <a:ln>
              <a:noFill/>
            </a:ln>
          </p:spPr>
        </p:sp>
        <p:sp>
          <p:nvSpPr>
            <p:cNvPr id="41" name="Rectangle 41"/>
            <p:cNvSpPr/>
            <p:nvPr/>
          </p:nvSpPr>
          <p:spPr>
            <a:xfrm>
              <a:off x="4333875" y="2905125"/>
              <a:ext cx="3524250" cy="457200"/>
            </a:xfrm>
            <a:prstGeom prst="roundRect">
              <a:avLst>
                <a:gd name="adj" fmla="val 25000"/>
              </a:avLst>
            </a:prstGeom>
            <a:solidFill>
              <a:srgbClr val="246BFE"/>
            </a:solidFill>
            <a:ln>
              <a:noFill/>
            </a:ln>
          </p:spPr>
        </p:sp>
        <p:sp>
          <p:nvSpPr>
            <p:cNvPr id="42" name="Rectangle 42"/>
            <p:cNvSpPr/>
            <p:nvPr/>
          </p:nvSpPr>
          <p:spPr>
            <a:xfrm>
              <a:off x="4333875" y="3209925"/>
              <a:ext cx="3524250" cy="152400"/>
            </a:xfrm>
            <a:prstGeom prst="rect">
              <a:avLst/>
            </a:prstGeom>
            <a:solidFill>
              <a:srgbClr val="246BFE"/>
            </a:solidFill>
            <a:ln>
              <a:noFill/>
            </a:ln>
          </p:spPr>
        </p:sp>
        <p:grpSp>
          <p:nvGrpSpPr>
            <p:cNvPr id="47" name="Group 47"/>
            <p:cNvGrpSpPr/>
            <p:nvPr/>
          </p:nvGrpSpPr>
          <p:grpSpPr>
            <a:xfrm>
              <a:off x="4555331" y="3040856"/>
              <a:ext cx="185737" cy="185738"/>
              <a:chOff x="4555331" y="3040856"/>
              <a:chExt cx="185737" cy="185738"/>
            </a:xfrm>
          </p:grpSpPr>
          <p:sp>
            <p:nvSpPr>
              <p:cNvPr id="43" name="Freeform 43"/>
              <p:cNvSpPr/>
              <p:nvPr/>
            </p:nvSpPr>
            <p:spPr>
              <a:xfrm>
                <a:off x="4575969" y="3040856"/>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19050">
                <a:solidFill>
                  <a:srgbClr val="FFFFFF"/>
                </a:solidFill>
              </a:ln>
            </p:spPr>
          </p:sp>
          <p:sp>
            <p:nvSpPr>
              <p:cNvPr id="44" name="Freeform 44"/>
              <p:cNvSpPr/>
              <p:nvPr/>
            </p:nvSpPr>
            <p:spPr>
              <a:xfrm>
                <a:off x="4555331" y="3164681"/>
                <a:ext cx="123825" cy="61912"/>
              </a:xfrm>
              <a:custGeom>
                <a:avLst/>
                <a:gdLst/>
                <a:ahLst/>
                <a:cxnLst/>
                <a:rect l="l" t="t" r="r" b="b"/>
                <a:pathLst>
                  <a:path w="123825" h="61912">
                    <a:moveTo>
                      <a:pt x="0" y="61912"/>
                    </a:moveTo>
                    <a:lnTo>
                      <a:pt x="0" y="41275"/>
                    </a:lnTo>
                    <a:cubicBezTo>
                      <a:pt x="0" y="18479"/>
                      <a:pt x="18479" y="0"/>
                      <a:pt x="41275" y="0"/>
                    </a:cubicBezTo>
                    <a:lnTo>
                      <a:pt x="82550" y="0"/>
                    </a:lnTo>
                    <a:cubicBezTo>
                      <a:pt x="105346" y="0"/>
                      <a:pt x="123825" y="18479"/>
                      <a:pt x="123825" y="41275"/>
                    </a:cubicBezTo>
                    <a:lnTo>
                      <a:pt x="123825" y="61912"/>
                    </a:lnTo>
                  </a:path>
                </a:pathLst>
              </a:custGeom>
              <a:noFill/>
              <a:ln w="19050">
                <a:solidFill>
                  <a:srgbClr val="FFFFFF"/>
                </a:solidFill>
              </a:ln>
            </p:spPr>
          </p:sp>
          <p:sp>
            <p:nvSpPr>
              <p:cNvPr id="45" name="Freeform 45"/>
              <p:cNvSpPr/>
              <p:nvPr/>
            </p:nvSpPr>
            <p:spPr>
              <a:xfrm>
                <a:off x="4689475" y="3042198"/>
                <a:ext cx="31037" cy="79970"/>
              </a:xfrm>
              <a:custGeom>
                <a:avLst/>
                <a:gdLst/>
                <a:ahLst/>
                <a:cxnLst/>
                <a:rect l="l" t="t" r="r" b="b"/>
                <a:pathLst>
                  <a:path w="31037" h="79970">
                    <a:moveTo>
                      <a:pt x="0" y="0"/>
                    </a:moveTo>
                    <a:cubicBezTo>
                      <a:pt x="18263" y="4676"/>
                      <a:pt x="31037" y="21133"/>
                      <a:pt x="31037" y="39985"/>
                    </a:cubicBezTo>
                    <a:cubicBezTo>
                      <a:pt x="31037" y="58838"/>
                      <a:pt x="18263" y="75294"/>
                      <a:pt x="0" y="79970"/>
                    </a:cubicBezTo>
                  </a:path>
                </a:pathLst>
              </a:custGeom>
              <a:noFill/>
              <a:ln w="19050">
                <a:solidFill>
                  <a:srgbClr val="FFFFFF"/>
                </a:solidFill>
              </a:ln>
            </p:spPr>
          </p:sp>
          <p:sp>
            <p:nvSpPr>
              <p:cNvPr id="46" name="Freeform 46"/>
              <p:cNvSpPr/>
              <p:nvPr/>
            </p:nvSpPr>
            <p:spPr>
              <a:xfrm>
                <a:off x="4710112" y="3166229"/>
                <a:ext cx="30956" cy="60365"/>
              </a:xfrm>
              <a:custGeom>
                <a:avLst/>
                <a:gdLst/>
                <a:ahLst/>
                <a:cxnLst/>
                <a:rect l="l" t="t" r="r" b="b"/>
                <a:pathLst>
                  <a:path w="30956" h="60365">
                    <a:moveTo>
                      <a:pt x="30956" y="60365"/>
                    </a:moveTo>
                    <a:lnTo>
                      <a:pt x="30956" y="39727"/>
                    </a:lnTo>
                    <a:cubicBezTo>
                      <a:pt x="30849" y="20994"/>
                      <a:pt x="18138" y="4683"/>
                      <a:pt x="0" y="0"/>
                    </a:cubicBezTo>
                  </a:path>
                </a:pathLst>
              </a:custGeom>
              <a:noFill/>
              <a:ln w="19050">
                <a:solidFill>
                  <a:srgbClr val="FFFFFF"/>
                </a:solidFill>
              </a:ln>
            </p:spPr>
          </p:sp>
        </p:grpSp>
        <p:sp>
          <p:nvSpPr>
            <p:cNvPr id="48" name="TextBox 48"/>
            <p:cNvSpPr txBox="1"/>
            <p:nvPr/>
          </p:nvSpPr>
          <p:spPr>
            <a:xfrm>
              <a:off x="4850130" y="3064192"/>
              <a:ext cx="79038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604020202020204"/>
                  <a:ea typeface="微软雅黑" panose="020B0503020204020204" charset="-122"/>
                  <a:cs typeface="Arial" panose="020B0604020202020204"/>
                </a:rPr>
                <a:t>服务对象</a:t>
              </a:r>
              <a:endParaRPr lang="zh-CN" sz="1350" b="1" dirty="0">
                <a:solidFill>
                  <a:srgbClr val="FFFFFF"/>
                </a:solidFill>
                <a:latin typeface="Arial" panose="020B0604020202020204"/>
                <a:ea typeface="微软雅黑" panose="020B0503020204020204" charset="-122"/>
                <a:cs typeface="Arial" panose="020B0604020202020204"/>
              </a:endParaRPr>
            </a:p>
          </p:txBody>
        </p:sp>
        <p:sp>
          <p:nvSpPr>
            <p:cNvPr id="49" name="Ellipse 49"/>
            <p:cNvSpPr/>
            <p:nvPr/>
          </p:nvSpPr>
          <p:spPr>
            <a:xfrm>
              <a:off x="4514850" y="3667125"/>
              <a:ext cx="57150" cy="57150"/>
            </a:xfrm>
            <a:prstGeom prst="ellipse">
              <a:avLst/>
            </a:prstGeom>
            <a:solidFill>
              <a:srgbClr val="0052A6"/>
            </a:solidFill>
            <a:ln>
              <a:noFill/>
            </a:ln>
          </p:spPr>
        </p:sp>
        <p:sp>
          <p:nvSpPr>
            <p:cNvPr id="50" name="TextBox 50"/>
            <p:cNvSpPr txBox="1"/>
            <p:nvPr/>
          </p:nvSpPr>
          <p:spPr>
            <a:xfrm>
              <a:off x="4652962" y="3612356"/>
              <a:ext cx="778669"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地产开发商</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51" name="Ellipse 51"/>
            <p:cNvSpPr/>
            <p:nvPr/>
          </p:nvSpPr>
          <p:spPr>
            <a:xfrm>
              <a:off x="4514850" y="3971925"/>
              <a:ext cx="57150" cy="57150"/>
            </a:xfrm>
            <a:prstGeom prst="ellipse">
              <a:avLst/>
            </a:prstGeom>
            <a:solidFill>
              <a:srgbClr val="0052A6"/>
            </a:solidFill>
            <a:ln>
              <a:noFill/>
            </a:ln>
          </p:spPr>
        </p:sp>
        <p:sp>
          <p:nvSpPr>
            <p:cNvPr id="52" name="TextBox 52"/>
            <p:cNvSpPr txBox="1"/>
            <p:nvPr/>
          </p:nvSpPr>
          <p:spPr>
            <a:xfrm>
              <a:off x="4652962" y="3917156"/>
              <a:ext cx="1701284"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楼宇园区业主 · 投资机构</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53" name="Ellipse 53"/>
            <p:cNvSpPr/>
            <p:nvPr/>
          </p:nvSpPr>
          <p:spPr>
            <a:xfrm>
              <a:off x="4514850" y="4276725"/>
              <a:ext cx="57150" cy="57150"/>
            </a:xfrm>
            <a:prstGeom prst="ellipse">
              <a:avLst/>
            </a:prstGeom>
            <a:solidFill>
              <a:srgbClr val="0052A6"/>
            </a:solidFill>
            <a:ln>
              <a:noFill/>
            </a:ln>
          </p:spPr>
        </p:sp>
        <p:sp>
          <p:nvSpPr>
            <p:cNvPr id="54" name="TextBox 54"/>
            <p:cNvSpPr txBox="1"/>
            <p:nvPr/>
          </p:nvSpPr>
          <p:spPr>
            <a:xfrm>
              <a:off x="4652962" y="4221956"/>
              <a:ext cx="628650"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政府部门</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55" name="Ellipse 55"/>
            <p:cNvSpPr/>
            <p:nvPr/>
          </p:nvSpPr>
          <p:spPr>
            <a:xfrm>
              <a:off x="4514850" y="4581525"/>
              <a:ext cx="57150" cy="57150"/>
            </a:xfrm>
            <a:prstGeom prst="ellipse">
              <a:avLst/>
            </a:prstGeom>
            <a:solidFill>
              <a:srgbClr val="0052A6"/>
            </a:solidFill>
            <a:ln>
              <a:noFill/>
            </a:ln>
          </p:spPr>
        </p:sp>
        <p:sp>
          <p:nvSpPr>
            <p:cNvPr id="56" name="TextBox 56"/>
            <p:cNvSpPr txBox="1"/>
            <p:nvPr/>
          </p:nvSpPr>
          <p:spPr>
            <a:xfrm>
              <a:off x="4652962" y="4526756"/>
              <a:ext cx="628650"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大型企业</a:t>
              </a:r>
              <a:endParaRPr lang="zh-CN" sz="1125" dirty="0">
                <a:solidFill>
                  <a:srgbClr val="25364A"/>
                </a:solidFill>
                <a:latin typeface="Arial" panose="020B0604020202020204"/>
                <a:ea typeface="微软雅黑" panose="020B0503020204020204" charset="-122"/>
                <a:cs typeface="Arial" panose="020B0604020202020204"/>
              </a:endParaRPr>
            </a:p>
          </p:txBody>
        </p:sp>
      </p:grpSp>
      <p:grpSp>
        <p:nvGrpSpPr>
          <p:cNvPr id="79" name="Group 79"/>
          <p:cNvGrpSpPr/>
          <p:nvPr/>
        </p:nvGrpSpPr>
        <p:grpSpPr>
          <a:xfrm>
            <a:off x="8096250" y="2905125"/>
            <a:ext cx="3524250" cy="2143125"/>
            <a:chOff x="8096250" y="2905125"/>
            <a:chExt cx="3524250" cy="2143125"/>
          </a:xfrm>
        </p:grpSpPr>
        <p:sp>
          <p:nvSpPr>
            <p:cNvPr id="58" name="Rectangle 58"/>
            <p:cNvSpPr/>
            <p:nvPr/>
          </p:nvSpPr>
          <p:spPr>
            <a:xfrm>
              <a:off x="8096250" y="2905125"/>
              <a:ext cx="3524250" cy="2143125"/>
            </a:xfrm>
            <a:prstGeom prst="roundRect">
              <a:avLst>
                <a:gd name="adj" fmla="val 5333"/>
              </a:avLst>
            </a:prstGeom>
            <a:solidFill>
              <a:srgbClr val="F4F7FC"/>
            </a:solidFill>
            <a:ln>
              <a:noFill/>
            </a:ln>
          </p:spPr>
        </p:sp>
        <p:sp>
          <p:nvSpPr>
            <p:cNvPr id="59" name="Rectangle 59"/>
            <p:cNvSpPr/>
            <p:nvPr/>
          </p:nvSpPr>
          <p:spPr>
            <a:xfrm>
              <a:off x="8096250" y="2905125"/>
              <a:ext cx="3524250" cy="457200"/>
            </a:xfrm>
            <a:prstGeom prst="roundRect">
              <a:avLst>
                <a:gd name="adj" fmla="val 25000"/>
              </a:avLst>
            </a:prstGeom>
            <a:solidFill>
              <a:srgbClr val="518FEC"/>
            </a:solidFill>
            <a:ln>
              <a:noFill/>
            </a:ln>
          </p:spPr>
        </p:sp>
        <p:sp>
          <p:nvSpPr>
            <p:cNvPr id="60" name="Rectangle 60"/>
            <p:cNvSpPr/>
            <p:nvPr/>
          </p:nvSpPr>
          <p:spPr>
            <a:xfrm>
              <a:off x="8096250" y="3209925"/>
              <a:ext cx="3524250" cy="152400"/>
            </a:xfrm>
            <a:prstGeom prst="rect">
              <a:avLst/>
            </a:prstGeom>
            <a:solidFill>
              <a:srgbClr val="518FEC"/>
            </a:solidFill>
            <a:ln>
              <a:noFill/>
            </a:ln>
          </p:spPr>
        </p:sp>
        <p:grpSp>
          <p:nvGrpSpPr>
            <p:cNvPr id="69" name="Group 69"/>
            <p:cNvGrpSpPr/>
            <p:nvPr/>
          </p:nvGrpSpPr>
          <p:grpSpPr>
            <a:xfrm>
              <a:off x="8317706" y="3040856"/>
              <a:ext cx="185737" cy="196057"/>
              <a:chOff x="8317706" y="3040856"/>
              <a:chExt cx="185737" cy="196057"/>
            </a:xfrm>
          </p:grpSpPr>
          <p:sp>
            <p:nvSpPr>
              <p:cNvPr id="61" name="Freeform 61"/>
              <p:cNvSpPr/>
              <p:nvPr/>
            </p:nvSpPr>
            <p:spPr>
              <a:xfrm>
                <a:off x="8348662" y="3040856"/>
                <a:ext cx="123825" cy="123825"/>
              </a:xfrm>
              <a:custGeom>
                <a:avLst/>
                <a:gdLst/>
                <a:ahLst/>
                <a:cxnLst/>
                <a:rect l="l" t="t" r="r" b="b"/>
                <a:pathLst>
                  <a:path w="123825" h="123825">
                    <a:moveTo>
                      <a:pt x="0" y="61912"/>
                    </a:moveTo>
                    <a:cubicBezTo>
                      <a:pt x="0" y="96106"/>
                      <a:pt x="27719" y="123825"/>
                      <a:pt x="61912" y="123825"/>
                    </a:cubicBezTo>
                    <a:cubicBezTo>
                      <a:pt x="96106" y="123825"/>
                      <a:pt x="123825" y="96106"/>
                      <a:pt x="123825" y="61912"/>
                    </a:cubicBezTo>
                    <a:cubicBezTo>
                      <a:pt x="123825" y="27719"/>
                      <a:pt x="96106" y="0"/>
                      <a:pt x="61912" y="0"/>
                    </a:cubicBezTo>
                    <a:cubicBezTo>
                      <a:pt x="27719" y="0"/>
                      <a:pt x="0" y="27719"/>
                      <a:pt x="0" y="61912"/>
                    </a:cubicBezTo>
                  </a:path>
                </a:pathLst>
              </a:custGeom>
              <a:noFill/>
              <a:ln w="19050">
                <a:solidFill>
                  <a:srgbClr val="FFFFFF"/>
                </a:solidFill>
              </a:ln>
            </p:spPr>
          </p:sp>
          <p:sp>
            <p:nvSpPr>
              <p:cNvPr id="62" name="Freeform 62"/>
              <p:cNvSpPr/>
              <p:nvPr/>
            </p:nvSpPr>
            <p:spPr>
              <a:xfrm>
                <a:off x="8410575" y="3040856"/>
                <a:ext cx="20637" cy="123825"/>
              </a:xfrm>
              <a:custGeom>
                <a:avLst/>
                <a:gdLst/>
                <a:ahLst/>
                <a:cxnLst/>
                <a:rect l="l" t="t" r="r" b="b"/>
                <a:pathLst>
                  <a:path w="20637" h="123825">
                    <a:moveTo>
                      <a:pt x="0" y="0"/>
                    </a:moveTo>
                    <a:cubicBezTo>
                      <a:pt x="13755" y="3436"/>
                      <a:pt x="20637" y="24074"/>
                      <a:pt x="20637" y="61912"/>
                    </a:cubicBezTo>
                    <a:cubicBezTo>
                      <a:pt x="20637" y="99751"/>
                      <a:pt x="13755" y="120389"/>
                      <a:pt x="0" y="123825"/>
                    </a:cubicBezTo>
                  </a:path>
                </a:pathLst>
              </a:custGeom>
              <a:noFill/>
              <a:ln w="19050">
                <a:solidFill>
                  <a:srgbClr val="FFFFFF"/>
                </a:solidFill>
              </a:ln>
            </p:spPr>
          </p:sp>
          <p:sp>
            <p:nvSpPr>
              <p:cNvPr id="63" name="Freeform 63"/>
              <p:cNvSpPr/>
              <p:nvPr/>
            </p:nvSpPr>
            <p:spPr>
              <a:xfrm>
                <a:off x="8389938" y="3040856"/>
                <a:ext cx="20637" cy="123825"/>
              </a:xfrm>
              <a:custGeom>
                <a:avLst/>
                <a:gdLst/>
                <a:ahLst/>
                <a:cxnLst/>
                <a:rect l="l" t="t" r="r" b="b"/>
                <a:pathLst>
                  <a:path w="20637" h="123825">
                    <a:moveTo>
                      <a:pt x="20637" y="0"/>
                    </a:moveTo>
                    <a:cubicBezTo>
                      <a:pt x="6883" y="3436"/>
                      <a:pt x="0" y="24074"/>
                      <a:pt x="0" y="61912"/>
                    </a:cubicBezTo>
                    <a:cubicBezTo>
                      <a:pt x="0" y="99751"/>
                      <a:pt x="6883" y="120389"/>
                      <a:pt x="20637" y="123825"/>
                    </a:cubicBezTo>
                  </a:path>
                </a:pathLst>
              </a:custGeom>
              <a:noFill/>
              <a:ln w="19050">
                <a:solidFill>
                  <a:srgbClr val="FFFFFF"/>
                </a:solidFill>
              </a:ln>
            </p:spPr>
          </p:sp>
          <p:sp>
            <p:nvSpPr>
              <p:cNvPr id="64" name="Freeform 64"/>
              <p:cNvSpPr/>
              <p:nvPr/>
            </p:nvSpPr>
            <p:spPr>
              <a:xfrm>
                <a:off x="8348662" y="3102769"/>
                <a:ext cx="123825" cy="9525"/>
              </a:xfrm>
              <a:custGeom>
                <a:avLst/>
                <a:gdLst/>
                <a:ahLst/>
                <a:cxnLst/>
                <a:rect l="l" t="t" r="r" b="b"/>
                <a:pathLst>
                  <a:path w="123825" h="9525">
                    <a:moveTo>
                      <a:pt x="0" y="0"/>
                    </a:moveTo>
                    <a:lnTo>
                      <a:pt x="123825" y="0"/>
                    </a:lnTo>
                  </a:path>
                </a:pathLst>
              </a:custGeom>
              <a:noFill/>
              <a:ln w="19050">
                <a:solidFill>
                  <a:srgbClr val="FFFFFF"/>
                </a:solidFill>
              </a:ln>
            </p:spPr>
          </p:sp>
          <p:sp>
            <p:nvSpPr>
              <p:cNvPr id="65" name="Freeform 65"/>
              <p:cNvSpPr/>
              <p:nvPr/>
            </p:nvSpPr>
            <p:spPr>
              <a:xfrm>
                <a:off x="8317706" y="3216275"/>
                <a:ext cx="72231" cy="9525"/>
              </a:xfrm>
              <a:custGeom>
                <a:avLst/>
                <a:gdLst/>
                <a:ahLst/>
                <a:cxnLst/>
                <a:rect l="l" t="t" r="r" b="b"/>
                <a:pathLst>
                  <a:path w="72231" h="9525">
                    <a:moveTo>
                      <a:pt x="0" y="0"/>
                    </a:moveTo>
                    <a:lnTo>
                      <a:pt x="72231" y="0"/>
                    </a:lnTo>
                  </a:path>
                </a:pathLst>
              </a:custGeom>
              <a:noFill/>
              <a:ln w="19050">
                <a:solidFill>
                  <a:srgbClr val="FFFFFF"/>
                </a:solidFill>
              </a:ln>
            </p:spPr>
          </p:sp>
          <p:sp>
            <p:nvSpPr>
              <p:cNvPr id="66" name="Freeform 66"/>
              <p:cNvSpPr/>
              <p:nvPr/>
            </p:nvSpPr>
            <p:spPr>
              <a:xfrm>
                <a:off x="8431212" y="3216275"/>
                <a:ext cx="72231" cy="9525"/>
              </a:xfrm>
              <a:custGeom>
                <a:avLst/>
                <a:gdLst/>
                <a:ahLst/>
                <a:cxnLst/>
                <a:rect l="l" t="t" r="r" b="b"/>
                <a:pathLst>
                  <a:path w="72231" h="9525">
                    <a:moveTo>
                      <a:pt x="0" y="0"/>
                    </a:moveTo>
                    <a:lnTo>
                      <a:pt x="72231" y="0"/>
                    </a:lnTo>
                  </a:path>
                </a:pathLst>
              </a:custGeom>
              <a:noFill/>
              <a:ln w="19050">
                <a:solidFill>
                  <a:srgbClr val="FFFFFF"/>
                </a:solidFill>
              </a:ln>
            </p:spPr>
          </p:sp>
          <p:sp>
            <p:nvSpPr>
              <p:cNvPr id="67" name="Freeform 67"/>
              <p:cNvSpPr/>
              <p:nvPr/>
            </p:nvSpPr>
            <p:spPr>
              <a:xfrm>
                <a:off x="8389938" y="3195638"/>
                <a:ext cx="41275" cy="41275"/>
              </a:xfrm>
              <a:custGeom>
                <a:avLst/>
                <a:gdLst/>
                <a:ahLst/>
                <a:cxnLst/>
                <a:rect l="l" t="t" r="r" b="b"/>
                <a:pathLst>
                  <a:path w="41275" h="41275">
                    <a:moveTo>
                      <a:pt x="0" y="20638"/>
                    </a:moveTo>
                    <a:cubicBezTo>
                      <a:pt x="0" y="32035"/>
                      <a:pt x="9240" y="41275"/>
                      <a:pt x="20637" y="41275"/>
                    </a:cubicBezTo>
                    <a:cubicBezTo>
                      <a:pt x="32035" y="41275"/>
                      <a:pt x="41275" y="32035"/>
                      <a:pt x="41275" y="20638"/>
                    </a:cubicBezTo>
                    <a:cubicBezTo>
                      <a:pt x="41275" y="9240"/>
                      <a:pt x="32035" y="0"/>
                      <a:pt x="20637" y="0"/>
                    </a:cubicBezTo>
                    <a:cubicBezTo>
                      <a:pt x="9240" y="0"/>
                      <a:pt x="0" y="9240"/>
                      <a:pt x="0" y="20638"/>
                    </a:cubicBezTo>
                  </a:path>
                </a:pathLst>
              </a:custGeom>
              <a:noFill/>
              <a:ln w="19050">
                <a:solidFill>
                  <a:srgbClr val="FFFFFF"/>
                </a:solidFill>
              </a:ln>
            </p:spPr>
          </p:sp>
          <p:sp>
            <p:nvSpPr>
              <p:cNvPr id="68" name="Freeform 68"/>
              <p:cNvSpPr/>
              <p:nvPr/>
            </p:nvSpPr>
            <p:spPr>
              <a:xfrm>
                <a:off x="8410575" y="3164681"/>
                <a:ext cx="9525" cy="30956"/>
              </a:xfrm>
              <a:custGeom>
                <a:avLst/>
                <a:gdLst/>
                <a:ahLst/>
                <a:cxnLst/>
                <a:rect l="l" t="t" r="r" b="b"/>
                <a:pathLst>
                  <a:path w="9525" h="30956">
                    <a:moveTo>
                      <a:pt x="0" y="0"/>
                    </a:moveTo>
                    <a:lnTo>
                      <a:pt x="0" y="30956"/>
                    </a:lnTo>
                  </a:path>
                </a:pathLst>
              </a:custGeom>
              <a:noFill/>
              <a:ln w="19050">
                <a:solidFill>
                  <a:srgbClr val="FFFFFF"/>
                </a:solidFill>
              </a:ln>
            </p:spPr>
          </p:sp>
        </p:grpSp>
        <p:sp>
          <p:nvSpPr>
            <p:cNvPr id="70" name="TextBox 70"/>
            <p:cNvSpPr txBox="1"/>
            <p:nvPr/>
          </p:nvSpPr>
          <p:spPr>
            <a:xfrm>
              <a:off x="8612505" y="3064192"/>
              <a:ext cx="79038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604020202020204"/>
                  <a:ea typeface="微软雅黑" panose="020B0503020204020204" charset="-122"/>
                  <a:cs typeface="Arial" panose="020B0604020202020204"/>
                </a:rPr>
                <a:t>业务特点</a:t>
              </a:r>
              <a:endParaRPr lang="zh-CN" sz="1350" b="1" dirty="0">
                <a:solidFill>
                  <a:srgbClr val="FFFFFF"/>
                </a:solidFill>
                <a:latin typeface="Arial" panose="020B0604020202020204"/>
                <a:ea typeface="微软雅黑" panose="020B0503020204020204" charset="-122"/>
                <a:cs typeface="Arial" panose="020B0604020202020204"/>
              </a:endParaRPr>
            </a:p>
          </p:txBody>
        </p:sp>
        <p:sp>
          <p:nvSpPr>
            <p:cNvPr id="71" name="Ellipse 71"/>
            <p:cNvSpPr/>
            <p:nvPr/>
          </p:nvSpPr>
          <p:spPr>
            <a:xfrm>
              <a:off x="8277225" y="3667125"/>
              <a:ext cx="57150" cy="57150"/>
            </a:xfrm>
            <a:prstGeom prst="ellipse">
              <a:avLst/>
            </a:prstGeom>
            <a:solidFill>
              <a:srgbClr val="0052A6"/>
            </a:solidFill>
            <a:ln>
              <a:noFill/>
            </a:ln>
          </p:spPr>
        </p:sp>
        <p:sp>
          <p:nvSpPr>
            <p:cNvPr id="72" name="TextBox 72"/>
            <p:cNvSpPr txBox="1"/>
            <p:nvPr/>
          </p:nvSpPr>
          <p:spPr>
            <a:xfrm>
              <a:off x="8415338" y="3612356"/>
              <a:ext cx="1551265"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管理项目多 · 信息分散</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73" name="Ellipse 73"/>
            <p:cNvSpPr/>
            <p:nvPr/>
          </p:nvSpPr>
          <p:spPr>
            <a:xfrm>
              <a:off x="8277225" y="3971925"/>
              <a:ext cx="57150" cy="57150"/>
            </a:xfrm>
            <a:prstGeom prst="ellipse">
              <a:avLst/>
            </a:prstGeom>
            <a:solidFill>
              <a:srgbClr val="0052A6"/>
            </a:solidFill>
            <a:ln>
              <a:noFill/>
            </a:ln>
          </p:spPr>
        </p:sp>
        <p:sp>
          <p:nvSpPr>
            <p:cNvPr id="74" name="TextBox 74"/>
            <p:cNvSpPr txBox="1"/>
            <p:nvPr/>
          </p:nvSpPr>
          <p:spPr>
            <a:xfrm>
              <a:off x="8415338" y="3917156"/>
              <a:ext cx="1078706"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销售跟进周期长</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75" name="Ellipse 75"/>
            <p:cNvSpPr/>
            <p:nvPr/>
          </p:nvSpPr>
          <p:spPr>
            <a:xfrm>
              <a:off x="8277225" y="4276725"/>
              <a:ext cx="57150" cy="57150"/>
            </a:xfrm>
            <a:prstGeom prst="ellipse">
              <a:avLst/>
            </a:prstGeom>
            <a:solidFill>
              <a:srgbClr val="0052A6"/>
            </a:solidFill>
            <a:ln>
              <a:noFill/>
            </a:ln>
          </p:spPr>
        </p:sp>
        <p:sp>
          <p:nvSpPr>
            <p:cNvPr id="76" name="TextBox 76"/>
            <p:cNvSpPr txBox="1"/>
            <p:nvPr/>
          </p:nvSpPr>
          <p:spPr>
            <a:xfrm>
              <a:off x="8415338" y="4221956"/>
              <a:ext cx="1078706"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客户决策链复杂</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77" name="Ellipse 77"/>
            <p:cNvSpPr/>
            <p:nvPr/>
          </p:nvSpPr>
          <p:spPr>
            <a:xfrm>
              <a:off x="8277225" y="4581525"/>
              <a:ext cx="57150" cy="57150"/>
            </a:xfrm>
            <a:prstGeom prst="ellipse">
              <a:avLst/>
            </a:prstGeom>
            <a:solidFill>
              <a:srgbClr val="0052A6"/>
            </a:solidFill>
            <a:ln>
              <a:noFill/>
            </a:ln>
          </p:spPr>
        </p:sp>
        <p:sp>
          <p:nvSpPr>
            <p:cNvPr id="78" name="TextBox 78"/>
            <p:cNvSpPr txBox="1"/>
            <p:nvPr/>
          </p:nvSpPr>
          <p:spPr>
            <a:xfrm>
              <a:off x="8415338" y="4526756"/>
              <a:ext cx="1228725"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一线招聘需求量大</a:t>
              </a:r>
              <a:endParaRPr lang="zh-CN" sz="1125" dirty="0">
                <a:solidFill>
                  <a:srgbClr val="25364A"/>
                </a:solidFill>
                <a:latin typeface="Arial" panose="020B0604020202020204"/>
                <a:ea typeface="微软雅黑" panose="020B0503020204020204" charset="-122"/>
                <a:cs typeface="Arial" panose="020B0604020202020204"/>
              </a:endParaRPr>
            </a:p>
          </p:txBody>
        </p:sp>
      </p:grpSp>
      <p:grpSp>
        <p:nvGrpSpPr>
          <p:cNvPr id="88" name="Group 88"/>
          <p:cNvGrpSpPr/>
          <p:nvPr/>
        </p:nvGrpSpPr>
        <p:grpSpPr>
          <a:xfrm>
            <a:off x="571500" y="5286375"/>
            <a:ext cx="11049000" cy="909637"/>
            <a:chOff x="571500" y="5286375"/>
            <a:chExt cx="11049000" cy="909637"/>
          </a:xfrm>
        </p:grpSpPr>
        <p:sp>
          <p:nvSpPr>
            <p:cNvPr id="80" name="Rectangle 80"/>
            <p:cNvSpPr/>
            <p:nvPr/>
          </p:nvSpPr>
          <p:spPr>
            <a:xfrm>
              <a:off x="571500" y="5286375"/>
              <a:ext cx="11049000" cy="876300"/>
            </a:xfrm>
            <a:prstGeom prst="roundRect">
              <a:avLst>
                <a:gd name="adj" fmla="val 13043"/>
              </a:avLst>
            </a:prstGeom>
            <a:solidFill>
              <a:srgbClr val="0052A6"/>
            </a:solidFill>
            <a:ln>
              <a:noFill/>
            </a:ln>
          </p:spPr>
        </p:sp>
        <p:grpSp>
          <p:nvGrpSpPr>
            <p:cNvPr id="84" name="Group 84"/>
            <p:cNvGrpSpPr/>
            <p:nvPr/>
          </p:nvGrpSpPr>
          <p:grpSpPr>
            <a:xfrm>
              <a:off x="850106" y="5574506"/>
              <a:ext cx="300038" cy="300038"/>
              <a:chOff x="850106" y="5574506"/>
              <a:chExt cx="300038" cy="300038"/>
            </a:xfrm>
          </p:grpSpPr>
          <p:sp>
            <p:nvSpPr>
              <p:cNvPr id="81" name="Freeform 81"/>
              <p:cNvSpPr/>
              <p:nvPr/>
            </p:nvSpPr>
            <p:spPr>
              <a:xfrm>
                <a:off x="983456" y="5707856"/>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518FEC"/>
                </a:solidFill>
              </a:ln>
            </p:spPr>
          </p:sp>
          <p:sp>
            <p:nvSpPr>
              <p:cNvPr id="82" name="Freeform 82"/>
              <p:cNvSpPr/>
              <p:nvPr/>
            </p:nvSpPr>
            <p:spPr>
              <a:xfrm>
                <a:off x="916781" y="5641181"/>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518FEC"/>
                </a:solidFill>
              </a:ln>
            </p:spPr>
          </p:sp>
          <p:sp>
            <p:nvSpPr>
              <p:cNvPr id="83" name="Freeform 83"/>
              <p:cNvSpPr/>
              <p:nvPr/>
            </p:nvSpPr>
            <p:spPr>
              <a:xfrm>
                <a:off x="850106" y="557450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19050">
                <a:solidFill>
                  <a:srgbClr val="518FEC"/>
                </a:solidFill>
              </a:ln>
            </p:spPr>
          </p:sp>
        </p:grpSp>
        <p:sp>
          <p:nvSpPr>
            <p:cNvPr id="85" name="TextBox 85"/>
            <p:cNvSpPr txBox="1"/>
            <p:nvPr/>
          </p:nvSpPr>
          <p:spPr>
            <a:xfrm>
              <a:off x="1377315" y="5496878"/>
              <a:ext cx="614744"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价值主张</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86" name="TextBox 86"/>
            <p:cNvSpPr txBox="1"/>
            <p:nvPr/>
          </p:nvSpPr>
          <p:spPr>
            <a:xfrm>
              <a:off x="1371600" y="5743575"/>
              <a:ext cx="7284006"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FarAI 以 "一个平台 + 四大场景 + 一个闭环",让 AI 成为高力国际的增长新引擎</a:t>
              </a:r>
              <a:endParaRPr lang="zh-CN" sz="1500" b="1" dirty="0">
                <a:solidFill>
                  <a:srgbClr val="FFFFFF"/>
                </a:solidFill>
                <a:latin typeface="Arial" panose="020B0604020202020204"/>
                <a:ea typeface="微软雅黑" panose="020B0503020204020204" charset="-122"/>
                <a:cs typeface="Arial" panose="020B0604020202020204"/>
              </a:endParaRPr>
            </a:p>
          </p:txBody>
        </p:sp>
        <p:sp>
          <p:nvSpPr>
            <p:cNvPr id="87" name="TextBox 87"/>
            <p:cNvSpPr txBox="1"/>
            <p:nvPr/>
          </p:nvSpPr>
          <p:spPr>
            <a:xfrm>
              <a:off x="1377315" y="5982652"/>
              <a:ext cx="5543359"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panose="020B0604020202020204"/>
                  <a:ea typeface="微软雅黑" panose="020B0503020204020204" charset="-122"/>
                  <a:cs typeface="Arial" panose="020B0604020202020204"/>
                </a:rPr>
                <a:t>打通"信息发现—商机识别—客户归并—决策链分析—销售跟进—投标支持—结果复盘"完整链路</a:t>
              </a:r>
              <a:endParaRPr lang="zh-CN" sz="1050" dirty="0">
                <a:solidFill>
                  <a:srgbClr val="B8C7E0"/>
                </a:solidFill>
                <a:latin typeface="Arial" panose="020B0604020202020204"/>
                <a:ea typeface="微软雅黑" panose="020B0503020204020204" charset="-122"/>
                <a:cs typeface="Arial" panose="020B0604020202020204"/>
              </a:endParaRPr>
            </a:p>
          </p:txBody>
        </p:sp>
      </p:grpSp>
      <p:grpSp>
        <p:nvGrpSpPr>
          <p:cNvPr id="91" name="Group 91"/>
          <p:cNvGrpSpPr/>
          <p:nvPr/>
        </p:nvGrpSpPr>
        <p:grpSpPr>
          <a:xfrm>
            <a:off x="561022" y="6578441"/>
            <a:ext cx="11069955" cy="167640"/>
            <a:chOff x="561022" y="6578441"/>
            <a:chExt cx="11069955" cy="167640"/>
          </a:xfrm>
        </p:grpSpPr>
        <p:sp>
          <p:nvSpPr>
            <p:cNvPr id="89" name="TextBox 89"/>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90" name="TextBox 90"/>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04</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400"/>
                                        <p:tgtEl>
                                          <p:spTgt spid="2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slide(fromBottom)">
                                      <p:cBhvr>
                                        <p:cTn id="15" dur="400"/>
                                        <p:tgtEl>
                                          <p:spTgt spid="57"/>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slide(fromBottom)">
                                      <p:cBhvr>
                                        <p:cTn id="19" dur="400"/>
                                        <p:tgtEl>
                                          <p:spTgt spid="79"/>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wipe(left)">
                                      <p:cBhvr>
                                        <p:cTn id="23"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9" grpId="0"/>
      <p:bldP spid="57" grpId="0"/>
      <p:bldP spid="79" grpId="0"/>
      <p:bldP spid="8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5644515" cy="970598"/>
            <a:chOff x="542925" y="553402"/>
            <a:chExt cx="5644515" cy="970598"/>
          </a:xfrm>
        </p:grpSpPr>
        <p:sp>
          <p:nvSpPr>
            <p:cNvPr id="5" name="TextBox 5"/>
            <p:cNvSpPr txBox="1"/>
            <p:nvPr/>
          </p:nvSpPr>
          <p:spPr>
            <a:xfrm>
              <a:off x="558165" y="553402"/>
              <a:ext cx="820569"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01 客户理解</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5286804"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四大业务痛点 — 高力国际的 AI 切入点</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5631180"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招聘、商机、客户、营销四个环节存在明确的人工瓶颈,正是 AI 的高价值切入点</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24" name="Group 24"/>
          <p:cNvGrpSpPr/>
          <p:nvPr/>
        </p:nvGrpSpPr>
        <p:grpSpPr>
          <a:xfrm>
            <a:off x="571500" y="1714500"/>
            <a:ext cx="5429250" cy="2143125"/>
            <a:chOff x="571500" y="1714500"/>
            <a:chExt cx="5429250" cy="2143125"/>
          </a:xfrm>
        </p:grpSpPr>
        <p:sp>
          <p:nvSpPr>
            <p:cNvPr id="9" name="Rectangle 9"/>
            <p:cNvSpPr/>
            <p:nvPr/>
          </p:nvSpPr>
          <p:spPr>
            <a:xfrm>
              <a:off x="571500" y="1714500"/>
              <a:ext cx="5429250" cy="2143125"/>
            </a:xfrm>
            <a:prstGeom prst="roundRect">
              <a:avLst>
                <a:gd name="adj" fmla="val 5333"/>
              </a:avLst>
            </a:prstGeom>
            <a:solidFill>
              <a:srgbClr val="F4F7FC"/>
            </a:solidFill>
            <a:ln>
              <a:noFill/>
            </a:ln>
          </p:spPr>
        </p:sp>
        <p:sp>
          <p:nvSpPr>
            <p:cNvPr id="10" name="Rectangle 10"/>
            <p:cNvSpPr/>
            <p:nvPr/>
          </p:nvSpPr>
          <p:spPr>
            <a:xfrm>
              <a:off x="571500" y="1714500"/>
              <a:ext cx="57150" cy="2143125"/>
            </a:xfrm>
            <a:prstGeom prst="roundRect">
              <a:avLst>
                <a:gd name="adj" fmla="val 50000"/>
              </a:avLst>
            </a:prstGeom>
            <a:solidFill>
              <a:srgbClr val="246BFE"/>
            </a:solidFill>
            <a:ln>
              <a:noFill/>
            </a:ln>
          </p:spPr>
        </p:sp>
        <p:sp>
          <p:nvSpPr>
            <p:cNvPr id="11" name="Ellipse 11"/>
            <p:cNvSpPr/>
            <p:nvPr/>
          </p:nvSpPr>
          <p:spPr>
            <a:xfrm>
              <a:off x="781050" y="1924050"/>
              <a:ext cx="495300" cy="495300"/>
            </a:xfrm>
            <a:prstGeom prst="ellipse">
              <a:avLst/>
            </a:prstGeom>
            <a:solidFill>
              <a:srgbClr val="246BFE"/>
            </a:solidFill>
            <a:ln>
              <a:noFill/>
            </a:ln>
          </p:spPr>
        </p:sp>
        <p:grpSp>
          <p:nvGrpSpPr>
            <p:cNvPr id="16" name="Group 16"/>
            <p:cNvGrpSpPr/>
            <p:nvPr/>
          </p:nvGrpSpPr>
          <p:grpSpPr>
            <a:xfrm>
              <a:off x="914400" y="2057400"/>
              <a:ext cx="228600" cy="228600"/>
              <a:chOff x="914400" y="2057400"/>
              <a:chExt cx="228600" cy="228600"/>
            </a:xfrm>
          </p:grpSpPr>
          <p:sp>
            <p:nvSpPr>
              <p:cNvPr id="12" name="Freeform 12"/>
              <p:cNvSpPr/>
              <p:nvPr/>
            </p:nvSpPr>
            <p:spPr>
              <a:xfrm>
                <a:off x="939800" y="205740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FFFFFF"/>
                </a:solidFill>
              </a:ln>
            </p:spPr>
          </p:sp>
          <p:sp>
            <p:nvSpPr>
              <p:cNvPr id="13" name="Freeform 13"/>
              <p:cNvSpPr/>
              <p:nvPr/>
            </p:nvSpPr>
            <p:spPr>
              <a:xfrm>
                <a:off x="914400" y="220980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19050">
                <a:solidFill>
                  <a:srgbClr val="FFFFFF"/>
                </a:solidFill>
              </a:ln>
            </p:spPr>
          </p:sp>
          <p:sp>
            <p:nvSpPr>
              <p:cNvPr id="14" name="Freeform 14"/>
              <p:cNvSpPr/>
              <p:nvPr/>
            </p:nvSpPr>
            <p:spPr>
              <a:xfrm>
                <a:off x="1079500" y="2059051"/>
                <a:ext cx="38200" cy="98425"/>
              </a:xfrm>
              <a:custGeom>
                <a:avLst/>
                <a:gdLst/>
                <a:ahLst/>
                <a:cxnLst/>
                <a:rect l="l" t="t" r="r" b="b"/>
                <a:pathLst>
                  <a:path w="38200" h="98425">
                    <a:moveTo>
                      <a:pt x="0" y="0"/>
                    </a:moveTo>
                    <a:cubicBezTo>
                      <a:pt x="22478" y="5755"/>
                      <a:pt x="38200" y="26009"/>
                      <a:pt x="38200" y="49212"/>
                    </a:cubicBezTo>
                    <a:cubicBezTo>
                      <a:pt x="38200" y="72416"/>
                      <a:pt x="22478" y="92670"/>
                      <a:pt x="0" y="98425"/>
                    </a:cubicBezTo>
                  </a:path>
                </a:pathLst>
              </a:custGeom>
              <a:noFill/>
              <a:ln w="19050">
                <a:solidFill>
                  <a:srgbClr val="FFFFFF"/>
                </a:solidFill>
              </a:ln>
            </p:spPr>
          </p:sp>
          <p:sp>
            <p:nvSpPr>
              <p:cNvPr id="15" name="Freeform 15"/>
              <p:cNvSpPr/>
              <p:nvPr/>
            </p:nvSpPr>
            <p:spPr>
              <a:xfrm>
                <a:off x="1104900" y="221170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19050">
                <a:solidFill>
                  <a:srgbClr val="FFFFFF"/>
                </a:solidFill>
              </a:ln>
            </p:spPr>
          </p:sp>
        </p:grpSp>
        <p:sp>
          <p:nvSpPr>
            <p:cNvPr id="17" name="TextBox 17"/>
            <p:cNvSpPr txBox="1"/>
            <p:nvPr/>
          </p:nvSpPr>
          <p:spPr>
            <a:xfrm>
              <a:off x="1416368" y="2009299"/>
              <a:ext cx="918952"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痛点 01 · 招聘</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1407795" y="2203132"/>
              <a:ext cx="2121170"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招聘量大、流动频繁</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862012" y="2736056"/>
              <a:ext cx="2706410"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保安、保洁等基层岗位 </a:t>
              </a:r>
              <a:r>
                <a:rPr lang="zh-CN" sz="1125" b="1" dirty="0">
                  <a:solidFill>
                    <a:srgbClr val="0052A6"/>
                  </a:solidFill>
                  <a:latin typeface="Arial" panose="020B0604020202020204"/>
                  <a:ea typeface="微软雅黑" panose="020B0503020204020204" charset="-122"/>
                  <a:cs typeface="Arial" panose="020B0604020202020204"/>
                </a:rPr>
                <a:t>量大、流动性高</a:t>
              </a:r>
              <a:r>
                <a:rPr lang="zh-CN" sz="1125" dirty="0">
                  <a:solidFill>
                    <a:srgbClr val="25364A"/>
                  </a:solidFill>
                  <a:latin typeface="Arial" panose="020B0604020202020204"/>
                  <a:ea typeface="微软雅黑" panose="020B0503020204020204" charset="-122"/>
                  <a:cs typeface="Arial" panose="020B0604020202020204"/>
                </a:rPr>
                <a:t>,</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862012" y="2974181"/>
              <a:ext cx="2233851"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招聘人员需长期在 58 同城等平台</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862012" y="3212306"/>
              <a:ext cx="2578894"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重复发布岗位、筛选人员和沟通邀约。</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22" name="Rectangle 22"/>
            <p:cNvSpPr/>
            <p:nvPr/>
          </p:nvSpPr>
          <p:spPr>
            <a:xfrm>
              <a:off x="876300" y="3524250"/>
              <a:ext cx="1143000" cy="209550"/>
            </a:xfrm>
            <a:prstGeom prst="roundRect">
              <a:avLst>
                <a:gd name="adj" fmla="val 50000"/>
              </a:avLst>
            </a:prstGeom>
            <a:solidFill>
              <a:srgbClr val="246BFE">
                <a:alpha val="12000"/>
              </a:srgbClr>
            </a:solidFill>
            <a:ln>
              <a:noFill/>
            </a:ln>
          </p:spPr>
        </p:sp>
        <p:sp>
          <p:nvSpPr>
            <p:cNvPr id="23" name="TextBox 23"/>
            <p:cNvSpPr txBox="1"/>
            <p:nvPr/>
          </p:nvSpPr>
          <p:spPr>
            <a:xfrm>
              <a:off x="1130782" y="3569970"/>
              <a:ext cx="634036" cy="182880"/>
            </a:xfrm>
            <a:prstGeom prst="rect">
              <a:avLst/>
            </a:prstGeom>
            <a:noFill/>
            <a:ln>
              <a:noFill/>
            </a:ln>
          </p:spPr>
          <p:txBody>
            <a:bodyPr wrap="none" lIns="0" tIns="0" rIns="0" bIns="0" anchor="t" anchorCtr="0">
              <a:spAutoFit/>
            </a:bodyPr>
            <a:lstStyle/>
            <a:p>
              <a:pPr algn="ctr"/>
              <a:r>
                <a:rPr lang="zh-CN" sz="900" b="1" dirty="0">
                  <a:solidFill>
                    <a:srgbClr val="246BFE"/>
                  </a:solidFill>
                  <a:latin typeface="Arial" panose="020B0604020202020204"/>
                  <a:ea typeface="微软雅黑" panose="020B0503020204020204" charset="-122"/>
                  <a:cs typeface="Arial" panose="020B0604020202020204"/>
                </a:rPr>
                <a:t>→ 智能招聘</a:t>
              </a:r>
              <a:endParaRPr lang="zh-CN" sz="900" b="1" dirty="0">
                <a:solidFill>
                  <a:srgbClr val="246BFE"/>
                </a:solidFill>
                <a:latin typeface="Arial" panose="020B0604020202020204"/>
                <a:ea typeface="微软雅黑" panose="020B0503020204020204" charset="-122"/>
                <a:cs typeface="Arial" panose="020B0604020202020204"/>
              </a:endParaRPr>
            </a:p>
          </p:txBody>
        </p:sp>
      </p:grpSp>
      <p:grpSp>
        <p:nvGrpSpPr>
          <p:cNvPr id="38" name="Group 38"/>
          <p:cNvGrpSpPr/>
          <p:nvPr/>
        </p:nvGrpSpPr>
        <p:grpSpPr>
          <a:xfrm>
            <a:off x="6191250" y="1714500"/>
            <a:ext cx="5429250" cy="2143125"/>
            <a:chOff x="6191250" y="1714500"/>
            <a:chExt cx="5429250" cy="2143125"/>
          </a:xfrm>
        </p:grpSpPr>
        <p:sp>
          <p:nvSpPr>
            <p:cNvPr id="25" name="Rectangle 25"/>
            <p:cNvSpPr/>
            <p:nvPr/>
          </p:nvSpPr>
          <p:spPr>
            <a:xfrm>
              <a:off x="6191250" y="1714500"/>
              <a:ext cx="5429250" cy="2143125"/>
            </a:xfrm>
            <a:prstGeom prst="roundRect">
              <a:avLst>
                <a:gd name="adj" fmla="val 5333"/>
              </a:avLst>
            </a:prstGeom>
            <a:solidFill>
              <a:srgbClr val="F4F7FC"/>
            </a:solidFill>
            <a:ln>
              <a:noFill/>
            </a:ln>
          </p:spPr>
        </p:sp>
        <p:sp>
          <p:nvSpPr>
            <p:cNvPr id="26" name="Rectangle 26"/>
            <p:cNvSpPr/>
            <p:nvPr/>
          </p:nvSpPr>
          <p:spPr>
            <a:xfrm>
              <a:off x="6191250" y="1714500"/>
              <a:ext cx="57150" cy="2143125"/>
            </a:xfrm>
            <a:prstGeom prst="roundRect">
              <a:avLst>
                <a:gd name="adj" fmla="val 50000"/>
              </a:avLst>
            </a:prstGeom>
            <a:solidFill>
              <a:srgbClr val="0E9F6E"/>
            </a:solidFill>
            <a:ln>
              <a:noFill/>
            </a:ln>
          </p:spPr>
        </p:sp>
        <p:sp>
          <p:nvSpPr>
            <p:cNvPr id="27" name="Ellipse 27"/>
            <p:cNvSpPr/>
            <p:nvPr/>
          </p:nvSpPr>
          <p:spPr>
            <a:xfrm>
              <a:off x="6400800" y="1924050"/>
              <a:ext cx="495300" cy="495300"/>
            </a:xfrm>
            <a:prstGeom prst="ellipse">
              <a:avLst/>
            </a:prstGeom>
            <a:solidFill>
              <a:srgbClr val="0E9F6E"/>
            </a:solidFill>
            <a:ln>
              <a:noFill/>
            </a:ln>
          </p:spPr>
        </p:sp>
        <p:grpSp>
          <p:nvGrpSpPr>
            <p:cNvPr id="30" name="Group 30"/>
            <p:cNvGrpSpPr/>
            <p:nvPr/>
          </p:nvGrpSpPr>
          <p:grpSpPr>
            <a:xfrm>
              <a:off x="6534150" y="2057400"/>
              <a:ext cx="228600" cy="228600"/>
              <a:chOff x="6534150" y="2057400"/>
              <a:chExt cx="228600" cy="228600"/>
            </a:xfrm>
          </p:grpSpPr>
          <p:sp>
            <p:nvSpPr>
              <p:cNvPr id="28" name="Freeform 28"/>
              <p:cNvSpPr/>
              <p:nvPr/>
            </p:nvSpPr>
            <p:spPr>
              <a:xfrm>
                <a:off x="6534150" y="2057400"/>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19050">
                <a:solidFill>
                  <a:srgbClr val="FFFFFF"/>
                </a:solidFill>
              </a:ln>
            </p:spPr>
          </p:sp>
          <p:sp>
            <p:nvSpPr>
              <p:cNvPr id="29" name="Freeform 29"/>
              <p:cNvSpPr/>
              <p:nvPr/>
            </p:nvSpPr>
            <p:spPr>
              <a:xfrm>
                <a:off x="6686550" y="2209800"/>
                <a:ext cx="76200" cy="76200"/>
              </a:xfrm>
              <a:custGeom>
                <a:avLst/>
                <a:gdLst/>
                <a:ahLst/>
                <a:cxnLst/>
                <a:rect l="l" t="t" r="r" b="b"/>
                <a:pathLst>
                  <a:path w="76200" h="76200">
                    <a:moveTo>
                      <a:pt x="76200" y="76200"/>
                    </a:moveTo>
                    <a:lnTo>
                      <a:pt x="0" y="0"/>
                    </a:lnTo>
                  </a:path>
                </a:pathLst>
              </a:custGeom>
              <a:noFill/>
              <a:ln w="19050">
                <a:solidFill>
                  <a:srgbClr val="FFFFFF"/>
                </a:solidFill>
              </a:ln>
            </p:spPr>
          </p:sp>
        </p:grpSp>
        <p:sp>
          <p:nvSpPr>
            <p:cNvPr id="31" name="TextBox 31"/>
            <p:cNvSpPr txBox="1"/>
            <p:nvPr/>
          </p:nvSpPr>
          <p:spPr>
            <a:xfrm>
              <a:off x="7036118" y="2009299"/>
              <a:ext cx="918952" cy="198120"/>
            </a:xfrm>
            <a:prstGeom prst="rect">
              <a:avLst/>
            </a:prstGeom>
            <a:noFill/>
            <a:ln>
              <a:noFill/>
            </a:ln>
          </p:spPr>
          <p:txBody>
            <a:bodyPr wrap="none" lIns="0" tIns="0" rIns="0" bIns="0" anchor="t" anchorCtr="0">
              <a:spAutoFit/>
            </a:bodyPr>
            <a:lstStyle/>
            <a:p>
              <a:pPr algn="l"/>
              <a:r>
                <a:rPr lang="zh-CN" sz="975" b="1" dirty="0">
                  <a:solidFill>
                    <a:srgbClr val="0E9F6E"/>
                  </a:solidFill>
                  <a:latin typeface="Arial" panose="020B0604020202020204"/>
                  <a:ea typeface="微软雅黑" panose="020B0503020204020204" charset="-122"/>
                  <a:cs typeface="Arial" panose="020B0604020202020204"/>
                </a:rPr>
                <a:t>痛点 02 · 商机</a:t>
              </a:r>
              <a:endParaRPr lang="zh-CN" sz="975" b="1" dirty="0">
                <a:solidFill>
                  <a:srgbClr val="0E9F6E"/>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7027545" y="2203132"/>
              <a:ext cx="2121170"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商机分散、人工易漏</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6481762" y="2736056"/>
              <a:ext cx="2578894"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商业地产商机分散在政府网站、招投标</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6481762" y="2974181"/>
              <a:ext cx="2706410"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平台、短视频、招聘等多渠道, </a:t>
              </a:r>
              <a:r>
                <a:rPr lang="zh-CN" sz="1125" b="1" dirty="0">
                  <a:solidFill>
                    <a:srgbClr val="0052A6"/>
                  </a:solidFill>
                  <a:latin typeface="Arial" panose="020B0604020202020204"/>
                  <a:ea typeface="微软雅黑" panose="020B0503020204020204" charset="-122"/>
                  <a:cs typeface="Arial" panose="020B0604020202020204"/>
                </a:rPr>
                <a:t>人工收集</a:t>
              </a:r>
              <a:endParaRPr lang="zh-CN" sz="1125" b="1" dirty="0">
                <a:solidFill>
                  <a:srgbClr val="0052A6"/>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6481762" y="3212306"/>
              <a:ext cx="1873806" cy="228600"/>
            </a:xfrm>
            <a:prstGeom prst="rect">
              <a:avLst/>
            </a:prstGeom>
            <a:noFill/>
            <a:ln>
              <a:noFill/>
            </a:ln>
          </p:spPr>
          <p:txBody>
            <a:bodyPr wrap="none" lIns="0" tIns="0" rIns="0" bIns="0" anchor="t" anchorCtr="0">
              <a:spAutoFit/>
            </a:bodyPr>
            <a:lstStyle/>
            <a:p>
              <a:pPr algn="l"/>
              <a:r>
                <a:rPr lang="zh-CN" sz="1125" b="1" dirty="0">
                  <a:solidFill>
                    <a:srgbClr val="0052A6"/>
                  </a:solidFill>
                  <a:latin typeface="Arial" panose="020B0604020202020204"/>
                  <a:ea typeface="微软雅黑" panose="020B0503020204020204" charset="-122"/>
                  <a:cs typeface="Arial" panose="020B0604020202020204"/>
                </a:rPr>
                <a:t>效率低、易遗漏</a:t>
              </a:r>
              <a:r>
                <a:rPr lang="zh-CN" sz="1125" dirty="0">
                  <a:solidFill>
                    <a:srgbClr val="25364A"/>
                  </a:solidFill>
                  <a:latin typeface="Arial" panose="020B0604020202020204"/>
                  <a:ea typeface="微软雅黑" panose="020B0503020204020204" charset="-122"/>
                  <a:cs typeface="Arial" panose="020B0604020202020204"/>
                </a:rPr>
                <a:t> 重要项目。</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36" name="Rectangle 36"/>
            <p:cNvSpPr/>
            <p:nvPr/>
          </p:nvSpPr>
          <p:spPr>
            <a:xfrm>
              <a:off x="6496050" y="3524250"/>
              <a:ext cx="1143000" cy="209550"/>
            </a:xfrm>
            <a:prstGeom prst="roundRect">
              <a:avLst>
                <a:gd name="adj" fmla="val 50000"/>
              </a:avLst>
            </a:prstGeom>
            <a:solidFill>
              <a:srgbClr val="0E9F6E">
                <a:alpha val="12000"/>
              </a:srgbClr>
            </a:solidFill>
            <a:ln>
              <a:noFill/>
            </a:ln>
          </p:spPr>
        </p:sp>
        <p:sp>
          <p:nvSpPr>
            <p:cNvPr id="37" name="TextBox 37"/>
            <p:cNvSpPr txBox="1"/>
            <p:nvPr/>
          </p:nvSpPr>
          <p:spPr>
            <a:xfrm>
              <a:off x="6750532" y="3569970"/>
              <a:ext cx="634036" cy="182880"/>
            </a:xfrm>
            <a:prstGeom prst="rect">
              <a:avLst/>
            </a:prstGeom>
            <a:noFill/>
            <a:ln>
              <a:noFill/>
            </a:ln>
          </p:spPr>
          <p:txBody>
            <a:bodyPr wrap="none" lIns="0" tIns="0" rIns="0" bIns="0" anchor="t" anchorCtr="0">
              <a:spAutoFit/>
            </a:bodyPr>
            <a:lstStyle/>
            <a:p>
              <a:pPr algn="ctr"/>
              <a:r>
                <a:rPr lang="zh-CN" sz="900" b="1" dirty="0">
                  <a:solidFill>
                    <a:srgbClr val="0E9F6E"/>
                  </a:solidFill>
                  <a:latin typeface="Arial" panose="020B0604020202020204"/>
                  <a:ea typeface="微软雅黑" panose="020B0503020204020204" charset="-122"/>
                  <a:cs typeface="Arial" panose="020B0604020202020204"/>
                </a:rPr>
                <a:t>→ 智能商机</a:t>
              </a:r>
              <a:endParaRPr lang="zh-CN" sz="900" b="1" dirty="0">
                <a:solidFill>
                  <a:srgbClr val="0E9F6E"/>
                </a:solidFill>
                <a:latin typeface="Arial" panose="020B0604020202020204"/>
                <a:ea typeface="微软雅黑" panose="020B0503020204020204" charset="-122"/>
                <a:cs typeface="Arial" panose="020B0604020202020204"/>
              </a:endParaRPr>
            </a:p>
          </p:txBody>
        </p:sp>
      </p:grpSp>
      <p:grpSp>
        <p:nvGrpSpPr>
          <p:cNvPr id="57" name="Group 57"/>
          <p:cNvGrpSpPr/>
          <p:nvPr/>
        </p:nvGrpSpPr>
        <p:grpSpPr>
          <a:xfrm>
            <a:off x="571500" y="4048125"/>
            <a:ext cx="5429250" cy="2143125"/>
            <a:chOff x="571500" y="4048125"/>
            <a:chExt cx="5429250" cy="2143125"/>
          </a:xfrm>
        </p:grpSpPr>
        <p:sp>
          <p:nvSpPr>
            <p:cNvPr id="39" name="Rectangle 39"/>
            <p:cNvSpPr/>
            <p:nvPr/>
          </p:nvSpPr>
          <p:spPr>
            <a:xfrm>
              <a:off x="571500" y="4048125"/>
              <a:ext cx="5429250" cy="2143125"/>
            </a:xfrm>
            <a:prstGeom prst="roundRect">
              <a:avLst>
                <a:gd name="adj" fmla="val 5333"/>
              </a:avLst>
            </a:prstGeom>
            <a:solidFill>
              <a:srgbClr val="F4F7FC"/>
            </a:solidFill>
            <a:ln>
              <a:noFill/>
            </a:ln>
          </p:spPr>
        </p:sp>
        <p:sp>
          <p:nvSpPr>
            <p:cNvPr id="40" name="Rectangle 40"/>
            <p:cNvSpPr/>
            <p:nvPr/>
          </p:nvSpPr>
          <p:spPr>
            <a:xfrm>
              <a:off x="571500" y="4048125"/>
              <a:ext cx="57150" cy="2143125"/>
            </a:xfrm>
            <a:prstGeom prst="roundRect">
              <a:avLst>
                <a:gd name="adj" fmla="val 50000"/>
              </a:avLst>
            </a:prstGeom>
            <a:solidFill>
              <a:srgbClr val="F59E0B"/>
            </a:solidFill>
            <a:ln>
              <a:noFill/>
            </a:ln>
          </p:spPr>
        </p:sp>
        <p:sp>
          <p:nvSpPr>
            <p:cNvPr id="41" name="Ellipse 41"/>
            <p:cNvSpPr/>
            <p:nvPr/>
          </p:nvSpPr>
          <p:spPr>
            <a:xfrm>
              <a:off x="781050" y="4257675"/>
              <a:ext cx="495300" cy="495300"/>
            </a:xfrm>
            <a:prstGeom prst="ellipse">
              <a:avLst/>
            </a:prstGeom>
            <a:solidFill>
              <a:srgbClr val="F59E0B"/>
            </a:solidFill>
            <a:ln>
              <a:noFill/>
            </a:ln>
          </p:spPr>
        </p:sp>
        <p:grpSp>
          <p:nvGrpSpPr>
            <p:cNvPr id="50" name="Group 50"/>
            <p:cNvGrpSpPr/>
            <p:nvPr/>
          </p:nvGrpSpPr>
          <p:grpSpPr>
            <a:xfrm>
              <a:off x="914400" y="4391025"/>
              <a:ext cx="228600" cy="241300"/>
              <a:chOff x="914400" y="4391025"/>
              <a:chExt cx="228600" cy="241300"/>
            </a:xfrm>
          </p:grpSpPr>
          <p:sp>
            <p:nvSpPr>
              <p:cNvPr id="42" name="Freeform 42"/>
              <p:cNvSpPr/>
              <p:nvPr/>
            </p:nvSpPr>
            <p:spPr>
              <a:xfrm>
                <a:off x="952500" y="4391025"/>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19050">
                <a:solidFill>
                  <a:srgbClr val="FFFFFF"/>
                </a:solidFill>
              </a:ln>
            </p:spPr>
          </p:sp>
          <p:sp>
            <p:nvSpPr>
              <p:cNvPr id="43" name="Freeform 43"/>
              <p:cNvSpPr/>
              <p:nvPr/>
            </p:nvSpPr>
            <p:spPr>
              <a:xfrm>
                <a:off x="1028700" y="4391025"/>
                <a:ext cx="25400" cy="152400"/>
              </a:xfrm>
              <a:custGeom>
                <a:avLst/>
                <a:gdLst/>
                <a:ahLst/>
                <a:cxnLst/>
                <a:rect l="l" t="t" r="r" b="b"/>
                <a:pathLst>
                  <a:path w="25400" h="152400">
                    <a:moveTo>
                      <a:pt x="0" y="0"/>
                    </a:moveTo>
                    <a:cubicBezTo>
                      <a:pt x="16929" y="4229"/>
                      <a:pt x="25400" y="29629"/>
                      <a:pt x="25400" y="76200"/>
                    </a:cubicBezTo>
                    <a:cubicBezTo>
                      <a:pt x="25400" y="122771"/>
                      <a:pt x="16929" y="148171"/>
                      <a:pt x="0" y="152400"/>
                    </a:cubicBezTo>
                  </a:path>
                </a:pathLst>
              </a:custGeom>
              <a:noFill/>
              <a:ln w="19050">
                <a:solidFill>
                  <a:srgbClr val="FFFFFF"/>
                </a:solidFill>
              </a:ln>
            </p:spPr>
          </p:sp>
          <p:sp>
            <p:nvSpPr>
              <p:cNvPr id="44" name="Freeform 44"/>
              <p:cNvSpPr/>
              <p:nvPr/>
            </p:nvSpPr>
            <p:spPr>
              <a:xfrm>
                <a:off x="1003300" y="4391025"/>
                <a:ext cx="25400" cy="152400"/>
              </a:xfrm>
              <a:custGeom>
                <a:avLst/>
                <a:gdLst/>
                <a:ahLst/>
                <a:cxnLst/>
                <a:rect l="l" t="t" r="r" b="b"/>
                <a:pathLst>
                  <a:path w="25400" h="152400">
                    <a:moveTo>
                      <a:pt x="25400" y="0"/>
                    </a:moveTo>
                    <a:cubicBezTo>
                      <a:pt x="8471" y="4229"/>
                      <a:pt x="0" y="29629"/>
                      <a:pt x="0" y="76200"/>
                    </a:cubicBezTo>
                    <a:cubicBezTo>
                      <a:pt x="0" y="122771"/>
                      <a:pt x="8471" y="148171"/>
                      <a:pt x="25400" y="152400"/>
                    </a:cubicBezTo>
                  </a:path>
                </a:pathLst>
              </a:custGeom>
              <a:noFill/>
              <a:ln w="19050">
                <a:solidFill>
                  <a:srgbClr val="FFFFFF"/>
                </a:solidFill>
              </a:ln>
            </p:spPr>
          </p:sp>
          <p:sp>
            <p:nvSpPr>
              <p:cNvPr id="45" name="Freeform 45"/>
              <p:cNvSpPr/>
              <p:nvPr/>
            </p:nvSpPr>
            <p:spPr>
              <a:xfrm>
                <a:off x="952500" y="4467225"/>
                <a:ext cx="152400" cy="9525"/>
              </a:xfrm>
              <a:custGeom>
                <a:avLst/>
                <a:gdLst/>
                <a:ahLst/>
                <a:cxnLst/>
                <a:rect l="l" t="t" r="r" b="b"/>
                <a:pathLst>
                  <a:path w="152400" h="9525">
                    <a:moveTo>
                      <a:pt x="0" y="0"/>
                    </a:moveTo>
                    <a:lnTo>
                      <a:pt x="152400" y="0"/>
                    </a:lnTo>
                  </a:path>
                </a:pathLst>
              </a:custGeom>
              <a:noFill/>
              <a:ln w="19050">
                <a:solidFill>
                  <a:srgbClr val="FFFFFF"/>
                </a:solidFill>
              </a:ln>
            </p:spPr>
          </p:sp>
          <p:sp>
            <p:nvSpPr>
              <p:cNvPr id="46" name="Freeform 46"/>
              <p:cNvSpPr/>
              <p:nvPr/>
            </p:nvSpPr>
            <p:spPr>
              <a:xfrm>
                <a:off x="914400" y="4606925"/>
                <a:ext cx="88900" cy="9525"/>
              </a:xfrm>
              <a:custGeom>
                <a:avLst/>
                <a:gdLst/>
                <a:ahLst/>
                <a:cxnLst/>
                <a:rect l="l" t="t" r="r" b="b"/>
                <a:pathLst>
                  <a:path w="88900" h="9525">
                    <a:moveTo>
                      <a:pt x="0" y="0"/>
                    </a:moveTo>
                    <a:lnTo>
                      <a:pt x="88900" y="0"/>
                    </a:lnTo>
                  </a:path>
                </a:pathLst>
              </a:custGeom>
              <a:noFill/>
              <a:ln w="19050">
                <a:solidFill>
                  <a:srgbClr val="FFFFFF"/>
                </a:solidFill>
              </a:ln>
            </p:spPr>
          </p:sp>
          <p:sp>
            <p:nvSpPr>
              <p:cNvPr id="47" name="Freeform 47"/>
              <p:cNvSpPr/>
              <p:nvPr/>
            </p:nvSpPr>
            <p:spPr>
              <a:xfrm>
                <a:off x="1054100" y="4606925"/>
                <a:ext cx="88900" cy="9525"/>
              </a:xfrm>
              <a:custGeom>
                <a:avLst/>
                <a:gdLst/>
                <a:ahLst/>
                <a:cxnLst/>
                <a:rect l="l" t="t" r="r" b="b"/>
                <a:pathLst>
                  <a:path w="88900" h="9525">
                    <a:moveTo>
                      <a:pt x="0" y="0"/>
                    </a:moveTo>
                    <a:lnTo>
                      <a:pt x="88900" y="0"/>
                    </a:lnTo>
                  </a:path>
                </a:pathLst>
              </a:custGeom>
              <a:noFill/>
              <a:ln w="19050">
                <a:solidFill>
                  <a:srgbClr val="FFFFFF"/>
                </a:solidFill>
              </a:ln>
            </p:spPr>
          </p:sp>
          <p:sp>
            <p:nvSpPr>
              <p:cNvPr id="48" name="Freeform 48"/>
              <p:cNvSpPr/>
              <p:nvPr/>
            </p:nvSpPr>
            <p:spPr>
              <a:xfrm>
                <a:off x="1003300" y="4581525"/>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sp>
          <p:sp>
            <p:nvSpPr>
              <p:cNvPr id="49" name="Freeform 49"/>
              <p:cNvSpPr/>
              <p:nvPr/>
            </p:nvSpPr>
            <p:spPr>
              <a:xfrm>
                <a:off x="1028700" y="4543425"/>
                <a:ext cx="9525" cy="38100"/>
              </a:xfrm>
              <a:custGeom>
                <a:avLst/>
                <a:gdLst/>
                <a:ahLst/>
                <a:cxnLst/>
                <a:rect l="l" t="t" r="r" b="b"/>
                <a:pathLst>
                  <a:path w="9525" h="38100">
                    <a:moveTo>
                      <a:pt x="0" y="0"/>
                    </a:moveTo>
                    <a:lnTo>
                      <a:pt x="0" y="38100"/>
                    </a:lnTo>
                  </a:path>
                </a:pathLst>
              </a:custGeom>
              <a:noFill/>
              <a:ln w="19050">
                <a:solidFill>
                  <a:srgbClr val="FFFFFF"/>
                </a:solidFill>
              </a:ln>
            </p:spPr>
          </p:sp>
        </p:grpSp>
        <p:sp>
          <p:nvSpPr>
            <p:cNvPr id="51" name="TextBox 51"/>
            <p:cNvSpPr txBox="1"/>
            <p:nvPr/>
          </p:nvSpPr>
          <p:spPr>
            <a:xfrm>
              <a:off x="1416368" y="4342924"/>
              <a:ext cx="918952" cy="198120"/>
            </a:xfrm>
            <a:prstGeom prst="rect">
              <a:avLst/>
            </a:prstGeom>
            <a:noFill/>
            <a:ln>
              <a:noFill/>
            </a:ln>
          </p:spPr>
          <p:txBody>
            <a:bodyPr wrap="none" lIns="0" tIns="0" rIns="0" bIns="0" anchor="t" anchorCtr="0">
              <a:spAutoFit/>
            </a:bodyPr>
            <a:lstStyle/>
            <a:p>
              <a:pPr algn="l"/>
              <a:r>
                <a:rPr lang="zh-CN" sz="975" b="1" dirty="0">
                  <a:solidFill>
                    <a:srgbClr val="F59E0B"/>
                  </a:solidFill>
                  <a:latin typeface="Arial" panose="020B0604020202020204"/>
                  <a:ea typeface="微软雅黑" panose="020B0503020204020204" charset="-122"/>
                  <a:cs typeface="Arial" panose="020B0604020202020204"/>
                </a:rPr>
                <a:t>痛点 03 · 客户</a:t>
              </a:r>
              <a:endParaRPr lang="zh-CN" sz="975" b="1" dirty="0">
                <a:solidFill>
                  <a:srgbClr val="F59E0B"/>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1407795" y="4536758"/>
              <a:ext cx="1890141"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客户分散、难归并</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862012" y="5069681"/>
              <a:ext cx="244387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同一楼宇/园区被多名销售分散跟进,</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862012" y="5307806"/>
              <a:ext cx="2278856" cy="228600"/>
            </a:xfrm>
            <a:prstGeom prst="rect">
              <a:avLst/>
            </a:prstGeom>
            <a:noFill/>
            <a:ln>
              <a:noFill/>
            </a:ln>
          </p:spPr>
          <p:txBody>
            <a:bodyPr wrap="none" lIns="0" tIns="0" rIns="0" bIns="0" anchor="t" anchorCtr="0">
              <a:spAutoFit/>
            </a:bodyPr>
            <a:lstStyle/>
            <a:p>
              <a:pPr algn="l"/>
              <a:r>
                <a:rPr lang="zh-CN" sz="1125" b="1" dirty="0">
                  <a:solidFill>
                    <a:srgbClr val="0052A6"/>
                  </a:solidFill>
                  <a:latin typeface="Arial" panose="020B0604020202020204"/>
                  <a:ea typeface="微软雅黑" panose="020B0503020204020204" charset="-122"/>
                  <a:cs typeface="Arial" panose="020B0604020202020204"/>
                </a:rPr>
                <a:t>难识别同一客户</a:t>
              </a:r>
              <a:r>
                <a:rPr lang="zh-CN" sz="1125" dirty="0">
                  <a:solidFill>
                    <a:srgbClr val="25364A"/>
                  </a:solidFill>
                  <a:latin typeface="Arial" panose="020B0604020202020204"/>
                  <a:ea typeface="微软雅黑" panose="020B0503020204020204" charset="-122"/>
                  <a:cs typeface="Arial" panose="020B0604020202020204"/>
                </a:rPr>
                <a:t>、</a:t>
              </a:r>
              <a:r>
                <a:rPr lang="zh-CN" sz="1125" b="1" dirty="0">
                  <a:solidFill>
                    <a:srgbClr val="0052A6"/>
                  </a:solidFill>
                  <a:latin typeface="Arial" panose="020B0604020202020204"/>
                  <a:ea typeface="微软雅黑" panose="020B0503020204020204" charset="-122"/>
                  <a:cs typeface="Arial" panose="020B0604020202020204"/>
                </a:rPr>
                <a:t>难还原决策链</a:t>
              </a:r>
              <a:r>
                <a:rPr lang="zh-CN" sz="1125" dirty="0">
                  <a:solidFill>
                    <a:srgbClr val="25364A"/>
                  </a:solidFill>
                  <a:latin typeface="Arial" panose="020B0604020202020204"/>
                  <a:ea typeface="微软雅黑" panose="020B0503020204020204" charset="-122"/>
                  <a:cs typeface="Arial" panose="020B0604020202020204"/>
                </a:rPr>
                <a:t>。</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55" name="Rectangle 55"/>
            <p:cNvSpPr/>
            <p:nvPr/>
          </p:nvSpPr>
          <p:spPr>
            <a:xfrm>
              <a:off x="876300" y="5667375"/>
              <a:ext cx="1504950" cy="209550"/>
            </a:xfrm>
            <a:prstGeom prst="roundRect">
              <a:avLst>
                <a:gd name="adj" fmla="val 50000"/>
              </a:avLst>
            </a:prstGeom>
            <a:solidFill>
              <a:srgbClr val="F59E0B">
                <a:alpha val="14000"/>
              </a:srgbClr>
            </a:solidFill>
            <a:ln>
              <a:noFill/>
            </a:ln>
          </p:spPr>
        </p:sp>
        <p:sp>
          <p:nvSpPr>
            <p:cNvPr id="56" name="TextBox 56"/>
            <p:cNvSpPr txBox="1"/>
            <p:nvPr/>
          </p:nvSpPr>
          <p:spPr>
            <a:xfrm>
              <a:off x="1151087" y="5713095"/>
              <a:ext cx="955377" cy="182880"/>
            </a:xfrm>
            <a:prstGeom prst="rect">
              <a:avLst/>
            </a:prstGeom>
            <a:noFill/>
            <a:ln>
              <a:noFill/>
            </a:ln>
          </p:spPr>
          <p:txBody>
            <a:bodyPr wrap="none" lIns="0" tIns="0" rIns="0" bIns="0" anchor="t" anchorCtr="0">
              <a:spAutoFit/>
            </a:bodyPr>
            <a:lstStyle/>
            <a:p>
              <a:pPr algn="ctr"/>
              <a:r>
                <a:rPr lang="zh-CN" sz="900" b="1" dirty="0">
                  <a:solidFill>
                    <a:srgbClr val="F59E0B"/>
                  </a:solidFill>
                  <a:latin typeface="Arial" panose="020B0604020202020204"/>
                  <a:ea typeface="微软雅黑" panose="020B0503020204020204" charset="-122"/>
                  <a:cs typeface="Arial" panose="020B0604020202020204"/>
                </a:rPr>
                <a:t>→ 投标+客户归并</a:t>
              </a:r>
              <a:endParaRPr lang="zh-CN" sz="900" b="1" dirty="0">
                <a:solidFill>
                  <a:srgbClr val="F59E0B"/>
                </a:solidFill>
                <a:latin typeface="Arial" panose="020B0604020202020204"/>
                <a:ea typeface="微软雅黑" panose="020B0503020204020204" charset="-122"/>
                <a:cs typeface="Arial" panose="020B0604020202020204"/>
              </a:endParaRPr>
            </a:p>
          </p:txBody>
        </p:sp>
      </p:grpSp>
      <p:grpSp>
        <p:nvGrpSpPr>
          <p:cNvPr id="72" name="Group 72"/>
          <p:cNvGrpSpPr/>
          <p:nvPr/>
        </p:nvGrpSpPr>
        <p:grpSpPr>
          <a:xfrm>
            <a:off x="6191250" y="4048125"/>
            <a:ext cx="5429250" cy="2143125"/>
            <a:chOff x="6191250" y="4048125"/>
            <a:chExt cx="5429250" cy="2143125"/>
          </a:xfrm>
        </p:grpSpPr>
        <p:sp>
          <p:nvSpPr>
            <p:cNvPr id="58" name="Rectangle 58"/>
            <p:cNvSpPr/>
            <p:nvPr/>
          </p:nvSpPr>
          <p:spPr>
            <a:xfrm>
              <a:off x="6191250" y="4048125"/>
              <a:ext cx="5429250" cy="2143125"/>
            </a:xfrm>
            <a:prstGeom prst="roundRect">
              <a:avLst>
                <a:gd name="adj" fmla="val 5333"/>
              </a:avLst>
            </a:prstGeom>
            <a:solidFill>
              <a:srgbClr val="F4F7FC"/>
            </a:solidFill>
            <a:ln>
              <a:noFill/>
            </a:ln>
          </p:spPr>
        </p:sp>
        <p:sp>
          <p:nvSpPr>
            <p:cNvPr id="59" name="Rectangle 59"/>
            <p:cNvSpPr/>
            <p:nvPr/>
          </p:nvSpPr>
          <p:spPr>
            <a:xfrm>
              <a:off x="6191250" y="4048125"/>
              <a:ext cx="57150" cy="2143125"/>
            </a:xfrm>
            <a:prstGeom prst="roundRect">
              <a:avLst>
                <a:gd name="adj" fmla="val 50000"/>
              </a:avLst>
            </a:prstGeom>
            <a:solidFill>
              <a:srgbClr val="20A7B8"/>
            </a:solidFill>
            <a:ln>
              <a:noFill/>
            </a:ln>
          </p:spPr>
        </p:sp>
        <p:sp>
          <p:nvSpPr>
            <p:cNvPr id="60" name="Ellipse 60"/>
            <p:cNvSpPr/>
            <p:nvPr/>
          </p:nvSpPr>
          <p:spPr>
            <a:xfrm>
              <a:off x="6400800" y="4257675"/>
              <a:ext cx="495300" cy="495300"/>
            </a:xfrm>
            <a:prstGeom prst="ellipse">
              <a:avLst/>
            </a:prstGeom>
            <a:solidFill>
              <a:srgbClr val="20A7B8"/>
            </a:solidFill>
            <a:ln>
              <a:noFill/>
            </a:ln>
          </p:spPr>
        </p:sp>
        <p:grpSp>
          <p:nvGrpSpPr>
            <p:cNvPr id="65" name="Group 65"/>
            <p:cNvGrpSpPr/>
            <p:nvPr/>
          </p:nvGrpSpPr>
          <p:grpSpPr>
            <a:xfrm>
              <a:off x="6546850" y="4391025"/>
              <a:ext cx="203200" cy="241300"/>
              <a:chOff x="6546850" y="4391025"/>
              <a:chExt cx="203200" cy="241300"/>
            </a:xfrm>
          </p:grpSpPr>
          <p:sp>
            <p:nvSpPr>
              <p:cNvPr id="61" name="Freeform 61"/>
              <p:cNvSpPr/>
              <p:nvPr/>
            </p:nvSpPr>
            <p:spPr>
              <a:xfrm>
                <a:off x="6546850" y="4391025"/>
                <a:ext cx="203200" cy="139700"/>
              </a:xfrm>
              <a:custGeom>
                <a:avLst/>
                <a:gdLst/>
                <a:ahLst/>
                <a:cxnLst/>
                <a:rect l="l" t="t" r="r" b="b"/>
                <a:pathLst>
                  <a:path w="203200" h="139700">
                    <a:moveTo>
                      <a:pt x="0" y="139700"/>
                    </a:moveTo>
                    <a:lnTo>
                      <a:pt x="0" y="101600"/>
                    </a:lnTo>
                    <a:cubicBezTo>
                      <a:pt x="0" y="45488"/>
                      <a:pt x="45488" y="0"/>
                      <a:pt x="101600" y="0"/>
                    </a:cubicBezTo>
                    <a:cubicBezTo>
                      <a:pt x="157712" y="0"/>
                      <a:pt x="203200" y="45488"/>
                      <a:pt x="203200" y="101600"/>
                    </a:cubicBezTo>
                    <a:lnTo>
                      <a:pt x="203200" y="139700"/>
                    </a:lnTo>
                  </a:path>
                </a:pathLst>
              </a:custGeom>
              <a:noFill/>
              <a:ln w="19050">
                <a:solidFill>
                  <a:srgbClr val="FFFFFF"/>
                </a:solidFill>
              </a:ln>
            </p:spPr>
          </p:sp>
          <p:sp>
            <p:nvSpPr>
              <p:cNvPr id="62" name="Freeform 62"/>
              <p:cNvSpPr/>
              <p:nvPr/>
            </p:nvSpPr>
            <p:spPr>
              <a:xfrm>
                <a:off x="6648450" y="4594225"/>
                <a:ext cx="76200" cy="38100"/>
              </a:xfrm>
              <a:custGeom>
                <a:avLst/>
                <a:gdLst/>
                <a:ahLst/>
                <a:cxnLst/>
                <a:rect l="l" t="t" r="r" b="b"/>
                <a:pathLst>
                  <a:path w="76200" h="38100">
                    <a:moveTo>
                      <a:pt x="76200" y="0"/>
                    </a:moveTo>
                    <a:cubicBezTo>
                      <a:pt x="76200" y="21044"/>
                      <a:pt x="42088" y="38100"/>
                      <a:pt x="0" y="38100"/>
                    </a:cubicBezTo>
                  </a:path>
                </a:pathLst>
              </a:custGeom>
              <a:noFill/>
              <a:ln w="19050">
                <a:solidFill>
                  <a:srgbClr val="FFFFFF"/>
                </a:solidFill>
              </a:ln>
            </p:spPr>
          </p:sp>
          <p:sp>
            <p:nvSpPr>
              <p:cNvPr id="63" name="Freeform 63"/>
              <p:cNvSpPr/>
              <p:nvPr/>
            </p:nvSpPr>
            <p:spPr>
              <a:xfrm>
                <a:off x="6546850" y="4505325"/>
                <a:ext cx="63500" cy="88900"/>
              </a:xfrm>
              <a:custGeom>
                <a:avLst/>
                <a:gdLst/>
                <a:ahLst/>
                <a:cxnLst/>
                <a:rect l="l" t="t" r="r" b="b"/>
                <a:pathLst>
                  <a:path w="63500" h="88900">
                    <a:moveTo>
                      <a:pt x="0" y="25400"/>
                    </a:moveTo>
                    <a:cubicBezTo>
                      <a:pt x="0" y="11372"/>
                      <a:pt x="11372" y="0"/>
                      <a:pt x="25400" y="0"/>
                    </a:cubicBezTo>
                    <a:lnTo>
                      <a:pt x="38100" y="0"/>
                    </a:lnTo>
                    <a:cubicBezTo>
                      <a:pt x="52128" y="0"/>
                      <a:pt x="63500" y="11372"/>
                      <a:pt x="63500" y="25400"/>
                    </a:cubicBezTo>
                    <a:lnTo>
                      <a:pt x="63500" y="63500"/>
                    </a:lnTo>
                    <a:cubicBezTo>
                      <a:pt x="63500" y="77528"/>
                      <a:pt x="52128" y="88900"/>
                      <a:pt x="38100" y="88900"/>
                    </a:cubicBezTo>
                    <a:lnTo>
                      <a:pt x="25400" y="88900"/>
                    </a:lnTo>
                    <a:cubicBezTo>
                      <a:pt x="11372" y="88900"/>
                      <a:pt x="0" y="77528"/>
                      <a:pt x="0" y="63500"/>
                    </a:cubicBezTo>
                    <a:lnTo>
                      <a:pt x="0" y="25400"/>
                    </a:lnTo>
                  </a:path>
                </a:pathLst>
              </a:custGeom>
              <a:noFill/>
              <a:ln w="19050">
                <a:solidFill>
                  <a:srgbClr val="FFFFFF"/>
                </a:solidFill>
              </a:ln>
            </p:spPr>
          </p:sp>
          <p:sp>
            <p:nvSpPr>
              <p:cNvPr id="64" name="Freeform 64"/>
              <p:cNvSpPr/>
              <p:nvPr/>
            </p:nvSpPr>
            <p:spPr>
              <a:xfrm>
                <a:off x="6686550" y="4505325"/>
                <a:ext cx="63500" cy="88900"/>
              </a:xfrm>
              <a:custGeom>
                <a:avLst/>
                <a:gdLst/>
                <a:ahLst/>
                <a:cxnLst/>
                <a:rect l="l" t="t" r="r" b="b"/>
                <a:pathLst>
                  <a:path w="63500" h="88900">
                    <a:moveTo>
                      <a:pt x="0" y="25400"/>
                    </a:moveTo>
                    <a:cubicBezTo>
                      <a:pt x="0" y="11372"/>
                      <a:pt x="11372" y="0"/>
                      <a:pt x="25400" y="0"/>
                    </a:cubicBezTo>
                    <a:lnTo>
                      <a:pt x="38100" y="0"/>
                    </a:lnTo>
                    <a:cubicBezTo>
                      <a:pt x="52128" y="0"/>
                      <a:pt x="63500" y="11372"/>
                      <a:pt x="63500" y="25400"/>
                    </a:cubicBezTo>
                    <a:lnTo>
                      <a:pt x="63500" y="63500"/>
                    </a:lnTo>
                    <a:cubicBezTo>
                      <a:pt x="63500" y="77528"/>
                      <a:pt x="52128" y="88900"/>
                      <a:pt x="38100" y="88900"/>
                    </a:cubicBezTo>
                    <a:lnTo>
                      <a:pt x="25400" y="88900"/>
                    </a:lnTo>
                    <a:cubicBezTo>
                      <a:pt x="11372" y="88900"/>
                      <a:pt x="0" y="77528"/>
                      <a:pt x="0" y="63500"/>
                    </a:cubicBezTo>
                    <a:lnTo>
                      <a:pt x="0" y="25400"/>
                    </a:lnTo>
                  </a:path>
                </a:pathLst>
              </a:custGeom>
              <a:noFill/>
              <a:ln w="19050">
                <a:solidFill>
                  <a:srgbClr val="FFFFFF"/>
                </a:solidFill>
              </a:ln>
            </p:spPr>
          </p:sp>
        </p:grpSp>
        <p:sp>
          <p:nvSpPr>
            <p:cNvPr id="66" name="TextBox 66"/>
            <p:cNvSpPr txBox="1"/>
            <p:nvPr/>
          </p:nvSpPr>
          <p:spPr>
            <a:xfrm>
              <a:off x="7036118" y="4342924"/>
              <a:ext cx="918952" cy="198120"/>
            </a:xfrm>
            <a:prstGeom prst="rect">
              <a:avLst/>
            </a:prstGeom>
            <a:noFill/>
            <a:ln>
              <a:noFill/>
            </a:ln>
          </p:spPr>
          <p:txBody>
            <a:bodyPr wrap="none" lIns="0" tIns="0" rIns="0" bIns="0" anchor="t" anchorCtr="0">
              <a:spAutoFit/>
            </a:bodyPr>
            <a:lstStyle/>
            <a:p>
              <a:pPr algn="l"/>
              <a:r>
                <a:rPr lang="zh-CN" sz="975" b="1" dirty="0">
                  <a:solidFill>
                    <a:srgbClr val="20A7B8"/>
                  </a:solidFill>
                  <a:latin typeface="Arial" panose="020B0604020202020204"/>
                  <a:ea typeface="微软雅黑" panose="020B0503020204020204" charset="-122"/>
                  <a:cs typeface="Arial" panose="020B0604020202020204"/>
                </a:rPr>
                <a:t>痛点 04 · 营销</a:t>
              </a:r>
              <a:endParaRPr lang="zh-CN" sz="975" b="1" dirty="0">
                <a:solidFill>
                  <a:srgbClr val="20A7B8"/>
                </a:solidFill>
                <a:latin typeface="Arial" panose="020B0604020202020204"/>
                <a:ea typeface="微软雅黑" panose="020B0503020204020204" charset="-122"/>
                <a:cs typeface="Arial" panose="020B0604020202020204"/>
              </a:endParaRPr>
            </a:p>
          </p:txBody>
        </p:sp>
        <p:sp>
          <p:nvSpPr>
            <p:cNvPr id="67" name="TextBox 67"/>
            <p:cNvSpPr txBox="1"/>
            <p:nvPr/>
          </p:nvSpPr>
          <p:spPr>
            <a:xfrm>
              <a:off x="7027545" y="4536758"/>
              <a:ext cx="1890141"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录音量大、难回听</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68" name="TextBox 68"/>
            <p:cNvSpPr txBox="1"/>
            <p:nvPr/>
          </p:nvSpPr>
          <p:spPr>
            <a:xfrm>
              <a:off x="6481762" y="5069681"/>
              <a:ext cx="2143839"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销售录音数量大,依赖人工回听,</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69" name="TextBox 69"/>
            <p:cNvSpPr txBox="1"/>
            <p:nvPr/>
          </p:nvSpPr>
          <p:spPr>
            <a:xfrm>
              <a:off x="6481762" y="5307806"/>
              <a:ext cx="2773918"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话术规范、客户意向、商机 </a:t>
              </a:r>
              <a:r>
                <a:rPr lang="zh-CN" sz="1125" b="1" dirty="0">
                  <a:solidFill>
                    <a:srgbClr val="0052A6"/>
                  </a:solidFill>
                  <a:latin typeface="Arial" panose="020B0604020202020204"/>
                  <a:ea typeface="微软雅黑" panose="020B0503020204020204" charset="-122"/>
                  <a:cs typeface="Arial" panose="020B0604020202020204"/>
                </a:rPr>
                <a:t>难快速判断</a:t>
              </a:r>
              <a:r>
                <a:rPr lang="zh-CN" sz="1125" dirty="0">
                  <a:solidFill>
                    <a:srgbClr val="25364A"/>
                  </a:solidFill>
                  <a:latin typeface="Arial" panose="020B0604020202020204"/>
                  <a:ea typeface="微软雅黑" panose="020B0503020204020204" charset="-122"/>
                  <a:cs typeface="Arial" panose="020B0604020202020204"/>
                </a:rPr>
                <a:t>。</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70" name="Rectangle 70"/>
            <p:cNvSpPr/>
            <p:nvPr/>
          </p:nvSpPr>
          <p:spPr>
            <a:xfrm>
              <a:off x="6496050" y="5667375"/>
              <a:ext cx="1143000" cy="209550"/>
            </a:xfrm>
            <a:prstGeom prst="roundRect">
              <a:avLst>
                <a:gd name="adj" fmla="val 50000"/>
              </a:avLst>
            </a:prstGeom>
            <a:solidFill>
              <a:srgbClr val="20A7B8">
                <a:alpha val="14000"/>
              </a:srgbClr>
            </a:solidFill>
            <a:ln>
              <a:noFill/>
            </a:ln>
          </p:spPr>
        </p:sp>
        <p:sp>
          <p:nvSpPr>
            <p:cNvPr id="71" name="TextBox 71"/>
            <p:cNvSpPr txBox="1"/>
            <p:nvPr/>
          </p:nvSpPr>
          <p:spPr>
            <a:xfrm>
              <a:off x="6750532" y="5713095"/>
              <a:ext cx="634036" cy="182880"/>
            </a:xfrm>
            <a:prstGeom prst="rect">
              <a:avLst/>
            </a:prstGeom>
            <a:noFill/>
            <a:ln>
              <a:noFill/>
            </a:ln>
          </p:spPr>
          <p:txBody>
            <a:bodyPr wrap="none" lIns="0" tIns="0" rIns="0" bIns="0" anchor="t" anchorCtr="0">
              <a:spAutoFit/>
            </a:bodyPr>
            <a:lstStyle/>
            <a:p>
              <a:pPr algn="ctr"/>
              <a:r>
                <a:rPr lang="zh-CN" sz="900" b="1" dirty="0">
                  <a:solidFill>
                    <a:srgbClr val="20A7B8"/>
                  </a:solidFill>
                  <a:latin typeface="Arial" panose="020B0604020202020204"/>
                  <a:ea typeface="微软雅黑" panose="020B0503020204020204" charset="-122"/>
                  <a:cs typeface="Arial" panose="020B0604020202020204"/>
                </a:rPr>
                <a:t>→ 智能营销</a:t>
              </a:r>
              <a:endParaRPr lang="zh-CN" sz="900" b="1" dirty="0">
                <a:solidFill>
                  <a:srgbClr val="20A7B8"/>
                </a:solidFill>
                <a:latin typeface="Arial" panose="020B0604020202020204"/>
                <a:ea typeface="微软雅黑" panose="020B0503020204020204" charset="-122"/>
                <a:cs typeface="Arial" panose="020B0604020202020204"/>
              </a:endParaRPr>
            </a:p>
          </p:txBody>
        </p:sp>
      </p:grpSp>
      <p:grpSp>
        <p:nvGrpSpPr>
          <p:cNvPr id="75" name="Group 75"/>
          <p:cNvGrpSpPr/>
          <p:nvPr/>
        </p:nvGrpSpPr>
        <p:grpSpPr>
          <a:xfrm>
            <a:off x="561022" y="6578441"/>
            <a:ext cx="11069955" cy="167640"/>
            <a:chOff x="561022" y="6578441"/>
            <a:chExt cx="11069955" cy="167640"/>
          </a:xfrm>
        </p:grpSpPr>
        <p:sp>
          <p:nvSpPr>
            <p:cNvPr id="73" name="TextBox 73"/>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74" name="TextBox 74"/>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05</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400"/>
                                        <p:tgtEl>
                                          <p:spTgt spid="24"/>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image">
                                      <p:cBhvr>
                                        <p:cTn id="11" dur="400"/>
                                        <p:tgtEl>
                                          <p:spTgt spid="3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400"/>
                                        <p:tgtEl>
                                          <p:spTgt spid="57"/>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wipe(left)">
                                      <p:cBhvr>
                                        <p:cTn id="19"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8" grpId="0"/>
      <p:bldP spid="57" grpId="0"/>
      <p:bldP spid="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5460075" cy="970598"/>
            <a:chOff x="542925" y="553402"/>
            <a:chExt cx="5460075" cy="970598"/>
          </a:xfrm>
        </p:grpSpPr>
        <p:sp>
          <p:nvSpPr>
            <p:cNvPr id="5" name="TextBox 5"/>
            <p:cNvSpPr txBox="1"/>
            <p:nvPr/>
          </p:nvSpPr>
          <p:spPr>
            <a:xfrm>
              <a:off x="558165" y="553402"/>
              <a:ext cx="820569"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01 客户理解</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5460075"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整体价值闭环 — 从信息发现到结果复盘</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5415153"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四大场景串联成完整业务闭环(客户原话),让数据在链路中流动、沉淀、复利</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16" name="Group 16"/>
          <p:cNvGrpSpPr/>
          <p:nvPr/>
        </p:nvGrpSpPr>
        <p:grpSpPr>
          <a:xfrm>
            <a:off x="1809750" y="1799749"/>
            <a:ext cx="8591550" cy="1153002"/>
            <a:chOff x="1809750" y="1799749"/>
            <a:chExt cx="8591550" cy="1153002"/>
          </a:xfrm>
        </p:grpSpPr>
        <p:sp>
          <p:nvSpPr>
            <p:cNvPr id="9" name="TextBox 9"/>
            <p:cNvSpPr txBox="1"/>
            <p:nvPr/>
          </p:nvSpPr>
          <p:spPr>
            <a:xfrm>
              <a:off x="5192844" y="1799749"/>
              <a:ext cx="1806313" cy="198120"/>
            </a:xfrm>
            <a:prstGeom prst="rect">
              <a:avLst/>
            </a:prstGeom>
            <a:noFill/>
            <a:ln>
              <a:noFill/>
            </a:ln>
          </p:spPr>
          <p:txBody>
            <a:bodyPr wrap="none" lIns="0" tIns="0" rIns="0" bIns="0" anchor="t" anchorCtr="0">
              <a:spAutoFit/>
            </a:bodyPr>
            <a:lstStyle/>
            <a:p>
              <a:pPr algn="ctr"/>
              <a:r>
                <a:rPr lang="zh-CN" sz="975" b="1" dirty="0">
                  <a:solidFill>
                    <a:srgbClr val="5E6A78"/>
                  </a:solidFill>
                  <a:latin typeface="Arial" panose="020B0604020202020204"/>
                  <a:ea typeface="微软雅黑" panose="020B0503020204020204" charset="-122"/>
                  <a:cs typeface="Arial" panose="020B0604020202020204"/>
                </a:rPr>
                <a:t>END-TO-END BUSINESS LOOP</a:t>
              </a:r>
              <a:endParaRPr lang="zh-CN" sz="975" b="1" dirty="0">
                <a:solidFill>
                  <a:srgbClr val="5E6A78"/>
                </a:solidFill>
                <a:latin typeface="Arial" panose="020B0604020202020204"/>
                <a:ea typeface="微软雅黑" panose="020B0503020204020204" charset="-122"/>
                <a:cs typeface="Arial" panose="020B0604020202020204"/>
              </a:endParaRPr>
            </a:p>
          </p:txBody>
        </p:sp>
        <p:sp>
          <p:nvSpPr>
            <p:cNvPr id="10" name="Line 10"/>
            <p:cNvSpPr/>
            <p:nvPr/>
          </p:nvSpPr>
          <p:spPr>
            <a:xfrm>
              <a:off x="1809750" y="2952750"/>
              <a:ext cx="400050" cy="1"/>
            </a:xfrm>
            <a:prstGeom prst="line">
              <a:avLst/>
            </a:prstGeom>
            <a:noFill/>
            <a:ln w="23812">
              <a:solidFill>
                <a:srgbClr val="246BFE"/>
              </a:solidFill>
              <a:tailEnd type="triangle" w="lg" len="lg"/>
            </a:ln>
          </p:spPr>
        </p:sp>
        <p:sp>
          <p:nvSpPr>
            <p:cNvPr id="11" name="Line 11"/>
            <p:cNvSpPr/>
            <p:nvPr/>
          </p:nvSpPr>
          <p:spPr>
            <a:xfrm>
              <a:off x="3448050" y="2952750"/>
              <a:ext cx="400050" cy="1"/>
            </a:xfrm>
            <a:prstGeom prst="line">
              <a:avLst/>
            </a:prstGeom>
            <a:noFill/>
            <a:ln w="23812">
              <a:solidFill>
                <a:srgbClr val="246BFE"/>
              </a:solidFill>
              <a:tailEnd type="triangle" w="lg" len="lg"/>
            </a:ln>
          </p:spPr>
        </p:sp>
        <p:sp>
          <p:nvSpPr>
            <p:cNvPr id="12" name="Line 12"/>
            <p:cNvSpPr/>
            <p:nvPr/>
          </p:nvSpPr>
          <p:spPr>
            <a:xfrm>
              <a:off x="5086350" y="2952750"/>
              <a:ext cx="400050" cy="1"/>
            </a:xfrm>
            <a:prstGeom prst="line">
              <a:avLst/>
            </a:prstGeom>
            <a:noFill/>
            <a:ln w="23812">
              <a:solidFill>
                <a:srgbClr val="246BFE"/>
              </a:solidFill>
              <a:tailEnd type="triangle" w="lg" len="lg"/>
            </a:ln>
          </p:spPr>
        </p:sp>
        <p:sp>
          <p:nvSpPr>
            <p:cNvPr id="13" name="Line 13"/>
            <p:cNvSpPr/>
            <p:nvPr/>
          </p:nvSpPr>
          <p:spPr>
            <a:xfrm>
              <a:off x="6724650" y="2952750"/>
              <a:ext cx="400050" cy="1"/>
            </a:xfrm>
            <a:prstGeom prst="line">
              <a:avLst/>
            </a:prstGeom>
            <a:noFill/>
            <a:ln w="23812">
              <a:solidFill>
                <a:srgbClr val="246BFE"/>
              </a:solidFill>
              <a:tailEnd type="triangle" w="lg" len="lg"/>
            </a:ln>
          </p:spPr>
        </p:sp>
        <p:sp>
          <p:nvSpPr>
            <p:cNvPr id="14" name="Line 14"/>
            <p:cNvSpPr/>
            <p:nvPr/>
          </p:nvSpPr>
          <p:spPr>
            <a:xfrm>
              <a:off x="8362950" y="2952750"/>
              <a:ext cx="400050" cy="1"/>
            </a:xfrm>
            <a:prstGeom prst="line">
              <a:avLst/>
            </a:prstGeom>
            <a:noFill/>
            <a:ln w="23812">
              <a:solidFill>
                <a:srgbClr val="246BFE"/>
              </a:solidFill>
              <a:tailEnd type="triangle" w="lg" len="lg"/>
            </a:ln>
          </p:spPr>
        </p:sp>
        <p:sp>
          <p:nvSpPr>
            <p:cNvPr id="15" name="Line 15"/>
            <p:cNvSpPr/>
            <p:nvPr/>
          </p:nvSpPr>
          <p:spPr>
            <a:xfrm>
              <a:off x="10001250" y="2952750"/>
              <a:ext cx="400050" cy="1"/>
            </a:xfrm>
            <a:prstGeom prst="line">
              <a:avLst/>
            </a:prstGeom>
            <a:noFill/>
            <a:ln w="23812">
              <a:solidFill>
                <a:srgbClr val="246BFE"/>
              </a:solidFill>
              <a:tailEnd type="triangle" w="lg" len="lg"/>
            </a:ln>
          </p:spPr>
        </p:sp>
      </p:grpSp>
      <p:grpSp>
        <p:nvGrpSpPr>
          <p:cNvPr id="22" name="Group 22"/>
          <p:cNvGrpSpPr/>
          <p:nvPr/>
        </p:nvGrpSpPr>
        <p:grpSpPr>
          <a:xfrm>
            <a:off x="600075" y="2362200"/>
            <a:ext cx="1181100" cy="1181100"/>
            <a:chOff x="600075" y="2362200"/>
            <a:chExt cx="1181100" cy="1181100"/>
          </a:xfrm>
        </p:grpSpPr>
        <p:sp>
          <p:nvSpPr>
            <p:cNvPr id="17" name="Ellipse 17"/>
            <p:cNvSpPr/>
            <p:nvPr/>
          </p:nvSpPr>
          <p:spPr>
            <a:xfrm>
              <a:off x="600075" y="2362200"/>
              <a:ext cx="1181100" cy="1181100"/>
            </a:xfrm>
            <a:prstGeom prst="ellipse">
              <a:avLst/>
            </a:prstGeom>
            <a:solidFill>
              <a:srgbClr val="246BFE"/>
            </a:solidFill>
            <a:ln>
              <a:noFill/>
            </a:ln>
          </p:spPr>
        </p:sp>
        <p:grpSp>
          <p:nvGrpSpPr>
            <p:cNvPr id="20" name="Group 20"/>
            <p:cNvGrpSpPr/>
            <p:nvPr/>
          </p:nvGrpSpPr>
          <p:grpSpPr>
            <a:xfrm>
              <a:off x="1047750" y="2543175"/>
              <a:ext cx="285750" cy="285750"/>
              <a:chOff x="1047750" y="2543175"/>
              <a:chExt cx="285750" cy="285750"/>
            </a:xfrm>
          </p:grpSpPr>
          <p:sp>
            <p:nvSpPr>
              <p:cNvPr id="18" name="Freeform 18"/>
              <p:cNvSpPr/>
              <p:nvPr/>
            </p:nvSpPr>
            <p:spPr>
              <a:xfrm>
                <a:off x="1047750" y="2543175"/>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19050">
                <a:solidFill>
                  <a:srgbClr val="FFFFFF"/>
                </a:solidFill>
              </a:ln>
            </p:spPr>
          </p:sp>
          <p:sp>
            <p:nvSpPr>
              <p:cNvPr id="19" name="Freeform 19"/>
              <p:cNvSpPr/>
              <p:nvPr/>
            </p:nvSpPr>
            <p:spPr>
              <a:xfrm>
                <a:off x="1238250" y="2733675"/>
                <a:ext cx="95250" cy="95250"/>
              </a:xfrm>
              <a:custGeom>
                <a:avLst/>
                <a:gdLst/>
                <a:ahLst/>
                <a:cxnLst/>
                <a:rect l="l" t="t" r="r" b="b"/>
                <a:pathLst>
                  <a:path w="95250" h="95250">
                    <a:moveTo>
                      <a:pt x="95250" y="95250"/>
                    </a:moveTo>
                    <a:lnTo>
                      <a:pt x="0" y="0"/>
                    </a:lnTo>
                  </a:path>
                </a:pathLst>
              </a:custGeom>
              <a:noFill/>
              <a:ln w="19050">
                <a:solidFill>
                  <a:srgbClr val="FFFFFF"/>
                </a:solidFill>
              </a:ln>
            </p:spPr>
          </p:sp>
        </p:grpSp>
        <p:sp>
          <p:nvSpPr>
            <p:cNvPr id="21" name="TextBox 21"/>
            <p:cNvSpPr txBox="1"/>
            <p:nvPr/>
          </p:nvSpPr>
          <p:spPr>
            <a:xfrm>
              <a:off x="883253" y="29822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信息发现</a:t>
              </a:r>
              <a:endParaRPr lang="zh-CN" sz="1050" b="1" dirty="0">
                <a:solidFill>
                  <a:srgbClr val="FFFFFF"/>
                </a:solidFill>
                <a:latin typeface="Arial" panose="020B0604020202020204"/>
                <a:ea typeface="微软雅黑" panose="020B0503020204020204" charset="-122"/>
                <a:cs typeface="Arial" panose="020B0604020202020204"/>
              </a:endParaRPr>
            </a:p>
          </p:txBody>
        </p:sp>
      </p:grpSp>
      <p:grpSp>
        <p:nvGrpSpPr>
          <p:cNvPr id="29" name="Group 29"/>
          <p:cNvGrpSpPr/>
          <p:nvPr/>
        </p:nvGrpSpPr>
        <p:grpSpPr>
          <a:xfrm>
            <a:off x="2238375" y="2362200"/>
            <a:ext cx="1181100" cy="1181100"/>
            <a:chOff x="2238375" y="2362200"/>
            <a:chExt cx="1181100" cy="1181100"/>
          </a:xfrm>
        </p:grpSpPr>
        <p:sp>
          <p:nvSpPr>
            <p:cNvPr id="23" name="Ellipse 23"/>
            <p:cNvSpPr/>
            <p:nvPr/>
          </p:nvSpPr>
          <p:spPr>
            <a:xfrm>
              <a:off x="2238375" y="2362200"/>
              <a:ext cx="1181100" cy="1181100"/>
            </a:xfrm>
            <a:prstGeom prst="ellipse">
              <a:avLst/>
            </a:prstGeom>
            <a:solidFill>
              <a:srgbClr val="246BFE"/>
            </a:solidFill>
            <a:ln>
              <a:noFill/>
            </a:ln>
          </p:spPr>
        </p:sp>
        <p:grpSp>
          <p:nvGrpSpPr>
            <p:cNvPr id="27" name="Group 27"/>
            <p:cNvGrpSpPr/>
            <p:nvPr/>
          </p:nvGrpSpPr>
          <p:grpSpPr>
            <a:xfrm>
              <a:off x="2686050" y="2543175"/>
              <a:ext cx="285750" cy="285750"/>
              <a:chOff x="2686050" y="2543175"/>
              <a:chExt cx="285750" cy="285750"/>
            </a:xfrm>
          </p:grpSpPr>
          <p:sp>
            <p:nvSpPr>
              <p:cNvPr id="24" name="Freeform 24"/>
              <p:cNvSpPr/>
              <p:nvPr/>
            </p:nvSpPr>
            <p:spPr>
              <a:xfrm>
                <a:off x="2813050" y="26701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FFFFFF"/>
                </a:solidFill>
              </a:ln>
            </p:spPr>
          </p:sp>
          <p:sp>
            <p:nvSpPr>
              <p:cNvPr id="25" name="Freeform 25"/>
              <p:cNvSpPr/>
              <p:nvPr/>
            </p:nvSpPr>
            <p:spPr>
              <a:xfrm>
                <a:off x="2749550" y="2606675"/>
                <a:ext cx="158750" cy="158750"/>
              </a:xfrm>
              <a:custGeom>
                <a:avLst/>
                <a:gdLst/>
                <a:ahLst/>
                <a:cxnLst/>
                <a:rect l="l" t="t" r="r" b="b"/>
                <a:pathLst>
                  <a:path w="158750" h="158750">
                    <a:moveTo>
                      <a:pt x="0" y="79375"/>
                    </a:moveTo>
                    <a:cubicBezTo>
                      <a:pt x="0" y="123213"/>
                      <a:pt x="35537" y="158750"/>
                      <a:pt x="79375" y="158750"/>
                    </a:cubicBezTo>
                    <a:cubicBezTo>
                      <a:pt x="123213" y="158750"/>
                      <a:pt x="158750" y="123213"/>
                      <a:pt x="158750" y="79375"/>
                    </a:cubicBezTo>
                    <a:cubicBezTo>
                      <a:pt x="158750" y="35537"/>
                      <a:pt x="123213" y="0"/>
                      <a:pt x="79375" y="0"/>
                    </a:cubicBezTo>
                    <a:cubicBezTo>
                      <a:pt x="35537" y="0"/>
                      <a:pt x="0" y="35537"/>
                      <a:pt x="0" y="79375"/>
                    </a:cubicBezTo>
                  </a:path>
                </a:pathLst>
              </a:custGeom>
              <a:noFill/>
              <a:ln w="19050">
                <a:solidFill>
                  <a:srgbClr val="FFFFFF"/>
                </a:solidFill>
              </a:ln>
            </p:spPr>
          </p:sp>
          <p:sp>
            <p:nvSpPr>
              <p:cNvPr id="26" name="Freeform 26"/>
              <p:cNvSpPr/>
              <p:nvPr/>
            </p:nvSpPr>
            <p:spPr>
              <a:xfrm>
                <a:off x="2686050" y="2543175"/>
                <a:ext cx="285750" cy="285750"/>
              </a:xfrm>
              <a:custGeom>
                <a:avLst/>
                <a:gdLst/>
                <a:ahLst/>
                <a:cxnLst/>
                <a:rect l="l" t="t" r="r" b="b"/>
                <a:pathLst>
                  <a:path w="285750" h="285750">
                    <a:moveTo>
                      <a:pt x="0" y="142875"/>
                    </a:moveTo>
                    <a:cubicBezTo>
                      <a:pt x="0" y="221783"/>
                      <a:pt x="63967" y="285750"/>
                      <a:pt x="142875" y="285750"/>
                    </a:cubicBezTo>
                    <a:cubicBezTo>
                      <a:pt x="221783" y="285750"/>
                      <a:pt x="285750" y="221783"/>
                      <a:pt x="285750" y="142875"/>
                    </a:cubicBezTo>
                    <a:cubicBezTo>
                      <a:pt x="285750" y="63967"/>
                      <a:pt x="221783" y="0"/>
                      <a:pt x="142875" y="0"/>
                    </a:cubicBezTo>
                    <a:cubicBezTo>
                      <a:pt x="63967" y="0"/>
                      <a:pt x="0" y="63967"/>
                      <a:pt x="0" y="142875"/>
                    </a:cubicBezTo>
                  </a:path>
                </a:pathLst>
              </a:custGeom>
              <a:noFill/>
              <a:ln w="19050">
                <a:solidFill>
                  <a:srgbClr val="FFFFFF"/>
                </a:solidFill>
              </a:ln>
            </p:spPr>
          </p:sp>
        </p:grpSp>
        <p:sp>
          <p:nvSpPr>
            <p:cNvPr id="28" name="TextBox 28"/>
            <p:cNvSpPr txBox="1"/>
            <p:nvPr/>
          </p:nvSpPr>
          <p:spPr>
            <a:xfrm>
              <a:off x="2521553" y="29822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商机识别</a:t>
              </a:r>
              <a:endParaRPr lang="zh-CN" sz="1050" b="1" dirty="0">
                <a:solidFill>
                  <a:srgbClr val="FFFFFF"/>
                </a:solidFill>
                <a:latin typeface="Arial" panose="020B0604020202020204"/>
                <a:ea typeface="微软雅黑" panose="020B0503020204020204" charset="-122"/>
                <a:cs typeface="Arial" panose="020B0604020202020204"/>
              </a:endParaRPr>
            </a:p>
          </p:txBody>
        </p:sp>
      </p:grpSp>
      <p:grpSp>
        <p:nvGrpSpPr>
          <p:cNvPr id="41" name="Group 41"/>
          <p:cNvGrpSpPr/>
          <p:nvPr/>
        </p:nvGrpSpPr>
        <p:grpSpPr>
          <a:xfrm>
            <a:off x="3876675" y="2362200"/>
            <a:ext cx="1181100" cy="1181100"/>
            <a:chOff x="3876675" y="2362200"/>
            <a:chExt cx="1181100" cy="1181100"/>
          </a:xfrm>
        </p:grpSpPr>
        <p:sp>
          <p:nvSpPr>
            <p:cNvPr id="30" name="Ellipse 30"/>
            <p:cNvSpPr/>
            <p:nvPr/>
          </p:nvSpPr>
          <p:spPr>
            <a:xfrm>
              <a:off x="3876675" y="2362200"/>
              <a:ext cx="1181100" cy="1181100"/>
            </a:xfrm>
            <a:prstGeom prst="ellipse">
              <a:avLst/>
            </a:prstGeom>
            <a:solidFill>
              <a:srgbClr val="0052A6"/>
            </a:solidFill>
            <a:ln>
              <a:noFill/>
            </a:ln>
          </p:spPr>
        </p:sp>
        <p:grpSp>
          <p:nvGrpSpPr>
            <p:cNvPr id="39" name="Group 39"/>
            <p:cNvGrpSpPr/>
            <p:nvPr/>
          </p:nvGrpSpPr>
          <p:grpSpPr>
            <a:xfrm>
              <a:off x="4324350" y="2543175"/>
              <a:ext cx="285750" cy="301625"/>
              <a:chOff x="4324350" y="2543175"/>
              <a:chExt cx="285750" cy="301625"/>
            </a:xfrm>
          </p:grpSpPr>
          <p:sp>
            <p:nvSpPr>
              <p:cNvPr id="31" name="Freeform 31"/>
              <p:cNvSpPr/>
              <p:nvPr/>
            </p:nvSpPr>
            <p:spPr>
              <a:xfrm>
                <a:off x="4371975" y="2543175"/>
                <a:ext cx="190500" cy="190500"/>
              </a:xfrm>
              <a:custGeom>
                <a:avLst/>
                <a:gdLst/>
                <a:ahLst/>
                <a:cxnLst/>
                <a:rect l="l" t="t" r="r" b="b"/>
                <a:pathLst>
                  <a:path w="190500" h="190500">
                    <a:moveTo>
                      <a:pt x="0" y="95250"/>
                    </a:moveTo>
                    <a:cubicBezTo>
                      <a:pt x="0" y="147855"/>
                      <a:pt x="42645" y="190500"/>
                      <a:pt x="95250" y="190500"/>
                    </a:cubicBezTo>
                    <a:cubicBezTo>
                      <a:pt x="147855" y="190500"/>
                      <a:pt x="190500" y="147855"/>
                      <a:pt x="190500" y="95250"/>
                    </a:cubicBezTo>
                    <a:cubicBezTo>
                      <a:pt x="190500" y="42645"/>
                      <a:pt x="147855" y="0"/>
                      <a:pt x="95250" y="0"/>
                    </a:cubicBezTo>
                    <a:cubicBezTo>
                      <a:pt x="42645" y="0"/>
                      <a:pt x="0" y="42645"/>
                      <a:pt x="0" y="95250"/>
                    </a:cubicBezTo>
                  </a:path>
                </a:pathLst>
              </a:custGeom>
              <a:noFill/>
              <a:ln w="19050">
                <a:solidFill>
                  <a:srgbClr val="FFFFFF"/>
                </a:solidFill>
              </a:ln>
            </p:spPr>
          </p:sp>
          <p:sp>
            <p:nvSpPr>
              <p:cNvPr id="32" name="Freeform 32"/>
              <p:cNvSpPr/>
              <p:nvPr/>
            </p:nvSpPr>
            <p:spPr>
              <a:xfrm>
                <a:off x="4467225" y="2543175"/>
                <a:ext cx="31750" cy="190500"/>
              </a:xfrm>
              <a:custGeom>
                <a:avLst/>
                <a:gdLst/>
                <a:ahLst/>
                <a:cxnLst/>
                <a:rect l="l" t="t" r="r" b="b"/>
                <a:pathLst>
                  <a:path w="31750" h="190500">
                    <a:moveTo>
                      <a:pt x="0" y="0"/>
                    </a:moveTo>
                    <a:cubicBezTo>
                      <a:pt x="21161" y="5286"/>
                      <a:pt x="31750" y="37036"/>
                      <a:pt x="31750" y="95250"/>
                    </a:cubicBezTo>
                    <a:cubicBezTo>
                      <a:pt x="31750" y="153464"/>
                      <a:pt x="21161" y="185214"/>
                      <a:pt x="0" y="190500"/>
                    </a:cubicBezTo>
                  </a:path>
                </a:pathLst>
              </a:custGeom>
              <a:noFill/>
              <a:ln w="19050">
                <a:solidFill>
                  <a:srgbClr val="FFFFFF"/>
                </a:solidFill>
              </a:ln>
            </p:spPr>
          </p:sp>
          <p:sp>
            <p:nvSpPr>
              <p:cNvPr id="33" name="Freeform 33"/>
              <p:cNvSpPr/>
              <p:nvPr/>
            </p:nvSpPr>
            <p:spPr>
              <a:xfrm>
                <a:off x="4435475" y="2543175"/>
                <a:ext cx="31750" cy="190500"/>
              </a:xfrm>
              <a:custGeom>
                <a:avLst/>
                <a:gdLst/>
                <a:ahLst/>
                <a:cxnLst/>
                <a:rect l="l" t="t" r="r" b="b"/>
                <a:pathLst>
                  <a:path w="31750" h="190500">
                    <a:moveTo>
                      <a:pt x="31750" y="0"/>
                    </a:moveTo>
                    <a:cubicBezTo>
                      <a:pt x="10589" y="5286"/>
                      <a:pt x="0" y="37036"/>
                      <a:pt x="0" y="95250"/>
                    </a:cubicBezTo>
                    <a:cubicBezTo>
                      <a:pt x="0" y="153464"/>
                      <a:pt x="10589" y="185214"/>
                      <a:pt x="31750" y="190500"/>
                    </a:cubicBezTo>
                  </a:path>
                </a:pathLst>
              </a:custGeom>
              <a:noFill/>
              <a:ln w="19050">
                <a:solidFill>
                  <a:srgbClr val="FFFFFF"/>
                </a:solidFill>
              </a:ln>
            </p:spPr>
          </p:sp>
          <p:sp>
            <p:nvSpPr>
              <p:cNvPr id="34" name="Freeform 34"/>
              <p:cNvSpPr/>
              <p:nvPr/>
            </p:nvSpPr>
            <p:spPr>
              <a:xfrm>
                <a:off x="4371975" y="2638425"/>
                <a:ext cx="190500" cy="9525"/>
              </a:xfrm>
              <a:custGeom>
                <a:avLst/>
                <a:gdLst/>
                <a:ahLst/>
                <a:cxnLst/>
                <a:rect l="l" t="t" r="r" b="b"/>
                <a:pathLst>
                  <a:path w="190500" h="9525">
                    <a:moveTo>
                      <a:pt x="0" y="0"/>
                    </a:moveTo>
                    <a:lnTo>
                      <a:pt x="190500" y="0"/>
                    </a:lnTo>
                  </a:path>
                </a:pathLst>
              </a:custGeom>
              <a:noFill/>
              <a:ln w="19050">
                <a:solidFill>
                  <a:srgbClr val="FFFFFF"/>
                </a:solidFill>
              </a:ln>
            </p:spPr>
          </p:sp>
          <p:sp>
            <p:nvSpPr>
              <p:cNvPr id="35" name="Freeform 35"/>
              <p:cNvSpPr/>
              <p:nvPr/>
            </p:nvSpPr>
            <p:spPr>
              <a:xfrm>
                <a:off x="4324350" y="2813050"/>
                <a:ext cx="111125" cy="9525"/>
              </a:xfrm>
              <a:custGeom>
                <a:avLst/>
                <a:gdLst/>
                <a:ahLst/>
                <a:cxnLst/>
                <a:rect l="l" t="t" r="r" b="b"/>
                <a:pathLst>
                  <a:path w="111125" h="9525">
                    <a:moveTo>
                      <a:pt x="0" y="0"/>
                    </a:moveTo>
                    <a:lnTo>
                      <a:pt x="111125" y="0"/>
                    </a:lnTo>
                  </a:path>
                </a:pathLst>
              </a:custGeom>
              <a:noFill/>
              <a:ln w="19050">
                <a:solidFill>
                  <a:srgbClr val="FFFFFF"/>
                </a:solidFill>
              </a:ln>
            </p:spPr>
          </p:sp>
          <p:sp>
            <p:nvSpPr>
              <p:cNvPr id="36" name="Freeform 36"/>
              <p:cNvSpPr/>
              <p:nvPr/>
            </p:nvSpPr>
            <p:spPr>
              <a:xfrm>
                <a:off x="4498975" y="2813050"/>
                <a:ext cx="111125" cy="9525"/>
              </a:xfrm>
              <a:custGeom>
                <a:avLst/>
                <a:gdLst/>
                <a:ahLst/>
                <a:cxnLst/>
                <a:rect l="l" t="t" r="r" b="b"/>
                <a:pathLst>
                  <a:path w="111125" h="9525">
                    <a:moveTo>
                      <a:pt x="0" y="0"/>
                    </a:moveTo>
                    <a:lnTo>
                      <a:pt x="111125" y="0"/>
                    </a:lnTo>
                  </a:path>
                </a:pathLst>
              </a:custGeom>
              <a:noFill/>
              <a:ln w="19050">
                <a:solidFill>
                  <a:srgbClr val="FFFFFF"/>
                </a:solidFill>
              </a:ln>
            </p:spPr>
          </p:sp>
          <p:sp>
            <p:nvSpPr>
              <p:cNvPr id="37" name="Freeform 37"/>
              <p:cNvSpPr/>
              <p:nvPr/>
            </p:nvSpPr>
            <p:spPr>
              <a:xfrm>
                <a:off x="4435475" y="2781300"/>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FFFFFF"/>
                </a:solidFill>
              </a:ln>
            </p:spPr>
          </p:sp>
          <p:sp>
            <p:nvSpPr>
              <p:cNvPr id="38" name="Freeform 38"/>
              <p:cNvSpPr/>
              <p:nvPr/>
            </p:nvSpPr>
            <p:spPr>
              <a:xfrm>
                <a:off x="4467225" y="2733675"/>
                <a:ext cx="9525" cy="47625"/>
              </a:xfrm>
              <a:custGeom>
                <a:avLst/>
                <a:gdLst/>
                <a:ahLst/>
                <a:cxnLst/>
                <a:rect l="l" t="t" r="r" b="b"/>
                <a:pathLst>
                  <a:path w="9525" h="47625">
                    <a:moveTo>
                      <a:pt x="0" y="0"/>
                    </a:moveTo>
                    <a:lnTo>
                      <a:pt x="0" y="47625"/>
                    </a:lnTo>
                  </a:path>
                </a:pathLst>
              </a:custGeom>
              <a:noFill/>
              <a:ln w="19050">
                <a:solidFill>
                  <a:srgbClr val="FFFFFF"/>
                </a:solidFill>
              </a:ln>
            </p:spPr>
          </p:sp>
        </p:grpSp>
        <p:sp>
          <p:nvSpPr>
            <p:cNvPr id="40" name="TextBox 40"/>
            <p:cNvSpPr txBox="1"/>
            <p:nvPr/>
          </p:nvSpPr>
          <p:spPr>
            <a:xfrm>
              <a:off x="4159853" y="29822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客户归并</a:t>
              </a:r>
              <a:endParaRPr lang="zh-CN" sz="1050" b="1" dirty="0">
                <a:solidFill>
                  <a:srgbClr val="FFFFFF"/>
                </a:solidFill>
                <a:latin typeface="Arial" panose="020B0604020202020204"/>
                <a:ea typeface="微软雅黑" panose="020B0503020204020204" charset="-122"/>
                <a:cs typeface="Arial" panose="020B0604020202020204"/>
              </a:endParaRPr>
            </a:p>
          </p:txBody>
        </p:sp>
      </p:grpSp>
      <p:grpSp>
        <p:nvGrpSpPr>
          <p:cNvPr id="48" name="Group 48"/>
          <p:cNvGrpSpPr/>
          <p:nvPr/>
        </p:nvGrpSpPr>
        <p:grpSpPr>
          <a:xfrm>
            <a:off x="5514975" y="2362200"/>
            <a:ext cx="1181100" cy="1181100"/>
            <a:chOff x="5514975" y="2362200"/>
            <a:chExt cx="1181100" cy="1181100"/>
          </a:xfrm>
        </p:grpSpPr>
        <p:sp>
          <p:nvSpPr>
            <p:cNvPr id="42" name="Ellipse 42"/>
            <p:cNvSpPr/>
            <p:nvPr/>
          </p:nvSpPr>
          <p:spPr>
            <a:xfrm>
              <a:off x="5514975" y="2362200"/>
              <a:ext cx="1181100" cy="1181100"/>
            </a:xfrm>
            <a:prstGeom prst="ellipse">
              <a:avLst/>
            </a:prstGeom>
            <a:solidFill>
              <a:srgbClr val="0052A6"/>
            </a:solidFill>
            <a:ln>
              <a:noFill/>
            </a:ln>
          </p:spPr>
        </p:sp>
        <p:grpSp>
          <p:nvGrpSpPr>
            <p:cNvPr id="46" name="Group 46"/>
            <p:cNvGrpSpPr/>
            <p:nvPr/>
          </p:nvGrpSpPr>
          <p:grpSpPr>
            <a:xfrm>
              <a:off x="5994400" y="2543175"/>
              <a:ext cx="222250" cy="285750"/>
              <a:chOff x="5994400" y="2543175"/>
              <a:chExt cx="222250" cy="285750"/>
            </a:xfrm>
          </p:grpSpPr>
          <p:sp>
            <p:nvSpPr>
              <p:cNvPr id="43" name="Freeform 43"/>
              <p:cNvSpPr/>
              <p:nvPr/>
            </p:nvSpPr>
            <p:spPr>
              <a:xfrm>
                <a:off x="5994400" y="2638425"/>
                <a:ext cx="222250" cy="190500"/>
              </a:xfrm>
              <a:custGeom>
                <a:avLst/>
                <a:gdLst/>
                <a:ahLst/>
                <a:cxnLst/>
                <a:rect l="l" t="t" r="r" b="b"/>
                <a:pathLst>
                  <a:path w="222250" h="190500">
                    <a:moveTo>
                      <a:pt x="47625" y="0"/>
                    </a:moveTo>
                    <a:lnTo>
                      <a:pt x="31750" y="0"/>
                    </a:lnTo>
                    <a:cubicBezTo>
                      <a:pt x="14215" y="0"/>
                      <a:pt x="0" y="14215"/>
                      <a:pt x="0" y="31750"/>
                    </a:cubicBezTo>
                    <a:lnTo>
                      <a:pt x="0" y="158750"/>
                    </a:lnTo>
                    <a:cubicBezTo>
                      <a:pt x="0" y="176285"/>
                      <a:pt x="14215" y="190500"/>
                      <a:pt x="31750" y="190500"/>
                    </a:cubicBezTo>
                    <a:lnTo>
                      <a:pt x="190500" y="190500"/>
                    </a:lnTo>
                    <a:cubicBezTo>
                      <a:pt x="208035" y="190500"/>
                      <a:pt x="222250" y="176285"/>
                      <a:pt x="222250" y="158750"/>
                    </a:cubicBezTo>
                    <a:lnTo>
                      <a:pt x="222250" y="31750"/>
                    </a:lnTo>
                    <a:cubicBezTo>
                      <a:pt x="222250" y="14215"/>
                      <a:pt x="208035" y="0"/>
                      <a:pt x="190500" y="0"/>
                    </a:cubicBezTo>
                    <a:lnTo>
                      <a:pt x="174625" y="0"/>
                    </a:lnTo>
                  </a:path>
                </a:pathLst>
              </a:custGeom>
              <a:noFill/>
              <a:ln w="19050">
                <a:solidFill>
                  <a:srgbClr val="FFFFFF"/>
                </a:solidFill>
              </a:ln>
            </p:spPr>
          </p:sp>
          <p:sp>
            <p:nvSpPr>
              <p:cNvPr id="44" name="Freeform 44"/>
              <p:cNvSpPr/>
              <p:nvPr/>
            </p:nvSpPr>
            <p:spPr>
              <a:xfrm>
                <a:off x="6105525" y="2543175"/>
                <a:ext cx="9525" cy="174625"/>
              </a:xfrm>
              <a:custGeom>
                <a:avLst/>
                <a:gdLst/>
                <a:ahLst/>
                <a:cxnLst/>
                <a:rect l="l" t="t" r="r" b="b"/>
                <a:pathLst>
                  <a:path w="9525" h="174625">
                    <a:moveTo>
                      <a:pt x="0" y="174625"/>
                    </a:moveTo>
                    <a:lnTo>
                      <a:pt x="0" y="0"/>
                    </a:lnTo>
                  </a:path>
                </a:pathLst>
              </a:custGeom>
              <a:noFill/>
              <a:ln w="19050">
                <a:solidFill>
                  <a:srgbClr val="FFFFFF"/>
                </a:solidFill>
              </a:ln>
            </p:spPr>
          </p:sp>
          <p:sp>
            <p:nvSpPr>
              <p:cNvPr id="45" name="Freeform 45"/>
              <p:cNvSpPr/>
              <p:nvPr/>
            </p:nvSpPr>
            <p:spPr>
              <a:xfrm>
                <a:off x="6057900" y="2543175"/>
                <a:ext cx="95250" cy="47625"/>
              </a:xfrm>
              <a:custGeom>
                <a:avLst/>
                <a:gdLst/>
                <a:ahLst/>
                <a:cxnLst/>
                <a:rect l="l" t="t" r="r" b="b"/>
                <a:pathLst>
                  <a:path w="95250" h="47625">
                    <a:moveTo>
                      <a:pt x="0" y="47625"/>
                    </a:moveTo>
                    <a:lnTo>
                      <a:pt x="47625" y="0"/>
                    </a:lnTo>
                    <a:lnTo>
                      <a:pt x="95250" y="47625"/>
                    </a:lnTo>
                  </a:path>
                </a:pathLst>
              </a:custGeom>
              <a:noFill/>
              <a:ln w="19050">
                <a:solidFill>
                  <a:srgbClr val="FFFFFF"/>
                </a:solidFill>
              </a:ln>
            </p:spPr>
          </p:sp>
        </p:grpSp>
        <p:sp>
          <p:nvSpPr>
            <p:cNvPr id="47" name="TextBox 47"/>
            <p:cNvSpPr txBox="1"/>
            <p:nvPr/>
          </p:nvSpPr>
          <p:spPr>
            <a:xfrm>
              <a:off x="5751850" y="2961799"/>
              <a:ext cx="70735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决策链分析</a:t>
              </a:r>
              <a:endParaRPr lang="zh-CN" sz="975" b="1" dirty="0">
                <a:solidFill>
                  <a:srgbClr val="FFFFFF"/>
                </a:solidFill>
                <a:latin typeface="Arial" panose="020B0604020202020204"/>
                <a:ea typeface="微软雅黑" panose="020B0503020204020204" charset="-122"/>
                <a:cs typeface="Arial" panose="020B0604020202020204"/>
              </a:endParaRPr>
            </a:p>
          </p:txBody>
        </p:sp>
      </p:grpSp>
      <p:grpSp>
        <p:nvGrpSpPr>
          <p:cNvPr id="56" name="Group 56"/>
          <p:cNvGrpSpPr/>
          <p:nvPr/>
        </p:nvGrpSpPr>
        <p:grpSpPr>
          <a:xfrm>
            <a:off x="7153275" y="2362200"/>
            <a:ext cx="1181100" cy="1181100"/>
            <a:chOff x="7153275" y="2362200"/>
            <a:chExt cx="1181100" cy="1181100"/>
          </a:xfrm>
        </p:grpSpPr>
        <p:sp>
          <p:nvSpPr>
            <p:cNvPr id="49" name="Ellipse 49"/>
            <p:cNvSpPr/>
            <p:nvPr/>
          </p:nvSpPr>
          <p:spPr>
            <a:xfrm>
              <a:off x="7153275" y="2362200"/>
              <a:ext cx="1181100" cy="1181100"/>
            </a:xfrm>
            <a:prstGeom prst="ellipse">
              <a:avLst/>
            </a:prstGeom>
            <a:solidFill>
              <a:srgbClr val="246BFE"/>
            </a:solidFill>
            <a:ln>
              <a:noFill/>
            </a:ln>
          </p:spPr>
        </p:sp>
        <p:grpSp>
          <p:nvGrpSpPr>
            <p:cNvPr id="54" name="Group 54"/>
            <p:cNvGrpSpPr/>
            <p:nvPr/>
          </p:nvGrpSpPr>
          <p:grpSpPr>
            <a:xfrm>
              <a:off x="7616825" y="2543175"/>
              <a:ext cx="254000" cy="301625"/>
              <a:chOff x="7616825" y="2543175"/>
              <a:chExt cx="254000" cy="301625"/>
            </a:xfrm>
          </p:grpSpPr>
          <p:sp>
            <p:nvSpPr>
              <p:cNvPr id="50" name="Freeform 50"/>
              <p:cNvSpPr/>
              <p:nvPr/>
            </p:nvSpPr>
            <p:spPr>
              <a:xfrm>
                <a:off x="7616825" y="2543175"/>
                <a:ext cx="254000" cy="174625"/>
              </a:xfrm>
              <a:custGeom>
                <a:avLst/>
                <a:gdLst/>
                <a:ahLst/>
                <a:cxnLst/>
                <a:rect l="l" t="t" r="r" b="b"/>
                <a:pathLst>
                  <a:path w="254000" h="174625">
                    <a:moveTo>
                      <a:pt x="0" y="174625"/>
                    </a:moveTo>
                    <a:lnTo>
                      <a:pt x="0" y="127000"/>
                    </a:lnTo>
                    <a:cubicBezTo>
                      <a:pt x="0" y="56860"/>
                      <a:pt x="56860" y="0"/>
                      <a:pt x="127000" y="0"/>
                    </a:cubicBezTo>
                    <a:cubicBezTo>
                      <a:pt x="197140" y="0"/>
                      <a:pt x="254000" y="56860"/>
                      <a:pt x="254000" y="127000"/>
                    </a:cubicBezTo>
                    <a:lnTo>
                      <a:pt x="254000" y="174625"/>
                    </a:lnTo>
                  </a:path>
                </a:pathLst>
              </a:custGeom>
              <a:noFill/>
              <a:ln w="19050">
                <a:solidFill>
                  <a:srgbClr val="FFFFFF"/>
                </a:solidFill>
              </a:ln>
            </p:spPr>
          </p:sp>
          <p:sp>
            <p:nvSpPr>
              <p:cNvPr id="51" name="Freeform 51"/>
              <p:cNvSpPr/>
              <p:nvPr/>
            </p:nvSpPr>
            <p:spPr>
              <a:xfrm>
                <a:off x="7743825" y="2797175"/>
                <a:ext cx="95250" cy="47625"/>
              </a:xfrm>
              <a:custGeom>
                <a:avLst/>
                <a:gdLst/>
                <a:ahLst/>
                <a:cxnLst/>
                <a:rect l="l" t="t" r="r" b="b"/>
                <a:pathLst>
                  <a:path w="95250" h="47625">
                    <a:moveTo>
                      <a:pt x="95250" y="0"/>
                    </a:moveTo>
                    <a:cubicBezTo>
                      <a:pt x="95250" y="26305"/>
                      <a:pt x="52610" y="47625"/>
                      <a:pt x="0" y="47625"/>
                    </a:cubicBezTo>
                  </a:path>
                </a:pathLst>
              </a:custGeom>
              <a:noFill/>
              <a:ln w="19050">
                <a:solidFill>
                  <a:srgbClr val="FFFFFF"/>
                </a:solidFill>
              </a:ln>
            </p:spPr>
          </p:sp>
          <p:sp>
            <p:nvSpPr>
              <p:cNvPr id="52" name="Freeform 52"/>
              <p:cNvSpPr/>
              <p:nvPr/>
            </p:nvSpPr>
            <p:spPr>
              <a:xfrm>
                <a:off x="7616825" y="2686050"/>
                <a:ext cx="79375" cy="111125"/>
              </a:xfrm>
              <a:custGeom>
                <a:avLst/>
                <a:gdLst/>
                <a:ahLst/>
                <a:cxnLst/>
                <a:rect l="l" t="t" r="r" b="b"/>
                <a:pathLst>
                  <a:path w="79375" h="111125">
                    <a:moveTo>
                      <a:pt x="0" y="31750"/>
                    </a:moveTo>
                    <a:cubicBezTo>
                      <a:pt x="0" y="14215"/>
                      <a:pt x="14215" y="0"/>
                      <a:pt x="31750" y="0"/>
                    </a:cubicBezTo>
                    <a:lnTo>
                      <a:pt x="47625" y="0"/>
                    </a:lnTo>
                    <a:cubicBezTo>
                      <a:pt x="65160" y="0"/>
                      <a:pt x="79375" y="14215"/>
                      <a:pt x="79375" y="31750"/>
                    </a:cubicBezTo>
                    <a:lnTo>
                      <a:pt x="79375" y="79375"/>
                    </a:lnTo>
                    <a:cubicBezTo>
                      <a:pt x="79375" y="96910"/>
                      <a:pt x="65160" y="111125"/>
                      <a:pt x="47625" y="111125"/>
                    </a:cubicBezTo>
                    <a:lnTo>
                      <a:pt x="31750" y="111125"/>
                    </a:lnTo>
                    <a:cubicBezTo>
                      <a:pt x="14215" y="111125"/>
                      <a:pt x="0" y="96910"/>
                      <a:pt x="0" y="79375"/>
                    </a:cubicBezTo>
                    <a:lnTo>
                      <a:pt x="0" y="31750"/>
                    </a:lnTo>
                  </a:path>
                </a:pathLst>
              </a:custGeom>
              <a:noFill/>
              <a:ln w="19050">
                <a:solidFill>
                  <a:srgbClr val="FFFFFF"/>
                </a:solidFill>
              </a:ln>
            </p:spPr>
          </p:sp>
          <p:sp>
            <p:nvSpPr>
              <p:cNvPr id="53" name="Freeform 53"/>
              <p:cNvSpPr/>
              <p:nvPr/>
            </p:nvSpPr>
            <p:spPr>
              <a:xfrm>
                <a:off x="7791450" y="2686050"/>
                <a:ext cx="79375" cy="111125"/>
              </a:xfrm>
              <a:custGeom>
                <a:avLst/>
                <a:gdLst/>
                <a:ahLst/>
                <a:cxnLst/>
                <a:rect l="l" t="t" r="r" b="b"/>
                <a:pathLst>
                  <a:path w="79375" h="111125">
                    <a:moveTo>
                      <a:pt x="0" y="31750"/>
                    </a:moveTo>
                    <a:cubicBezTo>
                      <a:pt x="0" y="14215"/>
                      <a:pt x="14215" y="0"/>
                      <a:pt x="31750" y="0"/>
                    </a:cubicBezTo>
                    <a:lnTo>
                      <a:pt x="47625" y="0"/>
                    </a:lnTo>
                    <a:cubicBezTo>
                      <a:pt x="65160" y="0"/>
                      <a:pt x="79375" y="14215"/>
                      <a:pt x="79375" y="31750"/>
                    </a:cubicBezTo>
                    <a:lnTo>
                      <a:pt x="79375" y="79375"/>
                    </a:lnTo>
                    <a:cubicBezTo>
                      <a:pt x="79375" y="96910"/>
                      <a:pt x="65160" y="111125"/>
                      <a:pt x="47625" y="111125"/>
                    </a:cubicBezTo>
                    <a:lnTo>
                      <a:pt x="31750" y="111125"/>
                    </a:lnTo>
                    <a:cubicBezTo>
                      <a:pt x="14215" y="111125"/>
                      <a:pt x="0" y="96910"/>
                      <a:pt x="0" y="79375"/>
                    </a:cubicBezTo>
                    <a:lnTo>
                      <a:pt x="0" y="31750"/>
                    </a:lnTo>
                  </a:path>
                </a:pathLst>
              </a:custGeom>
              <a:noFill/>
              <a:ln w="19050">
                <a:solidFill>
                  <a:srgbClr val="FFFFFF"/>
                </a:solidFill>
              </a:ln>
            </p:spPr>
          </p:sp>
        </p:grpSp>
        <p:sp>
          <p:nvSpPr>
            <p:cNvPr id="55" name="TextBox 55"/>
            <p:cNvSpPr txBox="1"/>
            <p:nvPr/>
          </p:nvSpPr>
          <p:spPr>
            <a:xfrm>
              <a:off x="7436453" y="29822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销售跟进</a:t>
              </a:r>
              <a:endParaRPr lang="zh-CN" sz="1050" b="1" dirty="0">
                <a:solidFill>
                  <a:srgbClr val="FFFFFF"/>
                </a:solidFill>
                <a:latin typeface="Arial" panose="020B0604020202020204"/>
                <a:ea typeface="微软雅黑" panose="020B0503020204020204" charset="-122"/>
                <a:cs typeface="Arial" panose="020B0604020202020204"/>
              </a:endParaRPr>
            </a:p>
          </p:txBody>
        </p:sp>
      </p:grpSp>
      <p:grpSp>
        <p:nvGrpSpPr>
          <p:cNvPr id="65" name="Group 65"/>
          <p:cNvGrpSpPr/>
          <p:nvPr/>
        </p:nvGrpSpPr>
        <p:grpSpPr>
          <a:xfrm>
            <a:off x="8791575" y="2362200"/>
            <a:ext cx="1181100" cy="1181100"/>
            <a:chOff x="8791575" y="2362200"/>
            <a:chExt cx="1181100" cy="1181100"/>
          </a:xfrm>
        </p:grpSpPr>
        <p:sp>
          <p:nvSpPr>
            <p:cNvPr id="57" name="Ellipse 57"/>
            <p:cNvSpPr/>
            <p:nvPr/>
          </p:nvSpPr>
          <p:spPr>
            <a:xfrm>
              <a:off x="8791575" y="2362200"/>
              <a:ext cx="1181100" cy="1181100"/>
            </a:xfrm>
            <a:prstGeom prst="ellipse">
              <a:avLst/>
            </a:prstGeom>
            <a:solidFill>
              <a:srgbClr val="246BFE"/>
            </a:solidFill>
            <a:ln>
              <a:noFill/>
            </a:ln>
          </p:spPr>
        </p:sp>
        <p:grpSp>
          <p:nvGrpSpPr>
            <p:cNvPr id="63" name="Group 63"/>
            <p:cNvGrpSpPr/>
            <p:nvPr/>
          </p:nvGrpSpPr>
          <p:grpSpPr>
            <a:xfrm>
              <a:off x="9271000" y="2543175"/>
              <a:ext cx="222250" cy="285750"/>
              <a:chOff x="9271000" y="2543175"/>
              <a:chExt cx="222250" cy="285750"/>
            </a:xfrm>
          </p:grpSpPr>
          <p:sp>
            <p:nvSpPr>
              <p:cNvPr id="58" name="Freeform 58"/>
              <p:cNvSpPr/>
              <p:nvPr/>
            </p:nvSpPr>
            <p:spPr>
              <a:xfrm>
                <a:off x="9413875" y="254317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FFFFFF"/>
                </a:solidFill>
              </a:ln>
            </p:spPr>
          </p:sp>
          <p:sp>
            <p:nvSpPr>
              <p:cNvPr id="59" name="Freeform 59"/>
              <p:cNvSpPr/>
              <p:nvPr/>
            </p:nvSpPr>
            <p:spPr>
              <a:xfrm>
                <a:off x="9271000" y="2543175"/>
                <a:ext cx="222250" cy="285750"/>
              </a:xfrm>
              <a:custGeom>
                <a:avLst/>
                <a:gdLst/>
                <a:ahLst/>
                <a:cxnLst/>
                <a:rect l="l" t="t" r="r" b="b"/>
                <a:pathLst>
                  <a:path w="222250" h="285750">
                    <a:moveTo>
                      <a:pt x="190500" y="285750"/>
                    </a:moveTo>
                    <a:lnTo>
                      <a:pt x="31750" y="285750"/>
                    </a:lnTo>
                    <a:cubicBezTo>
                      <a:pt x="14215" y="285750"/>
                      <a:pt x="0" y="271535"/>
                      <a:pt x="0" y="254000"/>
                    </a:cubicBezTo>
                    <a:lnTo>
                      <a:pt x="0" y="31750"/>
                    </a:lnTo>
                    <a:cubicBezTo>
                      <a:pt x="0" y="14215"/>
                      <a:pt x="14215" y="0"/>
                      <a:pt x="31750" y="0"/>
                    </a:cubicBezTo>
                    <a:lnTo>
                      <a:pt x="142875" y="0"/>
                    </a:lnTo>
                    <a:lnTo>
                      <a:pt x="222250" y="79375"/>
                    </a:lnTo>
                    <a:lnTo>
                      <a:pt x="222250" y="254000"/>
                    </a:lnTo>
                    <a:cubicBezTo>
                      <a:pt x="222250" y="271535"/>
                      <a:pt x="208035" y="285750"/>
                      <a:pt x="190500" y="285750"/>
                    </a:cubicBezTo>
                  </a:path>
                </a:pathLst>
              </a:custGeom>
              <a:noFill/>
              <a:ln w="19050">
                <a:solidFill>
                  <a:srgbClr val="FFFFFF"/>
                </a:solidFill>
              </a:ln>
            </p:spPr>
          </p:sp>
          <p:sp>
            <p:nvSpPr>
              <p:cNvPr id="60" name="Freeform 60"/>
              <p:cNvSpPr/>
              <p:nvPr/>
            </p:nvSpPr>
            <p:spPr>
              <a:xfrm>
                <a:off x="9334500" y="2638425"/>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61" name="Freeform 61"/>
              <p:cNvSpPr/>
              <p:nvPr/>
            </p:nvSpPr>
            <p:spPr>
              <a:xfrm>
                <a:off x="9334500" y="2701925"/>
                <a:ext cx="95250" cy="9525"/>
              </a:xfrm>
              <a:custGeom>
                <a:avLst/>
                <a:gdLst/>
                <a:ahLst/>
                <a:cxnLst/>
                <a:rect l="l" t="t" r="r" b="b"/>
                <a:pathLst>
                  <a:path w="95250" h="9525">
                    <a:moveTo>
                      <a:pt x="0" y="0"/>
                    </a:moveTo>
                    <a:lnTo>
                      <a:pt x="95250" y="0"/>
                    </a:lnTo>
                  </a:path>
                </a:pathLst>
              </a:custGeom>
              <a:noFill/>
              <a:ln w="19050">
                <a:solidFill>
                  <a:srgbClr val="FFFFFF"/>
                </a:solidFill>
              </a:ln>
            </p:spPr>
          </p:sp>
          <p:sp>
            <p:nvSpPr>
              <p:cNvPr id="62" name="Freeform 62"/>
              <p:cNvSpPr/>
              <p:nvPr/>
            </p:nvSpPr>
            <p:spPr>
              <a:xfrm>
                <a:off x="9334500" y="2765425"/>
                <a:ext cx="95250" cy="9525"/>
              </a:xfrm>
              <a:custGeom>
                <a:avLst/>
                <a:gdLst/>
                <a:ahLst/>
                <a:cxnLst/>
                <a:rect l="l" t="t" r="r" b="b"/>
                <a:pathLst>
                  <a:path w="95250" h="9525">
                    <a:moveTo>
                      <a:pt x="0" y="0"/>
                    </a:moveTo>
                    <a:lnTo>
                      <a:pt x="95250" y="0"/>
                    </a:lnTo>
                  </a:path>
                </a:pathLst>
              </a:custGeom>
              <a:noFill/>
              <a:ln w="19050">
                <a:solidFill>
                  <a:srgbClr val="FFFFFF"/>
                </a:solidFill>
              </a:ln>
            </p:spPr>
          </p:sp>
        </p:grpSp>
        <p:sp>
          <p:nvSpPr>
            <p:cNvPr id="64" name="TextBox 64"/>
            <p:cNvSpPr txBox="1"/>
            <p:nvPr/>
          </p:nvSpPr>
          <p:spPr>
            <a:xfrm>
              <a:off x="9074753" y="29822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投标支持</a:t>
              </a:r>
              <a:endParaRPr lang="zh-CN" sz="1050" b="1" dirty="0">
                <a:solidFill>
                  <a:srgbClr val="FFFFFF"/>
                </a:solidFill>
                <a:latin typeface="Arial" panose="020B0604020202020204"/>
                <a:ea typeface="微软雅黑" panose="020B0503020204020204" charset="-122"/>
                <a:cs typeface="Arial" panose="020B0604020202020204"/>
              </a:endParaRPr>
            </a:p>
          </p:txBody>
        </p:sp>
      </p:grpSp>
      <p:grpSp>
        <p:nvGrpSpPr>
          <p:cNvPr id="71" name="Group 71"/>
          <p:cNvGrpSpPr/>
          <p:nvPr/>
        </p:nvGrpSpPr>
        <p:grpSpPr>
          <a:xfrm>
            <a:off x="10429875" y="2362200"/>
            <a:ext cx="1181100" cy="1181100"/>
            <a:chOff x="10429875" y="2362200"/>
            <a:chExt cx="1181100" cy="1181100"/>
          </a:xfrm>
        </p:grpSpPr>
        <p:sp>
          <p:nvSpPr>
            <p:cNvPr id="66" name="Ellipse 66"/>
            <p:cNvSpPr/>
            <p:nvPr/>
          </p:nvSpPr>
          <p:spPr>
            <a:xfrm>
              <a:off x="10429875" y="2362200"/>
              <a:ext cx="1181100" cy="1181100"/>
            </a:xfrm>
            <a:prstGeom prst="ellipse">
              <a:avLst/>
            </a:prstGeom>
            <a:solidFill>
              <a:srgbClr val="0E9F6E"/>
            </a:solidFill>
            <a:ln>
              <a:noFill/>
            </a:ln>
          </p:spPr>
        </p:sp>
        <p:grpSp>
          <p:nvGrpSpPr>
            <p:cNvPr id="69" name="Group 69"/>
            <p:cNvGrpSpPr/>
            <p:nvPr/>
          </p:nvGrpSpPr>
          <p:grpSpPr>
            <a:xfrm>
              <a:off x="10893425" y="2552925"/>
              <a:ext cx="254000" cy="266250"/>
              <a:chOff x="10893425" y="2552925"/>
              <a:chExt cx="254000" cy="266250"/>
            </a:xfrm>
          </p:grpSpPr>
          <p:sp>
            <p:nvSpPr>
              <p:cNvPr id="67" name="Freeform 67"/>
              <p:cNvSpPr/>
              <p:nvPr/>
            </p:nvSpPr>
            <p:spPr>
              <a:xfrm>
                <a:off x="10893425" y="2552925"/>
                <a:ext cx="254000" cy="117250"/>
              </a:xfrm>
              <a:custGeom>
                <a:avLst/>
                <a:gdLst/>
                <a:ahLst/>
                <a:cxnLst/>
                <a:rect l="l" t="t" r="r" b="b"/>
                <a:pathLst>
                  <a:path w="254000" h="117250">
                    <a:moveTo>
                      <a:pt x="254000" y="117250"/>
                    </a:moveTo>
                    <a:cubicBezTo>
                      <a:pt x="246019" y="59823"/>
                      <a:pt x="200594" y="14839"/>
                      <a:pt x="143092" y="7420"/>
                    </a:cubicBezTo>
                    <a:cubicBezTo>
                      <a:pt x="85590" y="0"/>
                      <a:pt x="30234" y="31980"/>
                      <a:pt x="7937" y="85500"/>
                    </a:cubicBezTo>
                    <a:moveTo>
                      <a:pt x="0" y="22000"/>
                    </a:moveTo>
                    <a:lnTo>
                      <a:pt x="0" y="85500"/>
                    </a:lnTo>
                    <a:lnTo>
                      <a:pt x="63500" y="85500"/>
                    </a:lnTo>
                  </a:path>
                </a:pathLst>
              </a:custGeom>
              <a:noFill/>
              <a:ln w="19050">
                <a:solidFill>
                  <a:srgbClr val="FFFFFF"/>
                </a:solidFill>
              </a:ln>
            </p:spPr>
          </p:sp>
          <p:sp>
            <p:nvSpPr>
              <p:cNvPr id="68" name="Freeform 68"/>
              <p:cNvSpPr/>
              <p:nvPr/>
            </p:nvSpPr>
            <p:spPr>
              <a:xfrm>
                <a:off x="10893425" y="2701925"/>
                <a:ext cx="254000" cy="117250"/>
              </a:xfrm>
              <a:custGeom>
                <a:avLst/>
                <a:gdLst/>
                <a:ahLst/>
                <a:cxnLst/>
                <a:rect l="l" t="t" r="r" b="b"/>
                <a:pathLst>
                  <a:path w="254000" h="117250">
                    <a:moveTo>
                      <a:pt x="0" y="0"/>
                    </a:moveTo>
                    <a:cubicBezTo>
                      <a:pt x="7981" y="57427"/>
                      <a:pt x="53406" y="102411"/>
                      <a:pt x="110908" y="109830"/>
                    </a:cubicBezTo>
                    <a:cubicBezTo>
                      <a:pt x="168410" y="117250"/>
                      <a:pt x="223766" y="85270"/>
                      <a:pt x="246062" y="31750"/>
                    </a:cubicBezTo>
                    <a:moveTo>
                      <a:pt x="254000" y="95250"/>
                    </a:moveTo>
                    <a:lnTo>
                      <a:pt x="254000" y="31750"/>
                    </a:lnTo>
                    <a:lnTo>
                      <a:pt x="190500" y="31750"/>
                    </a:lnTo>
                  </a:path>
                </a:pathLst>
              </a:custGeom>
              <a:noFill/>
              <a:ln w="19050">
                <a:solidFill>
                  <a:srgbClr val="FFFFFF"/>
                </a:solidFill>
              </a:ln>
            </p:spPr>
          </p:sp>
        </p:grpSp>
        <p:sp>
          <p:nvSpPr>
            <p:cNvPr id="70" name="TextBox 70"/>
            <p:cNvSpPr txBox="1"/>
            <p:nvPr/>
          </p:nvSpPr>
          <p:spPr>
            <a:xfrm>
              <a:off x="10713053" y="29822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结果复盘</a:t>
              </a:r>
              <a:endParaRPr lang="zh-CN" sz="1050" b="1" dirty="0">
                <a:solidFill>
                  <a:srgbClr val="FFFFFF"/>
                </a:solidFill>
                <a:latin typeface="Arial" panose="020B0604020202020204"/>
                <a:ea typeface="微软雅黑" panose="020B0503020204020204" charset="-122"/>
                <a:cs typeface="Arial" panose="020B0604020202020204"/>
              </a:endParaRPr>
            </a:p>
          </p:txBody>
        </p:sp>
      </p:grpSp>
      <p:sp>
        <p:nvSpPr>
          <p:cNvPr id="72" name="Freeform 72"/>
          <p:cNvSpPr/>
          <p:nvPr/>
        </p:nvSpPr>
        <p:spPr>
          <a:xfrm>
            <a:off x="1190625" y="3543300"/>
            <a:ext cx="9829800" cy="552450"/>
          </a:xfrm>
          <a:custGeom>
            <a:avLst/>
            <a:gdLst/>
            <a:ahLst/>
            <a:cxnLst/>
            <a:rect l="l" t="t" r="r" b="b"/>
            <a:pathLst>
              <a:path w="9829800" h="552450">
                <a:moveTo>
                  <a:pt x="9829800" y="0"/>
                </a:moveTo>
                <a:cubicBezTo>
                  <a:pt x="9829800" y="368300"/>
                  <a:pt x="9331325" y="552450"/>
                  <a:pt x="8334375" y="552450"/>
                </a:cubicBezTo>
                <a:cubicBezTo>
                  <a:pt x="6048375" y="552450"/>
                  <a:pt x="3762375" y="552450"/>
                  <a:pt x="1476375" y="552450"/>
                </a:cubicBezTo>
                <a:cubicBezTo>
                  <a:pt x="492125" y="552450"/>
                  <a:pt x="0" y="368300"/>
                  <a:pt x="0" y="0"/>
                </a:cubicBezTo>
              </a:path>
            </a:pathLst>
          </a:custGeom>
          <a:noFill/>
          <a:ln w="19050">
            <a:solidFill>
              <a:srgbClr val="518FEC"/>
            </a:solidFill>
            <a:custDash>
              <a:ds d="300000" sp="200000"/>
            </a:custDash>
            <a:tailEnd type="triangle" w="lg" len="lg"/>
          </a:ln>
        </p:spPr>
      </p:sp>
      <p:sp>
        <p:nvSpPr>
          <p:cNvPr id="73" name="TextBox 73"/>
          <p:cNvSpPr txBox="1"/>
          <p:nvPr/>
        </p:nvSpPr>
        <p:spPr>
          <a:xfrm>
            <a:off x="4649475" y="4228624"/>
            <a:ext cx="2912101" cy="198120"/>
          </a:xfrm>
          <a:prstGeom prst="rect">
            <a:avLst/>
          </a:prstGeom>
          <a:noFill/>
          <a:ln>
            <a:noFill/>
          </a:ln>
        </p:spPr>
        <p:txBody>
          <a:bodyPr wrap="none" lIns="0" tIns="0" rIns="0" bIns="0" anchor="t" anchorCtr="0">
            <a:spAutoFit/>
          </a:bodyPr>
          <a:lstStyle/>
          <a:p>
            <a:pPr algn="ctr"/>
            <a:r>
              <a:rPr lang="zh-CN" sz="975" b="1" dirty="0">
                <a:solidFill>
                  <a:srgbClr val="518FEC"/>
                </a:solidFill>
                <a:latin typeface="Arial" panose="020B0604020202020204"/>
                <a:ea typeface="微软雅黑" panose="020B0503020204020204" charset="-122"/>
                <a:cs typeface="Arial" panose="020B0604020202020204"/>
              </a:rPr>
              <a:t>复盘结论回流 → 持续优化下一轮商机识别与跟进</a:t>
            </a:r>
            <a:endParaRPr lang="zh-CN" sz="975" b="1" dirty="0">
              <a:solidFill>
                <a:srgbClr val="518FEC"/>
              </a:solidFill>
              <a:latin typeface="Arial" panose="020B0604020202020204"/>
              <a:ea typeface="微软雅黑" panose="020B0503020204020204" charset="-122"/>
              <a:cs typeface="Arial" panose="020B0604020202020204"/>
            </a:endParaRPr>
          </a:p>
        </p:txBody>
      </p:sp>
      <p:grpSp>
        <p:nvGrpSpPr>
          <p:cNvPr id="125" name="Group 125"/>
          <p:cNvGrpSpPr/>
          <p:nvPr/>
        </p:nvGrpSpPr>
        <p:grpSpPr>
          <a:xfrm>
            <a:off x="571500" y="4762500"/>
            <a:ext cx="11049000" cy="1333500"/>
            <a:chOff x="571500" y="4762500"/>
            <a:chExt cx="11049000" cy="1333500"/>
          </a:xfrm>
        </p:grpSpPr>
        <p:sp>
          <p:nvSpPr>
            <p:cNvPr id="74" name="Rectangle 74"/>
            <p:cNvSpPr/>
            <p:nvPr/>
          </p:nvSpPr>
          <p:spPr>
            <a:xfrm>
              <a:off x="571500" y="4762500"/>
              <a:ext cx="11049000" cy="1333500"/>
            </a:xfrm>
            <a:prstGeom prst="roundRect">
              <a:avLst>
                <a:gd name="adj" fmla="val 8571"/>
              </a:avLst>
            </a:prstGeom>
            <a:solidFill>
              <a:srgbClr val="F4F7FC"/>
            </a:solidFill>
            <a:ln>
              <a:noFill/>
            </a:ln>
          </p:spPr>
        </p:sp>
        <p:sp>
          <p:nvSpPr>
            <p:cNvPr id="75" name="TextBox 75"/>
            <p:cNvSpPr txBox="1"/>
            <p:nvPr/>
          </p:nvSpPr>
          <p:spPr>
            <a:xfrm>
              <a:off x="843915" y="4982528"/>
              <a:ext cx="19599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闭环背后的 8 项关键技术能力</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76" name="Line 76"/>
            <p:cNvSpPr/>
            <p:nvPr/>
          </p:nvSpPr>
          <p:spPr>
            <a:xfrm>
              <a:off x="857250" y="5219700"/>
              <a:ext cx="1809750" cy="9525"/>
            </a:xfrm>
            <a:custGeom>
              <a:avLst/>
              <a:gdLst/>
              <a:ahLst/>
              <a:cxnLst/>
              <a:rect l="l" t="t" r="r" b="b"/>
              <a:pathLst>
                <a:path w="1809750" h="9525">
                  <a:moveTo>
                    <a:pt x="0" y="0"/>
                  </a:moveTo>
                  <a:lnTo>
                    <a:pt x="1809750" y="0"/>
                  </a:lnTo>
                </a:path>
              </a:pathLst>
            </a:custGeom>
            <a:noFill/>
            <a:ln w="19050">
              <a:solidFill>
                <a:srgbClr val="246BFE"/>
              </a:solidFill>
            </a:ln>
          </p:spPr>
        </p:sp>
        <p:grpSp>
          <p:nvGrpSpPr>
            <p:cNvPr id="85" name="Group 85"/>
            <p:cNvGrpSpPr/>
            <p:nvPr/>
          </p:nvGrpSpPr>
          <p:grpSpPr>
            <a:xfrm>
              <a:off x="883444" y="5426869"/>
              <a:ext cx="157163" cy="165894"/>
              <a:chOff x="883444" y="5426869"/>
              <a:chExt cx="157163" cy="165894"/>
            </a:xfrm>
          </p:grpSpPr>
          <p:sp>
            <p:nvSpPr>
              <p:cNvPr id="77" name="Freeform 77"/>
              <p:cNvSpPr/>
              <p:nvPr/>
            </p:nvSpPr>
            <p:spPr>
              <a:xfrm>
                <a:off x="909638" y="5426869"/>
                <a:ext cx="104775" cy="104775"/>
              </a:xfrm>
              <a:custGeom>
                <a:avLst/>
                <a:gdLst/>
                <a:ahLst/>
                <a:cxnLst/>
                <a:rect l="l" t="t" r="r" b="b"/>
                <a:pathLst>
                  <a:path w="104775" h="104775">
                    <a:moveTo>
                      <a:pt x="0" y="52388"/>
                    </a:moveTo>
                    <a:cubicBezTo>
                      <a:pt x="0" y="81320"/>
                      <a:pt x="23455" y="104775"/>
                      <a:pt x="52388" y="104775"/>
                    </a:cubicBezTo>
                    <a:cubicBezTo>
                      <a:pt x="81320" y="104775"/>
                      <a:pt x="104775" y="81320"/>
                      <a:pt x="104775" y="52388"/>
                    </a:cubicBezTo>
                    <a:cubicBezTo>
                      <a:pt x="104775" y="23455"/>
                      <a:pt x="81320" y="0"/>
                      <a:pt x="52388" y="0"/>
                    </a:cubicBezTo>
                    <a:cubicBezTo>
                      <a:pt x="23455" y="0"/>
                      <a:pt x="0" y="23455"/>
                      <a:pt x="0" y="52388"/>
                    </a:cubicBezTo>
                  </a:path>
                </a:pathLst>
              </a:custGeom>
              <a:noFill/>
              <a:ln w="19050">
                <a:solidFill>
                  <a:srgbClr val="246BFE"/>
                </a:solidFill>
              </a:ln>
            </p:spPr>
          </p:sp>
          <p:sp>
            <p:nvSpPr>
              <p:cNvPr id="78" name="Freeform 78"/>
              <p:cNvSpPr/>
              <p:nvPr/>
            </p:nvSpPr>
            <p:spPr>
              <a:xfrm>
                <a:off x="962025" y="5426869"/>
                <a:ext cx="17462" cy="104775"/>
              </a:xfrm>
              <a:custGeom>
                <a:avLst/>
                <a:gdLst/>
                <a:ahLst/>
                <a:cxnLst/>
                <a:rect l="l" t="t" r="r" b="b"/>
                <a:pathLst>
                  <a:path w="17462" h="104775">
                    <a:moveTo>
                      <a:pt x="0" y="0"/>
                    </a:moveTo>
                    <a:cubicBezTo>
                      <a:pt x="11639" y="2908"/>
                      <a:pt x="17462" y="20370"/>
                      <a:pt x="17462" y="52388"/>
                    </a:cubicBezTo>
                    <a:cubicBezTo>
                      <a:pt x="17462" y="84405"/>
                      <a:pt x="11639" y="101867"/>
                      <a:pt x="0" y="104775"/>
                    </a:cubicBezTo>
                  </a:path>
                </a:pathLst>
              </a:custGeom>
              <a:noFill/>
              <a:ln w="19050">
                <a:solidFill>
                  <a:srgbClr val="246BFE"/>
                </a:solidFill>
              </a:ln>
            </p:spPr>
          </p:sp>
          <p:sp>
            <p:nvSpPr>
              <p:cNvPr id="79" name="Freeform 79"/>
              <p:cNvSpPr/>
              <p:nvPr/>
            </p:nvSpPr>
            <p:spPr>
              <a:xfrm>
                <a:off x="944562" y="5426869"/>
                <a:ext cx="17462" cy="104775"/>
              </a:xfrm>
              <a:custGeom>
                <a:avLst/>
                <a:gdLst/>
                <a:ahLst/>
                <a:cxnLst/>
                <a:rect l="l" t="t" r="r" b="b"/>
                <a:pathLst>
                  <a:path w="17462" h="104775">
                    <a:moveTo>
                      <a:pt x="17462" y="0"/>
                    </a:moveTo>
                    <a:cubicBezTo>
                      <a:pt x="5824" y="2908"/>
                      <a:pt x="0" y="20370"/>
                      <a:pt x="0" y="52388"/>
                    </a:cubicBezTo>
                    <a:cubicBezTo>
                      <a:pt x="0" y="84405"/>
                      <a:pt x="5824" y="101867"/>
                      <a:pt x="17462" y="104775"/>
                    </a:cubicBezTo>
                  </a:path>
                </a:pathLst>
              </a:custGeom>
              <a:noFill/>
              <a:ln w="19050">
                <a:solidFill>
                  <a:srgbClr val="246BFE"/>
                </a:solidFill>
              </a:ln>
            </p:spPr>
          </p:sp>
          <p:sp>
            <p:nvSpPr>
              <p:cNvPr id="80" name="Freeform 80"/>
              <p:cNvSpPr/>
              <p:nvPr/>
            </p:nvSpPr>
            <p:spPr>
              <a:xfrm>
                <a:off x="909638" y="5479256"/>
                <a:ext cx="104775" cy="9525"/>
              </a:xfrm>
              <a:custGeom>
                <a:avLst/>
                <a:gdLst/>
                <a:ahLst/>
                <a:cxnLst/>
                <a:rect l="l" t="t" r="r" b="b"/>
                <a:pathLst>
                  <a:path w="104775" h="9525">
                    <a:moveTo>
                      <a:pt x="0" y="0"/>
                    </a:moveTo>
                    <a:lnTo>
                      <a:pt x="104775" y="0"/>
                    </a:lnTo>
                  </a:path>
                </a:pathLst>
              </a:custGeom>
              <a:noFill/>
              <a:ln w="19050">
                <a:solidFill>
                  <a:srgbClr val="246BFE"/>
                </a:solidFill>
              </a:ln>
            </p:spPr>
          </p:sp>
          <p:sp>
            <p:nvSpPr>
              <p:cNvPr id="81" name="Freeform 81"/>
              <p:cNvSpPr/>
              <p:nvPr/>
            </p:nvSpPr>
            <p:spPr>
              <a:xfrm>
                <a:off x="883444" y="5575300"/>
                <a:ext cx="61119" cy="9525"/>
              </a:xfrm>
              <a:custGeom>
                <a:avLst/>
                <a:gdLst/>
                <a:ahLst/>
                <a:cxnLst/>
                <a:rect l="l" t="t" r="r" b="b"/>
                <a:pathLst>
                  <a:path w="61119" h="9525">
                    <a:moveTo>
                      <a:pt x="0" y="0"/>
                    </a:moveTo>
                    <a:lnTo>
                      <a:pt x="61119" y="0"/>
                    </a:lnTo>
                  </a:path>
                </a:pathLst>
              </a:custGeom>
              <a:noFill/>
              <a:ln w="19050">
                <a:solidFill>
                  <a:srgbClr val="246BFE"/>
                </a:solidFill>
              </a:ln>
            </p:spPr>
          </p:sp>
          <p:sp>
            <p:nvSpPr>
              <p:cNvPr id="82" name="Freeform 82"/>
              <p:cNvSpPr/>
              <p:nvPr/>
            </p:nvSpPr>
            <p:spPr>
              <a:xfrm>
                <a:off x="979488" y="5575300"/>
                <a:ext cx="61119" cy="9525"/>
              </a:xfrm>
              <a:custGeom>
                <a:avLst/>
                <a:gdLst/>
                <a:ahLst/>
                <a:cxnLst/>
                <a:rect l="l" t="t" r="r" b="b"/>
                <a:pathLst>
                  <a:path w="61119" h="9525">
                    <a:moveTo>
                      <a:pt x="0" y="0"/>
                    </a:moveTo>
                    <a:lnTo>
                      <a:pt x="61119" y="0"/>
                    </a:lnTo>
                  </a:path>
                </a:pathLst>
              </a:custGeom>
              <a:noFill/>
              <a:ln w="19050">
                <a:solidFill>
                  <a:srgbClr val="246BFE"/>
                </a:solidFill>
              </a:ln>
            </p:spPr>
          </p:sp>
          <p:sp>
            <p:nvSpPr>
              <p:cNvPr id="83" name="Freeform 83"/>
              <p:cNvSpPr/>
              <p:nvPr/>
            </p:nvSpPr>
            <p:spPr>
              <a:xfrm>
                <a:off x="944562" y="5557838"/>
                <a:ext cx="34925" cy="34925"/>
              </a:xfrm>
              <a:custGeom>
                <a:avLst/>
                <a:gdLst/>
                <a:ahLst/>
                <a:cxnLst/>
                <a:rect l="l" t="t" r="r" b="b"/>
                <a:pathLst>
                  <a:path w="34925" h="34925">
                    <a:moveTo>
                      <a:pt x="0" y="17463"/>
                    </a:moveTo>
                    <a:cubicBezTo>
                      <a:pt x="0" y="27107"/>
                      <a:pt x="7818" y="34925"/>
                      <a:pt x="17462" y="34925"/>
                    </a:cubicBezTo>
                    <a:cubicBezTo>
                      <a:pt x="27107" y="34925"/>
                      <a:pt x="34925" y="27107"/>
                      <a:pt x="34925" y="17463"/>
                    </a:cubicBezTo>
                    <a:cubicBezTo>
                      <a:pt x="34925" y="7818"/>
                      <a:pt x="27107" y="0"/>
                      <a:pt x="17462" y="0"/>
                    </a:cubicBezTo>
                    <a:cubicBezTo>
                      <a:pt x="7818" y="0"/>
                      <a:pt x="0" y="7818"/>
                      <a:pt x="0" y="17463"/>
                    </a:cubicBezTo>
                  </a:path>
                </a:pathLst>
              </a:custGeom>
              <a:noFill/>
              <a:ln w="19050">
                <a:solidFill>
                  <a:srgbClr val="246BFE"/>
                </a:solidFill>
              </a:ln>
            </p:spPr>
          </p:sp>
          <p:sp>
            <p:nvSpPr>
              <p:cNvPr id="84" name="Freeform 84"/>
              <p:cNvSpPr/>
              <p:nvPr/>
            </p:nvSpPr>
            <p:spPr>
              <a:xfrm>
                <a:off x="962025" y="5531644"/>
                <a:ext cx="9525" cy="26194"/>
              </a:xfrm>
              <a:custGeom>
                <a:avLst/>
                <a:gdLst/>
                <a:ahLst/>
                <a:cxnLst/>
                <a:rect l="l" t="t" r="r" b="b"/>
                <a:pathLst>
                  <a:path w="9525" h="26194">
                    <a:moveTo>
                      <a:pt x="0" y="0"/>
                    </a:moveTo>
                    <a:lnTo>
                      <a:pt x="0" y="26194"/>
                    </a:lnTo>
                  </a:path>
                </a:pathLst>
              </a:custGeom>
              <a:noFill/>
              <a:ln w="19050">
                <a:solidFill>
                  <a:srgbClr val="246BFE"/>
                </a:solidFill>
              </a:ln>
            </p:spPr>
          </p:sp>
        </p:grpSp>
        <p:sp>
          <p:nvSpPr>
            <p:cNvPr id="86" name="TextBox 86"/>
            <p:cNvSpPr txBox="1"/>
            <p:nvPr/>
          </p:nvSpPr>
          <p:spPr>
            <a:xfrm>
              <a:off x="1129665" y="544925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多平台数据接入</a:t>
              </a:r>
              <a:endParaRPr lang="zh-CN" sz="1050" dirty="0">
                <a:solidFill>
                  <a:srgbClr val="25364A"/>
                </a:solidFill>
                <a:latin typeface="Arial" panose="020B0604020202020204"/>
                <a:ea typeface="微软雅黑" panose="020B0503020204020204" charset="-122"/>
                <a:cs typeface="Arial" panose="020B0604020202020204"/>
              </a:endParaRPr>
            </a:p>
          </p:txBody>
        </p:sp>
        <p:grpSp>
          <p:nvGrpSpPr>
            <p:cNvPr id="91" name="Group 91"/>
            <p:cNvGrpSpPr/>
            <p:nvPr/>
          </p:nvGrpSpPr>
          <p:grpSpPr>
            <a:xfrm>
              <a:off x="2797175" y="5426869"/>
              <a:ext cx="139700" cy="165894"/>
              <a:chOff x="2797175" y="5426869"/>
              <a:chExt cx="139700" cy="165894"/>
            </a:xfrm>
          </p:grpSpPr>
          <p:sp>
            <p:nvSpPr>
              <p:cNvPr id="87" name="Freeform 87"/>
              <p:cNvSpPr/>
              <p:nvPr/>
            </p:nvSpPr>
            <p:spPr>
              <a:xfrm>
                <a:off x="2797175" y="5426869"/>
                <a:ext cx="139700" cy="96044"/>
              </a:xfrm>
              <a:custGeom>
                <a:avLst/>
                <a:gdLst/>
                <a:ahLst/>
                <a:cxnLst/>
                <a:rect l="l" t="t" r="r" b="b"/>
                <a:pathLst>
                  <a:path w="139700" h="96044">
                    <a:moveTo>
                      <a:pt x="0" y="96044"/>
                    </a:moveTo>
                    <a:lnTo>
                      <a:pt x="0" y="69850"/>
                    </a:lnTo>
                    <a:cubicBezTo>
                      <a:pt x="0" y="31273"/>
                      <a:pt x="31273" y="0"/>
                      <a:pt x="69850" y="0"/>
                    </a:cubicBezTo>
                    <a:cubicBezTo>
                      <a:pt x="108427" y="0"/>
                      <a:pt x="139700" y="31273"/>
                      <a:pt x="139700" y="69850"/>
                    </a:cubicBezTo>
                    <a:lnTo>
                      <a:pt x="139700" y="96044"/>
                    </a:lnTo>
                  </a:path>
                </a:pathLst>
              </a:custGeom>
              <a:noFill/>
              <a:ln w="19050">
                <a:solidFill>
                  <a:srgbClr val="246BFE"/>
                </a:solidFill>
              </a:ln>
            </p:spPr>
          </p:sp>
          <p:sp>
            <p:nvSpPr>
              <p:cNvPr id="88" name="Freeform 88"/>
              <p:cNvSpPr/>
              <p:nvPr/>
            </p:nvSpPr>
            <p:spPr>
              <a:xfrm>
                <a:off x="2867025" y="5566569"/>
                <a:ext cx="52388" cy="26194"/>
              </a:xfrm>
              <a:custGeom>
                <a:avLst/>
                <a:gdLst/>
                <a:ahLst/>
                <a:cxnLst/>
                <a:rect l="l" t="t" r="r" b="b"/>
                <a:pathLst>
                  <a:path w="52388" h="26194">
                    <a:moveTo>
                      <a:pt x="52388" y="0"/>
                    </a:moveTo>
                    <a:cubicBezTo>
                      <a:pt x="52388" y="14468"/>
                      <a:pt x="28935" y="26194"/>
                      <a:pt x="0" y="26194"/>
                    </a:cubicBezTo>
                  </a:path>
                </a:pathLst>
              </a:custGeom>
              <a:noFill/>
              <a:ln w="19050">
                <a:solidFill>
                  <a:srgbClr val="246BFE"/>
                </a:solidFill>
              </a:ln>
            </p:spPr>
          </p:sp>
          <p:sp>
            <p:nvSpPr>
              <p:cNvPr id="89" name="Freeform 89"/>
              <p:cNvSpPr/>
              <p:nvPr/>
            </p:nvSpPr>
            <p:spPr>
              <a:xfrm>
                <a:off x="2797175" y="5505450"/>
                <a:ext cx="43656" cy="61119"/>
              </a:xfrm>
              <a:custGeom>
                <a:avLst/>
                <a:gdLst/>
                <a:ahLst/>
                <a:cxnLst/>
                <a:rect l="l" t="t" r="r" b="b"/>
                <a:pathLst>
                  <a:path w="43656" h="61119">
                    <a:moveTo>
                      <a:pt x="0" y="17463"/>
                    </a:moveTo>
                    <a:cubicBezTo>
                      <a:pt x="0" y="7818"/>
                      <a:pt x="7818" y="0"/>
                      <a:pt x="17462" y="0"/>
                    </a:cubicBezTo>
                    <a:lnTo>
                      <a:pt x="26194" y="0"/>
                    </a:lnTo>
                    <a:cubicBezTo>
                      <a:pt x="35838" y="0"/>
                      <a:pt x="43656" y="7818"/>
                      <a:pt x="43656" y="17463"/>
                    </a:cubicBezTo>
                    <a:lnTo>
                      <a:pt x="43656" y="43656"/>
                    </a:lnTo>
                    <a:cubicBezTo>
                      <a:pt x="43656" y="53301"/>
                      <a:pt x="35838" y="61119"/>
                      <a:pt x="26194" y="61119"/>
                    </a:cubicBezTo>
                    <a:lnTo>
                      <a:pt x="17462" y="61119"/>
                    </a:lnTo>
                    <a:cubicBezTo>
                      <a:pt x="7818" y="61119"/>
                      <a:pt x="0" y="53301"/>
                      <a:pt x="0" y="43656"/>
                    </a:cubicBezTo>
                    <a:lnTo>
                      <a:pt x="0" y="17463"/>
                    </a:lnTo>
                  </a:path>
                </a:pathLst>
              </a:custGeom>
              <a:noFill/>
              <a:ln w="19050">
                <a:solidFill>
                  <a:srgbClr val="246BFE"/>
                </a:solidFill>
              </a:ln>
            </p:spPr>
          </p:sp>
          <p:sp>
            <p:nvSpPr>
              <p:cNvPr id="90" name="Freeform 90"/>
              <p:cNvSpPr/>
              <p:nvPr/>
            </p:nvSpPr>
            <p:spPr>
              <a:xfrm>
                <a:off x="2893219" y="5505450"/>
                <a:ext cx="43656" cy="61119"/>
              </a:xfrm>
              <a:custGeom>
                <a:avLst/>
                <a:gdLst/>
                <a:ahLst/>
                <a:cxnLst/>
                <a:rect l="l" t="t" r="r" b="b"/>
                <a:pathLst>
                  <a:path w="43656" h="61119">
                    <a:moveTo>
                      <a:pt x="0" y="17463"/>
                    </a:moveTo>
                    <a:cubicBezTo>
                      <a:pt x="0" y="7818"/>
                      <a:pt x="7818" y="0"/>
                      <a:pt x="17462" y="0"/>
                    </a:cubicBezTo>
                    <a:lnTo>
                      <a:pt x="26194" y="0"/>
                    </a:lnTo>
                    <a:cubicBezTo>
                      <a:pt x="35838" y="0"/>
                      <a:pt x="43656" y="7818"/>
                      <a:pt x="43656" y="17463"/>
                    </a:cubicBezTo>
                    <a:lnTo>
                      <a:pt x="43656" y="43656"/>
                    </a:lnTo>
                    <a:cubicBezTo>
                      <a:pt x="43656" y="53301"/>
                      <a:pt x="35838" y="61119"/>
                      <a:pt x="26194" y="61119"/>
                    </a:cubicBezTo>
                    <a:lnTo>
                      <a:pt x="17462" y="61119"/>
                    </a:lnTo>
                    <a:cubicBezTo>
                      <a:pt x="7818" y="61119"/>
                      <a:pt x="0" y="53301"/>
                      <a:pt x="0" y="43656"/>
                    </a:cubicBezTo>
                    <a:lnTo>
                      <a:pt x="0" y="17463"/>
                    </a:lnTo>
                  </a:path>
                </a:pathLst>
              </a:custGeom>
              <a:noFill/>
              <a:ln w="19050">
                <a:solidFill>
                  <a:srgbClr val="246BFE"/>
                </a:solidFill>
              </a:ln>
            </p:spPr>
          </p:sp>
        </p:grpSp>
        <p:sp>
          <p:nvSpPr>
            <p:cNvPr id="92" name="TextBox 92"/>
            <p:cNvSpPr txBox="1"/>
            <p:nvPr/>
          </p:nvSpPr>
          <p:spPr>
            <a:xfrm>
              <a:off x="3034665" y="544925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音视频内容解析</a:t>
              </a:r>
              <a:endParaRPr lang="zh-CN" sz="1050" dirty="0">
                <a:solidFill>
                  <a:srgbClr val="25364A"/>
                </a:solidFill>
                <a:latin typeface="Arial" panose="020B0604020202020204"/>
                <a:ea typeface="微软雅黑" panose="020B0503020204020204" charset="-122"/>
                <a:cs typeface="Arial" panose="020B0604020202020204"/>
              </a:endParaRPr>
            </a:p>
          </p:txBody>
        </p:sp>
        <p:grpSp>
          <p:nvGrpSpPr>
            <p:cNvPr id="97" name="Group 97"/>
            <p:cNvGrpSpPr/>
            <p:nvPr/>
          </p:nvGrpSpPr>
          <p:grpSpPr>
            <a:xfrm>
              <a:off x="4693444" y="5426869"/>
              <a:ext cx="157162" cy="157163"/>
              <a:chOff x="4693444" y="5426869"/>
              <a:chExt cx="157162" cy="157163"/>
            </a:xfrm>
          </p:grpSpPr>
          <p:sp>
            <p:nvSpPr>
              <p:cNvPr id="93" name="Freeform 93"/>
              <p:cNvSpPr/>
              <p:nvPr/>
            </p:nvSpPr>
            <p:spPr>
              <a:xfrm>
                <a:off x="4710906" y="5426869"/>
                <a:ext cx="69850" cy="69850"/>
              </a:xfrm>
              <a:custGeom>
                <a:avLst/>
                <a:gdLst/>
                <a:ahLst/>
                <a:cxnLst/>
                <a:rect l="l" t="t" r="r" b="b"/>
                <a:pathLst>
                  <a:path w="69850" h="69850">
                    <a:moveTo>
                      <a:pt x="0" y="34925"/>
                    </a:moveTo>
                    <a:cubicBezTo>
                      <a:pt x="0" y="54214"/>
                      <a:pt x="15636" y="69850"/>
                      <a:pt x="34925" y="69850"/>
                    </a:cubicBezTo>
                    <a:cubicBezTo>
                      <a:pt x="54214" y="69850"/>
                      <a:pt x="69850" y="54214"/>
                      <a:pt x="69850" y="34925"/>
                    </a:cubicBezTo>
                    <a:cubicBezTo>
                      <a:pt x="69850" y="15636"/>
                      <a:pt x="54214" y="0"/>
                      <a:pt x="34925" y="0"/>
                    </a:cubicBezTo>
                    <a:cubicBezTo>
                      <a:pt x="15636" y="0"/>
                      <a:pt x="0" y="15636"/>
                      <a:pt x="0" y="34925"/>
                    </a:cubicBezTo>
                  </a:path>
                </a:pathLst>
              </a:custGeom>
              <a:noFill/>
              <a:ln w="19050">
                <a:solidFill>
                  <a:srgbClr val="246BFE"/>
                </a:solidFill>
              </a:ln>
            </p:spPr>
          </p:sp>
          <p:sp>
            <p:nvSpPr>
              <p:cNvPr id="94" name="Freeform 94"/>
              <p:cNvSpPr/>
              <p:nvPr/>
            </p:nvSpPr>
            <p:spPr>
              <a:xfrm>
                <a:off x="4693444" y="5531644"/>
                <a:ext cx="104775" cy="52388"/>
              </a:xfrm>
              <a:custGeom>
                <a:avLst/>
                <a:gdLst/>
                <a:ahLst/>
                <a:cxnLst/>
                <a:rect l="l" t="t" r="r" b="b"/>
                <a:pathLst>
                  <a:path w="104775" h="52388">
                    <a:moveTo>
                      <a:pt x="0" y="52388"/>
                    </a:moveTo>
                    <a:lnTo>
                      <a:pt x="0" y="34925"/>
                    </a:lnTo>
                    <a:cubicBezTo>
                      <a:pt x="0" y="15636"/>
                      <a:pt x="15636" y="0"/>
                      <a:pt x="34925" y="0"/>
                    </a:cubicBezTo>
                    <a:lnTo>
                      <a:pt x="69850" y="0"/>
                    </a:lnTo>
                    <a:cubicBezTo>
                      <a:pt x="89139" y="0"/>
                      <a:pt x="104775" y="15636"/>
                      <a:pt x="104775" y="34925"/>
                    </a:cubicBezTo>
                    <a:lnTo>
                      <a:pt x="104775" y="52388"/>
                    </a:lnTo>
                  </a:path>
                </a:pathLst>
              </a:custGeom>
              <a:noFill/>
              <a:ln w="19050">
                <a:solidFill>
                  <a:srgbClr val="246BFE"/>
                </a:solidFill>
              </a:ln>
            </p:spPr>
          </p:sp>
          <p:sp>
            <p:nvSpPr>
              <p:cNvPr id="95" name="Freeform 95"/>
              <p:cNvSpPr/>
              <p:nvPr/>
            </p:nvSpPr>
            <p:spPr>
              <a:xfrm>
                <a:off x="4806950" y="5428004"/>
                <a:ext cx="26262" cy="67667"/>
              </a:xfrm>
              <a:custGeom>
                <a:avLst/>
                <a:gdLst/>
                <a:ahLst/>
                <a:cxnLst/>
                <a:rect l="l" t="t" r="r" b="b"/>
                <a:pathLst>
                  <a:path w="26262" h="67667">
                    <a:moveTo>
                      <a:pt x="0" y="0"/>
                    </a:moveTo>
                    <a:cubicBezTo>
                      <a:pt x="15454" y="3957"/>
                      <a:pt x="26262" y="17882"/>
                      <a:pt x="26262" y="33834"/>
                    </a:cubicBezTo>
                    <a:cubicBezTo>
                      <a:pt x="26262" y="49786"/>
                      <a:pt x="15454" y="63710"/>
                      <a:pt x="0" y="67667"/>
                    </a:cubicBezTo>
                  </a:path>
                </a:pathLst>
              </a:custGeom>
              <a:noFill/>
              <a:ln w="19050">
                <a:solidFill>
                  <a:srgbClr val="246BFE"/>
                </a:solidFill>
              </a:ln>
            </p:spPr>
          </p:sp>
          <p:sp>
            <p:nvSpPr>
              <p:cNvPr id="96" name="Freeform 96"/>
              <p:cNvSpPr/>
              <p:nvPr/>
            </p:nvSpPr>
            <p:spPr>
              <a:xfrm>
                <a:off x="4824412" y="5532953"/>
                <a:ext cx="26194" cy="51078"/>
              </a:xfrm>
              <a:custGeom>
                <a:avLst/>
                <a:gdLst/>
                <a:ahLst/>
                <a:cxnLst/>
                <a:rect l="l" t="t" r="r" b="b"/>
                <a:pathLst>
                  <a:path w="26194" h="51078">
                    <a:moveTo>
                      <a:pt x="26194" y="51078"/>
                    </a:moveTo>
                    <a:lnTo>
                      <a:pt x="26194" y="33615"/>
                    </a:lnTo>
                    <a:cubicBezTo>
                      <a:pt x="26103" y="17764"/>
                      <a:pt x="15348" y="3963"/>
                      <a:pt x="0" y="0"/>
                    </a:cubicBezTo>
                  </a:path>
                </a:pathLst>
              </a:custGeom>
              <a:noFill/>
              <a:ln w="19050">
                <a:solidFill>
                  <a:srgbClr val="246BFE"/>
                </a:solidFill>
              </a:ln>
            </p:spPr>
          </p:sp>
        </p:grpSp>
        <p:sp>
          <p:nvSpPr>
            <p:cNvPr id="98" name="TextBox 98"/>
            <p:cNvSpPr txBox="1"/>
            <p:nvPr/>
          </p:nvSpPr>
          <p:spPr>
            <a:xfrm>
              <a:off x="4939665" y="5449252"/>
              <a:ext cx="8667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客户主体识别</a:t>
              </a:r>
              <a:endParaRPr lang="zh-CN" sz="1050" dirty="0">
                <a:solidFill>
                  <a:srgbClr val="25364A"/>
                </a:solidFill>
                <a:latin typeface="Arial" panose="020B0604020202020204"/>
                <a:ea typeface="微软雅黑" panose="020B0503020204020204" charset="-122"/>
                <a:cs typeface="Arial" panose="020B0604020202020204"/>
              </a:endParaRPr>
            </a:p>
          </p:txBody>
        </p:sp>
        <p:grpSp>
          <p:nvGrpSpPr>
            <p:cNvPr id="101" name="Group 101"/>
            <p:cNvGrpSpPr/>
            <p:nvPr/>
          </p:nvGrpSpPr>
          <p:grpSpPr>
            <a:xfrm>
              <a:off x="6607175" y="5432231"/>
              <a:ext cx="139700" cy="146438"/>
              <a:chOff x="6607175" y="5432231"/>
              <a:chExt cx="139700" cy="146438"/>
            </a:xfrm>
          </p:grpSpPr>
          <p:sp>
            <p:nvSpPr>
              <p:cNvPr id="99" name="Freeform 99"/>
              <p:cNvSpPr/>
              <p:nvPr/>
            </p:nvSpPr>
            <p:spPr>
              <a:xfrm>
                <a:off x="6607175" y="5432231"/>
                <a:ext cx="139700" cy="64488"/>
              </a:xfrm>
              <a:custGeom>
                <a:avLst/>
                <a:gdLst/>
                <a:ahLst/>
                <a:cxnLst/>
                <a:rect l="l" t="t" r="r" b="b"/>
                <a:pathLst>
                  <a:path w="139700" h="64488">
                    <a:moveTo>
                      <a:pt x="139700" y="64488"/>
                    </a:moveTo>
                    <a:cubicBezTo>
                      <a:pt x="135311" y="32903"/>
                      <a:pt x="110327" y="8162"/>
                      <a:pt x="78701" y="4081"/>
                    </a:cubicBezTo>
                    <a:cubicBezTo>
                      <a:pt x="47074" y="0"/>
                      <a:pt x="16629" y="17589"/>
                      <a:pt x="4366" y="47025"/>
                    </a:cubicBezTo>
                    <a:moveTo>
                      <a:pt x="0" y="12100"/>
                    </a:moveTo>
                    <a:lnTo>
                      <a:pt x="0" y="47025"/>
                    </a:lnTo>
                    <a:lnTo>
                      <a:pt x="34925" y="47025"/>
                    </a:lnTo>
                  </a:path>
                </a:pathLst>
              </a:custGeom>
              <a:noFill/>
              <a:ln w="19050">
                <a:solidFill>
                  <a:srgbClr val="246BFE"/>
                </a:solidFill>
              </a:ln>
            </p:spPr>
          </p:sp>
          <p:sp>
            <p:nvSpPr>
              <p:cNvPr id="100" name="Freeform 100"/>
              <p:cNvSpPr/>
              <p:nvPr/>
            </p:nvSpPr>
            <p:spPr>
              <a:xfrm>
                <a:off x="6607175" y="5514181"/>
                <a:ext cx="139700" cy="64488"/>
              </a:xfrm>
              <a:custGeom>
                <a:avLst/>
                <a:gdLst/>
                <a:ahLst/>
                <a:cxnLst/>
                <a:rect l="l" t="t" r="r" b="b"/>
                <a:pathLst>
                  <a:path w="139700" h="64488">
                    <a:moveTo>
                      <a:pt x="0" y="0"/>
                    </a:moveTo>
                    <a:cubicBezTo>
                      <a:pt x="4389" y="31585"/>
                      <a:pt x="29373" y="56326"/>
                      <a:pt x="60999" y="60407"/>
                    </a:cubicBezTo>
                    <a:cubicBezTo>
                      <a:pt x="92626" y="64488"/>
                      <a:pt x="123071" y="46899"/>
                      <a:pt x="135334" y="17463"/>
                    </a:cubicBezTo>
                    <a:moveTo>
                      <a:pt x="139700" y="52388"/>
                    </a:moveTo>
                    <a:lnTo>
                      <a:pt x="139700" y="17463"/>
                    </a:lnTo>
                    <a:lnTo>
                      <a:pt x="104775" y="17463"/>
                    </a:lnTo>
                  </a:path>
                </a:pathLst>
              </a:custGeom>
              <a:noFill/>
              <a:ln w="19050">
                <a:solidFill>
                  <a:srgbClr val="246BFE"/>
                </a:solidFill>
              </a:ln>
            </p:spPr>
          </p:sp>
        </p:grpSp>
        <p:sp>
          <p:nvSpPr>
            <p:cNvPr id="102" name="TextBox 102"/>
            <p:cNvSpPr txBox="1"/>
            <p:nvPr/>
          </p:nvSpPr>
          <p:spPr>
            <a:xfrm>
              <a:off x="6844665" y="5449252"/>
              <a:ext cx="8667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重复信息合并</a:t>
              </a:r>
              <a:endParaRPr lang="zh-CN" sz="1050" dirty="0">
                <a:solidFill>
                  <a:srgbClr val="25364A"/>
                </a:solidFill>
                <a:latin typeface="Arial" panose="020B0604020202020204"/>
                <a:ea typeface="微软雅黑" panose="020B0503020204020204" charset="-122"/>
                <a:cs typeface="Arial" panose="020B0604020202020204"/>
              </a:endParaRPr>
            </a:p>
          </p:txBody>
        </p:sp>
        <p:grpSp>
          <p:nvGrpSpPr>
            <p:cNvPr id="106" name="Group 106"/>
            <p:cNvGrpSpPr/>
            <p:nvPr/>
          </p:nvGrpSpPr>
          <p:grpSpPr>
            <a:xfrm>
              <a:off x="900906" y="5807869"/>
              <a:ext cx="122237" cy="157162"/>
              <a:chOff x="900906" y="5807869"/>
              <a:chExt cx="122237" cy="157162"/>
            </a:xfrm>
          </p:grpSpPr>
          <p:sp>
            <p:nvSpPr>
              <p:cNvPr id="103" name="Freeform 103"/>
              <p:cNvSpPr/>
              <p:nvPr/>
            </p:nvSpPr>
            <p:spPr>
              <a:xfrm>
                <a:off x="900906" y="5860256"/>
                <a:ext cx="122237" cy="104775"/>
              </a:xfrm>
              <a:custGeom>
                <a:avLst/>
                <a:gdLst/>
                <a:ahLst/>
                <a:cxnLst/>
                <a:rect l="l" t="t" r="r" b="b"/>
                <a:pathLst>
                  <a:path w="122237" h="104775">
                    <a:moveTo>
                      <a:pt x="26194" y="0"/>
                    </a:moveTo>
                    <a:lnTo>
                      <a:pt x="17463" y="0"/>
                    </a:lnTo>
                    <a:cubicBezTo>
                      <a:pt x="7818" y="0"/>
                      <a:pt x="0" y="7818"/>
                      <a:pt x="0" y="17463"/>
                    </a:cubicBezTo>
                    <a:lnTo>
                      <a:pt x="0" y="87312"/>
                    </a:lnTo>
                    <a:cubicBezTo>
                      <a:pt x="0" y="96957"/>
                      <a:pt x="7818" y="104775"/>
                      <a:pt x="17463" y="104775"/>
                    </a:cubicBezTo>
                    <a:lnTo>
                      <a:pt x="104775" y="104775"/>
                    </a:lnTo>
                    <a:cubicBezTo>
                      <a:pt x="114419" y="104775"/>
                      <a:pt x="122237" y="96957"/>
                      <a:pt x="122237" y="87312"/>
                    </a:cubicBezTo>
                    <a:lnTo>
                      <a:pt x="122237" y="17463"/>
                    </a:lnTo>
                    <a:cubicBezTo>
                      <a:pt x="122237" y="7818"/>
                      <a:pt x="114419" y="0"/>
                      <a:pt x="104775" y="0"/>
                    </a:cubicBezTo>
                    <a:lnTo>
                      <a:pt x="96044" y="0"/>
                    </a:lnTo>
                  </a:path>
                </a:pathLst>
              </a:custGeom>
              <a:noFill/>
              <a:ln w="19050">
                <a:solidFill>
                  <a:srgbClr val="246BFE"/>
                </a:solidFill>
              </a:ln>
            </p:spPr>
          </p:sp>
          <p:sp>
            <p:nvSpPr>
              <p:cNvPr id="104" name="Freeform 104"/>
              <p:cNvSpPr/>
              <p:nvPr/>
            </p:nvSpPr>
            <p:spPr>
              <a:xfrm>
                <a:off x="962025" y="5807869"/>
                <a:ext cx="9525" cy="96044"/>
              </a:xfrm>
              <a:custGeom>
                <a:avLst/>
                <a:gdLst/>
                <a:ahLst/>
                <a:cxnLst/>
                <a:rect l="l" t="t" r="r" b="b"/>
                <a:pathLst>
                  <a:path w="9525" h="96044">
                    <a:moveTo>
                      <a:pt x="0" y="96044"/>
                    </a:moveTo>
                    <a:lnTo>
                      <a:pt x="0" y="0"/>
                    </a:lnTo>
                  </a:path>
                </a:pathLst>
              </a:custGeom>
              <a:noFill/>
              <a:ln w="19050">
                <a:solidFill>
                  <a:srgbClr val="246BFE"/>
                </a:solidFill>
              </a:ln>
            </p:spPr>
          </p:sp>
          <p:sp>
            <p:nvSpPr>
              <p:cNvPr id="105" name="Freeform 105"/>
              <p:cNvSpPr/>
              <p:nvPr/>
            </p:nvSpPr>
            <p:spPr>
              <a:xfrm>
                <a:off x="935831" y="5807869"/>
                <a:ext cx="52388" cy="26194"/>
              </a:xfrm>
              <a:custGeom>
                <a:avLst/>
                <a:gdLst/>
                <a:ahLst/>
                <a:cxnLst/>
                <a:rect l="l" t="t" r="r" b="b"/>
                <a:pathLst>
                  <a:path w="52388" h="26194">
                    <a:moveTo>
                      <a:pt x="0" y="26194"/>
                    </a:moveTo>
                    <a:lnTo>
                      <a:pt x="26194" y="0"/>
                    </a:lnTo>
                    <a:lnTo>
                      <a:pt x="52388" y="26194"/>
                    </a:lnTo>
                  </a:path>
                </a:pathLst>
              </a:custGeom>
              <a:noFill/>
              <a:ln w="19050">
                <a:solidFill>
                  <a:srgbClr val="246BFE"/>
                </a:solidFill>
              </a:ln>
            </p:spPr>
          </p:sp>
        </p:grpSp>
        <p:sp>
          <p:nvSpPr>
            <p:cNvPr id="107" name="TextBox 107"/>
            <p:cNvSpPr txBox="1"/>
            <p:nvPr/>
          </p:nvSpPr>
          <p:spPr>
            <a:xfrm>
              <a:off x="1129665" y="5830252"/>
              <a:ext cx="8667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人物关系分析</a:t>
              </a:r>
              <a:endParaRPr lang="zh-CN" sz="1050" dirty="0">
                <a:solidFill>
                  <a:srgbClr val="25364A"/>
                </a:solidFill>
                <a:latin typeface="Arial" panose="020B0604020202020204"/>
                <a:ea typeface="微软雅黑" panose="020B0503020204020204" charset="-122"/>
                <a:cs typeface="Arial" panose="020B0604020202020204"/>
              </a:endParaRPr>
            </a:p>
          </p:txBody>
        </p:sp>
        <p:grpSp>
          <p:nvGrpSpPr>
            <p:cNvPr id="111" name="Group 111"/>
            <p:cNvGrpSpPr/>
            <p:nvPr/>
          </p:nvGrpSpPr>
          <p:grpSpPr>
            <a:xfrm>
              <a:off x="2788444" y="5807869"/>
              <a:ext cx="157162" cy="157162"/>
              <a:chOff x="2788444" y="5807869"/>
              <a:chExt cx="157162" cy="157162"/>
            </a:xfrm>
          </p:grpSpPr>
          <p:sp>
            <p:nvSpPr>
              <p:cNvPr id="108" name="Freeform 108"/>
              <p:cNvSpPr/>
              <p:nvPr/>
            </p:nvSpPr>
            <p:spPr>
              <a:xfrm>
                <a:off x="2858294" y="5877719"/>
                <a:ext cx="17463" cy="17462"/>
              </a:xfrm>
              <a:custGeom>
                <a:avLst/>
                <a:gdLst/>
                <a:ahLst/>
                <a:cxnLst/>
                <a:rect l="l" t="t" r="r" b="b"/>
                <a:pathLst>
                  <a:path w="17463" h="17462">
                    <a:moveTo>
                      <a:pt x="0" y="8731"/>
                    </a:moveTo>
                    <a:cubicBezTo>
                      <a:pt x="0" y="13553"/>
                      <a:pt x="3909" y="17462"/>
                      <a:pt x="8731" y="17462"/>
                    </a:cubicBezTo>
                    <a:cubicBezTo>
                      <a:pt x="13553" y="17462"/>
                      <a:pt x="17463" y="13553"/>
                      <a:pt x="17463" y="8731"/>
                    </a:cubicBezTo>
                    <a:cubicBezTo>
                      <a:pt x="17463" y="3909"/>
                      <a:pt x="13553" y="0"/>
                      <a:pt x="8731" y="0"/>
                    </a:cubicBezTo>
                    <a:cubicBezTo>
                      <a:pt x="3909" y="0"/>
                      <a:pt x="0" y="3909"/>
                      <a:pt x="0" y="8731"/>
                    </a:cubicBezTo>
                  </a:path>
                </a:pathLst>
              </a:custGeom>
              <a:noFill/>
              <a:ln w="19050">
                <a:solidFill>
                  <a:srgbClr val="246BFE"/>
                </a:solidFill>
              </a:ln>
            </p:spPr>
          </p:sp>
          <p:sp>
            <p:nvSpPr>
              <p:cNvPr id="109" name="Freeform 109"/>
              <p:cNvSpPr/>
              <p:nvPr/>
            </p:nvSpPr>
            <p:spPr>
              <a:xfrm>
                <a:off x="2823369" y="5842794"/>
                <a:ext cx="87312" cy="87313"/>
              </a:xfrm>
              <a:custGeom>
                <a:avLst/>
                <a:gdLst/>
                <a:ahLst/>
                <a:cxnLst/>
                <a:rect l="l" t="t" r="r" b="b"/>
                <a:pathLst>
                  <a:path w="87312" h="87313">
                    <a:moveTo>
                      <a:pt x="0" y="43656"/>
                    </a:moveTo>
                    <a:cubicBezTo>
                      <a:pt x="0" y="67767"/>
                      <a:pt x="19546" y="87313"/>
                      <a:pt x="43656" y="87313"/>
                    </a:cubicBezTo>
                    <a:cubicBezTo>
                      <a:pt x="67767" y="87313"/>
                      <a:pt x="87312" y="67767"/>
                      <a:pt x="87312" y="43656"/>
                    </a:cubicBezTo>
                    <a:cubicBezTo>
                      <a:pt x="87312" y="19546"/>
                      <a:pt x="67767" y="0"/>
                      <a:pt x="43656" y="0"/>
                    </a:cubicBezTo>
                    <a:cubicBezTo>
                      <a:pt x="19546" y="0"/>
                      <a:pt x="0" y="19546"/>
                      <a:pt x="0" y="43656"/>
                    </a:cubicBezTo>
                  </a:path>
                </a:pathLst>
              </a:custGeom>
              <a:noFill/>
              <a:ln w="19050">
                <a:solidFill>
                  <a:srgbClr val="246BFE"/>
                </a:solidFill>
              </a:ln>
            </p:spPr>
          </p:sp>
          <p:sp>
            <p:nvSpPr>
              <p:cNvPr id="110" name="Freeform 110"/>
              <p:cNvSpPr/>
              <p:nvPr/>
            </p:nvSpPr>
            <p:spPr>
              <a:xfrm>
                <a:off x="2788444" y="5807869"/>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246BFE"/>
                </a:solidFill>
              </a:ln>
            </p:spPr>
          </p:sp>
        </p:grpSp>
        <p:sp>
          <p:nvSpPr>
            <p:cNvPr id="112" name="TextBox 112"/>
            <p:cNvSpPr txBox="1"/>
            <p:nvPr/>
          </p:nvSpPr>
          <p:spPr>
            <a:xfrm>
              <a:off x="3034665" y="5830252"/>
              <a:ext cx="58674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商机评分</a:t>
              </a:r>
              <a:endParaRPr lang="zh-CN" sz="1050" dirty="0">
                <a:solidFill>
                  <a:srgbClr val="25364A"/>
                </a:solidFill>
                <a:latin typeface="Arial" panose="020B0604020202020204"/>
                <a:ea typeface="微软雅黑" panose="020B0503020204020204" charset="-122"/>
                <a:cs typeface="Arial" panose="020B0604020202020204"/>
              </a:endParaRPr>
            </a:p>
          </p:txBody>
        </p:sp>
        <p:grpSp>
          <p:nvGrpSpPr>
            <p:cNvPr id="117" name="Group 117"/>
            <p:cNvGrpSpPr/>
            <p:nvPr/>
          </p:nvGrpSpPr>
          <p:grpSpPr>
            <a:xfrm>
              <a:off x="4710906" y="5799138"/>
              <a:ext cx="122238" cy="175418"/>
              <a:chOff x="4710906" y="5799138"/>
              <a:chExt cx="122238" cy="175418"/>
            </a:xfrm>
          </p:grpSpPr>
          <p:sp>
            <p:nvSpPr>
              <p:cNvPr id="113" name="Freeform 113"/>
              <p:cNvSpPr/>
              <p:nvPr/>
            </p:nvSpPr>
            <p:spPr>
              <a:xfrm>
                <a:off x="4745831" y="5799138"/>
                <a:ext cx="52388" cy="96044"/>
              </a:xfrm>
              <a:custGeom>
                <a:avLst/>
                <a:gdLst/>
                <a:ahLst/>
                <a:cxnLst/>
                <a:rect l="l" t="t" r="r" b="b"/>
                <a:pathLst>
                  <a:path w="52388" h="96044">
                    <a:moveTo>
                      <a:pt x="0" y="26194"/>
                    </a:moveTo>
                    <a:cubicBezTo>
                      <a:pt x="0" y="11727"/>
                      <a:pt x="11727" y="0"/>
                      <a:pt x="26194" y="0"/>
                    </a:cubicBezTo>
                    <a:cubicBezTo>
                      <a:pt x="40660" y="0"/>
                      <a:pt x="52388" y="11727"/>
                      <a:pt x="52388" y="26194"/>
                    </a:cubicBezTo>
                    <a:lnTo>
                      <a:pt x="52388" y="69850"/>
                    </a:lnTo>
                    <a:cubicBezTo>
                      <a:pt x="52388" y="84316"/>
                      <a:pt x="40660" y="96044"/>
                      <a:pt x="26194" y="96044"/>
                    </a:cubicBezTo>
                    <a:cubicBezTo>
                      <a:pt x="11727" y="96044"/>
                      <a:pt x="0" y="84316"/>
                      <a:pt x="0" y="69850"/>
                    </a:cubicBezTo>
                    <a:lnTo>
                      <a:pt x="0" y="26194"/>
                    </a:lnTo>
                  </a:path>
                </a:pathLst>
              </a:custGeom>
              <a:noFill/>
              <a:ln w="19050">
                <a:solidFill>
                  <a:srgbClr val="246BFE"/>
                </a:solidFill>
              </a:ln>
            </p:spPr>
          </p:sp>
          <p:sp>
            <p:nvSpPr>
              <p:cNvPr id="114" name="Freeform 114"/>
              <p:cNvSpPr/>
              <p:nvPr/>
            </p:nvSpPr>
            <p:spPr>
              <a:xfrm>
                <a:off x="4710906" y="5868988"/>
                <a:ext cx="122238" cy="61119"/>
              </a:xfrm>
              <a:custGeom>
                <a:avLst/>
                <a:gdLst/>
                <a:ahLst/>
                <a:cxnLst/>
                <a:rect l="l" t="t" r="r" b="b"/>
                <a:pathLst>
                  <a:path w="122238" h="61119">
                    <a:moveTo>
                      <a:pt x="0" y="0"/>
                    </a:moveTo>
                    <a:cubicBezTo>
                      <a:pt x="0" y="33755"/>
                      <a:pt x="27364" y="61119"/>
                      <a:pt x="61119" y="61119"/>
                    </a:cubicBezTo>
                    <a:cubicBezTo>
                      <a:pt x="94874" y="61119"/>
                      <a:pt x="122238" y="33755"/>
                      <a:pt x="122238" y="0"/>
                    </a:cubicBezTo>
                  </a:path>
                </a:pathLst>
              </a:custGeom>
              <a:noFill/>
              <a:ln w="19050">
                <a:solidFill>
                  <a:srgbClr val="246BFE"/>
                </a:solidFill>
              </a:ln>
            </p:spPr>
          </p:sp>
          <p:sp>
            <p:nvSpPr>
              <p:cNvPr id="115" name="Freeform 115"/>
              <p:cNvSpPr/>
              <p:nvPr/>
            </p:nvSpPr>
            <p:spPr>
              <a:xfrm>
                <a:off x="4737100" y="5965031"/>
                <a:ext cx="69850" cy="9525"/>
              </a:xfrm>
              <a:custGeom>
                <a:avLst/>
                <a:gdLst/>
                <a:ahLst/>
                <a:cxnLst/>
                <a:rect l="l" t="t" r="r" b="b"/>
                <a:pathLst>
                  <a:path w="69850" h="9525">
                    <a:moveTo>
                      <a:pt x="0" y="0"/>
                    </a:moveTo>
                    <a:lnTo>
                      <a:pt x="69850" y="0"/>
                    </a:lnTo>
                  </a:path>
                </a:pathLst>
              </a:custGeom>
              <a:noFill/>
              <a:ln w="19050">
                <a:solidFill>
                  <a:srgbClr val="246BFE"/>
                </a:solidFill>
              </a:ln>
            </p:spPr>
          </p:sp>
          <p:sp>
            <p:nvSpPr>
              <p:cNvPr id="116" name="Freeform 116"/>
              <p:cNvSpPr/>
              <p:nvPr/>
            </p:nvSpPr>
            <p:spPr>
              <a:xfrm>
                <a:off x="4772025" y="5930106"/>
                <a:ext cx="9525" cy="34925"/>
              </a:xfrm>
              <a:custGeom>
                <a:avLst/>
                <a:gdLst/>
                <a:ahLst/>
                <a:cxnLst/>
                <a:rect l="l" t="t" r="r" b="b"/>
                <a:pathLst>
                  <a:path w="9525" h="34925">
                    <a:moveTo>
                      <a:pt x="0" y="0"/>
                    </a:moveTo>
                    <a:lnTo>
                      <a:pt x="0" y="34925"/>
                    </a:lnTo>
                  </a:path>
                </a:pathLst>
              </a:custGeom>
              <a:noFill/>
              <a:ln w="19050">
                <a:solidFill>
                  <a:srgbClr val="246BFE"/>
                </a:solidFill>
              </a:ln>
            </p:spPr>
          </p:sp>
        </p:grpSp>
        <p:sp>
          <p:nvSpPr>
            <p:cNvPr id="118" name="TextBox 118"/>
            <p:cNvSpPr txBox="1"/>
            <p:nvPr/>
          </p:nvSpPr>
          <p:spPr>
            <a:xfrm>
              <a:off x="4939665" y="5830252"/>
              <a:ext cx="58674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录音分析</a:t>
              </a:r>
              <a:endParaRPr lang="zh-CN" sz="1050" dirty="0">
                <a:solidFill>
                  <a:srgbClr val="25364A"/>
                </a:solidFill>
                <a:latin typeface="Arial" panose="020B0604020202020204"/>
                <a:ea typeface="微软雅黑" panose="020B0503020204020204" charset="-122"/>
                <a:cs typeface="Arial" panose="020B0604020202020204"/>
              </a:endParaRPr>
            </a:p>
          </p:txBody>
        </p:sp>
        <p:grpSp>
          <p:nvGrpSpPr>
            <p:cNvPr id="123" name="Group 123"/>
            <p:cNvGrpSpPr/>
            <p:nvPr/>
          </p:nvGrpSpPr>
          <p:grpSpPr>
            <a:xfrm>
              <a:off x="6598444" y="5807869"/>
              <a:ext cx="157162" cy="148431"/>
              <a:chOff x="6598444" y="5807869"/>
              <a:chExt cx="157162" cy="148431"/>
            </a:xfrm>
          </p:grpSpPr>
          <p:sp>
            <p:nvSpPr>
              <p:cNvPr id="119" name="Freeform 119"/>
              <p:cNvSpPr/>
              <p:nvPr/>
            </p:nvSpPr>
            <p:spPr>
              <a:xfrm>
                <a:off x="6598444" y="5842794"/>
                <a:ext cx="157162" cy="113506"/>
              </a:xfrm>
              <a:custGeom>
                <a:avLst/>
                <a:gdLst/>
                <a:ahLst/>
                <a:cxnLst/>
                <a:rect l="l" t="t" r="r" b="b"/>
                <a:pathLst>
                  <a:path w="157162" h="113506">
                    <a:moveTo>
                      <a:pt x="0" y="17463"/>
                    </a:moveTo>
                    <a:cubicBezTo>
                      <a:pt x="0" y="7818"/>
                      <a:pt x="7818" y="0"/>
                      <a:pt x="17463" y="0"/>
                    </a:cubicBezTo>
                    <a:lnTo>
                      <a:pt x="139700" y="0"/>
                    </a:lnTo>
                    <a:cubicBezTo>
                      <a:pt x="149344" y="0"/>
                      <a:pt x="157162" y="7818"/>
                      <a:pt x="157162" y="17463"/>
                    </a:cubicBezTo>
                    <a:lnTo>
                      <a:pt x="157162" y="96044"/>
                    </a:lnTo>
                    <a:cubicBezTo>
                      <a:pt x="157162" y="105688"/>
                      <a:pt x="149344" y="113506"/>
                      <a:pt x="139700" y="113506"/>
                    </a:cubicBezTo>
                    <a:lnTo>
                      <a:pt x="17463" y="113506"/>
                    </a:lnTo>
                    <a:cubicBezTo>
                      <a:pt x="7818" y="113506"/>
                      <a:pt x="0" y="105688"/>
                      <a:pt x="0" y="96044"/>
                    </a:cubicBezTo>
                    <a:lnTo>
                      <a:pt x="0" y="17463"/>
                    </a:lnTo>
                  </a:path>
                </a:pathLst>
              </a:custGeom>
              <a:noFill/>
              <a:ln w="19050">
                <a:solidFill>
                  <a:srgbClr val="246BFE"/>
                </a:solidFill>
              </a:ln>
            </p:spPr>
          </p:sp>
          <p:sp>
            <p:nvSpPr>
              <p:cNvPr id="120" name="Freeform 120"/>
              <p:cNvSpPr/>
              <p:nvPr/>
            </p:nvSpPr>
            <p:spPr>
              <a:xfrm>
                <a:off x="6642100" y="5807869"/>
                <a:ext cx="69850" cy="34925"/>
              </a:xfrm>
              <a:custGeom>
                <a:avLst/>
                <a:gdLst/>
                <a:ahLst/>
                <a:cxnLst/>
                <a:rect l="l" t="t" r="r" b="b"/>
                <a:pathLst>
                  <a:path w="69850" h="34925">
                    <a:moveTo>
                      <a:pt x="0" y="34925"/>
                    </a:moveTo>
                    <a:lnTo>
                      <a:pt x="0" y="17463"/>
                    </a:lnTo>
                    <a:cubicBezTo>
                      <a:pt x="0" y="7818"/>
                      <a:pt x="7818" y="0"/>
                      <a:pt x="17462" y="0"/>
                    </a:cubicBezTo>
                    <a:lnTo>
                      <a:pt x="52388" y="0"/>
                    </a:lnTo>
                    <a:cubicBezTo>
                      <a:pt x="62032" y="0"/>
                      <a:pt x="69850" y="7818"/>
                      <a:pt x="69850" y="17463"/>
                    </a:cubicBezTo>
                    <a:lnTo>
                      <a:pt x="69850" y="34925"/>
                    </a:lnTo>
                  </a:path>
                </a:pathLst>
              </a:custGeom>
              <a:noFill/>
              <a:ln w="19050">
                <a:solidFill>
                  <a:srgbClr val="246BFE"/>
                </a:solidFill>
              </a:ln>
            </p:spPr>
          </p:sp>
          <p:sp>
            <p:nvSpPr>
              <p:cNvPr id="121" name="Freeform 121"/>
              <p:cNvSpPr/>
              <p:nvPr/>
            </p:nvSpPr>
            <p:spPr>
              <a:xfrm>
                <a:off x="6677025" y="5886450"/>
                <a:ext cx="9525" cy="9525"/>
              </a:xfrm>
              <a:custGeom>
                <a:avLst/>
                <a:gdLst/>
                <a:ahLst/>
                <a:cxnLst/>
                <a:rect l="l" t="t" r="r" b="b"/>
                <a:pathLst>
                  <a:path w="9525" h="9525">
                    <a:moveTo>
                      <a:pt x="0" y="0"/>
                    </a:moveTo>
                    <a:lnTo>
                      <a:pt x="0" y="87"/>
                    </a:lnTo>
                  </a:path>
                </a:pathLst>
              </a:custGeom>
              <a:noFill/>
              <a:ln w="19050">
                <a:solidFill>
                  <a:srgbClr val="246BFE"/>
                </a:solidFill>
              </a:ln>
            </p:spPr>
          </p:sp>
          <p:sp>
            <p:nvSpPr>
              <p:cNvPr id="122" name="Freeform 122"/>
              <p:cNvSpPr/>
              <p:nvPr/>
            </p:nvSpPr>
            <p:spPr>
              <a:xfrm>
                <a:off x="6598444" y="5895181"/>
                <a:ext cx="157162" cy="24907"/>
              </a:xfrm>
              <a:custGeom>
                <a:avLst/>
                <a:gdLst/>
                <a:ahLst/>
                <a:cxnLst/>
                <a:rect l="l" t="t" r="r" b="b"/>
                <a:pathLst>
                  <a:path w="157162" h="24907">
                    <a:moveTo>
                      <a:pt x="0" y="0"/>
                    </a:moveTo>
                    <a:cubicBezTo>
                      <a:pt x="49427" y="24907"/>
                      <a:pt x="107735" y="24907"/>
                      <a:pt x="157162" y="0"/>
                    </a:cubicBezTo>
                  </a:path>
                </a:pathLst>
              </a:custGeom>
              <a:noFill/>
              <a:ln w="19050">
                <a:solidFill>
                  <a:srgbClr val="246BFE"/>
                </a:solidFill>
              </a:ln>
            </p:spPr>
          </p:sp>
        </p:grpSp>
        <p:sp>
          <p:nvSpPr>
            <p:cNvPr id="124" name="TextBox 124"/>
            <p:cNvSpPr txBox="1"/>
            <p:nvPr/>
          </p:nvSpPr>
          <p:spPr>
            <a:xfrm>
              <a:off x="6844665" y="5830252"/>
              <a:ext cx="155986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CRM/招聘/投标系统集成</a:t>
              </a:r>
              <a:endParaRPr lang="zh-CN" sz="1050" dirty="0">
                <a:solidFill>
                  <a:srgbClr val="25364A"/>
                </a:solidFill>
                <a:latin typeface="Arial" panose="020B0604020202020204"/>
                <a:ea typeface="微软雅黑" panose="020B0503020204020204" charset="-122"/>
                <a:cs typeface="Arial" panose="020B0604020202020204"/>
              </a:endParaRPr>
            </a:p>
          </p:txBody>
        </p:sp>
      </p:grpSp>
      <p:grpSp>
        <p:nvGrpSpPr>
          <p:cNvPr id="128" name="Group 128"/>
          <p:cNvGrpSpPr/>
          <p:nvPr/>
        </p:nvGrpSpPr>
        <p:grpSpPr>
          <a:xfrm>
            <a:off x="561022" y="6578441"/>
            <a:ext cx="11069955" cy="167640"/>
            <a:chOff x="561022" y="6578441"/>
            <a:chExt cx="11069955" cy="167640"/>
          </a:xfrm>
        </p:grpSpPr>
        <p:sp>
          <p:nvSpPr>
            <p:cNvPr id="126" name="TextBox 126"/>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27" name="TextBox 127"/>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06</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Bottom)">
                                      <p:cBhvr>
                                        <p:cTn id="7" dur="400"/>
                                        <p:tgtEl>
                                          <p:spTgt spid="1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slide(fromBottom)">
                                      <p:cBhvr>
                                        <p:cTn id="15" dur="400"/>
                                        <p:tgtEl>
                                          <p:spTgt spid="29"/>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slide(fromBottom)">
                                      <p:cBhvr>
                                        <p:cTn id="19" dur="400"/>
                                        <p:tgtEl>
                                          <p:spTgt spid="41"/>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slide(fromBottom)">
                                      <p:cBhvr>
                                        <p:cTn id="23" dur="400"/>
                                        <p:tgtEl>
                                          <p:spTgt spid="48"/>
                                        </p:tgtEl>
                                      </p:cBhvr>
                                    </p:animEffect>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slide(fromBottom)">
                                      <p:cBhvr>
                                        <p:cTn id="27" dur="400"/>
                                        <p:tgtEl>
                                          <p:spTgt spid="56"/>
                                        </p:tgtEl>
                                      </p:cBhvr>
                                    </p:animEffect>
                                  </p:childTnLst>
                                </p:cTn>
                              </p:par>
                            </p:childTnLst>
                          </p:cTn>
                        </p:par>
                        <p:par>
                          <p:cTn id="28" fill="hold">
                            <p:stCondLst>
                              <p:cond delay="3000"/>
                            </p:stCondLst>
                            <p:childTnLst>
                              <p:par>
                                <p:cTn id="29" presetID="2" presetClass="entr" presetSubtype="4"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slide(fromBottom)">
                                      <p:cBhvr>
                                        <p:cTn id="31" dur="400"/>
                                        <p:tgtEl>
                                          <p:spTgt spid="65"/>
                                        </p:tgtEl>
                                      </p:cBhvr>
                                    </p:animEffect>
                                  </p:childTnLst>
                                </p:cTn>
                              </p:par>
                            </p:childTnLst>
                          </p:cTn>
                        </p:par>
                        <p:par>
                          <p:cTn id="32" fill="hold">
                            <p:stCondLst>
                              <p:cond delay="3500"/>
                            </p:stCondLst>
                            <p:childTnLst>
                              <p:par>
                                <p:cTn id="33" presetID="2" presetClass="entr" presetSubtype="4" fill="hold"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slide(fromBottom)">
                                      <p:cBhvr>
                                        <p:cTn id="35" dur="400"/>
                                        <p:tgtEl>
                                          <p:spTgt spid="71"/>
                                        </p:tgtEl>
                                      </p:cBhvr>
                                    </p:animEffect>
                                  </p:childTnLst>
                                </p:cTn>
                              </p:par>
                            </p:childTnLst>
                          </p:cTn>
                        </p:par>
                        <p:par>
                          <p:cTn id="36" fill="hold">
                            <p:stCondLst>
                              <p:cond delay="4000"/>
                            </p:stCondLst>
                            <p:childTnLst>
                              <p:par>
                                <p:cTn id="37" presetID="2" presetClass="entr" presetSubtype="4" fill="hold"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slide(fromBottom)">
                                      <p:cBhvr>
                                        <p:cTn id="39"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p:bldP spid="29" grpId="0"/>
      <p:bldP spid="41" grpId="0"/>
      <p:bldP spid="48" grpId="0"/>
      <p:bldP spid="56" grpId="0"/>
      <p:bldP spid="65" grpId="0"/>
      <p:bldP spid="71" grpId="0"/>
      <p:bldP spid="1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2A5E"/>
                </a:gs>
                <a:gs pos="100000">
                  <a:srgbClr val="17365D"/>
                </a:gs>
              </a:gsLst>
              <a:lin ang="2700000" scaled="1"/>
            </a:gradFill>
            <a:ln>
              <a:noFill/>
            </a:ln>
          </p:spPr>
        </p:sp>
        <p:sp>
          <p:nvSpPr>
            <p:cNvPr id="3" name="Rectangle 3"/>
            <p:cNvSpPr/>
            <p:nvPr/>
          </p:nvSpPr>
          <p:spPr>
            <a:xfrm>
              <a:off x="0" y="0"/>
              <a:ext cx="12192000" cy="6858000"/>
            </a:xfrm>
            <a:prstGeom prst="rect">
              <a:avLst/>
            </a:prstGeom>
            <a:gradFill>
              <a:gsLst>
                <a:gs pos="0">
                  <a:srgbClr val="246BFE">
                    <a:alpha val="20000"/>
                  </a:srgbClr>
                </a:gs>
                <a:gs pos="100000">
                  <a:srgbClr val="246BFE">
                    <a:alpha val="0"/>
                  </a:srgbClr>
                </a:gs>
              </a:gsLst>
              <a:path path="circle">
                <a:fillToRect l="50000" t="50000" r="50000" b="50000"/>
              </a:path>
            </a:gradFill>
            <a:ln>
              <a:noFill/>
            </a:ln>
          </p:spPr>
        </p:sp>
      </p:grpSp>
      <p:grpSp>
        <p:nvGrpSpPr>
          <p:cNvPr id="9" name="Group 9"/>
          <p:cNvGrpSpPr/>
          <p:nvPr/>
        </p:nvGrpSpPr>
        <p:grpSpPr>
          <a:xfrm>
            <a:off x="1866900" y="1381125"/>
            <a:ext cx="8734425" cy="3990975"/>
            <a:chOff x="1866900" y="1381125"/>
            <a:chExt cx="8734425" cy="3990975"/>
          </a:xfrm>
        </p:grpSpPr>
        <p:sp>
          <p:nvSpPr>
            <p:cNvPr id="5" name="Ellipse 5"/>
            <p:cNvSpPr/>
            <p:nvPr/>
          </p:nvSpPr>
          <p:spPr>
            <a:xfrm>
              <a:off x="9953625" y="1381125"/>
              <a:ext cx="95250" cy="95250"/>
            </a:xfrm>
            <a:prstGeom prst="ellipse">
              <a:avLst/>
            </a:prstGeom>
            <a:solidFill>
              <a:srgbClr val="518FEC">
                <a:alpha val="25000"/>
              </a:srgbClr>
            </a:solidFill>
            <a:ln>
              <a:noFill/>
            </a:ln>
          </p:spPr>
        </p:sp>
        <p:sp>
          <p:nvSpPr>
            <p:cNvPr id="6" name="Ellipse 6"/>
            <p:cNvSpPr/>
            <p:nvPr/>
          </p:nvSpPr>
          <p:spPr>
            <a:xfrm>
              <a:off x="10544175" y="1971675"/>
              <a:ext cx="57150" cy="57150"/>
            </a:xfrm>
            <a:prstGeom prst="ellipse">
              <a:avLst/>
            </a:prstGeom>
            <a:solidFill>
              <a:srgbClr val="246BFE">
                <a:alpha val="30000"/>
              </a:srgbClr>
            </a:solidFill>
            <a:ln>
              <a:noFill/>
            </a:ln>
          </p:spPr>
        </p:sp>
        <p:sp>
          <p:nvSpPr>
            <p:cNvPr id="7" name="Ellipse 7"/>
            <p:cNvSpPr/>
            <p:nvPr/>
          </p:nvSpPr>
          <p:spPr>
            <a:xfrm>
              <a:off x="9405938" y="2166938"/>
              <a:ext cx="47625" cy="47625"/>
            </a:xfrm>
            <a:prstGeom prst="ellipse">
              <a:avLst/>
            </a:prstGeom>
            <a:solidFill>
              <a:srgbClr val="518FEC">
                <a:alpha val="20000"/>
              </a:srgbClr>
            </a:solidFill>
            <a:ln>
              <a:noFill/>
            </a:ln>
          </p:spPr>
        </p:sp>
        <p:sp>
          <p:nvSpPr>
            <p:cNvPr id="8" name="Ellipse 8"/>
            <p:cNvSpPr/>
            <p:nvPr/>
          </p:nvSpPr>
          <p:spPr>
            <a:xfrm>
              <a:off x="1866900" y="5295900"/>
              <a:ext cx="76200" cy="76200"/>
            </a:xfrm>
            <a:prstGeom prst="ellipse">
              <a:avLst/>
            </a:prstGeom>
            <a:solidFill>
              <a:srgbClr val="518FEC">
                <a:alpha val="18000"/>
              </a:srgbClr>
            </a:solidFill>
            <a:ln>
              <a:noFill/>
            </a:ln>
          </p:spPr>
        </p:sp>
      </p:grpSp>
      <p:grpSp>
        <p:nvGrpSpPr>
          <p:cNvPr id="11" name="Group 11"/>
          <p:cNvGrpSpPr/>
          <p:nvPr/>
        </p:nvGrpSpPr>
        <p:grpSpPr>
          <a:xfrm>
            <a:off x="647700" y="1838325"/>
            <a:ext cx="2960418" cy="3352800"/>
            <a:chOff x="647700" y="1838325"/>
            <a:chExt cx="2960418" cy="3352800"/>
          </a:xfrm>
        </p:grpSpPr>
        <p:sp>
          <p:nvSpPr>
            <p:cNvPr id="10" name="TextBox 10"/>
            <p:cNvSpPr txBox="1"/>
            <p:nvPr/>
          </p:nvSpPr>
          <p:spPr>
            <a:xfrm>
              <a:off x="647700" y="1838325"/>
              <a:ext cx="2960418" cy="3352800"/>
            </a:xfrm>
            <a:prstGeom prst="rect">
              <a:avLst/>
            </a:prstGeom>
            <a:noFill/>
            <a:ln>
              <a:noFill/>
            </a:ln>
          </p:spPr>
          <p:txBody>
            <a:bodyPr wrap="none" lIns="0" tIns="0" rIns="0" bIns="0" anchor="t" anchorCtr="0">
              <a:spAutoFit/>
            </a:bodyPr>
            <a:lstStyle/>
            <a:p>
              <a:pPr algn="l"/>
              <a:r>
                <a:rPr lang="zh-CN" sz="16500" b="1" dirty="0">
                  <a:solidFill>
                    <a:srgbClr val="246BFE">
                      <a:alphaMod val="22000"/>
                    </a:srgbClr>
                  </a:solidFill>
                  <a:latin typeface="Arial" panose="020B0604020202020204"/>
                  <a:ea typeface="微软雅黑" panose="020B0503020204020204" charset="-122"/>
                  <a:cs typeface="Arial" panose="020B0604020202020204"/>
                </a:rPr>
                <a:t>02</a:t>
              </a:r>
              <a:endParaRPr lang="zh-CN" sz="16500" b="1" dirty="0">
                <a:solidFill>
                  <a:srgbClr val="246BFE">
                    <a:alphaMod val="22000"/>
                  </a:srgbClr>
                </a:solidFill>
                <a:latin typeface="Arial" panose="020B0604020202020204"/>
                <a:ea typeface="微软雅黑" panose="020B0503020204020204" charset="-122"/>
                <a:cs typeface="Arial" panose="020B0604020202020204"/>
              </a:endParaRPr>
            </a:p>
          </p:txBody>
        </p:sp>
      </p:grpSp>
      <p:grpSp>
        <p:nvGrpSpPr>
          <p:cNvPr id="16" name="Group 16"/>
          <p:cNvGrpSpPr/>
          <p:nvPr/>
        </p:nvGrpSpPr>
        <p:grpSpPr>
          <a:xfrm>
            <a:off x="819150" y="2762250"/>
            <a:ext cx="2857500" cy="1809750"/>
            <a:chOff x="819150" y="2762250"/>
            <a:chExt cx="2857500" cy="1809750"/>
          </a:xfrm>
        </p:grpSpPr>
        <p:sp>
          <p:nvSpPr>
            <p:cNvPr id="12" name="Rectangle 12"/>
            <p:cNvSpPr/>
            <p:nvPr/>
          </p:nvSpPr>
          <p:spPr>
            <a:xfrm>
              <a:off x="857250" y="2762250"/>
              <a:ext cx="685800" cy="57150"/>
            </a:xfrm>
            <a:prstGeom prst="roundRect">
              <a:avLst>
                <a:gd name="adj" fmla="val 50000"/>
              </a:avLst>
            </a:prstGeom>
            <a:solidFill>
              <a:srgbClr val="518FEC"/>
            </a:solidFill>
            <a:ln>
              <a:noFill/>
            </a:ln>
          </p:spPr>
        </p:sp>
        <p:sp>
          <p:nvSpPr>
            <p:cNvPr id="13" name="TextBox 13"/>
            <p:cNvSpPr txBox="1"/>
            <p:nvPr/>
          </p:nvSpPr>
          <p:spPr>
            <a:xfrm>
              <a:off x="838200" y="3124200"/>
              <a:ext cx="1140738" cy="304800"/>
            </a:xfrm>
            <a:prstGeom prst="rect">
              <a:avLst/>
            </a:prstGeom>
            <a:noFill/>
            <a:ln>
              <a:noFill/>
            </a:ln>
          </p:spPr>
          <p:txBody>
            <a:bodyPr wrap="none" lIns="0" tIns="0" rIns="0" bIns="0" anchor="t" anchorCtr="0">
              <a:spAutoFit/>
            </a:bodyPr>
            <a:lstStyle/>
            <a:p>
              <a:pPr algn="l"/>
              <a:r>
                <a:rPr lang="zh-CN" sz="1500" b="1" dirty="0">
                  <a:solidFill>
                    <a:srgbClr val="518FEC"/>
                  </a:solidFill>
                  <a:latin typeface="Arial" panose="020B0604020202020204"/>
                  <a:ea typeface="微软雅黑" panose="020B0503020204020204" charset="-122"/>
                  <a:cs typeface="Arial" panose="020B0604020202020204"/>
                </a:rPr>
                <a:t>CHAPTER 02</a:t>
              </a:r>
              <a:endParaRPr lang="zh-CN" sz="1500" b="1" dirty="0">
                <a:solidFill>
                  <a:srgbClr val="518FEC"/>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819150" y="3629025"/>
              <a:ext cx="2596515"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panose="020B0604020202020204"/>
                  <a:ea typeface="微软雅黑" panose="020B0503020204020204" charset="-122"/>
                  <a:cs typeface="Arial" panose="020B0604020202020204"/>
                </a:rPr>
                <a:t>总体方案架构</a:t>
              </a:r>
              <a:endParaRPr lang="zh-CN" sz="3000" b="1" dirty="0">
                <a:solidFill>
                  <a:srgbClr val="FFFFFF"/>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838200" y="4267200"/>
              <a:ext cx="2838450" cy="304800"/>
            </a:xfrm>
            <a:prstGeom prst="rect">
              <a:avLst/>
            </a:prstGeom>
            <a:noFill/>
            <a:ln>
              <a:noFill/>
            </a:ln>
          </p:spPr>
          <p:txBody>
            <a:bodyPr wrap="none" lIns="0" tIns="0" rIns="0" bIns="0" anchor="t" anchorCtr="0">
              <a:spAutoFit/>
            </a:bodyPr>
            <a:lstStyle/>
            <a:p>
              <a:pPr algn="l"/>
              <a:r>
                <a:rPr lang="zh-CN" sz="1500" dirty="0">
                  <a:solidFill>
                    <a:srgbClr val="B8C7E0"/>
                  </a:solidFill>
                  <a:latin typeface="Arial" panose="020B0604020202020204"/>
                  <a:ea typeface="微软雅黑" panose="020B0503020204020204" charset="-122"/>
                  <a:cs typeface="Arial" panose="020B0604020202020204"/>
                </a:rPr>
                <a:t>一个平台、四大场景、一个闭环</a:t>
              </a:r>
              <a:endParaRPr lang="zh-CN" sz="1500" dirty="0">
                <a:solidFill>
                  <a:srgbClr val="B8C7E0"/>
                </a:solidFill>
                <a:latin typeface="Arial" panose="020B0604020202020204"/>
                <a:ea typeface="微软雅黑" panose="020B0503020204020204" charset="-122"/>
                <a:cs typeface="Arial" panose="020B0604020202020204"/>
              </a:endParaRPr>
            </a:p>
          </p:txBody>
        </p:sp>
      </p:grpSp>
      <p:grpSp>
        <p:nvGrpSpPr>
          <p:cNvPr id="19" name="Group 19"/>
          <p:cNvGrpSpPr/>
          <p:nvPr/>
        </p:nvGrpSpPr>
        <p:grpSpPr>
          <a:xfrm>
            <a:off x="844868" y="5905500"/>
            <a:ext cx="2742105" cy="426244"/>
            <a:chOff x="844868" y="5905500"/>
            <a:chExt cx="2742105" cy="426244"/>
          </a:xfrm>
        </p:grpSpPr>
        <p:sp>
          <p:nvSpPr>
            <p:cNvPr id="17" name="Line 17"/>
            <p:cNvSpPr/>
            <p:nvPr/>
          </p:nvSpPr>
          <p:spPr>
            <a:xfrm>
              <a:off x="857250" y="5905500"/>
              <a:ext cx="857250" cy="9525"/>
            </a:xfrm>
            <a:custGeom>
              <a:avLst/>
              <a:gdLst/>
              <a:ahLst/>
              <a:cxnLst/>
              <a:rect l="l" t="t" r="r" b="b"/>
              <a:pathLst>
                <a:path w="857250" h="9525">
                  <a:moveTo>
                    <a:pt x="0" y="0"/>
                  </a:moveTo>
                  <a:lnTo>
                    <a:pt x="857250" y="0"/>
                  </a:lnTo>
                </a:path>
              </a:pathLst>
            </a:custGeom>
            <a:noFill/>
            <a:ln w="19050">
              <a:solidFill>
                <a:srgbClr val="518FEC"/>
              </a:solidFill>
            </a:ln>
          </p:spPr>
        </p:sp>
        <p:sp>
          <p:nvSpPr>
            <p:cNvPr id="18" name="TextBox 18"/>
            <p:cNvSpPr txBox="1"/>
            <p:nvPr/>
          </p:nvSpPr>
          <p:spPr>
            <a:xfrm>
              <a:off x="844868" y="6133624"/>
              <a:ext cx="2742105"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FarAI × Colliers · 商业地产 AI 智能化解决方案</a:t>
              </a:r>
              <a:endParaRPr lang="zh-CN" sz="975" dirty="0">
                <a:solidFill>
                  <a:srgbClr val="8FA3C4"/>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6436697" cy="970598"/>
            <a:chOff x="542925" y="553402"/>
            <a:chExt cx="6436697" cy="970598"/>
          </a:xfrm>
        </p:grpSpPr>
        <p:sp>
          <p:nvSpPr>
            <p:cNvPr id="5" name="TextBox 5"/>
            <p:cNvSpPr txBox="1"/>
            <p:nvPr/>
          </p:nvSpPr>
          <p:spPr>
            <a:xfrm>
              <a:off x="558165" y="553402"/>
              <a:ext cx="820569"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02 总体方案</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6436697"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总体架构 — FarAI 底座 × 四大场景 × 系统集成</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6375273"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以 FarAgent 平台为统一底座,向上承载四大场景,向下集成客户现有系统,形成端到端能力</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35" name="Group 35"/>
          <p:cNvGrpSpPr/>
          <p:nvPr/>
        </p:nvGrpSpPr>
        <p:grpSpPr>
          <a:xfrm>
            <a:off x="559118" y="1723549"/>
            <a:ext cx="11061382" cy="819626"/>
            <a:chOff x="559118" y="1723549"/>
            <a:chExt cx="11061382" cy="819626"/>
          </a:xfrm>
        </p:grpSpPr>
        <p:sp>
          <p:nvSpPr>
            <p:cNvPr id="9" name="TextBox 9"/>
            <p:cNvSpPr txBox="1"/>
            <p:nvPr/>
          </p:nvSpPr>
          <p:spPr>
            <a:xfrm>
              <a:off x="559118" y="1723549"/>
              <a:ext cx="1376284" cy="198120"/>
            </a:xfrm>
            <a:prstGeom prst="rect">
              <a:avLst/>
            </a:prstGeom>
            <a:noFill/>
            <a:ln>
              <a:noFill/>
            </a:ln>
          </p:spPr>
          <p:txBody>
            <a:bodyPr wrap="none" lIns="0" tIns="0" rIns="0" bIns="0" anchor="t" anchorCtr="0">
              <a:spAutoFit/>
            </a:bodyPr>
            <a:lstStyle/>
            <a:p>
              <a:pPr algn="l"/>
              <a:r>
                <a:rPr lang="zh-CN" sz="975" b="1" dirty="0">
                  <a:solidFill>
                    <a:srgbClr val="518FEC"/>
                  </a:solidFill>
                  <a:latin typeface="Arial" panose="020B0604020202020204"/>
                  <a:ea typeface="微软雅黑" panose="020B0503020204020204" charset="-122"/>
                  <a:cs typeface="Arial" panose="020B0604020202020204"/>
                </a:rPr>
                <a:t>集成层 · INTEGRATION</a:t>
              </a:r>
              <a:endParaRPr lang="zh-CN" sz="975" b="1" dirty="0">
                <a:solidFill>
                  <a:srgbClr val="518FEC"/>
                </a:solidFill>
                <a:latin typeface="Arial" panose="020B0604020202020204"/>
                <a:ea typeface="微软雅黑" panose="020B0503020204020204" charset="-122"/>
                <a:cs typeface="Arial" panose="020B0604020202020204"/>
              </a:endParaRPr>
            </a:p>
          </p:txBody>
        </p:sp>
        <p:sp>
          <p:nvSpPr>
            <p:cNvPr id="10" name="Rectangle 10"/>
            <p:cNvSpPr/>
            <p:nvPr/>
          </p:nvSpPr>
          <p:spPr>
            <a:xfrm>
              <a:off x="571500" y="1952625"/>
              <a:ext cx="11049000" cy="590550"/>
            </a:xfrm>
            <a:prstGeom prst="roundRect">
              <a:avLst>
                <a:gd name="adj" fmla="val 16129"/>
              </a:avLst>
            </a:prstGeom>
            <a:solidFill>
              <a:srgbClr val="F4F7FC"/>
            </a:solidFill>
            <a:ln w="14288">
              <a:solidFill>
                <a:srgbClr val="518FEC"/>
              </a:solidFill>
              <a:custDash>
                <a:ds d="400000" sp="266666"/>
              </a:custDash>
            </a:ln>
          </p:spPr>
        </p:sp>
        <p:grpSp>
          <p:nvGrpSpPr>
            <p:cNvPr id="15" name="Group 15"/>
            <p:cNvGrpSpPr/>
            <p:nvPr/>
          </p:nvGrpSpPr>
          <p:grpSpPr>
            <a:xfrm>
              <a:off x="1366838" y="2157412"/>
              <a:ext cx="200025" cy="188913"/>
              <a:chOff x="1366838" y="2157412"/>
              <a:chExt cx="200025" cy="188913"/>
            </a:xfrm>
          </p:grpSpPr>
          <p:sp>
            <p:nvSpPr>
              <p:cNvPr id="11" name="Freeform 11"/>
              <p:cNvSpPr/>
              <p:nvPr/>
            </p:nvSpPr>
            <p:spPr>
              <a:xfrm>
                <a:off x="1366838" y="2201862"/>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518FEC"/>
                </a:solidFill>
              </a:ln>
            </p:spPr>
          </p:sp>
          <p:sp>
            <p:nvSpPr>
              <p:cNvPr id="12" name="Freeform 12"/>
              <p:cNvSpPr/>
              <p:nvPr/>
            </p:nvSpPr>
            <p:spPr>
              <a:xfrm>
                <a:off x="1422400" y="2157412"/>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518FEC"/>
                </a:solidFill>
              </a:ln>
            </p:spPr>
          </p:sp>
          <p:sp>
            <p:nvSpPr>
              <p:cNvPr id="13" name="Freeform 13"/>
              <p:cNvSpPr/>
              <p:nvPr/>
            </p:nvSpPr>
            <p:spPr>
              <a:xfrm>
                <a:off x="1466850" y="2257425"/>
                <a:ext cx="9525" cy="9525"/>
              </a:xfrm>
              <a:custGeom>
                <a:avLst/>
                <a:gdLst/>
                <a:ahLst/>
                <a:cxnLst/>
                <a:rect l="l" t="t" r="r" b="b"/>
                <a:pathLst>
                  <a:path w="9525" h="9525">
                    <a:moveTo>
                      <a:pt x="0" y="0"/>
                    </a:moveTo>
                    <a:lnTo>
                      <a:pt x="0" y="111"/>
                    </a:lnTo>
                  </a:path>
                </a:pathLst>
              </a:custGeom>
              <a:noFill/>
              <a:ln w="19050">
                <a:solidFill>
                  <a:srgbClr val="518FEC"/>
                </a:solidFill>
              </a:ln>
            </p:spPr>
          </p:sp>
          <p:sp>
            <p:nvSpPr>
              <p:cNvPr id="14" name="Freeform 14"/>
              <p:cNvSpPr/>
              <p:nvPr/>
            </p:nvSpPr>
            <p:spPr>
              <a:xfrm>
                <a:off x="1366838" y="2268538"/>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518FEC"/>
                </a:solidFill>
              </a:ln>
            </p:spPr>
          </p:sp>
        </p:grpSp>
        <p:sp>
          <p:nvSpPr>
            <p:cNvPr id="16" name="TextBox 16"/>
            <p:cNvSpPr txBox="1"/>
            <p:nvPr/>
          </p:nvSpPr>
          <p:spPr>
            <a:xfrm>
              <a:off x="1681162" y="2193131"/>
              <a:ext cx="682282" cy="228600"/>
            </a:xfrm>
            <a:prstGeom prst="rect">
              <a:avLst/>
            </a:prstGeom>
            <a:noFill/>
            <a:ln>
              <a:noFill/>
            </a:ln>
          </p:spPr>
          <p:txBody>
            <a:bodyPr wrap="none" lIns="0" tIns="0" rIns="0" bIns="0" anchor="t" anchorCtr="0">
              <a:spAutoFit/>
            </a:bodyPr>
            <a:lstStyle/>
            <a:p>
              <a:pPr algn="l"/>
              <a:r>
                <a:rPr lang="zh-CN" sz="1125" b="1" dirty="0">
                  <a:solidFill>
                    <a:srgbClr val="17365D"/>
                  </a:solidFill>
                  <a:latin typeface="Arial" panose="020B0604020202020204"/>
                  <a:ea typeface="微软雅黑" panose="020B0503020204020204" charset="-122"/>
                  <a:cs typeface="Arial" panose="020B0604020202020204"/>
                </a:rPr>
                <a:t>CRM 系统</a:t>
              </a:r>
              <a:endParaRPr lang="zh-CN" sz="1125" b="1" dirty="0">
                <a:solidFill>
                  <a:srgbClr val="17365D"/>
                </a:solidFill>
                <a:latin typeface="Arial" panose="020B0604020202020204"/>
                <a:ea typeface="微软雅黑" panose="020B0503020204020204" charset="-122"/>
                <a:cs typeface="Arial" panose="020B0604020202020204"/>
              </a:endParaRPr>
            </a:p>
          </p:txBody>
        </p:sp>
        <p:grpSp>
          <p:nvGrpSpPr>
            <p:cNvPr id="21" name="Group 21"/>
            <p:cNvGrpSpPr/>
            <p:nvPr/>
          </p:nvGrpSpPr>
          <p:grpSpPr>
            <a:xfrm>
              <a:off x="3557588" y="2157412"/>
              <a:ext cx="200025" cy="200025"/>
              <a:chOff x="3557588" y="2157412"/>
              <a:chExt cx="200025" cy="200025"/>
            </a:xfrm>
          </p:grpSpPr>
          <p:sp>
            <p:nvSpPr>
              <p:cNvPr id="17" name="Freeform 17"/>
              <p:cNvSpPr/>
              <p:nvPr/>
            </p:nvSpPr>
            <p:spPr>
              <a:xfrm>
                <a:off x="3579812" y="2157412"/>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19050">
                <a:solidFill>
                  <a:srgbClr val="518FEC"/>
                </a:solidFill>
              </a:ln>
            </p:spPr>
          </p:sp>
          <p:sp>
            <p:nvSpPr>
              <p:cNvPr id="18" name="Freeform 18"/>
              <p:cNvSpPr/>
              <p:nvPr/>
            </p:nvSpPr>
            <p:spPr>
              <a:xfrm>
                <a:off x="3557588" y="2290762"/>
                <a:ext cx="133350" cy="66675"/>
              </a:xfrm>
              <a:custGeom>
                <a:avLst/>
                <a:gdLst/>
                <a:ahLst/>
                <a:cxnLst/>
                <a:rect l="l" t="t" r="r" b="b"/>
                <a:pathLst>
                  <a:path w="133350" h="66675">
                    <a:moveTo>
                      <a:pt x="0" y="66675"/>
                    </a:moveTo>
                    <a:lnTo>
                      <a:pt x="0" y="44450"/>
                    </a:lnTo>
                    <a:cubicBezTo>
                      <a:pt x="0" y="19901"/>
                      <a:pt x="19901" y="0"/>
                      <a:pt x="44450" y="0"/>
                    </a:cubicBezTo>
                    <a:lnTo>
                      <a:pt x="88900" y="0"/>
                    </a:lnTo>
                    <a:cubicBezTo>
                      <a:pt x="113449" y="0"/>
                      <a:pt x="133350" y="19901"/>
                      <a:pt x="133350" y="44450"/>
                    </a:cubicBezTo>
                    <a:lnTo>
                      <a:pt x="133350" y="66675"/>
                    </a:lnTo>
                  </a:path>
                </a:pathLst>
              </a:custGeom>
              <a:noFill/>
              <a:ln w="19050">
                <a:solidFill>
                  <a:srgbClr val="518FEC"/>
                </a:solidFill>
              </a:ln>
            </p:spPr>
          </p:sp>
          <p:sp>
            <p:nvSpPr>
              <p:cNvPr id="19" name="Freeform 19"/>
              <p:cNvSpPr/>
              <p:nvPr/>
            </p:nvSpPr>
            <p:spPr>
              <a:xfrm>
                <a:off x="3702050" y="2158857"/>
                <a:ext cx="33425" cy="86122"/>
              </a:xfrm>
              <a:custGeom>
                <a:avLst/>
                <a:gdLst/>
                <a:ahLst/>
                <a:cxnLst/>
                <a:rect l="l" t="t" r="r" b="b"/>
                <a:pathLst>
                  <a:path w="33425" h="86122">
                    <a:moveTo>
                      <a:pt x="0" y="0"/>
                    </a:moveTo>
                    <a:cubicBezTo>
                      <a:pt x="19668" y="5036"/>
                      <a:pt x="33425" y="22758"/>
                      <a:pt x="33425" y="43061"/>
                    </a:cubicBezTo>
                    <a:cubicBezTo>
                      <a:pt x="33425" y="63364"/>
                      <a:pt x="19668" y="81086"/>
                      <a:pt x="0" y="86122"/>
                    </a:cubicBezTo>
                  </a:path>
                </a:pathLst>
              </a:custGeom>
              <a:noFill/>
              <a:ln w="19050">
                <a:solidFill>
                  <a:srgbClr val="518FEC"/>
                </a:solidFill>
              </a:ln>
            </p:spPr>
          </p:sp>
          <p:sp>
            <p:nvSpPr>
              <p:cNvPr id="20" name="Freeform 20"/>
              <p:cNvSpPr/>
              <p:nvPr/>
            </p:nvSpPr>
            <p:spPr>
              <a:xfrm>
                <a:off x="3724275" y="2292429"/>
                <a:ext cx="33338" cy="65008"/>
              </a:xfrm>
              <a:custGeom>
                <a:avLst/>
                <a:gdLst/>
                <a:ahLst/>
                <a:cxnLst/>
                <a:rect l="l" t="t" r="r" b="b"/>
                <a:pathLst>
                  <a:path w="33338" h="65008">
                    <a:moveTo>
                      <a:pt x="33338" y="65008"/>
                    </a:moveTo>
                    <a:lnTo>
                      <a:pt x="33338" y="42783"/>
                    </a:lnTo>
                    <a:cubicBezTo>
                      <a:pt x="33221" y="22609"/>
                      <a:pt x="19534" y="5043"/>
                      <a:pt x="0" y="0"/>
                    </a:cubicBezTo>
                  </a:path>
                </a:pathLst>
              </a:custGeom>
              <a:noFill/>
              <a:ln w="19050">
                <a:solidFill>
                  <a:srgbClr val="518FEC"/>
                </a:solidFill>
              </a:ln>
            </p:spPr>
          </p:sp>
        </p:grpSp>
        <p:sp>
          <p:nvSpPr>
            <p:cNvPr id="22" name="TextBox 22"/>
            <p:cNvSpPr txBox="1"/>
            <p:nvPr/>
          </p:nvSpPr>
          <p:spPr>
            <a:xfrm>
              <a:off x="3871912" y="2193131"/>
              <a:ext cx="658654" cy="228600"/>
            </a:xfrm>
            <a:prstGeom prst="rect">
              <a:avLst/>
            </a:prstGeom>
            <a:noFill/>
            <a:ln>
              <a:noFill/>
            </a:ln>
          </p:spPr>
          <p:txBody>
            <a:bodyPr wrap="none" lIns="0" tIns="0" rIns="0" bIns="0" anchor="t" anchorCtr="0">
              <a:spAutoFit/>
            </a:bodyPr>
            <a:lstStyle/>
            <a:p>
              <a:pPr algn="l"/>
              <a:r>
                <a:rPr lang="zh-CN" sz="1125" b="1" dirty="0">
                  <a:solidFill>
                    <a:srgbClr val="17365D"/>
                  </a:solidFill>
                  <a:latin typeface="Arial" panose="020B0604020202020204"/>
                  <a:ea typeface="微软雅黑" panose="020B0503020204020204" charset="-122"/>
                  <a:cs typeface="Arial" panose="020B0604020202020204"/>
                </a:rPr>
                <a:t>招聘系统</a:t>
              </a:r>
              <a:endParaRPr lang="zh-CN" sz="1125" b="1" dirty="0">
                <a:solidFill>
                  <a:srgbClr val="17365D"/>
                </a:solidFill>
                <a:latin typeface="Arial" panose="020B0604020202020204"/>
                <a:ea typeface="微软雅黑" panose="020B0503020204020204" charset="-122"/>
                <a:cs typeface="Arial" panose="020B0604020202020204"/>
              </a:endParaRPr>
            </a:p>
          </p:txBody>
        </p:sp>
        <p:grpSp>
          <p:nvGrpSpPr>
            <p:cNvPr id="28" name="Group 28"/>
            <p:cNvGrpSpPr/>
            <p:nvPr/>
          </p:nvGrpSpPr>
          <p:grpSpPr>
            <a:xfrm>
              <a:off x="5770562" y="2157412"/>
              <a:ext cx="155575" cy="200025"/>
              <a:chOff x="5770562" y="2157412"/>
              <a:chExt cx="155575" cy="200025"/>
            </a:xfrm>
          </p:grpSpPr>
          <p:sp>
            <p:nvSpPr>
              <p:cNvPr id="23" name="Freeform 23"/>
              <p:cNvSpPr/>
              <p:nvPr/>
            </p:nvSpPr>
            <p:spPr>
              <a:xfrm>
                <a:off x="5870575" y="2157412"/>
                <a:ext cx="55562" cy="55563"/>
              </a:xfrm>
              <a:custGeom>
                <a:avLst/>
                <a:gdLst/>
                <a:ahLst/>
                <a:cxnLst/>
                <a:rect l="l" t="t" r="r" b="b"/>
                <a:pathLst>
                  <a:path w="55562" h="55563">
                    <a:moveTo>
                      <a:pt x="0" y="0"/>
                    </a:moveTo>
                    <a:lnTo>
                      <a:pt x="0" y="44450"/>
                    </a:lnTo>
                    <a:cubicBezTo>
                      <a:pt x="0" y="50587"/>
                      <a:pt x="4975" y="55563"/>
                      <a:pt x="11112" y="55563"/>
                    </a:cubicBezTo>
                    <a:lnTo>
                      <a:pt x="55562" y="55563"/>
                    </a:lnTo>
                  </a:path>
                </a:pathLst>
              </a:custGeom>
              <a:noFill/>
              <a:ln w="19050">
                <a:solidFill>
                  <a:srgbClr val="518FEC"/>
                </a:solidFill>
              </a:ln>
            </p:spPr>
          </p:sp>
          <p:sp>
            <p:nvSpPr>
              <p:cNvPr id="24" name="Freeform 24"/>
              <p:cNvSpPr/>
              <p:nvPr/>
            </p:nvSpPr>
            <p:spPr>
              <a:xfrm>
                <a:off x="5770562" y="2157412"/>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2" y="0"/>
                    </a:lnTo>
                    <a:lnTo>
                      <a:pt x="155575" y="55563"/>
                    </a:lnTo>
                    <a:lnTo>
                      <a:pt x="155575" y="177800"/>
                    </a:lnTo>
                    <a:cubicBezTo>
                      <a:pt x="155575" y="190075"/>
                      <a:pt x="145625" y="200025"/>
                      <a:pt x="133350" y="200025"/>
                    </a:cubicBezTo>
                  </a:path>
                </a:pathLst>
              </a:custGeom>
              <a:noFill/>
              <a:ln w="19050">
                <a:solidFill>
                  <a:srgbClr val="518FEC"/>
                </a:solidFill>
              </a:ln>
            </p:spPr>
          </p:sp>
          <p:sp>
            <p:nvSpPr>
              <p:cNvPr id="25" name="Freeform 25"/>
              <p:cNvSpPr/>
              <p:nvPr/>
            </p:nvSpPr>
            <p:spPr>
              <a:xfrm>
                <a:off x="5815012" y="2224088"/>
                <a:ext cx="11112" cy="9525"/>
              </a:xfrm>
              <a:custGeom>
                <a:avLst/>
                <a:gdLst/>
                <a:ahLst/>
                <a:cxnLst/>
                <a:rect l="l" t="t" r="r" b="b"/>
                <a:pathLst>
                  <a:path w="11112" h="9525">
                    <a:moveTo>
                      <a:pt x="0" y="0"/>
                    </a:moveTo>
                    <a:lnTo>
                      <a:pt x="11112" y="0"/>
                    </a:lnTo>
                  </a:path>
                </a:pathLst>
              </a:custGeom>
              <a:noFill/>
              <a:ln w="19050">
                <a:solidFill>
                  <a:srgbClr val="518FEC"/>
                </a:solidFill>
              </a:ln>
            </p:spPr>
          </p:sp>
          <p:sp>
            <p:nvSpPr>
              <p:cNvPr id="26" name="Freeform 26"/>
              <p:cNvSpPr/>
              <p:nvPr/>
            </p:nvSpPr>
            <p:spPr>
              <a:xfrm>
                <a:off x="5815012" y="2268538"/>
                <a:ext cx="66675" cy="9525"/>
              </a:xfrm>
              <a:custGeom>
                <a:avLst/>
                <a:gdLst/>
                <a:ahLst/>
                <a:cxnLst/>
                <a:rect l="l" t="t" r="r" b="b"/>
                <a:pathLst>
                  <a:path w="66675" h="9525">
                    <a:moveTo>
                      <a:pt x="0" y="0"/>
                    </a:moveTo>
                    <a:lnTo>
                      <a:pt x="66675" y="0"/>
                    </a:lnTo>
                  </a:path>
                </a:pathLst>
              </a:custGeom>
              <a:noFill/>
              <a:ln w="19050">
                <a:solidFill>
                  <a:srgbClr val="518FEC"/>
                </a:solidFill>
              </a:ln>
            </p:spPr>
          </p:sp>
          <p:sp>
            <p:nvSpPr>
              <p:cNvPr id="27" name="Freeform 27"/>
              <p:cNvSpPr/>
              <p:nvPr/>
            </p:nvSpPr>
            <p:spPr>
              <a:xfrm>
                <a:off x="5815012" y="2312988"/>
                <a:ext cx="66675" cy="9525"/>
              </a:xfrm>
              <a:custGeom>
                <a:avLst/>
                <a:gdLst/>
                <a:ahLst/>
                <a:cxnLst/>
                <a:rect l="l" t="t" r="r" b="b"/>
                <a:pathLst>
                  <a:path w="66675" h="9525">
                    <a:moveTo>
                      <a:pt x="0" y="0"/>
                    </a:moveTo>
                    <a:lnTo>
                      <a:pt x="66675" y="0"/>
                    </a:lnTo>
                  </a:path>
                </a:pathLst>
              </a:custGeom>
              <a:noFill/>
              <a:ln w="19050">
                <a:solidFill>
                  <a:srgbClr val="518FEC"/>
                </a:solidFill>
              </a:ln>
            </p:spPr>
          </p:sp>
        </p:grpSp>
        <p:sp>
          <p:nvSpPr>
            <p:cNvPr id="29" name="TextBox 29"/>
            <p:cNvSpPr txBox="1"/>
            <p:nvPr/>
          </p:nvSpPr>
          <p:spPr>
            <a:xfrm>
              <a:off x="6062662" y="2193131"/>
              <a:ext cx="658654" cy="228600"/>
            </a:xfrm>
            <a:prstGeom prst="rect">
              <a:avLst/>
            </a:prstGeom>
            <a:noFill/>
            <a:ln>
              <a:noFill/>
            </a:ln>
          </p:spPr>
          <p:txBody>
            <a:bodyPr wrap="none" lIns="0" tIns="0" rIns="0" bIns="0" anchor="t" anchorCtr="0">
              <a:spAutoFit/>
            </a:bodyPr>
            <a:lstStyle/>
            <a:p>
              <a:pPr algn="l"/>
              <a:r>
                <a:rPr lang="zh-CN" sz="1125" b="1" dirty="0">
                  <a:solidFill>
                    <a:srgbClr val="17365D"/>
                  </a:solidFill>
                  <a:latin typeface="Arial" panose="020B0604020202020204"/>
                  <a:ea typeface="微软雅黑" panose="020B0503020204020204" charset="-122"/>
                  <a:cs typeface="Arial" panose="020B0604020202020204"/>
                </a:rPr>
                <a:t>投标系统</a:t>
              </a:r>
              <a:endParaRPr lang="zh-CN" sz="1125" b="1" dirty="0">
                <a:solidFill>
                  <a:srgbClr val="17365D"/>
                </a:solidFill>
                <a:latin typeface="Arial" panose="020B0604020202020204"/>
                <a:ea typeface="微软雅黑" panose="020B0503020204020204" charset="-122"/>
                <a:cs typeface="Arial" panose="020B0604020202020204"/>
              </a:endParaRPr>
            </a:p>
          </p:txBody>
        </p:sp>
        <p:grpSp>
          <p:nvGrpSpPr>
            <p:cNvPr id="33" name="Group 33"/>
            <p:cNvGrpSpPr/>
            <p:nvPr/>
          </p:nvGrpSpPr>
          <p:grpSpPr>
            <a:xfrm>
              <a:off x="7939088" y="2168525"/>
              <a:ext cx="200025" cy="188913"/>
              <a:chOff x="7939088" y="2168525"/>
              <a:chExt cx="200025" cy="188913"/>
            </a:xfrm>
          </p:grpSpPr>
          <p:sp>
            <p:nvSpPr>
              <p:cNvPr id="30" name="Freeform 30"/>
              <p:cNvSpPr/>
              <p:nvPr/>
            </p:nvSpPr>
            <p:spPr>
              <a:xfrm>
                <a:off x="7994650" y="2224088"/>
                <a:ext cx="88900" cy="9525"/>
              </a:xfrm>
              <a:custGeom>
                <a:avLst/>
                <a:gdLst/>
                <a:ahLst/>
                <a:cxnLst/>
                <a:rect l="l" t="t" r="r" b="b"/>
                <a:pathLst>
                  <a:path w="88900" h="9525">
                    <a:moveTo>
                      <a:pt x="0" y="0"/>
                    </a:moveTo>
                    <a:lnTo>
                      <a:pt x="88900" y="0"/>
                    </a:lnTo>
                  </a:path>
                </a:pathLst>
              </a:custGeom>
              <a:noFill/>
              <a:ln w="19050">
                <a:solidFill>
                  <a:srgbClr val="518FEC"/>
                </a:solidFill>
              </a:ln>
            </p:spPr>
          </p:sp>
          <p:sp>
            <p:nvSpPr>
              <p:cNvPr id="31" name="Freeform 31"/>
              <p:cNvSpPr/>
              <p:nvPr/>
            </p:nvSpPr>
            <p:spPr>
              <a:xfrm>
                <a:off x="7994650" y="2268538"/>
                <a:ext cx="66675" cy="9525"/>
              </a:xfrm>
              <a:custGeom>
                <a:avLst/>
                <a:gdLst/>
                <a:ahLst/>
                <a:cxnLst/>
                <a:rect l="l" t="t" r="r" b="b"/>
                <a:pathLst>
                  <a:path w="66675" h="9525">
                    <a:moveTo>
                      <a:pt x="0" y="0"/>
                    </a:moveTo>
                    <a:lnTo>
                      <a:pt x="66675" y="0"/>
                    </a:lnTo>
                  </a:path>
                </a:pathLst>
              </a:custGeom>
              <a:noFill/>
              <a:ln w="19050">
                <a:solidFill>
                  <a:srgbClr val="518FEC"/>
                </a:solidFill>
              </a:ln>
            </p:spPr>
          </p:sp>
          <p:sp>
            <p:nvSpPr>
              <p:cNvPr id="32" name="Freeform 32"/>
              <p:cNvSpPr/>
              <p:nvPr/>
            </p:nvSpPr>
            <p:spPr>
              <a:xfrm>
                <a:off x="7939088" y="2168525"/>
                <a:ext cx="200025" cy="188913"/>
              </a:xfrm>
              <a:custGeom>
                <a:avLst/>
                <a:gdLst/>
                <a:ahLst/>
                <a:cxnLst/>
                <a:rect l="l" t="t" r="r" b="b"/>
                <a:pathLst>
                  <a:path w="200025" h="188913">
                    <a:moveTo>
                      <a:pt x="166688" y="0"/>
                    </a:moveTo>
                    <a:cubicBezTo>
                      <a:pt x="185099" y="0"/>
                      <a:pt x="200025" y="14926"/>
                      <a:pt x="200025" y="33338"/>
                    </a:cubicBezTo>
                    <a:lnTo>
                      <a:pt x="200025" y="122238"/>
                    </a:lnTo>
                    <a:cubicBezTo>
                      <a:pt x="200025" y="140649"/>
                      <a:pt x="185099" y="155575"/>
                      <a:pt x="166688" y="155575"/>
                    </a:cubicBezTo>
                    <a:lnTo>
                      <a:pt x="111125" y="155575"/>
                    </a:lnTo>
                    <a:lnTo>
                      <a:pt x="55563" y="188913"/>
                    </a:lnTo>
                    <a:lnTo>
                      <a:pt x="55563" y="155575"/>
                    </a:lnTo>
                    <a:lnTo>
                      <a:pt x="33338" y="155575"/>
                    </a:lnTo>
                    <a:cubicBezTo>
                      <a:pt x="14926" y="155575"/>
                      <a:pt x="0" y="140649"/>
                      <a:pt x="0" y="122238"/>
                    </a:cubicBezTo>
                    <a:lnTo>
                      <a:pt x="0" y="33338"/>
                    </a:lnTo>
                    <a:cubicBezTo>
                      <a:pt x="0" y="14926"/>
                      <a:pt x="14926" y="0"/>
                      <a:pt x="33338" y="0"/>
                    </a:cubicBezTo>
                    <a:lnTo>
                      <a:pt x="166688" y="0"/>
                    </a:lnTo>
                  </a:path>
                </a:pathLst>
              </a:custGeom>
              <a:noFill/>
              <a:ln w="19050">
                <a:solidFill>
                  <a:srgbClr val="518FEC"/>
                </a:solidFill>
              </a:ln>
            </p:spPr>
          </p:sp>
        </p:grpSp>
        <p:sp>
          <p:nvSpPr>
            <p:cNvPr id="34" name="TextBox 34"/>
            <p:cNvSpPr txBox="1"/>
            <p:nvPr/>
          </p:nvSpPr>
          <p:spPr>
            <a:xfrm>
              <a:off x="8253412" y="2193131"/>
              <a:ext cx="1044577" cy="228600"/>
            </a:xfrm>
            <a:prstGeom prst="rect">
              <a:avLst/>
            </a:prstGeom>
            <a:noFill/>
            <a:ln>
              <a:noFill/>
            </a:ln>
          </p:spPr>
          <p:txBody>
            <a:bodyPr wrap="none" lIns="0" tIns="0" rIns="0" bIns="0" anchor="t" anchorCtr="0">
              <a:spAutoFit/>
            </a:bodyPr>
            <a:lstStyle/>
            <a:p>
              <a:pPr algn="l"/>
              <a:r>
                <a:rPr lang="zh-CN" sz="1125" b="1" dirty="0">
                  <a:solidFill>
                    <a:srgbClr val="17365D"/>
                  </a:solidFill>
                  <a:latin typeface="Arial" panose="020B0604020202020204"/>
                  <a:ea typeface="微软雅黑" panose="020B0503020204020204" charset="-122"/>
                  <a:cs typeface="Arial" panose="020B0604020202020204"/>
                </a:rPr>
                <a:t>企业微信 / OA</a:t>
              </a:r>
              <a:endParaRPr lang="zh-CN" sz="1125" b="1" dirty="0">
                <a:solidFill>
                  <a:srgbClr val="17365D"/>
                </a:solidFill>
                <a:latin typeface="Arial" panose="020B0604020202020204"/>
                <a:ea typeface="微软雅黑" panose="020B0503020204020204" charset="-122"/>
                <a:cs typeface="Arial" panose="020B0604020202020204"/>
              </a:endParaRPr>
            </a:p>
          </p:txBody>
        </p:sp>
      </p:grpSp>
      <p:grpSp>
        <p:nvGrpSpPr>
          <p:cNvPr id="37" name="Group 37"/>
          <p:cNvGrpSpPr/>
          <p:nvPr/>
        </p:nvGrpSpPr>
        <p:grpSpPr>
          <a:xfrm>
            <a:off x="6096000" y="2543175"/>
            <a:ext cx="9525" cy="295275"/>
            <a:chOff x="6096000" y="2543175"/>
            <a:chExt cx="9525" cy="295275"/>
          </a:xfrm>
        </p:grpSpPr>
        <p:sp>
          <p:nvSpPr>
            <p:cNvPr id="36" name="Line 36"/>
            <p:cNvSpPr/>
            <p:nvPr/>
          </p:nvSpPr>
          <p:spPr>
            <a:xfrm>
              <a:off x="6096000" y="2543175"/>
              <a:ext cx="9525" cy="295275"/>
            </a:xfrm>
            <a:custGeom>
              <a:avLst/>
              <a:gdLst/>
              <a:ahLst/>
              <a:cxnLst/>
              <a:rect l="l" t="t" r="r" b="b"/>
              <a:pathLst>
                <a:path w="9525" h="295275">
                  <a:moveTo>
                    <a:pt x="0" y="0"/>
                  </a:moveTo>
                  <a:lnTo>
                    <a:pt x="0" y="295275"/>
                  </a:lnTo>
                </a:path>
              </a:pathLst>
            </a:custGeom>
            <a:noFill/>
            <a:ln w="19050">
              <a:solidFill>
                <a:srgbClr val="518FEC"/>
              </a:solidFill>
              <a:custDash>
                <a:ds d="200000" sp="150000"/>
              </a:custDash>
            </a:ln>
          </p:spPr>
        </p:sp>
      </p:grpSp>
      <p:grpSp>
        <p:nvGrpSpPr>
          <p:cNvPr id="78" name="Group 78"/>
          <p:cNvGrpSpPr/>
          <p:nvPr/>
        </p:nvGrpSpPr>
        <p:grpSpPr>
          <a:xfrm>
            <a:off x="559118" y="2923699"/>
            <a:ext cx="11061382" cy="1514951"/>
            <a:chOff x="559118" y="2923699"/>
            <a:chExt cx="11061382" cy="1514951"/>
          </a:xfrm>
        </p:grpSpPr>
        <p:sp>
          <p:nvSpPr>
            <p:cNvPr id="38" name="TextBox 38"/>
            <p:cNvSpPr txBox="1"/>
            <p:nvPr/>
          </p:nvSpPr>
          <p:spPr>
            <a:xfrm>
              <a:off x="559118" y="2923699"/>
              <a:ext cx="1260244"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场景层 · SCENARIOS</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39" name="Rectangle 39"/>
            <p:cNvSpPr/>
            <p:nvPr/>
          </p:nvSpPr>
          <p:spPr>
            <a:xfrm>
              <a:off x="571500" y="3152775"/>
              <a:ext cx="2647950" cy="1285875"/>
            </a:xfrm>
            <a:prstGeom prst="roundRect">
              <a:avLst>
                <a:gd name="adj" fmla="val 8889"/>
              </a:avLst>
            </a:prstGeom>
            <a:solidFill>
              <a:srgbClr val="246BFE"/>
            </a:solidFill>
            <a:ln>
              <a:noFill/>
            </a:ln>
          </p:spPr>
        </p:sp>
        <p:grpSp>
          <p:nvGrpSpPr>
            <p:cNvPr id="44" name="Group 44"/>
            <p:cNvGrpSpPr/>
            <p:nvPr/>
          </p:nvGrpSpPr>
          <p:grpSpPr>
            <a:xfrm>
              <a:off x="797719" y="3378994"/>
              <a:ext cx="214313" cy="214313"/>
              <a:chOff x="797719" y="3378994"/>
              <a:chExt cx="214313" cy="214313"/>
            </a:xfrm>
          </p:grpSpPr>
          <p:sp>
            <p:nvSpPr>
              <p:cNvPr id="40" name="Freeform 40"/>
              <p:cNvSpPr/>
              <p:nvPr/>
            </p:nvSpPr>
            <p:spPr>
              <a:xfrm>
                <a:off x="821531" y="3378994"/>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FFFFFF"/>
                </a:solidFill>
              </a:ln>
            </p:spPr>
          </p:sp>
          <p:sp>
            <p:nvSpPr>
              <p:cNvPr id="41" name="Freeform 41"/>
              <p:cNvSpPr/>
              <p:nvPr/>
            </p:nvSpPr>
            <p:spPr>
              <a:xfrm>
                <a:off x="797719" y="3521869"/>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19050">
                <a:solidFill>
                  <a:srgbClr val="FFFFFF"/>
                </a:solidFill>
              </a:ln>
            </p:spPr>
          </p:sp>
          <p:sp>
            <p:nvSpPr>
              <p:cNvPr id="42" name="Freeform 42"/>
              <p:cNvSpPr/>
              <p:nvPr/>
            </p:nvSpPr>
            <p:spPr>
              <a:xfrm>
                <a:off x="952500" y="3380542"/>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19050">
                <a:solidFill>
                  <a:srgbClr val="FFFFFF"/>
                </a:solidFill>
              </a:ln>
            </p:spPr>
          </p:sp>
          <p:sp>
            <p:nvSpPr>
              <p:cNvPr id="43" name="Freeform 43"/>
              <p:cNvSpPr/>
              <p:nvPr/>
            </p:nvSpPr>
            <p:spPr>
              <a:xfrm>
                <a:off x="976313" y="3523655"/>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19050">
                <a:solidFill>
                  <a:srgbClr val="FFFFFF"/>
                </a:solidFill>
              </a:ln>
            </p:spPr>
          </p:sp>
        </p:grpSp>
        <p:sp>
          <p:nvSpPr>
            <p:cNvPr id="45" name="TextBox 45"/>
            <p:cNvSpPr txBox="1"/>
            <p:nvPr/>
          </p:nvSpPr>
          <p:spPr>
            <a:xfrm>
              <a:off x="1125855" y="3397568"/>
              <a:ext cx="79038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604020202020204"/>
                  <a:ea typeface="微软雅黑" panose="020B0503020204020204" charset="-122"/>
                  <a:cs typeface="Arial" panose="020B0604020202020204"/>
                </a:rPr>
                <a:t>智能招聘</a:t>
              </a:r>
              <a:endParaRPr lang="zh-CN" sz="1350" b="1" dirty="0">
                <a:solidFill>
                  <a:srgbClr val="FFFFFF"/>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749618" y="3780949"/>
              <a:ext cx="1019389"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JD生成·简历匹配</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749618" y="3990499"/>
              <a:ext cx="1116902"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AI面试·招聘机器人</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749618" y="4200049"/>
              <a:ext cx="674846"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人才库沉淀</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49" name="Rectangle 49"/>
            <p:cNvSpPr/>
            <p:nvPr/>
          </p:nvSpPr>
          <p:spPr>
            <a:xfrm>
              <a:off x="3371850" y="3152775"/>
              <a:ext cx="2647950" cy="1285875"/>
            </a:xfrm>
            <a:prstGeom prst="roundRect">
              <a:avLst>
                <a:gd name="adj" fmla="val 8889"/>
              </a:avLst>
            </a:prstGeom>
            <a:solidFill>
              <a:srgbClr val="0052A6"/>
            </a:solidFill>
            <a:ln>
              <a:noFill/>
            </a:ln>
          </p:spPr>
        </p:sp>
        <p:grpSp>
          <p:nvGrpSpPr>
            <p:cNvPr id="52" name="Group 52"/>
            <p:cNvGrpSpPr/>
            <p:nvPr/>
          </p:nvGrpSpPr>
          <p:grpSpPr>
            <a:xfrm>
              <a:off x="3598069" y="3378994"/>
              <a:ext cx="214313" cy="214313"/>
              <a:chOff x="3598069" y="3378994"/>
              <a:chExt cx="214313" cy="214313"/>
            </a:xfrm>
          </p:grpSpPr>
          <p:sp>
            <p:nvSpPr>
              <p:cNvPr id="50" name="Freeform 50"/>
              <p:cNvSpPr/>
              <p:nvPr/>
            </p:nvSpPr>
            <p:spPr>
              <a:xfrm>
                <a:off x="3598069" y="3378994"/>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FFFFFF"/>
                </a:solidFill>
              </a:ln>
            </p:spPr>
          </p:sp>
          <p:sp>
            <p:nvSpPr>
              <p:cNvPr id="51" name="Freeform 51"/>
              <p:cNvSpPr/>
              <p:nvPr/>
            </p:nvSpPr>
            <p:spPr>
              <a:xfrm>
                <a:off x="3740944" y="3521869"/>
                <a:ext cx="71438" cy="71438"/>
              </a:xfrm>
              <a:custGeom>
                <a:avLst/>
                <a:gdLst/>
                <a:ahLst/>
                <a:cxnLst/>
                <a:rect l="l" t="t" r="r" b="b"/>
                <a:pathLst>
                  <a:path w="71438" h="71438">
                    <a:moveTo>
                      <a:pt x="71438" y="71438"/>
                    </a:moveTo>
                    <a:lnTo>
                      <a:pt x="0" y="0"/>
                    </a:lnTo>
                  </a:path>
                </a:pathLst>
              </a:custGeom>
              <a:noFill/>
              <a:ln w="19050">
                <a:solidFill>
                  <a:srgbClr val="FFFFFF"/>
                </a:solidFill>
              </a:ln>
            </p:spPr>
          </p:sp>
        </p:grpSp>
        <p:sp>
          <p:nvSpPr>
            <p:cNvPr id="53" name="TextBox 53"/>
            <p:cNvSpPr txBox="1"/>
            <p:nvPr/>
          </p:nvSpPr>
          <p:spPr>
            <a:xfrm>
              <a:off x="3926205" y="3397568"/>
              <a:ext cx="79038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604020202020204"/>
                  <a:ea typeface="微软雅黑" panose="020B0503020204020204" charset="-122"/>
                  <a:cs typeface="Arial" panose="020B0604020202020204"/>
                </a:rPr>
                <a:t>智能商机</a:t>
              </a:r>
              <a:endParaRPr lang="zh-CN" sz="1350" b="1" dirty="0">
                <a:solidFill>
                  <a:srgbClr val="FFFFFF"/>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3549968" y="3780949"/>
              <a:ext cx="876371"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多源采集·解析</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3549968" y="3990499"/>
              <a:ext cx="1136404"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商机评分·自动分配</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3549968" y="4200049"/>
              <a:ext cx="876371"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去重·来源追溯</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57" name="Rectangle 57"/>
            <p:cNvSpPr/>
            <p:nvPr/>
          </p:nvSpPr>
          <p:spPr>
            <a:xfrm>
              <a:off x="6172200" y="3152775"/>
              <a:ext cx="2647950" cy="1285875"/>
            </a:xfrm>
            <a:prstGeom prst="roundRect">
              <a:avLst>
                <a:gd name="adj" fmla="val 8889"/>
              </a:avLst>
            </a:prstGeom>
            <a:solidFill>
              <a:srgbClr val="246BFE"/>
            </a:solidFill>
            <a:ln>
              <a:noFill/>
            </a:ln>
          </p:spPr>
        </p:sp>
        <p:grpSp>
          <p:nvGrpSpPr>
            <p:cNvPr id="63" name="Group 63"/>
            <p:cNvGrpSpPr/>
            <p:nvPr/>
          </p:nvGrpSpPr>
          <p:grpSpPr>
            <a:xfrm>
              <a:off x="6422231" y="3378994"/>
              <a:ext cx="166688" cy="214312"/>
              <a:chOff x="6422231" y="3378994"/>
              <a:chExt cx="166688" cy="214312"/>
            </a:xfrm>
          </p:grpSpPr>
          <p:sp>
            <p:nvSpPr>
              <p:cNvPr id="58" name="Freeform 58"/>
              <p:cNvSpPr/>
              <p:nvPr/>
            </p:nvSpPr>
            <p:spPr>
              <a:xfrm>
                <a:off x="6529388" y="3378994"/>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19050">
                <a:solidFill>
                  <a:srgbClr val="FFFFFF"/>
                </a:solidFill>
              </a:ln>
            </p:spPr>
          </p:sp>
          <p:sp>
            <p:nvSpPr>
              <p:cNvPr id="59" name="Freeform 59"/>
              <p:cNvSpPr/>
              <p:nvPr/>
            </p:nvSpPr>
            <p:spPr>
              <a:xfrm>
                <a:off x="6422231" y="3378994"/>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19050">
                <a:solidFill>
                  <a:srgbClr val="FFFFFF"/>
                </a:solidFill>
              </a:ln>
            </p:spPr>
          </p:sp>
          <p:sp>
            <p:nvSpPr>
              <p:cNvPr id="60" name="Freeform 60"/>
              <p:cNvSpPr/>
              <p:nvPr/>
            </p:nvSpPr>
            <p:spPr>
              <a:xfrm>
                <a:off x="6469856" y="3450431"/>
                <a:ext cx="11906" cy="9525"/>
              </a:xfrm>
              <a:custGeom>
                <a:avLst/>
                <a:gdLst/>
                <a:ahLst/>
                <a:cxnLst/>
                <a:rect l="l" t="t" r="r" b="b"/>
                <a:pathLst>
                  <a:path w="11906" h="9525">
                    <a:moveTo>
                      <a:pt x="0" y="0"/>
                    </a:moveTo>
                    <a:lnTo>
                      <a:pt x="11906" y="0"/>
                    </a:lnTo>
                  </a:path>
                </a:pathLst>
              </a:custGeom>
              <a:noFill/>
              <a:ln w="19050">
                <a:solidFill>
                  <a:srgbClr val="FFFFFF"/>
                </a:solidFill>
              </a:ln>
            </p:spPr>
          </p:sp>
          <p:sp>
            <p:nvSpPr>
              <p:cNvPr id="61" name="Freeform 61"/>
              <p:cNvSpPr/>
              <p:nvPr/>
            </p:nvSpPr>
            <p:spPr>
              <a:xfrm>
                <a:off x="6469856" y="3498056"/>
                <a:ext cx="71438" cy="9525"/>
              </a:xfrm>
              <a:custGeom>
                <a:avLst/>
                <a:gdLst/>
                <a:ahLst/>
                <a:cxnLst/>
                <a:rect l="l" t="t" r="r" b="b"/>
                <a:pathLst>
                  <a:path w="71438" h="9525">
                    <a:moveTo>
                      <a:pt x="0" y="0"/>
                    </a:moveTo>
                    <a:lnTo>
                      <a:pt x="71438" y="0"/>
                    </a:lnTo>
                  </a:path>
                </a:pathLst>
              </a:custGeom>
              <a:noFill/>
              <a:ln w="19050">
                <a:solidFill>
                  <a:srgbClr val="FFFFFF"/>
                </a:solidFill>
              </a:ln>
            </p:spPr>
          </p:sp>
          <p:sp>
            <p:nvSpPr>
              <p:cNvPr id="62" name="Freeform 62"/>
              <p:cNvSpPr/>
              <p:nvPr/>
            </p:nvSpPr>
            <p:spPr>
              <a:xfrm>
                <a:off x="6469856" y="3545681"/>
                <a:ext cx="71438" cy="9525"/>
              </a:xfrm>
              <a:custGeom>
                <a:avLst/>
                <a:gdLst/>
                <a:ahLst/>
                <a:cxnLst/>
                <a:rect l="l" t="t" r="r" b="b"/>
                <a:pathLst>
                  <a:path w="71438" h="9525">
                    <a:moveTo>
                      <a:pt x="0" y="0"/>
                    </a:moveTo>
                    <a:lnTo>
                      <a:pt x="71438" y="0"/>
                    </a:lnTo>
                  </a:path>
                </a:pathLst>
              </a:custGeom>
              <a:noFill/>
              <a:ln w="19050">
                <a:solidFill>
                  <a:srgbClr val="FFFFFF"/>
                </a:solidFill>
              </a:ln>
            </p:spPr>
          </p:sp>
        </p:grpSp>
        <p:sp>
          <p:nvSpPr>
            <p:cNvPr id="64" name="TextBox 64"/>
            <p:cNvSpPr txBox="1"/>
            <p:nvPr/>
          </p:nvSpPr>
          <p:spPr>
            <a:xfrm>
              <a:off x="6726555" y="3397568"/>
              <a:ext cx="1650442"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604020202020204"/>
                  <a:ea typeface="微软雅黑" panose="020B0503020204020204" charset="-122"/>
                  <a:cs typeface="Arial" panose="020B0604020202020204"/>
                </a:rPr>
                <a:t>智能投标+客户归并</a:t>
              </a:r>
              <a:endParaRPr lang="zh-CN" sz="1350" b="1" dirty="0">
                <a:solidFill>
                  <a:srgbClr val="FFFFFF"/>
                </a:solidFill>
                <a:latin typeface="Arial" panose="020B0604020202020204"/>
                <a:ea typeface="微软雅黑" panose="020B0503020204020204" charset="-122"/>
                <a:cs typeface="Arial" panose="020B0604020202020204"/>
              </a:endParaRPr>
            </a:p>
          </p:txBody>
        </p:sp>
        <p:sp>
          <p:nvSpPr>
            <p:cNvPr id="65" name="TextBox 65"/>
            <p:cNvSpPr txBox="1"/>
            <p:nvPr/>
          </p:nvSpPr>
          <p:spPr>
            <a:xfrm>
              <a:off x="6350318" y="3780949"/>
              <a:ext cx="674846"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标书全流程</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66" name="TextBox 66"/>
            <p:cNvSpPr txBox="1"/>
            <p:nvPr/>
          </p:nvSpPr>
          <p:spPr>
            <a:xfrm>
              <a:off x="6350318" y="3990499"/>
              <a:ext cx="1006388"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主体识别·决策链</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67" name="TextBox 67"/>
            <p:cNvSpPr txBox="1"/>
            <p:nvPr/>
          </p:nvSpPr>
          <p:spPr>
            <a:xfrm>
              <a:off x="6350318" y="4200049"/>
              <a:ext cx="804862"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统一客户视图</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68" name="Rectangle 68"/>
            <p:cNvSpPr/>
            <p:nvPr/>
          </p:nvSpPr>
          <p:spPr>
            <a:xfrm>
              <a:off x="8972550" y="3152775"/>
              <a:ext cx="2647950" cy="1285875"/>
            </a:xfrm>
            <a:prstGeom prst="roundRect">
              <a:avLst>
                <a:gd name="adj" fmla="val 8889"/>
              </a:avLst>
            </a:prstGeom>
            <a:solidFill>
              <a:srgbClr val="0052A6"/>
            </a:solidFill>
            <a:ln>
              <a:noFill/>
            </a:ln>
          </p:spPr>
        </p:sp>
        <p:grpSp>
          <p:nvGrpSpPr>
            <p:cNvPr id="73" name="Group 73"/>
            <p:cNvGrpSpPr/>
            <p:nvPr/>
          </p:nvGrpSpPr>
          <p:grpSpPr>
            <a:xfrm>
              <a:off x="9210675" y="3378994"/>
              <a:ext cx="190500" cy="226219"/>
              <a:chOff x="9210675" y="3378994"/>
              <a:chExt cx="190500" cy="226219"/>
            </a:xfrm>
          </p:grpSpPr>
          <p:sp>
            <p:nvSpPr>
              <p:cNvPr id="69" name="Freeform 69"/>
              <p:cNvSpPr/>
              <p:nvPr/>
            </p:nvSpPr>
            <p:spPr>
              <a:xfrm>
                <a:off x="9210675" y="3378994"/>
                <a:ext cx="190500" cy="130969"/>
              </a:xfrm>
              <a:custGeom>
                <a:avLst/>
                <a:gdLst/>
                <a:ahLst/>
                <a:cxnLst/>
                <a:rect l="l" t="t" r="r" b="b"/>
                <a:pathLst>
                  <a:path w="190500" h="130969">
                    <a:moveTo>
                      <a:pt x="0" y="130969"/>
                    </a:moveTo>
                    <a:lnTo>
                      <a:pt x="0" y="95250"/>
                    </a:lnTo>
                    <a:cubicBezTo>
                      <a:pt x="0" y="42645"/>
                      <a:pt x="42645" y="0"/>
                      <a:pt x="95250" y="0"/>
                    </a:cubicBezTo>
                    <a:cubicBezTo>
                      <a:pt x="147855" y="0"/>
                      <a:pt x="190500" y="42645"/>
                      <a:pt x="190500" y="95250"/>
                    </a:cubicBezTo>
                    <a:lnTo>
                      <a:pt x="190500" y="130969"/>
                    </a:lnTo>
                  </a:path>
                </a:pathLst>
              </a:custGeom>
              <a:noFill/>
              <a:ln w="19050">
                <a:solidFill>
                  <a:srgbClr val="FFFFFF"/>
                </a:solidFill>
              </a:ln>
            </p:spPr>
          </p:sp>
          <p:sp>
            <p:nvSpPr>
              <p:cNvPr id="70" name="Freeform 70"/>
              <p:cNvSpPr/>
              <p:nvPr/>
            </p:nvSpPr>
            <p:spPr>
              <a:xfrm>
                <a:off x="9305925" y="3569494"/>
                <a:ext cx="71438" cy="35719"/>
              </a:xfrm>
              <a:custGeom>
                <a:avLst/>
                <a:gdLst/>
                <a:ahLst/>
                <a:cxnLst/>
                <a:rect l="l" t="t" r="r" b="b"/>
                <a:pathLst>
                  <a:path w="71438" h="35719">
                    <a:moveTo>
                      <a:pt x="71438" y="0"/>
                    </a:moveTo>
                    <a:cubicBezTo>
                      <a:pt x="71438" y="19729"/>
                      <a:pt x="39457" y="35719"/>
                      <a:pt x="0" y="35719"/>
                    </a:cubicBezTo>
                  </a:path>
                </a:pathLst>
              </a:custGeom>
              <a:noFill/>
              <a:ln w="19050">
                <a:solidFill>
                  <a:srgbClr val="FFFFFF"/>
                </a:solidFill>
              </a:ln>
            </p:spPr>
          </p:sp>
          <p:sp>
            <p:nvSpPr>
              <p:cNvPr id="71" name="Freeform 71"/>
              <p:cNvSpPr/>
              <p:nvPr/>
            </p:nvSpPr>
            <p:spPr>
              <a:xfrm>
                <a:off x="9210675" y="3486150"/>
                <a:ext cx="59531" cy="83344"/>
              </a:xfrm>
              <a:custGeom>
                <a:avLst/>
                <a:gdLst/>
                <a:ahLst/>
                <a:cxnLst/>
                <a:rect l="l" t="t" r="r" b="b"/>
                <a:pathLst>
                  <a:path w="59531" h="83344">
                    <a:moveTo>
                      <a:pt x="0" y="23812"/>
                    </a:moveTo>
                    <a:cubicBezTo>
                      <a:pt x="0" y="10661"/>
                      <a:pt x="10661" y="0"/>
                      <a:pt x="23812" y="0"/>
                    </a:cubicBezTo>
                    <a:lnTo>
                      <a:pt x="35719" y="0"/>
                    </a:lnTo>
                    <a:cubicBezTo>
                      <a:pt x="48870" y="0"/>
                      <a:pt x="59531" y="10661"/>
                      <a:pt x="59531" y="23812"/>
                    </a:cubicBezTo>
                    <a:lnTo>
                      <a:pt x="59531" y="59531"/>
                    </a:lnTo>
                    <a:cubicBezTo>
                      <a:pt x="59531" y="72683"/>
                      <a:pt x="48870" y="83344"/>
                      <a:pt x="35719" y="83344"/>
                    </a:cubicBezTo>
                    <a:lnTo>
                      <a:pt x="23812" y="83344"/>
                    </a:lnTo>
                    <a:cubicBezTo>
                      <a:pt x="10661" y="83344"/>
                      <a:pt x="0" y="72683"/>
                      <a:pt x="0" y="59531"/>
                    </a:cubicBezTo>
                    <a:lnTo>
                      <a:pt x="0" y="23812"/>
                    </a:lnTo>
                  </a:path>
                </a:pathLst>
              </a:custGeom>
              <a:noFill/>
              <a:ln w="19050">
                <a:solidFill>
                  <a:srgbClr val="FFFFFF"/>
                </a:solidFill>
              </a:ln>
            </p:spPr>
          </p:sp>
          <p:sp>
            <p:nvSpPr>
              <p:cNvPr id="72" name="Freeform 72"/>
              <p:cNvSpPr/>
              <p:nvPr/>
            </p:nvSpPr>
            <p:spPr>
              <a:xfrm>
                <a:off x="9341644" y="3486150"/>
                <a:ext cx="59531" cy="83344"/>
              </a:xfrm>
              <a:custGeom>
                <a:avLst/>
                <a:gdLst/>
                <a:ahLst/>
                <a:cxnLst/>
                <a:rect l="l" t="t" r="r" b="b"/>
                <a:pathLst>
                  <a:path w="59531" h="83344">
                    <a:moveTo>
                      <a:pt x="0" y="23812"/>
                    </a:moveTo>
                    <a:cubicBezTo>
                      <a:pt x="0" y="10661"/>
                      <a:pt x="10661" y="0"/>
                      <a:pt x="23812" y="0"/>
                    </a:cubicBezTo>
                    <a:lnTo>
                      <a:pt x="35719" y="0"/>
                    </a:lnTo>
                    <a:cubicBezTo>
                      <a:pt x="48870" y="0"/>
                      <a:pt x="59531" y="10661"/>
                      <a:pt x="59531" y="23812"/>
                    </a:cubicBezTo>
                    <a:lnTo>
                      <a:pt x="59531" y="59531"/>
                    </a:lnTo>
                    <a:cubicBezTo>
                      <a:pt x="59531" y="72683"/>
                      <a:pt x="48870" y="83344"/>
                      <a:pt x="35719" y="83344"/>
                    </a:cubicBezTo>
                    <a:lnTo>
                      <a:pt x="23812" y="83344"/>
                    </a:lnTo>
                    <a:cubicBezTo>
                      <a:pt x="10661" y="83344"/>
                      <a:pt x="0" y="72683"/>
                      <a:pt x="0" y="59531"/>
                    </a:cubicBezTo>
                    <a:lnTo>
                      <a:pt x="0" y="23812"/>
                    </a:lnTo>
                  </a:path>
                </a:pathLst>
              </a:custGeom>
              <a:noFill/>
              <a:ln w="19050">
                <a:solidFill>
                  <a:srgbClr val="FFFFFF"/>
                </a:solidFill>
              </a:ln>
            </p:spPr>
          </p:sp>
        </p:grpSp>
        <p:sp>
          <p:nvSpPr>
            <p:cNvPr id="74" name="TextBox 74"/>
            <p:cNvSpPr txBox="1"/>
            <p:nvPr/>
          </p:nvSpPr>
          <p:spPr>
            <a:xfrm>
              <a:off x="9526905" y="3397568"/>
              <a:ext cx="1168432"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604020202020204"/>
                  <a:ea typeface="微软雅黑" panose="020B0503020204020204" charset="-122"/>
                  <a:cs typeface="Arial" panose="020B0604020202020204"/>
                </a:rPr>
                <a:t>智能营销录音</a:t>
              </a:r>
              <a:endParaRPr lang="zh-CN" sz="1350" b="1" dirty="0">
                <a:solidFill>
                  <a:srgbClr val="FFFFFF"/>
                </a:solidFill>
                <a:latin typeface="Arial" panose="020B0604020202020204"/>
                <a:ea typeface="微软雅黑" panose="020B0503020204020204" charset="-122"/>
                <a:cs typeface="Arial" panose="020B0604020202020204"/>
              </a:endParaRPr>
            </a:p>
          </p:txBody>
        </p:sp>
        <p:sp>
          <p:nvSpPr>
            <p:cNvPr id="75" name="TextBox 75"/>
            <p:cNvSpPr txBox="1"/>
            <p:nvPr/>
          </p:nvSpPr>
          <p:spPr>
            <a:xfrm>
              <a:off x="9150668" y="3780949"/>
              <a:ext cx="876371"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转写·十维分析</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76" name="TextBox 76"/>
            <p:cNvSpPr txBox="1"/>
            <p:nvPr/>
          </p:nvSpPr>
          <p:spPr>
            <a:xfrm>
              <a:off x="9150668" y="3990499"/>
              <a:ext cx="1136404"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话术沉淀·质量评分</a:t>
              </a:r>
              <a:endParaRPr lang="zh-CN" sz="975" dirty="0">
                <a:solidFill>
                  <a:srgbClr val="DCE6FB"/>
                </a:solidFill>
                <a:latin typeface="Arial" panose="020B0604020202020204"/>
                <a:ea typeface="微软雅黑" panose="020B0503020204020204" charset="-122"/>
                <a:cs typeface="Arial" panose="020B0604020202020204"/>
              </a:endParaRPr>
            </a:p>
          </p:txBody>
        </p:sp>
        <p:sp>
          <p:nvSpPr>
            <p:cNvPr id="77" name="TextBox 77"/>
            <p:cNvSpPr txBox="1"/>
            <p:nvPr/>
          </p:nvSpPr>
          <p:spPr>
            <a:xfrm>
              <a:off x="9150668" y="4200049"/>
              <a:ext cx="804862"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panose="020B0604020202020204"/>
                  <a:ea typeface="微软雅黑" panose="020B0503020204020204" charset="-122"/>
                  <a:cs typeface="Arial" panose="020B0604020202020204"/>
                </a:rPr>
                <a:t>客户档案联动</a:t>
              </a:r>
              <a:endParaRPr lang="zh-CN" sz="975" dirty="0">
                <a:solidFill>
                  <a:srgbClr val="DCE6FB"/>
                </a:solidFill>
                <a:latin typeface="Arial" panose="020B0604020202020204"/>
                <a:ea typeface="微软雅黑" panose="020B0503020204020204" charset="-122"/>
                <a:cs typeface="Arial" panose="020B0604020202020204"/>
              </a:endParaRPr>
            </a:p>
          </p:txBody>
        </p:sp>
      </p:grpSp>
      <p:grpSp>
        <p:nvGrpSpPr>
          <p:cNvPr id="80" name="Group 80"/>
          <p:cNvGrpSpPr/>
          <p:nvPr/>
        </p:nvGrpSpPr>
        <p:grpSpPr>
          <a:xfrm>
            <a:off x="6096000" y="4438650"/>
            <a:ext cx="9525" cy="295275"/>
            <a:chOff x="6096000" y="4438650"/>
            <a:chExt cx="9525" cy="295275"/>
          </a:xfrm>
        </p:grpSpPr>
        <p:sp>
          <p:nvSpPr>
            <p:cNvPr id="79" name="Line 79"/>
            <p:cNvSpPr/>
            <p:nvPr/>
          </p:nvSpPr>
          <p:spPr>
            <a:xfrm>
              <a:off x="6096000" y="4438650"/>
              <a:ext cx="9525" cy="295275"/>
            </a:xfrm>
            <a:custGeom>
              <a:avLst/>
              <a:gdLst/>
              <a:ahLst/>
              <a:cxnLst/>
              <a:rect l="l" t="t" r="r" b="b"/>
              <a:pathLst>
                <a:path w="9525" h="295275">
                  <a:moveTo>
                    <a:pt x="0" y="0"/>
                  </a:moveTo>
                  <a:lnTo>
                    <a:pt x="0" y="295275"/>
                  </a:lnTo>
                </a:path>
              </a:pathLst>
            </a:custGeom>
            <a:noFill/>
            <a:ln w="19050">
              <a:solidFill>
                <a:srgbClr val="246BFE"/>
              </a:solidFill>
              <a:custDash>
                <a:ds d="200000" sp="150000"/>
              </a:custDash>
            </a:ln>
          </p:spPr>
        </p:sp>
      </p:grpSp>
      <p:grpSp>
        <p:nvGrpSpPr>
          <p:cNvPr id="119" name="Group 119"/>
          <p:cNvGrpSpPr/>
          <p:nvPr/>
        </p:nvGrpSpPr>
        <p:grpSpPr>
          <a:xfrm>
            <a:off x="559118" y="4819174"/>
            <a:ext cx="11061382" cy="1181576"/>
            <a:chOff x="559118" y="4819174"/>
            <a:chExt cx="11061382" cy="1181576"/>
          </a:xfrm>
        </p:grpSpPr>
        <p:sp>
          <p:nvSpPr>
            <p:cNvPr id="81" name="TextBox 81"/>
            <p:cNvSpPr txBox="1"/>
            <p:nvPr/>
          </p:nvSpPr>
          <p:spPr>
            <a:xfrm>
              <a:off x="559118" y="4819174"/>
              <a:ext cx="1751706" cy="198120"/>
            </a:xfrm>
            <a:prstGeom prst="rect">
              <a:avLst/>
            </a:prstGeom>
            <a:noFill/>
            <a:ln>
              <a:noFill/>
            </a:ln>
          </p:spPr>
          <p:txBody>
            <a:bodyPr wrap="none" lIns="0" tIns="0" rIns="0" bIns="0" anchor="t" anchorCtr="0">
              <a:spAutoFit/>
            </a:bodyPr>
            <a:lstStyle/>
            <a:p>
              <a:pPr algn="l"/>
              <a:r>
                <a:rPr lang="zh-CN" sz="975" b="1" dirty="0">
                  <a:solidFill>
                    <a:srgbClr val="0052A6"/>
                  </a:solidFill>
                  <a:latin typeface="Arial" panose="020B0604020202020204"/>
                  <a:ea typeface="微软雅黑" panose="020B0503020204020204" charset="-122"/>
                  <a:cs typeface="Arial" panose="020B0604020202020204"/>
                </a:rPr>
                <a:t>底座 · FarAgent PLATFORM</a:t>
              </a:r>
              <a:endParaRPr lang="zh-CN" sz="975" b="1" dirty="0">
                <a:solidFill>
                  <a:srgbClr val="0052A6"/>
                </a:solidFill>
                <a:latin typeface="Arial" panose="020B0604020202020204"/>
                <a:ea typeface="微软雅黑" panose="020B0503020204020204" charset="-122"/>
                <a:cs typeface="Arial" panose="020B0604020202020204"/>
              </a:endParaRPr>
            </a:p>
          </p:txBody>
        </p:sp>
        <p:sp>
          <p:nvSpPr>
            <p:cNvPr id="82" name="Rectangle 82"/>
            <p:cNvSpPr/>
            <p:nvPr/>
          </p:nvSpPr>
          <p:spPr>
            <a:xfrm>
              <a:off x="571500" y="5048250"/>
              <a:ext cx="11049000" cy="952500"/>
            </a:xfrm>
            <a:prstGeom prst="roundRect">
              <a:avLst>
                <a:gd name="adj" fmla="val 12000"/>
              </a:avLst>
            </a:prstGeom>
            <a:solidFill>
              <a:srgbClr val="17365D"/>
            </a:solidFill>
            <a:ln>
              <a:noFill/>
            </a:ln>
          </p:spPr>
        </p:sp>
        <p:grpSp>
          <p:nvGrpSpPr>
            <p:cNvPr id="89" name="Group 89"/>
            <p:cNvGrpSpPr/>
            <p:nvPr/>
          </p:nvGrpSpPr>
          <p:grpSpPr>
            <a:xfrm>
              <a:off x="897731" y="5298281"/>
              <a:ext cx="242888" cy="242888"/>
              <a:chOff x="897731" y="5298281"/>
              <a:chExt cx="242888" cy="242888"/>
            </a:xfrm>
          </p:grpSpPr>
          <p:sp>
            <p:nvSpPr>
              <p:cNvPr id="83" name="Freeform 83"/>
              <p:cNvSpPr/>
              <p:nvPr/>
            </p:nvSpPr>
            <p:spPr>
              <a:xfrm>
                <a:off x="1019175" y="5433219"/>
                <a:ext cx="94456" cy="107950"/>
              </a:xfrm>
              <a:custGeom>
                <a:avLst/>
                <a:gdLst/>
                <a:ahLst/>
                <a:cxnLst/>
                <a:rect l="l" t="t" r="r" b="b"/>
                <a:pathLst>
                  <a:path w="94456" h="107950">
                    <a:moveTo>
                      <a:pt x="47228" y="0"/>
                    </a:moveTo>
                    <a:cubicBezTo>
                      <a:pt x="21145" y="0"/>
                      <a:pt x="0" y="21145"/>
                      <a:pt x="0" y="47228"/>
                    </a:cubicBezTo>
                    <a:lnTo>
                      <a:pt x="0" y="60722"/>
                    </a:lnTo>
                    <a:cubicBezTo>
                      <a:pt x="0" y="86805"/>
                      <a:pt x="21145" y="107950"/>
                      <a:pt x="47228" y="107950"/>
                    </a:cubicBezTo>
                    <a:cubicBezTo>
                      <a:pt x="73311" y="107950"/>
                      <a:pt x="94456" y="86805"/>
                      <a:pt x="94456" y="60722"/>
                    </a:cubicBezTo>
                    <a:lnTo>
                      <a:pt x="94456" y="36433"/>
                    </a:lnTo>
                  </a:path>
                </a:pathLst>
              </a:custGeom>
              <a:noFill/>
              <a:ln w="19050">
                <a:solidFill>
                  <a:srgbClr val="518FEC"/>
                </a:solidFill>
              </a:ln>
            </p:spPr>
          </p:sp>
          <p:sp>
            <p:nvSpPr>
              <p:cNvPr id="84" name="Freeform 84"/>
              <p:cNvSpPr/>
              <p:nvPr/>
            </p:nvSpPr>
            <p:spPr>
              <a:xfrm>
                <a:off x="924719" y="5433219"/>
                <a:ext cx="94456" cy="107950"/>
              </a:xfrm>
              <a:custGeom>
                <a:avLst/>
                <a:gdLst/>
                <a:ahLst/>
                <a:cxnLst/>
                <a:rect l="l" t="t" r="r" b="b"/>
                <a:pathLst>
                  <a:path w="94456" h="107950">
                    <a:moveTo>
                      <a:pt x="47228" y="0"/>
                    </a:moveTo>
                    <a:cubicBezTo>
                      <a:pt x="73311" y="0"/>
                      <a:pt x="94456" y="21145"/>
                      <a:pt x="94456" y="47228"/>
                    </a:cubicBezTo>
                    <a:lnTo>
                      <a:pt x="94456" y="60722"/>
                    </a:lnTo>
                    <a:cubicBezTo>
                      <a:pt x="94456" y="86805"/>
                      <a:pt x="73311" y="107950"/>
                      <a:pt x="47228" y="107950"/>
                    </a:cubicBezTo>
                    <a:cubicBezTo>
                      <a:pt x="21145" y="107950"/>
                      <a:pt x="0" y="86805"/>
                      <a:pt x="0" y="60722"/>
                    </a:cubicBezTo>
                    <a:lnTo>
                      <a:pt x="0" y="36433"/>
                    </a:lnTo>
                  </a:path>
                </a:pathLst>
              </a:custGeom>
              <a:noFill/>
              <a:ln w="19050">
                <a:solidFill>
                  <a:srgbClr val="518FEC"/>
                </a:solidFill>
              </a:ln>
            </p:spPr>
          </p:sp>
          <p:sp>
            <p:nvSpPr>
              <p:cNvPr id="85" name="Freeform 85"/>
              <p:cNvSpPr/>
              <p:nvPr/>
            </p:nvSpPr>
            <p:spPr>
              <a:xfrm>
                <a:off x="1086644" y="5379244"/>
                <a:ext cx="53975" cy="94456"/>
              </a:xfrm>
              <a:custGeom>
                <a:avLst/>
                <a:gdLst/>
                <a:ahLst/>
                <a:cxnLst/>
                <a:rect l="l" t="t" r="r" b="b"/>
                <a:pathLst>
                  <a:path w="53975" h="94456">
                    <a:moveTo>
                      <a:pt x="6747" y="94456"/>
                    </a:moveTo>
                    <a:cubicBezTo>
                      <a:pt x="32830" y="94456"/>
                      <a:pt x="53975" y="73311"/>
                      <a:pt x="53975" y="47228"/>
                    </a:cubicBezTo>
                    <a:cubicBezTo>
                      <a:pt x="53975" y="21145"/>
                      <a:pt x="32830" y="0"/>
                      <a:pt x="6747" y="0"/>
                    </a:cubicBezTo>
                    <a:lnTo>
                      <a:pt x="0" y="0"/>
                    </a:lnTo>
                  </a:path>
                </a:pathLst>
              </a:custGeom>
              <a:noFill/>
              <a:ln w="19050">
                <a:solidFill>
                  <a:srgbClr val="518FEC"/>
                </a:solidFill>
              </a:ln>
            </p:spPr>
          </p:sp>
          <p:sp>
            <p:nvSpPr>
              <p:cNvPr id="86" name="Freeform 86"/>
              <p:cNvSpPr/>
              <p:nvPr/>
            </p:nvSpPr>
            <p:spPr>
              <a:xfrm>
                <a:off x="1019175" y="5298281"/>
                <a:ext cx="94456" cy="85011"/>
              </a:xfrm>
              <a:custGeom>
                <a:avLst/>
                <a:gdLst/>
                <a:ahLst/>
                <a:cxnLst/>
                <a:rect l="l" t="t" r="r" b="b"/>
                <a:pathLst>
                  <a:path w="94456" h="85011">
                    <a:moveTo>
                      <a:pt x="94456" y="85011"/>
                    </a:moveTo>
                    <a:lnTo>
                      <a:pt x="94456" y="47228"/>
                    </a:lnTo>
                    <a:cubicBezTo>
                      <a:pt x="94456" y="21145"/>
                      <a:pt x="73311" y="0"/>
                      <a:pt x="47228" y="0"/>
                    </a:cubicBezTo>
                    <a:cubicBezTo>
                      <a:pt x="21145" y="0"/>
                      <a:pt x="0" y="21145"/>
                      <a:pt x="0" y="47228"/>
                    </a:cubicBezTo>
                  </a:path>
                </a:pathLst>
              </a:custGeom>
              <a:noFill/>
              <a:ln w="19050">
                <a:solidFill>
                  <a:srgbClr val="518FEC"/>
                </a:solidFill>
              </a:ln>
            </p:spPr>
          </p:sp>
          <p:sp>
            <p:nvSpPr>
              <p:cNvPr id="87" name="Freeform 87"/>
              <p:cNvSpPr/>
              <p:nvPr/>
            </p:nvSpPr>
            <p:spPr>
              <a:xfrm>
                <a:off x="897731" y="5379244"/>
                <a:ext cx="53975" cy="94456"/>
              </a:xfrm>
              <a:custGeom>
                <a:avLst/>
                <a:gdLst/>
                <a:ahLst/>
                <a:cxnLst/>
                <a:rect l="l" t="t" r="r" b="b"/>
                <a:pathLst>
                  <a:path w="53975" h="94456">
                    <a:moveTo>
                      <a:pt x="47228" y="94456"/>
                    </a:moveTo>
                    <a:cubicBezTo>
                      <a:pt x="21145" y="94456"/>
                      <a:pt x="0" y="73311"/>
                      <a:pt x="0" y="47228"/>
                    </a:cubicBezTo>
                    <a:cubicBezTo>
                      <a:pt x="0" y="21145"/>
                      <a:pt x="21145" y="0"/>
                      <a:pt x="47228" y="0"/>
                    </a:cubicBezTo>
                    <a:lnTo>
                      <a:pt x="53975" y="0"/>
                    </a:lnTo>
                  </a:path>
                </a:pathLst>
              </a:custGeom>
              <a:noFill/>
              <a:ln w="19050">
                <a:solidFill>
                  <a:srgbClr val="518FEC"/>
                </a:solidFill>
              </a:ln>
            </p:spPr>
          </p:sp>
          <p:sp>
            <p:nvSpPr>
              <p:cNvPr id="88" name="Freeform 88"/>
              <p:cNvSpPr/>
              <p:nvPr/>
            </p:nvSpPr>
            <p:spPr>
              <a:xfrm>
                <a:off x="924719" y="5298281"/>
                <a:ext cx="94456" cy="182166"/>
              </a:xfrm>
              <a:custGeom>
                <a:avLst/>
                <a:gdLst/>
                <a:ahLst/>
                <a:cxnLst/>
                <a:rect l="l" t="t" r="r" b="b"/>
                <a:pathLst>
                  <a:path w="94456" h="182166">
                    <a:moveTo>
                      <a:pt x="0" y="85011"/>
                    </a:moveTo>
                    <a:lnTo>
                      <a:pt x="0" y="47228"/>
                    </a:lnTo>
                    <a:cubicBezTo>
                      <a:pt x="0" y="21145"/>
                      <a:pt x="21145" y="0"/>
                      <a:pt x="47228" y="0"/>
                    </a:cubicBezTo>
                    <a:cubicBezTo>
                      <a:pt x="73311" y="0"/>
                      <a:pt x="94456" y="21145"/>
                      <a:pt x="94456" y="47228"/>
                    </a:cubicBezTo>
                    <a:lnTo>
                      <a:pt x="94456" y="182166"/>
                    </a:lnTo>
                  </a:path>
                </a:pathLst>
              </a:custGeom>
              <a:noFill/>
              <a:ln w="19050">
                <a:solidFill>
                  <a:srgbClr val="518FEC"/>
                </a:solidFill>
              </a:ln>
            </p:spPr>
          </p:sp>
        </p:grpSp>
        <p:sp>
          <p:nvSpPr>
            <p:cNvPr id="90" name="TextBox 90"/>
            <p:cNvSpPr txBox="1"/>
            <p:nvPr/>
          </p:nvSpPr>
          <p:spPr>
            <a:xfrm>
              <a:off x="1261110" y="5347335"/>
              <a:ext cx="1156221"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FarAgent 平台</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91" name="TextBox 91"/>
            <p:cNvSpPr txBox="1"/>
            <p:nvPr/>
          </p:nvSpPr>
          <p:spPr>
            <a:xfrm>
              <a:off x="1263968" y="5609749"/>
              <a:ext cx="1883997"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任务调度 · 分层记忆 · 进化引擎</a:t>
              </a:r>
              <a:endParaRPr lang="zh-CN" sz="975" dirty="0">
                <a:solidFill>
                  <a:srgbClr val="8FA3C4"/>
                </a:solidFill>
                <a:latin typeface="Arial" panose="020B0604020202020204"/>
                <a:ea typeface="微软雅黑" panose="020B0503020204020204" charset="-122"/>
                <a:cs typeface="Arial" panose="020B0604020202020204"/>
              </a:endParaRPr>
            </a:p>
          </p:txBody>
        </p:sp>
        <p:grpSp>
          <p:nvGrpSpPr>
            <p:cNvPr id="95" name="Group 95"/>
            <p:cNvGrpSpPr/>
            <p:nvPr/>
          </p:nvGrpSpPr>
          <p:grpSpPr>
            <a:xfrm>
              <a:off x="3659981" y="5298281"/>
              <a:ext cx="242888" cy="242888"/>
              <a:chOff x="3659981" y="5298281"/>
              <a:chExt cx="242888" cy="242888"/>
            </a:xfrm>
          </p:grpSpPr>
          <p:sp>
            <p:nvSpPr>
              <p:cNvPr id="92" name="Freeform 92"/>
              <p:cNvSpPr/>
              <p:nvPr/>
            </p:nvSpPr>
            <p:spPr>
              <a:xfrm>
                <a:off x="3659981" y="5298281"/>
                <a:ext cx="242888" cy="121444"/>
              </a:xfrm>
              <a:custGeom>
                <a:avLst/>
                <a:gdLst/>
                <a:ahLst/>
                <a:cxnLst/>
                <a:rect l="l" t="t" r="r" b="b"/>
                <a:pathLst>
                  <a:path w="242888" h="121444">
                    <a:moveTo>
                      <a:pt x="0" y="121444"/>
                    </a:moveTo>
                    <a:lnTo>
                      <a:pt x="13494" y="121444"/>
                    </a:lnTo>
                    <a:moveTo>
                      <a:pt x="121444" y="0"/>
                    </a:moveTo>
                    <a:lnTo>
                      <a:pt x="121444" y="13494"/>
                    </a:lnTo>
                    <a:moveTo>
                      <a:pt x="229394" y="121444"/>
                    </a:moveTo>
                    <a:lnTo>
                      <a:pt x="242888" y="121444"/>
                    </a:lnTo>
                    <a:moveTo>
                      <a:pt x="35084" y="35084"/>
                    </a:moveTo>
                    <a:lnTo>
                      <a:pt x="44529" y="44529"/>
                    </a:lnTo>
                    <a:moveTo>
                      <a:pt x="207804" y="35084"/>
                    </a:moveTo>
                    <a:lnTo>
                      <a:pt x="198358" y="44529"/>
                    </a:lnTo>
                  </a:path>
                </a:pathLst>
              </a:custGeom>
              <a:noFill/>
              <a:ln w="19050">
                <a:solidFill>
                  <a:srgbClr val="518FEC"/>
                </a:solidFill>
              </a:ln>
            </p:spPr>
          </p:sp>
          <p:sp>
            <p:nvSpPr>
              <p:cNvPr id="93" name="Freeform 93"/>
              <p:cNvSpPr/>
              <p:nvPr/>
            </p:nvSpPr>
            <p:spPr>
              <a:xfrm>
                <a:off x="3708235" y="5352256"/>
                <a:ext cx="146380" cy="188913"/>
              </a:xfrm>
              <a:custGeom>
                <a:avLst/>
                <a:gdLst/>
                <a:ahLst/>
                <a:cxnLst/>
                <a:rect l="l" t="t" r="r" b="b"/>
                <a:pathLst>
                  <a:path w="146380" h="188913">
                    <a:moveTo>
                      <a:pt x="32709" y="121444"/>
                    </a:moveTo>
                    <a:cubicBezTo>
                      <a:pt x="9476" y="104019"/>
                      <a:pt x="0" y="73684"/>
                      <a:pt x="9183" y="46133"/>
                    </a:cubicBezTo>
                    <a:cubicBezTo>
                      <a:pt x="18367" y="18583"/>
                      <a:pt x="44149" y="0"/>
                      <a:pt x="73190" y="0"/>
                    </a:cubicBezTo>
                    <a:cubicBezTo>
                      <a:pt x="102231" y="0"/>
                      <a:pt x="128013" y="18583"/>
                      <a:pt x="137196" y="46133"/>
                    </a:cubicBezTo>
                    <a:cubicBezTo>
                      <a:pt x="146380" y="73684"/>
                      <a:pt x="136904" y="104019"/>
                      <a:pt x="113671" y="121444"/>
                    </a:cubicBezTo>
                    <a:cubicBezTo>
                      <a:pt x="102986" y="132021"/>
                      <a:pt x="97976" y="147053"/>
                      <a:pt x="100177" y="161925"/>
                    </a:cubicBezTo>
                    <a:cubicBezTo>
                      <a:pt x="100177" y="176830"/>
                      <a:pt x="88095" y="188913"/>
                      <a:pt x="73190" y="188913"/>
                    </a:cubicBezTo>
                    <a:cubicBezTo>
                      <a:pt x="58285" y="188913"/>
                      <a:pt x="46202" y="176830"/>
                      <a:pt x="46202" y="161925"/>
                    </a:cubicBezTo>
                    <a:cubicBezTo>
                      <a:pt x="48404" y="147053"/>
                      <a:pt x="43394" y="132021"/>
                      <a:pt x="32709" y="121444"/>
                    </a:cubicBezTo>
                  </a:path>
                </a:pathLst>
              </a:custGeom>
              <a:noFill/>
              <a:ln w="19050">
                <a:solidFill>
                  <a:srgbClr val="518FEC"/>
                </a:solidFill>
              </a:ln>
            </p:spPr>
          </p:sp>
          <p:sp>
            <p:nvSpPr>
              <p:cNvPr id="94" name="Freeform 94"/>
              <p:cNvSpPr/>
              <p:nvPr/>
            </p:nvSpPr>
            <p:spPr>
              <a:xfrm>
                <a:off x="3750389" y="5487194"/>
                <a:ext cx="62071" cy="9525"/>
              </a:xfrm>
              <a:custGeom>
                <a:avLst/>
                <a:gdLst/>
                <a:ahLst/>
                <a:cxnLst/>
                <a:rect l="l" t="t" r="r" b="b"/>
                <a:pathLst>
                  <a:path w="62071" h="9525">
                    <a:moveTo>
                      <a:pt x="0" y="0"/>
                    </a:moveTo>
                    <a:lnTo>
                      <a:pt x="62071" y="0"/>
                    </a:lnTo>
                  </a:path>
                </a:pathLst>
              </a:custGeom>
              <a:noFill/>
              <a:ln w="19050">
                <a:solidFill>
                  <a:srgbClr val="518FEC"/>
                </a:solidFill>
              </a:ln>
            </p:spPr>
          </p:sp>
        </p:grpSp>
        <p:sp>
          <p:nvSpPr>
            <p:cNvPr id="96" name="TextBox 96"/>
            <p:cNvSpPr txBox="1"/>
            <p:nvPr/>
          </p:nvSpPr>
          <p:spPr>
            <a:xfrm>
              <a:off x="4023360" y="5347335"/>
              <a:ext cx="534543"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大模型</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97" name="TextBox 97"/>
            <p:cNvSpPr txBox="1"/>
            <p:nvPr/>
          </p:nvSpPr>
          <p:spPr>
            <a:xfrm>
              <a:off x="4026218" y="5609749"/>
              <a:ext cx="1363932"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语义理解 · 推理 · 生成</a:t>
              </a:r>
              <a:endParaRPr lang="zh-CN" sz="975" dirty="0">
                <a:solidFill>
                  <a:srgbClr val="8FA3C4"/>
                </a:solidFill>
                <a:latin typeface="Arial" panose="020B0604020202020204"/>
                <a:ea typeface="微软雅黑" panose="020B0503020204020204" charset="-122"/>
                <a:cs typeface="Arial" panose="020B0604020202020204"/>
              </a:endParaRPr>
            </a:p>
          </p:txBody>
        </p:sp>
        <p:grpSp>
          <p:nvGrpSpPr>
            <p:cNvPr id="105" name="Group 105"/>
            <p:cNvGrpSpPr/>
            <p:nvPr/>
          </p:nvGrpSpPr>
          <p:grpSpPr>
            <a:xfrm>
              <a:off x="6245225" y="5298281"/>
              <a:ext cx="242888" cy="256381"/>
              <a:chOff x="6245225" y="5298281"/>
              <a:chExt cx="242888" cy="256381"/>
            </a:xfrm>
          </p:grpSpPr>
          <p:sp>
            <p:nvSpPr>
              <p:cNvPr id="98" name="Freeform 98"/>
              <p:cNvSpPr/>
              <p:nvPr/>
            </p:nvSpPr>
            <p:spPr>
              <a:xfrm>
                <a:off x="6245225" y="5325269"/>
                <a:ext cx="103861" cy="215900"/>
              </a:xfrm>
              <a:custGeom>
                <a:avLst/>
                <a:gdLst/>
                <a:ahLst/>
                <a:cxnLst/>
                <a:rect l="l" t="t" r="r" b="b"/>
                <a:pathLst>
                  <a:path w="103861" h="215900">
                    <a:moveTo>
                      <a:pt x="53975" y="0"/>
                    </a:moveTo>
                    <a:lnTo>
                      <a:pt x="26988" y="0"/>
                    </a:lnTo>
                    <a:cubicBezTo>
                      <a:pt x="12083" y="0"/>
                      <a:pt x="0" y="12083"/>
                      <a:pt x="0" y="26987"/>
                    </a:cubicBezTo>
                    <a:lnTo>
                      <a:pt x="0" y="188912"/>
                    </a:lnTo>
                    <a:cubicBezTo>
                      <a:pt x="0" y="203817"/>
                      <a:pt x="12083" y="215900"/>
                      <a:pt x="26988" y="215900"/>
                    </a:cubicBezTo>
                    <a:lnTo>
                      <a:pt x="103861" y="215900"/>
                    </a:lnTo>
                  </a:path>
                </a:pathLst>
              </a:custGeom>
              <a:noFill/>
              <a:ln w="19050">
                <a:solidFill>
                  <a:srgbClr val="518FEC"/>
                </a:solidFill>
              </a:ln>
            </p:spPr>
          </p:sp>
          <p:sp>
            <p:nvSpPr>
              <p:cNvPr id="99" name="Freeform 99"/>
              <p:cNvSpPr/>
              <p:nvPr/>
            </p:nvSpPr>
            <p:spPr>
              <a:xfrm>
                <a:off x="6434138" y="5446712"/>
                <a:ext cx="53975" cy="53975"/>
              </a:xfrm>
              <a:custGeom>
                <a:avLst/>
                <a:gdLst/>
                <a:ahLst/>
                <a:cxnLst/>
                <a:rect l="l" t="t" r="r" b="b"/>
                <a:pathLst>
                  <a:path w="53975" h="53975">
                    <a:moveTo>
                      <a:pt x="0" y="0"/>
                    </a:moveTo>
                    <a:lnTo>
                      <a:pt x="0" y="53975"/>
                    </a:lnTo>
                    <a:lnTo>
                      <a:pt x="53975" y="53975"/>
                    </a:lnTo>
                  </a:path>
                </a:pathLst>
              </a:custGeom>
              <a:noFill/>
              <a:ln w="19050">
                <a:solidFill>
                  <a:srgbClr val="518FEC"/>
                </a:solidFill>
              </a:ln>
            </p:spPr>
          </p:sp>
          <p:sp>
            <p:nvSpPr>
              <p:cNvPr id="100" name="Freeform 100"/>
              <p:cNvSpPr/>
              <p:nvPr/>
            </p:nvSpPr>
            <p:spPr>
              <a:xfrm>
                <a:off x="6380162" y="5325269"/>
                <a:ext cx="53975" cy="80962"/>
              </a:xfrm>
              <a:custGeom>
                <a:avLst/>
                <a:gdLst/>
                <a:ahLst/>
                <a:cxnLst/>
                <a:rect l="l" t="t" r="r" b="b"/>
                <a:pathLst>
                  <a:path w="53975" h="80962">
                    <a:moveTo>
                      <a:pt x="53975" y="80962"/>
                    </a:moveTo>
                    <a:lnTo>
                      <a:pt x="53975" y="26987"/>
                    </a:lnTo>
                    <a:cubicBezTo>
                      <a:pt x="53975" y="12083"/>
                      <a:pt x="41892" y="0"/>
                      <a:pt x="26987" y="0"/>
                    </a:cubicBezTo>
                    <a:lnTo>
                      <a:pt x="0" y="0"/>
                    </a:lnTo>
                  </a:path>
                </a:pathLst>
              </a:custGeom>
              <a:noFill/>
              <a:ln w="19050">
                <a:solidFill>
                  <a:srgbClr val="518FEC"/>
                </a:solidFill>
              </a:ln>
            </p:spPr>
          </p:sp>
          <p:sp>
            <p:nvSpPr>
              <p:cNvPr id="101" name="Freeform 101"/>
              <p:cNvSpPr/>
              <p:nvPr/>
            </p:nvSpPr>
            <p:spPr>
              <a:xfrm>
                <a:off x="6299200" y="5298281"/>
                <a:ext cx="80962" cy="53975"/>
              </a:xfrm>
              <a:custGeom>
                <a:avLst/>
                <a:gdLst/>
                <a:ahLst/>
                <a:cxnLst/>
                <a:rect l="l" t="t" r="r" b="b"/>
                <a:pathLst>
                  <a:path w="80962" h="53975">
                    <a:moveTo>
                      <a:pt x="0" y="26988"/>
                    </a:moveTo>
                    <a:cubicBezTo>
                      <a:pt x="0" y="12083"/>
                      <a:pt x="12083" y="0"/>
                      <a:pt x="26987" y="0"/>
                    </a:cubicBezTo>
                    <a:lnTo>
                      <a:pt x="53975" y="0"/>
                    </a:lnTo>
                    <a:cubicBezTo>
                      <a:pt x="68880" y="0"/>
                      <a:pt x="80962" y="12083"/>
                      <a:pt x="80962" y="26988"/>
                    </a:cubicBezTo>
                    <a:cubicBezTo>
                      <a:pt x="80962" y="41892"/>
                      <a:pt x="68880" y="53975"/>
                      <a:pt x="53975" y="53975"/>
                    </a:cubicBezTo>
                    <a:lnTo>
                      <a:pt x="26987" y="53975"/>
                    </a:lnTo>
                    <a:cubicBezTo>
                      <a:pt x="12083" y="53975"/>
                      <a:pt x="0" y="41892"/>
                      <a:pt x="0" y="26988"/>
                    </a:cubicBezTo>
                  </a:path>
                </a:pathLst>
              </a:custGeom>
              <a:noFill/>
              <a:ln w="19050">
                <a:solidFill>
                  <a:srgbClr val="518FEC"/>
                </a:solidFill>
              </a:ln>
            </p:spPr>
          </p:sp>
          <p:sp>
            <p:nvSpPr>
              <p:cNvPr id="102" name="Freeform 102"/>
              <p:cNvSpPr/>
              <p:nvPr/>
            </p:nvSpPr>
            <p:spPr>
              <a:xfrm>
                <a:off x="6380162" y="5446712"/>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19050">
                <a:solidFill>
                  <a:srgbClr val="518FEC"/>
                </a:solidFill>
              </a:ln>
            </p:spPr>
          </p:sp>
          <p:sp>
            <p:nvSpPr>
              <p:cNvPr id="103" name="Freeform 103"/>
              <p:cNvSpPr/>
              <p:nvPr/>
            </p:nvSpPr>
            <p:spPr>
              <a:xfrm>
                <a:off x="6299200" y="5406231"/>
                <a:ext cx="53975" cy="9525"/>
              </a:xfrm>
              <a:custGeom>
                <a:avLst/>
                <a:gdLst/>
                <a:ahLst/>
                <a:cxnLst/>
                <a:rect l="l" t="t" r="r" b="b"/>
                <a:pathLst>
                  <a:path w="53975" h="9525">
                    <a:moveTo>
                      <a:pt x="0" y="0"/>
                    </a:moveTo>
                    <a:lnTo>
                      <a:pt x="53975" y="0"/>
                    </a:lnTo>
                  </a:path>
                </a:pathLst>
              </a:custGeom>
              <a:noFill/>
              <a:ln w="19050">
                <a:solidFill>
                  <a:srgbClr val="518FEC"/>
                </a:solidFill>
              </a:ln>
            </p:spPr>
          </p:sp>
          <p:sp>
            <p:nvSpPr>
              <p:cNvPr id="104" name="Freeform 104"/>
              <p:cNvSpPr/>
              <p:nvPr/>
            </p:nvSpPr>
            <p:spPr>
              <a:xfrm>
                <a:off x="6299200" y="5460206"/>
                <a:ext cx="40481" cy="9525"/>
              </a:xfrm>
              <a:custGeom>
                <a:avLst/>
                <a:gdLst/>
                <a:ahLst/>
                <a:cxnLst/>
                <a:rect l="l" t="t" r="r" b="b"/>
                <a:pathLst>
                  <a:path w="40481" h="9525">
                    <a:moveTo>
                      <a:pt x="0" y="0"/>
                    </a:moveTo>
                    <a:lnTo>
                      <a:pt x="40481" y="0"/>
                    </a:lnTo>
                  </a:path>
                </a:pathLst>
              </a:custGeom>
              <a:noFill/>
              <a:ln w="19050">
                <a:solidFill>
                  <a:srgbClr val="518FEC"/>
                </a:solidFill>
              </a:ln>
            </p:spPr>
          </p:sp>
        </p:grpSp>
        <p:sp>
          <p:nvSpPr>
            <p:cNvPr id="106" name="TextBox 106"/>
            <p:cNvSpPr txBox="1"/>
            <p:nvPr/>
          </p:nvSpPr>
          <p:spPr>
            <a:xfrm>
              <a:off x="6595110" y="5347335"/>
              <a:ext cx="87058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企业知识库</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107" name="TextBox 107"/>
            <p:cNvSpPr txBox="1"/>
            <p:nvPr/>
          </p:nvSpPr>
          <p:spPr>
            <a:xfrm>
              <a:off x="6597968" y="5609749"/>
              <a:ext cx="1539454"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资质·标书·人才·客户资产</a:t>
              </a:r>
              <a:endParaRPr lang="zh-CN" sz="975" dirty="0">
                <a:solidFill>
                  <a:srgbClr val="8FA3C4"/>
                </a:solidFill>
                <a:latin typeface="Arial" panose="020B0604020202020204"/>
                <a:ea typeface="微软雅黑" panose="020B0503020204020204" charset="-122"/>
                <a:cs typeface="Arial" panose="020B0604020202020204"/>
              </a:endParaRPr>
            </a:p>
          </p:txBody>
        </p:sp>
        <p:grpSp>
          <p:nvGrpSpPr>
            <p:cNvPr id="116" name="Group 116"/>
            <p:cNvGrpSpPr/>
            <p:nvPr/>
          </p:nvGrpSpPr>
          <p:grpSpPr>
            <a:xfrm>
              <a:off x="8993981" y="5298281"/>
              <a:ext cx="242887" cy="256382"/>
              <a:chOff x="8993981" y="5298281"/>
              <a:chExt cx="242887" cy="256382"/>
            </a:xfrm>
          </p:grpSpPr>
          <p:sp>
            <p:nvSpPr>
              <p:cNvPr id="108" name="Freeform 108"/>
              <p:cNvSpPr/>
              <p:nvPr/>
            </p:nvSpPr>
            <p:spPr>
              <a:xfrm>
                <a:off x="9034462" y="5298281"/>
                <a:ext cx="161925" cy="161925"/>
              </a:xfrm>
              <a:custGeom>
                <a:avLst/>
                <a:gdLst/>
                <a:ahLst/>
                <a:cxnLst/>
                <a:rect l="l" t="t" r="r" b="b"/>
                <a:pathLst>
                  <a:path w="161925" h="161925">
                    <a:moveTo>
                      <a:pt x="0" y="80962"/>
                    </a:moveTo>
                    <a:cubicBezTo>
                      <a:pt x="0" y="125677"/>
                      <a:pt x="36248" y="161925"/>
                      <a:pt x="80962" y="161925"/>
                    </a:cubicBezTo>
                    <a:cubicBezTo>
                      <a:pt x="125677" y="161925"/>
                      <a:pt x="161925" y="125677"/>
                      <a:pt x="161925" y="80962"/>
                    </a:cubicBezTo>
                    <a:cubicBezTo>
                      <a:pt x="161925" y="36248"/>
                      <a:pt x="125677" y="0"/>
                      <a:pt x="80962" y="0"/>
                    </a:cubicBezTo>
                    <a:cubicBezTo>
                      <a:pt x="36248" y="0"/>
                      <a:pt x="0" y="36248"/>
                      <a:pt x="0" y="80962"/>
                    </a:cubicBezTo>
                  </a:path>
                </a:pathLst>
              </a:custGeom>
              <a:noFill/>
              <a:ln w="19050">
                <a:solidFill>
                  <a:srgbClr val="518FEC"/>
                </a:solidFill>
              </a:ln>
            </p:spPr>
          </p:sp>
          <p:sp>
            <p:nvSpPr>
              <p:cNvPr id="109" name="Freeform 109"/>
              <p:cNvSpPr/>
              <p:nvPr/>
            </p:nvSpPr>
            <p:spPr>
              <a:xfrm>
                <a:off x="9115425" y="5298281"/>
                <a:ext cx="26988" cy="161925"/>
              </a:xfrm>
              <a:custGeom>
                <a:avLst/>
                <a:gdLst/>
                <a:ahLst/>
                <a:cxnLst/>
                <a:rect l="l" t="t" r="r" b="b"/>
                <a:pathLst>
                  <a:path w="26988" h="161925">
                    <a:moveTo>
                      <a:pt x="0" y="0"/>
                    </a:moveTo>
                    <a:cubicBezTo>
                      <a:pt x="17987" y="4493"/>
                      <a:pt x="26988" y="31481"/>
                      <a:pt x="26988" y="80962"/>
                    </a:cubicBezTo>
                    <a:cubicBezTo>
                      <a:pt x="26988" y="130444"/>
                      <a:pt x="17987" y="157432"/>
                      <a:pt x="0" y="161925"/>
                    </a:cubicBezTo>
                  </a:path>
                </a:pathLst>
              </a:custGeom>
              <a:noFill/>
              <a:ln w="19050">
                <a:solidFill>
                  <a:srgbClr val="518FEC"/>
                </a:solidFill>
              </a:ln>
            </p:spPr>
          </p:sp>
          <p:sp>
            <p:nvSpPr>
              <p:cNvPr id="110" name="Freeform 110"/>
              <p:cNvSpPr/>
              <p:nvPr/>
            </p:nvSpPr>
            <p:spPr>
              <a:xfrm>
                <a:off x="9088438" y="5298281"/>
                <a:ext cx="26988" cy="161925"/>
              </a:xfrm>
              <a:custGeom>
                <a:avLst/>
                <a:gdLst/>
                <a:ahLst/>
                <a:cxnLst/>
                <a:rect l="l" t="t" r="r" b="b"/>
                <a:pathLst>
                  <a:path w="26988" h="161925">
                    <a:moveTo>
                      <a:pt x="26988" y="0"/>
                    </a:moveTo>
                    <a:cubicBezTo>
                      <a:pt x="9000" y="4493"/>
                      <a:pt x="0" y="31481"/>
                      <a:pt x="0" y="80962"/>
                    </a:cubicBezTo>
                    <a:cubicBezTo>
                      <a:pt x="0" y="130444"/>
                      <a:pt x="9000" y="157432"/>
                      <a:pt x="26988" y="161925"/>
                    </a:cubicBezTo>
                  </a:path>
                </a:pathLst>
              </a:custGeom>
              <a:noFill/>
              <a:ln w="19050">
                <a:solidFill>
                  <a:srgbClr val="518FEC"/>
                </a:solidFill>
              </a:ln>
            </p:spPr>
          </p:sp>
          <p:sp>
            <p:nvSpPr>
              <p:cNvPr id="111" name="Freeform 111"/>
              <p:cNvSpPr/>
              <p:nvPr/>
            </p:nvSpPr>
            <p:spPr>
              <a:xfrm>
                <a:off x="9034462" y="5379244"/>
                <a:ext cx="161925" cy="9525"/>
              </a:xfrm>
              <a:custGeom>
                <a:avLst/>
                <a:gdLst/>
                <a:ahLst/>
                <a:cxnLst/>
                <a:rect l="l" t="t" r="r" b="b"/>
                <a:pathLst>
                  <a:path w="161925" h="9525">
                    <a:moveTo>
                      <a:pt x="0" y="0"/>
                    </a:moveTo>
                    <a:lnTo>
                      <a:pt x="161925" y="0"/>
                    </a:lnTo>
                  </a:path>
                </a:pathLst>
              </a:custGeom>
              <a:noFill/>
              <a:ln w="19050">
                <a:solidFill>
                  <a:srgbClr val="518FEC"/>
                </a:solidFill>
              </a:ln>
            </p:spPr>
          </p:sp>
          <p:sp>
            <p:nvSpPr>
              <p:cNvPr id="112" name="Freeform 112"/>
              <p:cNvSpPr/>
              <p:nvPr/>
            </p:nvSpPr>
            <p:spPr>
              <a:xfrm>
                <a:off x="8993981" y="5527675"/>
                <a:ext cx="94456" cy="9525"/>
              </a:xfrm>
              <a:custGeom>
                <a:avLst/>
                <a:gdLst/>
                <a:ahLst/>
                <a:cxnLst/>
                <a:rect l="l" t="t" r="r" b="b"/>
                <a:pathLst>
                  <a:path w="94456" h="9525">
                    <a:moveTo>
                      <a:pt x="0" y="0"/>
                    </a:moveTo>
                    <a:lnTo>
                      <a:pt x="94456" y="0"/>
                    </a:lnTo>
                  </a:path>
                </a:pathLst>
              </a:custGeom>
              <a:noFill/>
              <a:ln w="19050">
                <a:solidFill>
                  <a:srgbClr val="518FEC"/>
                </a:solidFill>
              </a:ln>
            </p:spPr>
          </p:sp>
          <p:sp>
            <p:nvSpPr>
              <p:cNvPr id="113" name="Freeform 113"/>
              <p:cNvSpPr/>
              <p:nvPr/>
            </p:nvSpPr>
            <p:spPr>
              <a:xfrm>
                <a:off x="9142412" y="5527675"/>
                <a:ext cx="94456" cy="9525"/>
              </a:xfrm>
              <a:custGeom>
                <a:avLst/>
                <a:gdLst/>
                <a:ahLst/>
                <a:cxnLst/>
                <a:rect l="l" t="t" r="r" b="b"/>
                <a:pathLst>
                  <a:path w="94456" h="9525">
                    <a:moveTo>
                      <a:pt x="0" y="0"/>
                    </a:moveTo>
                    <a:lnTo>
                      <a:pt x="94456" y="0"/>
                    </a:lnTo>
                  </a:path>
                </a:pathLst>
              </a:custGeom>
              <a:noFill/>
              <a:ln w="19050">
                <a:solidFill>
                  <a:srgbClr val="518FEC"/>
                </a:solidFill>
              </a:ln>
            </p:spPr>
          </p:sp>
          <p:sp>
            <p:nvSpPr>
              <p:cNvPr id="114" name="Freeform 114"/>
              <p:cNvSpPr/>
              <p:nvPr/>
            </p:nvSpPr>
            <p:spPr>
              <a:xfrm>
                <a:off x="9088438" y="5500688"/>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19050">
                <a:solidFill>
                  <a:srgbClr val="518FEC"/>
                </a:solidFill>
              </a:ln>
            </p:spPr>
          </p:sp>
          <p:sp>
            <p:nvSpPr>
              <p:cNvPr id="115" name="Freeform 115"/>
              <p:cNvSpPr/>
              <p:nvPr/>
            </p:nvSpPr>
            <p:spPr>
              <a:xfrm>
                <a:off x="9115425" y="5460206"/>
                <a:ext cx="9525" cy="40481"/>
              </a:xfrm>
              <a:custGeom>
                <a:avLst/>
                <a:gdLst/>
                <a:ahLst/>
                <a:cxnLst/>
                <a:rect l="l" t="t" r="r" b="b"/>
                <a:pathLst>
                  <a:path w="9525" h="40481">
                    <a:moveTo>
                      <a:pt x="0" y="0"/>
                    </a:moveTo>
                    <a:lnTo>
                      <a:pt x="0" y="40481"/>
                    </a:lnTo>
                  </a:path>
                </a:pathLst>
              </a:custGeom>
              <a:noFill/>
              <a:ln w="19050">
                <a:solidFill>
                  <a:srgbClr val="518FEC"/>
                </a:solidFill>
              </a:ln>
            </p:spPr>
          </p:sp>
        </p:grpSp>
        <p:sp>
          <p:nvSpPr>
            <p:cNvPr id="117" name="TextBox 117"/>
            <p:cNvSpPr txBox="1"/>
            <p:nvPr/>
          </p:nvSpPr>
          <p:spPr>
            <a:xfrm>
              <a:off x="9357360" y="534733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数据接入</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118" name="TextBox 118"/>
            <p:cNvSpPr txBox="1"/>
            <p:nvPr/>
          </p:nvSpPr>
          <p:spPr>
            <a:xfrm>
              <a:off x="9360218" y="5609749"/>
              <a:ext cx="1474446"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多平台采集 · 工作流编排</a:t>
              </a:r>
              <a:endParaRPr lang="zh-CN" sz="975" dirty="0">
                <a:solidFill>
                  <a:srgbClr val="8FA3C4"/>
                </a:solidFill>
                <a:latin typeface="Arial" panose="020B0604020202020204"/>
                <a:ea typeface="微软雅黑" panose="020B0503020204020204" charset="-122"/>
                <a:cs typeface="Arial" panose="020B0604020202020204"/>
              </a:endParaRPr>
            </a:p>
          </p:txBody>
        </p:sp>
      </p:grpSp>
      <p:grpSp>
        <p:nvGrpSpPr>
          <p:cNvPr id="122" name="Group 122"/>
          <p:cNvGrpSpPr/>
          <p:nvPr/>
        </p:nvGrpSpPr>
        <p:grpSpPr>
          <a:xfrm>
            <a:off x="561022" y="6578441"/>
            <a:ext cx="11069955" cy="167640"/>
            <a:chOff x="561022" y="6578441"/>
            <a:chExt cx="11069955" cy="167640"/>
          </a:xfrm>
        </p:grpSpPr>
        <p:sp>
          <p:nvSpPr>
            <p:cNvPr id="120" name="TextBox 120"/>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21" name="TextBox 121"/>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08</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400"/>
                                        <p:tgtEl>
                                          <p:spTgt spid="3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slide(fromBottom)">
                                      <p:cBhvr>
                                        <p:cTn id="11" dur="400"/>
                                        <p:tgtEl>
                                          <p:spTgt spid="37"/>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image">
                                      <p:cBhvr>
                                        <p:cTn id="15" dur="400"/>
                                        <p:tgtEl>
                                          <p:spTgt spid="7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0"/>
                                        </p:tgtEl>
                                        <p:attrNameLst>
                                          <p:attrName>style.visibility</p:attrName>
                                        </p:attrNameLst>
                                      </p:cBhvr>
                                      <p:to>
                                        <p:strVal val="visible"/>
                                      </p:to>
                                    </p:set>
                                    <p:animEffect transition="in" filter="fade">
                                      <p:cBhvr>
                                        <p:cTn id="19" dur="400"/>
                                        <p:tgtEl>
                                          <p:spTgt spid="80"/>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19"/>
                                        </p:tgtEl>
                                        <p:attrNameLst>
                                          <p:attrName>style.visibility</p:attrName>
                                        </p:attrNameLst>
                                      </p:cBhvr>
                                      <p:to>
                                        <p:strVal val="visible"/>
                                      </p:to>
                                    </p:set>
                                    <p:animEffect transition="in" filter="wipe(left)">
                                      <p:cBhvr>
                                        <p:cTn id="23" dur="4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7" grpId="0"/>
      <p:bldP spid="78" grpId="0"/>
      <p:bldP spid="80" grpId="0"/>
      <p:bldP spid="1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6042898" cy="970598"/>
            <a:chOff x="542925" y="553402"/>
            <a:chExt cx="6042898" cy="970598"/>
          </a:xfrm>
        </p:grpSpPr>
        <p:sp>
          <p:nvSpPr>
            <p:cNvPr id="5" name="TextBox 5"/>
            <p:cNvSpPr txBox="1"/>
            <p:nvPr/>
          </p:nvSpPr>
          <p:spPr>
            <a:xfrm>
              <a:off x="558165" y="553402"/>
              <a:ext cx="820569"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02 总体方案</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6042898"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FarAI 1+4+X 产品矩阵 → 高力国际四大场景</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4935093"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法本 FarAI 现成的四大产品能力直接映射高力四大需求,无需从零建设</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28" name="Group 28"/>
          <p:cNvGrpSpPr/>
          <p:nvPr/>
        </p:nvGrpSpPr>
        <p:grpSpPr>
          <a:xfrm>
            <a:off x="571500" y="1762125"/>
            <a:ext cx="2647950" cy="3190875"/>
            <a:chOff x="571500" y="1762125"/>
            <a:chExt cx="2647950" cy="3190875"/>
          </a:xfrm>
        </p:grpSpPr>
        <p:sp>
          <p:nvSpPr>
            <p:cNvPr id="9" name="Rectangle 9"/>
            <p:cNvSpPr/>
            <p:nvPr/>
          </p:nvSpPr>
          <p:spPr>
            <a:xfrm>
              <a:off x="571500" y="1762125"/>
              <a:ext cx="2647950" cy="3190875"/>
            </a:xfrm>
            <a:prstGeom prst="roundRect">
              <a:avLst>
                <a:gd name="adj" fmla="val 4317"/>
              </a:avLst>
            </a:prstGeom>
            <a:solidFill>
              <a:srgbClr val="F4F7FC"/>
            </a:solidFill>
            <a:ln>
              <a:noFill/>
            </a:ln>
          </p:spPr>
        </p:sp>
        <p:sp>
          <p:nvSpPr>
            <p:cNvPr id="10" name="Rectangle 10"/>
            <p:cNvSpPr/>
            <p:nvPr/>
          </p:nvSpPr>
          <p:spPr>
            <a:xfrm>
              <a:off x="571500" y="1762125"/>
              <a:ext cx="2647950" cy="514350"/>
            </a:xfrm>
            <a:prstGeom prst="roundRect">
              <a:avLst>
                <a:gd name="adj" fmla="val 22222"/>
              </a:avLst>
            </a:prstGeom>
            <a:solidFill>
              <a:srgbClr val="246BFE"/>
            </a:solidFill>
            <a:ln>
              <a:noFill/>
            </a:ln>
          </p:spPr>
        </p:sp>
        <p:sp>
          <p:nvSpPr>
            <p:cNvPr id="11" name="Rectangle 11"/>
            <p:cNvSpPr/>
            <p:nvPr/>
          </p:nvSpPr>
          <p:spPr>
            <a:xfrm>
              <a:off x="571500" y="2143125"/>
              <a:ext cx="2647950" cy="133350"/>
            </a:xfrm>
            <a:prstGeom prst="rect">
              <a:avLst/>
            </a:prstGeom>
            <a:solidFill>
              <a:srgbClr val="246BFE"/>
            </a:solidFill>
            <a:ln>
              <a:noFill/>
            </a:ln>
          </p:spPr>
        </p:sp>
        <p:sp>
          <p:nvSpPr>
            <p:cNvPr id="12" name="TextBox 12"/>
            <p:cNvSpPr txBox="1"/>
            <p:nvPr/>
          </p:nvSpPr>
          <p:spPr>
            <a:xfrm>
              <a:off x="749618" y="1990249"/>
              <a:ext cx="680047"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panose="020B0604020202020204"/>
                  <a:ea typeface="微软雅黑" panose="020B0503020204020204" charset="-122"/>
                  <a:cs typeface="Arial" panose="020B0604020202020204"/>
                </a:rPr>
                <a:t>FARAI 产品</a:t>
              </a:r>
              <a:endParaRPr lang="zh-CN" sz="975" b="1" dirty="0">
                <a:solidFill>
                  <a:srgbClr val="FFFFFF"/>
                </a:solidFill>
                <a:latin typeface="Arial" panose="020B0604020202020204"/>
                <a:ea typeface="微软雅黑" panose="020B0503020204020204" charset="-122"/>
                <a:cs typeface="Arial" panose="020B0604020202020204"/>
              </a:endParaRPr>
            </a:p>
          </p:txBody>
        </p:sp>
        <p:grpSp>
          <p:nvGrpSpPr>
            <p:cNvPr id="17" name="Group 17"/>
            <p:cNvGrpSpPr/>
            <p:nvPr/>
          </p:nvGrpSpPr>
          <p:grpSpPr>
            <a:xfrm>
              <a:off x="2321719" y="1912144"/>
              <a:ext cx="214312" cy="214313"/>
              <a:chOff x="2321719" y="1912144"/>
              <a:chExt cx="214312" cy="214313"/>
            </a:xfrm>
          </p:grpSpPr>
          <p:sp>
            <p:nvSpPr>
              <p:cNvPr id="13" name="Freeform 13"/>
              <p:cNvSpPr/>
              <p:nvPr/>
            </p:nvSpPr>
            <p:spPr>
              <a:xfrm>
                <a:off x="2345531" y="1912144"/>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FFFFFF"/>
                </a:solidFill>
              </a:ln>
            </p:spPr>
          </p:sp>
          <p:sp>
            <p:nvSpPr>
              <p:cNvPr id="14" name="Freeform 14"/>
              <p:cNvSpPr/>
              <p:nvPr/>
            </p:nvSpPr>
            <p:spPr>
              <a:xfrm>
                <a:off x="2321719" y="2055019"/>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19050">
                <a:solidFill>
                  <a:srgbClr val="FFFFFF"/>
                </a:solidFill>
              </a:ln>
            </p:spPr>
          </p:sp>
          <p:sp>
            <p:nvSpPr>
              <p:cNvPr id="15" name="Freeform 15"/>
              <p:cNvSpPr/>
              <p:nvPr/>
            </p:nvSpPr>
            <p:spPr>
              <a:xfrm>
                <a:off x="2476500" y="1913692"/>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19050">
                <a:solidFill>
                  <a:srgbClr val="FFFFFF"/>
                </a:solidFill>
              </a:ln>
            </p:spPr>
          </p:sp>
          <p:sp>
            <p:nvSpPr>
              <p:cNvPr id="16" name="Freeform 16"/>
              <p:cNvSpPr/>
              <p:nvPr/>
            </p:nvSpPr>
            <p:spPr>
              <a:xfrm>
                <a:off x="2500312" y="2056805"/>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19050">
                <a:solidFill>
                  <a:srgbClr val="FFFFFF"/>
                </a:solidFill>
              </a:ln>
            </p:spPr>
          </p:sp>
        </p:grpSp>
        <p:sp>
          <p:nvSpPr>
            <p:cNvPr id="18" name="TextBox 18"/>
            <p:cNvSpPr txBox="1"/>
            <p:nvPr/>
          </p:nvSpPr>
          <p:spPr>
            <a:xfrm>
              <a:off x="742950" y="2457450"/>
              <a:ext cx="1140738" cy="304800"/>
            </a:xfrm>
            <a:prstGeom prst="rect">
              <a:avLst/>
            </a:prstGeom>
            <a:noFill/>
            <a:ln>
              <a:noFill/>
            </a:ln>
          </p:spPr>
          <p:txBody>
            <a:bodyPr wrap="none" lIns="0" tIns="0" rIns="0" bIns="0" anchor="t" anchorCtr="0">
              <a:spAutoFit/>
            </a:bodyPr>
            <a:lstStyle/>
            <a:p>
              <a:pPr algn="l"/>
              <a:r>
                <a:rPr lang="zh-CN" sz="1500" b="1" dirty="0">
                  <a:solidFill>
                    <a:srgbClr val="17365D"/>
                  </a:solidFill>
                  <a:latin typeface="Arial" panose="020B0604020202020204"/>
                  <a:ea typeface="微软雅黑" panose="020B0503020204020204" charset="-122"/>
                  <a:cs typeface="Arial" panose="020B0604020202020204"/>
                </a:rPr>
                <a:t>GPTRecruit</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749618" y="2752249"/>
              <a:ext cx="93487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招聘全流程产品</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20" name="Line 20"/>
            <p:cNvSpPr/>
            <p:nvPr/>
          </p:nvSpPr>
          <p:spPr>
            <a:xfrm>
              <a:off x="762000" y="3000375"/>
              <a:ext cx="666750" cy="9525"/>
            </a:xfrm>
            <a:custGeom>
              <a:avLst/>
              <a:gdLst/>
              <a:ahLst/>
              <a:cxnLst/>
              <a:rect l="l" t="t" r="r" b="b"/>
              <a:pathLst>
                <a:path w="666750" h="9525">
                  <a:moveTo>
                    <a:pt x="0" y="0"/>
                  </a:moveTo>
                  <a:lnTo>
                    <a:pt x="666750" y="0"/>
                  </a:lnTo>
                </a:path>
              </a:pathLst>
            </a:custGeom>
            <a:noFill/>
            <a:ln w="19050">
              <a:solidFill>
                <a:srgbClr val="246BFE"/>
              </a:solidFill>
            </a:ln>
          </p:spPr>
        </p:sp>
        <p:sp>
          <p:nvSpPr>
            <p:cNvPr id="21" name="TextBox 21"/>
            <p:cNvSpPr txBox="1"/>
            <p:nvPr/>
          </p:nvSpPr>
          <p:spPr>
            <a:xfrm>
              <a:off x="748665" y="3172778"/>
              <a:ext cx="901779"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JD 智能生成</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748665" y="3410902"/>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简历精准匹配</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748665" y="3649028"/>
              <a:ext cx="58674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AI 面试</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748665" y="3887152"/>
              <a:ext cx="84577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招聘机器人</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5" name="Line 25"/>
            <p:cNvSpPr/>
            <p:nvPr/>
          </p:nvSpPr>
          <p:spPr>
            <a:xfrm>
              <a:off x="1895475" y="4333875"/>
              <a:ext cx="1" cy="285750"/>
            </a:xfrm>
            <a:prstGeom prst="line">
              <a:avLst/>
            </a:prstGeom>
            <a:noFill/>
            <a:ln w="23812">
              <a:solidFill>
                <a:srgbClr val="F59E0B"/>
              </a:solidFill>
              <a:tailEnd type="triangle" w="lg" len="lg"/>
            </a:ln>
          </p:spPr>
        </p:sp>
        <p:sp>
          <p:nvSpPr>
            <p:cNvPr id="26" name="Rectangle 26"/>
            <p:cNvSpPr/>
            <p:nvPr/>
          </p:nvSpPr>
          <p:spPr>
            <a:xfrm>
              <a:off x="762000" y="4667250"/>
              <a:ext cx="2266950" cy="190500"/>
            </a:xfrm>
            <a:prstGeom prst="roundRect">
              <a:avLst>
                <a:gd name="adj" fmla="val 50000"/>
              </a:avLst>
            </a:prstGeom>
            <a:solidFill>
              <a:srgbClr val="F59E0B">
                <a:alpha val="14000"/>
              </a:srgbClr>
            </a:solidFill>
            <a:ln>
              <a:noFill/>
            </a:ln>
          </p:spPr>
        </p:sp>
        <p:sp>
          <p:nvSpPr>
            <p:cNvPr id="27" name="TextBox 27"/>
            <p:cNvSpPr txBox="1"/>
            <p:nvPr/>
          </p:nvSpPr>
          <p:spPr>
            <a:xfrm>
              <a:off x="1552039" y="4695349"/>
              <a:ext cx="686873"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panose="020B0604020202020204"/>
                  <a:ea typeface="微软雅黑" panose="020B0503020204020204" charset="-122"/>
                  <a:cs typeface="Arial" panose="020B0604020202020204"/>
                </a:rPr>
                <a:t>→ 智能招聘</a:t>
              </a:r>
              <a:endParaRPr lang="zh-CN" sz="975" b="1" dirty="0">
                <a:solidFill>
                  <a:srgbClr val="F59E0B"/>
                </a:solidFill>
                <a:latin typeface="Arial" panose="020B0604020202020204"/>
                <a:ea typeface="微软雅黑" panose="020B0503020204020204" charset="-122"/>
                <a:cs typeface="Arial" panose="020B0604020202020204"/>
              </a:endParaRPr>
            </a:p>
          </p:txBody>
        </p:sp>
      </p:grpSp>
      <p:grpSp>
        <p:nvGrpSpPr>
          <p:cNvPr id="46" name="Group 46"/>
          <p:cNvGrpSpPr/>
          <p:nvPr/>
        </p:nvGrpSpPr>
        <p:grpSpPr>
          <a:xfrm>
            <a:off x="3371850" y="1762125"/>
            <a:ext cx="2647950" cy="3190875"/>
            <a:chOff x="3371850" y="1762125"/>
            <a:chExt cx="2647950" cy="3190875"/>
          </a:xfrm>
        </p:grpSpPr>
        <p:sp>
          <p:nvSpPr>
            <p:cNvPr id="29" name="Rectangle 29"/>
            <p:cNvSpPr/>
            <p:nvPr/>
          </p:nvSpPr>
          <p:spPr>
            <a:xfrm>
              <a:off x="3371850" y="1762125"/>
              <a:ext cx="2647950" cy="3190875"/>
            </a:xfrm>
            <a:prstGeom prst="roundRect">
              <a:avLst>
                <a:gd name="adj" fmla="val 4317"/>
              </a:avLst>
            </a:prstGeom>
            <a:solidFill>
              <a:srgbClr val="F4F7FC"/>
            </a:solidFill>
            <a:ln>
              <a:noFill/>
            </a:ln>
          </p:spPr>
        </p:sp>
        <p:sp>
          <p:nvSpPr>
            <p:cNvPr id="30" name="Rectangle 30"/>
            <p:cNvSpPr/>
            <p:nvPr/>
          </p:nvSpPr>
          <p:spPr>
            <a:xfrm>
              <a:off x="3371850" y="1762125"/>
              <a:ext cx="2647950" cy="514350"/>
            </a:xfrm>
            <a:prstGeom prst="roundRect">
              <a:avLst>
                <a:gd name="adj" fmla="val 22222"/>
              </a:avLst>
            </a:prstGeom>
            <a:solidFill>
              <a:srgbClr val="0E9F6E"/>
            </a:solidFill>
            <a:ln>
              <a:noFill/>
            </a:ln>
          </p:spPr>
        </p:sp>
        <p:sp>
          <p:nvSpPr>
            <p:cNvPr id="31" name="Rectangle 31"/>
            <p:cNvSpPr/>
            <p:nvPr/>
          </p:nvSpPr>
          <p:spPr>
            <a:xfrm>
              <a:off x="3371850" y="2143125"/>
              <a:ext cx="2647950" cy="133350"/>
            </a:xfrm>
            <a:prstGeom prst="rect">
              <a:avLst/>
            </a:prstGeom>
            <a:solidFill>
              <a:srgbClr val="0E9F6E"/>
            </a:solidFill>
            <a:ln>
              <a:noFill/>
            </a:ln>
          </p:spPr>
        </p:sp>
        <p:sp>
          <p:nvSpPr>
            <p:cNvPr id="32" name="TextBox 32"/>
            <p:cNvSpPr txBox="1"/>
            <p:nvPr/>
          </p:nvSpPr>
          <p:spPr>
            <a:xfrm>
              <a:off x="3549968" y="1990249"/>
              <a:ext cx="680047"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panose="020B0604020202020204"/>
                  <a:ea typeface="微软雅黑" panose="020B0503020204020204" charset="-122"/>
                  <a:cs typeface="Arial" panose="020B0604020202020204"/>
                </a:rPr>
                <a:t>FARAI 新建</a:t>
              </a:r>
              <a:endParaRPr lang="zh-CN" sz="975" b="1" dirty="0">
                <a:solidFill>
                  <a:srgbClr val="FFFFFF"/>
                </a:solidFill>
                <a:latin typeface="Arial" panose="020B0604020202020204"/>
                <a:ea typeface="微软雅黑" panose="020B0503020204020204" charset="-122"/>
                <a:cs typeface="Arial" panose="020B0604020202020204"/>
              </a:endParaRPr>
            </a:p>
          </p:txBody>
        </p:sp>
        <p:grpSp>
          <p:nvGrpSpPr>
            <p:cNvPr id="35" name="Group 35"/>
            <p:cNvGrpSpPr/>
            <p:nvPr/>
          </p:nvGrpSpPr>
          <p:grpSpPr>
            <a:xfrm>
              <a:off x="5122069" y="1912144"/>
              <a:ext cx="214313" cy="214313"/>
              <a:chOff x="5122069" y="1912144"/>
              <a:chExt cx="214313" cy="214313"/>
            </a:xfrm>
          </p:grpSpPr>
          <p:sp>
            <p:nvSpPr>
              <p:cNvPr id="33" name="Freeform 33"/>
              <p:cNvSpPr/>
              <p:nvPr/>
            </p:nvSpPr>
            <p:spPr>
              <a:xfrm>
                <a:off x="5122069" y="1912144"/>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FFFFFF"/>
                </a:solidFill>
              </a:ln>
            </p:spPr>
          </p:sp>
          <p:sp>
            <p:nvSpPr>
              <p:cNvPr id="34" name="Freeform 34"/>
              <p:cNvSpPr/>
              <p:nvPr/>
            </p:nvSpPr>
            <p:spPr>
              <a:xfrm>
                <a:off x="5264944" y="2055019"/>
                <a:ext cx="71438" cy="71438"/>
              </a:xfrm>
              <a:custGeom>
                <a:avLst/>
                <a:gdLst/>
                <a:ahLst/>
                <a:cxnLst/>
                <a:rect l="l" t="t" r="r" b="b"/>
                <a:pathLst>
                  <a:path w="71438" h="71438">
                    <a:moveTo>
                      <a:pt x="71438" y="71438"/>
                    </a:moveTo>
                    <a:lnTo>
                      <a:pt x="0" y="0"/>
                    </a:lnTo>
                  </a:path>
                </a:pathLst>
              </a:custGeom>
              <a:noFill/>
              <a:ln w="19050">
                <a:solidFill>
                  <a:srgbClr val="FFFFFF"/>
                </a:solidFill>
              </a:ln>
            </p:spPr>
          </p:sp>
        </p:grpSp>
        <p:sp>
          <p:nvSpPr>
            <p:cNvPr id="36" name="TextBox 36"/>
            <p:cNvSpPr txBox="1"/>
            <p:nvPr/>
          </p:nvSpPr>
          <p:spPr>
            <a:xfrm>
              <a:off x="3543300" y="2457450"/>
              <a:ext cx="1466279" cy="304800"/>
            </a:xfrm>
            <a:prstGeom prst="rect">
              <a:avLst/>
            </a:prstGeom>
            <a:noFill/>
            <a:ln>
              <a:noFill/>
            </a:ln>
          </p:spPr>
          <p:txBody>
            <a:bodyPr wrap="none" lIns="0" tIns="0" rIns="0" bIns="0" anchor="t" anchorCtr="0">
              <a:spAutoFit/>
            </a:bodyPr>
            <a:lstStyle/>
            <a:p>
              <a:pPr algn="l"/>
              <a:r>
                <a:rPr lang="zh-CN" sz="1500" b="1" dirty="0">
                  <a:solidFill>
                    <a:srgbClr val="17365D"/>
                  </a:solidFill>
                  <a:latin typeface="Arial" panose="020B0604020202020204"/>
                  <a:ea typeface="微软雅黑" panose="020B0503020204020204" charset="-122"/>
                  <a:cs typeface="Arial" panose="020B0604020202020204"/>
                </a:rPr>
                <a:t>FarAI 商机引擎</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3549968" y="2752249"/>
              <a:ext cx="93487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面向市场部新建</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38" name="Line 38"/>
            <p:cNvSpPr/>
            <p:nvPr/>
          </p:nvSpPr>
          <p:spPr>
            <a:xfrm>
              <a:off x="3562350" y="3000375"/>
              <a:ext cx="666750" cy="9525"/>
            </a:xfrm>
            <a:custGeom>
              <a:avLst/>
              <a:gdLst/>
              <a:ahLst/>
              <a:cxnLst/>
              <a:rect l="l" t="t" r="r" b="b"/>
              <a:pathLst>
                <a:path w="666750" h="9525">
                  <a:moveTo>
                    <a:pt x="0" y="0"/>
                  </a:moveTo>
                  <a:lnTo>
                    <a:pt x="666750" y="0"/>
                  </a:lnTo>
                </a:path>
              </a:pathLst>
            </a:custGeom>
            <a:noFill/>
            <a:ln w="19050">
              <a:solidFill>
                <a:srgbClr val="0E9F6E"/>
              </a:solidFill>
            </a:ln>
          </p:spPr>
        </p:sp>
        <p:sp>
          <p:nvSpPr>
            <p:cNvPr id="39" name="TextBox 39"/>
            <p:cNvSpPr txBox="1"/>
            <p:nvPr/>
          </p:nvSpPr>
          <p:spPr>
            <a:xfrm>
              <a:off x="3549015" y="3172778"/>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多源全量采集</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3549015" y="3410902"/>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非结构化解析</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3549015" y="3649028"/>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商机价值评分</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3549015" y="3887152"/>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自动分配商务</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43" name="Line 43"/>
            <p:cNvSpPr/>
            <p:nvPr/>
          </p:nvSpPr>
          <p:spPr>
            <a:xfrm>
              <a:off x="4695825" y="4333875"/>
              <a:ext cx="1" cy="285750"/>
            </a:xfrm>
            <a:prstGeom prst="line">
              <a:avLst/>
            </a:prstGeom>
            <a:noFill/>
            <a:ln w="23812">
              <a:solidFill>
                <a:srgbClr val="F59E0B"/>
              </a:solidFill>
              <a:tailEnd type="triangle" w="lg" len="lg"/>
            </a:ln>
          </p:spPr>
        </p:sp>
        <p:sp>
          <p:nvSpPr>
            <p:cNvPr id="44" name="Rectangle 44"/>
            <p:cNvSpPr/>
            <p:nvPr/>
          </p:nvSpPr>
          <p:spPr>
            <a:xfrm>
              <a:off x="3562350" y="4667250"/>
              <a:ext cx="2266950" cy="190500"/>
            </a:xfrm>
            <a:prstGeom prst="roundRect">
              <a:avLst>
                <a:gd name="adj" fmla="val 50000"/>
              </a:avLst>
            </a:prstGeom>
            <a:solidFill>
              <a:srgbClr val="F59E0B">
                <a:alpha val="14000"/>
              </a:srgbClr>
            </a:solidFill>
            <a:ln>
              <a:noFill/>
            </a:ln>
          </p:spPr>
        </p:sp>
        <p:sp>
          <p:nvSpPr>
            <p:cNvPr id="45" name="TextBox 45"/>
            <p:cNvSpPr txBox="1"/>
            <p:nvPr/>
          </p:nvSpPr>
          <p:spPr>
            <a:xfrm>
              <a:off x="4215872" y="4695349"/>
              <a:ext cx="959907"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panose="020B0604020202020204"/>
                  <a:ea typeface="微软雅黑" panose="020B0503020204020204" charset="-122"/>
                  <a:cs typeface="Arial" panose="020B0604020202020204"/>
                </a:rPr>
                <a:t>→ 智能商机识别</a:t>
              </a:r>
              <a:endParaRPr lang="zh-CN" sz="975" b="1" dirty="0">
                <a:solidFill>
                  <a:srgbClr val="F59E0B"/>
                </a:solidFill>
                <a:latin typeface="Arial" panose="020B0604020202020204"/>
                <a:ea typeface="微软雅黑" panose="020B0503020204020204" charset="-122"/>
                <a:cs typeface="Arial" panose="020B0604020202020204"/>
              </a:endParaRPr>
            </a:p>
          </p:txBody>
        </p:sp>
      </p:grpSp>
      <p:grpSp>
        <p:nvGrpSpPr>
          <p:cNvPr id="67" name="Group 67"/>
          <p:cNvGrpSpPr/>
          <p:nvPr/>
        </p:nvGrpSpPr>
        <p:grpSpPr>
          <a:xfrm>
            <a:off x="6172200" y="1762125"/>
            <a:ext cx="2647950" cy="3190875"/>
            <a:chOff x="6172200" y="1762125"/>
            <a:chExt cx="2647950" cy="3190875"/>
          </a:xfrm>
        </p:grpSpPr>
        <p:sp>
          <p:nvSpPr>
            <p:cNvPr id="47" name="Rectangle 47"/>
            <p:cNvSpPr/>
            <p:nvPr/>
          </p:nvSpPr>
          <p:spPr>
            <a:xfrm>
              <a:off x="6172200" y="1762125"/>
              <a:ext cx="2647950" cy="3190875"/>
            </a:xfrm>
            <a:prstGeom prst="roundRect">
              <a:avLst>
                <a:gd name="adj" fmla="val 4317"/>
              </a:avLst>
            </a:prstGeom>
            <a:solidFill>
              <a:srgbClr val="F4F7FC"/>
            </a:solidFill>
            <a:ln>
              <a:noFill/>
            </a:ln>
          </p:spPr>
        </p:sp>
        <p:sp>
          <p:nvSpPr>
            <p:cNvPr id="48" name="Rectangle 48"/>
            <p:cNvSpPr/>
            <p:nvPr/>
          </p:nvSpPr>
          <p:spPr>
            <a:xfrm>
              <a:off x="6172200" y="1762125"/>
              <a:ext cx="2647950" cy="514350"/>
            </a:xfrm>
            <a:prstGeom prst="roundRect">
              <a:avLst>
                <a:gd name="adj" fmla="val 22222"/>
              </a:avLst>
            </a:prstGeom>
            <a:solidFill>
              <a:srgbClr val="F59E0B"/>
            </a:solidFill>
            <a:ln>
              <a:noFill/>
            </a:ln>
          </p:spPr>
        </p:sp>
        <p:sp>
          <p:nvSpPr>
            <p:cNvPr id="49" name="Rectangle 49"/>
            <p:cNvSpPr/>
            <p:nvPr/>
          </p:nvSpPr>
          <p:spPr>
            <a:xfrm>
              <a:off x="6172200" y="2143125"/>
              <a:ext cx="2647950" cy="133350"/>
            </a:xfrm>
            <a:prstGeom prst="rect">
              <a:avLst/>
            </a:prstGeom>
            <a:solidFill>
              <a:srgbClr val="F59E0B"/>
            </a:solidFill>
            <a:ln>
              <a:noFill/>
            </a:ln>
          </p:spPr>
        </p:sp>
        <p:sp>
          <p:nvSpPr>
            <p:cNvPr id="50" name="TextBox 50"/>
            <p:cNvSpPr txBox="1"/>
            <p:nvPr/>
          </p:nvSpPr>
          <p:spPr>
            <a:xfrm>
              <a:off x="6350318" y="1990249"/>
              <a:ext cx="680047"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panose="020B0604020202020204"/>
                  <a:ea typeface="微软雅黑" panose="020B0503020204020204" charset="-122"/>
                  <a:cs typeface="Arial" panose="020B0604020202020204"/>
                </a:rPr>
                <a:t>FARAI 增强</a:t>
              </a:r>
              <a:endParaRPr lang="zh-CN" sz="975" b="1" dirty="0">
                <a:solidFill>
                  <a:srgbClr val="FFFFFF"/>
                </a:solidFill>
                <a:latin typeface="Arial" panose="020B0604020202020204"/>
                <a:ea typeface="微软雅黑" panose="020B0503020204020204" charset="-122"/>
                <a:cs typeface="Arial" panose="020B0604020202020204"/>
              </a:endParaRPr>
            </a:p>
          </p:txBody>
        </p:sp>
        <p:grpSp>
          <p:nvGrpSpPr>
            <p:cNvPr id="56" name="Group 56"/>
            <p:cNvGrpSpPr/>
            <p:nvPr/>
          </p:nvGrpSpPr>
          <p:grpSpPr>
            <a:xfrm>
              <a:off x="7946231" y="1912144"/>
              <a:ext cx="166688" cy="214312"/>
              <a:chOff x="7946231" y="1912144"/>
              <a:chExt cx="166688" cy="214312"/>
            </a:xfrm>
          </p:grpSpPr>
          <p:sp>
            <p:nvSpPr>
              <p:cNvPr id="51" name="Freeform 51"/>
              <p:cNvSpPr/>
              <p:nvPr/>
            </p:nvSpPr>
            <p:spPr>
              <a:xfrm>
                <a:off x="8053388" y="1912144"/>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19050">
                <a:solidFill>
                  <a:srgbClr val="FFFFFF"/>
                </a:solidFill>
              </a:ln>
            </p:spPr>
          </p:sp>
          <p:sp>
            <p:nvSpPr>
              <p:cNvPr id="52" name="Freeform 52"/>
              <p:cNvSpPr/>
              <p:nvPr/>
            </p:nvSpPr>
            <p:spPr>
              <a:xfrm>
                <a:off x="7946231" y="1912144"/>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19050">
                <a:solidFill>
                  <a:srgbClr val="FFFFFF"/>
                </a:solidFill>
              </a:ln>
            </p:spPr>
          </p:sp>
          <p:sp>
            <p:nvSpPr>
              <p:cNvPr id="53" name="Freeform 53"/>
              <p:cNvSpPr/>
              <p:nvPr/>
            </p:nvSpPr>
            <p:spPr>
              <a:xfrm>
                <a:off x="7993856" y="1983581"/>
                <a:ext cx="11906" cy="9525"/>
              </a:xfrm>
              <a:custGeom>
                <a:avLst/>
                <a:gdLst/>
                <a:ahLst/>
                <a:cxnLst/>
                <a:rect l="l" t="t" r="r" b="b"/>
                <a:pathLst>
                  <a:path w="11906" h="9525">
                    <a:moveTo>
                      <a:pt x="0" y="0"/>
                    </a:moveTo>
                    <a:lnTo>
                      <a:pt x="11906" y="0"/>
                    </a:lnTo>
                  </a:path>
                </a:pathLst>
              </a:custGeom>
              <a:noFill/>
              <a:ln w="19050">
                <a:solidFill>
                  <a:srgbClr val="FFFFFF"/>
                </a:solidFill>
              </a:ln>
            </p:spPr>
          </p:sp>
          <p:sp>
            <p:nvSpPr>
              <p:cNvPr id="54" name="Freeform 54"/>
              <p:cNvSpPr/>
              <p:nvPr/>
            </p:nvSpPr>
            <p:spPr>
              <a:xfrm>
                <a:off x="7993856" y="2031206"/>
                <a:ext cx="71438" cy="9525"/>
              </a:xfrm>
              <a:custGeom>
                <a:avLst/>
                <a:gdLst/>
                <a:ahLst/>
                <a:cxnLst/>
                <a:rect l="l" t="t" r="r" b="b"/>
                <a:pathLst>
                  <a:path w="71438" h="9525">
                    <a:moveTo>
                      <a:pt x="0" y="0"/>
                    </a:moveTo>
                    <a:lnTo>
                      <a:pt x="71438" y="0"/>
                    </a:lnTo>
                  </a:path>
                </a:pathLst>
              </a:custGeom>
              <a:noFill/>
              <a:ln w="19050">
                <a:solidFill>
                  <a:srgbClr val="FFFFFF"/>
                </a:solidFill>
              </a:ln>
            </p:spPr>
          </p:sp>
          <p:sp>
            <p:nvSpPr>
              <p:cNvPr id="55" name="Freeform 55"/>
              <p:cNvSpPr/>
              <p:nvPr/>
            </p:nvSpPr>
            <p:spPr>
              <a:xfrm>
                <a:off x="7993856" y="2078831"/>
                <a:ext cx="71438" cy="9525"/>
              </a:xfrm>
              <a:custGeom>
                <a:avLst/>
                <a:gdLst/>
                <a:ahLst/>
                <a:cxnLst/>
                <a:rect l="l" t="t" r="r" b="b"/>
                <a:pathLst>
                  <a:path w="71438" h="9525">
                    <a:moveTo>
                      <a:pt x="0" y="0"/>
                    </a:moveTo>
                    <a:lnTo>
                      <a:pt x="71438" y="0"/>
                    </a:lnTo>
                  </a:path>
                </a:pathLst>
              </a:custGeom>
              <a:noFill/>
              <a:ln w="19050">
                <a:solidFill>
                  <a:srgbClr val="FFFFFF"/>
                </a:solidFill>
              </a:ln>
            </p:spPr>
          </p:sp>
        </p:grpSp>
        <p:sp>
          <p:nvSpPr>
            <p:cNvPr id="57" name="TextBox 57"/>
            <p:cNvSpPr txBox="1"/>
            <p:nvPr/>
          </p:nvSpPr>
          <p:spPr>
            <a:xfrm>
              <a:off x="6343650" y="2457450"/>
              <a:ext cx="1686806" cy="304800"/>
            </a:xfrm>
            <a:prstGeom prst="rect">
              <a:avLst/>
            </a:prstGeom>
            <a:noFill/>
            <a:ln>
              <a:noFill/>
            </a:ln>
          </p:spPr>
          <p:txBody>
            <a:bodyPr wrap="none" lIns="0" tIns="0" rIns="0" bIns="0" anchor="t" anchorCtr="0">
              <a:spAutoFit/>
            </a:bodyPr>
            <a:lstStyle/>
            <a:p>
              <a:pPr algn="l"/>
              <a:r>
                <a:rPr lang="zh-CN" sz="1500" b="1" dirty="0">
                  <a:solidFill>
                    <a:srgbClr val="17365D"/>
                  </a:solidFill>
                  <a:latin typeface="Arial" panose="020B0604020202020204"/>
                  <a:ea typeface="微软雅黑" panose="020B0503020204020204" charset="-122"/>
                  <a:cs typeface="Arial" panose="020B0604020202020204"/>
                </a:rPr>
                <a:t>GPTBidder + 归并</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58" name="TextBox 58"/>
            <p:cNvSpPr txBox="1"/>
            <p:nvPr/>
          </p:nvSpPr>
          <p:spPr>
            <a:xfrm>
              <a:off x="6350318" y="2752249"/>
              <a:ext cx="1214414"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投标 + 客户归并增强</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59" name="Line 59"/>
            <p:cNvSpPr/>
            <p:nvPr/>
          </p:nvSpPr>
          <p:spPr>
            <a:xfrm>
              <a:off x="6362700" y="3000375"/>
              <a:ext cx="666750" cy="9525"/>
            </a:xfrm>
            <a:custGeom>
              <a:avLst/>
              <a:gdLst/>
              <a:ahLst/>
              <a:cxnLst/>
              <a:rect l="l" t="t" r="r" b="b"/>
              <a:pathLst>
                <a:path w="666750" h="9525">
                  <a:moveTo>
                    <a:pt x="0" y="0"/>
                  </a:moveTo>
                  <a:lnTo>
                    <a:pt x="666750" y="0"/>
                  </a:lnTo>
                </a:path>
              </a:pathLst>
            </a:custGeom>
            <a:noFill/>
            <a:ln w="19050">
              <a:solidFill>
                <a:srgbClr val="F59E0B"/>
              </a:solidFill>
            </a:ln>
          </p:spPr>
        </p:sp>
        <p:sp>
          <p:nvSpPr>
            <p:cNvPr id="60" name="TextBox 60"/>
            <p:cNvSpPr txBox="1"/>
            <p:nvPr/>
          </p:nvSpPr>
          <p:spPr>
            <a:xfrm>
              <a:off x="6349365" y="3172778"/>
              <a:ext cx="84577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标书全流程</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1" name="TextBox 61"/>
            <p:cNvSpPr txBox="1"/>
            <p:nvPr/>
          </p:nvSpPr>
          <p:spPr>
            <a:xfrm>
              <a:off x="6349365" y="3410902"/>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客户主体识别</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2" name="TextBox 62"/>
            <p:cNvSpPr txBox="1"/>
            <p:nvPr/>
          </p:nvSpPr>
          <p:spPr>
            <a:xfrm>
              <a:off x="6349365" y="3649028"/>
              <a:ext cx="84577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决策链梳理</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6349365" y="3887152"/>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统一客户视图</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4" name="Line 64"/>
            <p:cNvSpPr/>
            <p:nvPr/>
          </p:nvSpPr>
          <p:spPr>
            <a:xfrm>
              <a:off x="7496175" y="4333875"/>
              <a:ext cx="1" cy="285750"/>
            </a:xfrm>
            <a:prstGeom prst="line">
              <a:avLst/>
            </a:prstGeom>
            <a:noFill/>
            <a:ln w="23812">
              <a:solidFill>
                <a:srgbClr val="F59E0B"/>
              </a:solidFill>
              <a:tailEnd type="triangle" w="lg" len="lg"/>
            </a:ln>
          </p:spPr>
        </p:sp>
        <p:sp>
          <p:nvSpPr>
            <p:cNvPr id="65" name="Rectangle 65"/>
            <p:cNvSpPr/>
            <p:nvPr/>
          </p:nvSpPr>
          <p:spPr>
            <a:xfrm>
              <a:off x="6362700" y="4667250"/>
              <a:ext cx="2266950" cy="190500"/>
            </a:xfrm>
            <a:prstGeom prst="roundRect">
              <a:avLst>
                <a:gd name="adj" fmla="val 50000"/>
              </a:avLst>
            </a:prstGeom>
            <a:solidFill>
              <a:srgbClr val="F59E0B">
                <a:alpha val="14000"/>
              </a:srgbClr>
            </a:solidFill>
            <a:ln>
              <a:noFill/>
            </a:ln>
          </p:spPr>
        </p:sp>
        <p:sp>
          <p:nvSpPr>
            <p:cNvPr id="66" name="TextBox 66"/>
            <p:cNvSpPr txBox="1"/>
            <p:nvPr/>
          </p:nvSpPr>
          <p:spPr>
            <a:xfrm>
              <a:off x="6978679" y="4695349"/>
              <a:ext cx="1034991"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panose="020B0604020202020204"/>
                  <a:ea typeface="微软雅黑" panose="020B0503020204020204" charset="-122"/>
                  <a:cs typeface="Arial" panose="020B0604020202020204"/>
                </a:rPr>
                <a:t>→ 投标+客户归并</a:t>
              </a:r>
              <a:endParaRPr lang="zh-CN" sz="975" b="1" dirty="0">
                <a:solidFill>
                  <a:srgbClr val="F59E0B"/>
                </a:solidFill>
                <a:latin typeface="Arial" panose="020B0604020202020204"/>
                <a:ea typeface="微软雅黑" panose="020B0503020204020204" charset="-122"/>
                <a:cs typeface="Arial" panose="020B0604020202020204"/>
              </a:endParaRPr>
            </a:p>
          </p:txBody>
        </p:sp>
      </p:grpSp>
      <p:grpSp>
        <p:nvGrpSpPr>
          <p:cNvPr id="87" name="Group 87"/>
          <p:cNvGrpSpPr/>
          <p:nvPr/>
        </p:nvGrpSpPr>
        <p:grpSpPr>
          <a:xfrm>
            <a:off x="8972550" y="1762125"/>
            <a:ext cx="2647950" cy="3190875"/>
            <a:chOff x="8972550" y="1762125"/>
            <a:chExt cx="2647950" cy="3190875"/>
          </a:xfrm>
        </p:grpSpPr>
        <p:sp>
          <p:nvSpPr>
            <p:cNvPr id="68" name="Rectangle 68"/>
            <p:cNvSpPr/>
            <p:nvPr/>
          </p:nvSpPr>
          <p:spPr>
            <a:xfrm>
              <a:off x="8972550" y="1762125"/>
              <a:ext cx="2647950" cy="3190875"/>
            </a:xfrm>
            <a:prstGeom prst="roundRect">
              <a:avLst>
                <a:gd name="adj" fmla="val 4317"/>
              </a:avLst>
            </a:prstGeom>
            <a:solidFill>
              <a:srgbClr val="F4F7FC"/>
            </a:solidFill>
            <a:ln>
              <a:noFill/>
            </a:ln>
          </p:spPr>
        </p:sp>
        <p:sp>
          <p:nvSpPr>
            <p:cNvPr id="69" name="Rectangle 69"/>
            <p:cNvSpPr/>
            <p:nvPr/>
          </p:nvSpPr>
          <p:spPr>
            <a:xfrm>
              <a:off x="8972550" y="1762125"/>
              <a:ext cx="2647950" cy="514350"/>
            </a:xfrm>
            <a:prstGeom prst="roundRect">
              <a:avLst>
                <a:gd name="adj" fmla="val 22222"/>
              </a:avLst>
            </a:prstGeom>
            <a:solidFill>
              <a:srgbClr val="20A7B8"/>
            </a:solidFill>
            <a:ln>
              <a:noFill/>
            </a:ln>
          </p:spPr>
        </p:sp>
        <p:sp>
          <p:nvSpPr>
            <p:cNvPr id="70" name="Rectangle 70"/>
            <p:cNvSpPr/>
            <p:nvPr/>
          </p:nvSpPr>
          <p:spPr>
            <a:xfrm>
              <a:off x="8972550" y="2143125"/>
              <a:ext cx="2647950" cy="133350"/>
            </a:xfrm>
            <a:prstGeom prst="rect">
              <a:avLst/>
            </a:prstGeom>
            <a:solidFill>
              <a:srgbClr val="20A7B8"/>
            </a:solidFill>
            <a:ln>
              <a:noFill/>
            </a:ln>
          </p:spPr>
        </p:sp>
        <p:sp>
          <p:nvSpPr>
            <p:cNvPr id="71" name="TextBox 71"/>
            <p:cNvSpPr txBox="1"/>
            <p:nvPr/>
          </p:nvSpPr>
          <p:spPr>
            <a:xfrm>
              <a:off x="9150668" y="1990249"/>
              <a:ext cx="680047"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panose="020B0604020202020204"/>
                  <a:ea typeface="微软雅黑" panose="020B0503020204020204" charset="-122"/>
                  <a:cs typeface="Arial" panose="020B0604020202020204"/>
                </a:rPr>
                <a:t>FARAI 新建</a:t>
              </a:r>
              <a:endParaRPr lang="zh-CN" sz="975" b="1" dirty="0">
                <a:solidFill>
                  <a:srgbClr val="FFFFFF"/>
                </a:solidFill>
                <a:latin typeface="Arial" panose="020B0604020202020204"/>
                <a:ea typeface="微软雅黑" panose="020B0503020204020204" charset="-122"/>
                <a:cs typeface="Arial" panose="020B0604020202020204"/>
              </a:endParaRPr>
            </a:p>
          </p:txBody>
        </p:sp>
        <p:grpSp>
          <p:nvGrpSpPr>
            <p:cNvPr id="76" name="Group 76"/>
            <p:cNvGrpSpPr/>
            <p:nvPr/>
          </p:nvGrpSpPr>
          <p:grpSpPr>
            <a:xfrm>
              <a:off x="10734675" y="1912144"/>
              <a:ext cx="190500" cy="226219"/>
              <a:chOff x="10734675" y="1912144"/>
              <a:chExt cx="190500" cy="226219"/>
            </a:xfrm>
          </p:grpSpPr>
          <p:sp>
            <p:nvSpPr>
              <p:cNvPr id="72" name="Freeform 72"/>
              <p:cNvSpPr/>
              <p:nvPr/>
            </p:nvSpPr>
            <p:spPr>
              <a:xfrm>
                <a:off x="10734675" y="1912144"/>
                <a:ext cx="190500" cy="130969"/>
              </a:xfrm>
              <a:custGeom>
                <a:avLst/>
                <a:gdLst/>
                <a:ahLst/>
                <a:cxnLst/>
                <a:rect l="l" t="t" r="r" b="b"/>
                <a:pathLst>
                  <a:path w="190500" h="130969">
                    <a:moveTo>
                      <a:pt x="0" y="130969"/>
                    </a:moveTo>
                    <a:lnTo>
                      <a:pt x="0" y="95250"/>
                    </a:lnTo>
                    <a:cubicBezTo>
                      <a:pt x="0" y="42645"/>
                      <a:pt x="42645" y="0"/>
                      <a:pt x="95250" y="0"/>
                    </a:cubicBezTo>
                    <a:cubicBezTo>
                      <a:pt x="147855" y="0"/>
                      <a:pt x="190500" y="42645"/>
                      <a:pt x="190500" y="95250"/>
                    </a:cubicBezTo>
                    <a:lnTo>
                      <a:pt x="190500" y="130969"/>
                    </a:lnTo>
                  </a:path>
                </a:pathLst>
              </a:custGeom>
              <a:noFill/>
              <a:ln w="19050">
                <a:solidFill>
                  <a:srgbClr val="FFFFFF"/>
                </a:solidFill>
              </a:ln>
            </p:spPr>
          </p:sp>
          <p:sp>
            <p:nvSpPr>
              <p:cNvPr id="73" name="Freeform 73"/>
              <p:cNvSpPr/>
              <p:nvPr/>
            </p:nvSpPr>
            <p:spPr>
              <a:xfrm>
                <a:off x="10829925" y="2102644"/>
                <a:ext cx="71438" cy="35719"/>
              </a:xfrm>
              <a:custGeom>
                <a:avLst/>
                <a:gdLst/>
                <a:ahLst/>
                <a:cxnLst/>
                <a:rect l="l" t="t" r="r" b="b"/>
                <a:pathLst>
                  <a:path w="71438" h="35719">
                    <a:moveTo>
                      <a:pt x="71438" y="0"/>
                    </a:moveTo>
                    <a:cubicBezTo>
                      <a:pt x="71438" y="19729"/>
                      <a:pt x="39457" y="35719"/>
                      <a:pt x="0" y="35719"/>
                    </a:cubicBezTo>
                  </a:path>
                </a:pathLst>
              </a:custGeom>
              <a:noFill/>
              <a:ln w="19050">
                <a:solidFill>
                  <a:srgbClr val="FFFFFF"/>
                </a:solidFill>
              </a:ln>
            </p:spPr>
          </p:sp>
          <p:sp>
            <p:nvSpPr>
              <p:cNvPr id="74" name="Freeform 74"/>
              <p:cNvSpPr/>
              <p:nvPr/>
            </p:nvSpPr>
            <p:spPr>
              <a:xfrm>
                <a:off x="10734675" y="2019300"/>
                <a:ext cx="59531" cy="83344"/>
              </a:xfrm>
              <a:custGeom>
                <a:avLst/>
                <a:gdLst/>
                <a:ahLst/>
                <a:cxnLst/>
                <a:rect l="l" t="t" r="r" b="b"/>
                <a:pathLst>
                  <a:path w="59531" h="83344">
                    <a:moveTo>
                      <a:pt x="0" y="23812"/>
                    </a:moveTo>
                    <a:cubicBezTo>
                      <a:pt x="0" y="10661"/>
                      <a:pt x="10661" y="0"/>
                      <a:pt x="23812" y="0"/>
                    </a:cubicBezTo>
                    <a:lnTo>
                      <a:pt x="35719" y="0"/>
                    </a:lnTo>
                    <a:cubicBezTo>
                      <a:pt x="48870" y="0"/>
                      <a:pt x="59531" y="10661"/>
                      <a:pt x="59531" y="23812"/>
                    </a:cubicBezTo>
                    <a:lnTo>
                      <a:pt x="59531" y="59531"/>
                    </a:lnTo>
                    <a:cubicBezTo>
                      <a:pt x="59531" y="72683"/>
                      <a:pt x="48870" y="83344"/>
                      <a:pt x="35719" y="83344"/>
                    </a:cubicBezTo>
                    <a:lnTo>
                      <a:pt x="23812" y="83344"/>
                    </a:lnTo>
                    <a:cubicBezTo>
                      <a:pt x="10661" y="83344"/>
                      <a:pt x="0" y="72683"/>
                      <a:pt x="0" y="59531"/>
                    </a:cubicBezTo>
                    <a:lnTo>
                      <a:pt x="0" y="23812"/>
                    </a:lnTo>
                  </a:path>
                </a:pathLst>
              </a:custGeom>
              <a:noFill/>
              <a:ln w="19050">
                <a:solidFill>
                  <a:srgbClr val="FFFFFF"/>
                </a:solidFill>
              </a:ln>
            </p:spPr>
          </p:sp>
          <p:sp>
            <p:nvSpPr>
              <p:cNvPr id="75" name="Freeform 75"/>
              <p:cNvSpPr/>
              <p:nvPr/>
            </p:nvSpPr>
            <p:spPr>
              <a:xfrm>
                <a:off x="10865644" y="2019300"/>
                <a:ext cx="59531" cy="83344"/>
              </a:xfrm>
              <a:custGeom>
                <a:avLst/>
                <a:gdLst/>
                <a:ahLst/>
                <a:cxnLst/>
                <a:rect l="l" t="t" r="r" b="b"/>
                <a:pathLst>
                  <a:path w="59531" h="83344">
                    <a:moveTo>
                      <a:pt x="0" y="23812"/>
                    </a:moveTo>
                    <a:cubicBezTo>
                      <a:pt x="0" y="10661"/>
                      <a:pt x="10661" y="0"/>
                      <a:pt x="23812" y="0"/>
                    </a:cubicBezTo>
                    <a:lnTo>
                      <a:pt x="35719" y="0"/>
                    </a:lnTo>
                    <a:cubicBezTo>
                      <a:pt x="48870" y="0"/>
                      <a:pt x="59531" y="10661"/>
                      <a:pt x="59531" y="23812"/>
                    </a:cubicBezTo>
                    <a:lnTo>
                      <a:pt x="59531" y="59531"/>
                    </a:lnTo>
                    <a:cubicBezTo>
                      <a:pt x="59531" y="72683"/>
                      <a:pt x="48870" y="83344"/>
                      <a:pt x="35719" y="83344"/>
                    </a:cubicBezTo>
                    <a:lnTo>
                      <a:pt x="23812" y="83344"/>
                    </a:lnTo>
                    <a:cubicBezTo>
                      <a:pt x="10661" y="83344"/>
                      <a:pt x="0" y="72683"/>
                      <a:pt x="0" y="59531"/>
                    </a:cubicBezTo>
                    <a:lnTo>
                      <a:pt x="0" y="23812"/>
                    </a:lnTo>
                  </a:path>
                </a:pathLst>
              </a:custGeom>
              <a:noFill/>
              <a:ln w="19050">
                <a:solidFill>
                  <a:srgbClr val="FFFFFF"/>
                </a:solidFill>
              </a:ln>
            </p:spPr>
          </p:sp>
        </p:grpSp>
        <p:sp>
          <p:nvSpPr>
            <p:cNvPr id="77" name="TextBox 77"/>
            <p:cNvSpPr txBox="1"/>
            <p:nvPr/>
          </p:nvSpPr>
          <p:spPr>
            <a:xfrm>
              <a:off x="9144000" y="2457450"/>
              <a:ext cx="1466279" cy="304800"/>
            </a:xfrm>
            <a:prstGeom prst="rect">
              <a:avLst/>
            </a:prstGeom>
            <a:noFill/>
            <a:ln>
              <a:noFill/>
            </a:ln>
          </p:spPr>
          <p:txBody>
            <a:bodyPr wrap="none" lIns="0" tIns="0" rIns="0" bIns="0" anchor="t" anchorCtr="0">
              <a:spAutoFit/>
            </a:bodyPr>
            <a:lstStyle/>
            <a:p>
              <a:pPr algn="l"/>
              <a:r>
                <a:rPr lang="zh-CN" sz="1500" b="1" dirty="0">
                  <a:solidFill>
                    <a:srgbClr val="17365D"/>
                  </a:solidFill>
                  <a:latin typeface="Arial" panose="020B0604020202020204"/>
                  <a:ea typeface="微软雅黑" panose="020B0503020204020204" charset="-122"/>
                  <a:cs typeface="Arial" panose="020B0604020202020204"/>
                </a:rPr>
                <a:t>FarAI 录音分析</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78" name="TextBox 78"/>
            <p:cNvSpPr txBox="1"/>
            <p:nvPr/>
          </p:nvSpPr>
          <p:spPr>
            <a:xfrm>
              <a:off x="9150668" y="2752249"/>
              <a:ext cx="1064895"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营销录音分析新建</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79" name="Line 79"/>
            <p:cNvSpPr/>
            <p:nvPr/>
          </p:nvSpPr>
          <p:spPr>
            <a:xfrm>
              <a:off x="9163050" y="3000375"/>
              <a:ext cx="666750" cy="9525"/>
            </a:xfrm>
            <a:custGeom>
              <a:avLst/>
              <a:gdLst/>
              <a:ahLst/>
              <a:cxnLst/>
              <a:rect l="l" t="t" r="r" b="b"/>
              <a:pathLst>
                <a:path w="666750" h="9525">
                  <a:moveTo>
                    <a:pt x="0" y="0"/>
                  </a:moveTo>
                  <a:lnTo>
                    <a:pt x="666750" y="0"/>
                  </a:lnTo>
                </a:path>
              </a:pathLst>
            </a:custGeom>
            <a:noFill/>
            <a:ln w="19050">
              <a:solidFill>
                <a:srgbClr val="20A7B8"/>
              </a:solidFill>
            </a:ln>
          </p:spPr>
        </p:sp>
        <p:sp>
          <p:nvSpPr>
            <p:cNvPr id="80" name="TextBox 80"/>
            <p:cNvSpPr txBox="1"/>
            <p:nvPr/>
          </p:nvSpPr>
          <p:spPr>
            <a:xfrm>
              <a:off x="9149715" y="3172778"/>
              <a:ext cx="70575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语音转写</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1" name="TextBox 81"/>
            <p:cNvSpPr txBox="1"/>
            <p:nvPr/>
          </p:nvSpPr>
          <p:spPr>
            <a:xfrm>
              <a:off x="9149715" y="3410902"/>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十维深度分析</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2" name="TextBox 82"/>
            <p:cNvSpPr txBox="1"/>
            <p:nvPr/>
          </p:nvSpPr>
          <p:spPr>
            <a:xfrm>
              <a:off x="9149715" y="3649028"/>
              <a:ext cx="70575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话术沉淀</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3" name="TextBox 83"/>
            <p:cNvSpPr txBox="1"/>
            <p:nvPr/>
          </p:nvSpPr>
          <p:spPr>
            <a:xfrm>
              <a:off x="9149715" y="3887152"/>
              <a:ext cx="98579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客户档案联动</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4" name="Line 84"/>
            <p:cNvSpPr/>
            <p:nvPr/>
          </p:nvSpPr>
          <p:spPr>
            <a:xfrm>
              <a:off x="10296525" y="4333875"/>
              <a:ext cx="1" cy="285750"/>
            </a:xfrm>
            <a:prstGeom prst="line">
              <a:avLst/>
            </a:prstGeom>
            <a:noFill/>
            <a:ln w="23812">
              <a:solidFill>
                <a:srgbClr val="F59E0B"/>
              </a:solidFill>
              <a:tailEnd type="triangle" w="lg" len="lg"/>
            </a:ln>
          </p:spPr>
        </p:sp>
        <p:sp>
          <p:nvSpPr>
            <p:cNvPr id="85" name="Rectangle 85"/>
            <p:cNvSpPr/>
            <p:nvPr/>
          </p:nvSpPr>
          <p:spPr>
            <a:xfrm>
              <a:off x="9163050" y="4667250"/>
              <a:ext cx="2266950" cy="190500"/>
            </a:xfrm>
            <a:prstGeom prst="roundRect">
              <a:avLst>
                <a:gd name="adj" fmla="val 50000"/>
              </a:avLst>
            </a:prstGeom>
            <a:solidFill>
              <a:srgbClr val="F59E0B">
                <a:alpha val="14000"/>
              </a:srgbClr>
            </a:solidFill>
            <a:ln>
              <a:noFill/>
            </a:ln>
          </p:spPr>
        </p:sp>
        <p:sp>
          <p:nvSpPr>
            <p:cNvPr id="86" name="TextBox 86"/>
            <p:cNvSpPr txBox="1"/>
            <p:nvPr/>
          </p:nvSpPr>
          <p:spPr>
            <a:xfrm>
              <a:off x="9953089" y="4695349"/>
              <a:ext cx="686873"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panose="020B0604020202020204"/>
                  <a:ea typeface="微软雅黑" panose="020B0503020204020204" charset="-122"/>
                  <a:cs typeface="Arial" panose="020B0604020202020204"/>
                </a:rPr>
                <a:t>→ 智能营销</a:t>
              </a:r>
              <a:endParaRPr lang="zh-CN" sz="975" b="1" dirty="0">
                <a:solidFill>
                  <a:srgbClr val="F59E0B"/>
                </a:solidFill>
                <a:latin typeface="Arial" panose="020B0604020202020204"/>
                <a:ea typeface="微软雅黑" panose="020B0503020204020204" charset="-122"/>
                <a:cs typeface="Arial" panose="020B0604020202020204"/>
              </a:endParaRPr>
            </a:p>
          </p:txBody>
        </p:sp>
      </p:grpSp>
      <p:grpSp>
        <p:nvGrpSpPr>
          <p:cNvPr id="100" name="Group 100"/>
          <p:cNvGrpSpPr/>
          <p:nvPr/>
        </p:nvGrpSpPr>
        <p:grpSpPr>
          <a:xfrm>
            <a:off x="571500" y="5191125"/>
            <a:ext cx="11049000" cy="762000"/>
            <a:chOff x="571500" y="5191125"/>
            <a:chExt cx="11049000" cy="762000"/>
          </a:xfrm>
        </p:grpSpPr>
        <p:sp>
          <p:nvSpPr>
            <p:cNvPr id="88" name="Rectangle 88"/>
            <p:cNvSpPr/>
            <p:nvPr/>
          </p:nvSpPr>
          <p:spPr>
            <a:xfrm>
              <a:off x="571500" y="5191125"/>
              <a:ext cx="11049000" cy="762000"/>
            </a:xfrm>
            <a:prstGeom prst="roundRect">
              <a:avLst>
                <a:gd name="adj" fmla="val 15000"/>
              </a:avLst>
            </a:prstGeom>
            <a:solidFill>
              <a:srgbClr val="17365D"/>
            </a:solidFill>
            <a:ln>
              <a:noFill/>
            </a:ln>
          </p:spPr>
        </p:sp>
        <p:grpSp>
          <p:nvGrpSpPr>
            <p:cNvPr id="95" name="Group 95"/>
            <p:cNvGrpSpPr/>
            <p:nvPr/>
          </p:nvGrpSpPr>
          <p:grpSpPr>
            <a:xfrm>
              <a:off x="840581" y="5450681"/>
              <a:ext cx="242888" cy="242888"/>
              <a:chOff x="840581" y="5450681"/>
              <a:chExt cx="242888" cy="242888"/>
            </a:xfrm>
          </p:grpSpPr>
          <p:sp>
            <p:nvSpPr>
              <p:cNvPr id="89" name="Freeform 89"/>
              <p:cNvSpPr/>
              <p:nvPr/>
            </p:nvSpPr>
            <p:spPr>
              <a:xfrm>
                <a:off x="962025" y="5585619"/>
                <a:ext cx="94456" cy="107950"/>
              </a:xfrm>
              <a:custGeom>
                <a:avLst/>
                <a:gdLst/>
                <a:ahLst/>
                <a:cxnLst/>
                <a:rect l="l" t="t" r="r" b="b"/>
                <a:pathLst>
                  <a:path w="94456" h="107950">
                    <a:moveTo>
                      <a:pt x="47228" y="0"/>
                    </a:moveTo>
                    <a:cubicBezTo>
                      <a:pt x="21145" y="0"/>
                      <a:pt x="0" y="21145"/>
                      <a:pt x="0" y="47228"/>
                    </a:cubicBezTo>
                    <a:lnTo>
                      <a:pt x="0" y="60722"/>
                    </a:lnTo>
                    <a:cubicBezTo>
                      <a:pt x="0" y="86805"/>
                      <a:pt x="21145" y="107950"/>
                      <a:pt x="47228" y="107950"/>
                    </a:cubicBezTo>
                    <a:cubicBezTo>
                      <a:pt x="73311" y="107950"/>
                      <a:pt x="94456" y="86805"/>
                      <a:pt x="94456" y="60722"/>
                    </a:cubicBezTo>
                    <a:lnTo>
                      <a:pt x="94456" y="36433"/>
                    </a:lnTo>
                  </a:path>
                </a:pathLst>
              </a:custGeom>
              <a:noFill/>
              <a:ln w="19050">
                <a:solidFill>
                  <a:srgbClr val="518FEC"/>
                </a:solidFill>
              </a:ln>
            </p:spPr>
          </p:sp>
          <p:sp>
            <p:nvSpPr>
              <p:cNvPr id="90" name="Freeform 90"/>
              <p:cNvSpPr/>
              <p:nvPr/>
            </p:nvSpPr>
            <p:spPr>
              <a:xfrm>
                <a:off x="867569" y="5585619"/>
                <a:ext cx="94456" cy="107950"/>
              </a:xfrm>
              <a:custGeom>
                <a:avLst/>
                <a:gdLst/>
                <a:ahLst/>
                <a:cxnLst/>
                <a:rect l="l" t="t" r="r" b="b"/>
                <a:pathLst>
                  <a:path w="94456" h="107950">
                    <a:moveTo>
                      <a:pt x="47228" y="0"/>
                    </a:moveTo>
                    <a:cubicBezTo>
                      <a:pt x="73311" y="0"/>
                      <a:pt x="94456" y="21145"/>
                      <a:pt x="94456" y="47228"/>
                    </a:cubicBezTo>
                    <a:lnTo>
                      <a:pt x="94456" y="60722"/>
                    </a:lnTo>
                    <a:cubicBezTo>
                      <a:pt x="94456" y="86805"/>
                      <a:pt x="73311" y="107950"/>
                      <a:pt x="47228" y="107950"/>
                    </a:cubicBezTo>
                    <a:cubicBezTo>
                      <a:pt x="21145" y="107950"/>
                      <a:pt x="0" y="86805"/>
                      <a:pt x="0" y="60722"/>
                    </a:cubicBezTo>
                    <a:lnTo>
                      <a:pt x="0" y="36433"/>
                    </a:lnTo>
                  </a:path>
                </a:pathLst>
              </a:custGeom>
              <a:noFill/>
              <a:ln w="19050">
                <a:solidFill>
                  <a:srgbClr val="518FEC"/>
                </a:solidFill>
              </a:ln>
            </p:spPr>
          </p:sp>
          <p:sp>
            <p:nvSpPr>
              <p:cNvPr id="91" name="Freeform 91"/>
              <p:cNvSpPr/>
              <p:nvPr/>
            </p:nvSpPr>
            <p:spPr>
              <a:xfrm>
                <a:off x="1029494" y="5531644"/>
                <a:ext cx="53975" cy="94456"/>
              </a:xfrm>
              <a:custGeom>
                <a:avLst/>
                <a:gdLst/>
                <a:ahLst/>
                <a:cxnLst/>
                <a:rect l="l" t="t" r="r" b="b"/>
                <a:pathLst>
                  <a:path w="53975" h="94456">
                    <a:moveTo>
                      <a:pt x="6747" y="94456"/>
                    </a:moveTo>
                    <a:cubicBezTo>
                      <a:pt x="32830" y="94456"/>
                      <a:pt x="53975" y="73311"/>
                      <a:pt x="53975" y="47228"/>
                    </a:cubicBezTo>
                    <a:cubicBezTo>
                      <a:pt x="53975" y="21145"/>
                      <a:pt x="32830" y="0"/>
                      <a:pt x="6747" y="0"/>
                    </a:cubicBezTo>
                    <a:lnTo>
                      <a:pt x="0" y="0"/>
                    </a:lnTo>
                  </a:path>
                </a:pathLst>
              </a:custGeom>
              <a:noFill/>
              <a:ln w="19050">
                <a:solidFill>
                  <a:srgbClr val="518FEC"/>
                </a:solidFill>
              </a:ln>
            </p:spPr>
          </p:sp>
          <p:sp>
            <p:nvSpPr>
              <p:cNvPr id="92" name="Freeform 92"/>
              <p:cNvSpPr/>
              <p:nvPr/>
            </p:nvSpPr>
            <p:spPr>
              <a:xfrm>
                <a:off x="962025" y="5450681"/>
                <a:ext cx="94456" cy="85011"/>
              </a:xfrm>
              <a:custGeom>
                <a:avLst/>
                <a:gdLst/>
                <a:ahLst/>
                <a:cxnLst/>
                <a:rect l="l" t="t" r="r" b="b"/>
                <a:pathLst>
                  <a:path w="94456" h="85011">
                    <a:moveTo>
                      <a:pt x="94456" y="85011"/>
                    </a:moveTo>
                    <a:lnTo>
                      <a:pt x="94456" y="47228"/>
                    </a:lnTo>
                    <a:cubicBezTo>
                      <a:pt x="94456" y="21145"/>
                      <a:pt x="73311" y="0"/>
                      <a:pt x="47228" y="0"/>
                    </a:cubicBezTo>
                    <a:cubicBezTo>
                      <a:pt x="21145" y="0"/>
                      <a:pt x="0" y="21145"/>
                      <a:pt x="0" y="47228"/>
                    </a:cubicBezTo>
                  </a:path>
                </a:pathLst>
              </a:custGeom>
              <a:noFill/>
              <a:ln w="19050">
                <a:solidFill>
                  <a:srgbClr val="518FEC"/>
                </a:solidFill>
              </a:ln>
            </p:spPr>
          </p:sp>
          <p:sp>
            <p:nvSpPr>
              <p:cNvPr id="93" name="Freeform 93"/>
              <p:cNvSpPr/>
              <p:nvPr/>
            </p:nvSpPr>
            <p:spPr>
              <a:xfrm>
                <a:off x="840581" y="5531644"/>
                <a:ext cx="53975" cy="94456"/>
              </a:xfrm>
              <a:custGeom>
                <a:avLst/>
                <a:gdLst/>
                <a:ahLst/>
                <a:cxnLst/>
                <a:rect l="l" t="t" r="r" b="b"/>
                <a:pathLst>
                  <a:path w="53975" h="94456">
                    <a:moveTo>
                      <a:pt x="47228" y="94456"/>
                    </a:moveTo>
                    <a:cubicBezTo>
                      <a:pt x="21145" y="94456"/>
                      <a:pt x="0" y="73311"/>
                      <a:pt x="0" y="47228"/>
                    </a:cubicBezTo>
                    <a:cubicBezTo>
                      <a:pt x="0" y="21145"/>
                      <a:pt x="21145" y="0"/>
                      <a:pt x="47228" y="0"/>
                    </a:cubicBezTo>
                    <a:lnTo>
                      <a:pt x="53975" y="0"/>
                    </a:lnTo>
                  </a:path>
                </a:pathLst>
              </a:custGeom>
              <a:noFill/>
              <a:ln w="19050">
                <a:solidFill>
                  <a:srgbClr val="518FEC"/>
                </a:solidFill>
              </a:ln>
            </p:spPr>
          </p:sp>
          <p:sp>
            <p:nvSpPr>
              <p:cNvPr id="94" name="Freeform 94"/>
              <p:cNvSpPr/>
              <p:nvPr/>
            </p:nvSpPr>
            <p:spPr>
              <a:xfrm>
                <a:off x="867569" y="5450681"/>
                <a:ext cx="94456" cy="182166"/>
              </a:xfrm>
              <a:custGeom>
                <a:avLst/>
                <a:gdLst/>
                <a:ahLst/>
                <a:cxnLst/>
                <a:rect l="l" t="t" r="r" b="b"/>
                <a:pathLst>
                  <a:path w="94456" h="182166">
                    <a:moveTo>
                      <a:pt x="0" y="85011"/>
                    </a:moveTo>
                    <a:lnTo>
                      <a:pt x="0" y="47228"/>
                    </a:lnTo>
                    <a:cubicBezTo>
                      <a:pt x="0" y="21145"/>
                      <a:pt x="21145" y="0"/>
                      <a:pt x="47228" y="0"/>
                    </a:cubicBezTo>
                    <a:cubicBezTo>
                      <a:pt x="73311" y="0"/>
                      <a:pt x="94456" y="21145"/>
                      <a:pt x="94456" y="47228"/>
                    </a:cubicBezTo>
                    <a:lnTo>
                      <a:pt x="94456" y="182166"/>
                    </a:lnTo>
                  </a:path>
                </a:pathLst>
              </a:custGeom>
              <a:noFill/>
              <a:ln w="19050">
                <a:solidFill>
                  <a:srgbClr val="518FEC"/>
                </a:solidFill>
              </a:ln>
            </p:spPr>
          </p:sp>
        </p:grpSp>
        <p:sp>
          <p:nvSpPr>
            <p:cNvPr id="96" name="TextBox 96"/>
            <p:cNvSpPr txBox="1"/>
            <p:nvPr/>
          </p:nvSpPr>
          <p:spPr>
            <a:xfrm>
              <a:off x="1225868" y="5390674"/>
              <a:ext cx="570833" cy="198120"/>
            </a:xfrm>
            <a:prstGeom prst="rect">
              <a:avLst/>
            </a:prstGeom>
            <a:noFill/>
            <a:ln>
              <a:noFill/>
            </a:ln>
          </p:spPr>
          <p:txBody>
            <a:bodyPr wrap="none" lIns="0" tIns="0" rIns="0" bIns="0" anchor="t" anchorCtr="0">
              <a:spAutoFit/>
            </a:bodyPr>
            <a:lstStyle/>
            <a:p>
              <a:pPr algn="l"/>
              <a:r>
                <a:rPr lang="zh-CN" sz="975" b="1" dirty="0">
                  <a:solidFill>
                    <a:srgbClr val="518FEC"/>
                  </a:solidFill>
                  <a:latin typeface="Arial" panose="020B0604020202020204"/>
                  <a:ea typeface="微软雅黑" panose="020B0503020204020204" charset="-122"/>
                  <a:cs typeface="Arial" panose="020B0604020202020204"/>
                </a:rPr>
                <a:t>统一底座</a:t>
              </a:r>
              <a:endParaRPr lang="zh-CN" sz="975" b="1" dirty="0">
                <a:solidFill>
                  <a:srgbClr val="518FEC"/>
                </a:solidFill>
                <a:latin typeface="Arial" panose="020B0604020202020204"/>
                <a:ea typeface="微软雅黑" panose="020B0503020204020204" charset="-122"/>
                <a:cs typeface="Arial" panose="020B0604020202020204"/>
              </a:endParaRPr>
            </a:p>
          </p:txBody>
        </p:sp>
        <p:sp>
          <p:nvSpPr>
            <p:cNvPr id="97" name="TextBox 97"/>
            <p:cNvSpPr txBox="1"/>
            <p:nvPr/>
          </p:nvSpPr>
          <p:spPr>
            <a:xfrm>
              <a:off x="1222058" y="5615464"/>
              <a:ext cx="490604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panose="020B0604020202020204"/>
                  <a:ea typeface="微软雅黑" panose="020B0503020204020204" charset="-122"/>
                  <a:cs typeface="Arial" panose="020B0604020202020204"/>
                </a:rPr>
                <a:t>FarAgent 平台 · 自主规划 / 沙盒执行 / 分层记忆 / 权限管理</a:t>
              </a:r>
              <a:endParaRPr lang="zh-CN" sz="1275" b="1" dirty="0">
                <a:solidFill>
                  <a:srgbClr val="FFFFFF"/>
                </a:solidFill>
                <a:latin typeface="Arial" panose="020B0604020202020204"/>
                <a:ea typeface="微软雅黑" panose="020B0503020204020204" charset="-122"/>
                <a:cs typeface="Arial" panose="020B0604020202020204"/>
              </a:endParaRPr>
            </a:p>
          </p:txBody>
        </p:sp>
        <p:sp>
          <p:nvSpPr>
            <p:cNvPr id="98" name="TextBox 98"/>
            <p:cNvSpPr txBox="1"/>
            <p:nvPr/>
          </p:nvSpPr>
          <p:spPr>
            <a:xfrm>
              <a:off x="9988868" y="5514499"/>
              <a:ext cx="356306"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生态:</a:t>
              </a:r>
              <a:endParaRPr lang="zh-CN" sz="975" dirty="0">
                <a:solidFill>
                  <a:srgbClr val="8FA3C4"/>
                </a:solidFill>
                <a:latin typeface="Arial" panose="020B0604020202020204"/>
                <a:ea typeface="微软雅黑" panose="020B0503020204020204" charset="-122"/>
                <a:cs typeface="Arial" panose="020B0604020202020204"/>
              </a:endParaRPr>
            </a:p>
          </p:txBody>
        </p:sp>
        <p:sp>
          <p:nvSpPr>
            <p:cNvPr id="99" name="TextBox 99"/>
            <p:cNvSpPr txBox="1"/>
            <p:nvPr/>
          </p:nvSpPr>
          <p:spPr>
            <a:xfrm>
              <a:off x="9988868" y="5724049"/>
              <a:ext cx="1615189" cy="198120"/>
            </a:xfrm>
            <a:prstGeom prst="rect">
              <a:avLst/>
            </a:prstGeom>
            <a:noFill/>
            <a:ln>
              <a:noFill/>
            </a:ln>
          </p:spPr>
          <p:txBody>
            <a:bodyPr wrap="none" lIns="0" tIns="0" rIns="0" bIns="0" anchor="t" anchorCtr="0">
              <a:spAutoFit/>
            </a:bodyPr>
            <a:lstStyle/>
            <a:p>
              <a:pPr algn="l"/>
              <a:r>
                <a:rPr lang="zh-CN" sz="975" b="1" dirty="0">
                  <a:solidFill>
                    <a:srgbClr val="B8C7E0"/>
                  </a:solidFill>
                  <a:latin typeface="Arial" panose="020B0604020202020204"/>
                  <a:ea typeface="微软雅黑" panose="020B0503020204020204" charset="-122"/>
                  <a:cs typeface="Arial" panose="020B0604020202020204"/>
                </a:rPr>
                <a:t>信通院·智谱·华为·哈工大</a:t>
              </a:r>
              <a:endParaRPr lang="zh-CN" sz="975" b="1" dirty="0">
                <a:solidFill>
                  <a:srgbClr val="B8C7E0"/>
                </a:solidFill>
                <a:latin typeface="Arial" panose="020B0604020202020204"/>
                <a:ea typeface="微软雅黑" panose="020B0503020204020204" charset="-122"/>
                <a:cs typeface="Arial" panose="020B0604020202020204"/>
              </a:endParaRPr>
            </a:p>
          </p:txBody>
        </p:sp>
      </p:grpSp>
      <p:grpSp>
        <p:nvGrpSpPr>
          <p:cNvPr id="103" name="Group 103"/>
          <p:cNvGrpSpPr/>
          <p:nvPr/>
        </p:nvGrpSpPr>
        <p:grpSpPr>
          <a:xfrm>
            <a:off x="561022" y="6578441"/>
            <a:ext cx="11069955" cy="167640"/>
            <a:chOff x="561022" y="6578441"/>
            <a:chExt cx="11069955" cy="167640"/>
          </a:xfrm>
        </p:grpSpPr>
        <p:sp>
          <p:nvSpPr>
            <p:cNvPr id="101" name="TextBox 101"/>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02" name="TextBox 102"/>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09</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400"/>
                                        <p:tgtEl>
                                          <p:spTgt spid="2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slide(fromBottom)">
                                      <p:cBhvr>
                                        <p:cTn id="11" dur="400"/>
                                        <p:tgtEl>
                                          <p:spTgt spid="46"/>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slide(fromBottom)">
                                      <p:cBhvr>
                                        <p:cTn id="15" dur="400"/>
                                        <p:tgtEl>
                                          <p:spTgt spid="67"/>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87"/>
                                        </p:tgtEl>
                                        <p:attrNameLst>
                                          <p:attrName>style.visibility</p:attrName>
                                        </p:attrNameLst>
                                      </p:cBhvr>
                                      <p:to>
                                        <p:strVal val="visible"/>
                                      </p:to>
                                    </p:set>
                                    <p:animEffect transition="in" filter="slide(fromBottom)">
                                      <p:cBhvr>
                                        <p:cTn id="19" dur="400"/>
                                        <p:tgtEl>
                                          <p:spTgt spid="87"/>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slide(fromBottom)">
                                      <p:cBhvr>
                                        <p:cTn id="23" dur="4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6" grpId="0"/>
      <p:bldP spid="67" grpId="0"/>
      <p:bldP spid="87" grpId="0"/>
      <p:bldP spid="1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2A5E"/>
                </a:gs>
                <a:gs pos="100000">
                  <a:srgbClr val="17365D"/>
                </a:gs>
              </a:gsLst>
              <a:lin ang="2700000" scaled="1"/>
            </a:gradFill>
            <a:ln>
              <a:noFill/>
            </a:ln>
          </p:spPr>
        </p:sp>
        <p:sp>
          <p:nvSpPr>
            <p:cNvPr id="3" name="Rectangle 3"/>
            <p:cNvSpPr/>
            <p:nvPr/>
          </p:nvSpPr>
          <p:spPr>
            <a:xfrm>
              <a:off x="0" y="0"/>
              <a:ext cx="12192000" cy="6858000"/>
            </a:xfrm>
            <a:prstGeom prst="rect">
              <a:avLst/>
            </a:prstGeom>
            <a:gradFill>
              <a:gsLst>
                <a:gs pos="0">
                  <a:srgbClr val="246BFE">
                    <a:alpha val="20000"/>
                  </a:srgbClr>
                </a:gs>
                <a:gs pos="100000">
                  <a:srgbClr val="246BFE">
                    <a:alpha val="0"/>
                  </a:srgbClr>
                </a:gs>
              </a:gsLst>
              <a:path path="circle">
                <a:fillToRect l="50000" t="50000" r="50000" b="50000"/>
              </a:path>
            </a:gradFill>
            <a:ln>
              <a:noFill/>
            </a:ln>
          </p:spPr>
        </p:sp>
      </p:grpSp>
      <p:grpSp>
        <p:nvGrpSpPr>
          <p:cNvPr id="9" name="Group 9"/>
          <p:cNvGrpSpPr/>
          <p:nvPr/>
        </p:nvGrpSpPr>
        <p:grpSpPr>
          <a:xfrm>
            <a:off x="1866900" y="1381125"/>
            <a:ext cx="8734425" cy="3990975"/>
            <a:chOff x="1866900" y="1381125"/>
            <a:chExt cx="8734425" cy="3990975"/>
          </a:xfrm>
        </p:grpSpPr>
        <p:sp>
          <p:nvSpPr>
            <p:cNvPr id="5" name="Ellipse 5"/>
            <p:cNvSpPr/>
            <p:nvPr/>
          </p:nvSpPr>
          <p:spPr>
            <a:xfrm>
              <a:off x="9953625" y="1381125"/>
              <a:ext cx="95250" cy="95250"/>
            </a:xfrm>
            <a:prstGeom prst="ellipse">
              <a:avLst/>
            </a:prstGeom>
            <a:solidFill>
              <a:srgbClr val="518FEC">
                <a:alpha val="25000"/>
              </a:srgbClr>
            </a:solidFill>
            <a:ln>
              <a:noFill/>
            </a:ln>
          </p:spPr>
        </p:sp>
        <p:sp>
          <p:nvSpPr>
            <p:cNvPr id="6" name="Ellipse 6"/>
            <p:cNvSpPr/>
            <p:nvPr/>
          </p:nvSpPr>
          <p:spPr>
            <a:xfrm>
              <a:off x="10544175" y="1971675"/>
              <a:ext cx="57150" cy="57150"/>
            </a:xfrm>
            <a:prstGeom prst="ellipse">
              <a:avLst/>
            </a:prstGeom>
            <a:solidFill>
              <a:srgbClr val="246BFE">
                <a:alpha val="30000"/>
              </a:srgbClr>
            </a:solidFill>
            <a:ln>
              <a:noFill/>
            </a:ln>
          </p:spPr>
        </p:sp>
        <p:sp>
          <p:nvSpPr>
            <p:cNvPr id="7" name="Ellipse 7"/>
            <p:cNvSpPr/>
            <p:nvPr/>
          </p:nvSpPr>
          <p:spPr>
            <a:xfrm>
              <a:off x="9405938" y="2166938"/>
              <a:ext cx="47625" cy="47625"/>
            </a:xfrm>
            <a:prstGeom prst="ellipse">
              <a:avLst/>
            </a:prstGeom>
            <a:solidFill>
              <a:srgbClr val="518FEC">
                <a:alpha val="20000"/>
              </a:srgbClr>
            </a:solidFill>
            <a:ln>
              <a:noFill/>
            </a:ln>
          </p:spPr>
        </p:sp>
        <p:sp>
          <p:nvSpPr>
            <p:cNvPr id="8" name="Ellipse 8"/>
            <p:cNvSpPr/>
            <p:nvPr/>
          </p:nvSpPr>
          <p:spPr>
            <a:xfrm>
              <a:off x="1866900" y="5295900"/>
              <a:ext cx="76200" cy="76200"/>
            </a:xfrm>
            <a:prstGeom prst="ellipse">
              <a:avLst/>
            </a:prstGeom>
            <a:solidFill>
              <a:srgbClr val="518FEC">
                <a:alpha val="18000"/>
              </a:srgbClr>
            </a:solidFill>
            <a:ln>
              <a:noFill/>
            </a:ln>
          </p:spPr>
        </p:sp>
      </p:grpSp>
      <p:grpSp>
        <p:nvGrpSpPr>
          <p:cNvPr id="11" name="Group 11"/>
          <p:cNvGrpSpPr/>
          <p:nvPr/>
        </p:nvGrpSpPr>
        <p:grpSpPr>
          <a:xfrm>
            <a:off x="647700" y="1838325"/>
            <a:ext cx="2960418" cy="3352800"/>
            <a:chOff x="647700" y="1838325"/>
            <a:chExt cx="2960418" cy="3352800"/>
          </a:xfrm>
        </p:grpSpPr>
        <p:sp>
          <p:nvSpPr>
            <p:cNvPr id="10" name="TextBox 10"/>
            <p:cNvSpPr txBox="1"/>
            <p:nvPr/>
          </p:nvSpPr>
          <p:spPr>
            <a:xfrm>
              <a:off x="647700" y="1838325"/>
              <a:ext cx="2960418" cy="3352800"/>
            </a:xfrm>
            <a:prstGeom prst="rect">
              <a:avLst/>
            </a:prstGeom>
            <a:noFill/>
            <a:ln>
              <a:noFill/>
            </a:ln>
          </p:spPr>
          <p:txBody>
            <a:bodyPr wrap="none" lIns="0" tIns="0" rIns="0" bIns="0" anchor="t" anchorCtr="0">
              <a:spAutoFit/>
            </a:bodyPr>
            <a:lstStyle/>
            <a:p>
              <a:pPr algn="l"/>
              <a:r>
                <a:rPr lang="zh-CN" sz="16500" b="1" dirty="0">
                  <a:solidFill>
                    <a:srgbClr val="246BFE">
                      <a:alphaMod val="22000"/>
                    </a:srgbClr>
                  </a:solidFill>
                  <a:latin typeface="Arial" panose="020B0604020202020204"/>
                  <a:ea typeface="微软雅黑" panose="020B0503020204020204" charset="-122"/>
                  <a:cs typeface="Arial" panose="020B0604020202020204"/>
                </a:rPr>
                <a:t>03</a:t>
              </a:r>
              <a:endParaRPr lang="zh-CN" sz="16500" b="1" dirty="0">
                <a:solidFill>
                  <a:srgbClr val="246BFE">
                    <a:alphaMod val="22000"/>
                  </a:srgbClr>
                </a:solidFill>
                <a:latin typeface="Arial" panose="020B0604020202020204"/>
                <a:ea typeface="微软雅黑" panose="020B0503020204020204" charset="-122"/>
                <a:cs typeface="Arial" panose="020B0604020202020204"/>
              </a:endParaRPr>
            </a:p>
          </p:txBody>
        </p:sp>
      </p:grpSp>
      <p:grpSp>
        <p:nvGrpSpPr>
          <p:cNvPr id="16" name="Group 16"/>
          <p:cNvGrpSpPr/>
          <p:nvPr/>
        </p:nvGrpSpPr>
        <p:grpSpPr>
          <a:xfrm>
            <a:off x="819150" y="2762250"/>
            <a:ext cx="5087779" cy="1809750"/>
            <a:chOff x="819150" y="2762250"/>
            <a:chExt cx="5087779" cy="1809750"/>
          </a:xfrm>
        </p:grpSpPr>
        <p:sp>
          <p:nvSpPr>
            <p:cNvPr id="12" name="Rectangle 12"/>
            <p:cNvSpPr/>
            <p:nvPr/>
          </p:nvSpPr>
          <p:spPr>
            <a:xfrm>
              <a:off x="857250" y="2762250"/>
              <a:ext cx="685800" cy="57150"/>
            </a:xfrm>
            <a:prstGeom prst="roundRect">
              <a:avLst>
                <a:gd name="adj" fmla="val 50000"/>
              </a:avLst>
            </a:prstGeom>
            <a:solidFill>
              <a:srgbClr val="518FEC"/>
            </a:solidFill>
            <a:ln>
              <a:noFill/>
            </a:ln>
          </p:spPr>
        </p:sp>
        <p:sp>
          <p:nvSpPr>
            <p:cNvPr id="13" name="TextBox 13"/>
            <p:cNvSpPr txBox="1"/>
            <p:nvPr/>
          </p:nvSpPr>
          <p:spPr>
            <a:xfrm>
              <a:off x="838200" y="3124200"/>
              <a:ext cx="1140738" cy="304800"/>
            </a:xfrm>
            <a:prstGeom prst="rect">
              <a:avLst/>
            </a:prstGeom>
            <a:noFill/>
            <a:ln>
              <a:noFill/>
            </a:ln>
          </p:spPr>
          <p:txBody>
            <a:bodyPr wrap="none" lIns="0" tIns="0" rIns="0" bIns="0" anchor="t" anchorCtr="0">
              <a:spAutoFit/>
            </a:bodyPr>
            <a:lstStyle/>
            <a:p>
              <a:pPr algn="l"/>
              <a:r>
                <a:rPr lang="zh-CN" sz="1500" b="1" dirty="0">
                  <a:solidFill>
                    <a:srgbClr val="518FEC"/>
                  </a:solidFill>
                  <a:latin typeface="Arial" panose="020B0604020202020204"/>
                  <a:ea typeface="微软雅黑" panose="020B0503020204020204" charset="-122"/>
                  <a:cs typeface="Arial" panose="020B0604020202020204"/>
                </a:rPr>
                <a:t>CHAPTER 03</a:t>
              </a:r>
              <a:endParaRPr lang="zh-CN" sz="1500" b="1" dirty="0">
                <a:solidFill>
                  <a:srgbClr val="518FEC"/>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819150" y="3629025"/>
              <a:ext cx="2596515"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panose="020B0604020202020204"/>
                  <a:ea typeface="微软雅黑" panose="020B0503020204020204" charset="-122"/>
                  <a:cs typeface="Arial" panose="020B0604020202020204"/>
                </a:rPr>
                <a:t>四大场景方案</a:t>
              </a:r>
              <a:endParaRPr lang="zh-CN" sz="3000" b="1" dirty="0">
                <a:solidFill>
                  <a:srgbClr val="FFFFFF"/>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838200" y="4267200"/>
              <a:ext cx="5068729" cy="304800"/>
            </a:xfrm>
            <a:prstGeom prst="rect">
              <a:avLst/>
            </a:prstGeom>
            <a:noFill/>
            <a:ln>
              <a:noFill/>
            </a:ln>
          </p:spPr>
          <p:txBody>
            <a:bodyPr wrap="none" lIns="0" tIns="0" rIns="0" bIns="0" anchor="t" anchorCtr="0">
              <a:spAutoFit/>
            </a:bodyPr>
            <a:lstStyle/>
            <a:p>
              <a:pPr algn="l"/>
              <a:r>
                <a:rPr lang="zh-CN" sz="1500" dirty="0">
                  <a:solidFill>
                    <a:srgbClr val="B8C7E0"/>
                  </a:solidFill>
                  <a:latin typeface="Arial" panose="020B0604020202020204"/>
                  <a:ea typeface="微软雅黑" panose="020B0503020204020204" charset="-122"/>
                  <a:cs typeface="Arial" panose="020B0604020202020204"/>
                </a:rPr>
                <a:t>招聘 · 商机 · 投标 · 营销 —— 逐一拆解痛点、流程与价值</a:t>
              </a:r>
              <a:endParaRPr lang="zh-CN" sz="1500" dirty="0">
                <a:solidFill>
                  <a:srgbClr val="B8C7E0"/>
                </a:solidFill>
                <a:latin typeface="Arial" panose="020B0604020202020204"/>
                <a:ea typeface="微软雅黑" panose="020B0503020204020204" charset="-122"/>
                <a:cs typeface="Arial" panose="020B0604020202020204"/>
              </a:endParaRPr>
            </a:p>
          </p:txBody>
        </p:sp>
      </p:grpSp>
      <p:grpSp>
        <p:nvGrpSpPr>
          <p:cNvPr id="19" name="Group 19"/>
          <p:cNvGrpSpPr/>
          <p:nvPr/>
        </p:nvGrpSpPr>
        <p:grpSpPr>
          <a:xfrm>
            <a:off x="844868" y="5905500"/>
            <a:ext cx="2742105" cy="426244"/>
            <a:chOff x="844868" y="5905500"/>
            <a:chExt cx="2742105" cy="426244"/>
          </a:xfrm>
        </p:grpSpPr>
        <p:sp>
          <p:nvSpPr>
            <p:cNvPr id="17" name="Line 17"/>
            <p:cNvSpPr/>
            <p:nvPr/>
          </p:nvSpPr>
          <p:spPr>
            <a:xfrm>
              <a:off x="857250" y="5905500"/>
              <a:ext cx="857250" cy="9525"/>
            </a:xfrm>
            <a:custGeom>
              <a:avLst/>
              <a:gdLst/>
              <a:ahLst/>
              <a:cxnLst/>
              <a:rect l="l" t="t" r="r" b="b"/>
              <a:pathLst>
                <a:path w="857250" h="9525">
                  <a:moveTo>
                    <a:pt x="0" y="0"/>
                  </a:moveTo>
                  <a:lnTo>
                    <a:pt x="857250" y="0"/>
                  </a:lnTo>
                </a:path>
              </a:pathLst>
            </a:custGeom>
            <a:noFill/>
            <a:ln w="19050">
              <a:solidFill>
                <a:srgbClr val="518FEC"/>
              </a:solidFill>
            </a:ln>
          </p:spPr>
        </p:sp>
        <p:sp>
          <p:nvSpPr>
            <p:cNvPr id="18" name="TextBox 18"/>
            <p:cNvSpPr txBox="1"/>
            <p:nvPr/>
          </p:nvSpPr>
          <p:spPr>
            <a:xfrm>
              <a:off x="844868" y="6133624"/>
              <a:ext cx="2742105"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FarAI × Colliers · 商业地产 AI 智能化解决方案</a:t>
              </a:r>
              <a:endParaRPr lang="zh-CN" sz="975" dirty="0">
                <a:solidFill>
                  <a:srgbClr val="8FA3C4"/>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5524500" cy="970598"/>
            <a:chOff x="542925" y="553402"/>
            <a:chExt cx="5524500" cy="970598"/>
          </a:xfrm>
        </p:grpSpPr>
        <p:sp>
          <p:nvSpPr>
            <p:cNvPr id="5" name="TextBox 5"/>
            <p:cNvSpPr txBox="1"/>
            <p:nvPr/>
          </p:nvSpPr>
          <p:spPr>
            <a:xfrm>
              <a:off x="558165" y="553402"/>
              <a:ext cx="1283677"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03 场景方案 · 招聘</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4829997"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智能招聘 — 基层岗位全流程自动化</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5511165"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从岗位发布到招聘过程跟踪,AI 覆盖基层招聘全链路,解放招聘人员的重复操作</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558165" y="1696402"/>
            <a:ext cx="11062335" cy="903923"/>
            <a:chOff x="558165" y="1696402"/>
            <a:chExt cx="11062335" cy="903923"/>
          </a:xfrm>
        </p:grpSpPr>
        <p:sp>
          <p:nvSpPr>
            <p:cNvPr id="9" name="TextBox 9"/>
            <p:cNvSpPr txBox="1"/>
            <p:nvPr/>
          </p:nvSpPr>
          <p:spPr>
            <a:xfrm>
              <a:off x="558165" y="1696402"/>
              <a:ext cx="1592416"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五大痛点 · PAIN POINTS</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10" name="Rectangle 10"/>
            <p:cNvSpPr/>
            <p:nvPr/>
          </p:nvSpPr>
          <p:spPr>
            <a:xfrm>
              <a:off x="571500" y="1952625"/>
              <a:ext cx="2095500" cy="647700"/>
            </a:xfrm>
            <a:prstGeom prst="roundRect">
              <a:avLst>
                <a:gd name="adj" fmla="val 14706"/>
              </a:avLst>
            </a:prstGeom>
            <a:solidFill>
              <a:srgbClr val="F4F7FC"/>
            </a:solidFill>
            <a:ln>
              <a:noFill/>
            </a:ln>
          </p:spPr>
        </p:sp>
        <p:sp>
          <p:nvSpPr>
            <p:cNvPr id="11" name="Rectangle 11"/>
            <p:cNvSpPr/>
            <p:nvPr/>
          </p:nvSpPr>
          <p:spPr>
            <a:xfrm>
              <a:off x="571500" y="1952625"/>
              <a:ext cx="38100" cy="647700"/>
            </a:xfrm>
            <a:prstGeom prst="roundRect">
              <a:avLst>
                <a:gd name="adj" fmla="val 50000"/>
              </a:avLst>
            </a:prstGeom>
            <a:solidFill>
              <a:srgbClr val="F59E0B"/>
            </a:solidFill>
            <a:ln>
              <a:noFill/>
            </a:ln>
          </p:spPr>
        </p:sp>
        <p:sp>
          <p:nvSpPr>
            <p:cNvPr id="12" name="TextBox 12"/>
            <p:cNvSpPr txBox="1"/>
            <p:nvPr/>
          </p:nvSpPr>
          <p:spPr>
            <a:xfrm>
              <a:off x="7296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量大流频繁</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731520" y="2350770"/>
              <a:ext cx="98298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基层岗位流动率高</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14" name="Rectangle 14"/>
            <p:cNvSpPr/>
            <p:nvPr/>
          </p:nvSpPr>
          <p:spPr>
            <a:xfrm>
              <a:off x="2800350" y="1952625"/>
              <a:ext cx="2095500" cy="647700"/>
            </a:xfrm>
            <a:prstGeom prst="roundRect">
              <a:avLst>
                <a:gd name="adj" fmla="val 14706"/>
              </a:avLst>
            </a:prstGeom>
            <a:solidFill>
              <a:srgbClr val="F4F7FC"/>
            </a:solidFill>
            <a:ln>
              <a:noFill/>
            </a:ln>
          </p:spPr>
        </p:sp>
        <p:sp>
          <p:nvSpPr>
            <p:cNvPr id="15" name="Rectangle 15"/>
            <p:cNvSpPr/>
            <p:nvPr/>
          </p:nvSpPr>
          <p:spPr>
            <a:xfrm>
              <a:off x="2800350" y="1952625"/>
              <a:ext cx="38100" cy="647700"/>
            </a:xfrm>
            <a:prstGeom prst="roundRect">
              <a:avLst>
                <a:gd name="adj" fmla="val 50000"/>
              </a:avLst>
            </a:prstGeom>
            <a:solidFill>
              <a:srgbClr val="F59E0B"/>
            </a:solidFill>
            <a:ln>
              <a:noFill/>
            </a:ln>
          </p:spPr>
        </p:sp>
        <p:sp>
          <p:nvSpPr>
            <p:cNvPr id="16" name="TextBox 16"/>
            <p:cNvSpPr txBox="1"/>
            <p:nvPr/>
          </p:nvSpPr>
          <p:spPr>
            <a:xfrm>
              <a:off x="2958465" y="2105978"/>
              <a:ext cx="908780"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简历质量参差</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296037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人工筛选量大</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18" name="Rectangle 18"/>
            <p:cNvSpPr/>
            <p:nvPr/>
          </p:nvSpPr>
          <p:spPr>
            <a:xfrm>
              <a:off x="5029200" y="1952625"/>
              <a:ext cx="2095500" cy="647700"/>
            </a:xfrm>
            <a:prstGeom prst="roundRect">
              <a:avLst>
                <a:gd name="adj" fmla="val 14706"/>
              </a:avLst>
            </a:prstGeom>
            <a:solidFill>
              <a:srgbClr val="F4F7FC"/>
            </a:solidFill>
            <a:ln>
              <a:noFill/>
            </a:ln>
          </p:spPr>
        </p:sp>
        <p:sp>
          <p:nvSpPr>
            <p:cNvPr id="19" name="Rectangle 19"/>
            <p:cNvSpPr/>
            <p:nvPr/>
          </p:nvSpPr>
          <p:spPr>
            <a:xfrm>
              <a:off x="5029200" y="1952625"/>
              <a:ext cx="38100" cy="647700"/>
            </a:xfrm>
            <a:prstGeom prst="roundRect">
              <a:avLst>
                <a:gd name="adj" fmla="val 50000"/>
              </a:avLst>
            </a:prstGeom>
            <a:solidFill>
              <a:srgbClr val="F59E0B"/>
            </a:solidFill>
            <a:ln>
              <a:noFill/>
            </a:ln>
          </p:spPr>
        </p:sp>
        <p:sp>
          <p:nvSpPr>
            <p:cNvPr id="20" name="TextBox 20"/>
            <p:cNvSpPr txBox="1"/>
            <p:nvPr/>
          </p:nvSpPr>
          <p:spPr>
            <a:xfrm>
              <a:off x="51873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多平台重复</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518922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发布沟通分散</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2" name="Rectangle 22"/>
            <p:cNvSpPr/>
            <p:nvPr/>
          </p:nvSpPr>
          <p:spPr>
            <a:xfrm>
              <a:off x="7258050" y="1952625"/>
              <a:ext cx="2095500" cy="647700"/>
            </a:xfrm>
            <a:prstGeom prst="roundRect">
              <a:avLst>
                <a:gd name="adj" fmla="val 14706"/>
              </a:avLst>
            </a:prstGeom>
            <a:solidFill>
              <a:srgbClr val="F4F7FC"/>
            </a:solidFill>
            <a:ln>
              <a:noFill/>
            </a:ln>
          </p:spPr>
        </p:sp>
        <p:sp>
          <p:nvSpPr>
            <p:cNvPr id="23" name="Rectangle 23"/>
            <p:cNvSpPr/>
            <p:nvPr/>
          </p:nvSpPr>
          <p:spPr>
            <a:xfrm>
              <a:off x="7258050" y="1952625"/>
              <a:ext cx="38100" cy="647700"/>
            </a:xfrm>
            <a:prstGeom prst="roundRect">
              <a:avLst>
                <a:gd name="adj" fmla="val 50000"/>
              </a:avLst>
            </a:prstGeom>
            <a:solidFill>
              <a:srgbClr val="F59E0B"/>
            </a:solidFill>
            <a:ln>
              <a:noFill/>
            </a:ln>
          </p:spPr>
        </p:sp>
        <p:sp>
          <p:nvSpPr>
            <p:cNvPr id="24" name="TextBox 24"/>
            <p:cNvSpPr txBox="1"/>
            <p:nvPr/>
          </p:nvSpPr>
          <p:spPr>
            <a:xfrm>
              <a:off x="7416165" y="2105978"/>
              <a:ext cx="614744"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失联爽约</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7418070" y="2350770"/>
              <a:ext cx="50292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到岗率低</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6" name="Rectangle 26"/>
            <p:cNvSpPr/>
            <p:nvPr/>
          </p:nvSpPr>
          <p:spPr>
            <a:xfrm>
              <a:off x="9486900" y="1952625"/>
              <a:ext cx="2133600" cy="647700"/>
            </a:xfrm>
            <a:prstGeom prst="roundRect">
              <a:avLst>
                <a:gd name="adj" fmla="val 14706"/>
              </a:avLst>
            </a:prstGeom>
            <a:solidFill>
              <a:srgbClr val="F4F7FC"/>
            </a:solidFill>
            <a:ln>
              <a:noFill/>
            </a:ln>
          </p:spPr>
        </p:sp>
        <p:sp>
          <p:nvSpPr>
            <p:cNvPr id="27" name="Rectangle 27"/>
            <p:cNvSpPr/>
            <p:nvPr/>
          </p:nvSpPr>
          <p:spPr>
            <a:xfrm>
              <a:off x="9486900" y="1952625"/>
              <a:ext cx="38100" cy="647700"/>
            </a:xfrm>
            <a:prstGeom prst="roundRect">
              <a:avLst>
                <a:gd name="adj" fmla="val 50000"/>
              </a:avLst>
            </a:prstGeom>
            <a:solidFill>
              <a:srgbClr val="F59E0B"/>
            </a:solidFill>
            <a:ln>
              <a:noFill/>
            </a:ln>
          </p:spPr>
        </p:sp>
        <p:sp>
          <p:nvSpPr>
            <p:cNvPr id="28" name="TextBox 28"/>
            <p:cNvSpPr txBox="1"/>
            <p:nvPr/>
          </p:nvSpPr>
          <p:spPr>
            <a:xfrm>
              <a:off x="96450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数据未沉淀</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9646920" y="2350770"/>
              <a:ext cx="86296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历史候选人浪费</a:t>
              </a:r>
              <a:endParaRPr lang="zh-CN" sz="900" dirty="0">
                <a:solidFill>
                  <a:srgbClr val="5E6A78"/>
                </a:solidFill>
                <a:latin typeface="Arial" panose="020B0604020202020204"/>
                <a:ea typeface="微软雅黑" panose="020B0503020204020204" charset="-122"/>
                <a:cs typeface="Arial" panose="020B0604020202020204"/>
              </a:endParaRPr>
            </a:p>
          </p:txBody>
        </p:sp>
      </p:grpSp>
      <p:grpSp>
        <p:nvGrpSpPr>
          <p:cNvPr id="95" name="Group 95"/>
          <p:cNvGrpSpPr/>
          <p:nvPr/>
        </p:nvGrpSpPr>
        <p:grpSpPr>
          <a:xfrm>
            <a:off x="558165" y="2915602"/>
            <a:ext cx="11062335" cy="1989773"/>
            <a:chOff x="558165" y="2915602"/>
            <a:chExt cx="11062335" cy="1989773"/>
          </a:xfrm>
        </p:grpSpPr>
        <p:sp>
          <p:nvSpPr>
            <p:cNvPr id="31" name="TextBox 31"/>
            <p:cNvSpPr txBox="1"/>
            <p:nvPr/>
          </p:nvSpPr>
          <p:spPr>
            <a:xfrm>
              <a:off x="558165" y="2915602"/>
              <a:ext cx="2386315" cy="213360"/>
            </a:xfrm>
            <a:prstGeom prst="rect">
              <a:avLst/>
            </a:prstGeom>
            <a:noFill/>
            <a:ln>
              <a:noFill/>
            </a:ln>
          </p:spPr>
          <p:txBody>
            <a:bodyPr wrap="none" lIns="0" tIns="0" rIns="0" bIns="0" anchor="t" anchorCtr="0">
              <a:spAutoFit/>
            </a:bodyPr>
            <a:lstStyle/>
            <a:p>
              <a:pPr algn="l"/>
              <a:r>
                <a:rPr lang="zh-CN" sz="1050" b="1" dirty="0">
                  <a:solidFill>
                    <a:srgbClr val="246BFE"/>
                  </a:solidFill>
                  <a:latin typeface="Arial" panose="020B0604020202020204"/>
                  <a:ea typeface="微软雅黑" panose="020B0503020204020204" charset="-122"/>
                  <a:cs typeface="Arial" panose="020B0604020202020204"/>
                </a:rPr>
                <a:t>招聘全流程 · END-TO-END PIPELINE</a:t>
              </a:r>
              <a:endParaRPr lang="zh-CN" sz="1050" b="1" dirty="0">
                <a:solidFill>
                  <a:srgbClr val="246BFE"/>
                </a:solidFill>
                <a:latin typeface="Arial" panose="020B0604020202020204"/>
                <a:ea typeface="微软雅黑" panose="020B0503020204020204" charset="-122"/>
                <a:cs typeface="Arial" panose="020B0604020202020204"/>
              </a:endParaRPr>
            </a:p>
          </p:txBody>
        </p:sp>
        <p:sp>
          <p:nvSpPr>
            <p:cNvPr id="32" name="Rectangle 32"/>
            <p:cNvSpPr/>
            <p:nvPr/>
          </p:nvSpPr>
          <p:spPr>
            <a:xfrm>
              <a:off x="571500" y="3190875"/>
              <a:ext cx="11049000" cy="1714500"/>
            </a:xfrm>
            <a:prstGeom prst="roundRect">
              <a:avLst>
                <a:gd name="adj" fmla="val 6667"/>
              </a:avLst>
            </a:prstGeom>
            <a:solidFill>
              <a:srgbClr val="F4F7FC"/>
            </a:solidFill>
            <a:ln>
              <a:noFill/>
            </a:ln>
          </p:spPr>
        </p:sp>
        <p:sp>
          <p:nvSpPr>
            <p:cNvPr id="33" name="Line 33"/>
            <p:cNvSpPr/>
            <p:nvPr/>
          </p:nvSpPr>
          <p:spPr>
            <a:xfrm>
              <a:off x="2095500" y="4048125"/>
              <a:ext cx="361950" cy="1"/>
            </a:xfrm>
            <a:prstGeom prst="line">
              <a:avLst/>
            </a:prstGeom>
            <a:noFill/>
            <a:ln w="23812">
              <a:solidFill>
                <a:srgbClr val="246BFE"/>
              </a:solidFill>
              <a:tailEnd type="triangle" w="lg" len="lg"/>
            </a:ln>
          </p:spPr>
        </p:sp>
        <p:sp>
          <p:nvSpPr>
            <p:cNvPr id="34" name="Line 34"/>
            <p:cNvSpPr/>
            <p:nvPr/>
          </p:nvSpPr>
          <p:spPr>
            <a:xfrm>
              <a:off x="3790950" y="4048125"/>
              <a:ext cx="361950" cy="1"/>
            </a:xfrm>
            <a:prstGeom prst="line">
              <a:avLst/>
            </a:prstGeom>
            <a:noFill/>
            <a:ln w="23812">
              <a:solidFill>
                <a:srgbClr val="246BFE"/>
              </a:solidFill>
              <a:tailEnd type="triangle" w="lg" len="lg"/>
            </a:ln>
          </p:spPr>
        </p:sp>
        <p:sp>
          <p:nvSpPr>
            <p:cNvPr id="35" name="Line 35"/>
            <p:cNvSpPr/>
            <p:nvPr/>
          </p:nvSpPr>
          <p:spPr>
            <a:xfrm>
              <a:off x="5486400" y="4048125"/>
              <a:ext cx="361950" cy="1"/>
            </a:xfrm>
            <a:prstGeom prst="line">
              <a:avLst/>
            </a:prstGeom>
            <a:noFill/>
            <a:ln w="23812">
              <a:solidFill>
                <a:srgbClr val="246BFE"/>
              </a:solidFill>
              <a:tailEnd type="triangle" w="lg" len="lg"/>
            </a:ln>
          </p:spPr>
        </p:sp>
        <p:sp>
          <p:nvSpPr>
            <p:cNvPr id="36" name="Line 36"/>
            <p:cNvSpPr/>
            <p:nvPr/>
          </p:nvSpPr>
          <p:spPr>
            <a:xfrm>
              <a:off x="7181850" y="4048125"/>
              <a:ext cx="361950" cy="1"/>
            </a:xfrm>
            <a:prstGeom prst="line">
              <a:avLst/>
            </a:prstGeom>
            <a:noFill/>
            <a:ln w="23812">
              <a:solidFill>
                <a:srgbClr val="246BFE"/>
              </a:solidFill>
              <a:tailEnd type="triangle" w="lg" len="lg"/>
            </a:ln>
          </p:spPr>
        </p:sp>
        <p:sp>
          <p:nvSpPr>
            <p:cNvPr id="37" name="Line 37"/>
            <p:cNvSpPr/>
            <p:nvPr/>
          </p:nvSpPr>
          <p:spPr>
            <a:xfrm>
              <a:off x="8877300" y="4048125"/>
              <a:ext cx="361950" cy="1"/>
            </a:xfrm>
            <a:prstGeom prst="line">
              <a:avLst/>
            </a:prstGeom>
            <a:noFill/>
            <a:ln w="23812">
              <a:solidFill>
                <a:srgbClr val="246BFE"/>
              </a:solidFill>
              <a:tailEnd type="triangle" w="lg" len="lg"/>
            </a:ln>
          </p:spPr>
        </p:sp>
        <p:grpSp>
          <p:nvGrpSpPr>
            <p:cNvPr id="47" name="Group 47"/>
            <p:cNvGrpSpPr/>
            <p:nvPr/>
          </p:nvGrpSpPr>
          <p:grpSpPr>
            <a:xfrm>
              <a:off x="857250" y="3429000"/>
              <a:ext cx="1238250" cy="1238250"/>
              <a:chOff x="857250" y="3429000"/>
              <a:chExt cx="1238250" cy="1238250"/>
            </a:xfrm>
          </p:grpSpPr>
          <p:sp>
            <p:nvSpPr>
              <p:cNvPr id="38" name="Ellipse 38"/>
              <p:cNvSpPr/>
              <p:nvPr/>
            </p:nvSpPr>
            <p:spPr>
              <a:xfrm>
                <a:off x="857250" y="3429000"/>
                <a:ext cx="1238250" cy="1238250"/>
              </a:xfrm>
              <a:prstGeom prst="ellipse">
                <a:avLst/>
              </a:prstGeom>
              <a:solidFill>
                <a:srgbClr val="246BFE"/>
              </a:solidFill>
              <a:ln>
                <a:noFill/>
              </a:ln>
            </p:spPr>
          </p:sp>
          <p:grpSp>
            <p:nvGrpSpPr>
              <p:cNvPr id="44" name="Group 44"/>
              <p:cNvGrpSpPr/>
              <p:nvPr/>
            </p:nvGrpSpPr>
            <p:grpSpPr>
              <a:xfrm>
                <a:off x="1365250" y="3619500"/>
                <a:ext cx="222250" cy="285750"/>
                <a:chOff x="1365250" y="3619500"/>
                <a:chExt cx="222250" cy="285750"/>
              </a:xfrm>
            </p:grpSpPr>
            <p:sp>
              <p:nvSpPr>
                <p:cNvPr id="39" name="Freeform 39"/>
                <p:cNvSpPr/>
                <p:nvPr/>
              </p:nvSpPr>
              <p:spPr>
                <a:xfrm>
                  <a:off x="1508125" y="3619500"/>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FFFFFF"/>
                  </a:solidFill>
                </a:ln>
              </p:spPr>
            </p:sp>
            <p:sp>
              <p:nvSpPr>
                <p:cNvPr id="40" name="Freeform 40"/>
                <p:cNvSpPr/>
                <p:nvPr/>
              </p:nvSpPr>
              <p:spPr>
                <a:xfrm>
                  <a:off x="1365250" y="3619500"/>
                  <a:ext cx="222250" cy="285750"/>
                </a:xfrm>
                <a:custGeom>
                  <a:avLst/>
                  <a:gdLst/>
                  <a:ahLst/>
                  <a:cxnLst/>
                  <a:rect l="l" t="t" r="r" b="b"/>
                  <a:pathLst>
                    <a:path w="222250" h="285750">
                      <a:moveTo>
                        <a:pt x="190500" y="285750"/>
                      </a:moveTo>
                      <a:lnTo>
                        <a:pt x="31750" y="285750"/>
                      </a:lnTo>
                      <a:cubicBezTo>
                        <a:pt x="14215" y="285750"/>
                        <a:pt x="0" y="271535"/>
                        <a:pt x="0" y="254000"/>
                      </a:cubicBezTo>
                      <a:lnTo>
                        <a:pt x="0" y="31750"/>
                      </a:lnTo>
                      <a:cubicBezTo>
                        <a:pt x="0" y="14215"/>
                        <a:pt x="14215" y="0"/>
                        <a:pt x="31750" y="0"/>
                      </a:cubicBezTo>
                      <a:lnTo>
                        <a:pt x="142875" y="0"/>
                      </a:lnTo>
                      <a:lnTo>
                        <a:pt x="222250" y="79375"/>
                      </a:lnTo>
                      <a:lnTo>
                        <a:pt x="222250" y="254000"/>
                      </a:lnTo>
                      <a:cubicBezTo>
                        <a:pt x="222250" y="271535"/>
                        <a:pt x="208035" y="285750"/>
                        <a:pt x="190500" y="285750"/>
                      </a:cubicBezTo>
                    </a:path>
                  </a:pathLst>
                </a:custGeom>
                <a:noFill/>
                <a:ln w="19050">
                  <a:solidFill>
                    <a:srgbClr val="FFFFFF"/>
                  </a:solidFill>
                </a:ln>
              </p:spPr>
            </p:sp>
            <p:sp>
              <p:nvSpPr>
                <p:cNvPr id="41" name="Freeform 41"/>
                <p:cNvSpPr/>
                <p:nvPr/>
              </p:nvSpPr>
              <p:spPr>
                <a:xfrm>
                  <a:off x="1428750" y="3714750"/>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42" name="Freeform 42"/>
                <p:cNvSpPr/>
                <p:nvPr/>
              </p:nvSpPr>
              <p:spPr>
                <a:xfrm>
                  <a:off x="1428750" y="3778250"/>
                  <a:ext cx="95250" cy="9525"/>
                </a:xfrm>
                <a:custGeom>
                  <a:avLst/>
                  <a:gdLst/>
                  <a:ahLst/>
                  <a:cxnLst/>
                  <a:rect l="l" t="t" r="r" b="b"/>
                  <a:pathLst>
                    <a:path w="95250" h="9525">
                      <a:moveTo>
                        <a:pt x="0" y="0"/>
                      </a:moveTo>
                      <a:lnTo>
                        <a:pt x="95250" y="0"/>
                      </a:lnTo>
                    </a:path>
                  </a:pathLst>
                </a:custGeom>
                <a:noFill/>
                <a:ln w="19050">
                  <a:solidFill>
                    <a:srgbClr val="FFFFFF"/>
                  </a:solidFill>
                </a:ln>
              </p:spPr>
            </p:sp>
            <p:sp>
              <p:nvSpPr>
                <p:cNvPr id="43" name="Freeform 43"/>
                <p:cNvSpPr/>
                <p:nvPr/>
              </p:nvSpPr>
              <p:spPr>
                <a:xfrm>
                  <a:off x="1428750" y="3841750"/>
                  <a:ext cx="95250" cy="9525"/>
                </a:xfrm>
                <a:custGeom>
                  <a:avLst/>
                  <a:gdLst/>
                  <a:ahLst/>
                  <a:cxnLst/>
                  <a:rect l="l" t="t" r="r" b="b"/>
                  <a:pathLst>
                    <a:path w="95250" h="9525">
                      <a:moveTo>
                        <a:pt x="0" y="0"/>
                      </a:moveTo>
                      <a:lnTo>
                        <a:pt x="95250" y="0"/>
                      </a:lnTo>
                    </a:path>
                  </a:pathLst>
                </a:custGeom>
                <a:noFill/>
                <a:ln w="19050">
                  <a:solidFill>
                    <a:srgbClr val="FFFFFF"/>
                  </a:solidFill>
                </a:ln>
              </p:spPr>
            </p:sp>
          </p:grpSp>
          <p:sp>
            <p:nvSpPr>
              <p:cNvPr id="45" name="TextBox 45"/>
              <p:cNvSpPr txBox="1"/>
              <p:nvPr/>
            </p:nvSpPr>
            <p:spPr>
              <a:xfrm>
                <a:off x="1169003" y="40967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岗位发布</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1245870" y="4301966"/>
                <a:ext cx="461010"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批量发布</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56" name="Group 56"/>
            <p:cNvGrpSpPr/>
            <p:nvPr/>
          </p:nvGrpSpPr>
          <p:grpSpPr>
            <a:xfrm>
              <a:off x="2505075" y="3429000"/>
              <a:ext cx="1238250" cy="1238250"/>
              <a:chOff x="2505075" y="3429000"/>
              <a:chExt cx="1238250" cy="1238250"/>
            </a:xfrm>
          </p:grpSpPr>
          <p:sp>
            <p:nvSpPr>
              <p:cNvPr id="48" name="Ellipse 48"/>
              <p:cNvSpPr/>
              <p:nvPr/>
            </p:nvSpPr>
            <p:spPr>
              <a:xfrm>
                <a:off x="2505075" y="3429000"/>
                <a:ext cx="1238250" cy="1238250"/>
              </a:xfrm>
              <a:prstGeom prst="ellipse">
                <a:avLst/>
              </a:prstGeom>
              <a:solidFill>
                <a:srgbClr val="0052A6"/>
              </a:solidFill>
              <a:ln>
                <a:noFill/>
              </a:ln>
            </p:spPr>
          </p:sp>
          <p:grpSp>
            <p:nvGrpSpPr>
              <p:cNvPr id="53" name="Group 53"/>
              <p:cNvGrpSpPr/>
              <p:nvPr/>
            </p:nvGrpSpPr>
            <p:grpSpPr>
              <a:xfrm>
                <a:off x="2981325" y="3619500"/>
                <a:ext cx="285750" cy="285750"/>
                <a:chOff x="2981325" y="3619500"/>
                <a:chExt cx="285750" cy="285750"/>
              </a:xfrm>
            </p:grpSpPr>
            <p:sp>
              <p:nvSpPr>
                <p:cNvPr id="49" name="Freeform 49"/>
                <p:cNvSpPr/>
                <p:nvPr/>
              </p:nvSpPr>
              <p:spPr>
                <a:xfrm>
                  <a:off x="3013075" y="361950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FFFFFF"/>
                  </a:solidFill>
                </a:ln>
              </p:spPr>
            </p:sp>
            <p:sp>
              <p:nvSpPr>
                <p:cNvPr id="50" name="Freeform 50"/>
                <p:cNvSpPr/>
                <p:nvPr/>
              </p:nvSpPr>
              <p:spPr>
                <a:xfrm>
                  <a:off x="2981325" y="3810000"/>
                  <a:ext cx="190500" cy="95250"/>
                </a:xfrm>
                <a:custGeom>
                  <a:avLst/>
                  <a:gdLst/>
                  <a:ahLst/>
                  <a:cxnLst/>
                  <a:rect l="l" t="t" r="r" b="b"/>
                  <a:pathLst>
                    <a:path w="190500" h="95250">
                      <a:moveTo>
                        <a:pt x="0" y="95250"/>
                      </a:moveTo>
                      <a:lnTo>
                        <a:pt x="0" y="63500"/>
                      </a:lnTo>
                      <a:cubicBezTo>
                        <a:pt x="0" y="28430"/>
                        <a:pt x="28430" y="0"/>
                        <a:pt x="63500" y="0"/>
                      </a:cubicBezTo>
                      <a:lnTo>
                        <a:pt x="127000" y="0"/>
                      </a:lnTo>
                      <a:cubicBezTo>
                        <a:pt x="162070" y="0"/>
                        <a:pt x="190500" y="28430"/>
                        <a:pt x="190500" y="63500"/>
                      </a:cubicBezTo>
                      <a:lnTo>
                        <a:pt x="190500" y="95250"/>
                      </a:lnTo>
                    </a:path>
                  </a:pathLst>
                </a:custGeom>
                <a:noFill/>
                <a:ln w="19050">
                  <a:solidFill>
                    <a:srgbClr val="FFFFFF"/>
                  </a:solidFill>
                </a:ln>
              </p:spPr>
            </p:sp>
            <p:sp>
              <p:nvSpPr>
                <p:cNvPr id="51" name="Freeform 51"/>
                <p:cNvSpPr/>
                <p:nvPr/>
              </p:nvSpPr>
              <p:spPr>
                <a:xfrm>
                  <a:off x="3187700" y="3621564"/>
                  <a:ext cx="47750" cy="123031"/>
                </a:xfrm>
                <a:custGeom>
                  <a:avLst/>
                  <a:gdLst/>
                  <a:ahLst/>
                  <a:cxnLst/>
                  <a:rect l="l" t="t" r="r" b="b"/>
                  <a:pathLst>
                    <a:path w="47750" h="123031">
                      <a:moveTo>
                        <a:pt x="0" y="0"/>
                      </a:moveTo>
                      <a:cubicBezTo>
                        <a:pt x="28097" y="7194"/>
                        <a:pt x="47750" y="32512"/>
                        <a:pt x="47750" y="61516"/>
                      </a:cubicBezTo>
                      <a:cubicBezTo>
                        <a:pt x="47750" y="90519"/>
                        <a:pt x="28097" y="115837"/>
                        <a:pt x="0" y="123031"/>
                      </a:cubicBezTo>
                    </a:path>
                  </a:pathLst>
                </a:custGeom>
                <a:noFill/>
                <a:ln w="19050">
                  <a:solidFill>
                    <a:srgbClr val="FFFFFF"/>
                  </a:solidFill>
                </a:ln>
              </p:spPr>
            </p:sp>
            <p:sp>
              <p:nvSpPr>
                <p:cNvPr id="52" name="Freeform 52"/>
                <p:cNvSpPr/>
                <p:nvPr/>
              </p:nvSpPr>
              <p:spPr>
                <a:xfrm>
                  <a:off x="3219450" y="3812381"/>
                  <a:ext cx="47625" cy="92869"/>
                </a:xfrm>
                <a:custGeom>
                  <a:avLst/>
                  <a:gdLst/>
                  <a:ahLst/>
                  <a:cxnLst/>
                  <a:rect l="l" t="t" r="r" b="b"/>
                  <a:pathLst>
                    <a:path w="47625" h="92869">
                      <a:moveTo>
                        <a:pt x="47625" y="92869"/>
                      </a:moveTo>
                      <a:lnTo>
                        <a:pt x="47625" y="61119"/>
                      </a:lnTo>
                      <a:cubicBezTo>
                        <a:pt x="47459" y="32299"/>
                        <a:pt x="27905" y="7205"/>
                        <a:pt x="0" y="0"/>
                      </a:cubicBezTo>
                    </a:path>
                  </a:pathLst>
                </a:custGeom>
                <a:noFill/>
                <a:ln w="19050">
                  <a:solidFill>
                    <a:srgbClr val="FFFFFF"/>
                  </a:solidFill>
                </a:ln>
              </p:spPr>
            </p:sp>
          </p:grpSp>
          <p:sp>
            <p:nvSpPr>
              <p:cNvPr id="54" name="TextBox 54"/>
              <p:cNvSpPr txBox="1"/>
              <p:nvPr/>
            </p:nvSpPr>
            <p:spPr>
              <a:xfrm>
                <a:off x="2816828" y="40967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信息收集</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2838688" y="4301966"/>
                <a:ext cx="571024"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候选人入库</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63" name="Group 63"/>
            <p:cNvGrpSpPr/>
            <p:nvPr/>
          </p:nvGrpSpPr>
          <p:grpSpPr>
            <a:xfrm>
              <a:off x="4200525" y="3429000"/>
              <a:ext cx="1238250" cy="1238250"/>
              <a:chOff x="4200525" y="3429000"/>
              <a:chExt cx="1238250" cy="1238250"/>
            </a:xfrm>
          </p:grpSpPr>
          <p:sp>
            <p:nvSpPr>
              <p:cNvPr id="57" name="Ellipse 57"/>
              <p:cNvSpPr/>
              <p:nvPr/>
            </p:nvSpPr>
            <p:spPr>
              <a:xfrm>
                <a:off x="4200525" y="3429000"/>
                <a:ext cx="1238250" cy="1238250"/>
              </a:xfrm>
              <a:prstGeom prst="ellipse">
                <a:avLst/>
              </a:prstGeom>
              <a:solidFill>
                <a:srgbClr val="246BFE"/>
              </a:solidFill>
              <a:ln>
                <a:noFill/>
              </a:ln>
            </p:spPr>
          </p:sp>
          <p:grpSp>
            <p:nvGrpSpPr>
              <p:cNvPr id="60" name="Group 60"/>
              <p:cNvGrpSpPr/>
              <p:nvPr/>
            </p:nvGrpSpPr>
            <p:grpSpPr>
              <a:xfrm>
                <a:off x="4676775" y="3619500"/>
                <a:ext cx="285750" cy="285750"/>
                <a:chOff x="4676775" y="3619500"/>
                <a:chExt cx="285750" cy="285750"/>
              </a:xfrm>
            </p:grpSpPr>
            <p:sp>
              <p:nvSpPr>
                <p:cNvPr id="58" name="Freeform 58"/>
                <p:cNvSpPr/>
                <p:nvPr/>
              </p:nvSpPr>
              <p:spPr>
                <a:xfrm>
                  <a:off x="4676775" y="3619500"/>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19050">
                  <a:solidFill>
                    <a:srgbClr val="FFFFFF"/>
                  </a:solidFill>
                </a:ln>
              </p:spPr>
            </p:sp>
            <p:sp>
              <p:nvSpPr>
                <p:cNvPr id="59" name="Freeform 59"/>
                <p:cNvSpPr/>
                <p:nvPr/>
              </p:nvSpPr>
              <p:spPr>
                <a:xfrm>
                  <a:off x="4867275" y="3810000"/>
                  <a:ext cx="95250" cy="95250"/>
                </a:xfrm>
                <a:custGeom>
                  <a:avLst/>
                  <a:gdLst/>
                  <a:ahLst/>
                  <a:cxnLst/>
                  <a:rect l="l" t="t" r="r" b="b"/>
                  <a:pathLst>
                    <a:path w="95250" h="95250">
                      <a:moveTo>
                        <a:pt x="95250" y="95250"/>
                      </a:moveTo>
                      <a:lnTo>
                        <a:pt x="0" y="0"/>
                      </a:lnTo>
                    </a:path>
                  </a:pathLst>
                </a:custGeom>
                <a:noFill/>
                <a:ln w="19050">
                  <a:solidFill>
                    <a:srgbClr val="FFFFFF"/>
                  </a:solidFill>
                </a:ln>
              </p:spPr>
            </p:sp>
          </p:grpSp>
          <p:sp>
            <p:nvSpPr>
              <p:cNvPr id="61" name="TextBox 61"/>
              <p:cNvSpPr txBox="1"/>
              <p:nvPr/>
            </p:nvSpPr>
            <p:spPr>
              <a:xfrm>
                <a:off x="4512278" y="40967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条件筛选</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62" name="TextBox 62"/>
              <p:cNvSpPr txBox="1"/>
              <p:nvPr/>
            </p:nvSpPr>
            <p:spPr>
              <a:xfrm>
                <a:off x="4525887" y="4301966"/>
                <a:ext cx="587526"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AI 智能初筛</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71" name="Group 71"/>
            <p:cNvGrpSpPr/>
            <p:nvPr/>
          </p:nvGrpSpPr>
          <p:grpSpPr>
            <a:xfrm>
              <a:off x="5895975" y="3429000"/>
              <a:ext cx="1238250" cy="1238250"/>
              <a:chOff x="5895975" y="3429000"/>
              <a:chExt cx="1238250" cy="1238250"/>
            </a:xfrm>
          </p:grpSpPr>
          <p:sp>
            <p:nvSpPr>
              <p:cNvPr id="64" name="Ellipse 64"/>
              <p:cNvSpPr/>
              <p:nvPr/>
            </p:nvSpPr>
            <p:spPr>
              <a:xfrm>
                <a:off x="5895975" y="3429000"/>
                <a:ext cx="1238250" cy="1238250"/>
              </a:xfrm>
              <a:prstGeom prst="ellipse">
                <a:avLst/>
              </a:prstGeom>
              <a:solidFill>
                <a:srgbClr val="0052A6"/>
              </a:solidFill>
              <a:ln>
                <a:noFill/>
              </a:ln>
            </p:spPr>
          </p:sp>
          <p:grpSp>
            <p:nvGrpSpPr>
              <p:cNvPr id="68" name="Group 68"/>
              <p:cNvGrpSpPr/>
              <p:nvPr/>
            </p:nvGrpSpPr>
            <p:grpSpPr>
              <a:xfrm>
                <a:off x="6372225" y="3635375"/>
                <a:ext cx="285750" cy="269875"/>
                <a:chOff x="6372225" y="3635375"/>
                <a:chExt cx="285750" cy="269875"/>
              </a:xfrm>
            </p:grpSpPr>
            <p:sp>
              <p:nvSpPr>
                <p:cNvPr id="65" name="Freeform 65"/>
                <p:cNvSpPr/>
                <p:nvPr/>
              </p:nvSpPr>
              <p:spPr>
                <a:xfrm>
                  <a:off x="6451600" y="3714750"/>
                  <a:ext cx="127000" cy="9525"/>
                </a:xfrm>
                <a:custGeom>
                  <a:avLst/>
                  <a:gdLst/>
                  <a:ahLst/>
                  <a:cxnLst/>
                  <a:rect l="l" t="t" r="r" b="b"/>
                  <a:pathLst>
                    <a:path w="127000" h="9525">
                      <a:moveTo>
                        <a:pt x="0" y="0"/>
                      </a:moveTo>
                      <a:lnTo>
                        <a:pt x="127000" y="0"/>
                      </a:lnTo>
                    </a:path>
                  </a:pathLst>
                </a:custGeom>
                <a:noFill/>
                <a:ln w="19050">
                  <a:solidFill>
                    <a:srgbClr val="FFFFFF"/>
                  </a:solidFill>
                </a:ln>
              </p:spPr>
            </p:sp>
            <p:sp>
              <p:nvSpPr>
                <p:cNvPr id="66" name="Freeform 66"/>
                <p:cNvSpPr/>
                <p:nvPr/>
              </p:nvSpPr>
              <p:spPr>
                <a:xfrm>
                  <a:off x="6451600" y="3778250"/>
                  <a:ext cx="95250" cy="9525"/>
                </a:xfrm>
                <a:custGeom>
                  <a:avLst/>
                  <a:gdLst/>
                  <a:ahLst/>
                  <a:cxnLst/>
                  <a:rect l="l" t="t" r="r" b="b"/>
                  <a:pathLst>
                    <a:path w="95250" h="9525">
                      <a:moveTo>
                        <a:pt x="0" y="0"/>
                      </a:moveTo>
                      <a:lnTo>
                        <a:pt x="95250" y="0"/>
                      </a:lnTo>
                    </a:path>
                  </a:pathLst>
                </a:custGeom>
                <a:noFill/>
                <a:ln w="19050">
                  <a:solidFill>
                    <a:srgbClr val="FFFFFF"/>
                  </a:solidFill>
                </a:ln>
              </p:spPr>
            </p:sp>
            <p:sp>
              <p:nvSpPr>
                <p:cNvPr id="67" name="Freeform 67"/>
                <p:cNvSpPr/>
                <p:nvPr/>
              </p:nvSpPr>
              <p:spPr>
                <a:xfrm>
                  <a:off x="6372225" y="3635375"/>
                  <a:ext cx="285750" cy="269875"/>
                </a:xfrm>
                <a:custGeom>
                  <a:avLst/>
                  <a:gdLst/>
                  <a:ahLst/>
                  <a:cxnLst/>
                  <a:rect l="l" t="t" r="r" b="b"/>
                  <a:pathLst>
                    <a:path w="285750" h="269875">
                      <a:moveTo>
                        <a:pt x="238125" y="0"/>
                      </a:moveTo>
                      <a:cubicBezTo>
                        <a:pt x="264428" y="0"/>
                        <a:pt x="285750" y="21322"/>
                        <a:pt x="285750" y="47625"/>
                      </a:cubicBezTo>
                      <a:lnTo>
                        <a:pt x="285750" y="174625"/>
                      </a:lnTo>
                      <a:cubicBezTo>
                        <a:pt x="285750" y="200928"/>
                        <a:pt x="264428" y="222250"/>
                        <a:pt x="238125" y="222250"/>
                      </a:cubicBezTo>
                      <a:lnTo>
                        <a:pt x="158750" y="222250"/>
                      </a:lnTo>
                      <a:lnTo>
                        <a:pt x="79375" y="269875"/>
                      </a:lnTo>
                      <a:lnTo>
                        <a:pt x="79375" y="222250"/>
                      </a:lnTo>
                      <a:lnTo>
                        <a:pt x="47625" y="222250"/>
                      </a:lnTo>
                      <a:cubicBezTo>
                        <a:pt x="21322" y="222250"/>
                        <a:pt x="0" y="200928"/>
                        <a:pt x="0" y="174625"/>
                      </a:cubicBezTo>
                      <a:lnTo>
                        <a:pt x="0" y="47625"/>
                      </a:lnTo>
                      <a:cubicBezTo>
                        <a:pt x="0" y="21322"/>
                        <a:pt x="21322" y="0"/>
                        <a:pt x="47625" y="0"/>
                      </a:cubicBezTo>
                      <a:lnTo>
                        <a:pt x="238125" y="0"/>
                      </a:lnTo>
                    </a:path>
                  </a:pathLst>
                </a:custGeom>
                <a:noFill/>
                <a:ln w="19050">
                  <a:solidFill>
                    <a:srgbClr val="FFFFFF"/>
                  </a:solidFill>
                </a:ln>
              </p:spPr>
            </p:sp>
          </p:grpSp>
          <p:sp>
            <p:nvSpPr>
              <p:cNvPr id="69" name="TextBox 69"/>
              <p:cNvSpPr txBox="1"/>
              <p:nvPr/>
            </p:nvSpPr>
            <p:spPr>
              <a:xfrm>
                <a:off x="6207728" y="40967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沟通邀约</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70" name="TextBox 70"/>
              <p:cNvSpPr txBox="1"/>
              <p:nvPr/>
            </p:nvSpPr>
            <p:spPr>
              <a:xfrm>
                <a:off x="6229588" y="4301966"/>
                <a:ext cx="571024"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自动打招呼</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85" name="Group 85"/>
            <p:cNvGrpSpPr/>
            <p:nvPr/>
          </p:nvGrpSpPr>
          <p:grpSpPr>
            <a:xfrm>
              <a:off x="7591425" y="3429000"/>
              <a:ext cx="1238250" cy="1238250"/>
              <a:chOff x="7591425" y="3429000"/>
              <a:chExt cx="1238250" cy="1238250"/>
            </a:xfrm>
          </p:grpSpPr>
          <p:sp>
            <p:nvSpPr>
              <p:cNvPr id="72" name="Ellipse 72"/>
              <p:cNvSpPr/>
              <p:nvPr/>
            </p:nvSpPr>
            <p:spPr>
              <a:xfrm>
                <a:off x="7591425" y="3429000"/>
                <a:ext cx="1238250" cy="1238250"/>
              </a:xfrm>
              <a:prstGeom prst="ellipse">
                <a:avLst/>
              </a:prstGeom>
              <a:solidFill>
                <a:srgbClr val="246BFE"/>
              </a:solidFill>
              <a:ln>
                <a:noFill/>
              </a:ln>
            </p:spPr>
          </p:sp>
          <p:grpSp>
            <p:nvGrpSpPr>
              <p:cNvPr id="82" name="Group 82"/>
              <p:cNvGrpSpPr/>
              <p:nvPr/>
            </p:nvGrpSpPr>
            <p:grpSpPr>
              <a:xfrm>
                <a:off x="8099425" y="3603625"/>
                <a:ext cx="222250" cy="301625"/>
                <a:chOff x="8099425" y="3603625"/>
                <a:chExt cx="222250" cy="301625"/>
              </a:xfrm>
            </p:grpSpPr>
            <p:sp>
              <p:nvSpPr>
                <p:cNvPr id="73" name="Freeform 73"/>
                <p:cNvSpPr/>
                <p:nvPr/>
              </p:nvSpPr>
              <p:spPr>
                <a:xfrm>
                  <a:off x="8115300" y="3635375"/>
                  <a:ext cx="190500" cy="127000"/>
                </a:xfrm>
                <a:custGeom>
                  <a:avLst/>
                  <a:gdLst/>
                  <a:ahLst/>
                  <a:cxnLst/>
                  <a:rect l="l" t="t" r="r" b="b"/>
                  <a:pathLst>
                    <a:path w="190500" h="127000">
                      <a:moveTo>
                        <a:pt x="0" y="31750"/>
                      </a:moveTo>
                      <a:cubicBezTo>
                        <a:pt x="0" y="14215"/>
                        <a:pt x="14215" y="0"/>
                        <a:pt x="31750" y="0"/>
                      </a:cubicBezTo>
                      <a:lnTo>
                        <a:pt x="158750" y="0"/>
                      </a:lnTo>
                      <a:cubicBezTo>
                        <a:pt x="176285" y="0"/>
                        <a:pt x="190500" y="14215"/>
                        <a:pt x="190500" y="31750"/>
                      </a:cubicBezTo>
                      <a:lnTo>
                        <a:pt x="190500" y="95250"/>
                      </a:lnTo>
                      <a:cubicBezTo>
                        <a:pt x="190500" y="112785"/>
                        <a:pt x="176285" y="127000"/>
                        <a:pt x="158750" y="127000"/>
                      </a:cubicBezTo>
                      <a:lnTo>
                        <a:pt x="31750" y="127000"/>
                      </a:lnTo>
                      <a:cubicBezTo>
                        <a:pt x="14215" y="127000"/>
                        <a:pt x="0" y="112785"/>
                        <a:pt x="0" y="95250"/>
                      </a:cubicBezTo>
                      <a:lnTo>
                        <a:pt x="0" y="31750"/>
                      </a:lnTo>
                    </a:path>
                  </a:pathLst>
                </a:custGeom>
                <a:noFill/>
                <a:ln w="19050">
                  <a:solidFill>
                    <a:srgbClr val="FFFFFF"/>
                  </a:solidFill>
                </a:ln>
              </p:spPr>
            </p:sp>
            <p:sp>
              <p:nvSpPr>
                <p:cNvPr id="74" name="Freeform 74"/>
                <p:cNvSpPr/>
                <p:nvPr/>
              </p:nvSpPr>
              <p:spPr>
                <a:xfrm>
                  <a:off x="8210550" y="3603625"/>
                  <a:ext cx="9525" cy="31750"/>
                </a:xfrm>
                <a:custGeom>
                  <a:avLst/>
                  <a:gdLst/>
                  <a:ahLst/>
                  <a:cxnLst/>
                  <a:rect l="l" t="t" r="r" b="b"/>
                  <a:pathLst>
                    <a:path w="9525" h="31750">
                      <a:moveTo>
                        <a:pt x="0" y="0"/>
                      </a:moveTo>
                      <a:lnTo>
                        <a:pt x="0" y="31750"/>
                      </a:lnTo>
                    </a:path>
                  </a:pathLst>
                </a:custGeom>
                <a:noFill/>
                <a:ln w="19050">
                  <a:solidFill>
                    <a:srgbClr val="FFFFFF"/>
                  </a:solidFill>
                </a:ln>
              </p:spPr>
            </p:sp>
            <p:sp>
              <p:nvSpPr>
                <p:cNvPr id="75" name="Freeform 75"/>
                <p:cNvSpPr/>
                <p:nvPr/>
              </p:nvSpPr>
              <p:spPr>
                <a:xfrm>
                  <a:off x="8162925" y="3762375"/>
                  <a:ext cx="9525" cy="142875"/>
                </a:xfrm>
                <a:custGeom>
                  <a:avLst/>
                  <a:gdLst/>
                  <a:ahLst/>
                  <a:cxnLst/>
                  <a:rect l="l" t="t" r="r" b="b"/>
                  <a:pathLst>
                    <a:path w="9525" h="142875">
                      <a:moveTo>
                        <a:pt x="0" y="0"/>
                      </a:moveTo>
                      <a:lnTo>
                        <a:pt x="0" y="142875"/>
                      </a:lnTo>
                    </a:path>
                  </a:pathLst>
                </a:custGeom>
                <a:noFill/>
                <a:ln w="19050">
                  <a:solidFill>
                    <a:srgbClr val="FFFFFF"/>
                  </a:solidFill>
                </a:ln>
              </p:spPr>
            </p:sp>
            <p:sp>
              <p:nvSpPr>
                <p:cNvPr id="76" name="Freeform 76"/>
                <p:cNvSpPr/>
                <p:nvPr/>
              </p:nvSpPr>
              <p:spPr>
                <a:xfrm>
                  <a:off x="8258175" y="3762375"/>
                  <a:ext cx="9525" cy="142875"/>
                </a:xfrm>
                <a:custGeom>
                  <a:avLst/>
                  <a:gdLst/>
                  <a:ahLst/>
                  <a:cxnLst/>
                  <a:rect l="l" t="t" r="r" b="b"/>
                  <a:pathLst>
                    <a:path w="9525" h="142875">
                      <a:moveTo>
                        <a:pt x="0" y="0"/>
                      </a:moveTo>
                      <a:lnTo>
                        <a:pt x="0" y="142875"/>
                      </a:lnTo>
                    </a:path>
                  </a:pathLst>
                </a:custGeom>
                <a:noFill/>
                <a:ln w="19050">
                  <a:solidFill>
                    <a:srgbClr val="FFFFFF"/>
                  </a:solidFill>
                </a:ln>
              </p:spPr>
            </p:sp>
            <p:sp>
              <p:nvSpPr>
                <p:cNvPr id="77" name="Freeform 77"/>
                <p:cNvSpPr/>
                <p:nvPr/>
              </p:nvSpPr>
              <p:spPr>
                <a:xfrm>
                  <a:off x="8099425" y="3794125"/>
                  <a:ext cx="63500" cy="31750"/>
                </a:xfrm>
                <a:custGeom>
                  <a:avLst/>
                  <a:gdLst/>
                  <a:ahLst/>
                  <a:cxnLst/>
                  <a:rect l="l" t="t" r="r" b="b"/>
                  <a:pathLst>
                    <a:path w="63500" h="31750">
                      <a:moveTo>
                        <a:pt x="0" y="31750"/>
                      </a:moveTo>
                      <a:lnTo>
                        <a:pt x="63500" y="0"/>
                      </a:lnTo>
                    </a:path>
                  </a:pathLst>
                </a:custGeom>
                <a:noFill/>
                <a:ln w="19050">
                  <a:solidFill>
                    <a:srgbClr val="FFFFFF"/>
                  </a:solidFill>
                </a:ln>
              </p:spPr>
            </p:sp>
            <p:sp>
              <p:nvSpPr>
                <p:cNvPr id="78" name="Freeform 78"/>
                <p:cNvSpPr/>
                <p:nvPr/>
              </p:nvSpPr>
              <p:spPr>
                <a:xfrm>
                  <a:off x="8258175" y="3794125"/>
                  <a:ext cx="63500" cy="31750"/>
                </a:xfrm>
                <a:custGeom>
                  <a:avLst/>
                  <a:gdLst/>
                  <a:ahLst/>
                  <a:cxnLst/>
                  <a:rect l="l" t="t" r="r" b="b"/>
                  <a:pathLst>
                    <a:path w="63500" h="31750">
                      <a:moveTo>
                        <a:pt x="0" y="0"/>
                      </a:moveTo>
                      <a:lnTo>
                        <a:pt x="63500" y="31750"/>
                      </a:lnTo>
                    </a:path>
                  </a:pathLst>
                </a:custGeom>
                <a:noFill/>
                <a:ln w="19050">
                  <a:solidFill>
                    <a:srgbClr val="FFFFFF"/>
                  </a:solidFill>
                </a:ln>
              </p:spPr>
            </p:sp>
            <p:sp>
              <p:nvSpPr>
                <p:cNvPr id="79" name="Freeform 79"/>
                <p:cNvSpPr/>
                <p:nvPr/>
              </p:nvSpPr>
              <p:spPr>
                <a:xfrm>
                  <a:off x="8162925" y="3857625"/>
                  <a:ext cx="95250" cy="9525"/>
                </a:xfrm>
                <a:custGeom>
                  <a:avLst/>
                  <a:gdLst/>
                  <a:ahLst/>
                  <a:cxnLst/>
                  <a:rect l="l" t="t" r="r" b="b"/>
                  <a:pathLst>
                    <a:path w="95250" h="9525">
                      <a:moveTo>
                        <a:pt x="0" y="0"/>
                      </a:moveTo>
                      <a:lnTo>
                        <a:pt x="95250" y="0"/>
                      </a:lnTo>
                    </a:path>
                  </a:pathLst>
                </a:custGeom>
                <a:noFill/>
                <a:ln w="19050">
                  <a:solidFill>
                    <a:srgbClr val="FFFFFF"/>
                  </a:solidFill>
                </a:ln>
              </p:spPr>
            </p:sp>
            <p:sp>
              <p:nvSpPr>
                <p:cNvPr id="80" name="Freeform 80"/>
                <p:cNvSpPr/>
                <p:nvPr/>
              </p:nvSpPr>
              <p:spPr>
                <a:xfrm>
                  <a:off x="8178800" y="3698875"/>
                  <a:ext cx="9525" cy="9525"/>
                </a:xfrm>
                <a:custGeom>
                  <a:avLst/>
                  <a:gdLst/>
                  <a:ahLst/>
                  <a:cxnLst/>
                  <a:rect l="l" t="t" r="r" b="b"/>
                  <a:pathLst>
                    <a:path w="9525" h="9525">
                      <a:moveTo>
                        <a:pt x="0" y="0"/>
                      </a:moveTo>
                      <a:lnTo>
                        <a:pt x="0" y="159"/>
                      </a:lnTo>
                    </a:path>
                  </a:pathLst>
                </a:custGeom>
                <a:noFill/>
                <a:ln w="19050">
                  <a:solidFill>
                    <a:srgbClr val="FFFFFF"/>
                  </a:solidFill>
                </a:ln>
              </p:spPr>
            </p:sp>
            <p:sp>
              <p:nvSpPr>
                <p:cNvPr id="81" name="Freeform 81"/>
                <p:cNvSpPr/>
                <p:nvPr/>
              </p:nvSpPr>
              <p:spPr>
                <a:xfrm>
                  <a:off x="8242300" y="3698875"/>
                  <a:ext cx="9525" cy="9525"/>
                </a:xfrm>
                <a:custGeom>
                  <a:avLst/>
                  <a:gdLst/>
                  <a:ahLst/>
                  <a:cxnLst/>
                  <a:rect l="l" t="t" r="r" b="b"/>
                  <a:pathLst>
                    <a:path w="9525" h="9525">
                      <a:moveTo>
                        <a:pt x="0" y="0"/>
                      </a:moveTo>
                      <a:lnTo>
                        <a:pt x="0" y="159"/>
                      </a:lnTo>
                    </a:path>
                  </a:pathLst>
                </a:custGeom>
                <a:noFill/>
                <a:ln w="19050">
                  <a:solidFill>
                    <a:srgbClr val="FFFFFF"/>
                  </a:solidFill>
                </a:ln>
              </p:spPr>
            </p:sp>
          </p:grpSp>
          <p:sp>
            <p:nvSpPr>
              <p:cNvPr id="83" name="TextBox 83"/>
              <p:cNvSpPr txBox="1"/>
              <p:nvPr/>
            </p:nvSpPr>
            <p:spPr>
              <a:xfrm>
                <a:off x="7903178" y="40967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面试安排</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84" name="TextBox 84"/>
              <p:cNvSpPr txBox="1"/>
              <p:nvPr/>
            </p:nvSpPr>
            <p:spPr>
              <a:xfrm>
                <a:off x="7971794" y="4301966"/>
                <a:ext cx="477512"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AI 数字人</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94" name="Group 94"/>
            <p:cNvGrpSpPr/>
            <p:nvPr/>
          </p:nvGrpSpPr>
          <p:grpSpPr>
            <a:xfrm>
              <a:off x="9286875" y="3429000"/>
              <a:ext cx="1238250" cy="1238250"/>
              <a:chOff x="9286875" y="3429000"/>
              <a:chExt cx="1238250" cy="1238250"/>
            </a:xfrm>
          </p:grpSpPr>
          <p:sp>
            <p:nvSpPr>
              <p:cNvPr id="86" name="Ellipse 86"/>
              <p:cNvSpPr/>
              <p:nvPr/>
            </p:nvSpPr>
            <p:spPr>
              <a:xfrm>
                <a:off x="9286875" y="3429000"/>
                <a:ext cx="1238250" cy="1238250"/>
              </a:xfrm>
              <a:prstGeom prst="ellipse">
                <a:avLst/>
              </a:prstGeom>
              <a:solidFill>
                <a:srgbClr val="0E9F6E"/>
              </a:solidFill>
              <a:ln>
                <a:noFill/>
              </a:ln>
            </p:spPr>
          </p:sp>
          <p:grpSp>
            <p:nvGrpSpPr>
              <p:cNvPr id="91" name="Group 91"/>
              <p:cNvGrpSpPr/>
              <p:nvPr/>
            </p:nvGrpSpPr>
            <p:grpSpPr>
              <a:xfrm>
                <a:off x="9763125" y="3635375"/>
                <a:ext cx="285750" cy="263525"/>
                <a:chOff x="9763125" y="3635375"/>
                <a:chExt cx="285750" cy="263525"/>
              </a:xfrm>
            </p:grpSpPr>
            <p:sp>
              <p:nvSpPr>
                <p:cNvPr id="87" name="Freeform 87"/>
                <p:cNvSpPr/>
                <p:nvPr/>
              </p:nvSpPr>
              <p:spPr>
                <a:xfrm>
                  <a:off x="9763125" y="3762375"/>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sp>
            <p:sp>
              <p:nvSpPr>
                <p:cNvPr id="88" name="Freeform 88"/>
                <p:cNvSpPr/>
                <p:nvPr/>
              </p:nvSpPr>
              <p:spPr>
                <a:xfrm>
                  <a:off x="9953625" y="3698875"/>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sp>
            <p:sp>
              <p:nvSpPr>
                <p:cNvPr id="89" name="Freeform 89"/>
                <p:cNvSpPr/>
                <p:nvPr/>
              </p:nvSpPr>
              <p:spPr>
                <a:xfrm>
                  <a:off x="9858375" y="3635375"/>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sp>
            <p:sp>
              <p:nvSpPr>
                <p:cNvPr id="90" name="Freeform 90"/>
                <p:cNvSpPr/>
                <p:nvPr/>
              </p:nvSpPr>
              <p:spPr>
                <a:xfrm>
                  <a:off x="9779000" y="3889375"/>
                  <a:ext cx="222250" cy="9525"/>
                </a:xfrm>
                <a:custGeom>
                  <a:avLst/>
                  <a:gdLst/>
                  <a:ahLst/>
                  <a:cxnLst/>
                  <a:rect l="l" t="t" r="r" b="b"/>
                  <a:pathLst>
                    <a:path w="222250" h="9525">
                      <a:moveTo>
                        <a:pt x="0" y="0"/>
                      </a:moveTo>
                      <a:lnTo>
                        <a:pt x="222250" y="0"/>
                      </a:lnTo>
                    </a:path>
                  </a:pathLst>
                </a:custGeom>
                <a:noFill/>
                <a:ln w="19050">
                  <a:solidFill>
                    <a:srgbClr val="FFFFFF"/>
                  </a:solidFill>
                </a:ln>
              </p:spPr>
            </p:sp>
          </p:grpSp>
          <p:sp>
            <p:nvSpPr>
              <p:cNvPr id="92" name="TextBox 92"/>
              <p:cNvSpPr txBox="1"/>
              <p:nvPr/>
            </p:nvSpPr>
            <p:spPr>
              <a:xfrm>
                <a:off x="9598628" y="40967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过程跟踪</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93" name="TextBox 93"/>
              <p:cNvSpPr txBox="1"/>
              <p:nvPr/>
            </p:nvSpPr>
            <p:spPr>
              <a:xfrm>
                <a:off x="9675495" y="4301966"/>
                <a:ext cx="461010"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到岗闭环</a:t>
                </a:r>
                <a:endParaRPr lang="zh-CN" sz="825" dirty="0">
                  <a:solidFill>
                    <a:srgbClr val="DCE6FB"/>
                  </a:solidFill>
                  <a:latin typeface="Arial" panose="020B0604020202020204"/>
                  <a:ea typeface="微软雅黑" panose="020B0503020204020204" charset="-122"/>
                  <a:cs typeface="Arial" panose="020B0604020202020204"/>
                </a:endParaRPr>
              </a:p>
            </p:txBody>
          </p:sp>
        </p:grpSp>
      </p:grpSp>
      <p:grpSp>
        <p:nvGrpSpPr>
          <p:cNvPr id="112" name="Group 112"/>
          <p:cNvGrpSpPr/>
          <p:nvPr/>
        </p:nvGrpSpPr>
        <p:grpSpPr>
          <a:xfrm>
            <a:off x="571500" y="5143500"/>
            <a:ext cx="11049000" cy="762000"/>
            <a:chOff x="571500" y="5143500"/>
            <a:chExt cx="11049000" cy="762000"/>
          </a:xfrm>
        </p:grpSpPr>
        <p:sp>
          <p:nvSpPr>
            <p:cNvPr id="96" name="Rectangle 96"/>
            <p:cNvSpPr/>
            <p:nvPr/>
          </p:nvSpPr>
          <p:spPr>
            <a:xfrm>
              <a:off x="571500" y="5143500"/>
              <a:ext cx="11049000" cy="762000"/>
            </a:xfrm>
            <a:prstGeom prst="roundRect">
              <a:avLst>
                <a:gd name="adj" fmla="val 15000"/>
              </a:avLst>
            </a:prstGeom>
            <a:solidFill>
              <a:srgbClr val="17365D"/>
            </a:solidFill>
            <a:ln>
              <a:noFill/>
            </a:ln>
          </p:spPr>
        </p:sp>
        <p:grpSp>
          <p:nvGrpSpPr>
            <p:cNvPr id="101" name="Group 101"/>
            <p:cNvGrpSpPr/>
            <p:nvPr/>
          </p:nvGrpSpPr>
          <p:grpSpPr>
            <a:xfrm>
              <a:off x="840581" y="5403056"/>
              <a:ext cx="242888" cy="242887"/>
              <a:chOff x="840581" y="5403056"/>
              <a:chExt cx="242888" cy="242887"/>
            </a:xfrm>
          </p:grpSpPr>
          <p:sp>
            <p:nvSpPr>
              <p:cNvPr id="97" name="Freeform 97"/>
              <p:cNvSpPr/>
              <p:nvPr/>
            </p:nvSpPr>
            <p:spPr>
              <a:xfrm>
                <a:off x="867569" y="5403056"/>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19050">
                <a:solidFill>
                  <a:srgbClr val="518FEC"/>
                </a:solidFill>
              </a:ln>
            </p:spPr>
          </p:sp>
          <p:sp>
            <p:nvSpPr>
              <p:cNvPr id="98" name="Freeform 98"/>
              <p:cNvSpPr/>
              <p:nvPr/>
            </p:nvSpPr>
            <p:spPr>
              <a:xfrm>
                <a:off x="840581" y="5564981"/>
                <a:ext cx="161925" cy="80962"/>
              </a:xfrm>
              <a:custGeom>
                <a:avLst/>
                <a:gdLst/>
                <a:ahLst/>
                <a:cxnLst/>
                <a:rect l="l" t="t" r="r" b="b"/>
                <a:pathLst>
                  <a:path w="161925" h="80962">
                    <a:moveTo>
                      <a:pt x="0" y="80962"/>
                    </a:moveTo>
                    <a:lnTo>
                      <a:pt x="0" y="53975"/>
                    </a:lnTo>
                    <a:cubicBezTo>
                      <a:pt x="0" y="24165"/>
                      <a:pt x="24165" y="0"/>
                      <a:pt x="53975" y="0"/>
                    </a:cubicBezTo>
                    <a:lnTo>
                      <a:pt x="107950" y="0"/>
                    </a:lnTo>
                    <a:cubicBezTo>
                      <a:pt x="137760" y="0"/>
                      <a:pt x="161925" y="24165"/>
                      <a:pt x="161925" y="53975"/>
                    </a:cubicBezTo>
                    <a:lnTo>
                      <a:pt x="161925" y="80962"/>
                    </a:lnTo>
                  </a:path>
                </a:pathLst>
              </a:custGeom>
              <a:noFill/>
              <a:ln w="19050">
                <a:solidFill>
                  <a:srgbClr val="518FEC"/>
                </a:solidFill>
              </a:ln>
            </p:spPr>
          </p:sp>
          <p:sp>
            <p:nvSpPr>
              <p:cNvPr id="99" name="Freeform 99"/>
              <p:cNvSpPr/>
              <p:nvPr/>
            </p:nvSpPr>
            <p:spPr>
              <a:xfrm>
                <a:off x="1016000" y="5404810"/>
                <a:ext cx="40587" cy="104577"/>
              </a:xfrm>
              <a:custGeom>
                <a:avLst/>
                <a:gdLst/>
                <a:ahLst/>
                <a:cxnLst/>
                <a:rect l="l" t="t" r="r" b="b"/>
                <a:pathLst>
                  <a:path w="40587" h="104577">
                    <a:moveTo>
                      <a:pt x="0" y="0"/>
                    </a:moveTo>
                    <a:cubicBezTo>
                      <a:pt x="23883" y="6115"/>
                      <a:pt x="40587" y="27635"/>
                      <a:pt x="40587" y="52288"/>
                    </a:cubicBezTo>
                    <a:cubicBezTo>
                      <a:pt x="40587" y="76941"/>
                      <a:pt x="23883" y="98462"/>
                      <a:pt x="0" y="104577"/>
                    </a:cubicBezTo>
                  </a:path>
                </a:pathLst>
              </a:custGeom>
              <a:noFill/>
              <a:ln w="19050">
                <a:solidFill>
                  <a:srgbClr val="518FEC"/>
                </a:solidFill>
              </a:ln>
            </p:spPr>
          </p:sp>
          <p:sp>
            <p:nvSpPr>
              <p:cNvPr id="100" name="Freeform 100"/>
              <p:cNvSpPr/>
              <p:nvPr/>
            </p:nvSpPr>
            <p:spPr>
              <a:xfrm>
                <a:off x="1042988" y="5567005"/>
                <a:ext cx="40481" cy="78938"/>
              </a:xfrm>
              <a:custGeom>
                <a:avLst/>
                <a:gdLst/>
                <a:ahLst/>
                <a:cxnLst/>
                <a:rect l="l" t="t" r="r" b="b"/>
                <a:pathLst>
                  <a:path w="40481" h="78938">
                    <a:moveTo>
                      <a:pt x="40481" y="78938"/>
                    </a:moveTo>
                    <a:lnTo>
                      <a:pt x="40481" y="51951"/>
                    </a:lnTo>
                    <a:cubicBezTo>
                      <a:pt x="40340" y="27454"/>
                      <a:pt x="23720" y="6124"/>
                      <a:pt x="0" y="0"/>
                    </a:cubicBezTo>
                  </a:path>
                </a:pathLst>
              </a:custGeom>
              <a:noFill/>
              <a:ln w="19050">
                <a:solidFill>
                  <a:srgbClr val="518FEC"/>
                </a:solidFill>
              </a:ln>
            </p:spPr>
          </p:sp>
        </p:grpSp>
        <p:sp>
          <p:nvSpPr>
            <p:cNvPr id="102" name="TextBox 102"/>
            <p:cNvSpPr txBox="1"/>
            <p:nvPr/>
          </p:nvSpPr>
          <p:spPr>
            <a:xfrm>
              <a:off x="1225868" y="5343049"/>
              <a:ext cx="980384" cy="198120"/>
            </a:xfrm>
            <a:prstGeom prst="rect">
              <a:avLst/>
            </a:prstGeom>
            <a:noFill/>
            <a:ln>
              <a:noFill/>
            </a:ln>
          </p:spPr>
          <p:txBody>
            <a:bodyPr wrap="none" lIns="0" tIns="0" rIns="0" bIns="0" anchor="t" anchorCtr="0">
              <a:spAutoFit/>
            </a:bodyPr>
            <a:lstStyle/>
            <a:p>
              <a:pPr algn="l"/>
              <a:r>
                <a:rPr lang="zh-CN" sz="975" b="1" dirty="0">
                  <a:solidFill>
                    <a:srgbClr val="518FEC"/>
                  </a:solidFill>
                  <a:latin typeface="Arial" panose="020B0604020202020204"/>
                  <a:ea typeface="微软雅黑" panose="020B0503020204020204" charset="-122"/>
                  <a:cs typeface="Arial" panose="020B0604020202020204"/>
                </a:rPr>
                <a:t>招聘对象与渠道</a:t>
              </a:r>
              <a:endParaRPr lang="zh-CN" sz="975" b="1" dirty="0">
                <a:solidFill>
                  <a:srgbClr val="518FEC"/>
                </a:solidFill>
                <a:latin typeface="Arial" panose="020B0604020202020204"/>
                <a:ea typeface="微软雅黑" panose="020B0503020204020204" charset="-122"/>
                <a:cs typeface="Arial" panose="020B0604020202020204"/>
              </a:endParaRPr>
            </a:p>
          </p:txBody>
        </p:sp>
        <p:sp>
          <p:nvSpPr>
            <p:cNvPr id="103" name="TextBox 103"/>
            <p:cNvSpPr txBox="1"/>
            <p:nvPr/>
          </p:nvSpPr>
          <p:spPr>
            <a:xfrm>
              <a:off x="1223010" y="5585460"/>
              <a:ext cx="2601201"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保安 · 保洁 · 物业服务等基层岗位</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104" name="Line 104"/>
            <p:cNvSpPr/>
            <p:nvPr/>
          </p:nvSpPr>
          <p:spPr>
            <a:xfrm>
              <a:off x="4762500" y="5381625"/>
              <a:ext cx="9525" cy="333375"/>
            </a:xfrm>
            <a:custGeom>
              <a:avLst/>
              <a:gdLst/>
              <a:ahLst/>
              <a:cxnLst/>
              <a:rect l="l" t="t" r="r" b="b"/>
              <a:pathLst>
                <a:path w="9525" h="333375">
                  <a:moveTo>
                    <a:pt x="0" y="0"/>
                  </a:moveTo>
                  <a:lnTo>
                    <a:pt x="0" y="333375"/>
                  </a:lnTo>
                </a:path>
              </a:pathLst>
            </a:custGeom>
            <a:noFill/>
            <a:ln w="9525">
              <a:solidFill>
                <a:srgbClr val="518FEC">
                  <a:alpha val="40000"/>
                </a:srgbClr>
              </a:solidFill>
            </a:ln>
          </p:spPr>
        </p:sp>
        <p:grpSp>
          <p:nvGrpSpPr>
            <p:cNvPr id="109" name="Group 109"/>
            <p:cNvGrpSpPr/>
            <p:nvPr/>
          </p:nvGrpSpPr>
          <p:grpSpPr>
            <a:xfrm>
              <a:off x="5031581" y="5403056"/>
              <a:ext cx="242888" cy="229394"/>
              <a:chOff x="5031581" y="5403056"/>
              <a:chExt cx="242888" cy="229394"/>
            </a:xfrm>
          </p:grpSpPr>
          <p:sp>
            <p:nvSpPr>
              <p:cNvPr id="105" name="Freeform 105"/>
              <p:cNvSpPr/>
              <p:nvPr/>
            </p:nvSpPr>
            <p:spPr>
              <a:xfrm>
                <a:off x="5031581" y="5457031"/>
                <a:ext cx="242888" cy="175419"/>
              </a:xfrm>
              <a:custGeom>
                <a:avLst/>
                <a:gdLst/>
                <a:ahLst/>
                <a:cxnLst/>
                <a:rect l="l" t="t" r="r" b="b"/>
                <a:pathLst>
                  <a:path w="242888" h="175419">
                    <a:moveTo>
                      <a:pt x="0" y="26988"/>
                    </a:moveTo>
                    <a:cubicBezTo>
                      <a:pt x="0" y="12083"/>
                      <a:pt x="12083" y="0"/>
                      <a:pt x="26988" y="0"/>
                    </a:cubicBezTo>
                    <a:lnTo>
                      <a:pt x="215900" y="0"/>
                    </a:lnTo>
                    <a:cubicBezTo>
                      <a:pt x="230805" y="0"/>
                      <a:pt x="242888" y="12083"/>
                      <a:pt x="242888" y="26988"/>
                    </a:cubicBezTo>
                    <a:lnTo>
                      <a:pt x="242888" y="148431"/>
                    </a:lnTo>
                    <a:cubicBezTo>
                      <a:pt x="242888" y="163336"/>
                      <a:pt x="230805" y="175419"/>
                      <a:pt x="215900" y="175419"/>
                    </a:cubicBezTo>
                    <a:lnTo>
                      <a:pt x="26988" y="175419"/>
                    </a:lnTo>
                    <a:cubicBezTo>
                      <a:pt x="12083" y="175419"/>
                      <a:pt x="0" y="163336"/>
                      <a:pt x="0" y="148431"/>
                    </a:cubicBezTo>
                    <a:lnTo>
                      <a:pt x="0" y="26988"/>
                    </a:lnTo>
                  </a:path>
                </a:pathLst>
              </a:custGeom>
              <a:noFill/>
              <a:ln w="19050">
                <a:solidFill>
                  <a:srgbClr val="518FEC"/>
                </a:solidFill>
              </a:ln>
            </p:spPr>
          </p:sp>
          <p:sp>
            <p:nvSpPr>
              <p:cNvPr id="106" name="Freeform 106"/>
              <p:cNvSpPr/>
              <p:nvPr/>
            </p:nvSpPr>
            <p:spPr>
              <a:xfrm>
                <a:off x="5099050" y="5403056"/>
                <a:ext cx="107950" cy="53975"/>
              </a:xfrm>
              <a:custGeom>
                <a:avLst/>
                <a:gdLst/>
                <a:ahLst/>
                <a:cxnLst/>
                <a:rect l="l" t="t" r="r" b="b"/>
                <a:pathLst>
                  <a:path w="107950" h="53975">
                    <a:moveTo>
                      <a:pt x="0" y="53975"/>
                    </a:moveTo>
                    <a:lnTo>
                      <a:pt x="0" y="26988"/>
                    </a:lnTo>
                    <a:cubicBezTo>
                      <a:pt x="0" y="12083"/>
                      <a:pt x="12083" y="0"/>
                      <a:pt x="26987" y="0"/>
                    </a:cubicBezTo>
                    <a:lnTo>
                      <a:pt x="80962" y="0"/>
                    </a:lnTo>
                    <a:cubicBezTo>
                      <a:pt x="95867" y="0"/>
                      <a:pt x="107950" y="12083"/>
                      <a:pt x="107950" y="26988"/>
                    </a:cubicBezTo>
                    <a:lnTo>
                      <a:pt x="107950" y="53975"/>
                    </a:lnTo>
                  </a:path>
                </a:pathLst>
              </a:custGeom>
              <a:noFill/>
              <a:ln w="19050">
                <a:solidFill>
                  <a:srgbClr val="518FEC"/>
                </a:solidFill>
              </a:ln>
            </p:spPr>
          </p:sp>
          <p:sp>
            <p:nvSpPr>
              <p:cNvPr id="107" name="Freeform 107"/>
              <p:cNvSpPr/>
              <p:nvPr/>
            </p:nvSpPr>
            <p:spPr>
              <a:xfrm>
                <a:off x="5153025" y="5524500"/>
                <a:ext cx="9525" cy="9525"/>
              </a:xfrm>
              <a:custGeom>
                <a:avLst/>
                <a:gdLst/>
                <a:ahLst/>
                <a:cxnLst/>
                <a:rect l="l" t="t" r="r" b="b"/>
                <a:pathLst>
                  <a:path w="9525" h="9525">
                    <a:moveTo>
                      <a:pt x="0" y="0"/>
                    </a:moveTo>
                    <a:lnTo>
                      <a:pt x="0" y="135"/>
                    </a:lnTo>
                  </a:path>
                </a:pathLst>
              </a:custGeom>
              <a:noFill/>
              <a:ln w="19050">
                <a:solidFill>
                  <a:srgbClr val="518FEC"/>
                </a:solidFill>
              </a:ln>
            </p:spPr>
          </p:sp>
          <p:sp>
            <p:nvSpPr>
              <p:cNvPr id="108" name="Freeform 108"/>
              <p:cNvSpPr/>
              <p:nvPr/>
            </p:nvSpPr>
            <p:spPr>
              <a:xfrm>
                <a:off x="5031581" y="5537994"/>
                <a:ext cx="242888" cy="38492"/>
              </a:xfrm>
              <a:custGeom>
                <a:avLst/>
                <a:gdLst/>
                <a:ahLst/>
                <a:cxnLst/>
                <a:rect l="l" t="t" r="r" b="b"/>
                <a:pathLst>
                  <a:path w="242888" h="38492">
                    <a:moveTo>
                      <a:pt x="0" y="0"/>
                    </a:moveTo>
                    <a:cubicBezTo>
                      <a:pt x="76387" y="38492"/>
                      <a:pt x="166500" y="38492"/>
                      <a:pt x="242888" y="0"/>
                    </a:cubicBezTo>
                  </a:path>
                </a:pathLst>
              </a:custGeom>
              <a:noFill/>
              <a:ln w="19050">
                <a:solidFill>
                  <a:srgbClr val="518FEC"/>
                </a:solidFill>
              </a:ln>
            </p:spPr>
          </p:sp>
        </p:grpSp>
        <p:sp>
          <p:nvSpPr>
            <p:cNvPr id="110" name="TextBox 110"/>
            <p:cNvSpPr txBox="1"/>
            <p:nvPr/>
          </p:nvSpPr>
          <p:spPr>
            <a:xfrm>
              <a:off x="5416868" y="5343049"/>
              <a:ext cx="570833" cy="198120"/>
            </a:xfrm>
            <a:prstGeom prst="rect">
              <a:avLst/>
            </a:prstGeom>
            <a:noFill/>
            <a:ln>
              <a:noFill/>
            </a:ln>
          </p:spPr>
          <p:txBody>
            <a:bodyPr wrap="none" lIns="0" tIns="0" rIns="0" bIns="0" anchor="t" anchorCtr="0">
              <a:spAutoFit/>
            </a:bodyPr>
            <a:lstStyle/>
            <a:p>
              <a:pPr algn="l"/>
              <a:r>
                <a:rPr lang="zh-CN" sz="975" b="1" dirty="0">
                  <a:solidFill>
                    <a:srgbClr val="518FEC"/>
                  </a:solidFill>
                  <a:latin typeface="Arial" panose="020B0604020202020204"/>
                  <a:ea typeface="微软雅黑" panose="020B0503020204020204" charset="-122"/>
                  <a:cs typeface="Arial" panose="020B0604020202020204"/>
                </a:rPr>
                <a:t>主要渠道</a:t>
              </a:r>
              <a:endParaRPr lang="zh-CN" sz="975" b="1" dirty="0">
                <a:solidFill>
                  <a:srgbClr val="518FEC"/>
                </a:solidFill>
                <a:latin typeface="Arial" panose="020B0604020202020204"/>
                <a:ea typeface="微软雅黑" panose="020B0503020204020204" charset="-122"/>
                <a:cs typeface="Arial" panose="020B0604020202020204"/>
              </a:endParaRPr>
            </a:p>
          </p:txBody>
        </p:sp>
        <p:sp>
          <p:nvSpPr>
            <p:cNvPr id="111" name="TextBox 111"/>
            <p:cNvSpPr txBox="1"/>
            <p:nvPr/>
          </p:nvSpPr>
          <p:spPr>
            <a:xfrm>
              <a:off x="5414010" y="5585460"/>
              <a:ext cx="144185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58 同城等招聘平台</a:t>
              </a:r>
              <a:endParaRPr lang="zh-CN" sz="1200" b="1" dirty="0">
                <a:solidFill>
                  <a:srgbClr val="FFFFFF"/>
                </a:solidFill>
                <a:latin typeface="Arial" panose="020B0604020202020204"/>
                <a:ea typeface="微软雅黑" panose="020B0503020204020204" charset="-122"/>
                <a:cs typeface="Arial" panose="020B0604020202020204"/>
              </a:endParaRPr>
            </a:p>
          </p:txBody>
        </p:sp>
      </p:grpSp>
      <p:grpSp>
        <p:nvGrpSpPr>
          <p:cNvPr id="115" name="Group 115"/>
          <p:cNvGrpSpPr/>
          <p:nvPr/>
        </p:nvGrpSpPr>
        <p:grpSpPr>
          <a:xfrm>
            <a:off x="561022" y="6578441"/>
            <a:ext cx="11069955" cy="167640"/>
            <a:chOff x="561022" y="6578441"/>
            <a:chExt cx="11069955" cy="167640"/>
          </a:xfrm>
        </p:grpSpPr>
        <p:sp>
          <p:nvSpPr>
            <p:cNvPr id="113" name="TextBox 113"/>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14" name="TextBox 114"/>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11</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400"/>
                                        <p:tgtEl>
                                          <p:spTgt spid="3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5"/>
                                        </p:tgtEl>
                                        <p:attrNameLst>
                                          <p:attrName>style.visibility</p:attrName>
                                        </p:attrNameLst>
                                      </p:cBhvr>
                                      <p:to>
                                        <p:strVal val="visible"/>
                                      </p:to>
                                    </p:set>
                                    <p:animEffect transition="in" filter="slide(fromBottom)">
                                      <p:cBhvr>
                                        <p:cTn id="11" dur="400"/>
                                        <p:tgtEl>
                                          <p:spTgt spid="95"/>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112"/>
                                        </p:tgtEl>
                                        <p:attrNameLst>
                                          <p:attrName>style.visibility</p:attrName>
                                        </p:attrNameLst>
                                      </p:cBhvr>
                                      <p:to>
                                        <p:strVal val="visible"/>
                                      </p:to>
                                    </p:set>
                                    <p:animEffect transition="in" filter="image">
                                      <p:cBhvr>
                                        <p:cTn id="15" dur="4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95" grpId="0"/>
      <p:bldP spid="1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4932426" cy="970598"/>
            <a:chOff x="542925" y="553402"/>
            <a:chExt cx="4932426" cy="970598"/>
          </a:xfrm>
        </p:grpSpPr>
        <p:sp>
          <p:nvSpPr>
            <p:cNvPr id="5" name="TextBox 5"/>
            <p:cNvSpPr txBox="1"/>
            <p:nvPr/>
          </p:nvSpPr>
          <p:spPr>
            <a:xfrm>
              <a:off x="558165" y="553402"/>
              <a:ext cx="1283677"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03 场景方案 · 招聘</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3884878"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智能招聘 — 核心能力与价值</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4919091"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五大核心能力让基层招聘效率与到岗率双提升,同时沉淀企业人才资产</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24" name="Group 24"/>
          <p:cNvGrpSpPr/>
          <p:nvPr/>
        </p:nvGrpSpPr>
        <p:grpSpPr>
          <a:xfrm>
            <a:off x="571500" y="1762125"/>
            <a:ext cx="3524250" cy="2762250"/>
            <a:chOff x="571500" y="1762125"/>
            <a:chExt cx="3524250" cy="2762250"/>
          </a:xfrm>
        </p:grpSpPr>
        <p:sp>
          <p:nvSpPr>
            <p:cNvPr id="9" name="Rectangle 9"/>
            <p:cNvSpPr/>
            <p:nvPr/>
          </p:nvSpPr>
          <p:spPr>
            <a:xfrm>
              <a:off x="571500" y="1762125"/>
              <a:ext cx="3524250" cy="2762250"/>
            </a:xfrm>
            <a:prstGeom prst="roundRect">
              <a:avLst>
                <a:gd name="adj" fmla="val 4138"/>
              </a:avLst>
            </a:prstGeom>
            <a:solidFill>
              <a:srgbClr val="F4F7FC"/>
            </a:solidFill>
            <a:ln>
              <a:noFill/>
            </a:ln>
          </p:spPr>
        </p:sp>
        <p:sp>
          <p:nvSpPr>
            <p:cNvPr id="10" name="Ellipse 10"/>
            <p:cNvSpPr/>
            <p:nvPr/>
          </p:nvSpPr>
          <p:spPr>
            <a:xfrm>
              <a:off x="723900" y="1914525"/>
              <a:ext cx="457200" cy="457200"/>
            </a:xfrm>
            <a:prstGeom prst="ellipse">
              <a:avLst/>
            </a:prstGeom>
            <a:solidFill>
              <a:srgbClr val="246BFE"/>
            </a:solidFill>
            <a:ln>
              <a:noFill/>
            </a:ln>
          </p:spPr>
        </p:sp>
        <p:grpSp>
          <p:nvGrpSpPr>
            <p:cNvPr id="16" name="Group 16"/>
            <p:cNvGrpSpPr/>
            <p:nvPr/>
          </p:nvGrpSpPr>
          <p:grpSpPr>
            <a:xfrm>
              <a:off x="863600" y="2028825"/>
              <a:ext cx="177800" cy="228600"/>
              <a:chOff x="863600" y="2028825"/>
              <a:chExt cx="177800" cy="228600"/>
            </a:xfrm>
          </p:grpSpPr>
          <p:sp>
            <p:nvSpPr>
              <p:cNvPr id="11" name="Freeform 11"/>
              <p:cNvSpPr/>
              <p:nvPr/>
            </p:nvSpPr>
            <p:spPr>
              <a:xfrm>
                <a:off x="977900" y="2028825"/>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19050">
                <a:solidFill>
                  <a:srgbClr val="FFFFFF"/>
                </a:solidFill>
              </a:ln>
            </p:spPr>
          </p:sp>
          <p:sp>
            <p:nvSpPr>
              <p:cNvPr id="12" name="Freeform 12"/>
              <p:cNvSpPr/>
              <p:nvPr/>
            </p:nvSpPr>
            <p:spPr>
              <a:xfrm>
                <a:off x="863600" y="2028825"/>
                <a:ext cx="177800" cy="228600"/>
              </a:xfrm>
              <a:custGeom>
                <a:avLst/>
                <a:gdLst/>
                <a:ahLst/>
                <a:cxnLst/>
                <a:rect l="l" t="t" r="r" b="b"/>
                <a:pathLst>
                  <a:path w="177800" h="228600">
                    <a:moveTo>
                      <a:pt x="152400" y="228600"/>
                    </a:moveTo>
                    <a:lnTo>
                      <a:pt x="25400" y="228600"/>
                    </a:lnTo>
                    <a:cubicBezTo>
                      <a:pt x="11372" y="228600"/>
                      <a:pt x="0" y="217228"/>
                      <a:pt x="0" y="203200"/>
                    </a:cubicBezTo>
                    <a:lnTo>
                      <a:pt x="0" y="25400"/>
                    </a:lnTo>
                    <a:cubicBezTo>
                      <a:pt x="0" y="11372"/>
                      <a:pt x="11372" y="0"/>
                      <a:pt x="25400" y="0"/>
                    </a:cubicBezTo>
                    <a:lnTo>
                      <a:pt x="114300" y="0"/>
                    </a:lnTo>
                    <a:lnTo>
                      <a:pt x="177800" y="63500"/>
                    </a:lnTo>
                    <a:lnTo>
                      <a:pt x="177800" y="203200"/>
                    </a:lnTo>
                    <a:cubicBezTo>
                      <a:pt x="177800" y="217228"/>
                      <a:pt x="166428" y="228600"/>
                      <a:pt x="152400" y="228600"/>
                    </a:cubicBezTo>
                  </a:path>
                </a:pathLst>
              </a:custGeom>
              <a:noFill/>
              <a:ln w="19050">
                <a:solidFill>
                  <a:srgbClr val="FFFFFF"/>
                </a:solidFill>
              </a:ln>
            </p:spPr>
          </p:sp>
          <p:sp>
            <p:nvSpPr>
              <p:cNvPr id="13" name="Freeform 13"/>
              <p:cNvSpPr/>
              <p:nvPr/>
            </p:nvSpPr>
            <p:spPr>
              <a:xfrm>
                <a:off x="914400" y="2105025"/>
                <a:ext cx="12700" cy="9525"/>
              </a:xfrm>
              <a:custGeom>
                <a:avLst/>
                <a:gdLst/>
                <a:ahLst/>
                <a:cxnLst/>
                <a:rect l="l" t="t" r="r" b="b"/>
                <a:pathLst>
                  <a:path w="12700" h="9525">
                    <a:moveTo>
                      <a:pt x="0" y="0"/>
                    </a:moveTo>
                    <a:lnTo>
                      <a:pt x="12700" y="0"/>
                    </a:lnTo>
                  </a:path>
                </a:pathLst>
              </a:custGeom>
              <a:noFill/>
              <a:ln w="19050">
                <a:solidFill>
                  <a:srgbClr val="FFFFFF"/>
                </a:solidFill>
              </a:ln>
            </p:spPr>
          </p:sp>
          <p:sp>
            <p:nvSpPr>
              <p:cNvPr id="14" name="Freeform 14"/>
              <p:cNvSpPr/>
              <p:nvPr/>
            </p:nvSpPr>
            <p:spPr>
              <a:xfrm>
                <a:off x="914400" y="2155825"/>
                <a:ext cx="76200" cy="9525"/>
              </a:xfrm>
              <a:custGeom>
                <a:avLst/>
                <a:gdLst/>
                <a:ahLst/>
                <a:cxnLst/>
                <a:rect l="l" t="t" r="r" b="b"/>
                <a:pathLst>
                  <a:path w="76200" h="9525">
                    <a:moveTo>
                      <a:pt x="0" y="0"/>
                    </a:moveTo>
                    <a:lnTo>
                      <a:pt x="76200" y="0"/>
                    </a:lnTo>
                  </a:path>
                </a:pathLst>
              </a:custGeom>
              <a:noFill/>
              <a:ln w="19050">
                <a:solidFill>
                  <a:srgbClr val="FFFFFF"/>
                </a:solidFill>
              </a:ln>
            </p:spPr>
          </p:sp>
          <p:sp>
            <p:nvSpPr>
              <p:cNvPr id="15" name="Freeform 15"/>
              <p:cNvSpPr/>
              <p:nvPr/>
            </p:nvSpPr>
            <p:spPr>
              <a:xfrm>
                <a:off x="914400" y="2206625"/>
                <a:ext cx="76200" cy="9525"/>
              </a:xfrm>
              <a:custGeom>
                <a:avLst/>
                <a:gdLst/>
                <a:ahLst/>
                <a:cxnLst/>
                <a:rect l="l" t="t" r="r" b="b"/>
                <a:pathLst>
                  <a:path w="76200" h="9525">
                    <a:moveTo>
                      <a:pt x="0" y="0"/>
                    </a:moveTo>
                    <a:lnTo>
                      <a:pt x="76200" y="0"/>
                    </a:lnTo>
                  </a:path>
                </a:pathLst>
              </a:custGeom>
              <a:noFill/>
              <a:ln w="19050">
                <a:solidFill>
                  <a:srgbClr val="FFFFFF"/>
                </a:solidFill>
              </a:ln>
            </p:spPr>
          </p:sp>
        </p:grpSp>
        <p:sp>
          <p:nvSpPr>
            <p:cNvPr id="17" name="TextBox 17"/>
            <p:cNvSpPr txBox="1"/>
            <p:nvPr/>
          </p:nvSpPr>
          <p:spPr>
            <a:xfrm>
              <a:off x="1302068" y="1990249"/>
              <a:ext cx="488923"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能力 01</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1297305" y="2178368"/>
              <a:ext cx="1055018" cy="274320"/>
            </a:xfrm>
            <a:prstGeom prst="rect">
              <a:avLst/>
            </a:prstGeom>
            <a:noFill/>
            <a:ln>
              <a:noFill/>
            </a:ln>
          </p:spPr>
          <p:txBody>
            <a:bodyPr wrap="none" lIns="0" tIns="0" rIns="0" bIns="0" anchor="t" anchorCtr="0">
              <a:spAutoFit/>
            </a:bodyPr>
            <a:lstStyle/>
            <a:p>
              <a:pPr algn="l"/>
              <a:r>
                <a:rPr lang="zh-CN" sz="1350" b="1" dirty="0">
                  <a:solidFill>
                    <a:srgbClr val="17365D"/>
                  </a:solidFill>
                  <a:latin typeface="Arial" panose="020B0604020202020204"/>
                  <a:ea typeface="微软雅黑" panose="020B0503020204020204" charset="-122"/>
                  <a:cs typeface="Arial" panose="020B0604020202020204"/>
                </a:rPr>
                <a:t>JD 智能生成</a:t>
              </a:r>
              <a:endParaRPr lang="zh-CN" sz="1350" b="1" dirty="0">
                <a:solidFill>
                  <a:srgbClr val="17365D"/>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786765" y="2648902"/>
              <a:ext cx="136383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解析岗位需求(技能、</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786765" y="2867978"/>
              <a:ext cx="144084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经验、职责),自动生成</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786765" y="308705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高质量职位描述。</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2" name="Rectangle 22"/>
            <p:cNvSpPr/>
            <p:nvPr/>
          </p:nvSpPr>
          <p:spPr>
            <a:xfrm>
              <a:off x="800100" y="3810000"/>
              <a:ext cx="1428750" cy="285750"/>
            </a:xfrm>
            <a:prstGeom prst="roundRect">
              <a:avLst>
                <a:gd name="adj" fmla="val 20000"/>
              </a:avLst>
            </a:prstGeom>
            <a:solidFill>
              <a:srgbClr val="246BFE">
                <a:alpha val="12000"/>
              </a:srgbClr>
            </a:solidFill>
            <a:ln>
              <a:noFill/>
            </a:ln>
          </p:spPr>
        </p:sp>
        <p:sp>
          <p:nvSpPr>
            <p:cNvPr id="23" name="TextBox 23"/>
            <p:cNvSpPr txBox="1"/>
            <p:nvPr/>
          </p:nvSpPr>
          <p:spPr>
            <a:xfrm>
              <a:off x="1027696" y="3895249"/>
              <a:ext cx="973559" cy="198120"/>
            </a:xfrm>
            <a:prstGeom prst="rect">
              <a:avLst/>
            </a:prstGeom>
            <a:noFill/>
            <a:ln>
              <a:noFill/>
            </a:ln>
          </p:spPr>
          <p:txBody>
            <a:bodyPr wrap="none" lIns="0" tIns="0" rIns="0" bIns="0" anchor="t" anchorCtr="0">
              <a:spAutoFit/>
            </a:bodyPr>
            <a:lstStyle/>
            <a:p>
              <a:pPr algn="ctr"/>
              <a:r>
                <a:rPr lang="zh-CN" sz="975" b="1" dirty="0">
                  <a:solidFill>
                    <a:srgbClr val="246BFE"/>
                  </a:solidFill>
                  <a:latin typeface="Arial" panose="020B0604020202020204"/>
                  <a:ea typeface="微软雅黑" panose="020B0503020204020204" charset="-122"/>
                  <a:cs typeface="Arial" panose="020B0604020202020204"/>
                </a:rPr>
                <a:t>需求→JD 自动化</a:t>
              </a:r>
              <a:endParaRPr lang="zh-CN" sz="975" b="1" dirty="0">
                <a:solidFill>
                  <a:srgbClr val="246BFE"/>
                </a:solidFill>
                <a:latin typeface="Arial" panose="020B0604020202020204"/>
                <a:ea typeface="微软雅黑" panose="020B0503020204020204" charset="-122"/>
                <a:cs typeface="Arial" panose="020B0604020202020204"/>
              </a:endParaRPr>
            </a:p>
          </p:txBody>
        </p:sp>
      </p:grpSp>
      <p:grpSp>
        <p:nvGrpSpPr>
          <p:cNvPr id="37" name="Group 37"/>
          <p:cNvGrpSpPr/>
          <p:nvPr/>
        </p:nvGrpSpPr>
        <p:grpSpPr>
          <a:xfrm>
            <a:off x="4333875" y="1762125"/>
            <a:ext cx="3524250" cy="2762250"/>
            <a:chOff x="4333875" y="1762125"/>
            <a:chExt cx="3524250" cy="2762250"/>
          </a:xfrm>
        </p:grpSpPr>
        <p:sp>
          <p:nvSpPr>
            <p:cNvPr id="25" name="Rectangle 25"/>
            <p:cNvSpPr/>
            <p:nvPr/>
          </p:nvSpPr>
          <p:spPr>
            <a:xfrm>
              <a:off x="4333875" y="1762125"/>
              <a:ext cx="3524250" cy="2762250"/>
            </a:xfrm>
            <a:prstGeom prst="roundRect">
              <a:avLst>
                <a:gd name="adj" fmla="val 4138"/>
              </a:avLst>
            </a:prstGeom>
            <a:solidFill>
              <a:srgbClr val="F4F7FC"/>
            </a:solidFill>
            <a:ln>
              <a:noFill/>
            </a:ln>
          </p:spPr>
        </p:sp>
        <p:sp>
          <p:nvSpPr>
            <p:cNvPr id="26" name="Ellipse 26"/>
            <p:cNvSpPr/>
            <p:nvPr/>
          </p:nvSpPr>
          <p:spPr>
            <a:xfrm>
              <a:off x="4486275" y="1914525"/>
              <a:ext cx="457200" cy="457200"/>
            </a:xfrm>
            <a:prstGeom prst="ellipse">
              <a:avLst/>
            </a:prstGeom>
            <a:solidFill>
              <a:srgbClr val="0052A6"/>
            </a:solidFill>
            <a:ln>
              <a:noFill/>
            </a:ln>
          </p:spPr>
        </p:sp>
        <p:grpSp>
          <p:nvGrpSpPr>
            <p:cNvPr id="29" name="Group 29"/>
            <p:cNvGrpSpPr/>
            <p:nvPr/>
          </p:nvGrpSpPr>
          <p:grpSpPr>
            <a:xfrm>
              <a:off x="4600575" y="2028825"/>
              <a:ext cx="228600" cy="228600"/>
              <a:chOff x="4600575" y="2028825"/>
              <a:chExt cx="228600" cy="228600"/>
            </a:xfrm>
          </p:grpSpPr>
          <p:sp>
            <p:nvSpPr>
              <p:cNvPr id="27" name="Freeform 27"/>
              <p:cNvSpPr/>
              <p:nvPr/>
            </p:nvSpPr>
            <p:spPr>
              <a:xfrm>
                <a:off x="4600575" y="2028825"/>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19050">
                <a:solidFill>
                  <a:srgbClr val="FFFFFF"/>
                </a:solidFill>
              </a:ln>
            </p:spPr>
          </p:sp>
          <p:sp>
            <p:nvSpPr>
              <p:cNvPr id="28" name="Freeform 28"/>
              <p:cNvSpPr/>
              <p:nvPr/>
            </p:nvSpPr>
            <p:spPr>
              <a:xfrm>
                <a:off x="4752975" y="2181225"/>
                <a:ext cx="76200" cy="76200"/>
              </a:xfrm>
              <a:custGeom>
                <a:avLst/>
                <a:gdLst/>
                <a:ahLst/>
                <a:cxnLst/>
                <a:rect l="l" t="t" r="r" b="b"/>
                <a:pathLst>
                  <a:path w="76200" h="76200">
                    <a:moveTo>
                      <a:pt x="76200" y="76200"/>
                    </a:moveTo>
                    <a:lnTo>
                      <a:pt x="0" y="0"/>
                    </a:lnTo>
                  </a:path>
                </a:pathLst>
              </a:custGeom>
              <a:noFill/>
              <a:ln w="19050">
                <a:solidFill>
                  <a:srgbClr val="FFFFFF"/>
                </a:solidFill>
              </a:ln>
            </p:spPr>
          </p:sp>
        </p:grpSp>
        <p:sp>
          <p:nvSpPr>
            <p:cNvPr id="30" name="TextBox 30"/>
            <p:cNvSpPr txBox="1"/>
            <p:nvPr/>
          </p:nvSpPr>
          <p:spPr>
            <a:xfrm>
              <a:off x="5064442" y="1990249"/>
              <a:ext cx="488923" cy="198120"/>
            </a:xfrm>
            <a:prstGeom prst="rect">
              <a:avLst/>
            </a:prstGeom>
            <a:noFill/>
            <a:ln>
              <a:noFill/>
            </a:ln>
          </p:spPr>
          <p:txBody>
            <a:bodyPr wrap="none" lIns="0" tIns="0" rIns="0" bIns="0" anchor="t" anchorCtr="0">
              <a:spAutoFit/>
            </a:bodyPr>
            <a:lstStyle/>
            <a:p>
              <a:pPr algn="l"/>
              <a:r>
                <a:rPr lang="zh-CN" sz="975" b="1" dirty="0">
                  <a:solidFill>
                    <a:srgbClr val="0052A6"/>
                  </a:solidFill>
                  <a:latin typeface="Arial" panose="020B0604020202020204"/>
                  <a:ea typeface="微软雅黑" panose="020B0503020204020204" charset="-122"/>
                  <a:cs typeface="Arial" panose="020B0604020202020204"/>
                </a:rPr>
                <a:t>能力 02</a:t>
              </a:r>
              <a:endParaRPr lang="zh-CN" sz="975" b="1" dirty="0">
                <a:solidFill>
                  <a:srgbClr val="0052A6"/>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5059680" y="2178368"/>
              <a:ext cx="1168432" cy="274320"/>
            </a:xfrm>
            <a:prstGeom prst="rect">
              <a:avLst/>
            </a:prstGeom>
            <a:noFill/>
            <a:ln>
              <a:noFill/>
            </a:ln>
          </p:spPr>
          <p:txBody>
            <a:bodyPr wrap="none" lIns="0" tIns="0" rIns="0" bIns="0" anchor="t" anchorCtr="0">
              <a:spAutoFit/>
            </a:bodyPr>
            <a:lstStyle/>
            <a:p>
              <a:pPr algn="l"/>
              <a:r>
                <a:rPr lang="zh-CN" sz="1350" b="1" dirty="0">
                  <a:solidFill>
                    <a:srgbClr val="17365D"/>
                  </a:solidFill>
                  <a:latin typeface="Arial" panose="020B0604020202020204"/>
                  <a:ea typeface="微软雅黑" panose="020B0503020204020204" charset="-122"/>
                  <a:cs typeface="Arial" panose="020B0604020202020204"/>
                </a:rPr>
                <a:t>简历精准匹配</a:t>
              </a:r>
              <a:endParaRPr lang="zh-CN" sz="1350" b="1" dirty="0">
                <a:solidFill>
                  <a:srgbClr val="17365D"/>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4549140" y="2648902"/>
              <a:ext cx="139884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语义级"岗→人 / 人→岗</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4549140" y="2867978"/>
              <a:ext cx="1216819"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 人→人"多维映射,</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4549140" y="3087052"/>
              <a:ext cx="128682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初筛效率大幅提升。</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5" name="Rectangle 35"/>
            <p:cNvSpPr/>
            <p:nvPr/>
          </p:nvSpPr>
          <p:spPr>
            <a:xfrm>
              <a:off x="4562475" y="3810000"/>
              <a:ext cx="1428750" cy="285750"/>
            </a:xfrm>
            <a:prstGeom prst="roundRect">
              <a:avLst>
                <a:gd name="adj" fmla="val 20000"/>
              </a:avLst>
            </a:prstGeom>
            <a:solidFill>
              <a:srgbClr val="0052A6">
                <a:alpha val="12000"/>
              </a:srgbClr>
            </a:solidFill>
            <a:ln>
              <a:noFill/>
            </a:ln>
          </p:spPr>
        </p:sp>
        <p:sp>
          <p:nvSpPr>
            <p:cNvPr id="36" name="TextBox 36"/>
            <p:cNvSpPr txBox="1"/>
            <p:nvPr/>
          </p:nvSpPr>
          <p:spPr>
            <a:xfrm>
              <a:off x="4837852" y="3895249"/>
              <a:ext cx="877997" cy="198120"/>
            </a:xfrm>
            <a:prstGeom prst="rect">
              <a:avLst/>
            </a:prstGeom>
            <a:noFill/>
            <a:ln>
              <a:noFill/>
            </a:ln>
          </p:spPr>
          <p:txBody>
            <a:bodyPr wrap="none" lIns="0" tIns="0" rIns="0" bIns="0" anchor="t" anchorCtr="0">
              <a:spAutoFit/>
            </a:bodyPr>
            <a:lstStyle/>
            <a:p>
              <a:pPr algn="ctr"/>
              <a:r>
                <a:rPr lang="zh-CN" sz="975" b="1" dirty="0">
                  <a:solidFill>
                    <a:srgbClr val="0052A6"/>
                  </a:solidFill>
                  <a:latin typeface="Arial" panose="020B0604020202020204"/>
                  <a:ea typeface="微软雅黑" panose="020B0503020204020204" charset="-122"/>
                  <a:cs typeface="Arial" panose="020B0604020202020204"/>
                </a:rPr>
                <a:t>匹配度 ↑50%+</a:t>
              </a:r>
              <a:endParaRPr lang="zh-CN" sz="975" b="1" dirty="0">
                <a:solidFill>
                  <a:srgbClr val="0052A6"/>
                </a:solidFill>
                <a:latin typeface="Arial" panose="020B0604020202020204"/>
                <a:ea typeface="微软雅黑" panose="020B0503020204020204" charset="-122"/>
                <a:cs typeface="Arial" panose="020B0604020202020204"/>
              </a:endParaRPr>
            </a:p>
          </p:txBody>
        </p:sp>
      </p:grpSp>
      <p:grpSp>
        <p:nvGrpSpPr>
          <p:cNvPr id="57" name="Group 57"/>
          <p:cNvGrpSpPr/>
          <p:nvPr/>
        </p:nvGrpSpPr>
        <p:grpSpPr>
          <a:xfrm>
            <a:off x="8096250" y="1762125"/>
            <a:ext cx="3524250" cy="2762250"/>
            <a:chOff x="8096250" y="1762125"/>
            <a:chExt cx="3524250" cy="2762250"/>
          </a:xfrm>
        </p:grpSpPr>
        <p:sp>
          <p:nvSpPr>
            <p:cNvPr id="38" name="Rectangle 38"/>
            <p:cNvSpPr/>
            <p:nvPr/>
          </p:nvSpPr>
          <p:spPr>
            <a:xfrm>
              <a:off x="8096250" y="1762125"/>
              <a:ext cx="3524250" cy="2762250"/>
            </a:xfrm>
            <a:prstGeom prst="roundRect">
              <a:avLst>
                <a:gd name="adj" fmla="val 4138"/>
              </a:avLst>
            </a:prstGeom>
            <a:solidFill>
              <a:srgbClr val="F4F7FC"/>
            </a:solidFill>
            <a:ln>
              <a:noFill/>
            </a:ln>
          </p:spPr>
        </p:sp>
        <p:sp>
          <p:nvSpPr>
            <p:cNvPr id="39" name="Ellipse 39"/>
            <p:cNvSpPr/>
            <p:nvPr/>
          </p:nvSpPr>
          <p:spPr>
            <a:xfrm>
              <a:off x="8248650" y="1914525"/>
              <a:ext cx="457200" cy="457200"/>
            </a:xfrm>
            <a:prstGeom prst="ellipse">
              <a:avLst/>
            </a:prstGeom>
            <a:solidFill>
              <a:srgbClr val="246BFE"/>
            </a:solidFill>
            <a:ln>
              <a:noFill/>
            </a:ln>
          </p:spPr>
        </p:sp>
        <p:grpSp>
          <p:nvGrpSpPr>
            <p:cNvPr id="49" name="Group 49"/>
            <p:cNvGrpSpPr/>
            <p:nvPr/>
          </p:nvGrpSpPr>
          <p:grpSpPr>
            <a:xfrm>
              <a:off x="8388350" y="2016125"/>
              <a:ext cx="177800" cy="241300"/>
              <a:chOff x="8388350" y="2016125"/>
              <a:chExt cx="177800" cy="241300"/>
            </a:xfrm>
          </p:grpSpPr>
          <p:sp>
            <p:nvSpPr>
              <p:cNvPr id="40" name="Freeform 40"/>
              <p:cNvSpPr/>
              <p:nvPr/>
            </p:nvSpPr>
            <p:spPr>
              <a:xfrm>
                <a:off x="8401050" y="2041525"/>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19050">
                <a:solidFill>
                  <a:srgbClr val="FFFFFF"/>
                </a:solidFill>
              </a:ln>
            </p:spPr>
          </p:sp>
          <p:sp>
            <p:nvSpPr>
              <p:cNvPr id="41" name="Freeform 41"/>
              <p:cNvSpPr/>
              <p:nvPr/>
            </p:nvSpPr>
            <p:spPr>
              <a:xfrm>
                <a:off x="8477250" y="2016125"/>
                <a:ext cx="9525" cy="25400"/>
              </a:xfrm>
              <a:custGeom>
                <a:avLst/>
                <a:gdLst/>
                <a:ahLst/>
                <a:cxnLst/>
                <a:rect l="l" t="t" r="r" b="b"/>
                <a:pathLst>
                  <a:path w="9525" h="25400">
                    <a:moveTo>
                      <a:pt x="0" y="0"/>
                    </a:moveTo>
                    <a:lnTo>
                      <a:pt x="0" y="25400"/>
                    </a:lnTo>
                  </a:path>
                </a:pathLst>
              </a:custGeom>
              <a:noFill/>
              <a:ln w="19050">
                <a:solidFill>
                  <a:srgbClr val="FFFFFF"/>
                </a:solidFill>
              </a:ln>
            </p:spPr>
          </p:sp>
          <p:sp>
            <p:nvSpPr>
              <p:cNvPr id="42" name="Freeform 42"/>
              <p:cNvSpPr/>
              <p:nvPr/>
            </p:nvSpPr>
            <p:spPr>
              <a:xfrm>
                <a:off x="8439150" y="2143125"/>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43" name="Freeform 43"/>
              <p:cNvSpPr/>
              <p:nvPr/>
            </p:nvSpPr>
            <p:spPr>
              <a:xfrm>
                <a:off x="8515350" y="2143125"/>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44" name="Freeform 44"/>
              <p:cNvSpPr/>
              <p:nvPr/>
            </p:nvSpPr>
            <p:spPr>
              <a:xfrm>
                <a:off x="8388350" y="2168525"/>
                <a:ext cx="50800" cy="25400"/>
              </a:xfrm>
              <a:custGeom>
                <a:avLst/>
                <a:gdLst/>
                <a:ahLst/>
                <a:cxnLst/>
                <a:rect l="l" t="t" r="r" b="b"/>
                <a:pathLst>
                  <a:path w="50800" h="25400">
                    <a:moveTo>
                      <a:pt x="0" y="25400"/>
                    </a:moveTo>
                    <a:lnTo>
                      <a:pt x="50800" y="0"/>
                    </a:lnTo>
                  </a:path>
                </a:pathLst>
              </a:custGeom>
              <a:noFill/>
              <a:ln w="19050">
                <a:solidFill>
                  <a:srgbClr val="FFFFFF"/>
                </a:solidFill>
              </a:ln>
            </p:spPr>
          </p:sp>
          <p:sp>
            <p:nvSpPr>
              <p:cNvPr id="45" name="Freeform 45"/>
              <p:cNvSpPr/>
              <p:nvPr/>
            </p:nvSpPr>
            <p:spPr>
              <a:xfrm>
                <a:off x="8515350" y="2168525"/>
                <a:ext cx="50800" cy="25400"/>
              </a:xfrm>
              <a:custGeom>
                <a:avLst/>
                <a:gdLst/>
                <a:ahLst/>
                <a:cxnLst/>
                <a:rect l="l" t="t" r="r" b="b"/>
                <a:pathLst>
                  <a:path w="50800" h="25400">
                    <a:moveTo>
                      <a:pt x="0" y="0"/>
                    </a:moveTo>
                    <a:lnTo>
                      <a:pt x="50800" y="25400"/>
                    </a:lnTo>
                  </a:path>
                </a:pathLst>
              </a:custGeom>
              <a:noFill/>
              <a:ln w="19050">
                <a:solidFill>
                  <a:srgbClr val="FFFFFF"/>
                </a:solidFill>
              </a:ln>
            </p:spPr>
          </p:sp>
          <p:sp>
            <p:nvSpPr>
              <p:cNvPr id="46" name="Freeform 46"/>
              <p:cNvSpPr/>
              <p:nvPr/>
            </p:nvSpPr>
            <p:spPr>
              <a:xfrm>
                <a:off x="8439150" y="2219325"/>
                <a:ext cx="76200" cy="9525"/>
              </a:xfrm>
              <a:custGeom>
                <a:avLst/>
                <a:gdLst/>
                <a:ahLst/>
                <a:cxnLst/>
                <a:rect l="l" t="t" r="r" b="b"/>
                <a:pathLst>
                  <a:path w="76200" h="9525">
                    <a:moveTo>
                      <a:pt x="0" y="0"/>
                    </a:moveTo>
                    <a:lnTo>
                      <a:pt x="76200" y="0"/>
                    </a:lnTo>
                  </a:path>
                </a:pathLst>
              </a:custGeom>
              <a:noFill/>
              <a:ln w="19050">
                <a:solidFill>
                  <a:srgbClr val="FFFFFF"/>
                </a:solidFill>
              </a:ln>
            </p:spPr>
          </p:sp>
          <p:sp>
            <p:nvSpPr>
              <p:cNvPr id="47" name="Freeform 47"/>
              <p:cNvSpPr/>
              <p:nvPr/>
            </p:nvSpPr>
            <p:spPr>
              <a:xfrm>
                <a:off x="8451850" y="2092325"/>
                <a:ext cx="9525" cy="9525"/>
              </a:xfrm>
              <a:custGeom>
                <a:avLst/>
                <a:gdLst/>
                <a:ahLst/>
                <a:cxnLst/>
                <a:rect l="l" t="t" r="r" b="b"/>
                <a:pathLst>
                  <a:path w="9525" h="9525">
                    <a:moveTo>
                      <a:pt x="0" y="0"/>
                    </a:moveTo>
                    <a:lnTo>
                      <a:pt x="0" y="127"/>
                    </a:lnTo>
                  </a:path>
                </a:pathLst>
              </a:custGeom>
              <a:noFill/>
              <a:ln w="19050">
                <a:solidFill>
                  <a:srgbClr val="FFFFFF"/>
                </a:solidFill>
              </a:ln>
            </p:spPr>
          </p:sp>
          <p:sp>
            <p:nvSpPr>
              <p:cNvPr id="48" name="Freeform 48"/>
              <p:cNvSpPr/>
              <p:nvPr/>
            </p:nvSpPr>
            <p:spPr>
              <a:xfrm>
                <a:off x="8502650" y="2092325"/>
                <a:ext cx="9525" cy="9525"/>
              </a:xfrm>
              <a:custGeom>
                <a:avLst/>
                <a:gdLst/>
                <a:ahLst/>
                <a:cxnLst/>
                <a:rect l="l" t="t" r="r" b="b"/>
                <a:pathLst>
                  <a:path w="9525" h="9525">
                    <a:moveTo>
                      <a:pt x="0" y="0"/>
                    </a:moveTo>
                    <a:lnTo>
                      <a:pt x="0" y="127"/>
                    </a:lnTo>
                  </a:path>
                </a:pathLst>
              </a:custGeom>
              <a:noFill/>
              <a:ln w="19050">
                <a:solidFill>
                  <a:srgbClr val="FFFFFF"/>
                </a:solidFill>
              </a:ln>
            </p:spPr>
          </p:sp>
        </p:grpSp>
        <p:sp>
          <p:nvSpPr>
            <p:cNvPr id="50" name="TextBox 50"/>
            <p:cNvSpPr txBox="1"/>
            <p:nvPr/>
          </p:nvSpPr>
          <p:spPr>
            <a:xfrm>
              <a:off x="8826818" y="1990249"/>
              <a:ext cx="488923"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能力 03</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8822055" y="2178368"/>
              <a:ext cx="629714" cy="274320"/>
            </a:xfrm>
            <a:prstGeom prst="rect">
              <a:avLst/>
            </a:prstGeom>
            <a:noFill/>
            <a:ln>
              <a:noFill/>
            </a:ln>
          </p:spPr>
          <p:txBody>
            <a:bodyPr wrap="none" lIns="0" tIns="0" rIns="0" bIns="0" anchor="t" anchorCtr="0">
              <a:spAutoFit/>
            </a:bodyPr>
            <a:lstStyle/>
            <a:p>
              <a:pPr algn="l"/>
              <a:r>
                <a:rPr lang="zh-CN" sz="1350" b="1" dirty="0">
                  <a:solidFill>
                    <a:srgbClr val="17365D"/>
                  </a:solidFill>
                  <a:latin typeface="Arial" panose="020B0604020202020204"/>
                  <a:ea typeface="微软雅黑" panose="020B0503020204020204" charset="-122"/>
                  <a:cs typeface="Arial" panose="020B0604020202020204"/>
                </a:rPr>
                <a:t>AI 面试</a:t>
              </a:r>
              <a:endParaRPr lang="zh-CN" sz="1350" b="1" dirty="0">
                <a:solidFill>
                  <a:srgbClr val="17365D"/>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8311515" y="2648902"/>
              <a:ext cx="152485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AI 数字人模拟真实面试,</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8311515" y="2867978"/>
              <a:ext cx="136383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千人千面出题,自动生</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8311515" y="308705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成多维评估报告。</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5" name="Rectangle 55"/>
            <p:cNvSpPr/>
            <p:nvPr/>
          </p:nvSpPr>
          <p:spPr>
            <a:xfrm>
              <a:off x="8324850" y="3810000"/>
              <a:ext cx="1428750" cy="285750"/>
            </a:xfrm>
            <a:prstGeom prst="roundRect">
              <a:avLst>
                <a:gd name="adj" fmla="val 20000"/>
              </a:avLst>
            </a:prstGeom>
            <a:solidFill>
              <a:srgbClr val="246BFE">
                <a:alpha val="12000"/>
              </a:srgbClr>
            </a:solidFill>
            <a:ln>
              <a:noFill/>
            </a:ln>
          </p:spPr>
        </p:sp>
        <p:sp>
          <p:nvSpPr>
            <p:cNvPr id="56" name="TextBox 56"/>
            <p:cNvSpPr txBox="1"/>
            <p:nvPr/>
          </p:nvSpPr>
          <p:spPr>
            <a:xfrm>
              <a:off x="8685550" y="3895249"/>
              <a:ext cx="707350" cy="198120"/>
            </a:xfrm>
            <a:prstGeom prst="rect">
              <a:avLst/>
            </a:prstGeom>
            <a:noFill/>
            <a:ln>
              <a:noFill/>
            </a:ln>
          </p:spPr>
          <p:txBody>
            <a:bodyPr wrap="none" lIns="0" tIns="0" rIns="0" bIns="0" anchor="t" anchorCtr="0">
              <a:spAutoFit/>
            </a:bodyPr>
            <a:lstStyle/>
            <a:p>
              <a:pPr algn="ctr"/>
              <a:r>
                <a:rPr lang="zh-CN" sz="975" b="1" dirty="0">
                  <a:solidFill>
                    <a:srgbClr val="246BFE"/>
                  </a:solidFill>
                  <a:latin typeface="Arial" panose="020B0604020202020204"/>
                  <a:ea typeface="微软雅黑" panose="020B0503020204020204" charset="-122"/>
                  <a:cs typeface="Arial" panose="020B0604020202020204"/>
                </a:rPr>
                <a:t>流程自动化</a:t>
              </a:r>
              <a:endParaRPr lang="zh-CN" sz="975" b="1" dirty="0">
                <a:solidFill>
                  <a:srgbClr val="246BFE"/>
                </a:solidFill>
                <a:latin typeface="Arial" panose="020B0604020202020204"/>
                <a:ea typeface="微软雅黑" panose="020B0503020204020204" charset="-122"/>
                <a:cs typeface="Arial" panose="020B0604020202020204"/>
              </a:endParaRPr>
            </a:p>
          </p:txBody>
        </p:sp>
      </p:grpSp>
      <p:grpSp>
        <p:nvGrpSpPr>
          <p:cNvPr id="67" name="Group 67"/>
          <p:cNvGrpSpPr/>
          <p:nvPr/>
        </p:nvGrpSpPr>
        <p:grpSpPr>
          <a:xfrm>
            <a:off x="571500" y="4667250"/>
            <a:ext cx="5429250" cy="590550"/>
            <a:chOff x="571500" y="4667250"/>
            <a:chExt cx="5429250" cy="590550"/>
          </a:xfrm>
        </p:grpSpPr>
        <p:sp>
          <p:nvSpPr>
            <p:cNvPr id="58" name="Rectangle 58"/>
            <p:cNvSpPr/>
            <p:nvPr/>
          </p:nvSpPr>
          <p:spPr>
            <a:xfrm>
              <a:off x="571500" y="4667250"/>
              <a:ext cx="5429250" cy="590550"/>
            </a:xfrm>
            <a:prstGeom prst="roundRect">
              <a:avLst>
                <a:gd name="adj" fmla="val 19355"/>
              </a:avLst>
            </a:prstGeom>
            <a:solidFill>
              <a:srgbClr val="F4F7FC"/>
            </a:solidFill>
            <a:ln>
              <a:noFill/>
            </a:ln>
          </p:spPr>
        </p:sp>
        <p:sp>
          <p:nvSpPr>
            <p:cNvPr id="59" name="Ellipse 59"/>
            <p:cNvSpPr/>
            <p:nvPr/>
          </p:nvSpPr>
          <p:spPr>
            <a:xfrm>
              <a:off x="762000" y="4772025"/>
              <a:ext cx="381000" cy="381000"/>
            </a:xfrm>
            <a:prstGeom prst="ellipse">
              <a:avLst/>
            </a:prstGeom>
            <a:solidFill>
              <a:srgbClr val="0E9F6E"/>
            </a:solidFill>
            <a:ln>
              <a:noFill/>
            </a:ln>
          </p:spPr>
        </p:sp>
        <p:grpSp>
          <p:nvGrpSpPr>
            <p:cNvPr id="64" name="Group 64"/>
            <p:cNvGrpSpPr/>
            <p:nvPr/>
          </p:nvGrpSpPr>
          <p:grpSpPr>
            <a:xfrm>
              <a:off x="863600" y="4862512"/>
              <a:ext cx="177801" cy="211138"/>
              <a:chOff x="863600" y="4862512"/>
              <a:chExt cx="177801" cy="211138"/>
            </a:xfrm>
          </p:grpSpPr>
          <p:sp>
            <p:nvSpPr>
              <p:cNvPr id="60" name="Freeform 60"/>
              <p:cNvSpPr/>
              <p:nvPr/>
            </p:nvSpPr>
            <p:spPr>
              <a:xfrm>
                <a:off x="863600" y="4862512"/>
                <a:ext cx="177800" cy="122238"/>
              </a:xfrm>
              <a:custGeom>
                <a:avLst/>
                <a:gdLst/>
                <a:ahLst/>
                <a:cxnLst/>
                <a:rect l="l" t="t" r="r" b="b"/>
                <a:pathLst>
                  <a:path w="177800" h="122238">
                    <a:moveTo>
                      <a:pt x="0" y="122238"/>
                    </a:moveTo>
                    <a:lnTo>
                      <a:pt x="0" y="88900"/>
                    </a:lnTo>
                    <a:cubicBezTo>
                      <a:pt x="0" y="39802"/>
                      <a:pt x="39802" y="0"/>
                      <a:pt x="88900" y="0"/>
                    </a:cubicBezTo>
                    <a:cubicBezTo>
                      <a:pt x="137998" y="0"/>
                      <a:pt x="177800" y="39802"/>
                      <a:pt x="177800" y="88900"/>
                    </a:cubicBezTo>
                    <a:lnTo>
                      <a:pt x="177800" y="122238"/>
                    </a:lnTo>
                  </a:path>
                </a:pathLst>
              </a:custGeom>
              <a:noFill/>
              <a:ln w="19050">
                <a:solidFill>
                  <a:srgbClr val="FFFFFF"/>
                </a:solidFill>
              </a:ln>
            </p:spPr>
          </p:sp>
          <p:sp>
            <p:nvSpPr>
              <p:cNvPr id="61" name="Freeform 61"/>
              <p:cNvSpPr/>
              <p:nvPr/>
            </p:nvSpPr>
            <p:spPr>
              <a:xfrm>
                <a:off x="952500" y="5040312"/>
                <a:ext cx="66675" cy="33338"/>
              </a:xfrm>
              <a:custGeom>
                <a:avLst/>
                <a:gdLst/>
                <a:ahLst/>
                <a:cxnLst/>
                <a:rect l="l" t="t" r="r" b="b"/>
                <a:pathLst>
                  <a:path w="66675" h="33338">
                    <a:moveTo>
                      <a:pt x="66675" y="0"/>
                    </a:moveTo>
                    <a:cubicBezTo>
                      <a:pt x="66675" y="18413"/>
                      <a:pt x="36827" y="33338"/>
                      <a:pt x="0" y="33338"/>
                    </a:cubicBezTo>
                  </a:path>
                </a:pathLst>
              </a:custGeom>
              <a:noFill/>
              <a:ln w="19050">
                <a:solidFill>
                  <a:srgbClr val="FFFFFF"/>
                </a:solidFill>
              </a:ln>
            </p:spPr>
          </p:sp>
          <p:sp>
            <p:nvSpPr>
              <p:cNvPr id="62" name="Freeform 62"/>
              <p:cNvSpPr/>
              <p:nvPr/>
            </p:nvSpPr>
            <p:spPr>
              <a:xfrm>
                <a:off x="863600" y="4962525"/>
                <a:ext cx="55562" cy="77787"/>
              </a:xfrm>
              <a:custGeom>
                <a:avLst/>
                <a:gdLst/>
                <a:ahLst/>
                <a:cxnLst/>
                <a:rect l="l" t="t" r="r" b="b"/>
                <a:pathLst>
                  <a:path w="55562" h="77787">
                    <a:moveTo>
                      <a:pt x="0" y="22225"/>
                    </a:moveTo>
                    <a:cubicBezTo>
                      <a:pt x="0" y="9950"/>
                      <a:pt x="9950" y="0"/>
                      <a:pt x="22225" y="0"/>
                    </a:cubicBezTo>
                    <a:lnTo>
                      <a:pt x="33338" y="0"/>
                    </a:lnTo>
                    <a:cubicBezTo>
                      <a:pt x="45612" y="0"/>
                      <a:pt x="55562" y="9950"/>
                      <a:pt x="55562" y="22225"/>
                    </a:cubicBezTo>
                    <a:lnTo>
                      <a:pt x="55562" y="55563"/>
                    </a:lnTo>
                    <a:cubicBezTo>
                      <a:pt x="55562" y="67837"/>
                      <a:pt x="45612" y="77787"/>
                      <a:pt x="33338" y="77787"/>
                    </a:cubicBezTo>
                    <a:lnTo>
                      <a:pt x="22225" y="77787"/>
                    </a:lnTo>
                    <a:cubicBezTo>
                      <a:pt x="9950" y="77787"/>
                      <a:pt x="0" y="67837"/>
                      <a:pt x="0" y="55563"/>
                    </a:cubicBezTo>
                    <a:lnTo>
                      <a:pt x="0" y="22225"/>
                    </a:lnTo>
                  </a:path>
                </a:pathLst>
              </a:custGeom>
              <a:noFill/>
              <a:ln w="19050">
                <a:solidFill>
                  <a:srgbClr val="FFFFFF"/>
                </a:solidFill>
              </a:ln>
            </p:spPr>
          </p:sp>
          <p:sp>
            <p:nvSpPr>
              <p:cNvPr id="63" name="Freeform 63"/>
              <p:cNvSpPr/>
              <p:nvPr/>
            </p:nvSpPr>
            <p:spPr>
              <a:xfrm>
                <a:off x="985838" y="4962525"/>
                <a:ext cx="55563" cy="77787"/>
              </a:xfrm>
              <a:custGeom>
                <a:avLst/>
                <a:gdLst/>
                <a:ahLst/>
                <a:cxnLst/>
                <a:rect l="l" t="t" r="r" b="b"/>
                <a:pathLst>
                  <a:path w="55563" h="77787">
                    <a:moveTo>
                      <a:pt x="0" y="22225"/>
                    </a:moveTo>
                    <a:cubicBezTo>
                      <a:pt x="0" y="9950"/>
                      <a:pt x="9950" y="0"/>
                      <a:pt x="22225" y="0"/>
                    </a:cubicBezTo>
                    <a:lnTo>
                      <a:pt x="33338" y="0"/>
                    </a:lnTo>
                    <a:cubicBezTo>
                      <a:pt x="45612" y="0"/>
                      <a:pt x="55563" y="9950"/>
                      <a:pt x="55563" y="22225"/>
                    </a:cubicBezTo>
                    <a:lnTo>
                      <a:pt x="55563" y="55563"/>
                    </a:lnTo>
                    <a:cubicBezTo>
                      <a:pt x="55563" y="67837"/>
                      <a:pt x="45612" y="77787"/>
                      <a:pt x="33338" y="77787"/>
                    </a:cubicBezTo>
                    <a:lnTo>
                      <a:pt x="22225" y="77787"/>
                    </a:lnTo>
                    <a:cubicBezTo>
                      <a:pt x="9950" y="77787"/>
                      <a:pt x="0" y="67837"/>
                      <a:pt x="0" y="55563"/>
                    </a:cubicBezTo>
                    <a:lnTo>
                      <a:pt x="0" y="22225"/>
                    </a:lnTo>
                  </a:path>
                </a:pathLst>
              </a:custGeom>
              <a:noFill/>
              <a:ln w="19050">
                <a:solidFill>
                  <a:srgbClr val="FFFFFF"/>
                </a:solidFill>
              </a:ln>
            </p:spPr>
          </p:sp>
        </p:grpSp>
        <p:sp>
          <p:nvSpPr>
            <p:cNvPr id="65" name="TextBox 65"/>
            <p:cNvSpPr txBox="1"/>
            <p:nvPr/>
          </p:nvSpPr>
          <p:spPr>
            <a:xfrm>
              <a:off x="1273492" y="4809649"/>
              <a:ext cx="1328503" cy="198120"/>
            </a:xfrm>
            <a:prstGeom prst="rect">
              <a:avLst/>
            </a:prstGeom>
            <a:noFill/>
            <a:ln>
              <a:noFill/>
            </a:ln>
          </p:spPr>
          <p:txBody>
            <a:bodyPr wrap="none" lIns="0" tIns="0" rIns="0" bIns="0" anchor="t" anchorCtr="0">
              <a:spAutoFit/>
            </a:bodyPr>
            <a:lstStyle/>
            <a:p>
              <a:pPr algn="l"/>
              <a:r>
                <a:rPr lang="zh-CN" sz="975" b="1" dirty="0">
                  <a:solidFill>
                    <a:srgbClr val="0E9F6E"/>
                  </a:solidFill>
                  <a:latin typeface="Arial" panose="020B0604020202020204"/>
                  <a:ea typeface="微软雅黑" panose="020B0503020204020204" charset="-122"/>
                  <a:cs typeface="Arial" panose="020B0604020202020204"/>
                </a:rPr>
                <a:t>能力 04 · 招聘机器人</a:t>
              </a:r>
              <a:endParaRPr lang="zh-CN" sz="975" b="1" dirty="0">
                <a:solidFill>
                  <a:srgbClr val="0E9F6E"/>
                </a:solidFill>
                <a:latin typeface="Arial" panose="020B0604020202020204"/>
                <a:ea typeface="微软雅黑" panose="020B0503020204020204" charset="-122"/>
                <a:cs typeface="Arial" panose="020B0604020202020204"/>
              </a:endParaRPr>
            </a:p>
          </p:txBody>
        </p:sp>
        <p:sp>
          <p:nvSpPr>
            <p:cNvPr id="66" name="TextBox 66"/>
            <p:cNvSpPr txBox="1"/>
            <p:nvPr/>
          </p:nvSpPr>
          <p:spPr>
            <a:xfrm>
              <a:off x="1273492" y="5019199"/>
              <a:ext cx="3346680"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panose="020B0604020202020204"/>
                  <a:ea typeface="微软雅黑" panose="020B0503020204020204" charset="-122"/>
                  <a:cs typeface="Arial" panose="020B0604020202020204"/>
                </a:rPr>
                <a:t>自动登录平台筛选候选人并打招呼沟通,简历自动解析入库</a:t>
              </a:r>
              <a:endParaRPr lang="zh-CN" sz="975" dirty="0">
                <a:solidFill>
                  <a:srgbClr val="25364A"/>
                </a:solidFill>
                <a:latin typeface="Arial" panose="020B0604020202020204"/>
                <a:ea typeface="微软雅黑" panose="020B0503020204020204" charset="-122"/>
                <a:cs typeface="Arial" panose="020B0604020202020204"/>
              </a:endParaRPr>
            </a:p>
          </p:txBody>
        </p:sp>
      </p:grpSp>
      <p:grpSp>
        <p:nvGrpSpPr>
          <p:cNvPr id="80" name="Group 80"/>
          <p:cNvGrpSpPr/>
          <p:nvPr/>
        </p:nvGrpSpPr>
        <p:grpSpPr>
          <a:xfrm>
            <a:off x="6191250" y="4667250"/>
            <a:ext cx="5429250" cy="590550"/>
            <a:chOff x="6191250" y="4667250"/>
            <a:chExt cx="5429250" cy="590550"/>
          </a:xfrm>
        </p:grpSpPr>
        <p:sp>
          <p:nvSpPr>
            <p:cNvPr id="68" name="Rectangle 68"/>
            <p:cNvSpPr/>
            <p:nvPr/>
          </p:nvSpPr>
          <p:spPr>
            <a:xfrm>
              <a:off x="6191250" y="4667250"/>
              <a:ext cx="5429250" cy="590550"/>
            </a:xfrm>
            <a:prstGeom prst="roundRect">
              <a:avLst>
                <a:gd name="adj" fmla="val 19355"/>
              </a:avLst>
            </a:prstGeom>
            <a:solidFill>
              <a:srgbClr val="F4F7FC"/>
            </a:solidFill>
            <a:ln>
              <a:noFill/>
            </a:ln>
          </p:spPr>
        </p:sp>
        <p:sp>
          <p:nvSpPr>
            <p:cNvPr id="69" name="Ellipse 69"/>
            <p:cNvSpPr/>
            <p:nvPr/>
          </p:nvSpPr>
          <p:spPr>
            <a:xfrm>
              <a:off x="6381750" y="4772025"/>
              <a:ext cx="381000" cy="381000"/>
            </a:xfrm>
            <a:prstGeom prst="ellipse">
              <a:avLst/>
            </a:prstGeom>
            <a:solidFill>
              <a:srgbClr val="0E9F6E"/>
            </a:solidFill>
            <a:ln>
              <a:noFill/>
            </a:ln>
          </p:spPr>
        </p:sp>
        <p:grpSp>
          <p:nvGrpSpPr>
            <p:cNvPr id="77" name="Group 77"/>
            <p:cNvGrpSpPr/>
            <p:nvPr/>
          </p:nvGrpSpPr>
          <p:grpSpPr>
            <a:xfrm>
              <a:off x="6483350" y="4862512"/>
              <a:ext cx="200025" cy="211138"/>
              <a:chOff x="6483350" y="4862512"/>
              <a:chExt cx="200025" cy="211138"/>
            </a:xfrm>
          </p:grpSpPr>
          <p:sp>
            <p:nvSpPr>
              <p:cNvPr id="70" name="Freeform 70"/>
              <p:cNvSpPr/>
              <p:nvPr/>
            </p:nvSpPr>
            <p:spPr>
              <a:xfrm>
                <a:off x="6483350" y="4884738"/>
                <a:ext cx="85533" cy="177800"/>
              </a:xfrm>
              <a:custGeom>
                <a:avLst/>
                <a:gdLst/>
                <a:ahLst/>
                <a:cxnLst/>
                <a:rect l="l" t="t" r="r" b="b"/>
                <a:pathLst>
                  <a:path w="85533" h="177800">
                    <a:moveTo>
                      <a:pt x="44450" y="0"/>
                    </a:moveTo>
                    <a:lnTo>
                      <a:pt x="22225" y="0"/>
                    </a:lnTo>
                    <a:cubicBezTo>
                      <a:pt x="9950" y="0"/>
                      <a:pt x="0" y="9950"/>
                      <a:pt x="0" y="22225"/>
                    </a:cubicBezTo>
                    <a:lnTo>
                      <a:pt x="0" y="155575"/>
                    </a:lnTo>
                    <a:cubicBezTo>
                      <a:pt x="0" y="167850"/>
                      <a:pt x="9950" y="177800"/>
                      <a:pt x="22225" y="177800"/>
                    </a:cubicBezTo>
                    <a:lnTo>
                      <a:pt x="85533" y="177800"/>
                    </a:lnTo>
                  </a:path>
                </a:pathLst>
              </a:custGeom>
              <a:noFill/>
              <a:ln w="19050">
                <a:solidFill>
                  <a:srgbClr val="FFFFFF"/>
                </a:solidFill>
              </a:ln>
            </p:spPr>
          </p:sp>
          <p:sp>
            <p:nvSpPr>
              <p:cNvPr id="71" name="Freeform 71"/>
              <p:cNvSpPr/>
              <p:nvPr/>
            </p:nvSpPr>
            <p:spPr>
              <a:xfrm>
                <a:off x="6638925" y="4984750"/>
                <a:ext cx="44450" cy="44450"/>
              </a:xfrm>
              <a:custGeom>
                <a:avLst/>
                <a:gdLst/>
                <a:ahLst/>
                <a:cxnLst/>
                <a:rect l="l" t="t" r="r" b="b"/>
                <a:pathLst>
                  <a:path w="44450" h="44450">
                    <a:moveTo>
                      <a:pt x="0" y="0"/>
                    </a:moveTo>
                    <a:lnTo>
                      <a:pt x="0" y="44450"/>
                    </a:lnTo>
                    <a:lnTo>
                      <a:pt x="44450" y="44450"/>
                    </a:lnTo>
                  </a:path>
                </a:pathLst>
              </a:custGeom>
              <a:noFill/>
              <a:ln w="19050">
                <a:solidFill>
                  <a:srgbClr val="FFFFFF"/>
                </a:solidFill>
              </a:ln>
            </p:spPr>
          </p:sp>
          <p:sp>
            <p:nvSpPr>
              <p:cNvPr id="72" name="Freeform 72"/>
              <p:cNvSpPr/>
              <p:nvPr/>
            </p:nvSpPr>
            <p:spPr>
              <a:xfrm>
                <a:off x="6594475" y="4884738"/>
                <a:ext cx="44450" cy="66675"/>
              </a:xfrm>
              <a:custGeom>
                <a:avLst/>
                <a:gdLst/>
                <a:ahLst/>
                <a:cxnLst/>
                <a:rect l="l" t="t" r="r" b="b"/>
                <a:pathLst>
                  <a:path w="44450" h="66675">
                    <a:moveTo>
                      <a:pt x="44450" y="66675"/>
                    </a:moveTo>
                    <a:lnTo>
                      <a:pt x="44450" y="22225"/>
                    </a:lnTo>
                    <a:cubicBezTo>
                      <a:pt x="44450" y="9950"/>
                      <a:pt x="34500" y="0"/>
                      <a:pt x="22225" y="0"/>
                    </a:cubicBezTo>
                    <a:lnTo>
                      <a:pt x="0" y="0"/>
                    </a:lnTo>
                  </a:path>
                </a:pathLst>
              </a:custGeom>
              <a:noFill/>
              <a:ln w="19050">
                <a:solidFill>
                  <a:srgbClr val="FFFFFF"/>
                </a:solidFill>
              </a:ln>
            </p:spPr>
          </p:sp>
          <p:sp>
            <p:nvSpPr>
              <p:cNvPr id="73" name="Freeform 73"/>
              <p:cNvSpPr/>
              <p:nvPr/>
            </p:nvSpPr>
            <p:spPr>
              <a:xfrm>
                <a:off x="6527800" y="4862512"/>
                <a:ext cx="66675" cy="44450"/>
              </a:xfrm>
              <a:custGeom>
                <a:avLst/>
                <a:gdLst/>
                <a:ahLst/>
                <a:cxnLst/>
                <a:rect l="l" t="t" r="r" b="b"/>
                <a:pathLst>
                  <a:path w="66675" h="44450">
                    <a:moveTo>
                      <a:pt x="0" y="22225"/>
                    </a:moveTo>
                    <a:cubicBezTo>
                      <a:pt x="0" y="9950"/>
                      <a:pt x="9950" y="0"/>
                      <a:pt x="22225" y="0"/>
                    </a:cubicBezTo>
                    <a:lnTo>
                      <a:pt x="44450" y="0"/>
                    </a:lnTo>
                    <a:cubicBezTo>
                      <a:pt x="56725" y="0"/>
                      <a:pt x="66675" y="9950"/>
                      <a:pt x="66675" y="22225"/>
                    </a:cubicBezTo>
                    <a:cubicBezTo>
                      <a:pt x="66675" y="34500"/>
                      <a:pt x="56725" y="44450"/>
                      <a:pt x="44450" y="44450"/>
                    </a:cubicBezTo>
                    <a:lnTo>
                      <a:pt x="22225" y="44450"/>
                    </a:lnTo>
                    <a:cubicBezTo>
                      <a:pt x="9950" y="44450"/>
                      <a:pt x="0" y="34500"/>
                      <a:pt x="0" y="22225"/>
                    </a:cubicBezTo>
                  </a:path>
                </a:pathLst>
              </a:custGeom>
              <a:noFill/>
              <a:ln w="19050">
                <a:solidFill>
                  <a:srgbClr val="FFFFFF"/>
                </a:solidFill>
              </a:ln>
            </p:spPr>
          </p:sp>
          <p:sp>
            <p:nvSpPr>
              <p:cNvPr id="74" name="Freeform 74"/>
              <p:cNvSpPr/>
              <p:nvPr/>
            </p:nvSpPr>
            <p:spPr>
              <a:xfrm>
                <a:off x="6594475" y="4984750"/>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19050">
                <a:solidFill>
                  <a:srgbClr val="FFFFFF"/>
                </a:solidFill>
              </a:ln>
            </p:spPr>
          </p:sp>
          <p:sp>
            <p:nvSpPr>
              <p:cNvPr id="75" name="Freeform 75"/>
              <p:cNvSpPr/>
              <p:nvPr/>
            </p:nvSpPr>
            <p:spPr>
              <a:xfrm>
                <a:off x="6527800" y="4951412"/>
                <a:ext cx="44450" cy="9525"/>
              </a:xfrm>
              <a:custGeom>
                <a:avLst/>
                <a:gdLst/>
                <a:ahLst/>
                <a:cxnLst/>
                <a:rect l="l" t="t" r="r" b="b"/>
                <a:pathLst>
                  <a:path w="44450" h="9525">
                    <a:moveTo>
                      <a:pt x="0" y="0"/>
                    </a:moveTo>
                    <a:lnTo>
                      <a:pt x="44450" y="0"/>
                    </a:lnTo>
                  </a:path>
                </a:pathLst>
              </a:custGeom>
              <a:noFill/>
              <a:ln w="19050">
                <a:solidFill>
                  <a:srgbClr val="FFFFFF"/>
                </a:solidFill>
              </a:ln>
            </p:spPr>
          </p:sp>
          <p:sp>
            <p:nvSpPr>
              <p:cNvPr id="76" name="Freeform 76"/>
              <p:cNvSpPr/>
              <p:nvPr/>
            </p:nvSpPr>
            <p:spPr>
              <a:xfrm>
                <a:off x="6527800" y="4995862"/>
                <a:ext cx="33338" cy="9525"/>
              </a:xfrm>
              <a:custGeom>
                <a:avLst/>
                <a:gdLst/>
                <a:ahLst/>
                <a:cxnLst/>
                <a:rect l="l" t="t" r="r" b="b"/>
                <a:pathLst>
                  <a:path w="33338" h="9525">
                    <a:moveTo>
                      <a:pt x="0" y="0"/>
                    </a:moveTo>
                    <a:lnTo>
                      <a:pt x="33338" y="0"/>
                    </a:lnTo>
                  </a:path>
                </a:pathLst>
              </a:custGeom>
              <a:noFill/>
              <a:ln w="19050">
                <a:solidFill>
                  <a:srgbClr val="FFFFFF"/>
                </a:solidFill>
              </a:ln>
            </p:spPr>
          </p:sp>
        </p:grpSp>
        <p:sp>
          <p:nvSpPr>
            <p:cNvPr id="78" name="TextBox 78"/>
            <p:cNvSpPr txBox="1"/>
            <p:nvPr/>
          </p:nvSpPr>
          <p:spPr>
            <a:xfrm>
              <a:off x="6893242" y="4809649"/>
              <a:ext cx="1328503" cy="198120"/>
            </a:xfrm>
            <a:prstGeom prst="rect">
              <a:avLst/>
            </a:prstGeom>
            <a:noFill/>
            <a:ln>
              <a:noFill/>
            </a:ln>
          </p:spPr>
          <p:txBody>
            <a:bodyPr wrap="none" lIns="0" tIns="0" rIns="0" bIns="0" anchor="t" anchorCtr="0">
              <a:spAutoFit/>
            </a:bodyPr>
            <a:lstStyle/>
            <a:p>
              <a:pPr algn="l"/>
              <a:r>
                <a:rPr lang="zh-CN" sz="975" b="1" dirty="0">
                  <a:solidFill>
                    <a:srgbClr val="0E9F6E"/>
                  </a:solidFill>
                  <a:latin typeface="Arial" panose="020B0604020202020204"/>
                  <a:ea typeface="微软雅黑" panose="020B0503020204020204" charset="-122"/>
                  <a:cs typeface="Arial" panose="020B0604020202020204"/>
                </a:rPr>
                <a:t>能力 05 · 人才库沉淀</a:t>
              </a:r>
              <a:endParaRPr lang="zh-CN" sz="975" b="1" dirty="0">
                <a:solidFill>
                  <a:srgbClr val="0E9F6E"/>
                </a:solidFill>
                <a:latin typeface="Arial" panose="020B0604020202020204"/>
                <a:ea typeface="微软雅黑" panose="020B0503020204020204" charset="-122"/>
                <a:cs typeface="Arial" panose="020B0604020202020204"/>
              </a:endParaRPr>
            </a:p>
          </p:txBody>
        </p:sp>
        <p:sp>
          <p:nvSpPr>
            <p:cNvPr id="79" name="TextBox 79"/>
            <p:cNvSpPr txBox="1"/>
            <p:nvPr/>
          </p:nvSpPr>
          <p:spPr>
            <a:xfrm>
              <a:off x="6893242" y="5019199"/>
              <a:ext cx="3288173"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panose="020B0604020202020204"/>
                  <a:ea typeface="微软雅黑" panose="020B0503020204020204" charset="-122"/>
                  <a:cs typeface="Arial" panose="020B0604020202020204"/>
                </a:rPr>
                <a:t>多渠道简历统一存储,历史候选人智能复荐,人才资产复用</a:t>
              </a:r>
              <a:endParaRPr lang="zh-CN" sz="975" dirty="0">
                <a:solidFill>
                  <a:srgbClr val="25364A"/>
                </a:solidFill>
                <a:latin typeface="Arial" panose="020B0604020202020204"/>
                <a:ea typeface="微软雅黑" panose="020B0503020204020204" charset="-122"/>
                <a:cs typeface="Arial" panose="020B0604020202020204"/>
              </a:endParaRPr>
            </a:p>
          </p:txBody>
        </p:sp>
      </p:grpSp>
      <p:grpSp>
        <p:nvGrpSpPr>
          <p:cNvPr id="89" name="Group 89"/>
          <p:cNvGrpSpPr/>
          <p:nvPr/>
        </p:nvGrpSpPr>
        <p:grpSpPr>
          <a:xfrm>
            <a:off x="571500" y="5429250"/>
            <a:ext cx="11049000" cy="685800"/>
            <a:chOff x="571500" y="5429250"/>
            <a:chExt cx="11049000" cy="685800"/>
          </a:xfrm>
        </p:grpSpPr>
        <p:sp>
          <p:nvSpPr>
            <p:cNvPr id="81" name="Rectangle 81"/>
            <p:cNvSpPr/>
            <p:nvPr/>
          </p:nvSpPr>
          <p:spPr>
            <a:xfrm>
              <a:off x="571500" y="5429250"/>
              <a:ext cx="11049000" cy="685800"/>
            </a:xfrm>
            <a:prstGeom prst="roundRect">
              <a:avLst>
                <a:gd name="adj" fmla="val 16667"/>
              </a:avLst>
            </a:prstGeom>
            <a:solidFill>
              <a:srgbClr val="0052A6"/>
            </a:solidFill>
            <a:ln>
              <a:noFill/>
            </a:ln>
          </p:spPr>
        </p:sp>
        <p:grpSp>
          <p:nvGrpSpPr>
            <p:cNvPr id="86" name="Group 86"/>
            <p:cNvGrpSpPr/>
            <p:nvPr/>
          </p:nvGrpSpPr>
          <p:grpSpPr>
            <a:xfrm>
              <a:off x="842962" y="5657850"/>
              <a:ext cx="257175" cy="238125"/>
              <a:chOff x="842962" y="5657850"/>
              <a:chExt cx="257175" cy="238125"/>
            </a:xfrm>
          </p:grpSpPr>
          <p:sp>
            <p:nvSpPr>
              <p:cNvPr id="82" name="Freeform 82"/>
              <p:cNvSpPr/>
              <p:nvPr/>
            </p:nvSpPr>
            <p:spPr>
              <a:xfrm>
                <a:off x="842962" y="577215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518FEC"/>
                </a:solidFill>
              </a:ln>
            </p:spPr>
          </p:sp>
          <p:sp>
            <p:nvSpPr>
              <p:cNvPr id="83" name="Freeform 83"/>
              <p:cNvSpPr/>
              <p:nvPr/>
            </p:nvSpPr>
            <p:spPr>
              <a:xfrm>
                <a:off x="1014412" y="571500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518FEC"/>
                </a:solidFill>
              </a:ln>
            </p:spPr>
          </p:sp>
          <p:sp>
            <p:nvSpPr>
              <p:cNvPr id="84" name="Freeform 84"/>
              <p:cNvSpPr/>
              <p:nvPr/>
            </p:nvSpPr>
            <p:spPr>
              <a:xfrm>
                <a:off x="928688" y="565785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518FEC"/>
                </a:solidFill>
              </a:ln>
            </p:spPr>
          </p:sp>
          <p:sp>
            <p:nvSpPr>
              <p:cNvPr id="85" name="Freeform 85"/>
              <p:cNvSpPr/>
              <p:nvPr/>
            </p:nvSpPr>
            <p:spPr>
              <a:xfrm>
                <a:off x="857250" y="5886450"/>
                <a:ext cx="200025" cy="9525"/>
              </a:xfrm>
              <a:custGeom>
                <a:avLst/>
                <a:gdLst/>
                <a:ahLst/>
                <a:cxnLst/>
                <a:rect l="l" t="t" r="r" b="b"/>
                <a:pathLst>
                  <a:path w="200025" h="9525">
                    <a:moveTo>
                      <a:pt x="0" y="0"/>
                    </a:moveTo>
                    <a:lnTo>
                      <a:pt x="200025" y="0"/>
                    </a:lnTo>
                  </a:path>
                </a:pathLst>
              </a:custGeom>
              <a:noFill/>
              <a:ln w="19050">
                <a:solidFill>
                  <a:srgbClr val="518FEC"/>
                </a:solidFill>
              </a:ln>
            </p:spPr>
          </p:sp>
        </p:grpSp>
        <p:sp>
          <p:nvSpPr>
            <p:cNvPr id="87" name="TextBox 87"/>
            <p:cNvSpPr txBox="1"/>
            <p:nvPr/>
          </p:nvSpPr>
          <p:spPr>
            <a:xfrm>
              <a:off x="1274445" y="5579745"/>
              <a:ext cx="791556" cy="182880"/>
            </a:xfrm>
            <a:prstGeom prst="rect">
              <a:avLst/>
            </a:prstGeom>
            <a:noFill/>
            <a:ln>
              <a:noFill/>
            </a:ln>
          </p:spPr>
          <p:txBody>
            <a:bodyPr wrap="none" lIns="0" tIns="0" rIns="0" bIns="0" anchor="t" anchorCtr="0">
              <a:spAutoFit/>
            </a:bodyPr>
            <a:lstStyle/>
            <a:p>
              <a:pPr algn="l"/>
              <a:r>
                <a:rPr lang="zh-CN" sz="900" b="1" dirty="0">
                  <a:solidFill>
                    <a:srgbClr val="518FEC"/>
                  </a:solidFill>
                  <a:latin typeface="Arial" panose="020B0604020202020204"/>
                  <a:ea typeface="微软雅黑" panose="020B0503020204020204" charset="-122"/>
                  <a:cs typeface="Arial" panose="020B0604020202020204"/>
                </a:rPr>
                <a:t>价值(预估值)</a:t>
              </a:r>
              <a:endParaRPr lang="zh-CN" sz="900" b="1" dirty="0">
                <a:solidFill>
                  <a:srgbClr val="518FEC"/>
                </a:solidFill>
                <a:latin typeface="Arial" panose="020B0604020202020204"/>
                <a:ea typeface="微软雅黑" panose="020B0503020204020204" charset="-122"/>
                <a:cs typeface="Arial" panose="020B0604020202020204"/>
              </a:endParaRPr>
            </a:p>
          </p:txBody>
        </p:sp>
        <p:sp>
          <p:nvSpPr>
            <p:cNvPr id="88" name="TextBox 88"/>
            <p:cNvSpPr txBox="1"/>
            <p:nvPr/>
          </p:nvSpPr>
          <p:spPr>
            <a:xfrm>
              <a:off x="1266825" y="5781675"/>
              <a:ext cx="5698307"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简历筛选效率 ↑50%+ · 招聘周期 ↓40% · 简历采购成本 ↓30%</a:t>
              </a:r>
              <a:endParaRPr lang="zh-CN" sz="1500" b="1" dirty="0">
                <a:solidFill>
                  <a:srgbClr val="FFFFFF"/>
                </a:solidFill>
                <a:latin typeface="Arial" panose="020B0604020202020204"/>
                <a:ea typeface="微软雅黑" panose="020B0503020204020204" charset="-122"/>
                <a:cs typeface="Arial" panose="020B0604020202020204"/>
              </a:endParaRPr>
            </a:p>
          </p:txBody>
        </p:sp>
      </p:grpSp>
      <p:grpSp>
        <p:nvGrpSpPr>
          <p:cNvPr id="92" name="Group 92"/>
          <p:cNvGrpSpPr/>
          <p:nvPr/>
        </p:nvGrpSpPr>
        <p:grpSpPr>
          <a:xfrm>
            <a:off x="561022" y="6578441"/>
            <a:ext cx="11069955" cy="167640"/>
            <a:chOff x="561022" y="6578441"/>
            <a:chExt cx="11069955" cy="167640"/>
          </a:xfrm>
        </p:grpSpPr>
        <p:sp>
          <p:nvSpPr>
            <p:cNvPr id="90" name="TextBox 90"/>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91" name="TextBox 91"/>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12</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left)">
                                      <p:cBhvr>
                                        <p:cTn id="11" dur="400"/>
                                        <p:tgtEl>
                                          <p:spTgt spid="37"/>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slide(fromBottom)">
                                      <p:cBhvr>
                                        <p:cTn id="15" dur="400"/>
                                        <p:tgtEl>
                                          <p:spTgt spid="57"/>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image">
                                      <p:cBhvr>
                                        <p:cTn id="19" dur="400"/>
                                        <p:tgtEl>
                                          <p:spTgt spid="6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80"/>
                                        </p:tgtEl>
                                        <p:attrNameLst>
                                          <p:attrName>style.visibility</p:attrName>
                                        </p:attrNameLst>
                                      </p:cBhvr>
                                      <p:to>
                                        <p:strVal val="visible"/>
                                      </p:to>
                                    </p:set>
                                    <p:animEffect transition="in" filter="fade">
                                      <p:cBhvr>
                                        <p:cTn id="23" dur="400"/>
                                        <p:tgtEl>
                                          <p:spTgt spid="80"/>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wipe(left)">
                                      <p:cBhvr>
                                        <p:cTn id="27" dur="4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7" grpId="0"/>
      <p:bldP spid="57" grpId="0"/>
      <p:bldP spid="67" grpId="0"/>
      <p:bldP spid="80" grpId="0"/>
      <p:bldP spid="8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5775115" cy="970598"/>
            <a:chOff x="542925" y="553402"/>
            <a:chExt cx="5775115" cy="970598"/>
          </a:xfrm>
        </p:grpSpPr>
        <p:sp>
          <p:nvSpPr>
            <p:cNvPr id="5" name="TextBox 5"/>
            <p:cNvSpPr txBox="1"/>
            <p:nvPr/>
          </p:nvSpPr>
          <p:spPr>
            <a:xfrm>
              <a:off x="558165" y="553402"/>
              <a:ext cx="1283677"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03 场景方案 · 商机</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5775115"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智能信息收集与商机识别 — 多源全量采集</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4439031"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从六大公开渠道持续采集商业地产商机,人工不再遗漏重要项目</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558165" y="1696402"/>
            <a:ext cx="11062335" cy="903923"/>
            <a:chOff x="558165" y="1696402"/>
            <a:chExt cx="11062335" cy="903923"/>
          </a:xfrm>
        </p:grpSpPr>
        <p:sp>
          <p:nvSpPr>
            <p:cNvPr id="9" name="TextBox 9"/>
            <p:cNvSpPr txBox="1"/>
            <p:nvPr/>
          </p:nvSpPr>
          <p:spPr>
            <a:xfrm>
              <a:off x="558165" y="1696402"/>
              <a:ext cx="1592416"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五大痛点 · PAIN POINTS</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10" name="Rectangle 10"/>
            <p:cNvSpPr/>
            <p:nvPr/>
          </p:nvSpPr>
          <p:spPr>
            <a:xfrm>
              <a:off x="571500" y="1952625"/>
              <a:ext cx="2095500" cy="647700"/>
            </a:xfrm>
            <a:prstGeom prst="roundRect">
              <a:avLst>
                <a:gd name="adj" fmla="val 14706"/>
              </a:avLst>
            </a:prstGeom>
            <a:solidFill>
              <a:srgbClr val="F4F7FC"/>
            </a:solidFill>
            <a:ln>
              <a:noFill/>
            </a:ln>
          </p:spPr>
        </p:sp>
        <p:sp>
          <p:nvSpPr>
            <p:cNvPr id="11" name="Rectangle 11"/>
            <p:cNvSpPr/>
            <p:nvPr/>
          </p:nvSpPr>
          <p:spPr>
            <a:xfrm>
              <a:off x="571500" y="1952625"/>
              <a:ext cx="38100" cy="647700"/>
            </a:xfrm>
            <a:prstGeom prst="roundRect">
              <a:avLst>
                <a:gd name="adj" fmla="val 50000"/>
              </a:avLst>
            </a:prstGeom>
            <a:solidFill>
              <a:srgbClr val="F59E0B"/>
            </a:solidFill>
            <a:ln>
              <a:noFill/>
            </a:ln>
          </p:spPr>
        </p:sp>
        <p:sp>
          <p:nvSpPr>
            <p:cNvPr id="12" name="TextBox 12"/>
            <p:cNvSpPr txBox="1"/>
            <p:nvPr/>
          </p:nvSpPr>
          <p:spPr>
            <a:xfrm>
              <a:off x="7296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来源多而散</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731520" y="2350770"/>
              <a:ext cx="86296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人工搜索效率低</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14" name="Rectangle 14"/>
            <p:cNvSpPr/>
            <p:nvPr/>
          </p:nvSpPr>
          <p:spPr>
            <a:xfrm>
              <a:off x="2800350" y="1952625"/>
              <a:ext cx="2095500" cy="647700"/>
            </a:xfrm>
            <a:prstGeom prst="roundRect">
              <a:avLst>
                <a:gd name="adj" fmla="val 14706"/>
              </a:avLst>
            </a:prstGeom>
            <a:solidFill>
              <a:srgbClr val="F4F7FC"/>
            </a:solidFill>
            <a:ln>
              <a:noFill/>
            </a:ln>
          </p:spPr>
        </p:sp>
        <p:sp>
          <p:nvSpPr>
            <p:cNvPr id="15" name="Rectangle 15"/>
            <p:cNvSpPr/>
            <p:nvPr/>
          </p:nvSpPr>
          <p:spPr>
            <a:xfrm>
              <a:off x="2800350" y="1952625"/>
              <a:ext cx="38100" cy="647700"/>
            </a:xfrm>
            <a:prstGeom prst="roundRect">
              <a:avLst>
                <a:gd name="adj" fmla="val 50000"/>
              </a:avLst>
            </a:prstGeom>
            <a:solidFill>
              <a:srgbClr val="F59E0B"/>
            </a:solidFill>
            <a:ln>
              <a:noFill/>
            </a:ln>
          </p:spPr>
        </p:sp>
        <p:sp>
          <p:nvSpPr>
            <p:cNvPr id="16" name="TextBox 16"/>
            <p:cNvSpPr txBox="1"/>
            <p:nvPr/>
          </p:nvSpPr>
          <p:spPr>
            <a:xfrm>
              <a:off x="2958465" y="2105978"/>
              <a:ext cx="614744"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提取困难</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2960370" y="2350770"/>
              <a:ext cx="86296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视频图片长文本</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18" name="Rectangle 18"/>
            <p:cNvSpPr/>
            <p:nvPr/>
          </p:nvSpPr>
          <p:spPr>
            <a:xfrm>
              <a:off x="5029200" y="1952625"/>
              <a:ext cx="2095500" cy="647700"/>
            </a:xfrm>
            <a:prstGeom prst="roundRect">
              <a:avLst>
                <a:gd name="adj" fmla="val 14706"/>
              </a:avLst>
            </a:prstGeom>
            <a:solidFill>
              <a:srgbClr val="F4F7FC"/>
            </a:solidFill>
            <a:ln>
              <a:noFill/>
            </a:ln>
          </p:spPr>
        </p:sp>
        <p:sp>
          <p:nvSpPr>
            <p:cNvPr id="19" name="Rectangle 19"/>
            <p:cNvSpPr/>
            <p:nvPr/>
          </p:nvSpPr>
          <p:spPr>
            <a:xfrm>
              <a:off x="5029200" y="1952625"/>
              <a:ext cx="38100" cy="647700"/>
            </a:xfrm>
            <a:prstGeom prst="roundRect">
              <a:avLst>
                <a:gd name="adj" fmla="val 50000"/>
              </a:avLst>
            </a:prstGeom>
            <a:solidFill>
              <a:srgbClr val="F59E0B"/>
            </a:solidFill>
            <a:ln>
              <a:noFill/>
            </a:ln>
          </p:spPr>
        </p:sp>
        <p:sp>
          <p:nvSpPr>
            <p:cNvPr id="20" name="TextBox 20"/>
            <p:cNvSpPr txBox="1"/>
            <p:nvPr/>
          </p:nvSpPr>
          <p:spPr>
            <a:xfrm>
              <a:off x="51873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重复缺去重</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518922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信息缺乏关联</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2" name="Rectangle 22"/>
            <p:cNvSpPr/>
            <p:nvPr/>
          </p:nvSpPr>
          <p:spPr>
            <a:xfrm>
              <a:off x="7258050" y="1952625"/>
              <a:ext cx="2095500" cy="647700"/>
            </a:xfrm>
            <a:prstGeom prst="roundRect">
              <a:avLst>
                <a:gd name="adj" fmla="val 14706"/>
              </a:avLst>
            </a:prstGeom>
            <a:solidFill>
              <a:srgbClr val="F4F7FC"/>
            </a:solidFill>
            <a:ln>
              <a:noFill/>
            </a:ln>
          </p:spPr>
        </p:sp>
        <p:sp>
          <p:nvSpPr>
            <p:cNvPr id="23" name="Rectangle 23"/>
            <p:cNvSpPr/>
            <p:nvPr/>
          </p:nvSpPr>
          <p:spPr>
            <a:xfrm>
              <a:off x="7258050" y="1952625"/>
              <a:ext cx="38100" cy="647700"/>
            </a:xfrm>
            <a:prstGeom prst="roundRect">
              <a:avLst>
                <a:gd name="adj" fmla="val 50000"/>
              </a:avLst>
            </a:prstGeom>
            <a:solidFill>
              <a:srgbClr val="F59E0B"/>
            </a:solidFill>
            <a:ln>
              <a:noFill/>
            </a:ln>
          </p:spPr>
        </p:sp>
        <p:sp>
          <p:nvSpPr>
            <p:cNvPr id="24" name="TextBox 24"/>
            <p:cNvSpPr txBox="1"/>
            <p:nvPr/>
          </p:nvSpPr>
          <p:spPr>
            <a:xfrm>
              <a:off x="741616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缺价值判断</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741807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无优先级排序</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6" name="Rectangle 26"/>
            <p:cNvSpPr/>
            <p:nvPr/>
          </p:nvSpPr>
          <p:spPr>
            <a:xfrm>
              <a:off x="9486900" y="1952625"/>
              <a:ext cx="2133600" cy="647700"/>
            </a:xfrm>
            <a:prstGeom prst="roundRect">
              <a:avLst>
                <a:gd name="adj" fmla="val 14706"/>
              </a:avLst>
            </a:prstGeom>
            <a:solidFill>
              <a:srgbClr val="F4F7FC"/>
            </a:solidFill>
            <a:ln>
              <a:noFill/>
            </a:ln>
          </p:spPr>
        </p:sp>
        <p:sp>
          <p:nvSpPr>
            <p:cNvPr id="27" name="Rectangle 27"/>
            <p:cNvSpPr/>
            <p:nvPr/>
          </p:nvSpPr>
          <p:spPr>
            <a:xfrm>
              <a:off x="9486900" y="1952625"/>
              <a:ext cx="38100" cy="647700"/>
            </a:xfrm>
            <a:prstGeom prst="roundRect">
              <a:avLst>
                <a:gd name="adj" fmla="val 50000"/>
              </a:avLst>
            </a:prstGeom>
            <a:solidFill>
              <a:srgbClr val="F59E0B"/>
            </a:solidFill>
            <a:ln>
              <a:noFill/>
            </a:ln>
          </p:spPr>
        </p:sp>
        <p:sp>
          <p:nvSpPr>
            <p:cNvPr id="28" name="TextBox 28"/>
            <p:cNvSpPr txBox="1"/>
            <p:nvPr/>
          </p:nvSpPr>
          <p:spPr>
            <a:xfrm>
              <a:off x="96450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难快速分配</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9646920" y="2350770"/>
              <a:ext cx="62293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销售响应慢</a:t>
              </a:r>
              <a:endParaRPr lang="zh-CN" sz="900" dirty="0">
                <a:solidFill>
                  <a:srgbClr val="5E6A78"/>
                </a:solidFill>
                <a:latin typeface="Arial" panose="020B0604020202020204"/>
                <a:ea typeface="微软雅黑" panose="020B0503020204020204" charset="-122"/>
                <a:cs typeface="Arial" panose="020B0604020202020204"/>
              </a:endParaRPr>
            </a:p>
          </p:txBody>
        </p:sp>
      </p:grpSp>
      <p:grpSp>
        <p:nvGrpSpPr>
          <p:cNvPr id="62" name="Group 62"/>
          <p:cNvGrpSpPr/>
          <p:nvPr/>
        </p:nvGrpSpPr>
        <p:grpSpPr>
          <a:xfrm>
            <a:off x="558165" y="2915602"/>
            <a:ext cx="11062335" cy="1370648"/>
            <a:chOff x="558165" y="2915602"/>
            <a:chExt cx="11062335" cy="1370648"/>
          </a:xfrm>
        </p:grpSpPr>
        <p:sp>
          <p:nvSpPr>
            <p:cNvPr id="31" name="TextBox 31"/>
            <p:cNvSpPr txBox="1"/>
            <p:nvPr/>
          </p:nvSpPr>
          <p:spPr>
            <a:xfrm>
              <a:off x="558165" y="2915602"/>
              <a:ext cx="2709755" cy="213360"/>
            </a:xfrm>
            <a:prstGeom prst="rect">
              <a:avLst/>
            </a:prstGeom>
            <a:noFill/>
            <a:ln>
              <a:noFill/>
            </a:ln>
          </p:spPr>
          <p:txBody>
            <a:bodyPr wrap="none" lIns="0" tIns="0" rIns="0" bIns="0" anchor="t" anchorCtr="0">
              <a:spAutoFit/>
            </a:bodyPr>
            <a:lstStyle/>
            <a:p>
              <a:pPr algn="l"/>
              <a:r>
                <a:rPr lang="zh-CN" sz="1050" b="1" dirty="0">
                  <a:solidFill>
                    <a:srgbClr val="0E9F6E"/>
                  </a:solidFill>
                  <a:latin typeface="Arial" panose="020B0604020202020204"/>
                  <a:ea typeface="微软雅黑" panose="020B0503020204020204" charset="-122"/>
                  <a:cs typeface="Arial" panose="020B0604020202020204"/>
                </a:rPr>
                <a:t>6 类重点关注商机 · OPPORTUNITY TYPES</a:t>
              </a:r>
              <a:endParaRPr lang="zh-CN" sz="1050" b="1" dirty="0">
                <a:solidFill>
                  <a:srgbClr val="0E9F6E"/>
                </a:solidFill>
                <a:latin typeface="Arial" panose="020B0604020202020204"/>
                <a:ea typeface="微软雅黑" panose="020B0503020204020204" charset="-122"/>
                <a:cs typeface="Arial" panose="020B0604020202020204"/>
              </a:endParaRPr>
            </a:p>
          </p:txBody>
        </p:sp>
        <p:sp>
          <p:nvSpPr>
            <p:cNvPr id="32" name="Rectangle 32"/>
            <p:cNvSpPr/>
            <p:nvPr/>
          </p:nvSpPr>
          <p:spPr>
            <a:xfrm>
              <a:off x="571500" y="3190875"/>
              <a:ext cx="3524250" cy="1095375"/>
            </a:xfrm>
            <a:prstGeom prst="roundRect">
              <a:avLst>
                <a:gd name="adj" fmla="val 8696"/>
              </a:avLst>
            </a:prstGeom>
            <a:solidFill>
              <a:srgbClr val="F4F7FC"/>
            </a:solidFill>
            <a:ln>
              <a:noFill/>
            </a:ln>
          </p:spPr>
        </p:sp>
        <p:grpSp>
          <p:nvGrpSpPr>
            <p:cNvPr id="41" name="Group 41"/>
            <p:cNvGrpSpPr/>
            <p:nvPr/>
          </p:nvGrpSpPr>
          <p:grpSpPr>
            <a:xfrm>
              <a:off x="795338" y="3414712"/>
              <a:ext cx="200025" cy="209551"/>
              <a:chOff x="795338" y="3414712"/>
              <a:chExt cx="200025" cy="209551"/>
            </a:xfrm>
          </p:grpSpPr>
          <p:sp>
            <p:nvSpPr>
              <p:cNvPr id="33" name="Freeform 33"/>
              <p:cNvSpPr/>
              <p:nvPr/>
            </p:nvSpPr>
            <p:spPr>
              <a:xfrm>
                <a:off x="795338" y="3614738"/>
                <a:ext cx="200025" cy="9525"/>
              </a:xfrm>
              <a:custGeom>
                <a:avLst/>
                <a:gdLst/>
                <a:ahLst/>
                <a:cxnLst/>
                <a:rect l="l" t="t" r="r" b="b"/>
                <a:pathLst>
                  <a:path w="200025" h="9525">
                    <a:moveTo>
                      <a:pt x="0" y="0"/>
                    </a:moveTo>
                    <a:lnTo>
                      <a:pt x="200025" y="0"/>
                    </a:lnTo>
                  </a:path>
                </a:pathLst>
              </a:custGeom>
              <a:noFill/>
              <a:ln w="19050">
                <a:solidFill>
                  <a:srgbClr val="0E9F6E"/>
                </a:solidFill>
              </a:ln>
            </p:spPr>
          </p:sp>
          <p:sp>
            <p:nvSpPr>
              <p:cNvPr id="34" name="Freeform 34"/>
              <p:cNvSpPr/>
              <p:nvPr/>
            </p:nvSpPr>
            <p:spPr>
              <a:xfrm>
                <a:off x="862012" y="3470275"/>
                <a:ext cx="11113" cy="9525"/>
              </a:xfrm>
              <a:custGeom>
                <a:avLst/>
                <a:gdLst/>
                <a:ahLst/>
                <a:cxnLst/>
                <a:rect l="l" t="t" r="r" b="b"/>
                <a:pathLst>
                  <a:path w="11113" h="9525">
                    <a:moveTo>
                      <a:pt x="0" y="0"/>
                    </a:moveTo>
                    <a:lnTo>
                      <a:pt x="11113" y="0"/>
                    </a:lnTo>
                  </a:path>
                </a:pathLst>
              </a:custGeom>
              <a:noFill/>
              <a:ln w="19050">
                <a:solidFill>
                  <a:srgbClr val="0E9F6E"/>
                </a:solidFill>
              </a:ln>
            </p:spPr>
          </p:sp>
          <p:sp>
            <p:nvSpPr>
              <p:cNvPr id="35" name="Freeform 35"/>
              <p:cNvSpPr/>
              <p:nvPr/>
            </p:nvSpPr>
            <p:spPr>
              <a:xfrm>
                <a:off x="862012" y="3514725"/>
                <a:ext cx="11113" cy="9525"/>
              </a:xfrm>
              <a:custGeom>
                <a:avLst/>
                <a:gdLst/>
                <a:ahLst/>
                <a:cxnLst/>
                <a:rect l="l" t="t" r="r" b="b"/>
                <a:pathLst>
                  <a:path w="11113" h="9525">
                    <a:moveTo>
                      <a:pt x="0" y="0"/>
                    </a:moveTo>
                    <a:lnTo>
                      <a:pt x="11113" y="0"/>
                    </a:lnTo>
                  </a:path>
                </a:pathLst>
              </a:custGeom>
              <a:noFill/>
              <a:ln w="19050">
                <a:solidFill>
                  <a:srgbClr val="0E9F6E"/>
                </a:solidFill>
              </a:ln>
            </p:spPr>
          </p:sp>
          <p:sp>
            <p:nvSpPr>
              <p:cNvPr id="36" name="Freeform 36"/>
              <p:cNvSpPr/>
              <p:nvPr/>
            </p:nvSpPr>
            <p:spPr>
              <a:xfrm>
                <a:off x="862012" y="3559175"/>
                <a:ext cx="11113" cy="9525"/>
              </a:xfrm>
              <a:custGeom>
                <a:avLst/>
                <a:gdLst/>
                <a:ahLst/>
                <a:cxnLst/>
                <a:rect l="l" t="t" r="r" b="b"/>
                <a:pathLst>
                  <a:path w="11113" h="9525">
                    <a:moveTo>
                      <a:pt x="0" y="0"/>
                    </a:moveTo>
                    <a:lnTo>
                      <a:pt x="11113" y="0"/>
                    </a:lnTo>
                  </a:path>
                </a:pathLst>
              </a:custGeom>
              <a:noFill/>
              <a:ln w="19050">
                <a:solidFill>
                  <a:srgbClr val="0E9F6E"/>
                </a:solidFill>
              </a:ln>
            </p:spPr>
          </p:sp>
          <p:sp>
            <p:nvSpPr>
              <p:cNvPr id="37" name="Freeform 37"/>
              <p:cNvSpPr/>
              <p:nvPr/>
            </p:nvSpPr>
            <p:spPr>
              <a:xfrm>
                <a:off x="917575" y="3470275"/>
                <a:ext cx="11112" cy="9525"/>
              </a:xfrm>
              <a:custGeom>
                <a:avLst/>
                <a:gdLst/>
                <a:ahLst/>
                <a:cxnLst/>
                <a:rect l="l" t="t" r="r" b="b"/>
                <a:pathLst>
                  <a:path w="11112" h="9525">
                    <a:moveTo>
                      <a:pt x="0" y="0"/>
                    </a:moveTo>
                    <a:lnTo>
                      <a:pt x="11112" y="0"/>
                    </a:lnTo>
                  </a:path>
                </a:pathLst>
              </a:custGeom>
              <a:noFill/>
              <a:ln w="19050">
                <a:solidFill>
                  <a:srgbClr val="0E9F6E"/>
                </a:solidFill>
              </a:ln>
            </p:spPr>
          </p:sp>
          <p:sp>
            <p:nvSpPr>
              <p:cNvPr id="38" name="Freeform 38"/>
              <p:cNvSpPr/>
              <p:nvPr/>
            </p:nvSpPr>
            <p:spPr>
              <a:xfrm>
                <a:off x="917575" y="3514725"/>
                <a:ext cx="11112" cy="9525"/>
              </a:xfrm>
              <a:custGeom>
                <a:avLst/>
                <a:gdLst/>
                <a:ahLst/>
                <a:cxnLst/>
                <a:rect l="l" t="t" r="r" b="b"/>
                <a:pathLst>
                  <a:path w="11112" h="9525">
                    <a:moveTo>
                      <a:pt x="0" y="0"/>
                    </a:moveTo>
                    <a:lnTo>
                      <a:pt x="11112" y="0"/>
                    </a:lnTo>
                  </a:path>
                </a:pathLst>
              </a:custGeom>
              <a:noFill/>
              <a:ln w="19050">
                <a:solidFill>
                  <a:srgbClr val="0E9F6E"/>
                </a:solidFill>
              </a:ln>
            </p:spPr>
          </p:sp>
          <p:sp>
            <p:nvSpPr>
              <p:cNvPr id="39" name="Freeform 39"/>
              <p:cNvSpPr/>
              <p:nvPr/>
            </p:nvSpPr>
            <p:spPr>
              <a:xfrm>
                <a:off x="917575" y="3559175"/>
                <a:ext cx="11112" cy="9525"/>
              </a:xfrm>
              <a:custGeom>
                <a:avLst/>
                <a:gdLst/>
                <a:ahLst/>
                <a:cxnLst/>
                <a:rect l="l" t="t" r="r" b="b"/>
                <a:pathLst>
                  <a:path w="11112" h="9525">
                    <a:moveTo>
                      <a:pt x="0" y="0"/>
                    </a:moveTo>
                    <a:lnTo>
                      <a:pt x="11112" y="0"/>
                    </a:lnTo>
                  </a:path>
                </a:pathLst>
              </a:custGeom>
              <a:noFill/>
              <a:ln w="19050">
                <a:solidFill>
                  <a:srgbClr val="0E9F6E"/>
                </a:solidFill>
              </a:ln>
            </p:spPr>
          </p:sp>
          <p:sp>
            <p:nvSpPr>
              <p:cNvPr id="40" name="Freeform 40"/>
              <p:cNvSpPr/>
              <p:nvPr/>
            </p:nvSpPr>
            <p:spPr>
              <a:xfrm>
                <a:off x="817562" y="3414712"/>
                <a:ext cx="155575" cy="200025"/>
              </a:xfrm>
              <a:custGeom>
                <a:avLst/>
                <a:gdLst/>
                <a:ahLst/>
                <a:cxnLst/>
                <a:rect l="l" t="t" r="r" b="b"/>
                <a:pathLst>
                  <a:path w="155575" h="200025">
                    <a:moveTo>
                      <a:pt x="0" y="200025"/>
                    </a:moveTo>
                    <a:lnTo>
                      <a:pt x="0" y="22225"/>
                    </a:lnTo>
                    <a:cubicBezTo>
                      <a:pt x="0" y="9950"/>
                      <a:pt x="9950" y="0"/>
                      <a:pt x="22225" y="0"/>
                    </a:cubicBezTo>
                    <a:lnTo>
                      <a:pt x="133350" y="0"/>
                    </a:lnTo>
                    <a:cubicBezTo>
                      <a:pt x="145625" y="0"/>
                      <a:pt x="155575" y="9950"/>
                      <a:pt x="155575" y="22225"/>
                    </a:cubicBezTo>
                    <a:lnTo>
                      <a:pt x="155575" y="200025"/>
                    </a:lnTo>
                  </a:path>
                </a:pathLst>
              </a:custGeom>
              <a:noFill/>
              <a:ln w="19050">
                <a:solidFill>
                  <a:srgbClr val="0E9F6E"/>
                </a:solidFill>
              </a:ln>
            </p:spPr>
          </p:sp>
        </p:grpSp>
        <p:sp>
          <p:nvSpPr>
            <p:cNvPr id="42" name="TextBox 42"/>
            <p:cNvSpPr txBox="1"/>
            <p:nvPr/>
          </p:nvSpPr>
          <p:spPr>
            <a:xfrm>
              <a:off x="1109662" y="3459956"/>
              <a:ext cx="658654" cy="228600"/>
            </a:xfrm>
            <a:prstGeom prst="rect">
              <a:avLst/>
            </a:prstGeom>
            <a:noFill/>
            <a:ln>
              <a:noFill/>
            </a:ln>
          </p:spPr>
          <p:txBody>
            <a:bodyPr wrap="none" lIns="0" tIns="0" rIns="0" bIns="0" anchor="t" anchorCtr="0">
              <a:spAutoFit/>
            </a:bodyPr>
            <a:lstStyle/>
            <a:p>
              <a:pPr algn="l"/>
              <a:r>
                <a:rPr lang="zh-CN" sz="1125" b="1" dirty="0">
                  <a:solidFill>
                    <a:srgbClr val="17365D"/>
                  </a:solidFill>
                  <a:latin typeface="Arial" panose="020B0604020202020204"/>
                  <a:ea typeface="微软雅黑" panose="020B0503020204020204" charset="-122"/>
                  <a:cs typeface="Arial" panose="020B0604020202020204"/>
                </a:rPr>
                <a:t>新建项目</a:t>
              </a:r>
              <a:endParaRPr lang="zh-CN" sz="1125" b="1" dirty="0">
                <a:solidFill>
                  <a:srgbClr val="17365D"/>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749618" y="3799999"/>
              <a:ext cx="1883997"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写字楼 · 商业综合体 · 产业园区</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44" name="TextBox 44"/>
            <p:cNvSpPr txBox="1"/>
            <p:nvPr/>
          </p:nvSpPr>
          <p:spPr>
            <a:xfrm>
              <a:off x="749618" y="4009549"/>
              <a:ext cx="1474446"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城市更新 · 大型基建项目</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45" name="Rectangle 45"/>
            <p:cNvSpPr/>
            <p:nvPr/>
          </p:nvSpPr>
          <p:spPr>
            <a:xfrm>
              <a:off x="4333875" y="3190875"/>
              <a:ext cx="3524250" cy="1095375"/>
            </a:xfrm>
            <a:prstGeom prst="roundRect">
              <a:avLst>
                <a:gd name="adj" fmla="val 8696"/>
              </a:avLst>
            </a:prstGeom>
            <a:solidFill>
              <a:srgbClr val="F4F7FC"/>
            </a:solidFill>
            <a:ln>
              <a:noFill/>
            </a:ln>
          </p:spPr>
        </p:sp>
        <p:grpSp>
          <p:nvGrpSpPr>
            <p:cNvPr id="49" name="Group 49"/>
            <p:cNvGrpSpPr/>
            <p:nvPr/>
          </p:nvGrpSpPr>
          <p:grpSpPr>
            <a:xfrm>
              <a:off x="4557712" y="3414712"/>
              <a:ext cx="200025" cy="200025"/>
              <a:chOff x="4557712" y="3414712"/>
              <a:chExt cx="200025" cy="200025"/>
            </a:xfrm>
          </p:grpSpPr>
          <p:sp>
            <p:nvSpPr>
              <p:cNvPr id="46" name="Freeform 46"/>
              <p:cNvSpPr/>
              <p:nvPr/>
            </p:nvSpPr>
            <p:spPr>
              <a:xfrm>
                <a:off x="4557712" y="3414712"/>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0E9F6E"/>
                </a:solidFill>
              </a:ln>
            </p:spPr>
          </p:sp>
          <p:sp>
            <p:nvSpPr>
              <p:cNvPr id="47" name="Freeform 47"/>
              <p:cNvSpPr/>
              <p:nvPr/>
            </p:nvSpPr>
            <p:spPr>
              <a:xfrm>
                <a:off x="4624388" y="3469999"/>
                <a:ext cx="66675" cy="89453"/>
              </a:xfrm>
              <a:custGeom>
                <a:avLst/>
                <a:gdLst/>
                <a:ahLst/>
                <a:cxnLst/>
                <a:rect l="l" t="t" r="r" b="b"/>
                <a:pathLst>
                  <a:path w="66675" h="89453">
                    <a:moveTo>
                      <a:pt x="64452" y="11389"/>
                    </a:moveTo>
                    <a:cubicBezTo>
                      <a:pt x="60351" y="4273"/>
                      <a:pt x="52659" y="0"/>
                      <a:pt x="44450" y="276"/>
                    </a:cubicBezTo>
                    <a:lnTo>
                      <a:pt x="22225" y="276"/>
                    </a:lnTo>
                    <a:cubicBezTo>
                      <a:pt x="9950" y="276"/>
                      <a:pt x="0" y="10227"/>
                      <a:pt x="0" y="22501"/>
                    </a:cubicBezTo>
                    <a:cubicBezTo>
                      <a:pt x="0" y="34776"/>
                      <a:pt x="9950" y="44726"/>
                      <a:pt x="22225" y="44726"/>
                    </a:cubicBezTo>
                    <a:lnTo>
                      <a:pt x="44450" y="44726"/>
                    </a:lnTo>
                    <a:cubicBezTo>
                      <a:pt x="56725" y="44726"/>
                      <a:pt x="66675" y="54677"/>
                      <a:pt x="66675" y="66951"/>
                    </a:cubicBezTo>
                    <a:cubicBezTo>
                      <a:pt x="66675" y="79226"/>
                      <a:pt x="56725" y="89176"/>
                      <a:pt x="44450" y="89176"/>
                    </a:cubicBezTo>
                    <a:lnTo>
                      <a:pt x="22225" y="89176"/>
                    </a:lnTo>
                    <a:cubicBezTo>
                      <a:pt x="14016" y="89453"/>
                      <a:pt x="6324" y="85179"/>
                      <a:pt x="2223" y="78064"/>
                    </a:cubicBezTo>
                  </a:path>
                </a:pathLst>
              </a:custGeom>
              <a:noFill/>
              <a:ln w="19050">
                <a:solidFill>
                  <a:srgbClr val="0E9F6E"/>
                </a:solidFill>
              </a:ln>
            </p:spPr>
          </p:sp>
          <p:sp>
            <p:nvSpPr>
              <p:cNvPr id="48" name="Freeform 48"/>
              <p:cNvSpPr/>
              <p:nvPr/>
            </p:nvSpPr>
            <p:spPr>
              <a:xfrm>
                <a:off x="4657725" y="3459162"/>
                <a:ext cx="9525" cy="111125"/>
              </a:xfrm>
              <a:custGeom>
                <a:avLst/>
                <a:gdLst/>
                <a:ahLst/>
                <a:cxnLst/>
                <a:rect l="l" t="t" r="r" b="b"/>
                <a:pathLst>
                  <a:path w="9525" h="111125">
                    <a:moveTo>
                      <a:pt x="0" y="0"/>
                    </a:moveTo>
                    <a:lnTo>
                      <a:pt x="0" y="111125"/>
                    </a:lnTo>
                  </a:path>
                </a:pathLst>
              </a:custGeom>
              <a:noFill/>
              <a:ln w="19050">
                <a:solidFill>
                  <a:srgbClr val="0E9F6E"/>
                </a:solidFill>
              </a:ln>
            </p:spPr>
          </p:sp>
        </p:grpSp>
        <p:sp>
          <p:nvSpPr>
            <p:cNvPr id="50" name="TextBox 50"/>
            <p:cNvSpPr txBox="1"/>
            <p:nvPr/>
          </p:nvSpPr>
          <p:spPr>
            <a:xfrm>
              <a:off x="4872038" y="3459956"/>
              <a:ext cx="658654" cy="228600"/>
            </a:xfrm>
            <a:prstGeom prst="rect">
              <a:avLst/>
            </a:prstGeom>
            <a:noFill/>
            <a:ln>
              <a:noFill/>
            </a:ln>
          </p:spPr>
          <p:txBody>
            <a:bodyPr wrap="none" lIns="0" tIns="0" rIns="0" bIns="0" anchor="t" anchorCtr="0">
              <a:spAutoFit/>
            </a:bodyPr>
            <a:lstStyle/>
            <a:p>
              <a:pPr algn="l"/>
              <a:r>
                <a:rPr lang="zh-CN" sz="1125" b="1" dirty="0">
                  <a:solidFill>
                    <a:srgbClr val="17365D"/>
                  </a:solidFill>
                  <a:latin typeface="Arial" panose="020B0604020202020204"/>
                  <a:ea typeface="微软雅黑" panose="020B0503020204020204" charset="-122"/>
                  <a:cs typeface="Arial" panose="020B0604020202020204"/>
                </a:rPr>
                <a:t>交易并购</a:t>
              </a:r>
              <a:endParaRPr lang="zh-CN" sz="1125" b="1" dirty="0">
                <a:solidFill>
                  <a:srgbClr val="17365D"/>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4511992" y="3799999"/>
              <a:ext cx="1883997"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楼宇出售 · 大宗交易 · 产权转让</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4511992" y="4009549"/>
              <a:ext cx="1883997"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楼宇易主 · 资产收购 · 股权变更</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53" name="Rectangle 53"/>
            <p:cNvSpPr/>
            <p:nvPr/>
          </p:nvSpPr>
          <p:spPr>
            <a:xfrm>
              <a:off x="8096250" y="3190875"/>
              <a:ext cx="3524250" cy="1095375"/>
            </a:xfrm>
            <a:prstGeom prst="roundRect">
              <a:avLst>
                <a:gd name="adj" fmla="val 8696"/>
              </a:avLst>
            </a:prstGeom>
            <a:solidFill>
              <a:srgbClr val="F4F7FC"/>
            </a:solidFill>
            <a:ln>
              <a:noFill/>
            </a:ln>
          </p:spPr>
        </p:sp>
        <p:grpSp>
          <p:nvGrpSpPr>
            <p:cNvPr id="58" name="Group 58"/>
            <p:cNvGrpSpPr/>
            <p:nvPr/>
          </p:nvGrpSpPr>
          <p:grpSpPr>
            <a:xfrm>
              <a:off x="8320088" y="3414712"/>
              <a:ext cx="200025" cy="188912"/>
              <a:chOff x="8320088" y="3414712"/>
              <a:chExt cx="200025" cy="188912"/>
            </a:xfrm>
          </p:grpSpPr>
          <p:sp>
            <p:nvSpPr>
              <p:cNvPr id="54" name="Freeform 54"/>
              <p:cNvSpPr/>
              <p:nvPr/>
            </p:nvSpPr>
            <p:spPr>
              <a:xfrm>
                <a:off x="8320088" y="3459162"/>
                <a:ext cx="200025" cy="144462"/>
              </a:xfrm>
              <a:custGeom>
                <a:avLst/>
                <a:gdLst/>
                <a:ahLst/>
                <a:cxnLst/>
                <a:rect l="l" t="t" r="r" b="b"/>
                <a:pathLst>
                  <a:path w="200025" h="144462">
                    <a:moveTo>
                      <a:pt x="0" y="22225"/>
                    </a:moveTo>
                    <a:cubicBezTo>
                      <a:pt x="0" y="9950"/>
                      <a:pt x="9950" y="0"/>
                      <a:pt x="22225" y="0"/>
                    </a:cubicBezTo>
                    <a:lnTo>
                      <a:pt x="177800" y="0"/>
                    </a:lnTo>
                    <a:cubicBezTo>
                      <a:pt x="190075" y="0"/>
                      <a:pt x="200025" y="9950"/>
                      <a:pt x="200025" y="22225"/>
                    </a:cubicBezTo>
                    <a:lnTo>
                      <a:pt x="200025" y="122237"/>
                    </a:lnTo>
                    <a:cubicBezTo>
                      <a:pt x="200025" y="134512"/>
                      <a:pt x="190075" y="144462"/>
                      <a:pt x="177800" y="144462"/>
                    </a:cubicBezTo>
                    <a:lnTo>
                      <a:pt x="22225" y="144462"/>
                    </a:lnTo>
                    <a:cubicBezTo>
                      <a:pt x="9950" y="144462"/>
                      <a:pt x="0" y="134512"/>
                      <a:pt x="0" y="122237"/>
                    </a:cubicBezTo>
                    <a:lnTo>
                      <a:pt x="0" y="22225"/>
                    </a:lnTo>
                  </a:path>
                </a:pathLst>
              </a:custGeom>
              <a:noFill/>
              <a:ln w="19050">
                <a:solidFill>
                  <a:srgbClr val="0E9F6E"/>
                </a:solidFill>
              </a:ln>
            </p:spPr>
          </p:sp>
          <p:sp>
            <p:nvSpPr>
              <p:cNvPr id="55" name="Freeform 55"/>
              <p:cNvSpPr/>
              <p:nvPr/>
            </p:nvSpPr>
            <p:spPr>
              <a:xfrm>
                <a:off x="8375650" y="3414712"/>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0E9F6E"/>
                </a:solidFill>
              </a:ln>
            </p:spPr>
          </p:sp>
          <p:sp>
            <p:nvSpPr>
              <p:cNvPr id="56" name="Freeform 56"/>
              <p:cNvSpPr/>
              <p:nvPr/>
            </p:nvSpPr>
            <p:spPr>
              <a:xfrm>
                <a:off x="8420100" y="3514725"/>
                <a:ext cx="9525" cy="9525"/>
              </a:xfrm>
              <a:custGeom>
                <a:avLst/>
                <a:gdLst/>
                <a:ahLst/>
                <a:cxnLst/>
                <a:rect l="l" t="t" r="r" b="b"/>
                <a:pathLst>
                  <a:path w="9525" h="9525">
                    <a:moveTo>
                      <a:pt x="0" y="0"/>
                    </a:moveTo>
                    <a:lnTo>
                      <a:pt x="0" y="111"/>
                    </a:lnTo>
                  </a:path>
                </a:pathLst>
              </a:custGeom>
              <a:noFill/>
              <a:ln w="19050">
                <a:solidFill>
                  <a:srgbClr val="0E9F6E"/>
                </a:solidFill>
              </a:ln>
            </p:spPr>
          </p:sp>
          <p:sp>
            <p:nvSpPr>
              <p:cNvPr id="57" name="Freeform 57"/>
              <p:cNvSpPr/>
              <p:nvPr/>
            </p:nvSpPr>
            <p:spPr>
              <a:xfrm>
                <a:off x="8320088" y="3525838"/>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0E9F6E"/>
                </a:solidFill>
              </a:ln>
            </p:spPr>
          </p:sp>
        </p:grpSp>
        <p:sp>
          <p:nvSpPr>
            <p:cNvPr id="59" name="TextBox 59"/>
            <p:cNvSpPr txBox="1"/>
            <p:nvPr/>
          </p:nvSpPr>
          <p:spPr>
            <a:xfrm>
              <a:off x="8634412" y="3459956"/>
              <a:ext cx="658654" cy="228600"/>
            </a:xfrm>
            <a:prstGeom prst="rect">
              <a:avLst/>
            </a:prstGeom>
            <a:noFill/>
            <a:ln>
              <a:noFill/>
            </a:ln>
          </p:spPr>
          <p:txBody>
            <a:bodyPr wrap="none" lIns="0" tIns="0" rIns="0" bIns="0" anchor="t" anchorCtr="0">
              <a:spAutoFit/>
            </a:bodyPr>
            <a:lstStyle/>
            <a:p>
              <a:pPr algn="l"/>
              <a:r>
                <a:rPr lang="zh-CN" sz="1125" b="1" dirty="0">
                  <a:solidFill>
                    <a:srgbClr val="17365D"/>
                  </a:solidFill>
                  <a:latin typeface="Arial" panose="020B0604020202020204"/>
                  <a:ea typeface="微软雅黑" panose="020B0503020204020204" charset="-122"/>
                  <a:cs typeface="Arial" panose="020B0604020202020204"/>
                </a:rPr>
                <a:t>运营搬迁</a:t>
              </a:r>
              <a:endParaRPr lang="zh-CN" sz="1125" b="1" dirty="0">
                <a:solidFill>
                  <a:srgbClr val="17365D"/>
                </a:solidFill>
                <a:latin typeface="Arial" panose="020B0604020202020204"/>
                <a:ea typeface="微软雅黑" panose="020B0503020204020204" charset="-122"/>
                <a:cs typeface="Arial" panose="020B0604020202020204"/>
              </a:endParaRPr>
            </a:p>
          </p:txBody>
        </p:sp>
        <p:sp>
          <p:nvSpPr>
            <p:cNvPr id="60" name="TextBox 60"/>
            <p:cNvSpPr txBox="1"/>
            <p:nvPr/>
          </p:nvSpPr>
          <p:spPr>
            <a:xfrm>
              <a:off x="8274368" y="3799999"/>
              <a:ext cx="16044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新项目招商 · 物业运营招标</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61" name="TextBox 61"/>
            <p:cNvSpPr txBox="1"/>
            <p:nvPr/>
          </p:nvSpPr>
          <p:spPr>
            <a:xfrm>
              <a:off x="8274368" y="4009549"/>
              <a:ext cx="1753981"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企业搬迁 · 扩建 · 新办公场所</a:t>
              </a:r>
              <a:endParaRPr lang="zh-CN" sz="975" dirty="0">
                <a:solidFill>
                  <a:srgbClr val="5E6A78"/>
                </a:solidFill>
                <a:latin typeface="Arial" panose="020B0604020202020204"/>
                <a:ea typeface="微软雅黑" panose="020B0503020204020204" charset="-122"/>
                <a:cs typeface="Arial" panose="020B0604020202020204"/>
              </a:endParaRPr>
            </a:p>
          </p:txBody>
        </p:sp>
      </p:grpSp>
      <p:grpSp>
        <p:nvGrpSpPr>
          <p:cNvPr id="119" name="Group 119"/>
          <p:cNvGrpSpPr/>
          <p:nvPr/>
        </p:nvGrpSpPr>
        <p:grpSpPr>
          <a:xfrm>
            <a:off x="558165" y="4553902"/>
            <a:ext cx="11062335" cy="1542098"/>
            <a:chOff x="558165" y="4553902"/>
            <a:chExt cx="11062335" cy="1542098"/>
          </a:xfrm>
        </p:grpSpPr>
        <p:sp>
          <p:nvSpPr>
            <p:cNvPr id="63" name="TextBox 63"/>
            <p:cNvSpPr txBox="1"/>
            <p:nvPr/>
          </p:nvSpPr>
          <p:spPr>
            <a:xfrm>
              <a:off x="558165" y="4553902"/>
              <a:ext cx="2040822" cy="213360"/>
            </a:xfrm>
            <a:prstGeom prst="rect">
              <a:avLst/>
            </a:prstGeom>
            <a:noFill/>
            <a:ln>
              <a:noFill/>
            </a:ln>
          </p:spPr>
          <p:txBody>
            <a:bodyPr wrap="none" lIns="0" tIns="0" rIns="0" bIns="0" anchor="t" anchorCtr="0">
              <a:spAutoFit/>
            </a:bodyPr>
            <a:lstStyle/>
            <a:p>
              <a:pPr algn="l"/>
              <a:r>
                <a:rPr lang="zh-CN" sz="1050" b="1" dirty="0">
                  <a:solidFill>
                    <a:srgbClr val="246BFE"/>
                  </a:solidFill>
                  <a:latin typeface="Arial" panose="020B0604020202020204"/>
                  <a:ea typeface="微软雅黑" panose="020B0503020204020204" charset="-122"/>
                  <a:cs typeface="Arial" panose="020B0604020202020204"/>
                </a:rPr>
                <a:t>六大采集渠道 · DATA SOURCES</a:t>
              </a:r>
              <a:endParaRPr lang="zh-CN" sz="1050" b="1" dirty="0">
                <a:solidFill>
                  <a:srgbClr val="246BFE"/>
                </a:solidFill>
                <a:latin typeface="Arial" panose="020B0604020202020204"/>
                <a:ea typeface="微软雅黑" panose="020B0503020204020204" charset="-122"/>
                <a:cs typeface="Arial" panose="020B0604020202020204"/>
              </a:endParaRPr>
            </a:p>
          </p:txBody>
        </p:sp>
        <p:sp>
          <p:nvSpPr>
            <p:cNvPr id="64" name="Rectangle 64"/>
            <p:cNvSpPr/>
            <p:nvPr/>
          </p:nvSpPr>
          <p:spPr>
            <a:xfrm>
              <a:off x="571500" y="4810125"/>
              <a:ext cx="11049000" cy="1285875"/>
            </a:xfrm>
            <a:prstGeom prst="roundRect">
              <a:avLst>
                <a:gd name="adj" fmla="val 8889"/>
              </a:avLst>
            </a:prstGeom>
            <a:solidFill>
              <a:srgbClr val="17365D"/>
            </a:solidFill>
            <a:ln>
              <a:noFill/>
            </a:ln>
          </p:spPr>
        </p:sp>
        <p:sp>
          <p:nvSpPr>
            <p:cNvPr id="65" name="Rectangle 65"/>
            <p:cNvSpPr/>
            <p:nvPr/>
          </p:nvSpPr>
          <p:spPr>
            <a:xfrm>
              <a:off x="800100" y="5000625"/>
              <a:ext cx="1619250" cy="904875"/>
            </a:xfrm>
            <a:prstGeom prst="roundRect">
              <a:avLst>
                <a:gd name="adj" fmla="val 10526"/>
              </a:avLst>
            </a:prstGeom>
            <a:solidFill>
              <a:srgbClr val="FFFFFF">
                <a:alpha val="8000"/>
              </a:srgbClr>
            </a:solidFill>
            <a:ln>
              <a:noFill/>
            </a:ln>
          </p:spPr>
        </p:sp>
        <p:grpSp>
          <p:nvGrpSpPr>
            <p:cNvPr id="71" name="Group 71"/>
            <p:cNvGrpSpPr/>
            <p:nvPr/>
          </p:nvGrpSpPr>
          <p:grpSpPr>
            <a:xfrm>
              <a:off x="1393031" y="5179219"/>
              <a:ext cx="166688" cy="214312"/>
              <a:chOff x="1393031" y="5179219"/>
              <a:chExt cx="166688" cy="214312"/>
            </a:xfrm>
          </p:grpSpPr>
          <p:sp>
            <p:nvSpPr>
              <p:cNvPr id="66" name="Freeform 66"/>
              <p:cNvSpPr/>
              <p:nvPr/>
            </p:nvSpPr>
            <p:spPr>
              <a:xfrm>
                <a:off x="1500188" y="51792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19050">
                <a:solidFill>
                  <a:srgbClr val="518FEC"/>
                </a:solidFill>
              </a:ln>
            </p:spPr>
          </p:sp>
          <p:sp>
            <p:nvSpPr>
              <p:cNvPr id="67" name="Freeform 67"/>
              <p:cNvSpPr/>
              <p:nvPr/>
            </p:nvSpPr>
            <p:spPr>
              <a:xfrm>
                <a:off x="1393031" y="51792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19050">
                <a:solidFill>
                  <a:srgbClr val="518FEC"/>
                </a:solidFill>
              </a:ln>
            </p:spPr>
          </p:sp>
          <p:sp>
            <p:nvSpPr>
              <p:cNvPr id="68" name="Freeform 68"/>
              <p:cNvSpPr/>
              <p:nvPr/>
            </p:nvSpPr>
            <p:spPr>
              <a:xfrm>
                <a:off x="1440656" y="5250656"/>
                <a:ext cx="11906" cy="9525"/>
              </a:xfrm>
              <a:custGeom>
                <a:avLst/>
                <a:gdLst/>
                <a:ahLst/>
                <a:cxnLst/>
                <a:rect l="l" t="t" r="r" b="b"/>
                <a:pathLst>
                  <a:path w="11906" h="9525">
                    <a:moveTo>
                      <a:pt x="0" y="0"/>
                    </a:moveTo>
                    <a:lnTo>
                      <a:pt x="11906" y="0"/>
                    </a:lnTo>
                  </a:path>
                </a:pathLst>
              </a:custGeom>
              <a:noFill/>
              <a:ln w="19050">
                <a:solidFill>
                  <a:srgbClr val="518FEC"/>
                </a:solidFill>
              </a:ln>
            </p:spPr>
          </p:sp>
          <p:sp>
            <p:nvSpPr>
              <p:cNvPr id="69" name="Freeform 69"/>
              <p:cNvSpPr/>
              <p:nvPr/>
            </p:nvSpPr>
            <p:spPr>
              <a:xfrm>
                <a:off x="1440656" y="5298281"/>
                <a:ext cx="71438" cy="9525"/>
              </a:xfrm>
              <a:custGeom>
                <a:avLst/>
                <a:gdLst/>
                <a:ahLst/>
                <a:cxnLst/>
                <a:rect l="l" t="t" r="r" b="b"/>
                <a:pathLst>
                  <a:path w="71438" h="9525">
                    <a:moveTo>
                      <a:pt x="0" y="0"/>
                    </a:moveTo>
                    <a:lnTo>
                      <a:pt x="71438" y="0"/>
                    </a:lnTo>
                  </a:path>
                </a:pathLst>
              </a:custGeom>
              <a:noFill/>
              <a:ln w="19050">
                <a:solidFill>
                  <a:srgbClr val="518FEC"/>
                </a:solidFill>
              </a:ln>
            </p:spPr>
          </p:sp>
          <p:sp>
            <p:nvSpPr>
              <p:cNvPr id="70" name="Freeform 70"/>
              <p:cNvSpPr/>
              <p:nvPr/>
            </p:nvSpPr>
            <p:spPr>
              <a:xfrm>
                <a:off x="1440656" y="5345906"/>
                <a:ext cx="71438" cy="9525"/>
              </a:xfrm>
              <a:custGeom>
                <a:avLst/>
                <a:gdLst/>
                <a:ahLst/>
                <a:cxnLst/>
                <a:rect l="l" t="t" r="r" b="b"/>
                <a:pathLst>
                  <a:path w="71438" h="9525">
                    <a:moveTo>
                      <a:pt x="0" y="0"/>
                    </a:moveTo>
                    <a:lnTo>
                      <a:pt x="71438" y="0"/>
                    </a:lnTo>
                  </a:path>
                </a:pathLst>
              </a:custGeom>
              <a:noFill/>
              <a:ln w="19050">
                <a:solidFill>
                  <a:srgbClr val="518FEC"/>
                </a:solidFill>
              </a:ln>
            </p:spPr>
          </p:sp>
        </p:grpSp>
        <p:sp>
          <p:nvSpPr>
            <p:cNvPr id="72" name="TextBox 72"/>
            <p:cNvSpPr txBox="1"/>
            <p:nvPr/>
          </p:nvSpPr>
          <p:spPr>
            <a:xfrm>
              <a:off x="1302353" y="55064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政府网站</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73" name="TextBox 73"/>
            <p:cNvSpPr txBox="1"/>
            <p:nvPr/>
          </p:nvSpPr>
          <p:spPr>
            <a:xfrm>
              <a:off x="1348966" y="5721191"/>
              <a:ext cx="521518" cy="167640"/>
            </a:xfrm>
            <a:prstGeom prst="rect">
              <a:avLst/>
            </a:prstGeom>
            <a:noFill/>
            <a:ln>
              <a:noFill/>
            </a:ln>
          </p:spPr>
          <p:txBody>
            <a:bodyPr wrap="none" lIns="0" tIns="0" rIns="0" bIns="0" anchor="t" anchorCtr="0">
              <a:spAutoFit/>
            </a:bodyPr>
            <a:lstStyle/>
            <a:p>
              <a:pPr algn="ctr"/>
              <a:r>
                <a:rPr lang="zh-CN" sz="825" dirty="0">
                  <a:solidFill>
                    <a:srgbClr val="8FA3C4"/>
                  </a:solidFill>
                  <a:latin typeface="Arial" panose="020B0604020202020204"/>
                  <a:ea typeface="微软雅黑" panose="020B0503020204020204" charset="-122"/>
                  <a:cs typeface="Arial" panose="020B0604020202020204"/>
                </a:rPr>
                <a:t>规划·公示</a:t>
              </a:r>
              <a:endParaRPr lang="zh-CN" sz="825" dirty="0">
                <a:solidFill>
                  <a:srgbClr val="8FA3C4"/>
                </a:solidFill>
                <a:latin typeface="Arial" panose="020B0604020202020204"/>
                <a:ea typeface="微软雅黑" panose="020B0503020204020204" charset="-122"/>
                <a:cs typeface="Arial" panose="020B0604020202020204"/>
              </a:endParaRPr>
            </a:p>
          </p:txBody>
        </p:sp>
        <p:sp>
          <p:nvSpPr>
            <p:cNvPr id="74" name="Rectangle 74"/>
            <p:cNvSpPr/>
            <p:nvPr/>
          </p:nvSpPr>
          <p:spPr>
            <a:xfrm>
              <a:off x="2590800" y="5000625"/>
              <a:ext cx="1619250" cy="904875"/>
            </a:xfrm>
            <a:prstGeom prst="roundRect">
              <a:avLst>
                <a:gd name="adj" fmla="val 10526"/>
              </a:avLst>
            </a:prstGeom>
            <a:solidFill>
              <a:srgbClr val="FFFFFF">
                <a:alpha val="8000"/>
              </a:srgbClr>
            </a:solidFill>
            <a:ln>
              <a:noFill/>
            </a:ln>
          </p:spPr>
        </p:sp>
        <p:grpSp>
          <p:nvGrpSpPr>
            <p:cNvPr id="79" name="Group 79"/>
            <p:cNvGrpSpPr/>
            <p:nvPr/>
          </p:nvGrpSpPr>
          <p:grpSpPr>
            <a:xfrm>
              <a:off x="3159919" y="5179219"/>
              <a:ext cx="214312" cy="202406"/>
              <a:chOff x="3159919" y="5179219"/>
              <a:chExt cx="214312" cy="202406"/>
            </a:xfrm>
          </p:grpSpPr>
          <p:sp>
            <p:nvSpPr>
              <p:cNvPr id="75" name="Freeform 75"/>
              <p:cNvSpPr/>
              <p:nvPr/>
            </p:nvSpPr>
            <p:spPr>
              <a:xfrm>
                <a:off x="3159919" y="5226844"/>
                <a:ext cx="214312" cy="154781"/>
              </a:xfrm>
              <a:custGeom>
                <a:avLst/>
                <a:gdLst/>
                <a:ahLst/>
                <a:cxnLst/>
                <a:rect l="l" t="t" r="r" b="b"/>
                <a:pathLst>
                  <a:path w="214312" h="154781">
                    <a:moveTo>
                      <a:pt x="0" y="23812"/>
                    </a:moveTo>
                    <a:cubicBezTo>
                      <a:pt x="0" y="10661"/>
                      <a:pt x="10661" y="0"/>
                      <a:pt x="23812" y="0"/>
                    </a:cubicBezTo>
                    <a:lnTo>
                      <a:pt x="190500" y="0"/>
                    </a:lnTo>
                    <a:cubicBezTo>
                      <a:pt x="203651" y="0"/>
                      <a:pt x="214312" y="10661"/>
                      <a:pt x="214312" y="23812"/>
                    </a:cubicBezTo>
                    <a:lnTo>
                      <a:pt x="214312" y="130969"/>
                    </a:lnTo>
                    <a:cubicBezTo>
                      <a:pt x="214312" y="144120"/>
                      <a:pt x="203651" y="154781"/>
                      <a:pt x="190500" y="154781"/>
                    </a:cubicBezTo>
                    <a:lnTo>
                      <a:pt x="23812" y="154781"/>
                    </a:lnTo>
                    <a:cubicBezTo>
                      <a:pt x="10661" y="154781"/>
                      <a:pt x="0" y="144120"/>
                      <a:pt x="0" y="130969"/>
                    </a:cubicBezTo>
                    <a:lnTo>
                      <a:pt x="0" y="23812"/>
                    </a:lnTo>
                  </a:path>
                </a:pathLst>
              </a:custGeom>
              <a:noFill/>
              <a:ln w="19050">
                <a:solidFill>
                  <a:srgbClr val="518FEC"/>
                </a:solidFill>
              </a:ln>
            </p:spPr>
          </p:sp>
          <p:sp>
            <p:nvSpPr>
              <p:cNvPr id="76" name="Freeform 76"/>
              <p:cNvSpPr/>
              <p:nvPr/>
            </p:nvSpPr>
            <p:spPr>
              <a:xfrm>
                <a:off x="3219450" y="5179219"/>
                <a:ext cx="95250" cy="47625"/>
              </a:xfrm>
              <a:custGeom>
                <a:avLst/>
                <a:gdLst/>
                <a:ahLst/>
                <a:cxnLst/>
                <a:rect l="l" t="t" r="r" b="b"/>
                <a:pathLst>
                  <a:path w="95250" h="47625">
                    <a:moveTo>
                      <a:pt x="0" y="47625"/>
                    </a:moveTo>
                    <a:lnTo>
                      <a:pt x="0" y="23812"/>
                    </a:lnTo>
                    <a:cubicBezTo>
                      <a:pt x="0" y="10661"/>
                      <a:pt x="10661" y="0"/>
                      <a:pt x="23812" y="0"/>
                    </a:cubicBezTo>
                    <a:lnTo>
                      <a:pt x="71438" y="0"/>
                    </a:lnTo>
                    <a:cubicBezTo>
                      <a:pt x="84589" y="0"/>
                      <a:pt x="95250" y="10661"/>
                      <a:pt x="95250" y="23812"/>
                    </a:cubicBezTo>
                    <a:lnTo>
                      <a:pt x="95250" y="47625"/>
                    </a:lnTo>
                  </a:path>
                </a:pathLst>
              </a:custGeom>
              <a:noFill/>
              <a:ln w="19050">
                <a:solidFill>
                  <a:srgbClr val="518FEC"/>
                </a:solidFill>
              </a:ln>
            </p:spPr>
          </p:sp>
          <p:sp>
            <p:nvSpPr>
              <p:cNvPr id="77" name="Freeform 77"/>
              <p:cNvSpPr/>
              <p:nvPr/>
            </p:nvSpPr>
            <p:spPr>
              <a:xfrm>
                <a:off x="3267075" y="5286375"/>
                <a:ext cx="9525" cy="9525"/>
              </a:xfrm>
              <a:custGeom>
                <a:avLst/>
                <a:gdLst/>
                <a:ahLst/>
                <a:cxnLst/>
                <a:rect l="l" t="t" r="r" b="b"/>
                <a:pathLst>
                  <a:path w="9525" h="9525">
                    <a:moveTo>
                      <a:pt x="0" y="0"/>
                    </a:moveTo>
                    <a:lnTo>
                      <a:pt x="0" y="119"/>
                    </a:lnTo>
                  </a:path>
                </a:pathLst>
              </a:custGeom>
              <a:noFill/>
              <a:ln w="19050">
                <a:solidFill>
                  <a:srgbClr val="518FEC"/>
                </a:solidFill>
              </a:ln>
            </p:spPr>
          </p:sp>
          <p:sp>
            <p:nvSpPr>
              <p:cNvPr id="78" name="Freeform 78"/>
              <p:cNvSpPr/>
              <p:nvPr/>
            </p:nvSpPr>
            <p:spPr>
              <a:xfrm>
                <a:off x="3159919" y="5298281"/>
                <a:ext cx="214312" cy="33963"/>
              </a:xfrm>
              <a:custGeom>
                <a:avLst/>
                <a:gdLst/>
                <a:ahLst/>
                <a:cxnLst/>
                <a:rect l="l" t="t" r="r" b="b"/>
                <a:pathLst>
                  <a:path w="214312" h="33963">
                    <a:moveTo>
                      <a:pt x="0" y="0"/>
                    </a:moveTo>
                    <a:cubicBezTo>
                      <a:pt x="67401" y="33963"/>
                      <a:pt x="146912" y="33963"/>
                      <a:pt x="214312" y="0"/>
                    </a:cubicBezTo>
                  </a:path>
                </a:pathLst>
              </a:custGeom>
              <a:noFill/>
              <a:ln w="19050">
                <a:solidFill>
                  <a:srgbClr val="518FEC"/>
                </a:solidFill>
              </a:ln>
            </p:spPr>
          </p:sp>
        </p:grpSp>
        <p:sp>
          <p:nvSpPr>
            <p:cNvPr id="80" name="TextBox 80"/>
            <p:cNvSpPr txBox="1"/>
            <p:nvPr/>
          </p:nvSpPr>
          <p:spPr>
            <a:xfrm>
              <a:off x="3093053" y="55064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公共资源</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81" name="TextBox 81"/>
            <p:cNvSpPr txBox="1"/>
            <p:nvPr/>
          </p:nvSpPr>
          <p:spPr>
            <a:xfrm>
              <a:off x="3169920" y="5721191"/>
              <a:ext cx="461010" cy="167640"/>
            </a:xfrm>
            <a:prstGeom prst="rect">
              <a:avLst/>
            </a:prstGeom>
            <a:noFill/>
            <a:ln>
              <a:noFill/>
            </a:ln>
          </p:spPr>
          <p:txBody>
            <a:bodyPr wrap="none" lIns="0" tIns="0" rIns="0" bIns="0" anchor="t" anchorCtr="0">
              <a:spAutoFit/>
            </a:bodyPr>
            <a:lstStyle/>
            <a:p>
              <a:pPr algn="ctr"/>
              <a:r>
                <a:rPr lang="zh-CN" sz="825" dirty="0">
                  <a:solidFill>
                    <a:srgbClr val="8FA3C4"/>
                  </a:solidFill>
                  <a:latin typeface="Arial" panose="020B0604020202020204"/>
                  <a:ea typeface="微软雅黑" panose="020B0503020204020204" charset="-122"/>
                  <a:cs typeface="Arial" panose="020B0604020202020204"/>
                </a:rPr>
                <a:t>交易平台</a:t>
              </a:r>
              <a:endParaRPr lang="zh-CN" sz="825" dirty="0">
                <a:solidFill>
                  <a:srgbClr val="8FA3C4"/>
                </a:solidFill>
                <a:latin typeface="Arial" panose="020B0604020202020204"/>
                <a:ea typeface="微软雅黑" panose="020B0503020204020204" charset="-122"/>
                <a:cs typeface="Arial" panose="020B0604020202020204"/>
              </a:endParaRPr>
            </a:p>
          </p:txBody>
        </p:sp>
        <p:sp>
          <p:nvSpPr>
            <p:cNvPr id="82" name="Rectangle 82"/>
            <p:cNvSpPr/>
            <p:nvPr/>
          </p:nvSpPr>
          <p:spPr>
            <a:xfrm>
              <a:off x="4381500" y="5000625"/>
              <a:ext cx="1619250" cy="904875"/>
            </a:xfrm>
            <a:prstGeom prst="roundRect">
              <a:avLst>
                <a:gd name="adj" fmla="val 10526"/>
              </a:avLst>
            </a:prstGeom>
            <a:solidFill>
              <a:srgbClr val="FFFFFF">
                <a:alpha val="8000"/>
              </a:srgbClr>
            </a:solidFill>
            <a:ln>
              <a:noFill/>
            </a:ln>
          </p:spPr>
        </p:sp>
        <p:grpSp>
          <p:nvGrpSpPr>
            <p:cNvPr id="88" name="Group 88"/>
            <p:cNvGrpSpPr/>
            <p:nvPr/>
          </p:nvGrpSpPr>
          <p:grpSpPr>
            <a:xfrm>
              <a:off x="4974431" y="5179219"/>
              <a:ext cx="166688" cy="214312"/>
              <a:chOff x="4974431" y="5179219"/>
              <a:chExt cx="166688" cy="214312"/>
            </a:xfrm>
          </p:grpSpPr>
          <p:sp>
            <p:nvSpPr>
              <p:cNvPr id="83" name="Freeform 83"/>
              <p:cNvSpPr/>
              <p:nvPr/>
            </p:nvSpPr>
            <p:spPr>
              <a:xfrm>
                <a:off x="5081588" y="51792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19050">
                <a:solidFill>
                  <a:srgbClr val="518FEC"/>
                </a:solidFill>
              </a:ln>
            </p:spPr>
          </p:sp>
          <p:sp>
            <p:nvSpPr>
              <p:cNvPr id="84" name="Freeform 84"/>
              <p:cNvSpPr/>
              <p:nvPr/>
            </p:nvSpPr>
            <p:spPr>
              <a:xfrm>
                <a:off x="4974431" y="51792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19050">
                <a:solidFill>
                  <a:srgbClr val="518FEC"/>
                </a:solidFill>
              </a:ln>
            </p:spPr>
          </p:sp>
          <p:sp>
            <p:nvSpPr>
              <p:cNvPr id="85" name="Freeform 85"/>
              <p:cNvSpPr/>
              <p:nvPr/>
            </p:nvSpPr>
            <p:spPr>
              <a:xfrm>
                <a:off x="5022056" y="5250656"/>
                <a:ext cx="11906" cy="9525"/>
              </a:xfrm>
              <a:custGeom>
                <a:avLst/>
                <a:gdLst/>
                <a:ahLst/>
                <a:cxnLst/>
                <a:rect l="l" t="t" r="r" b="b"/>
                <a:pathLst>
                  <a:path w="11906" h="9525">
                    <a:moveTo>
                      <a:pt x="0" y="0"/>
                    </a:moveTo>
                    <a:lnTo>
                      <a:pt x="11906" y="0"/>
                    </a:lnTo>
                  </a:path>
                </a:pathLst>
              </a:custGeom>
              <a:noFill/>
              <a:ln w="19050">
                <a:solidFill>
                  <a:srgbClr val="518FEC"/>
                </a:solidFill>
              </a:ln>
            </p:spPr>
          </p:sp>
          <p:sp>
            <p:nvSpPr>
              <p:cNvPr id="86" name="Freeform 86"/>
              <p:cNvSpPr/>
              <p:nvPr/>
            </p:nvSpPr>
            <p:spPr>
              <a:xfrm>
                <a:off x="5022056" y="5298281"/>
                <a:ext cx="71438" cy="9525"/>
              </a:xfrm>
              <a:custGeom>
                <a:avLst/>
                <a:gdLst/>
                <a:ahLst/>
                <a:cxnLst/>
                <a:rect l="l" t="t" r="r" b="b"/>
                <a:pathLst>
                  <a:path w="71438" h="9525">
                    <a:moveTo>
                      <a:pt x="0" y="0"/>
                    </a:moveTo>
                    <a:lnTo>
                      <a:pt x="71438" y="0"/>
                    </a:lnTo>
                  </a:path>
                </a:pathLst>
              </a:custGeom>
              <a:noFill/>
              <a:ln w="19050">
                <a:solidFill>
                  <a:srgbClr val="518FEC"/>
                </a:solidFill>
              </a:ln>
            </p:spPr>
          </p:sp>
          <p:sp>
            <p:nvSpPr>
              <p:cNvPr id="87" name="Freeform 87"/>
              <p:cNvSpPr/>
              <p:nvPr/>
            </p:nvSpPr>
            <p:spPr>
              <a:xfrm>
                <a:off x="5022056" y="5345906"/>
                <a:ext cx="71438" cy="9525"/>
              </a:xfrm>
              <a:custGeom>
                <a:avLst/>
                <a:gdLst/>
                <a:ahLst/>
                <a:cxnLst/>
                <a:rect l="l" t="t" r="r" b="b"/>
                <a:pathLst>
                  <a:path w="71438" h="9525">
                    <a:moveTo>
                      <a:pt x="0" y="0"/>
                    </a:moveTo>
                    <a:lnTo>
                      <a:pt x="71438" y="0"/>
                    </a:lnTo>
                  </a:path>
                </a:pathLst>
              </a:custGeom>
              <a:noFill/>
              <a:ln w="19050">
                <a:solidFill>
                  <a:srgbClr val="518FEC"/>
                </a:solidFill>
              </a:ln>
            </p:spPr>
          </p:sp>
        </p:grpSp>
        <p:sp>
          <p:nvSpPr>
            <p:cNvPr id="89" name="TextBox 89"/>
            <p:cNvSpPr txBox="1"/>
            <p:nvPr/>
          </p:nvSpPr>
          <p:spPr>
            <a:xfrm>
              <a:off x="4957262" y="5506402"/>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招投标</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90" name="TextBox 90"/>
            <p:cNvSpPr txBox="1"/>
            <p:nvPr/>
          </p:nvSpPr>
          <p:spPr>
            <a:xfrm>
              <a:off x="5070634" y="5721191"/>
              <a:ext cx="240982" cy="167640"/>
            </a:xfrm>
            <a:prstGeom prst="rect">
              <a:avLst/>
            </a:prstGeom>
            <a:noFill/>
            <a:ln>
              <a:noFill/>
            </a:ln>
          </p:spPr>
          <p:txBody>
            <a:bodyPr wrap="none" lIns="0" tIns="0" rIns="0" bIns="0" anchor="t" anchorCtr="0">
              <a:spAutoFit/>
            </a:bodyPr>
            <a:lstStyle/>
            <a:p>
              <a:pPr algn="ctr"/>
              <a:r>
                <a:rPr lang="zh-CN" sz="825" dirty="0">
                  <a:solidFill>
                    <a:srgbClr val="8FA3C4"/>
                  </a:solidFill>
                  <a:latin typeface="Arial" panose="020B0604020202020204"/>
                  <a:ea typeface="微软雅黑" panose="020B0503020204020204" charset="-122"/>
                  <a:cs typeface="Arial" panose="020B0604020202020204"/>
                </a:rPr>
                <a:t>平台</a:t>
              </a:r>
              <a:endParaRPr lang="zh-CN" sz="825" dirty="0">
                <a:solidFill>
                  <a:srgbClr val="8FA3C4"/>
                </a:solidFill>
                <a:latin typeface="Arial" panose="020B0604020202020204"/>
                <a:ea typeface="微软雅黑" panose="020B0503020204020204" charset="-122"/>
                <a:cs typeface="Arial" panose="020B0604020202020204"/>
              </a:endParaRPr>
            </a:p>
          </p:txBody>
        </p:sp>
        <p:sp>
          <p:nvSpPr>
            <p:cNvPr id="91" name="Rectangle 91"/>
            <p:cNvSpPr/>
            <p:nvPr/>
          </p:nvSpPr>
          <p:spPr>
            <a:xfrm>
              <a:off x="6172200" y="5000625"/>
              <a:ext cx="1619250" cy="904875"/>
            </a:xfrm>
            <a:prstGeom prst="roundRect">
              <a:avLst>
                <a:gd name="adj" fmla="val 10526"/>
              </a:avLst>
            </a:prstGeom>
            <a:solidFill>
              <a:srgbClr val="FFFFFF">
                <a:alpha val="8000"/>
              </a:srgbClr>
            </a:solidFill>
            <a:ln>
              <a:noFill/>
            </a:ln>
          </p:spPr>
        </p:sp>
        <p:grpSp>
          <p:nvGrpSpPr>
            <p:cNvPr id="96" name="Group 96"/>
            <p:cNvGrpSpPr/>
            <p:nvPr/>
          </p:nvGrpSpPr>
          <p:grpSpPr>
            <a:xfrm>
              <a:off x="6753225" y="5179219"/>
              <a:ext cx="190500" cy="226219"/>
              <a:chOff x="6753225" y="5179219"/>
              <a:chExt cx="190500" cy="226219"/>
            </a:xfrm>
          </p:grpSpPr>
          <p:sp>
            <p:nvSpPr>
              <p:cNvPr id="92" name="Freeform 92"/>
              <p:cNvSpPr/>
              <p:nvPr/>
            </p:nvSpPr>
            <p:spPr>
              <a:xfrm>
                <a:off x="6753225" y="5179219"/>
                <a:ext cx="190500" cy="130969"/>
              </a:xfrm>
              <a:custGeom>
                <a:avLst/>
                <a:gdLst/>
                <a:ahLst/>
                <a:cxnLst/>
                <a:rect l="l" t="t" r="r" b="b"/>
                <a:pathLst>
                  <a:path w="190500" h="130969">
                    <a:moveTo>
                      <a:pt x="0" y="130969"/>
                    </a:moveTo>
                    <a:lnTo>
                      <a:pt x="0" y="95250"/>
                    </a:lnTo>
                    <a:cubicBezTo>
                      <a:pt x="0" y="42645"/>
                      <a:pt x="42645" y="0"/>
                      <a:pt x="95250" y="0"/>
                    </a:cubicBezTo>
                    <a:cubicBezTo>
                      <a:pt x="147855" y="0"/>
                      <a:pt x="190500" y="42645"/>
                      <a:pt x="190500" y="95250"/>
                    </a:cubicBezTo>
                    <a:lnTo>
                      <a:pt x="190500" y="130969"/>
                    </a:lnTo>
                  </a:path>
                </a:pathLst>
              </a:custGeom>
              <a:noFill/>
              <a:ln w="19050">
                <a:solidFill>
                  <a:srgbClr val="518FEC"/>
                </a:solidFill>
              </a:ln>
            </p:spPr>
          </p:sp>
          <p:sp>
            <p:nvSpPr>
              <p:cNvPr id="93" name="Freeform 93"/>
              <p:cNvSpPr/>
              <p:nvPr/>
            </p:nvSpPr>
            <p:spPr>
              <a:xfrm>
                <a:off x="6848475" y="5369719"/>
                <a:ext cx="71438" cy="35719"/>
              </a:xfrm>
              <a:custGeom>
                <a:avLst/>
                <a:gdLst/>
                <a:ahLst/>
                <a:cxnLst/>
                <a:rect l="l" t="t" r="r" b="b"/>
                <a:pathLst>
                  <a:path w="71438" h="35719">
                    <a:moveTo>
                      <a:pt x="71438" y="0"/>
                    </a:moveTo>
                    <a:cubicBezTo>
                      <a:pt x="71438" y="19729"/>
                      <a:pt x="39457" y="35719"/>
                      <a:pt x="0" y="35719"/>
                    </a:cubicBezTo>
                  </a:path>
                </a:pathLst>
              </a:custGeom>
              <a:noFill/>
              <a:ln w="19050">
                <a:solidFill>
                  <a:srgbClr val="518FEC"/>
                </a:solidFill>
              </a:ln>
            </p:spPr>
          </p:sp>
          <p:sp>
            <p:nvSpPr>
              <p:cNvPr id="94" name="Freeform 94"/>
              <p:cNvSpPr/>
              <p:nvPr/>
            </p:nvSpPr>
            <p:spPr>
              <a:xfrm>
                <a:off x="6753225" y="5286375"/>
                <a:ext cx="59531" cy="83344"/>
              </a:xfrm>
              <a:custGeom>
                <a:avLst/>
                <a:gdLst/>
                <a:ahLst/>
                <a:cxnLst/>
                <a:rect l="l" t="t" r="r" b="b"/>
                <a:pathLst>
                  <a:path w="59531" h="83344">
                    <a:moveTo>
                      <a:pt x="0" y="23812"/>
                    </a:moveTo>
                    <a:cubicBezTo>
                      <a:pt x="0" y="10661"/>
                      <a:pt x="10661" y="0"/>
                      <a:pt x="23812" y="0"/>
                    </a:cubicBezTo>
                    <a:lnTo>
                      <a:pt x="35719" y="0"/>
                    </a:lnTo>
                    <a:cubicBezTo>
                      <a:pt x="48870" y="0"/>
                      <a:pt x="59531" y="10661"/>
                      <a:pt x="59531" y="23812"/>
                    </a:cubicBezTo>
                    <a:lnTo>
                      <a:pt x="59531" y="59531"/>
                    </a:lnTo>
                    <a:cubicBezTo>
                      <a:pt x="59531" y="72683"/>
                      <a:pt x="48870" y="83344"/>
                      <a:pt x="35719" y="83344"/>
                    </a:cubicBezTo>
                    <a:lnTo>
                      <a:pt x="23812" y="83344"/>
                    </a:lnTo>
                    <a:cubicBezTo>
                      <a:pt x="10661" y="83344"/>
                      <a:pt x="0" y="72683"/>
                      <a:pt x="0" y="59531"/>
                    </a:cubicBezTo>
                    <a:lnTo>
                      <a:pt x="0" y="23812"/>
                    </a:lnTo>
                  </a:path>
                </a:pathLst>
              </a:custGeom>
              <a:noFill/>
              <a:ln w="19050">
                <a:solidFill>
                  <a:srgbClr val="518FEC"/>
                </a:solidFill>
              </a:ln>
            </p:spPr>
          </p:sp>
          <p:sp>
            <p:nvSpPr>
              <p:cNvPr id="95" name="Freeform 95"/>
              <p:cNvSpPr/>
              <p:nvPr/>
            </p:nvSpPr>
            <p:spPr>
              <a:xfrm>
                <a:off x="6884194" y="5286375"/>
                <a:ext cx="59531" cy="83344"/>
              </a:xfrm>
              <a:custGeom>
                <a:avLst/>
                <a:gdLst/>
                <a:ahLst/>
                <a:cxnLst/>
                <a:rect l="l" t="t" r="r" b="b"/>
                <a:pathLst>
                  <a:path w="59531" h="83344">
                    <a:moveTo>
                      <a:pt x="0" y="23812"/>
                    </a:moveTo>
                    <a:cubicBezTo>
                      <a:pt x="0" y="10661"/>
                      <a:pt x="10661" y="0"/>
                      <a:pt x="23812" y="0"/>
                    </a:cubicBezTo>
                    <a:lnTo>
                      <a:pt x="35719" y="0"/>
                    </a:lnTo>
                    <a:cubicBezTo>
                      <a:pt x="48870" y="0"/>
                      <a:pt x="59531" y="10661"/>
                      <a:pt x="59531" y="23812"/>
                    </a:cubicBezTo>
                    <a:lnTo>
                      <a:pt x="59531" y="59531"/>
                    </a:lnTo>
                    <a:cubicBezTo>
                      <a:pt x="59531" y="72683"/>
                      <a:pt x="48870" y="83344"/>
                      <a:pt x="35719" y="83344"/>
                    </a:cubicBezTo>
                    <a:lnTo>
                      <a:pt x="23812" y="83344"/>
                    </a:lnTo>
                    <a:cubicBezTo>
                      <a:pt x="10661" y="83344"/>
                      <a:pt x="0" y="72683"/>
                      <a:pt x="0" y="59531"/>
                    </a:cubicBezTo>
                    <a:lnTo>
                      <a:pt x="0" y="23812"/>
                    </a:lnTo>
                  </a:path>
                </a:pathLst>
              </a:custGeom>
              <a:noFill/>
              <a:ln w="19050">
                <a:solidFill>
                  <a:srgbClr val="518FEC"/>
                </a:solidFill>
              </a:ln>
            </p:spPr>
          </p:sp>
        </p:grpSp>
        <p:sp>
          <p:nvSpPr>
            <p:cNvPr id="97" name="TextBox 97"/>
            <p:cNvSpPr txBox="1"/>
            <p:nvPr/>
          </p:nvSpPr>
          <p:spPr>
            <a:xfrm>
              <a:off x="6747962" y="5506402"/>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短视频</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98" name="TextBox 98"/>
            <p:cNvSpPr txBox="1"/>
            <p:nvPr/>
          </p:nvSpPr>
          <p:spPr>
            <a:xfrm>
              <a:off x="6806327" y="5721191"/>
              <a:ext cx="350996" cy="167640"/>
            </a:xfrm>
            <a:prstGeom prst="rect">
              <a:avLst/>
            </a:prstGeom>
            <a:noFill/>
            <a:ln>
              <a:noFill/>
            </a:ln>
          </p:spPr>
          <p:txBody>
            <a:bodyPr wrap="none" lIns="0" tIns="0" rIns="0" bIns="0" anchor="t" anchorCtr="0">
              <a:spAutoFit/>
            </a:bodyPr>
            <a:lstStyle/>
            <a:p>
              <a:pPr algn="ctr"/>
              <a:r>
                <a:rPr lang="zh-CN" sz="825" dirty="0">
                  <a:solidFill>
                    <a:srgbClr val="8FA3C4"/>
                  </a:solidFill>
                  <a:latin typeface="Arial" panose="020B0604020202020204"/>
                  <a:ea typeface="微软雅黑" panose="020B0503020204020204" charset="-122"/>
                  <a:cs typeface="Arial" panose="020B0604020202020204"/>
                </a:rPr>
                <a:t>抖音等</a:t>
              </a:r>
              <a:endParaRPr lang="zh-CN" sz="825" dirty="0">
                <a:solidFill>
                  <a:srgbClr val="8FA3C4"/>
                </a:solidFill>
                <a:latin typeface="Arial" panose="020B0604020202020204"/>
                <a:ea typeface="微软雅黑" panose="020B0503020204020204" charset="-122"/>
                <a:cs typeface="Arial" panose="020B0604020202020204"/>
              </a:endParaRPr>
            </a:p>
          </p:txBody>
        </p:sp>
        <p:sp>
          <p:nvSpPr>
            <p:cNvPr id="99" name="Rectangle 99"/>
            <p:cNvSpPr/>
            <p:nvPr/>
          </p:nvSpPr>
          <p:spPr>
            <a:xfrm>
              <a:off x="7962900" y="5000625"/>
              <a:ext cx="1619250" cy="904875"/>
            </a:xfrm>
            <a:prstGeom prst="roundRect">
              <a:avLst>
                <a:gd name="adj" fmla="val 10526"/>
              </a:avLst>
            </a:prstGeom>
            <a:solidFill>
              <a:srgbClr val="FFFFFF">
                <a:alpha val="8000"/>
              </a:srgbClr>
            </a:solidFill>
            <a:ln>
              <a:noFill/>
            </a:ln>
          </p:spPr>
        </p:sp>
        <p:grpSp>
          <p:nvGrpSpPr>
            <p:cNvPr id="104" name="Group 104"/>
            <p:cNvGrpSpPr/>
            <p:nvPr/>
          </p:nvGrpSpPr>
          <p:grpSpPr>
            <a:xfrm>
              <a:off x="8532019" y="5179219"/>
              <a:ext cx="214312" cy="214313"/>
              <a:chOff x="8532019" y="5179219"/>
              <a:chExt cx="214312" cy="214313"/>
            </a:xfrm>
          </p:grpSpPr>
          <p:sp>
            <p:nvSpPr>
              <p:cNvPr id="100" name="Freeform 100"/>
              <p:cNvSpPr/>
              <p:nvPr/>
            </p:nvSpPr>
            <p:spPr>
              <a:xfrm>
                <a:off x="8555831" y="51792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518FEC"/>
                </a:solidFill>
              </a:ln>
            </p:spPr>
          </p:sp>
          <p:sp>
            <p:nvSpPr>
              <p:cNvPr id="101" name="Freeform 101"/>
              <p:cNvSpPr/>
              <p:nvPr/>
            </p:nvSpPr>
            <p:spPr>
              <a:xfrm>
                <a:off x="8532019" y="53220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19050">
                <a:solidFill>
                  <a:srgbClr val="518FEC"/>
                </a:solidFill>
              </a:ln>
            </p:spPr>
          </p:sp>
          <p:sp>
            <p:nvSpPr>
              <p:cNvPr id="102" name="Freeform 102"/>
              <p:cNvSpPr/>
              <p:nvPr/>
            </p:nvSpPr>
            <p:spPr>
              <a:xfrm>
                <a:off x="8686800" y="51807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19050">
                <a:solidFill>
                  <a:srgbClr val="518FEC"/>
                </a:solidFill>
              </a:ln>
            </p:spPr>
          </p:sp>
          <p:sp>
            <p:nvSpPr>
              <p:cNvPr id="103" name="Freeform 103"/>
              <p:cNvSpPr/>
              <p:nvPr/>
            </p:nvSpPr>
            <p:spPr>
              <a:xfrm>
                <a:off x="8710612" y="53238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19050">
                <a:solidFill>
                  <a:srgbClr val="518FEC"/>
                </a:solidFill>
              </a:ln>
            </p:spPr>
          </p:sp>
        </p:grpSp>
        <p:sp>
          <p:nvSpPr>
            <p:cNvPr id="105" name="TextBox 105"/>
            <p:cNvSpPr txBox="1"/>
            <p:nvPr/>
          </p:nvSpPr>
          <p:spPr>
            <a:xfrm>
              <a:off x="8465153" y="55064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招聘平台</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06" name="TextBox 106"/>
            <p:cNvSpPr txBox="1"/>
            <p:nvPr/>
          </p:nvSpPr>
          <p:spPr>
            <a:xfrm>
              <a:off x="8542020" y="5721191"/>
              <a:ext cx="461010" cy="167640"/>
            </a:xfrm>
            <a:prstGeom prst="rect">
              <a:avLst/>
            </a:prstGeom>
            <a:noFill/>
            <a:ln>
              <a:noFill/>
            </a:ln>
          </p:spPr>
          <p:txBody>
            <a:bodyPr wrap="none" lIns="0" tIns="0" rIns="0" bIns="0" anchor="t" anchorCtr="0">
              <a:spAutoFit/>
            </a:bodyPr>
            <a:lstStyle/>
            <a:p>
              <a:pPr algn="ctr"/>
              <a:r>
                <a:rPr lang="zh-CN" sz="825" dirty="0">
                  <a:solidFill>
                    <a:srgbClr val="8FA3C4"/>
                  </a:solidFill>
                  <a:latin typeface="Arial" panose="020B0604020202020204"/>
                  <a:ea typeface="微软雅黑" panose="020B0503020204020204" charset="-122"/>
                  <a:cs typeface="Arial" panose="020B0604020202020204"/>
                </a:rPr>
                <a:t>客户信息</a:t>
              </a:r>
              <a:endParaRPr lang="zh-CN" sz="825" dirty="0">
                <a:solidFill>
                  <a:srgbClr val="8FA3C4"/>
                </a:solidFill>
                <a:latin typeface="Arial" panose="020B0604020202020204"/>
                <a:ea typeface="微软雅黑" panose="020B0503020204020204" charset="-122"/>
                <a:cs typeface="Arial" panose="020B0604020202020204"/>
              </a:endParaRPr>
            </a:p>
          </p:txBody>
        </p:sp>
        <p:sp>
          <p:nvSpPr>
            <p:cNvPr id="107" name="Rectangle 107"/>
            <p:cNvSpPr/>
            <p:nvPr/>
          </p:nvSpPr>
          <p:spPr>
            <a:xfrm>
              <a:off x="9753600" y="5000625"/>
              <a:ext cx="1638300" cy="904875"/>
            </a:xfrm>
            <a:prstGeom prst="roundRect">
              <a:avLst>
                <a:gd name="adj" fmla="val 10526"/>
              </a:avLst>
            </a:prstGeom>
            <a:solidFill>
              <a:srgbClr val="FFFFFF">
                <a:alpha val="8000"/>
              </a:srgbClr>
            </a:solidFill>
            <a:ln>
              <a:noFill/>
            </a:ln>
          </p:spPr>
        </p:sp>
        <p:grpSp>
          <p:nvGrpSpPr>
            <p:cNvPr id="116" name="Group 116"/>
            <p:cNvGrpSpPr/>
            <p:nvPr/>
          </p:nvGrpSpPr>
          <p:grpSpPr>
            <a:xfrm>
              <a:off x="10322719" y="5179219"/>
              <a:ext cx="214313" cy="226218"/>
              <a:chOff x="10322719" y="5179219"/>
              <a:chExt cx="214313" cy="226218"/>
            </a:xfrm>
          </p:grpSpPr>
          <p:sp>
            <p:nvSpPr>
              <p:cNvPr id="108" name="Freeform 108"/>
              <p:cNvSpPr/>
              <p:nvPr/>
            </p:nvSpPr>
            <p:spPr>
              <a:xfrm>
                <a:off x="10358438" y="517921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518FEC"/>
                </a:solidFill>
              </a:ln>
            </p:spPr>
          </p:sp>
          <p:sp>
            <p:nvSpPr>
              <p:cNvPr id="109" name="Freeform 109"/>
              <p:cNvSpPr/>
              <p:nvPr/>
            </p:nvSpPr>
            <p:spPr>
              <a:xfrm>
                <a:off x="10429875" y="5179219"/>
                <a:ext cx="23812" cy="142875"/>
              </a:xfrm>
              <a:custGeom>
                <a:avLst/>
                <a:gdLst/>
                <a:ahLst/>
                <a:cxnLst/>
                <a:rect l="l" t="t" r="r" b="b"/>
                <a:pathLst>
                  <a:path w="23812" h="142875">
                    <a:moveTo>
                      <a:pt x="0" y="0"/>
                    </a:moveTo>
                    <a:cubicBezTo>
                      <a:pt x="15871" y="3965"/>
                      <a:pt x="23812" y="27777"/>
                      <a:pt x="23812" y="71438"/>
                    </a:cubicBezTo>
                    <a:cubicBezTo>
                      <a:pt x="23812" y="115098"/>
                      <a:pt x="15871" y="138910"/>
                      <a:pt x="0" y="142875"/>
                    </a:cubicBezTo>
                  </a:path>
                </a:pathLst>
              </a:custGeom>
              <a:noFill/>
              <a:ln w="19050">
                <a:solidFill>
                  <a:srgbClr val="518FEC"/>
                </a:solidFill>
              </a:ln>
            </p:spPr>
          </p:sp>
          <p:sp>
            <p:nvSpPr>
              <p:cNvPr id="110" name="Freeform 110"/>
              <p:cNvSpPr/>
              <p:nvPr/>
            </p:nvSpPr>
            <p:spPr>
              <a:xfrm>
                <a:off x="10406062" y="5179219"/>
                <a:ext cx="23812" cy="142875"/>
              </a:xfrm>
              <a:custGeom>
                <a:avLst/>
                <a:gdLst/>
                <a:ahLst/>
                <a:cxnLst/>
                <a:rect l="l" t="t" r="r" b="b"/>
                <a:pathLst>
                  <a:path w="23812" h="142875">
                    <a:moveTo>
                      <a:pt x="23812" y="0"/>
                    </a:moveTo>
                    <a:cubicBezTo>
                      <a:pt x="7941" y="3965"/>
                      <a:pt x="0" y="27777"/>
                      <a:pt x="0" y="71438"/>
                    </a:cubicBezTo>
                    <a:cubicBezTo>
                      <a:pt x="0" y="115098"/>
                      <a:pt x="7941" y="138910"/>
                      <a:pt x="23812" y="142875"/>
                    </a:cubicBezTo>
                  </a:path>
                </a:pathLst>
              </a:custGeom>
              <a:noFill/>
              <a:ln w="19050">
                <a:solidFill>
                  <a:srgbClr val="518FEC"/>
                </a:solidFill>
              </a:ln>
            </p:spPr>
          </p:sp>
          <p:sp>
            <p:nvSpPr>
              <p:cNvPr id="111" name="Freeform 111"/>
              <p:cNvSpPr/>
              <p:nvPr/>
            </p:nvSpPr>
            <p:spPr>
              <a:xfrm>
                <a:off x="10358438" y="5250656"/>
                <a:ext cx="142875" cy="9525"/>
              </a:xfrm>
              <a:custGeom>
                <a:avLst/>
                <a:gdLst/>
                <a:ahLst/>
                <a:cxnLst/>
                <a:rect l="l" t="t" r="r" b="b"/>
                <a:pathLst>
                  <a:path w="142875" h="9525">
                    <a:moveTo>
                      <a:pt x="0" y="0"/>
                    </a:moveTo>
                    <a:lnTo>
                      <a:pt x="142875" y="0"/>
                    </a:lnTo>
                  </a:path>
                </a:pathLst>
              </a:custGeom>
              <a:noFill/>
              <a:ln w="19050">
                <a:solidFill>
                  <a:srgbClr val="518FEC"/>
                </a:solidFill>
              </a:ln>
            </p:spPr>
          </p:sp>
          <p:sp>
            <p:nvSpPr>
              <p:cNvPr id="112" name="Freeform 112"/>
              <p:cNvSpPr/>
              <p:nvPr/>
            </p:nvSpPr>
            <p:spPr>
              <a:xfrm>
                <a:off x="10322719" y="5381625"/>
                <a:ext cx="83344" cy="9525"/>
              </a:xfrm>
              <a:custGeom>
                <a:avLst/>
                <a:gdLst/>
                <a:ahLst/>
                <a:cxnLst/>
                <a:rect l="l" t="t" r="r" b="b"/>
                <a:pathLst>
                  <a:path w="83344" h="9525">
                    <a:moveTo>
                      <a:pt x="0" y="0"/>
                    </a:moveTo>
                    <a:lnTo>
                      <a:pt x="83344" y="0"/>
                    </a:lnTo>
                  </a:path>
                </a:pathLst>
              </a:custGeom>
              <a:noFill/>
              <a:ln w="19050">
                <a:solidFill>
                  <a:srgbClr val="518FEC"/>
                </a:solidFill>
              </a:ln>
            </p:spPr>
          </p:sp>
          <p:sp>
            <p:nvSpPr>
              <p:cNvPr id="113" name="Freeform 113"/>
              <p:cNvSpPr/>
              <p:nvPr/>
            </p:nvSpPr>
            <p:spPr>
              <a:xfrm>
                <a:off x="10453688" y="5381625"/>
                <a:ext cx="83344" cy="9525"/>
              </a:xfrm>
              <a:custGeom>
                <a:avLst/>
                <a:gdLst/>
                <a:ahLst/>
                <a:cxnLst/>
                <a:rect l="l" t="t" r="r" b="b"/>
                <a:pathLst>
                  <a:path w="83344" h="9525">
                    <a:moveTo>
                      <a:pt x="0" y="0"/>
                    </a:moveTo>
                    <a:lnTo>
                      <a:pt x="83344" y="0"/>
                    </a:lnTo>
                  </a:path>
                </a:pathLst>
              </a:custGeom>
              <a:noFill/>
              <a:ln w="19050">
                <a:solidFill>
                  <a:srgbClr val="518FEC"/>
                </a:solidFill>
              </a:ln>
            </p:spPr>
          </p:sp>
          <p:sp>
            <p:nvSpPr>
              <p:cNvPr id="114" name="Freeform 114"/>
              <p:cNvSpPr/>
              <p:nvPr/>
            </p:nvSpPr>
            <p:spPr>
              <a:xfrm>
                <a:off x="10406062" y="5357812"/>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518FEC"/>
                </a:solidFill>
              </a:ln>
            </p:spPr>
          </p:sp>
          <p:sp>
            <p:nvSpPr>
              <p:cNvPr id="115" name="Freeform 115"/>
              <p:cNvSpPr/>
              <p:nvPr/>
            </p:nvSpPr>
            <p:spPr>
              <a:xfrm>
                <a:off x="10429875" y="5322094"/>
                <a:ext cx="9525" cy="35719"/>
              </a:xfrm>
              <a:custGeom>
                <a:avLst/>
                <a:gdLst/>
                <a:ahLst/>
                <a:cxnLst/>
                <a:rect l="l" t="t" r="r" b="b"/>
                <a:pathLst>
                  <a:path w="9525" h="35719">
                    <a:moveTo>
                      <a:pt x="0" y="0"/>
                    </a:moveTo>
                    <a:lnTo>
                      <a:pt x="0" y="35719"/>
                    </a:lnTo>
                  </a:path>
                </a:pathLst>
              </a:custGeom>
              <a:noFill/>
              <a:ln w="19050">
                <a:solidFill>
                  <a:srgbClr val="518FEC"/>
                </a:solidFill>
              </a:ln>
            </p:spPr>
          </p:sp>
        </p:grpSp>
        <p:sp>
          <p:nvSpPr>
            <p:cNvPr id="117" name="TextBox 117"/>
            <p:cNvSpPr txBox="1"/>
            <p:nvPr/>
          </p:nvSpPr>
          <p:spPr>
            <a:xfrm>
              <a:off x="10265378" y="550640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其他公开</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18" name="TextBox 118"/>
            <p:cNvSpPr txBox="1"/>
            <p:nvPr/>
          </p:nvSpPr>
          <p:spPr>
            <a:xfrm>
              <a:off x="10452259" y="5721191"/>
              <a:ext cx="240982" cy="167640"/>
            </a:xfrm>
            <a:prstGeom prst="rect">
              <a:avLst/>
            </a:prstGeom>
            <a:noFill/>
            <a:ln>
              <a:noFill/>
            </a:ln>
          </p:spPr>
          <p:txBody>
            <a:bodyPr wrap="none" lIns="0" tIns="0" rIns="0" bIns="0" anchor="t" anchorCtr="0">
              <a:spAutoFit/>
            </a:bodyPr>
            <a:lstStyle/>
            <a:p>
              <a:pPr algn="ctr"/>
              <a:r>
                <a:rPr lang="zh-CN" sz="825" dirty="0">
                  <a:solidFill>
                    <a:srgbClr val="8FA3C4"/>
                  </a:solidFill>
                  <a:latin typeface="Arial" panose="020B0604020202020204"/>
                  <a:ea typeface="微软雅黑" panose="020B0503020204020204" charset="-122"/>
                  <a:cs typeface="Arial" panose="020B0604020202020204"/>
                </a:rPr>
                <a:t>渠道</a:t>
              </a:r>
              <a:endParaRPr lang="zh-CN" sz="825" dirty="0">
                <a:solidFill>
                  <a:srgbClr val="8FA3C4"/>
                </a:solidFill>
                <a:latin typeface="Arial" panose="020B0604020202020204"/>
                <a:ea typeface="微软雅黑" panose="020B0503020204020204" charset="-122"/>
                <a:cs typeface="Arial" panose="020B0604020202020204"/>
              </a:endParaRPr>
            </a:p>
          </p:txBody>
        </p:sp>
      </p:grpSp>
      <p:grpSp>
        <p:nvGrpSpPr>
          <p:cNvPr id="122" name="Group 122"/>
          <p:cNvGrpSpPr/>
          <p:nvPr/>
        </p:nvGrpSpPr>
        <p:grpSpPr>
          <a:xfrm>
            <a:off x="561022" y="6578441"/>
            <a:ext cx="11069955" cy="167640"/>
            <a:chOff x="561022" y="6578441"/>
            <a:chExt cx="11069955" cy="167640"/>
          </a:xfrm>
        </p:grpSpPr>
        <p:sp>
          <p:nvSpPr>
            <p:cNvPr id="120" name="TextBox 120"/>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21" name="TextBox 121"/>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13</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lide(fromBottom)">
                                      <p:cBhvr>
                                        <p:cTn id="7" dur="400"/>
                                        <p:tgtEl>
                                          <p:spTgt spid="30"/>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image">
                                      <p:cBhvr>
                                        <p:cTn id="11" dur="400"/>
                                        <p:tgtEl>
                                          <p:spTgt spid="6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9"/>
                                        </p:tgtEl>
                                        <p:attrNameLst>
                                          <p:attrName>style.visibility</p:attrName>
                                        </p:attrNameLst>
                                      </p:cBhvr>
                                      <p:to>
                                        <p:strVal val="visible"/>
                                      </p:to>
                                    </p:set>
                                    <p:animEffect transition="in" filter="fade">
                                      <p:cBhvr>
                                        <p:cTn id="15" dur="4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62" grpId="0"/>
      <p:bldP spid="1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5252466" cy="970598"/>
            <a:chOff x="542925" y="553402"/>
            <a:chExt cx="5252466" cy="970598"/>
          </a:xfrm>
        </p:grpSpPr>
        <p:sp>
          <p:nvSpPr>
            <p:cNvPr id="5" name="TextBox 5"/>
            <p:cNvSpPr txBox="1"/>
            <p:nvPr/>
          </p:nvSpPr>
          <p:spPr>
            <a:xfrm>
              <a:off x="558165" y="553402"/>
              <a:ext cx="1283677"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03 场景方案 · 商机</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4294430"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智能商机 — 解析 · 评分 · 分配</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5239131"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非结构化内容自动解析为结构化商机线索,按价值评分后秒级分配对应商务</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43" name="Group 43"/>
          <p:cNvGrpSpPr/>
          <p:nvPr/>
        </p:nvGrpSpPr>
        <p:grpSpPr>
          <a:xfrm>
            <a:off x="558165" y="1696402"/>
            <a:ext cx="6680835" cy="4351973"/>
            <a:chOff x="558165" y="1696402"/>
            <a:chExt cx="6680835" cy="4351973"/>
          </a:xfrm>
        </p:grpSpPr>
        <p:sp>
          <p:nvSpPr>
            <p:cNvPr id="9" name="TextBox 9"/>
            <p:cNvSpPr txBox="1"/>
            <p:nvPr/>
          </p:nvSpPr>
          <p:spPr>
            <a:xfrm>
              <a:off x="558165" y="1696402"/>
              <a:ext cx="2371613" cy="213360"/>
            </a:xfrm>
            <a:prstGeom prst="rect">
              <a:avLst/>
            </a:prstGeom>
            <a:noFill/>
            <a:ln>
              <a:noFill/>
            </a:ln>
          </p:spPr>
          <p:txBody>
            <a:bodyPr wrap="none" lIns="0" tIns="0" rIns="0" bIns="0" anchor="t" anchorCtr="0">
              <a:spAutoFit/>
            </a:bodyPr>
            <a:lstStyle/>
            <a:p>
              <a:pPr algn="l"/>
              <a:r>
                <a:rPr lang="zh-CN" sz="1050" b="1" dirty="0">
                  <a:solidFill>
                    <a:srgbClr val="246BFE"/>
                  </a:solidFill>
                  <a:latin typeface="Arial" panose="020B0604020202020204"/>
                  <a:ea typeface="微软雅黑" panose="020B0503020204020204" charset="-122"/>
                  <a:cs typeface="Arial" panose="020B0604020202020204"/>
                </a:rPr>
                <a:t>智能解析流水线 · PARSING PIPELINE</a:t>
              </a:r>
              <a:endParaRPr lang="zh-CN" sz="1050" b="1" dirty="0">
                <a:solidFill>
                  <a:srgbClr val="246BFE"/>
                </a:solidFill>
                <a:latin typeface="Arial" panose="020B0604020202020204"/>
                <a:ea typeface="微软雅黑" panose="020B0503020204020204" charset="-122"/>
                <a:cs typeface="Arial" panose="020B0604020202020204"/>
              </a:endParaRPr>
            </a:p>
          </p:txBody>
        </p:sp>
        <p:sp>
          <p:nvSpPr>
            <p:cNvPr id="10" name="Rectangle 10"/>
            <p:cNvSpPr/>
            <p:nvPr/>
          </p:nvSpPr>
          <p:spPr>
            <a:xfrm>
              <a:off x="571500" y="2000250"/>
              <a:ext cx="6667500" cy="762000"/>
            </a:xfrm>
            <a:prstGeom prst="roundRect">
              <a:avLst>
                <a:gd name="adj" fmla="val 12500"/>
              </a:avLst>
            </a:prstGeom>
            <a:solidFill>
              <a:srgbClr val="F4F7FC"/>
            </a:solidFill>
            <a:ln>
              <a:noFill/>
            </a:ln>
          </p:spPr>
        </p:sp>
        <p:grpSp>
          <p:nvGrpSpPr>
            <p:cNvPr id="16" name="Group 16"/>
            <p:cNvGrpSpPr/>
            <p:nvPr/>
          </p:nvGrpSpPr>
          <p:grpSpPr>
            <a:xfrm>
              <a:off x="833438" y="2252662"/>
              <a:ext cx="200025" cy="257175"/>
              <a:chOff x="833438" y="2252662"/>
              <a:chExt cx="200025" cy="257175"/>
            </a:xfrm>
          </p:grpSpPr>
          <p:sp>
            <p:nvSpPr>
              <p:cNvPr id="11" name="Freeform 11"/>
              <p:cNvSpPr/>
              <p:nvPr/>
            </p:nvSpPr>
            <p:spPr>
              <a:xfrm>
                <a:off x="962025" y="2252662"/>
                <a:ext cx="71438" cy="71438"/>
              </a:xfrm>
              <a:custGeom>
                <a:avLst/>
                <a:gdLst/>
                <a:ahLst/>
                <a:cxnLst/>
                <a:rect l="l" t="t" r="r" b="b"/>
                <a:pathLst>
                  <a:path w="71438" h="71438">
                    <a:moveTo>
                      <a:pt x="0" y="0"/>
                    </a:moveTo>
                    <a:lnTo>
                      <a:pt x="0" y="57150"/>
                    </a:lnTo>
                    <a:cubicBezTo>
                      <a:pt x="0" y="65041"/>
                      <a:pt x="6397" y="71438"/>
                      <a:pt x="14288" y="71438"/>
                    </a:cubicBezTo>
                    <a:lnTo>
                      <a:pt x="71438" y="71438"/>
                    </a:lnTo>
                  </a:path>
                </a:pathLst>
              </a:custGeom>
              <a:noFill/>
              <a:ln w="19050">
                <a:solidFill>
                  <a:srgbClr val="246BFE"/>
                </a:solidFill>
              </a:ln>
            </p:spPr>
          </p:sp>
          <p:sp>
            <p:nvSpPr>
              <p:cNvPr id="12" name="Freeform 12"/>
              <p:cNvSpPr/>
              <p:nvPr/>
            </p:nvSpPr>
            <p:spPr>
              <a:xfrm>
                <a:off x="833438" y="2252662"/>
                <a:ext cx="200025" cy="257175"/>
              </a:xfrm>
              <a:custGeom>
                <a:avLst/>
                <a:gdLst/>
                <a:ahLst/>
                <a:cxnLst/>
                <a:rect l="l" t="t" r="r" b="b"/>
                <a:pathLst>
                  <a:path w="200025" h="257175">
                    <a:moveTo>
                      <a:pt x="171450" y="257175"/>
                    </a:moveTo>
                    <a:lnTo>
                      <a:pt x="28575" y="257175"/>
                    </a:lnTo>
                    <a:cubicBezTo>
                      <a:pt x="12793" y="257175"/>
                      <a:pt x="0" y="244382"/>
                      <a:pt x="0" y="228600"/>
                    </a:cubicBezTo>
                    <a:lnTo>
                      <a:pt x="0" y="28575"/>
                    </a:lnTo>
                    <a:cubicBezTo>
                      <a:pt x="0" y="12793"/>
                      <a:pt x="12793" y="0"/>
                      <a:pt x="28575" y="0"/>
                    </a:cubicBezTo>
                    <a:lnTo>
                      <a:pt x="128588" y="0"/>
                    </a:lnTo>
                    <a:lnTo>
                      <a:pt x="200025" y="71438"/>
                    </a:lnTo>
                    <a:lnTo>
                      <a:pt x="200025" y="228600"/>
                    </a:lnTo>
                    <a:cubicBezTo>
                      <a:pt x="200025" y="244382"/>
                      <a:pt x="187232" y="257175"/>
                      <a:pt x="171450" y="257175"/>
                    </a:cubicBezTo>
                  </a:path>
                </a:pathLst>
              </a:custGeom>
              <a:noFill/>
              <a:ln w="19050">
                <a:solidFill>
                  <a:srgbClr val="246BFE"/>
                </a:solidFill>
              </a:ln>
            </p:spPr>
          </p:sp>
          <p:sp>
            <p:nvSpPr>
              <p:cNvPr id="13" name="Freeform 13"/>
              <p:cNvSpPr/>
              <p:nvPr/>
            </p:nvSpPr>
            <p:spPr>
              <a:xfrm>
                <a:off x="890588" y="2338388"/>
                <a:ext cx="14288" cy="9525"/>
              </a:xfrm>
              <a:custGeom>
                <a:avLst/>
                <a:gdLst/>
                <a:ahLst/>
                <a:cxnLst/>
                <a:rect l="l" t="t" r="r" b="b"/>
                <a:pathLst>
                  <a:path w="14288" h="9525">
                    <a:moveTo>
                      <a:pt x="0" y="0"/>
                    </a:moveTo>
                    <a:lnTo>
                      <a:pt x="14288" y="0"/>
                    </a:lnTo>
                  </a:path>
                </a:pathLst>
              </a:custGeom>
              <a:noFill/>
              <a:ln w="19050">
                <a:solidFill>
                  <a:srgbClr val="246BFE"/>
                </a:solidFill>
              </a:ln>
            </p:spPr>
          </p:sp>
          <p:sp>
            <p:nvSpPr>
              <p:cNvPr id="14" name="Freeform 14"/>
              <p:cNvSpPr/>
              <p:nvPr/>
            </p:nvSpPr>
            <p:spPr>
              <a:xfrm>
                <a:off x="890588" y="2395538"/>
                <a:ext cx="85725" cy="9525"/>
              </a:xfrm>
              <a:custGeom>
                <a:avLst/>
                <a:gdLst/>
                <a:ahLst/>
                <a:cxnLst/>
                <a:rect l="l" t="t" r="r" b="b"/>
                <a:pathLst>
                  <a:path w="85725" h="9525">
                    <a:moveTo>
                      <a:pt x="0" y="0"/>
                    </a:moveTo>
                    <a:lnTo>
                      <a:pt x="85725" y="0"/>
                    </a:lnTo>
                  </a:path>
                </a:pathLst>
              </a:custGeom>
              <a:noFill/>
              <a:ln w="19050">
                <a:solidFill>
                  <a:srgbClr val="246BFE"/>
                </a:solidFill>
              </a:ln>
            </p:spPr>
          </p:sp>
          <p:sp>
            <p:nvSpPr>
              <p:cNvPr id="15" name="Freeform 15"/>
              <p:cNvSpPr/>
              <p:nvPr/>
            </p:nvSpPr>
            <p:spPr>
              <a:xfrm>
                <a:off x="890588" y="2452688"/>
                <a:ext cx="85725" cy="9525"/>
              </a:xfrm>
              <a:custGeom>
                <a:avLst/>
                <a:gdLst/>
                <a:ahLst/>
                <a:cxnLst/>
                <a:rect l="l" t="t" r="r" b="b"/>
                <a:pathLst>
                  <a:path w="85725" h="9525">
                    <a:moveTo>
                      <a:pt x="0" y="0"/>
                    </a:moveTo>
                    <a:lnTo>
                      <a:pt x="85725" y="0"/>
                    </a:lnTo>
                  </a:path>
                </a:pathLst>
              </a:custGeom>
              <a:noFill/>
              <a:ln w="19050">
                <a:solidFill>
                  <a:srgbClr val="246BFE"/>
                </a:solidFill>
              </a:ln>
            </p:spPr>
          </p:sp>
        </p:grpSp>
        <p:sp>
          <p:nvSpPr>
            <p:cNvPr id="17" name="TextBox 17"/>
            <p:cNvSpPr txBox="1"/>
            <p:nvPr/>
          </p:nvSpPr>
          <p:spPr>
            <a:xfrm>
              <a:off x="1225868" y="2180749"/>
              <a:ext cx="1144205"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STEP 1 · 内容采集</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1223962" y="2412206"/>
              <a:ext cx="324647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网页 / 文档 / 图片 / 音视频等非结构化内容采集</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19" name="Line 19"/>
            <p:cNvSpPr/>
            <p:nvPr/>
          </p:nvSpPr>
          <p:spPr>
            <a:xfrm>
              <a:off x="3905250" y="2809875"/>
              <a:ext cx="1" cy="238125"/>
            </a:xfrm>
            <a:prstGeom prst="line">
              <a:avLst/>
            </a:prstGeom>
            <a:noFill/>
            <a:ln w="23812">
              <a:solidFill>
                <a:srgbClr val="246BFE"/>
              </a:solidFill>
              <a:tailEnd type="triangle" w="lg" len="lg"/>
            </a:ln>
          </p:spPr>
        </p:sp>
        <p:sp>
          <p:nvSpPr>
            <p:cNvPr id="20" name="Rectangle 20"/>
            <p:cNvSpPr/>
            <p:nvPr/>
          </p:nvSpPr>
          <p:spPr>
            <a:xfrm>
              <a:off x="571500" y="3095625"/>
              <a:ext cx="6667500" cy="762000"/>
            </a:xfrm>
            <a:prstGeom prst="roundRect">
              <a:avLst>
                <a:gd name="adj" fmla="val 12500"/>
              </a:avLst>
            </a:prstGeom>
            <a:solidFill>
              <a:srgbClr val="F4F7FC"/>
            </a:solidFill>
            <a:ln>
              <a:noFill/>
            </a:ln>
          </p:spPr>
        </p:sp>
        <p:grpSp>
          <p:nvGrpSpPr>
            <p:cNvPr id="23" name="Group 23"/>
            <p:cNvGrpSpPr/>
            <p:nvPr/>
          </p:nvGrpSpPr>
          <p:grpSpPr>
            <a:xfrm>
              <a:off x="804862" y="3348038"/>
              <a:ext cx="257175" cy="257175"/>
              <a:chOff x="804862" y="3348038"/>
              <a:chExt cx="257175" cy="257175"/>
            </a:xfrm>
          </p:grpSpPr>
          <p:sp>
            <p:nvSpPr>
              <p:cNvPr id="21" name="Freeform 21"/>
              <p:cNvSpPr/>
              <p:nvPr/>
            </p:nvSpPr>
            <p:spPr>
              <a:xfrm>
                <a:off x="804862" y="334803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0052A6"/>
                </a:solidFill>
              </a:ln>
            </p:spPr>
          </p:sp>
          <p:sp>
            <p:nvSpPr>
              <p:cNvPr id="22" name="Freeform 22"/>
              <p:cNvSpPr/>
              <p:nvPr/>
            </p:nvSpPr>
            <p:spPr>
              <a:xfrm>
                <a:off x="976312" y="3519488"/>
                <a:ext cx="85725" cy="85725"/>
              </a:xfrm>
              <a:custGeom>
                <a:avLst/>
                <a:gdLst/>
                <a:ahLst/>
                <a:cxnLst/>
                <a:rect l="l" t="t" r="r" b="b"/>
                <a:pathLst>
                  <a:path w="85725" h="85725">
                    <a:moveTo>
                      <a:pt x="85725" y="85725"/>
                    </a:moveTo>
                    <a:lnTo>
                      <a:pt x="0" y="0"/>
                    </a:lnTo>
                  </a:path>
                </a:pathLst>
              </a:custGeom>
              <a:noFill/>
              <a:ln w="19050">
                <a:solidFill>
                  <a:srgbClr val="0052A6"/>
                </a:solidFill>
              </a:ln>
            </p:spPr>
          </p:sp>
        </p:grpSp>
        <p:sp>
          <p:nvSpPr>
            <p:cNvPr id="24" name="TextBox 24"/>
            <p:cNvSpPr txBox="1"/>
            <p:nvPr/>
          </p:nvSpPr>
          <p:spPr>
            <a:xfrm>
              <a:off x="1225868" y="3276124"/>
              <a:ext cx="1144205" cy="198120"/>
            </a:xfrm>
            <a:prstGeom prst="rect">
              <a:avLst/>
            </a:prstGeom>
            <a:noFill/>
            <a:ln>
              <a:noFill/>
            </a:ln>
          </p:spPr>
          <p:txBody>
            <a:bodyPr wrap="none" lIns="0" tIns="0" rIns="0" bIns="0" anchor="t" anchorCtr="0">
              <a:spAutoFit/>
            </a:bodyPr>
            <a:lstStyle/>
            <a:p>
              <a:pPr algn="l"/>
              <a:r>
                <a:rPr lang="zh-CN" sz="975" b="1" dirty="0">
                  <a:solidFill>
                    <a:srgbClr val="0052A6"/>
                  </a:solidFill>
                  <a:latin typeface="Arial" panose="020B0604020202020204"/>
                  <a:ea typeface="微软雅黑" panose="020B0503020204020204" charset="-122"/>
                  <a:cs typeface="Arial" panose="020B0604020202020204"/>
                </a:rPr>
                <a:t>STEP 2 · 字段提取</a:t>
              </a:r>
              <a:endParaRPr lang="zh-CN" sz="975" b="1" dirty="0">
                <a:solidFill>
                  <a:srgbClr val="0052A6"/>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1223962" y="3507581"/>
              <a:ext cx="2548890"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智能解析提取 10 大关键字段(见右侧)</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26" name="Line 26"/>
            <p:cNvSpPr/>
            <p:nvPr/>
          </p:nvSpPr>
          <p:spPr>
            <a:xfrm>
              <a:off x="3905250" y="3905250"/>
              <a:ext cx="1" cy="238125"/>
            </a:xfrm>
            <a:prstGeom prst="line">
              <a:avLst/>
            </a:prstGeom>
            <a:noFill/>
            <a:ln w="23812">
              <a:solidFill>
                <a:srgbClr val="246BFE"/>
              </a:solidFill>
              <a:tailEnd type="triangle" w="lg" len="lg"/>
            </a:ln>
          </p:spPr>
        </p:sp>
        <p:sp>
          <p:nvSpPr>
            <p:cNvPr id="27" name="Rectangle 27"/>
            <p:cNvSpPr/>
            <p:nvPr/>
          </p:nvSpPr>
          <p:spPr>
            <a:xfrm>
              <a:off x="571500" y="4191000"/>
              <a:ext cx="6667500" cy="762000"/>
            </a:xfrm>
            <a:prstGeom prst="roundRect">
              <a:avLst>
                <a:gd name="adj" fmla="val 12500"/>
              </a:avLst>
            </a:prstGeom>
            <a:solidFill>
              <a:srgbClr val="F4F7FC"/>
            </a:solidFill>
            <a:ln>
              <a:noFill/>
            </a:ln>
          </p:spPr>
        </p:sp>
        <p:grpSp>
          <p:nvGrpSpPr>
            <p:cNvPr id="31" name="Group 31"/>
            <p:cNvGrpSpPr/>
            <p:nvPr/>
          </p:nvGrpSpPr>
          <p:grpSpPr>
            <a:xfrm>
              <a:off x="804862" y="4443412"/>
              <a:ext cx="257175" cy="257175"/>
              <a:chOff x="804862" y="4443412"/>
              <a:chExt cx="257175" cy="257175"/>
            </a:xfrm>
          </p:grpSpPr>
          <p:sp>
            <p:nvSpPr>
              <p:cNvPr id="28" name="Freeform 28"/>
              <p:cNvSpPr/>
              <p:nvPr/>
            </p:nvSpPr>
            <p:spPr>
              <a:xfrm>
                <a:off x="919162" y="45577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F59E0B"/>
                </a:solidFill>
              </a:ln>
            </p:spPr>
          </p:sp>
          <p:sp>
            <p:nvSpPr>
              <p:cNvPr id="29" name="Freeform 29"/>
              <p:cNvSpPr/>
              <p:nvPr/>
            </p:nvSpPr>
            <p:spPr>
              <a:xfrm>
                <a:off x="862012" y="450056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F59E0B"/>
                </a:solidFill>
              </a:ln>
            </p:spPr>
          </p:sp>
          <p:sp>
            <p:nvSpPr>
              <p:cNvPr id="30" name="Freeform 30"/>
              <p:cNvSpPr/>
              <p:nvPr/>
            </p:nvSpPr>
            <p:spPr>
              <a:xfrm>
                <a:off x="804862" y="444341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F59E0B"/>
                </a:solidFill>
              </a:ln>
            </p:spPr>
          </p:sp>
        </p:grpSp>
        <p:sp>
          <p:nvSpPr>
            <p:cNvPr id="32" name="TextBox 32"/>
            <p:cNvSpPr txBox="1"/>
            <p:nvPr/>
          </p:nvSpPr>
          <p:spPr>
            <a:xfrm>
              <a:off x="1225868" y="4371499"/>
              <a:ext cx="1144205" cy="198120"/>
            </a:xfrm>
            <a:prstGeom prst="rect">
              <a:avLst/>
            </a:prstGeom>
            <a:noFill/>
            <a:ln>
              <a:noFill/>
            </a:ln>
          </p:spPr>
          <p:txBody>
            <a:bodyPr wrap="none" lIns="0" tIns="0" rIns="0" bIns="0" anchor="t" anchorCtr="0">
              <a:spAutoFit/>
            </a:bodyPr>
            <a:lstStyle/>
            <a:p>
              <a:pPr algn="l"/>
              <a:r>
                <a:rPr lang="zh-CN" sz="975" b="1" dirty="0">
                  <a:solidFill>
                    <a:srgbClr val="F59E0B"/>
                  </a:solidFill>
                  <a:latin typeface="Arial" panose="020B0604020202020204"/>
                  <a:ea typeface="微软雅黑" panose="020B0503020204020204" charset="-122"/>
                  <a:cs typeface="Arial" panose="020B0604020202020204"/>
                </a:rPr>
                <a:t>STEP 3 · 价值评分</a:t>
              </a:r>
              <a:endParaRPr lang="zh-CN" sz="975" b="1" dirty="0">
                <a:solidFill>
                  <a:srgbClr val="F59E0B"/>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1223962" y="4602956"/>
              <a:ext cx="3373993"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panose="020B0604020202020204"/>
                  <a:ea typeface="微软雅黑" panose="020B0503020204020204" charset="-122"/>
                  <a:cs typeface="Arial" panose="020B0604020202020204"/>
                </a:rPr>
                <a:t>按客户规则判断商机价值 → 优先级排序 → 自动去重</a:t>
              </a:r>
              <a:endParaRPr lang="zh-CN" sz="1125" dirty="0">
                <a:solidFill>
                  <a:srgbClr val="25364A"/>
                </a:solidFill>
                <a:latin typeface="Arial" panose="020B0604020202020204"/>
                <a:ea typeface="微软雅黑" panose="020B0503020204020204" charset="-122"/>
                <a:cs typeface="Arial" panose="020B0604020202020204"/>
              </a:endParaRPr>
            </a:p>
          </p:txBody>
        </p:sp>
        <p:sp>
          <p:nvSpPr>
            <p:cNvPr id="34" name="Line 34"/>
            <p:cNvSpPr/>
            <p:nvPr/>
          </p:nvSpPr>
          <p:spPr>
            <a:xfrm>
              <a:off x="3905250" y="5000625"/>
              <a:ext cx="1" cy="238125"/>
            </a:xfrm>
            <a:prstGeom prst="line">
              <a:avLst/>
            </a:prstGeom>
            <a:noFill/>
            <a:ln w="23812">
              <a:solidFill>
                <a:srgbClr val="246BFE"/>
              </a:solidFill>
              <a:tailEnd type="triangle" w="lg" len="lg"/>
            </a:ln>
          </p:spPr>
        </p:sp>
        <p:sp>
          <p:nvSpPr>
            <p:cNvPr id="35" name="Rectangle 35"/>
            <p:cNvSpPr/>
            <p:nvPr/>
          </p:nvSpPr>
          <p:spPr>
            <a:xfrm>
              <a:off x="571500" y="5286375"/>
              <a:ext cx="6667500" cy="762000"/>
            </a:xfrm>
            <a:prstGeom prst="roundRect">
              <a:avLst>
                <a:gd name="adj" fmla="val 12500"/>
              </a:avLst>
            </a:prstGeom>
            <a:solidFill>
              <a:srgbClr val="0E9F6E"/>
            </a:solidFill>
            <a:ln>
              <a:noFill/>
            </a:ln>
          </p:spPr>
        </p:sp>
        <p:grpSp>
          <p:nvGrpSpPr>
            <p:cNvPr id="40" name="Group 40"/>
            <p:cNvGrpSpPr/>
            <p:nvPr/>
          </p:nvGrpSpPr>
          <p:grpSpPr>
            <a:xfrm>
              <a:off x="804862" y="5538788"/>
              <a:ext cx="257175" cy="257175"/>
              <a:chOff x="804862" y="5538788"/>
              <a:chExt cx="257175" cy="257175"/>
            </a:xfrm>
          </p:grpSpPr>
          <p:sp>
            <p:nvSpPr>
              <p:cNvPr id="36" name="Freeform 36"/>
              <p:cNvSpPr/>
              <p:nvPr/>
            </p:nvSpPr>
            <p:spPr>
              <a:xfrm>
                <a:off x="833438" y="5538788"/>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sp>
          <p:sp>
            <p:nvSpPr>
              <p:cNvPr id="37" name="Freeform 37"/>
              <p:cNvSpPr/>
              <p:nvPr/>
            </p:nvSpPr>
            <p:spPr>
              <a:xfrm>
                <a:off x="804862" y="5710238"/>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sp>
          <p:sp>
            <p:nvSpPr>
              <p:cNvPr id="38" name="Freeform 38"/>
              <p:cNvSpPr/>
              <p:nvPr/>
            </p:nvSpPr>
            <p:spPr>
              <a:xfrm>
                <a:off x="990600" y="5540645"/>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sp>
          <p:sp>
            <p:nvSpPr>
              <p:cNvPr id="39" name="Freeform 39"/>
              <p:cNvSpPr/>
              <p:nvPr/>
            </p:nvSpPr>
            <p:spPr>
              <a:xfrm>
                <a:off x="1019175" y="5712381"/>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sp>
        </p:grpSp>
        <p:sp>
          <p:nvSpPr>
            <p:cNvPr id="41" name="TextBox 41"/>
            <p:cNvSpPr txBox="1"/>
            <p:nvPr/>
          </p:nvSpPr>
          <p:spPr>
            <a:xfrm>
              <a:off x="1225868" y="5466874"/>
              <a:ext cx="1144205"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panose="020B0604020202020204"/>
                  <a:ea typeface="微软雅黑" panose="020B0503020204020204" charset="-122"/>
                  <a:cs typeface="Arial" panose="020B0604020202020204"/>
                </a:rPr>
                <a:t>STEP 4 · 自动分配</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1223962" y="5698331"/>
              <a:ext cx="3516511"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结构化线索自动推送对应商务 → 记录来源/跟进/转化</a:t>
              </a:r>
              <a:endParaRPr lang="zh-CN" sz="1125" dirty="0">
                <a:solidFill>
                  <a:srgbClr val="FFFFFF"/>
                </a:solidFill>
                <a:latin typeface="Arial" panose="020B0604020202020204"/>
                <a:ea typeface="微软雅黑" panose="020B0503020204020204" charset="-122"/>
                <a:cs typeface="Arial" panose="020B0604020202020204"/>
              </a:endParaRPr>
            </a:p>
          </p:txBody>
        </p:sp>
      </p:grpSp>
      <p:grpSp>
        <p:nvGrpSpPr>
          <p:cNvPr id="76" name="Group 76"/>
          <p:cNvGrpSpPr/>
          <p:nvPr/>
        </p:nvGrpSpPr>
        <p:grpSpPr>
          <a:xfrm>
            <a:off x="7429500" y="2000250"/>
            <a:ext cx="4191000" cy="4062412"/>
            <a:chOff x="7429500" y="2000250"/>
            <a:chExt cx="4191000" cy="4062412"/>
          </a:xfrm>
        </p:grpSpPr>
        <p:sp>
          <p:nvSpPr>
            <p:cNvPr id="44" name="Rectangle 44"/>
            <p:cNvSpPr/>
            <p:nvPr/>
          </p:nvSpPr>
          <p:spPr>
            <a:xfrm>
              <a:off x="7429500" y="2000250"/>
              <a:ext cx="4191000" cy="4048125"/>
            </a:xfrm>
            <a:prstGeom prst="roundRect">
              <a:avLst>
                <a:gd name="adj" fmla="val 2824"/>
              </a:avLst>
            </a:prstGeom>
            <a:solidFill>
              <a:srgbClr val="17365D"/>
            </a:solidFill>
            <a:ln>
              <a:noFill/>
            </a:ln>
          </p:spPr>
        </p:sp>
        <p:sp>
          <p:nvSpPr>
            <p:cNvPr id="45" name="TextBox 45"/>
            <p:cNvSpPr txBox="1"/>
            <p:nvPr/>
          </p:nvSpPr>
          <p:spPr>
            <a:xfrm>
              <a:off x="7607618" y="2228374"/>
              <a:ext cx="1348981" cy="198120"/>
            </a:xfrm>
            <a:prstGeom prst="rect">
              <a:avLst/>
            </a:prstGeom>
            <a:noFill/>
            <a:ln>
              <a:noFill/>
            </a:ln>
          </p:spPr>
          <p:txBody>
            <a:bodyPr wrap="none" lIns="0" tIns="0" rIns="0" bIns="0" anchor="t" anchorCtr="0">
              <a:spAutoFit/>
            </a:bodyPr>
            <a:lstStyle/>
            <a:p>
              <a:pPr algn="l"/>
              <a:r>
                <a:rPr lang="zh-CN" sz="975" b="1" dirty="0">
                  <a:solidFill>
                    <a:srgbClr val="518FEC"/>
                  </a:solidFill>
                  <a:latin typeface="Arial" panose="020B0604020202020204"/>
                  <a:ea typeface="微软雅黑" panose="020B0503020204020204" charset="-122"/>
                  <a:cs typeface="Arial" panose="020B0604020202020204"/>
                </a:rPr>
                <a:t>提取的 10 大关键字段</a:t>
              </a:r>
              <a:endParaRPr lang="zh-CN" sz="975" b="1" dirty="0">
                <a:solidFill>
                  <a:srgbClr val="518FEC"/>
                </a:solidFill>
                <a:latin typeface="Arial" panose="020B0604020202020204"/>
                <a:ea typeface="微软雅黑" panose="020B0503020204020204" charset="-122"/>
                <a:cs typeface="Arial" panose="020B0604020202020204"/>
              </a:endParaRPr>
            </a:p>
          </p:txBody>
        </p:sp>
        <p:sp>
          <p:nvSpPr>
            <p:cNvPr id="46" name="Line 46"/>
            <p:cNvSpPr/>
            <p:nvPr/>
          </p:nvSpPr>
          <p:spPr>
            <a:xfrm>
              <a:off x="7620000" y="2457450"/>
              <a:ext cx="1524000" cy="9525"/>
            </a:xfrm>
            <a:custGeom>
              <a:avLst/>
              <a:gdLst/>
              <a:ahLst/>
              <a:cxnLst/>
              <a:rect l="l" t="t" r="r" b="b"/>
              <a:pathLst>
                <a:path w="1524000" h="9525">
                  <a:moveTo>
                    <a:pt x="0" y="0"/>
                  </a:moveTo>
                  <a:lnTo>
                    <a:pt x="1524000" y="0"/>
                  </a:lnTo>
                </a:path>
              </a:pathLst>
            </a:custGeom>
            <a:noFill/>
            <a:ln w="19050">
              <a:solidFill>
                <a:srgbClr val="518FEC"/>
              </a:solidFill>
            </a:ln>
          </p:spPr>
        </p:sp>
        <p:sp>
          <p:nvSpPr>
            <p:cNvPr id="47" name="Ellipse 47"/>
            <p:cNvSpPr/>
            <p:nvPr/>
          </p:nvSpPr>
          <p:spPr>
            <a:xfrm>
              <a:off x="7686675" y="2781300"/>
              <a:ext cx="57150" cy="57150"/>
            </a:xfrm>
            <a:prstGeom prst="ellipse">
              <a:avLst/>
            </a:prstGeom>
            <a:solidFill>
              <a:srgbClr val="518FEC"/>
            </a:solidFill>
            <a:ln>
              <a:noFill/>
            </a:ln>
          </p:spPr>
        </p:sp>
        <p:sp>
          <p:nvSpPr>
            <p:cNvPr id="48" name="TextBox 48"/>
            <p:cNvSpPr txBox="1"/>
            <p:nvPr/>
          </p:nvSpPr>
          <p:spPr>
            <a:xfrm>
              <a:off x="7834312" y="2736056"/>
              <a:ext cx="62865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项目名称</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49" name="Ellipse 49"/>
            <p:cNvSpPr/>
            <p:nvPr/>
          </p:nvSpPr>
          <p:spPr>
            <a:xfrm>
              <a:off x="9591675" y="2781300"/>
              <a:ext cx="57150" cy="57150"/>
            </a:xfrm>
            <a:prstGeom prst="ellipse">
              <a:avLst/>
            </a:prstGeom>
            <a:solidFill>
              <a:srgbClr val="518FEC"/>
            </a:solidFill>
            <a:ln>
              <a:noFill/>
            </a:ln>
          </p:spPr>
        </p:sp>
        <p:sp>
          <p:nvSpPr>
            <p:cNvPr id="50" name="TextBox 50"/>
            <p:cNvSpPr txBox="1"/>
            <p:nvPr/>
          </p:nvSpPr>
          <p:spPr>
            <a:xfrm>
              <a:off x="9739312" y="2736056"/>
              <a:ext cx="62865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项目地址</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51" name="Ellipse 51"/>
            <p:cNvSpPr/>
            <p:nvPr/>
          </p:nvSpPr>
          <p:spPr>
            <a:xfrm>
              <a:off x="7686675" y="3162300"/>
              <a:ext cx="57150" cy="57150"/>
            </a:xfrm>
            <a:prstGeom prst="ellipse">
              <a:avLst/>
            </a:prstGeom>
            <a:solidFill>
              <a:srgbClr val="518FEC"/>
            </a:solidFill>
            <a:ln>
              <a:noFill/>
            </a:ln>
          </p:spPr>
        </p:sp>
        <p:sp>
          <p:nvSpPr>
            <p:cNvPr id="52" name="TextBox 52"/>
            <p:cNvSpPr txBox="1"/>
            <p:nvPr/>
          </p:nvSpPr>
          <p:spPr>
            <a:xfrm>
              <a:off x="7834312" y="3117056"/>
              <a:ext cx="62865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建筑面积</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53" name="Ellipse 53"/>
            <p:cNvSpPr/>
            <p:nvPr/>
          </p:nvSpPr>
          <p:spPr>
            <a:xfrm>
              <a:off x="9591675" y="3162300"/>
              <a:ext cx="57150" cy="57150"/>
            </a:xfrm>
            <a:prstGeom prst="ellipse">
              <a:avLst/>
            </a:prstGeom>
            <a:solidFill>
              <a:srgbClr val="518FEC"/>
            </a:solidFill>
            <a:ln>
              <a:noFill/>
            </a:ln>
          </p:spPr>
        </p:sp>
        <p:sp>
          <p:nvSpPr>
            <p:cNvPr id="54" name="TextBox 54"/>
            <p:cNvSpPr txBox="1"/>
            <p:nvPr/>
          </p:nvSpPr>
          <p:spPr>
            <a:xfrm>
              <a:off x="9739312" y="3117056"/>
              <a:ext cx="62865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建设进度</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55" name="Ellipse 55"/>
            <p:cNvSpPr/>
            <p:nvPr/>
          </p:nvSpPr>
          <p:spPr>
            <a:xfrm>
              <a:off x="7686675" y="3543300"/>
              <a:ext cx="57150" cy="57150"/>
            </a:xfrm>
            <a:prstGeom prst="ellipse">
              <a:avLst/>
            </a:prstGeom>
            <a:solidFill>
              <a:srgbClr val="518FEC"/>
            </a:solidFill>
            <a:ln>
              <a:noFill/>
            </a:ln>
          </p:spPr>
        </p:sp>
        <p:sp>
          <p:nvSpPr>
            <p:cNvPr id="56" name="TextBox 56"/>
            <p:cNvSpPr txBox="1"/>
            <p:nvPr/>
          </p:nvSpPr>
          <p:spPr>
            <a:xfrm>
              <a:off x="7834312" y="3498056"/>
              <a:ext cx="62865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业主单位</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57" name="Ellipse 57"/>
            <p:cNvSpPr/>
            <p:nvPr/>
          </p:nvSpPr>
          <p:spPr>
            <a:xfrm>
              <a:off x="9591675" y="3543300"/>
              <a:ext cx="57150" cy="57150"/>
            </a:xfrm>
            <a:prstGeom prst="ellipse">
              <a:avLst/>
            </a:prstGeom>
            <a:solidFill>
              <a:srgbClr val="518FEC"/>
            </a:solidFill>
            <a:ln>
              <a:noFill/>
            </a:ln>
          </p:spPr>
        </p:sp>
        <p:sp>
          <p:nvSpPr>
            <p:cNvPr id="58" name="TextBox 58"/>
            <p:cNvSpPr txBox="1"/>
            <p:nvPr/>
          </p:nvSpPr>
          <p:spPr>
            <a:xfrm>
              <a:off x="9739312" y="3498056"/>
              <a:ext cx="478631"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投资方</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59" name="Ellipse 59"/>
            <p:cNvSpPr/>
            <p:nvPr/>
          </p:nvSpPr>
          <p:spPr>
            <a:xfrm>
              <a:off x="7686675" y="3924300"/>
              <a:ext cx="57150" cy="57150"/>
            </a:xfrm>
            <a:prstGeom prst="ellipse">
              <a:avLst/>
            </a:prstGeom>
            <a:solidFill>
              <a:srgbClr val="518FEC"/>
            </a:solidFill>
            <a:ln>
              <a:noFill/>
            </a:ln>
          </p:spPr>
        </p:sp>
        <p:sp>
          <p:nvSpPr>
            <p:cNvPr id="60" name="TextBox 60"/>
            <p:cNvSpPr txBox="1"/>
            <p:nvPr/>
          </p:nvSpPr>
          <p:spPr>
            <a:xfrm>
              <a:off x="7834312" y="3879056"/>
              <a:ext cx="478631"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交易方</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61" name="Ellipse 61"/>
            <p:cNvSpPr/>
            <p:nvPr/>
          </p:nvSpPr>
          <p:spPr>
            <a:xfrm>
              <a:off x="9591675" y="3924300"/>
              <a:ext cx="57150" cy="57150"/>
            </a:xfrm>
            <a:prstGeom prst="ellipse">
              <a:avLst/>
            </a:prstGeom>
            <a:solidFill>
              <a:srgbClr val="518FEC"/>
            </a:solidFill>
            <a:ln>
              <a:noFill/>
            </a:ln>
          </p:spPr>
        </p:sp>
        <p:sp>
          <p:nvSpPr>
            <p:cNvPr id="62" name="TextBox 62"/>
            <p:cNvSpPr txBox="1"/>
            <p:nvPr/>
          </p:nvSpPr>
          <p:spPr>
            <a:xfrm>
              <a:off x="9739312" y="3879056"/>
              <a:ext cx="478631"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联系人</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63" name="Ellipse 63"/>
            <p:cNvSpPr/>
            <p:nvPr/>
          </p:nvSpPr>
          <p:spPr>
            <a:xfrm>
              <a:off x="7686675" y="4305300"/>
              <a:ext cx="57150" cy="57150"/>
            </a:xfrm>
            <a:prstGeom prst="ellipse">
              <a:avLst/>
            </a:prstGeom>
            <a:solidFill>
              <a:srgbClr val="518FEC"/>
            </a:solidFill>
            <a:ln>
              <a:noFill/>
            </a:ln>
          </p:spPr>
        </p:sp>
        <p:sp>
          <p:nvSpPr>
            <p:cNvPr id="64" name="TextBox 64"/>
            <p:cNvSpPr txBox="1"/>
            <p:nvPr/>
          </p:nvSpPr>
          <p:spPr>
            <a:xfrm>
              <a:off x="7834312" y="4260056"/>
              <a:ext cx="328612"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预算</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65" name="Ellipse 65"/>
            <p:cNvSpPr/>
            <p:nvPr/>
          </p:nvSpPr>
          <p:spPr>
            <a:xfrm>
              <a:off x="9591675" y="4305300"/>
              <a:ext cx="57150" cy="57150"/>
            </a:xfrm>
            <a:prstGeom prst="ellipse">
              <a:avLst/>
            </a:prstGeom>
            <a:solidFill>
              <a:srgbClr val="518FEC"/>
            </a:solidFill>
            <a:ln>
              <a:noFill/>
            </a:ln>
          </p:spPr>
        </p:sp>
        <p:sp>
          <p:nvSpPr>
            <p:cNvPr id="66" name="TextBox 66"/>
            <p:cNvSpPr txBox="1"/>
            <p:nvPr/>
          </p:nvSpPr>
          <p:spPr>
            <a:xfrm>
              <a:off x="9739312" y="4260056"/>
              <a:ext cx="62865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招标时间</a:t>
              </a:r>
              <a:endParaRPr lang="zh-CN" sz="1125" dirty="0">
                <a:solidFill>
                  <a:srgbClr val="FFFFFF"/>
                </a:solidFill>
                <a:latin typeface="Arial" panose="020B0604020202020204"/>
                <a:ea typeface="微软雅黑" panose="020B0503020204020204" charset="-122"/>
                <a:cs typeface="Arial" panose="020B0604020202020204"/>
              </a:endParaRPr>
            </a:p>
          </p:txBody>
        </p:sp>
        <p:sp>
          <p:nvSpPr>
            <p:cNvPr id="67" name="Line 67"/>
            <p:cNvSpPr/>
            <p:nvPr/>
          </p:nvSpPr>
          <p:spPr>
            <a:xfrm>
              <a:off x="7620000" y="4714875"/>
              <a:ext cx="3810000" cy="9525"/>
            </a:xfrm>
            <a:custGeom>
              <a:avLst/>
              <a:gdLst/>
              <a:ahLst/>
              <a:cxnLst/>
              <a:rect l="l" t="t" r="r" b="b"/>
              <a:pathLst>
                <a:path w="3810000" h="9525">
                  <a:moveTo>
                    <a:pt x="0" y="0"/>
                  </a:moveTo>
                  <a:lnTo>
                    <a:pt x="3810000" y="0"/>
                  </a:lnTo>
                </a:path>
              </a:pathLst>
            </a:custGeom>
            <a:noFill/>
            <a:ln w="9525">
              <a:solidFill>
                <a:srgbClr val="518FEC">
                  <a:alpha val="30000"/>
                </a:srgbClr>
              </a:solidFill>
            </a:ln>
          </p:spPr>
        </p:sp>
        <p:grpSp>
          <p:nvGrpSpPr>
            <p:cNvPr id="71" name="Group 71"/>
            <p:cNvGrpSpPr/>
            <p:nvPr/>
          </p:nvGrpSpPr>
          <p:grpSpPr>
            <a:xfrm>
              <a:off x="7653338" y="4938712"/>
              <a:ext cx="200025" cy="200025"/>
              <a:chOff x="7653338" y="4938712"/>
              <a:chExt cx="200025" cy="200025"/>
            </a:xfrm>
          </p:grpSpPr>
          <p:sp>
            <p:nvSpPr>
              <p:cNvPr id="68" name="Freeform 68"/>
              <p:cNvSpPr/>
              <p:nvPr/>
            </p:nvSpPr>
            <p:spPr>
              <a:xfrm>
                <a:off x="7653338" y="4938712"/>
                <a:ext cx="200025" cy="100012"/>
              </a:xfrm>
              <a:custGeom>
                <a:avLst/>
                <a:gdLst/>
                <a:ahLst/>
                <a:cxnLst/>
                <a:rect l="l" t="t" r="r" b="b"/>
                <a:pathLst>
                  <a:path w="200025" h="100012">
                    <a:moveTo>
                      <a:pt x="0" y="100012"/>
                    </a:moveTo>
                    <a:lnTo>
                      <a:pt x="11112" y="100012"/>
                    </a:lnTo>
                    <a:moveTo>
                      <a:pt x="100012" y="0"/>
                    </a:moveTo>
                    <a:lnTo>
                      <a:pt x="100012" y="11112"/>
                    </a:lnTo>
                    <a:moveTo>
                      <a:pt x="188913" y="100012"/>
                    </a:moveTo>
                    <a:lnTo>
                      <a:pt x="200025" y="100012"/>
                    </a:lnTo>
                    <a:moveTo>
                      <a:pt x="28892" y="28892"/>
                    </a:moveTo>
                    <a:lnTo>
                      <a:pt x="36671" y="36671"/>
                    </a:lnTo>
                    <a:moveTo>
                      <a:pt x="171133" y="28892"/>
                    </a:moveTo>
                    <a:lnTo>
                      <a:pt x="163354" y="36671"/>
                    </a:lnTo>
                  </a:path>
                </a:pathLst>
              </a:custGeom>
              <a:noFill/>
              <a:ln w="19050">
                <a:solidFill>
                  <a:srgbClr val="F59E0B"/>
                </a:solidFill>
              </a:ln>
            </p:spPr>
          </p:sp>
          <p:sp>
            <p:nvSpPr>
              <p:cNvPr id="69" name="Freeform 69"/>
              <p:cNvSpPr/>
              <p:nvPr/>
            </p:nvSpPr>
            <p:spPr>
              <a:xfrm>
                <a:off x="7693076" y="4983162"/>
                <a:ext cx="120548" cy="155575"/>
              </a:xfrm>
              <a:custGeom>
                <a:avLst/>
                <a:gdLst/>
                <a:ahLst/>
                <a:cxnLst/>
                <a:rect l="l" t="t" r="r" b="b"/>
                <a:pathLst>
                  <a:path w="120548" h="155575">
                    <a:moveTo>
                      <a:pt x="26937" y="100012"/>
                    </a:moveTo>
                    <a:cubicBezTo>
                      <a:pt x="7804" y="85663"/>
                      <a:pt x="0" y="60681"/>
                      <a:pt x="7563" y="37992"/>
                    </a:cubicBezTo>
                    <a:cubicBezTo>
                      <a:pt x="15126" y="15304"/>
                      <a:pt x="36358" y="0"/>
                      <a:pt x="60274" y="0"/>
                    </a:cubicBezTo>
                    <a:cubicBezTo>
                      <a:pt x="84190" y="0"/>
                      <a:pt x="105422" y="15304"/>
                      <a:pt x="112985" y="37992"/>
                    </a:cubicBezTo>
                    <a:cubicBezTo>
                      <a:pt x="120548" y="60681"/>
                      <a:pt x="112744" y="85663"/>
                      <a:pt x="93612" y="100012"/>
                    </a:cubicBezTo>
                    <a:cubicBezTo>
                      <a:pt x="84812" y="108723"/>
                      <a:pt x="80686" y="121102"/>
                      <a:pt x="82499" y="133350"/>
                    </a:cubicBezTo>
                    <a:cubicBezTo>
                      <a:pt x="82499" y="145625"/>
                      <a:pt x="72549" y="155575"/>
                      <a:pt x="60274" y="155575"/>
                    </a:cubicBezTo>
                    <a:cubicBezTo>
                      <a:pt x="48000" y="155575"/>
                      <a:pt x="38049" y="145625"/>
                      <a:pt x="38049" y="133350"/>
                    </a:cubicBezTo>
                    <a:cubicBezTo>
                      <a:pt x="39862" y="121102"/>
                      <a:pt x="35736" y="108723"/>
                      <a:pt x="26937" y="100012"/>
                    </a:cubicBezTo>
                  </a:path>
                </a:pathLst>
              </a:custGeom>
              <a:noFill/>
              <a:ln w="19050">
                <a:solidFill>
                  <a:srgbClr val="F59E0B"/>
                </a:solidFill>
              </a:ln>
            </p:spPr>
          </p:sp>
          <p:sp>
            <p:nvSpPr>
              <p:cNvPr id="70" name="Freeform 70"/>
              <p:cNvSpPr/>
              <p:nvPr/>
            </p:nvSpPr>
            <p:spPr>
              <a:xfrm>
                <a:off x="7727791" y="5094288"/>
                <a:ext cx="51117" cy="9525"/>
              </a:xfrm>
              <a:custGeom>
                <a:avLst/>
                <a:gdLst/>
                <a:ahLst/>
                <a:cxnLst/>
                <a:rect l="l" t="t" r="r" b="b"/>
                <a:pathLst>
                  <a:path w="51117" h="9525">
                    <a:moveTo>
                      <a:pt x="0" y="0"/>
                    </a:moveTo>
                    <a:lnTo>
                      <a:pt x="51117" y="0"/>
                    </a:lnTo>
                  </a:path>
                </a:pathLst>
              </a:custGeom>
              <a:noFill/>
              <a:ln w="19050">
                <a:solidFill>
                  <a:srgbClr val="F59E0B"/>
                </a:solidFill>
              </a:ln>
            </p:spPr>
          </p:sp>
        </p:grpSp>
        <p:sp>
          <p:nvSpPr>
            <p:cNvPr id="72" name="TextBox 72"/>
            <p:cNvSpPr txBox="1"/>
            <p:nvPr/>
          </p:nvSpPr>
          <p:spPr>
            <a:xfrm>
              <a:off x="7968615" y="4982528"/>
              <a:ext cx="776464"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价值(预估)</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73" name="TextBox 73"/>
            <p:cNvSpPr txBox="1"/>
            <p:nvPr/>
          </p:nvSpPr>
          <p:spPr>
            <a:xfrm>
              <a:off x="7606665" y="5315902"/>
              <a:ext cx="1685877"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panose="020B0604020202020204"/>
                  <a:ea typeface="微软雅黑" panose="020B0503020204020204" charset="-122"/>
                  <a:cs typeface="Arial" panose="020B0604020202020204"/>
                </a:rPr>
                <a:t>商机发现时效 </a:t>
              </a:r>
              <a:r>
                <a:rPr lang="zh-CN" sz="1050" b="1" dirty="0">
                  <a:solidFill>
                    <a:srgbClr val="FFFFFF"/>
                  </a:solidFill>
                  <a:latin typeface="Arial" panose="020B0604020202020204"/>
                  <a:ea typeface="微软雅黑" panose="020B0503020204020204" charset="-122"/>
                  <a:cs typeface="Arial" panose="020B0604020202020204"/>
                </a:rPr>
                <a:t>天级→小时级</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74" name="TextBox 74"/>
            <p:cNvSpPr txBox="1"/>
            <p:nvPr/>
          </p:nvSpPr>
          <p:spPr>
            <a:xfrm>
              <a:off x="7606665" y="5582602"/>
              <a:ext cx="1104805"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panose="020B0604020202020204"/>
                  <a:ea typeface="微软雅黑" panose="020B0503020204020204" charset="-122"/>
                  <a:cs typeface="Arial" panose="020B0604020202020204"/>
                </a:rPr>
                <a:t>商机覆盖率 </a:t>
              </a:r>
              <a:r>
                <a:rPr lang="zh-CN" sz="1050" b="1" dirty="0">
                  <a:solidFill>
                    <a:srgbClr val="FFFFFF"/>
                  </a:solidFill>
                  <a:latin typeface="Arial" panose="020B0604020202020204"/>
                  <a:ea typeface="微软雅黑" panose="020B0503020204020204" charset="-122"/>
                  <a:cs typeface="Arial" panose="020B0604020202020204"/>
                </a:rPr>
                <a:t>↑3 倍</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75" name="TextBox 75"/>
            <p:cNvSpPr txBox="1"/>
            <p:nvPr/>
          </p:nvSpPr>
          <p:spPr>
            <a:xfrm>
              <a:off x="7606665" y="5849302"/>
              <a:ext cx="1188815"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panose="020B0604020202020204"/>
                  <a:ea typeface="微软雅黑" panose="020B0503020204020204" charset="-122"/>
                  <a:cs typeface="Arial" panose="020B0604020202020204"/>
                </a:rPr>
                <a:t>重复信息 </a:t>
              </a:r>
              <a:r>
                <a:rPr lang="zh-CN" sz="1050" b="1" dirty="0">
                  <a:solidFill>
                    <a:srgbClr val="FFFFFF"/>
                  </a:solidFill>
                  <a:latin typeface="Arial" panose="020B0604020202020204"/>
                  <a:ea typeface="微软雅黑" panose="020B0503020204020204" charset="-122"/>
                  <a:cs typeface="Arial" panose="020B0604020202020204"/>
                </a:rPr>
                <a:t>自动去重</a:t>
              </a:r>
              <a:endParaRPr lang="zh-CN" sz="1050" b="1" dirty="0">
                <a:solidFill>
                  <a:srgbClr val="FFFFFF"/>
                </a:solidFill>
                <a:latin typeface="Arial" panose="020B0604020202020204"/>
                <a:ea typeface="微软雅黑" panose="020B0503020204020204" charset="-122"/>
                <a:cs typeface="Arial" panose="020B0604020202020204"/>
              </a:endParaRPr>
            </a:p>
          </p:txBody>
        </p:sp>
      </p:grpSp>
      <p:grpSp>
        <p:nvGrpSpPr>
          <p:cNvPr id="79" name="Group 79"/>
          <p:cNvGrpSpPr/>
          <p:nvPr/>
        </p:nvGrpSpPr>
        <p:grpSpPr>
          <a:xfrm>
            <a:off x="561022" y="6578441"/>
            <a:ext cx="11069955" cy="167640"/>
            <a:chOff x="561022" y="6578441"/>
            <a:chExt cx="11069955" cy="167640"/>
          </a:xfrm>
        </p:grpSpPr>
        <p:sp>
          <p:nvSpPr>
            <p:cNvPr id="77" name="TextBox 77"/>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78" name="TextBox 78"/>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14</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400"/>
                                        <p:tgtEl>
                                          <p:spTgt spid="4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slide(fromBottom)">
                                      <p:cBhvr>
                                        <p:cTn id="11" dur="4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7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5684520" cy="970598"/>
            <a:chOff x="542925" y="553402"/>
            <a:chExt cx="5684520" cy="970598"/>
          </a:xfrm>
        </p:grpSpPr>
        <p:sp>
          <p:nvSpPr>
            <p:cNvPr id="5" name="TextBox 5"/>
            <p:cNvSpPr txBox="1"/>
            <p:nvPr/>
          </p:nvSpPr>
          <p:spPr>
            <a:xfrm>
              <a:off x="558165" y="553402"/>
              <a:ext cx="1283677"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03 场景方案 · 投标</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4829997"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智能投标 — 标书生产全流程智能化</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5671185"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从招标文件解析到投标材料完整性校验,AI 全流程辅助,降废标风险、提标书质量</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65" name="Group 65"/>
          <p:cNvGrpSpPr/>
          <p:nvPr/>
        </p:nvGrpSpPr>
        <p:grpSpPr>
          <a:xfrm>
            <a:off x="558165" y="1696402"/>
            <a:ext cx="11062335" cy="2399348"/>
            <a:chOff x="558165" y="1696402"/>
            <a:chExt cx="11062335" cy="2399348"/>
          </a:xfrm>
        </p:grpSpPr>
        <p:sp>
          <p:nvSpPr>
            <p:cNvPr id="9" name="TextBox 9"/>
            <p:cNvSpPr txBox="1"/>
            <p:nvPr/>
          </p:nvSpPr>
          <p:spPr>
            <a:xfrm>
              <a:off x="558165" y="1696402"/>
              <a:ext cx="1754136" cy="213360"/>
            </a:xfrm>
            <a:prstGeom prst="rect">
              <a:avLst/>
            </a:prstGeom>
            <a:noFill/>
            <a:ln>
              <a:noFill/>
            </a:ln>
          </p:spPr>
          <p:txBody>
            <a:bodyPr wrap="none" lIns="0" tIns="0" rIns="0" bIns="0" anchor="t" anchorCtr="0">
              <a:spAutoFit/>
            </a:bodyPr>
            <a:lstStyle/>
            <a:p>
              <a:pPr algn="l"/>
              <a:r>
                <a:rPr lang="zh-CN" sz="1050" b="1" dirty="0">
                  <a:solidFill>
                    <a:srgbClr val="246BFE"/>
                  </a:solidFill>
                  <a:latin typeface="Arial" panose="020B0604020202020204"/>
                  <a:ea typeface="微软雅黑" panose="020B0503020204020204" charset="-122"/>
                  <a:cs typeface="Arial" panose="020B0604020202020204"/>
                </a:rPr>
                <a:t>投标流水线 · BID PIPELINE</a:t>
              </a:r>
              <a:endParaRPr lang="zh-CN" sz="1050" b="1" dirty="0">
                <a:solidFill>
                  <a:srgbClr val="246BFE"/>
                </a:solidFill>
                <a:latin typeface="Arial" panose="020B0604020202020204"/>
                <a:ea typeface="微软雅黑" panose="020B0503020204020204" charset="-122"/>
                <a:cs typeface="Arial" panose="020B0604020202020204"/>
              </a:endParaRPr>
            </a:p>
          </p:txBody>
        </p:sp>
        <p:sp>
          <p:nvSpPr>
            <p:cNvPr id="10" name="Rectangle 10"/>
            <p:cNvSpPr/>
            <p:nvPr/>
          </p:nvSpPr>
          <p:spPr>
            <a:xfrm>
              <a:off x="571500" y="2000250"/>
              <a:ext cx="11049000" cy="2095500"/>
            </a:xfrm>
            <a:prstGeom prst="roundRect">
              <a:avLst>
                <a:gd name="adj" fmla="val 5455"/>
              </a:avLst>
            </a:prstGeom>
            <a:solidFill>
              <a:srgbClr val="F4F7FC"/>
            </a:solidFill>
            <a:ln>
              <a:noFill/>
            </a:ln>
          </p:spPr>
        </p:sp>
        <p:sp>
          <p:nvSpPr>
            <p:cNvPr id="11" name="Line 11"/>
            <p:cNvSpPr/>
            <p:nvPr/>
          </p:nvSpPr>
          <p:spPr>
            <a:xfrm>
              <a:off x="2143125" y="3048000"/>
              <a:ext cx="361950" cy="1"/>
            </a:xfrm>
            <a:prstGeom prst="line">
              <a:avLst/>
            </a:prstGeom>
            <a:noFill/>
            <a:ln w="23812">
              <a:solidFill>
                <a:srgbClr val="246BFE"/>
              </a:solidFill>
              <a:tailEnd type="triangle" w="lg" len="lg"/>
            </a:ln>
          </p:spPr>
        </p:sp>
        <p:sp>
          <p:nvSpPr>
            <p:cNvPr id="12" name="Line 12"/>
            <p:cNvSpPr/>
            <p:nvPr/>
          </p:nvSpPr>
          <p:spPr>
            <a:xfrm>
              <a:off x="3838575" y="3048000"/>
              <a:ext cx="361950" cy="1"/>
            </a:xfrm>
            <a:prstGeom prst="line">
              <a:avLst/>
            </a:prstGeom>
            <a:noFill/>
            <a:ln w="23812">
              <a:solidFill>
                <a:srgbClr val="246BFE"/>
              </a:solidFill>
              <a:tailEnd type="triangle" w="lg" len="lg"/>
            </a:ln>
          </p:spPr>
        </p:sp>
        <p:sp>
          <p:nvSpPr>
            <p:cNvPr id="13" name="Line 13"/>
            <p:cNvSpPr/>
            <p:nvPr/>
          </p:nvSpPr>
          <p:spPr>
            <a:xfrm>
              <a:off x="5534025" y="3048000"/>
              <a:ext cx="361950" cy="1"/>
            </a:xfrm>
            <a:prstGeom prst="line">
              <a:avLst/>
            </a:prstGeom>
            <a:noFill/>
            <a:ln w="23812">
              <a:solidFill>
                <a:srgbClr val="246BFE"/>
              </a:solidFill>
              <a:tailEnd type="triangle" w="lg" len="lg"/>
            </a:ln>
          </p:spPr>
        </p:sp>
        <p:sp>
          <p:nvSpPr>
            <p:cNvPr id="14" name="Line 14"/>
            <p:cNvSpPr/>
            <p:nvPr/>
          </p:nvSpPr>
          <p:spPr>
            <a:xfrm>
              <a:off x="7229475" y="3048000"/>
              <a:ext cx="361950" cy="1"/>
            </a:xfrm>
            <a:prstGeom prst="line">
              <a:avLst/>
            </a:prstGeom>
            <a:noFill/>
            <a:ln w="23812">
              <a:solidFill>
                <a:srgbClr val="246BFE"/>
              </a:solidFill>
              <a:tailEnd type="triangle" w="lg" len="lg"/>
            </a:ln>
          </p:spPr>
        </p:sp>
        <p:sp>
          <p:nvSpPr>
            <p:cNvPr id="15" name="Line 15"/>
            <p:cNvSpPr/>
            <p:nvPr/>
          </p:nvSpPr>
          <p:spPr>
            <a:xfrm>
              <a:off x="8924925" y="3048000"/>
              <a:ext cx="361950" cy="1"/>
            </a:xfrm>
            <a:prstGeom prst="line">
              <a:avLst/>
            </a:prstGeom>
            <a:noFill/>
            <a:ln w="23812">
              <a:solidFill>
                <a:srgbClr val="246BFE"/>
              </a:solidFill>
              <a:tailEnd type="triangle" w="lg" len="lg"/>
            </a:ln>
          </p:spPr>
        </p:sp>
        <p:grpSp>
          <p:nvGrpSpPr>
            <p:cNvPr id="25" name="Group 25"/>
            <p:cNvGrpSpPr/>
            <p:nvPr/>
          </p:nvGrpSpPr>
          <p:grpSpPr>
            <a:xfrm>
              <a:off x="666750" y="2571750"/>
              <a:ext cx="1476375" cy="954881"/>
              <a:chOff x="666750" y="2571750"/>
              <a:chExt cx="1476375" cy="954881"/>
            </a:xfrm>
          </p:grpSpPr>
          <p:sp>
            <p:nvSpPr>
              <p:cNvPr id="16" name="Rectangle 16"/>
              <p:cNvSpPr/>
              <p:nvPr/>
            </p:nvSpPr>
            <p:spPr>
              <a:xfrm>
                <a:off x="666750" y="2571750"/>
                <a:ext cx="1476375" cy="952500"/>
              </a:xfrm>
              <a:prstGeom prst="roundRect">
                <a:avLst>
                  <a:gd name="adj" fmla="val 10000"/>
                </a:avLst>
              </a:prstGeom>
              <a:solidFill>
                <a:srgbClr val="246BFE"/>
              </a:solidFill>
              <a:ln>
                <a:noFill/>
              </a:ln>
            </p:spPr>
          </p:sp>
          <p:grpSp>
            <p:nvGrpSpPr>
              <p:cNvPr id="22" name="Group 22"/>
              <p:cNvGrpSpPr/>
              <p:nvPr/>
            </p:nvGrpSpPr>
            <p:grpSpPr>
              <a:xfrm>
                <a:off x="1285081" y="2778919"/>
                <a:ext cx="211138" cy="271462"/>
                <a:chOff x="1285081" y="2778919"/>
                <a:chExt cx="211138" cy="271462"/>
              </a:xfrm>
            </p:grpSpPr>
            <p:sp>
              <p:nvSpPr>
                <p:cNvPr id="17" name="Freeform 17"/>
                <p:cNvSpPr/>
                <p:nvPr/>
              </p:nvSpPr>
              <p:spPr>
                <a:xfrm>
                  <a:off x="1420812" y="2778919"/>
                  <a:ext cx="75406" cy="75406"/>
                </a:xfrm>
                <a:custGeom>
                  <a:avLst/>
                  <a:gdLst/>
                  <a:ahLst/>
                  <a:cxnLst/>
                  <a:rect l="l" t="t" r="r" b="b"/>
                  <a:pathLst>
                    <a:path w="75406" h="75406">
                      <a:moveTo>
                        <a:pt x="0" y="0"/>
                      </a:moveTo>
                      <a:lnTo>
                        <a:pt x="0" y="60325"/>
                      </a:lnTo>
                      <a:cubicBezTo>
                        <a:pt x="0" y="68654"/>
                        <a:pt x="6752" y="75406"/>
                        <a:pt x="15081" y="75406"/>
                      </a:cubicBezTo>
                      <a:lnTo>
                        <a:pt x="75406" y="75406"/>
                      </a:lnTo>
                    </a:path>
                  </a:pathLst>
                </a:custGeom>
                <a:noFill/>
                <a:ln w="19050">
                  <a:solidFill>
                    <a:srgbClr val="FFFFFF"/>
                  </a:solidFill>
                </a:ln>
              </p:spPr>
            </p:sp>
            <p:sp>
              <p:nvSpPr>
                <p:cNvPr id="18" name="Freeform 18"/>
                <p:cNvSpPr/>
                <p:nvPr/>
              </p:nvSpPr>
              <p:spPr>
                <a:xfrm>
                  <a:off x="1285081" y="2778919"/>
                  <a:ext cx="211138" cy="271462"/>
                </a:xfrm>
                <a:custGeom>
                  <a:avLst/>
                  <a:gdLst/>
                  <a:ahLst/>
                  <a:cxnLst/>
                  <a:rect l="l" t="t" r="r" b="b"/>
                  <a:pathLst>
                    <a:path w="211138" h="271462">
                      <a:moveTo>
                        <a:pt x="180975" y="271462"/>
                      </a:moveTo>
                      <a:lnTo>
                        <a:pt x="30163" y="271462"/>
                      </a:lnTo>
                      <a:cubicBezTo>
                        <a:pt x="13504" y="271462"/>
                        <a:pt x="0" y="257958"/>
                        <a:pt x="0" y="241300"/>
                      </a:cubicBezTo>
                      <a:lnTo>
                        <a:pt x="0" y="30163"/>
                      </a:lnTo>
                      <a:cubicBezTo>
                        <a:pt x="0" y="13504"/>
                        <a:pt x="13504" y="0"/>
                        <a:pt x="30163" y="0"/>
                      </a:cubicBezTo>
                      <a:lnTo>
                        <a:pt x="135731" y="0"/>
                      </a:lnTo>
                      <a:lnTo>
                        <a:pt x="211138" y="75406"/>
                      </a:lnTo>
                      <a:lnTo>
                        <a:pt x="211138" y="241300"/>
                      </a:lnTo>
                      <a:cubicBezTo>
                        <a:pt x="211138" y="257958"/>
                        <a:pt x="197633" y="271462"/>
                        <a:pt x="180975" y="271462"/>
                      </a:cubicBezTo>
                    </a:path>
                  </a:pathLst>
                </a:custGeom>
                <a:noFill/>
                <a:ln w="19050">
                  <a:solidFill>
                    <a:srgbClr val="FFFFFF"/>
                  </a:solidFill>
                </a:ln>
              </p:spPr>
            </p:sp>
            <p:sp>
              <p:nvSpPr>
                <p:cNvPr id="19" name="Freeform 19"/>
                <p:cNvSpPr/>
                <p:nvPr/>
              </p:nvSpPr>
              <p:spPr>
                <a:xfrm>
                  <a:off x="1345406" y="2869406"/>
                  <a:ext cx="15081" cy="9525"/>
                </a:xfrm>
                <a:custGeom>
                  <a:avLst/>
                  <a:gdLst/>
                  <a:ahLst/>
                  <a:cxnLst/>
                  <a:rect l="l" t="t" r="r" b="b"/>
                  <a:pathLst>
                    <a:path w="15081" h="9525">
                      <a:moveTo>
                        <a:pt x="0" y="0"/>
                      </a:moveTo>
                      <a:lnTo>
                        <a:pt x="15081" y="0"/>
                      </a:lnTo>
                    </a:path>
                  </a:pathLst>
                </a:custGeom>
                <a:noFill/>
                <a:ln w="19050">
                  <a:solidFill>
                    <a:srgbClr val="FFFFFF"/>
                  </a:solidFill>
                </a:ln>
              </p:spPr>
            </p:sp>
            <p:sp>
              <p:nvSpPr>
                <p:cNvPr id="20" name="Freeform 20"/>
                <p:cNvSpPr/>
                <p:nvPr/>
              </p:nvSpPr>
              <p:spPr>
                <a:xfrm>
                  <a:off x="1345406" y="2929731"/>
                  <a:ext cx="90488" cy="9525"/>
                </a:xfrm>
                <a:custGeom>
                  <a:avLst/>
                  <a:gdLst/>
                  <a:ahLst/>
                  <a:cxnLst/>
                  <a:rect l="l" t="t" r="r" b="b"/>
                  <a:pathLst>
                    <a:path w="90488" h="9525">
                      <a:moveTo>
                        <a:pt x="0" y="0"/>
                      </a:moveTo>
                      <a:lnTo>
                        <a:pt x="90488" y="0"/>
                      </a:lnTo>
                    </a:path>
                  </a:pathLst>
                </a:custGeom>
                <a:noFill/>
                <a:ln w="19050">
                  <a:solidFill>
                    <a:srgbClr val="FFFFFF"/>
                  </a:solidFill>
                </a:ln>
              </p:spPr>
            </p:sp>
            <p:sp>
              <p:nvSpPr>
                <p:cNvPr id="21" name="Freeform 21"/>
                <p:cNvSpPr/>
                <p:nvPr/>
              </p:nvSpPr>
              <p:spPr>
                <a:xfrm>
                  <a:off x="1345406" y="2990056"/>
                  <a:ext cx="90488" cy="9525"/>
                </a:xfrm>
                <a:custGeom>
                  <a:avLst/>
                  <a:gdLst/>
                  <a:ahLst/>
                  <a:cxnLst/>
                  <a:rect l="l" t="t" r="r" b="b"/>
                  <a:pathLst>
                    <a:path w="90488" h="9525">
                      <a:moveTo>
                        <a:pt x="0" y="0"/>
                      </a:moveTo>
                      <a:lnTo>
                        <a:pt x="90488" y="0"/>
                      </a:lnTo>
                    </a:path>
                  </a:pathLst>
                </a:custGeom>
                <a:noFill/>
                <a:ln w="19050">
                  <a:solidFill>
                    <a:srgbClr val="FFFFFF"/>
                  </a:solidFill>
                </a:ln>
              </p:spPr>
            </p:sp>
          </p:grpSp>
          <p:sp>
            <p:nvSpPr>
              <p:cNvPr id="23" name="TextBox 23"/>
              <p:cNvSpPr txBox="1"/>
              <p:nvPr/>
            </p:nvSpPr>
            <p:spPr>
              <a:xfrm>
                <a:off x="1102328" y="31727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文件解析</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1069181" y="3358991"/>
                <a:ext cx="681038"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招标文件拆解</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2362200" y="2571750"/>
              <a:ext cx="1476375" cy="954881"/>
              <a:chOff x="2362200" y="2571750"/>
              <a:chExt cx="1476375" cy="954881"/>
            </a:xfrm>
          </p:grpSpPr>
          <p:sp>
            <p:nvSpPr>
              <p:cNvPr id="26" name="Rectangle 26"/>
              <p:cNvSpPr/>
              <p:nvPr/>
            </p:nvSpPr>
            <p:spPr>
              <a:xfrm>
                <a:off x="2362200" y="2571750"/>
                <a:ext cx="1476375" cy="952500"/>
              </a:xfrm>
              <a:prstGeom prst="roundRect">
                <a:avLst>
                  <a:gd name="adj" fmla="val 10000"/>
                </a:avLst>
              </a:prstGeom>
              <a:solidFill>
                <a:srgbClr val="0052A6"/>
              </a:solidFill>
              <a:ln>
                <a:noFill/>
              </a:ln>
            </p:spPr>
          </p:sp>
          <p:sp>
            <p:nvSpPr>
              <p:cNvPr id="27" name="Freeform 27"/>
              <p:cNvSpPr/>
              <p:nvPr/>
            </p:nvSpPr>
            <p:spPr>
              <a:xfrm>
                <a:off x="2980531" y="2839244"/>
                <a:ext cx="226219" cy="150813"/>
              </a:xfrm>
              <a:custGeom>
                <a:avLst/>
                <a:gdLst/>
                <a:ahLst/>
                <a:cxnLst/>
                <a:rect l="l" t="t" r="r" b="b"/>
                <a:pathLst>
                  <a:path w="226219" h="150813">
                    <a:moveTo>
                      <a:pt x="0" y="75406"/>
                    </a:moveTo>
                    <a:lnTo>
                      <a:pt x="75406" y="150813"/>
                    </a:lnTo>
                    <a:lnTo>
                      <a:pt x="226219" y="0"/>
                    </a:lnTo>
                  </a:path>
                </a:pathLst>
              </a:custGeom>
              <a:noFill/>
              <a:ln w="19050">
                <a:solidFill>
                  <a:srgbClr val="FFFFFF"/>
                </a:solidFill>
              </a:ln>
            </p:spPr>
          </p:sp>
          <p:sp>
            <p:nvSpPr>
              <p:cNvPr id="28" name="TextBox 28"/>
              <p:cNvSpPr txBox="1"/>
              <p:nvPr/>
            </p:nvSpPr>
            <p:spPr>
              <a:xfrm>
                <a:off x="2797778" y="31727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资格识别</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2874645" y="3358991"/>
                <a:ext cx="461010"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条件核验</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39" name="Group 39"/>
            <p:cNvGrpSpPr/>
            <p:nvPr/>
          </p:nvGrpSpPr>
          <p:grpSpPr>
            <a:xfrm>
              <a:off x="4057650" y="2571750"/>
              <a:ext cx="1476375" cy="954881"/>
              <a:chOff x="4057650" y="2571750"/>
              <a:chExt cx="1476375" cy="954881"/>
            </a:xfrm>
          </p:grpSpPr>
          <p:sp>
            <p:nvSpPr>
              <p:cNvPr id="31" name="Rectangle 31"/>
              <p:cNvSpPr/>
              <p:nvPr/>
            </p:nvSpPr>
            <p:spPr>
              <a:xfrm>
                <a:off x="4057650" y="2571750"/>
                <a:ext cx="1476375" cy="952500"/>
              </a:xfrm>
              <a:prstGeom prst="roundRect">
                <a:avLst>
                  <a:gd name="adj" fmla="val 10000"/>
                </a:avLst>
              </a:prstGeom>
              <a:solidFill>
                <a:srgbClr val="246BFE"/>
              </a:solidFill>
              <a:ln>
                <a:noFill/>
              </a:ln>
            </p:spPr>
          </p:sp>
          <p:grpSp>
            <p:nvGrpSpPr>
              <p:cNvPr id="36" name="Group 36"/>
              <p:cNvGrpSpPr/>
              <p:nvPr/>
            </p:nvGrpSpPr>
            <p:grpSpPr>
              <a:xfrm>
                <a:off x="4645819" y="2794000"/>
                <a:ext cx="271463" cy="250825"/>
                <a:chOff x="4645819" y="2794000"/>
                <a:chExt cx="271463" cy="250825"/>
              </a:xfrm>
            </p:grpSpPr>
            <p:sp>
              <p:nvSpPr>
                <p:cNvPr id="32" name="Freeform 32"/>
                <p:cNvSpPr/>
                <p:nvPr/>
              </p:nvSpPr>
              <p:spPr>
                <a:xfrm>
                  <a:off x="4645819" y="2914650"/>
                  <a:ext cx="90488" cy="120650"/>
                </a:xfrm>
                <a:custGeom>
                  <a:avLst/>
                  <a:gdLst/>
                  <a:ahLst/>
                  <a:cxnLst/>
                  <a:rect l="l" t="t" r="r" b="b"/>
                  <a:pathLst>
                    <a:path w="90488" h="120650">
                      <a:moveTo>
                        <a:pt x="0" y="15081"/>
                      </a:moveTo>
                      <a:cubicBezTo>
                        <a:pt x="0" y="6752"/>
                        <a:pt x="6752" y="0"/>
                        <a:pt x="15081" y="0"/>
                      </a:cubicBezTo>
                      <a:lnTo>
                        <a:pt x="75406" y="0"/>
                      </a:lnTo>
                      <a:cubicBezTo>
                        <a:pt x="83735" y="0"/>
                        <a:pt x="90488" y="6752"/>
                        <a:pt x="90488" y="15081"/>
                      </a:cubicBezTo>
                      <a:lnTo>
                        <a:pt x="90488" y="105569"/>
                      </a:lnTo>
                      <a:cubicBezTo>
                        <a:pt x="90488" y="113898"/>
                        <a:pt x="83735" y="120650"/>
                        <a:pt x="75406" y="120650"/>
                      </a:cubicBezTo>
                      <a:lnTo>
                        <a:pt x="15081" y="120650"/>
                      </a:lnTo>
                      <a:cubicBezTo>
                        <a:pt x="6752" y="120650"/>
                        <a:pt x="0" y="113898"/>
                        <a:pt x="0" y="105569"/>
                      </a:cubicBezTo>
                      <a:lnTo>
                        <a:pt x="0" y="15081"/>
                      </a:lnTo>
                    </a:path>
                  </a:pathLst>
                </a:custGeom>
                <a:noFill/>
                <a:ln w="19050">
                  <a:solidFill>
                    <a:srgbClr val="FFFFFF"/>
                  </a:solidFill>
                </a:ln>
              </p:spPr>
            </p:sp>
            <p:sp>
              <p:nvSpPr>
                <p:cNvPr id="33" name="Freeform 33"/>
                <p:cNvSpPr/>
                <p:nvPr/>
              </p:nvSpPr>
              <p:spPr>
                <a:xfrm>
                  <a:off x="4826794" y="2854325"/>
                  <a:ext cx="90488" cy="180975"/>
                </a:xfrm>
                <a:custGeom>
                  <a:avLst/>
                  <a:gdLst/>
                  <a:ahLst/>
                  <a:cxnLst/>
                  <a:rect l="l" t="t" r="r" b="b"/>
                  <a:pathLst>
                    <a:path w="90488" h="180975">
                      <a:moveTo>
                        <a:pt x="0" y="15081"/>
                      </a:moveTo>
                      <a:cubicBezTo>
                        <a:pt x="0" y="6752"/>
                        <a:pt x="6752" y="0"/>
                        <a:pt x="15081" y="0"/>
                      </a:cubicBezTo>
                      <a:lnTo>
                        <a:pt x="75406" y="0"/>
                      </a:lnTo>
                      <a:cubicBezTo>
                        <a:pt x="83735" y="0"/>
                        <a:pt x="90488" y="6752"/>
                        <a:pt x="90488" y="15081"/>
                      </a:cubicBezTo>
                      <a:lnTo>
                        <a:pt x="90488" y="165894"/>
                      </a:lnTo>
                      <a:cubicBezTo>
                        <a:pt x="90488" y="174223"/>
                        <a:pt x="83735" y="180975"/>
                        <a:pt x="75406" y="180975"/>
                      </a:cubicBezTo>
                      <a:lnTo>
                        <a:pt x="15081" y="180975"/>
                      </a:lnTo>
                      <a:cubicBezTo>
                        <a:pt x="6752" y="180975"/>
                        <a:pt x="0" y="174223"/>
                        <a:pt x="0" y="165894"/>
                      </a:cubicBezTo>
                      <a:lnTo>
                        <a:pt x="0" y="15081"/>
                      </a:lnTo>
                    </a:path>
                  </a:pathLst>
                </a:custGeom>
                <a:noFill/>
                <a:ln w="19050">
                  <a:solidFill>
                    <a:srgbClr val="FFFFFF"/>
                  </a:solidFill>
                </a:ln>
              </p:spPr>
            </p:sp>
            <p:sp>
              <p:nvSpPr>
                <p:cNvPr id="34" name="Freeform 34"/>
                <p:cNvSpPr/>
                <p:nvPr/>
              </p:nvSpPr>
              <p:spPr>
                <a:xfrm>
                  <a:off x="4736306" y="2794000"/>
                  <a:ext cx="90488" cy="241300"/>
                </a:xfrm>
                <a:custGeom>
                  <a:avLst/>
                  <a:gdLst/>
                  <a:ahLst/>
                  <a:cxnLst/>
                  <a:rect l="l" t="t" r="r" b="b"/>
                  <a:pathLst>
                    <a:path w="90488" h="241300">
                      <a:moveTo>
                        <a:pt x="0" y="15081"/>
                      </a:moveTo>
                      <a:cubicBezTo>
                        <a:pt x="0" y="6752"/>
                        <a:pt x="6752" y="0"/>
                        <a:pt x="15081" y="0"/>
                      </a:cubicBezTo>
                      <a:lnTo>
                        <a:pt x="75406" y="0"/>
                      </a:lnTo>
                      <a:cubicBezTo>
                        <a:pt x="83735" y="0"/>
                        <a:pt x="90488" y="6752"/>
                        <a:pt x="90488" y="15081"/>
                      </a:cubicBezTo>
                      <a:lnTo>
                        <a:pt x="90488" y="226219"/>
                      </a:lnTo>
                      <a:cubicBezTo>
                        <a:pt x="90488" y="234548"/>
                        <a:pt x="83735" y="241300"/>
                        <a:pt x="75406" y="241300"/>
                      </a:cubicBezTo>
                      <a:lnTo>
                        <a:pt x="15081" y="241300"/>
                      </a:lnTo>
                      <a:cubicBezTo>
                        <a:pt x="6752" y="241300"/>
                        <a:pt x="0" y="234548"/>
                        <a:pt x="0" y="226219"/>
                      </a:cubicBezTo>
                      <a:lnTo>
                        <a:pt x="0" y="15081"/>
                      </a:lnTo>
                    </a:path>
                  </a:pathLst>
                </a:custGeom>
                <a:noFill/>
                <a:ln w="19050">
                  <a:solidFill>
                    <a:srgbClr val="FFFFFF"/>
                  </a:solidFill>
                </a:ln>
              </p:spPr>
            </p:sp>
            <p:sp>
              <p:nvSpPr>
                <p:cNvPr id="35" name="Freeform 35"/>
                <p:cNvSpPr/>
                <p:nvPr/>
              </p:nvSpPr>
              <p:spPr>
                <a:xfrm>
                  <a:off x="4660900" y="3035300"/>
                  <a:ext cx="211138" cy="9525"/>
                </a:xfrm>
                <a:custGeom>
                  <a:avLst/>
                  <a:gdLst/>
                  <a:ahLst/>
                  <a:cxnLst/>
                  <a:rect l="l" t="t" r="r" b="b"/>
                  <a:pathLst>
                    <a:path w="211138" h="9525">
                      <a:moveTo>
                        <a:pt x="0" y="0"/>
                      </a:moveTo>
                      <a:lnTo>
                        <a:pt x="211138" y="0"/>
                      </a:lnTo>
                    </a:path>
                  </a:pathLst>
                </a:custGeom>
                <a:noFill/>
                <a:ln w="19050">
                  <a:solidFill>
                    <a:srgbClr val="FFFFFF"/>
                  </a:solidFill>
                </a:ln>
              </p:spPr>
            </p:sp>
          </p:grpSp>
          <p:sp>
            <p:nvSpPr>
              <p:cNvPr id="37" name="TextBox 37"/>
              <p:cNvSpPr txBox="1"/>
              <p:nvPr/>
            </p:nvSpPr>
            <p:spPr>
              <a:xfrm>
                <a:off x="4493228" y="31727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评分拆解</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4515088" y="3358991"/>
                <a:ext cx="571024"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评分项映射</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51" name="Group 51"/>
            <p:cNvGrpSpPr/>
            <p:nvPr/>
          </p:nvGrpSpPr>
          <p:grpSpPr>
            <a:xfrm>
              <a:off x="5753100" y="2571750"/>
              <a:ext cx="1476375" cy="954881"/>
              <a:chOff x="5753100" y="2571750"/>
              <a:chExt cx="1476375" cy="954881"/>
            </a:xfrm>
          </p:grpSpPr>
          <p:sp>
            <p:nvSpPr>
              <p:cNvPr id="40" name="Rectangle 40"/>
              <p:cNvSpPr/>
              <p:nvPr/>
            </p:nvSpPr>
            <p:spPr>
              <a:xfrm>
                <a:off x="5753100" y="2571750"/>
                <a:ext cx="1476375" cy="952500"/>
              </a:xfrm>
              <a:prstGeom prst="roundRect">
                <a:avLst>
                  <a:gd name="adj" fmla="val 10000"/>
                </a:avLst>
              </a:prstGeom>
              <a:solidFill>
                <a:srgbClr val="0052A6"/>
              </a:solidFill>
              <a:ln>
                <a:noFill/>
              </a:ln>
            </p:spPr>
          </p:sp>
          <p:grpSp>
            <p:nvGrpSpPr>
              <p:cNvPr id="48" name="Group 48"/>
              <p:cNvGrpSpPr/>
              <p:nvPr/>
            </p:nvGrpSpPr>
            <p:grpSpPr>
              <a:xfrm>
                <a:off x="6356350" y="2778919"/>
                <a:ext cx="271463" cy="286543"/>
                <a:chOff x="6356350" y="2778919"/>
                <a:chExt cx="271463" cy="286543"/>
              </a:xfrm>
            </p:grpSpPr>
            <p:sp>
              <p:nvSpPr>
                <p:cNvPr id="41" name="Freeform 41"/>
                <p:cNvSpPr/>
                <p:nvPr/>
              </p:nvSpPr>
              <p:spPr>
                <a:xfrm>
                  <a:off x="6356350" y="2809081"/>
                  <a:ext cx="116080" cy="241300"/>
                </a:xfrm>
                <a:custGeom>
                  <a:avLst/>
                  <a:gdLst/>
                  <a:ahLst/>
                  <a:cxnLst/>
                  <a:rect l="l" t="t" r="r" b="b"/>
                  <a:pathLst>
                    <a:path w="116080" h="241300">
                      <a:moveTo>
                        <a:pt x="60325" y="0"/>
                      </a:moveTo>
                      <a:lnTo>
                        <a:pt x="30162" y="0"/>
                      </a:lnTo>
                      <a:cubicBezTo>
                        <a:pt x="13504" y="0"/>
                        <a:pt x="0" y="13504"/>
                        <a:pt x="0" y="30162"/>
                      </a:cubicBezTo>
                      <a:lnTo>
                        <a:pt x="0" y="211137"/>
                      </a:lnTo>
                      <a:cubicBezTo>
                        <a:pt x="0" y="227796"/>
                        <a:pt x="13504" y="241300"/>
                        <a:pt x="30162" y="241300"/>
                      </a:cubicBezTo>
                      <a:lnTo>
                        <a:pt x="116080" y="241300"/>
                      </a:lnTo>
                    </a:path>
                  </a:pathLst>
                </a:custGeom>
                <a:noFill/>
                <a:ln w="19050">
                  <a:solidFill>
                    <a:srgbClr val="FFFFFF"/>
                  </a:solidFill>
                </a:ln>
              </p:spPr>
            </p:sp>
            <p:sp>
              <p:nvSpPr>
                <p:cNvPr id="42" name="Freeform 42"/>
                <p:cNvSpPr/>
                <p:nvPr/>
              </p:nvSpPr>
              <p:spPr>
                <a:xfrm>
                  <a:off x="6567488" y="2944812"/>
                  <a:ext cx="60325" cy="60325"/>
                </a:xfrm>
                <a:custGeom>
                  <a:avLst/>
                  <a:gdLst/>
                  <a:ahLst/>
                  <a:cxnLst/>
                  <a:rect l="l" t="t" r="r" b="b"/>
                  <a:pathLst>
                    <a:path w="60325" h="60325">
                      <a:moveTo>
                        <a:pt x="0" y="0"/>
                      </a:moveTo>
                      <a:lnTo>
                        <a:pt x="0" y="60325"/>
                      </a:lnTo>
                      <a:lnTo>
                        <a:pt x="60325" y="60325"/>
                      </a:lnTo>
                    </a:path>
                  </a:pathLst>
                </a:custGeom>
                <a:noFill/>
                <a:ln w="19050">
                  <a:solidFill>
                    <a:srgbClr val="FFFFFF"/>
                  </a:solidFill>
                </a:ln>
              </p:spPr>
            </p:sp>
            <p:sp>
              <p:nvSpPr>
                <p:cNvPr id="43" name="Freeform 43"/>
                <p:cNvSpPr/>
                <p:nvPr/>
              </p:nvSpPr>
              <p:spPr>
                <a:xfrm>
                  <a:off x="6507162" y="2809081"/>
                  <a:ext cx="60325" cy="90488"/>
                </a:xfrm>
                <a:custGeom>
                  <a:avLst/>
                  <a:gdLst/>
                  <a:ahLst/>
                  <a:cxnLst/>
                  <a:rect l="l" t="t" r="r" b="b"/>
                  <a:pathLst>
                    <a:path w="60325" h="90488">
                      <a:moveTo>
                        <a:pt x="60325" y="90488"/>
                      </a:moveTo>
                      <a:lnTo>
                        <a:pt x="60325" y="30162"/>
                      </a:lnTo>
                      <a:cubicBezTo>
                        <a:pt x="60325" y="13504"/>
                        <a:pt x="46821" y="0"/>
                        <a:pt x="30163" y="0"/>
                      </a:cubicBezTo>
                      <a:lnTo>
                        <a:pt x="0" y="0"/>
                      </a:lnTo>
                    </a:path>
                  </a:pathLst>
                </a:custGeom>
                <a:noFill/>
                <a:ln w="19050">
                  <a:solidFill>
                    <a:srgbClr val="FFFFFF"/>
                  </a:solidFill>
                </a:ln>
              </p:spPr>
            </p:sp>
            <p:sp>
              <p:nvSpPr>
                <p:cNvPr id="44" name="Freeform 44"/>
                <p:cNvSpPr/>
                <p:nvPr/>
              </p:nvSpPr>
              <p:spPr>
                <a:xfrm>
                  <a:off x="6416675" y="2778919"/>
                  <a:ext cx="90488" cy="60325"/>
                </a:xfrm>
                <a:custGeom>
                  <a:avLst/>
                  <a:gdLst/>
                  <a:ahLst/>
                  <a:cxnLst/>
                  <a:rect l="l" t="t" r="r" b="b"/>
                  <a:pathLst>
                    <a:path w="90488" h="60325">
                      <a:moveTo>
                        <a:pt x="0" y="30163"/>
                      </a:moveTo>
                      <a:cubicBezTo>
                        <a:pt x="0" y="13504"/>
                        <a:pt x="13504" y="0"/>
                        <a:pt x="30163" y="0"/>
                      </a:cubicBezTo>
                      <a:lnTo>
                        <a:pt x="60325" y="0"/>
                      </a:lnTo>
                      <a:cubicBezTo>
                        <a:pt x="76983" y="0"/>
                        <a:pt x="90488" y="13504"/>
                        <a:pt x="90488" y="30163"/>
                      </a:cubicBezTo>
                      <a:cubicBezTo>
                        <a:pt x="90488" y="46821"/>
                        <a:pt x="76983" y="60325"/>
                        <a:pt x="60325" y="60325"/>
                      </a:cubicBezTo>
                      <a:lnTo>
                        <a:pt x="30163" y="60325"/>
                      </a:lnTo>
                      <a:cubicBezTo>
                        <a:pt x="13504" y="60325"/>
                        <a:pt x="0" y="46821"/>
                        <a:pt x="0" y="30163"/>
                      </a:cubicBezTo>
                    </a:path>
                  </a:pathLst>
                </a:custGeom>
                <a:noFill/>
                <a:ln w="19050">
                  <a:solidFill>
                    <a:srgbClr val="FFFFFF"/>
                  </a:solidFill>
                </a:ln>
              </p:spPr>
            </p:sp>
            <p:sp>
              <p:nvSpPr>
                <p:cNvPr id="45" name="Freeform 45"/>
                <p:cNvSpPr/>
                <p:nvPr/>
              </p:nvSpPr>
              <p:spPr>
                <a:xfrm>
                  <a:off x="6507162" y="2944812"/>
                  <a:ext cx="120650" cy="120650"/>
                </a:xfrm>
                <a:custGeom>
                  <a:avLst/>
                  <a:gdLst/>
                  <a:ahLst/>
                  <a:cxnLst/>
                  <a:rect l="l" t="t" r="r" b="b"/>
                  <a:pathLst>
                    <a:path w="120650" h="120650">
                      <a:moveTo>
                        <a:pt x="0" y="60325"/>
                      </a:moveTo>
                      <a:cubicBezTo>
                        <a:pt x="0" y="93642"/>
                        <a:pt x="27008" y="120650"/>
                        <a:pt x="60325" y="120650"/>
                      </a:cubicBezTo>
                      <a:cubicBezTo>
                        <a:pt x="93642" y="120650"/>
                        <a:pt x="120650" y="93642"/>
                        <a:pt x="120650" y="60325"/>
                      </a:cubicBezTo>
                      <a:cubicBezTo>
                        <a:pt x="120650" y="27008"/>
                        <a:pt x="93642" y="0"/>
                        <a:pt x="60325" y="0"/>
                      </a:cubicBezTo>
                      <a:cubicBezTo>
                        <a:pt x="27008" y="0"/>
                        <a:pt x="0" y="27008"/>
                        <a:pt x="0" y="60325"/>
                      </a:cubicBezTo>
                    </a:path>
                  </a:pathLst>
                </a:custGeom>
                <a:noFill/>
                <a:ln w="19050">
                  <a:solidFill>
                    <a:srgbClr val="FFFFFF"/>
                  </a:solidFill>
                </a:ln>
              </p:spPr>
            </p:sp>
            <p:sp>
              <p:nvSpPr>
                <p:cNvPr id="46" name="Freeform 46"/>
                <p:cNvSpPr/>
                <p:nvPr/>
              </p:nvSpPr>
              <p:spPr>
                <a:xfrm>
                  <a:off x="6416675" y="2899569"/>
                  <a:ext cx="60325" cy="9525"/>
                </a:xfrm>
                <a:custGeom>
                  <a:avLst/>
                  <a:gdLst/>
                  <a:ahLst/>
                  <a:cxnLst/>
                  <a:rect l="l" t="t" r="r" b="b"/>
                  <a:pathLst>
                    <a:path w="60325" h="9525">
                      <a:moveTo>
                        <a:pt x="0" y="0"/>
                      </a:moveTo>
                      <a:lnTo>
                        <a:pt x="60325" y="0"/>
                      </a:lnTo>
                    </a:path>
                  </a:pathLst>
                </a:custGeom>
                <a:noFill/>
                <a:ln w="19050">
                  <a:solidFill>
                    <a:srgbClr val="FFFFFF"/>
                  </a:solidFill>
                </a:ln>
              </p:spPr>
            </p:sp>
            <p:sp>
              <p:nvSpPr>
                <p:cNvPr id="47" name="Freeform 47"/>
                <p:cNvSpPr/>
                <p:nvPr/>
              </p:nvSpPr>
              <p:spPr>
                <a:xfrm>
                  <a:off x="6416675" y="2959894"/>
                  <a:ext cx="45244" cy="9525"/>
                </a:xfrm>
                <a:custGeom>
                  <a:avLst/>
                  <a:gdLst/>
                  <a:ahLst/>
                  <a:cxnLst/>
                  <a:rect l="l" t="t" r="r" b="b"/>
                  <a:pathLst>
                    <a:path w="45244" h="9525">
                      <a:moveTo>
                        <a:pt x="0" y="0"/>
                      </a:moveTo>
                      <a:lnTo>
                        <a:pt x="45244" y="0"/>
                      </a:lnTo>
                    </a:path>
                  </a:pathLst>
                </a:custGeom>
                <a:noFill/>
                <a:ln w="19050">
                  <a:solidFill>
                    <a:srgbClr val="FFFFFF"/>
                  </a:solidFill>
                </a:ln>
              </p:spPr>
            </p:sp>
          </p:grpSp>
          <p:sp>
            <p:nvSpPr>
              <p:cNvPr id="49" name="TextBox 49"/>
              <p:cNvSpPr txBox="1"/>
              <p:nvPr/>
            </p:nvSpPr>
            <p:spPr>
              <a:xfrm>
                <a:off x="6188678" y="31727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材料匹配</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6155531" y="3358991"/>
                <a:ext cx="681038"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历史标书复用</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59" name="Group 59"/>
            <p:cNvGrpSpPr/>
            <p:nvPr/>
          </p:nvGrpSpPr>
          <p:grpSpPr>
            <a:xfrm>
              <a:off x="7448550" y="2571750"/>
              <a:ext cx="1476375" cy="954881"/>
              <a:chOff x="7448550" y="2571750"/>
              <a:chExt cx="1476375" cy="954881"/>
            </a:xfrm>
          </p:grpSpPr>
          <p:sp>
            <p:nvSpPr>
              <p:cNvPr id="52" name="Rectangle 52"/>
              <p:cNvSpPr/>
              <p:nvPr/>
            </p:nvSpPr>
            <p:spPr>
              <a:xfrm>
                <a:off x="7448550" y="2571750"/>
                <a:ext cx="1476375" cy="952500"/>
              </a:xfrm>
              <a:prstGeom prst="roundRect">
                <a:avLst>
                  <a:gd name="adj" fmla="val 10000"/>
                </a:avLst>
              </a:prstGeom>
              <a:solidFill>
                <a:srgbClr val="246BFE"/>
              </a:solidFill>
              <a:ln>
                <a:noFill/>
              </a:ln>
            </p:spPr>
          </p:sp>
          <p:grpSp>
            <p:nvGrpSpPr>
              <p:cNvPr id="56" name="Group 56"/>
              <p:cNvGrpSpPr/>
              <p:nvPr/>
            </p:nvGrpSpPr>
            <p:grpSpPr>
              <a:xfrm>
                <a:off x="8036719" y="2778919"/>
                <a:ext cx="271462" cy="271463"/>
                <a:chOff x="8036719" y="2778919"/>
                <a:chExt cx="271462" cy="271463"/>
              </a:xfrm>
            </p:grpSpPr>
            <p:sp>
              <p:nvSpPr>
                <p:cNvPr id="53" name="Freeform 53"/>
                <p:cNvSpPr/>
                <p:nvPr/>
              </p:nvSpPr>
              <p:spPr>
                <a:xfrm>
                  <a:off x="8036719" y="2778919"/>
                  <a:ext cx="271462" cy="135731"/>
                </a:xfrm>
                <a:custGeom>
                  <a:avLst/>
                  <a:gdLst/>
                  <a:ahLst/>
                  <a:cxnLst/>
                  <a:rect l="l" t="t" r="r" b="b"/>
                  <a:pathLst>
                    <a:path w="271462" h="135731">
                      <a:moveTo>
                        <a:pt x="0" y="135731"/>
                      </a:moveTo>
                      <a:lnTo>
                        <a:pt x="15081" y="135731"/>
                      </a:lnTo>
                      <a:moveTo>
                        <a:pt x="135731" y="0"/>
                      </a:moveTo>
                      <a:lnTo>
                        <a:pt x="135731" y="15081"/>
                      </a:lnTo>
                      <a:moveTo>
                        <a:pt x="256381" y="135731"/>
                      </a:moveTo>
                      <a:lnTo>
                        <a:pt x="271462" y="135731"/>
                      </a:lnTo>
                      <a:moveTo>
                        <a:pt x="39211" y="39211"/>
                      </a:moveTo>
                      <a:lnTo>
                        <a:pt x="49768" y="49768"/>
                      </a:lnTo>
                      <a:moveTo>
                        <a:pt x="232251" y="39211"/>
                      </a:moveTo>
                      <a:lnTo>
                        <a:pt x="221694" y="49768"/>
                      </a:lnTo>
                    </a:path>
                  </a:pathLst>
                </a:custGeom>
                <a:noFill/>
                <a:ln w="19050">
                  <a:solidFill>
                    <a:srgbClr val="FFFFFF"/>
                  </a:solidFill>
                </a:ln>
              </p:spPr>
            </p:sp>
            <p:sp>
              <p:nvSpPr>
                <p:cNvPr id="54" name="Freeform 54"/>
                <p:cNvSpPr/>
                <p:nvPr/>
              </p:nvSpPr>
              <p:spPr>
                <a:xfrm>
                  <a:off x="8090650" y="2839244"/>
                  <a:ext cx="163601" cy="211138"/>
                </a:xfrm>
                <a:custGeom>
                  <a:avLst/>
                  <a:gdLst/>
                  <a:ahLst/>
                  <a:cxnLst/>
                  <a:rect l="l" t="t" r="r" b="b"/>
                  <a:pathLst>
                    <a:path w="163601" h="211138">
                      <a:moveTo>
                        <a:pt x="36557" y="135731"/>
                      </a:moveTo>
                      <a:cubicBezTo>
                        <a:pt x="10591" y="116257"/>
                        <a:pt x="0" y="82352"/>
                        <a:pt x="10264" y="51561"/>
                      </a:cubicBezTo>
                      <a:cubicBezTo>
                        <a:pt x="20528" y="20769"/>
                        <a:pt x="49343" y="0"/>
                        <a:pt x="81800" y="0"/>
                      </a:cubicBezTo>
                      <a:cubicBezTo>
                        <a:pt x="114258" y="0"/>
                        <a:pt x="143073" y="20769"/>
                        <a:pt x="153337" y="51561"/>
                      </a:cubicBezTo>
                      <a:cubicBezTo>
                        <a:pt x="163601" y="82352"/>
                        <a:pt x="153010" y="116257"/>
                        <a:pt x="127044" y="135731"/>
                      </a:cubicBezTo>
                      <a:cubicBezTo>
                        <a:pt x="115102" y="147552"/>
                        <a:pt x="109502" y="164353"/>
                        <a:pt x="111963" y="180975"/>
                      </a:cubicBezTo>
                      <a:cubicBezTo>
                        <a:pt x="111963" y="197633"/>
                        <a:pt x="98459" y="211138"/>
                        <a:pt x="81800" y="211138"/>
                      </a:cubicBezTo>
                      <a:cubicBezTo>
                        <a:pt x="65142" y="211138"/>
                        <a:pt x="51638" y="197633"/>
                        <a:pt x="51638" y="180975"/>
                      </a:cubicBezTo>
                      <a:cubicBezTo>
                        <a:pt x="54099" y="164353"/>
                        <a:pt x="48499" y="147552"/>
                        <a:pt x="36557" y="135731"/>
                      </a:cubicBezTo>
                    </a:path>
                  </a:pathLst>
                </a:custGeom>
                <a:noFill/>
                <a:ln w="19050">
                  <a:solidFill>
                    <a:srgbClr val="FFFFFF"/>
                  </a:solidFill>
                </a:ln>
              </p:spPr>
            </p:sp>
            <p:sp>
              <p:nvSpPr>
                <p:cNvPr id="55" name="Freeform 55"/>
                <p:cNvSpPr/>
                <p:nvPr/>
              </p:nvSpPr>
              <p:spPr>
                <a:xfrm>
                  <a:off x="8137763" y="2990056"/>
                  <a:ext cx="69374" cy="9525"/>
                </a:xfrm>
                <a:custGeom>
                  <a:avLst/>
                  <a:gdLst/>
                  <a:ahLst/>
                  <a:cxnLst/>
                  <a:rect l="l" t="t" r="r" b="b"/>
                  <a:pathLst>
                    <a:path w="69374" h="9525">
                      <a:moveTo>
                        <a:pt x="0" y="0"/>
                      </a:moveTo>
                      <a:lnTo>
                        <a:pt x="69374" y="0"/>
                      </a:lnTo>
                    </a:path>
                  </a:pathLst>
                </a:custGeom>
                <a:noFill/>
                <a:ln w="19050">
                  <a:solidFill>
                    <a:srgbClr val="FFFFFF"/>
                  </a:solidFill>
                </a:ln>
              </p:spPr>
            </p:sp>
          </p:grpSp>
          <p:sp>
            <p:nvSpPr>
              <p:cNvPr id="57" name="TextBox 57"/>
              <p:cNvSpPr txBox="1"/>
              <p:nvPr/>
            </p:nvSpPr>
            <p:spPr>
              <a:xfrm>
                <a:off x="7884128" y="31727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标书生成</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58" name="TextBox 58"/>
              <p:cNvSpPr txBox="1"/>
              <p:nvPr/>
            </p:nvSpPr>
            <p:spPr>
              <a:xfrm>
                <a:off x="7850981" y="3358991"/>
                <a:ext cx="681038"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内容辅助撰写</a:t>
                </a:r>
                <a:endParaRPr lang="zh-CN" sz="825" dirty="0">
                  <a:solidFill>
                    <a:srgbClr val="DCE6FB"/>
                  </a:solidFill>
                  <a:latin typeface="Arial" panose="020B0604020202020204"/>
                  <a:ea typeface="微软雅黑" panose="020B0503020204020204" charset="-122"/>
                  <a:cs typeface="Arial" panose="020B0604020202020204"/>
                </a:endParaRPr>
              </a:p>
            </p:txBody>
          </p:sp>
        </p:grpSp>
        <p:grpSp>
          <p:nvGrpSpPr>
            <p:cNvPr id="64" name="Group 64"/>
            <p:cNvGrpSpPr/>
            <p:nvPr/>
          </p:nvGrpSpPr>
          <p:grpSpPr>
            <a:xfrm>
              <a:off x="9144000" y="2571750"/>
              <a:ext cx="1476375" cy="954881"/>
              <a:chOff x="9144000" y="2571750"/>
              <a:chExt cx="1476375" cy="954881"/>
            </a:xfrm>
          </p:grpSpPr>
          <p:sp>
            <p:nvSpPr>
              <p:cNvPr id="60" name="Rectangle 60"/>
              <p:cNvSpPr/>
              <p:nvPr/>
            </p:nvSpPr>
            <p:spPr>
              <a:xfrm>
                <a:off x="9144000" y="2571750"/>
                <a:ext cx="1476375" cy="952500"/>
              </a:xfrm>
              <a:prstGeom prst="roundRect">
                <a:avLst>
                  <a:gd name="adj" fmla="val 10000"/>
                </a:avLst>
              </a:prstGeom>
              <a:solidFill>
                <a:srgbClr val="0E9F6E"/>
              </a:solidFill>
              <a:ln>
                <a:noFill/>
              </a:ln>
            </p:spPr>
          </p:sp>
          <p:sp>
            <p:nvSpPr>
              <p:cNvPr id="61" name="Freeform 61"/>
              <p:cNvSpPr/>
              <p:nvPr/>
            </p:nvSpPr>
            <p:spPr>
              <a:xfrm>
                <a:off x="9725888" y="2778919"/>
                <a:ext cx="284024" cy="271462"/>
              </a:xfrm>
              <a:custGeom>
                <a:avLst/>
                <a:gdLst/>
                <a:ahLst/>
                <a:cxnLst/>
                <a:rect l="l" t="t" r="r" b="b"/>
                <a:pathLst>
                  <a:path w="284024" h="271462">
                    <a:moveTo>
                      <a:pt x="142012" y="0"/>
                    </a:moveTo>
                    <a:cubicBezTo>
                      <a:pt x="177239" y="31167"/>
                      <a:pt x="223216" y="47394"/>
                      <a:pt x="270202" y="45244"/>
                    </a:cubicBezTo>
                    <a:cubicBezTo>
                      <a:pt x="284024" y="92260"/>
                      <a:pt x="278187" y="142871"/>
                      <a:pt x="254026" y="185507"/>
                    </a:cubicBezTo>
                    <a:cubicBezTo>
                      <a:pt x="229866" y="228143"/>
                      <a:pt x="189448" y="259159"/>
                      <a:pt x="142012" y="271462"/>
                    </a:cubicBezTo>
                    <a:cubicBezTo>
                      <a:pt x="94576" y="259159"/>
                      <a:pt x="54158" y="228143"/>
                      <a:pt x="29997" y="185507"/>
                    </a:cubicBezTo>
                    <a:cubicBezTo>
                      <a:pt x="5837" y="142871"/>
                      <a:pt x="0" y="92260"/>
                      <a:pt x="13821" y="45244"/>
                    </a:cubicBezTo>
                    <a:cubicBezTo>
                      <a:pt x="60807" y="47394"/>
                      <a:pt x="106785" y="31167"/>
                      <a:pt x="142012" y="0"/>
                    </a:cubicBezTo>
                  </a:path>
                </a:pathLst>
              </a:custGeom>
              <a:noFill/>
              <a:ln w="19050">
                <a:solidFill>
                  <a:srgbClr val="FFFFFF"/>
                </a:solidFill>
              </a:ln>
            </p:spPr>
          </p:sp>
          <p:sp>
            <p:nvSpPr>
              <p:cNvPr id="62" name="TextBox 62"/>
              <p:cNvSpPr txBox="1"/>
              <p:nvPr/>
            </p:nvSpPr>
            <p:spPr>
              <a:xfrm>
                <a:off x="9579578" y="31727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风险检查</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9601438" y="3358991"/>
                <a:ext cx="571024"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panose="020B0604020202020204"/>
                    <a:ea typeface="微软雅黑" panose="020B0503020204020204" charset="-122"/>
                    <a:cs typeface="Arial" panose="020B0604020202020204"/>
                  </a:rPr>
                  <a:t>完整性校验</a:t>
                </a:r>
                <a:endParaRPr lang="zh-CN" sz="825" dirty="0">
                  <a:solidFill>
                    <a:srgbClr val="DCE6FB"/>
                  </a:solidFill>
                  <a:latin typeface="Arial" panose="020B0604020202020204"/>
                  <a:ea typeface="微软雅黑" panose="020B0503020204020204" charset="-122"/>
                  <a:cs typeface="Arial" panose="020B0604020202020204"/>
                </a:endParaRPr>
              </a:p>
            </p:txBody>
          </p:sp>
        </p:grpSp>
      </p:grpSp>
      <p:grpSp>
        <p:nvGrpSpPr>
          <p:cNvPr id="119" name="Group 119"/>
          <p:cNvGrpSpPr/>
          <p:nvPr/>
        </p:nvGrpSpPr>
        <p:grpSpPr>
          <a:xfrm>
            <a:off x="558165" y="4344352"/>
            <a:ext cx="11062335" cy="1704023"/>
            <a:chOff x="558165" y="4344352"/>
            <a:chExt cx="11062335" cy="1704023"/>
          </a:xfrm>
        </p:grpSpPr>
        <p:sp>
          <p:nvSpPr>
            <p:cNvPr id="66" name="TextBox 66"/>
            <p:cNvSpPr txBox="1"/>
            <p:nvPr/>
          </p:nvSpPr>
          <p:spPr>
            <a:xfrm>
              <a:off x="558165" y="4344352"/>
              <a:ext cx="1246923"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痛点 → AI 价值对照</a:t>
              </a:r>
              <a:endParaRPr lang="zh-CN" sz="1050" b="1" dirty="0">
                <a:solidFill>
                  <a:srgbClr val="17365D"/>
                </a:solidFill>
                <a:latin typeface="Arial" panose="020B0604020202020204"/>
                <a:ea typeface="微软雅黑" panose="020B0503020204020204" charset="-122"/>
                <a:cs typeface="Arial" panose="020B0604020202020204"/>
              </a:endParaRPr>
            </a:p>
          </p:txBody>
        </p:sp>
        <p:grpSp>
          <p:nvGrpSpPr>
            <p:cNvPr id="80" name="Group 80"/>
            <p:cNvGrpSpPr/>
            <p:nvPr/>
          </p:nvGrpSpPr>
          <p:grpSpPr>
            <a:xfrm>
              <a:off x="571500" y="4619625"/>
              <a:ext cx="2667000" cy="1428750"/>
              <a:chOff x="571500" y="4619625"/>
              <a:chExt cx="2667000" cy="1428750"/>
            </a:xfrm>
          </p:grpSpPr>
          <p:sp>
            <p:nvSpPr>
              <p:cNvPr id="67" name="Rectangle 67"/>
              <p:cNvSpPr/>
              <p:nvPr/>
            </p:nvSpPr>
            <p:spPr>
              <a:xfrm>
                <a:off x="571500" y="4619625"/>
                <a:ext cx="2667000" cy="1428750"/>
              </a:xfrm>
              <a:prstGeom prst="roundRect">
                <a:avLst>
                  <a:gd name="adj" fmla="val 6667"/>
                </a:avLst>
              </a:prstGeom>
              <a:solidFill>
                <a:srgbClr val="F4F7FC"/>
              </a:solidFill>
              <a:ln>
                <a:noFill/>
              </a:ln>
            </p:spPr>
          </p:sp>
          <p:sp>
            <p:nvSpPr>
              <p:cNvPr id="68" name="Rectangle 68"/>
              <p:cNvSpPr/>
              <p:nvPr/>
            </p:nvSpPr>
            <p:spPr>
              <a:xfrm>
                <a:off x="571500" y="4619625"/>
                <a:ext cx="38100" cy="1428750"/>
              </a:xfrm>
              <a:prstGeom prst="roundRect">
                <a:avLst>
                  <a:gd name="adj" fmla="val 50000"/>
                </a:avLst>
              </a:prstGeom>
              <a:solidFill>
                <a:srgbClr val="F59E0B"/>
              </a:solidFill>
              <a:ln>
                <a:noFill/>
              </a:ln>
            </p:spPr>
          </p:sp>
          <p:sp>
            <p:nvSpPr>
              <p:cNvPr id="69" name="TextBox 69"/>
              <p:cNvSpPr txBox="1"/>
              <p:nvPr/>
            </p:nvSpPr>
            <p:spPr>
              <a:xfrm>
                <a:off x="748665" y="4772978"/>
                <a:ext cx="320707"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痛点</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70" name="TextBox 70"/>
              <p:cNvSpPr txBox="1"/>
              <p:nvPr/>
            </p:nvSpPr>
            <p:spPr>
              <a:xfrm>
                <a:off x="748665" y="5058728"/>
                <a:ext cx="136383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招标文件多,人工拆解</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71" name="TextBox 71"/>
              <p:cNvSpPr txBox="1"/>
              <p:nvPr/>
            </p:nvSpPr>
            <p:spPr>
              <a:xfrm>
                <a:off x="748665" y="527780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易遗漏关键信息</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72" name="Line 72"/>
              <p:cNvSpPr/>
              <p:nvPr/>
            </p:nvSpPr>
            <p:spPr>
              <a:xfrm>
                <a:off x="762000" y="5600700"/>
                <a:ext cx="2286000" cy="9525"/>
              </a:xfrm>
              <a:custGeom>
                <a:avLst/>
                <a:gdLst/>
                <a:ahLst/>
                <a:cxnLst/>
                <a:rect l="l" t="t" r="r" b="b"/>
                <a:pathLst>
                  <a:path w="2286000" h="9525">
                    <a:moveTo>
                      <a:pt x="0" y="0"/>
                    </a:moveTo>
                    <a:lnTo>
                      <a:pt x="2286000" y="0"/>
                    </a:lnTo>
                  </a:path>
                </a:pathLst>
              </a:custGeom>
              <a:noFill/>
              <a:ln w="9525">
                <a:solidFill>
                  <a:srgbClr val="E3E9F2"/>
                </a:solidFill>
              </a:ln>
            </p:spPr>
          </p:sp>
          <p:grpSp>
            <p:nvGrpSpPr>
              <p:cNvPr id="78" name="Group 78"/>
              <p:cNvGrpSpPr/>
              <p:nvPr/>
            </p:nvGrpSpPr>
            <p:grpSpPr>
              <a:xfrm>
                <a:off x="809625" y="5743575"/>
                <a:ext cx="133350" cy="171450"/>
                <a:chOff x="809625" y="5743575"/>
                <a:chExt cx="133350" cy="171450"/>
              </a:xfrm>
            </p:grpSpPr>
            <p:sp>
              <p:nvSpPr>
                <p:cNvPr id="73" name="Freeform 73"/>
                <p:cNvSpPr/>
                <p:nvPr/>
              </p:nvSpPr>
              <p:spPr>
                <a:xfrm>
                  <a:off x="895350" y="5743575"/>
                  <a:ext cx="47625" cy="47625"/>
                </a:xfrm>
                <a:custGeom>
                  <a:avLst/>
                  <a:gdLst/>
                  <a:ahLst/>
                  <a:cxnLst/>
                  <a:rect l="l" t="t" r="r" b="b"/>
                  <a:pathLst>
                    <a:path w="47625" h="47625">
                      <a:moveTo>
                        <a:pt x="0" y="0"/>
                      </a:moveTo>
                      <a:lnTo>
                        <a:pt x="0" y="38100"/>
                      </a:lnTo>
                      <a:cubicBezTo>
                        <a:pt x="0" y="43361"/>
                        <a:pt x="4264" y="47625"/>
                        <a:pt x="9525" y="47625"/>
                      </a:cubicBezTo>
                      <a:lnTo>
                        <a:pt x="47625" y="47625"/>
                      </a:lnTo>
                    </a:path>
                  </a:pathLst>
                </a:custGeom>
                <a:noFill/>
                <a:ln w="19050">
                  <a:solidFill>
                    <a:srgbClr val="246BFE"/>
                  </a:solidFill>
                </a:ln>
              </p:spPr>
            </p:sp>
            <p:sp>
              <p:nvSpPr>
                <p:cNvPr id="74" name="Freeform 74"/>
                <p:cNvSpPr/>
                <p:nvPr/>
              </p:nvSpPr>
              <p:spPr>
                <a:xfrm>
                  <a:off x="809625" y="5743575"/>
                  <a:ext cx="133350" cy="171450"/>
                </a:xfrm>
                <a:custGeom>
                  <a:avLst/>
                  <a:gdLst/>
                  <a:ahLst/>
                  <a:cxnLst/>
                  <a:rect l="l" t="t" r="r" b="b"/>
                  <a:pathLst>
                    <a:path w="133350" h="171450">
                      <a:moveTo>
                        <a:pt x="114300" y="171450"/>
                      </a:moveTo>
                      <a:lnTo>
                        <a:pt x="19050" y="171450"/>
                      </a:lnTo>
                      <a:cubicBezTo>
                        <a:pt x="8529" y="171450"/>
                        <a:pt x="0" y="162921"/>
                        <a:pt x="0" y="152400"/>
                      </a:cubicBezTo>
                      <a:lnTo>
                        <a:pt x="0" y="19050"/>
                      </a:lnTo>
                      <a:cubicBezTo>
                        <a:pt x="0" y="8529"/>
                        <a:pt x="8529" y="0"/>
                        <a:pt x="19050" y="0"/>
                      </a:cubicBezTo>
                      <a:lnTo>
                        <a:pt x="85725" y="0"/>
                      </a:lnTo>
                      <a:lnTo>
                        <a:pt x="133350" y="47625"/>
                      </a:lnTo>
                      <a:lnTo>
                        <a:pt x="133350" y="152400"/>
                      </a:lnTo>
                      <a:cubicBezTo>
                        <a:pt x="133350" y="162921"/>
                        <a:pt x="124821" y="171450"/>
                        <a:pt x="114300" y="171450"/>
                      </a:cubicBezTo>
                    </a:path>
                  </a:pathLst>
                </a:custGeom>
                <a:noFill/>
                <a:ln w="19050">
                  <a:solidFill>
                    <a:srgbClr val="246BFE"/>
                  </a:solidFill>
                </a:ln>
              </p:spPr>
            </p:sp>
            <p:sp>
              <p:nvSpPr>
                <p:cNvPr id="75" name="Freeform 75"/>
                <p:cNvSpPr/>
                <p:nvPr/>
              </p:nvSpPr>
              <p:spPr>
                <a:xfrm>
                  <a:off x="847725" y="5800725"/>
                  <a:ext cx="9525" cy="9525"/>
                </a:xfrm>
                <a:custGeom>
                  <a:avLst/>
                  <a:gdLst/>
                  <a:ahLst/>
                  <a:cxnLst/>
                  <a:rect l="l" t="t" r="r" b="b"/>
                  <a:pathLst>
                    <a:path w="9525" h="9525">
                      <a:moveTo>
                        <a:pt x="0" y="0"/>
                      </a:moveTo>
                      <a:lnTo>
                        <a:pt x="9525" y="0"/>
                      </a:lnTo>
                    </a:path>
                  </a:pathLst>
                </a:custGeom>
                <a:noFill/>
                <a:ln w="19050">
                  <a:solidFill>
                    <a:srgbClr val="246BFE"/>
                  </a:solidFill>
                </a:ln>
              </p:spPr>
            </p:sp>
            <p:sp>
              <p:nvSpPr>
                <p:cNvPr id="76" name="Freeform 76"/>
                <p:cNvSpPr/>
                <p:nvPr/>
              </p:nvSpPr>
              <p:spPr>
                <a:xfrm>
                  <a:off x="847725" y="5838825"/>
                  <a:ext cx="57150" cy="9525"/>
                </a:xfrm>
                <a:custGeom>
                  <a:avLst/>
                  <a:gdLst/>
                  <a:ahLst/>
                  <a:cxnLst/>
                  <a:rect l="l" t="t" r="r" b="b"/>
                  <a:pathLst>
                    <a:path w="57150" h="9525">
                      <a:moveTo>
                        <a:pt x="0" y="0"/>
                      </a:moveTo>
                      <a:lnTo>
                        <a:pt x="57150" y="0"/>
                      </a:lnTo>
                    </a:path>
                  </a:pathLst>
                </a:custGeom>
                <a:noFill/>
                <a:ln w="19050">
                  <a:solidFill>
                    <a:srgbClr val="246BFE"/>
                  </a:solidFill>
                </a:ln>
              </p:spPr>
            </p:sp>
            <p:sp>
              <p:nvSpPr>
                <p:cNvPr id="77" name="Freeform 77"/>
                <p:cNvSpPr/>
                <p:nvPr/>
              </p:nvSpPr>
              <p:spPr>
                <a:xfrm>
                  <a:off x="847725" y="5876925"/>
                  <a:ext cx="57150" cy="9525"/>
                </a:xfrm>
                <a:custGeom>
                  <a:avLst/>
                  <a:gdLst/>
                  <a:ahLst/>
                  <a:cxnLst/>
                  <a:rect l="l" t="t" r="r" b="b"/>
                  <a:pathLst>
                    <a:path w="57150" h="9525">
                      <a:moveTo>
                        <a:pt x="0" y="0"/>
                      </a:moveTo>
                      <a:lnTo>
                        <a:pt x="57150" y="0"/>
                      </a:lnTo>
                    </a:path>
                  </a:pathLst>
                </a:custGeom>
                <a:noFill/>
                <a:ln w="19050">
                  <a:solidFill>
                    <a:srgbClr val="246BFE"/>
                  </a:solidFill>
                </a:ln>
              </p:spPr>
            </p:sp>
          </p:grpSp>
          <p:sp>
            <p:nvSpPr>
              <p:cNvPr id="79" name="TextBox 79"/>
              <p:cNvSpPr txBox="1"/>
              <p:nvPr/>
            </p:nvSpPr>
            <p:spPr>
              <a:xfrm>
                <a:off x="1054418" y="5781199"/>
                <a:ext cx="1485498"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AI 智能解析,字段化拆解</a:t>
                </a:r>
                <a:endParaRPr lang="zh-CN" sz="975" b="1" dirty="0">
                  <a:solidFill>
                    <a:srgbClr val="246BFE"/>
                  </a:solidFill>
                  <a:latin typeface="Arial" panose="020B0604020202020204"/>
                  <a:ea typeface="微软雅黑" panose="020B0503020204020204" charset="-122"/>
                  <a:cs typeface="Arial" panose="020B0604020202020204"/>
                </a:endParaRPr>
              </a:p>
            </p:txBody>
          </p:sp>
        </p:grpSp>
        <p:grpSp>
          <p:nvGrpSpPr>
            <p:cNvPr id="96" name="Group 96"/>
            <p:cNvGrpSpPr/>
            <p:nvPr/>
          </p:nvGrpSpPr>
          <p:grpSpPr>
            <a:xfrm>
              <a:off x="3429000" y="4619625"/>
              <a:ext cx="2667000" cy="1428750"/>
              <a:chOff x="3429000" y="4619625"/>
              <a:chExt cx="2667000" cy="1428750"/>
            </a:xfrm>
          </p:grpSpPr>
          <p:sp>
            <p:nvSpPr>
              <p:cNvPr id="81" name="Rectangle 81"/>
              <p:cNvSpPr/>
              <p:nvPr/>
            </p:nvSpPr>
            <p:spPr>
              <a:xfrm>
                <a:off x="3429000" y="4619625"/>
                <a:ext cx="2667000" cy="1428750"/>
              </a:xfrm>
              <a:prstGeom prst="roundRect">
                <a:avLst>
                  <a:gd name="adj" fmla="val 6667"/>
                </a:avLst>
              </a:prstGeom>
              <a:solidFill>
                <a:srgbClr val="F4F7FC"/>
              </a:solidFill>
              <a:ln>
                <a:noFill/>
              </a:ln>
            </p:spPr>
          </p:sp>
          <p:sp>
            <p:nvSpPr>
              <p:cNvPr id="82" name="Rectangle 82"/>
              <p:cNvSpPr/>
              <p:nvPr/>
            </p:nvSpPr>
            <p:spPr>
              <a:xfrm>
                <a:off x="3429000" y="4619625"/>
                <a:ext cx="38100" cy="1428750"/>
              </a:xfrm>
              <a:prstGeom prst="roundRect">
                <a:avLst>
                  <a:gd name="adj" fmla="val 50000"/>
                </a:avLst>
              </a:prstGeom>
              <a:solidFill>
                <a:srgbClr val="F59E0B"/>
              </a:solidFill>
              <a:ln>
                <a:noFill/>
              </a:ln>
            </p:spPr>
          </p:sp>
          <p:sp>
            <p:nvSpPr>
              <p:cNvPr id="83" name="TextBox 83"/>
              <p:cNvSpPr txBox="1"/>
              <p:nvPr/>
            </p:nvSpPr>
            <p:spPr>
              <a:xfrm>
                <a:off x="3606165" y="4772978"/>
                <a:ext cx="320707"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痛点</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84" name="TextBox 84"/>
              <p:cNvSpPr txBox="1"/>
              <p:nvPr/>
            </p:nvSpPr>
            <p:spPr>
              <a:xfrm>
                <a:off x="3606165" y="5058728"/>
                <a:ext cx="136383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历史标书散落文件夹,</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5" name="TextBox 85"/>
              <p:cNvSpPr txBox="1"/>
              <p:nvPr/>
            </p:nvSpPr>
            <p:spPr>
              <a:xfrm>
                <a:off x="3606165" y="5277802"/>
                <a:ext cx="58674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难以复用</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6" name="Line 86"/>
              <p:cNvSpPr/>
              <p:nvPr/>
            </p:nvSpPr>
            <p:spPr>
              <a:xfrm>
                <a:off x="3619500" y="5600700"/>
                <a:ext cx="2286000" cy="9525"/>
              </a:xfrm>
              <a:custGeom>
                <a:avLst/>
                <a:gdLst/>
                <a:ahLst/>
                <a:cxnLst/>
                <a:rect l="l" t="t" r="r" b="b"/>
                <a:pathLst>
                  <a:path w="2286000" h="9525">
                    <a:moveTo>
                      <a:pt x="0" y="0"/>
                    </a:moveTo>
                    <a:lnTo>
                      <a:pt x="2286000" y="0"/>
                    </a:lnTo>
                  </a:path>
                </a:pathLst>
              </a:custGeom>
              <a:noFill/>
              <a:ln w="9525">
                <a:solidFill>
                  <a:srgbClr val="E3E9F2"/>
                </a:solidFill>
              </a:ln>
            </p:spPr>
          </p:sp>
          <p:grpSp>
            <p:nvGrpSpPr>
              <p:cNvPr id="94" name="Group 94"/>
              <p:cNvGrpSpPr/>
              <p:nvPr/>
            </p:nvGrpSpPr>
            <p:grpSpPr>
              <a:xfrm>
                <a:off x="3657600" y="5743575"/>
                <a:ext cx="171450" cy="180975"/>
                <a:chOff x="3657600" y="5743575"/>
                <a:chExt cx="171450" cy="180975"/>
              </a:xfrm>
            </p:grpSpPr>
            <p:sp>
              <p:nvSpPr>
                <p:cNvPr id="87" name="Freeform 87"/>
                <p:cNvSpPr/>
                <p:nvPr/>
              </p:nvSpPr>
              <p:spPr>
                <a:xfrm>
                  <a:off x="3657600" y="5762625"/>
                  <a:ext cx="73314" cy="152400"/>
                </a:xfrm>
                <a:custGeom>
                  <a:avLst/>
                  <a:gdLst/>
                  <a:ahLst/>
                  <a:cxnLst/>
                  <a:rect l="l" t="t" r="r" b="b"/>
                  <a:pathLst>
                    <a:path w="73314" h="152400">
                      <a:moveTo>
                        <a:pt x="38100" y="0"/>
                      </a:moveTo>
                      <a:lnTo>
                        <a:pt x="19050" y="0"/>
                      </a:lnTo>
                      <a:cubicBezTo>
                        <a:pt x="8529" y="0"/>
                        <a:pt x="0" y="8529"/>
                        <a:pt x="0" y="19050"/>
                      </a:cubicBezTo>
                      <a:lnTo>
                        <a:pt x="0" y="133350"/>
                      </a:lnTo>
                      <a:cubicBezTo>
                        <a:pt x="0" y="143871"/>
                        <a:pt x="8529" y="152400"/>
                        <a:pt x="19050" y="152400"/>
                      </a:cubicBezTo>
                      <a:lnTo>
                        <a:pt x="73314" y="152400"/>
                      </a:lnTo>
                    </a:path>
                  </a:pathLst>
                </a:custGeom>
                <a:noFill/>
                <a:ln w="19050">
                  <a:solidFill>
                    <a:srgbClr val="246BFE"/>
                  </a:solidFill>
                </a:ln>
              </p:spPr>
            </p:sp>
            <p:sp>
              <p:nvSpPr>
                <p:cNvPr id="88" name="Freeform 88"/>
                <p:cNvSpPr/>
                <p:nvPr/>
              </p:nvSpPr>
              <p:spPr>
                <a:xfrm>
                  <a:off x="3790950" y="5848350"/>
                  <a:ext cx="38100" cy="38100"/>
                </a:xfrm>
                <a:custGeom>
                  <a:avLst/>
                  <a:gdLst/>
                  <a:ahLst/>
                  <a:cxnLst/>
                  <a:rect l="l" t="t" r="r" b="b"/>
                  <a:pathLst>
                    <a:path w="38100" h="38100">
                      <a:moveTo>
                        <a:pt x="0" y="0"/>
                      </a:moveTo>
                      <a:lnTo>
                        <a:pt x="0" y="38100"/>
                      </a:lnTo>
                      <a:lnTo>
                        <a:pt x="38100" y="38100"/>
                      </a:lnTo>
                    </a:path>
                  </a:pathLst>
                </a:custGeom>
                <a:noFill/>
                <a:ln w="19050">
                  <a:solidFill>
                    <a:srgbClr val="246BFE"/>
                  </a:solidFill>
                </a:ln>
              </p:spPr>
            </p:sp>
            <p:sp>
              <p:nvSpPr>
                <p:cNvPr id="89" name="Freeform 89"/>
                <p:cNvSpPr/>
                <p:nvPr/>
              </p:nvSpPr>
              <p:spPr>
                <a:xfrm>
                  <a:off x="3752850" y="5762625"/>
                  <a:ext cx="38100" cy="57150"/>
                </a:xfrm>
                <a:custGeom>
                  <a:avLst/>
                  <a:gdLst/>
                  <a:ahLst/>
                  <a:cxnLst/>
                  <a:rect l="l" t="t" r="r" b="b"/>
                  <a:pathLst>
                    <a:path w="38100" h="57150">
                      <a:moveTo>
                        <a:pt x="38100" y="57150"/>
                      </a:moveTo>
                      <a:lnTo>
                        <a:pt x="38100" y="19050"/>
                      </a:lnTo>
                      <a:cubicBezTo>
                        <a:pt x="38100" y="8529"/>
                        <a:pt x="29571" y="0"/>
                        <a:pt x="19050" y="0"/>
                      </a:cubicBezTo>
                      <a:lnTo>
                        <a:pt x="0" y="0"/>
                      </a:lnTo>
                    </a:path>
                  </a:pathLst>
                </a:custGeom>
                <a:noFill/>
                <a:ln w="19050">
                  <a:solidFill>
                    <a:srgbClr val="246BFE"/>
                  </a:solidFill>
                </a:ln>
              </p:spPr>
            </p:sp>
            <p:sp>
              <p:nvSpPr>
                <p:cNvPr id="90" name="Freeform 90"/>
                <p:cNvSpPr/>
                <p:nvPr/>
              </p:nvSpPr>
              <p:spPr>
                <a:xfrm>
                  <a:off x="3695700" y="5743575"/>
                  <a:ext cx="57150" cy="38100"/>
                </a:xfrm>
                <a:custGeom>
                  <a:avLst/>
                  <a:gdLst/>
                  <a:ahLst/>
                  <a:cxnLst/>
                  <a:rect l="l" t="t" r="r" b="b"/>
                  <a:pathLst>
                    <a:path w="57150" h="38100">
                      <a:moveTo>
                        <a:pt x="0" y="19050"/>
                      </a:moveTo>
                      <a:cubicBezTo>
                        <a:pt x="0" y="8529"/>
                        <a:pt x="8529" y="0"/>
                        <a:pt x="19050" y="0"/>
                      </a:cubicBezTo>
                      <a:lnTo>
                        <a:pt x="38100" y="0"/>
                      </a:lnTo>
                      <a:cubicBezTo>
                        <a:pt x="48621" y="0"/>
                        <a:pt x="57150" y="8529"/>
                        <a:pt x="57150" y="19050"/>
                      </a:cubicBezTo>
                      <a:cubicBezTo>
                        <a:pt x="57150" y="29571"/>
                        <a:pt x="48621" y="38100"/>
                        <a:pt x="38100" y="38100"/>
                      </a:cubicBezTo>
                      <a:lnTo>
                        <a:pt x="19050" y="38100"/>
                      </a:lnTo>
                      <a:cubicBezTo>
                        <a:pt x="8529" y="38100"/>
                        <a:pt x="0" y="29571"/>
                        <a:pt x="0" y="19050"/>
                      </a:cubicBezTo>
                    </a:path>
                  </a:pathLst>
                </a:custGeom>
                <a:noFill/>
                <a:ln w="19050">
                  <a:solidFill>
                    <a:srgbClr val="246BFE"/>
                  </a:solidFill>
                </a:ln>
              </p:spPr>
            </p:sp>
            <p:sp>
              <p:nvSpPr>
                <p:cNvPr id="91" name="Freeform 91"/>
                <p:cNvSpPr/>
                <p:nvPr/>
              </p:nvSpPr>
              <p:spPr>
                <a:xfrm>
                  <a:off x="3752850" y="58483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246BFE"/>
                  </a:solidFill>
                </a:ln>
              </p:spPr>
            </p:sp>
            <p:sp>
              <p:nvSpPr>
                <p:cNvPr id="92" name="Freeform 92"/>
                <p:cNvSpPr/>
                <p:nvPr/>
              </p:nvSpPr>
              <p:spPr>
                <a:xfrm>
                  <a:off x="3695700" y="5819775"/>
                  <a:ext cx="38100" cy="9525"/>
                </a:xfrm>
                <a:custGeom>
                  <a:avLst/>
                  <a:gdLst/>
                  <a:ahLst/>
                  <a:cxnLst/>
                  <a:rect l="l" t="t" r="r" b="b"/>
                  <a:pathLst>
                    <a:path w="38100" h="9525">
                      <a:moveTo>
                        <a:pt x="0" y="0"/>
                      </a:moveTo>
                      <a:lnTo>
                        <a:pt x="38100" y="0"/>
                      </a:lnTo>
                    </a:path>
                  </a:pathLst>
                </a:custGeom>
                <a:noFill/>
                <a:ln w="19050">
                  <a:solidFill>
                    <a:srgbClr val="246BFE"/>
                  </a:solidFill>
                </a:ln>
              </p:spPr>
            </p:sp>
            <p:sp>
              <p:nvSpPr>
                <p:cNvPr id="93" name="Freeform 93"/>
                <p:cNvSpPr/>
                <p:nvPr/>
              </p:nvSpPr>
              <p:spPr>
                <a:xfrm>
                  <a:off x="3695700" y="5857875"/>
                  <a:ext cx="28575" cy="9525"/>
                </a:xfrm>
                <a:custGeom>
                  <a:avLst/>
                  <a:gdLst/>
                  <a:ahLst/>
                  <a:cxnLst/>
                  <a:rect l="l" t="t" r="r" b="b"/>
                  <a:pathLst>
                    <a:path w="28575" h="9525">
                      <a:moveTo>
                        <a:pt x="0" y="0"/>
                      </a:moveTo>
                      <a:lnTo>
                        <a:pt x="28575" y="0"/>
                      </a:lnTo>
                    </a:path>
                  </a:pathLst>
                </a:custGeom>
                <a:noFill/>
                <a:ln w="19050">
                  <a:solidFill>
                    <a:srgbClr val="246BFE"/>
                  </a:solidFill>
                </a:ln>
              </p:spPr>
            </p:sp>
          </p:grpSp>
          <p:sp>
            <p:nvSpPr>
              <p:cNvPr id="95" name="TextBox 95"/>
              <p:cNvSpPr txBox="1"/>
              <p:nvPr/>
            </p:nvSpPr>
            <p:spPr>
              <a:xfrm>
                <a:off x="3911918" y="5781199"/>
                <a:ext cx="1389936"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历史材料智能匹配复用</a:t>
                </a:r>
                <a:endParaRPr lang="zh-CN" sz="975" b="1" dirty="0">
                  <a:solidFill>
                    <a:srgbClr val="246BFE"/>
                  </a:solidFill>
                  <a:latin typeface="Arial" panose="020B0604020202020204"/>
                  <a:ea typeface="微软雅黑" panose="020B0503020204020204" charset="-122"/>
                  <a:cs typeface="Arial" panose="020B0604020202020204"/>
                </a:endParaRPr>
              </a:p>
            </p:txBody>
          </p:sp>
        </p:grpSp>
        <p:grpSp>
          <p:nvGrpSpPr>
            <p:cNvPr id="109" name="Group 109"/>
            <p:cNvGrpSpPr/>
            <p:nvPr/>
          </p:nvGrpSpPr>
          <p:grpSpPr>
            <a:xfrm>
              <a:off x="6286500" y="4619625"/>
              <a:ext cx="2667000" cy="1428750"/>
              <a:chOff x="6286500" y="4619625"/>
              <a:chExt cx="2667000" cy="1428750"/>
            </a:xfrm>
          </p:grpSpPr>
          <p:sp>
            <p:nvSpPr>
              <p:cNvPr id="97" name="Rectangle 97"/>
              <p:cNvSpPr/>
              <p:nvPr/>
            </p:nvSpPr>
            <p:spPr>
              <a:xfrm>
                <a:off x="6286500" y="4619625"/>
                <a:ext cx="2667000" cy="1428750"/>
              </a:xfrm>
              <a:prstGeom prst="roundRect">
                <a:avLst>
                  <a:gd name="adj" fmla="val 6667"/>
                </a:avLst>
              </a:prstGeom>
              <a:solidFill>
                <a:srgbClr val="F4F7FC"/>
              </a:solidFill>
              <a:ln>
                <a:noFill/>
              </a:ln>
            </p:spPr>
          </p:sp>
          <p:sp>
            <p:nvSpPr>
              <p:cNvPr id="98" name="Rectangle 98"/>
              <p:cNvSpPr/>
              <p:nvPr/>
            </p:nvSpPr>
            <p:spPr>
              <a:xfrm>
                <a:off x="6286500" y="4619625"/>
                <a:ext cx="38100" cy="1428750"/>
              </a:xfrm>
              <a:prstGeom prst="roundRect">
                <a:avLst>
                  <a:gd name="adj" fmla="val 50000"/>
                </a:avLst>
              </a:prstGeom>
              <a:solidFill>
                <a:srgbClr val="F59E0B"/>
              </a:solidFill>
              <a:ln>
                <a:noFill/>
              </a:ln>
            </p:spPr>
          </p:sp>
          <p:sp>
            <p:nvSpPr>
              <p:cNvPr id="99" name="TextBox 99"/>
              <p:cNvSpPr txBox="1"/>
              <p:nvPr/>
            </p:nvSpPr>
            <p:spPr>
              <a:xfrm>
                <a:off x="6463665" y="4772978"/>
                <a:ext cx="320707"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痛点</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100" name="TextBox 100"/>
              <p:cNvSpPr txBox="1"/>
              <p:nvPr/>
            </p:nvSpPr>
            <p:spPr>
              <a:xfrm>
                <a:off x="6463665" y="5058728"/>
                <a:ext cx="150385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评分点覆盖不充分,方案</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101" name="TextBox 101"/>
              <p:cNvSpPr txBox="1"/>
              <p:nvPr/>
            </p:nvSpPr>
            <p:spPr>
              <a:xfrm>
                <a:off x="6463665" y="527780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难贴合招标文件</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102" name="Line 102"/>
              <p:cNvSpPr/>
              <p:nvPr/>
            </p:nvSpPr>
            <p:spPr>
              <a:xfrm>
                <a:off x="6477000" y="5600700"/>
                <a:ext cx="2286000" cy="9525"/>
              </a:xfrm>
              <a:custGeom>
                <a:avLst/>
                <a:gdLst/>
                <a:ahLst/>
                <a:cxnLst/>
                <a:rect l="l" t="t" r="r" b="b"/>
                <a:pathLst>
                  <a:path w="2286000" h="9525">
                    <a:moveTo>
                      <a:pt x="0" y="0"/>
                    </a:moveTo>
                    <a:lnTo>
                      <a:pt x="2286000" y="0"/>
                    </a:lnTo>
                  </a:path>
                </a:pathLst>
              </a:custGeom>
              <a:noFill/>
              <a:ln w="9525">
                <a:solidFill>
                  <a:srgbClr val="E3E9F2"/>
                </a:solidFill>
              </a:ln>
            </p:spPr>
          </p:sp>
          <p:grpSp>
            <p:nvGrpSpPr>
              <p:cNvPr id="107" name="Group 107"/>
              <p:cNvGrpSpPr/>
              <p:nvPr/>
            </p:nvGrpSpPr>
            <p:grpSpPr>
              <a:xfrm>
                <a:off x="6505575" y="5753100"/>
                <a:ext cx="171450" cy="161925"/>
                <a:chOff x="6505575" y="5753100"/>
                <a:chExt cx="171450" cy="161925"/>
              </a:xfrm>
            </p:grpSpPr>
            <p:sp>
              <p:nvSpPr>
                <p:cNvPr id="103" name="Freeform 103"/>
                <p:cNvSpPr/>
                <p:nvPr/>
              </p:nvSpPr>
              <p:spPr>
                <a:xfrm>
                  <a:off x="6505575" y="5829300"/>
                  <a:ext cx="57150" cy="76200"/>
                </a:xfrm>
                <a:custGeom>
                  <a:avLst/>
                  <a:gdLst/>
                  <a:ahLst/>
                  <a:cxnLst/>
                  <a:rect l="l" t="t" r="r" b="b"/>
                  <a:pathLst>
                    <a:path w="57150" h="76200">
                      <a:moveTo>
                        <a:pt x="0" y="9525"/>
                      </a:moveTo>
                      <a:cubicBezTo>
                        <a:pt x="0" y="4264"/>
                        <a:pt x="4264" y="0"/>
                        <a:pt x="9525" y="0"/>
                      </a:cubicBezTo>
                      <a:lnTo>
                        <a:pt x="47625" y="0"/>
                      </a:lnTo>
                      <a:cubicBezTo>
                        <a:pt x="52886" y="0"/>
                        <a:pt x="57150" y="4264"/>
                        <a:pt x="57150" y="9525"/>
                      </a:cubicBezTo>
                      <a:lnTo>
                        <a:pt x="57150" y="66675"/>
                      </a:lnTo>
                      <a:cubicBezTo>
                        <a:pt x="57150" y="71936"/>
                        <a:pt x="52886" y="76200"/>
                        <a:pt x="47625" y="76200"/>
                      </a:cubicBezTo>
                      <a:lnTo>
                        <a:pt x="9525" y="76200"/>
                      </a:lnTo>
                      <a:cubicBezTo>
                        <a:pt x="4264" y="76200"/>
                        <a:pt x="0" y="71936"/>
                        <a:pt x="0" y="66675"/>
                      </a:cubicBezTo>
                      <a:lnTo>
                        <a:pt x="0" y="9525"/>
                      </a:lnTo>
                    </a:path>
                  </a:pathLst>
                </a:custGeom>
                <a:noFill/>
                <a:ln w="19050">
                  <a:solidFill>
                    <a:srgbClr val="246BFE"/>
                  </a:solidFill>
                </a:ln>
              </p:spPr>
            </p:sp>
            <p:sp>
              <p:nvSpPr>
                <p:cNvPr id="104" name="Freeform 104"/>
                <p:cNvSpPr/>
                <p:nvPr/>
              </p:nvSpPr>
              <p:spPr>
                <a:xfrm>
                  <a:off x="6619875" y="5791200"/>
                  <a:ext cx="57150" cy="114300"/>
                </a:xfrm>
                <a:custGeom>
                  <a:avLst/>
                  <a:gdLst/>
                  <a:ahLst/>
                  <a:cxnLst/>
                  <a:rect l="l" t="t" r="r" b="b"/>
                  <a:pathLst>
                    <a:path w="57150" h="114300">
                      <a:moveTo>
                        <a:pt x="0" y="9525"/>
                      </a:moveTo>
                      <a:cubicBezTo>
                        <a:pt x="0" y="4264"/>
                        <a:pt x="4264" y="0"/>
                        <a:pt x="9525" y="0"/>
                      </a:cubicBezTo>
                      <a:lnTo>
                        <a:pt x="47625" y="0"/>
                      </a:lnTo>
                      <a:cubicBezTo>
                        <a:pt x="52886" y="0"/>
                        <a:pt x="57150" y="4264"/>
                        <a:pt x="57150" y="9525"/>
                      </a:cubicBezTo>
                      <a:lnTo>
                        <a:pt x="57150" y="104775"/>
                      </a:lnTo>
                      <a:cubicBezTo>
                        <a:pt x="57150" y="110036"/>
                        <a:pt x="52886" y="114300"/>
                        <a:pt x="47625" y="114300"/>
                      </a:cubicBezTo>
                      <a:lnTo>
                        <a:pt x="9525" y="114300"/>
                      </a:lnTo>
                      <a:cubicBezTo>
                        <a:pt x="4264" y="114300"/>
                        <a:pt x="0" y="110036"/>
                        <a:pt x="0" y="104775"/>
                      </a:cubicBezTo>
                      <a:lnTo>
                        <a:pt x="0" y="9525"/>
                      </a:lnTo>
                    </a:path>
                  </a:pathLst>
                </a:custGeom>
                <a:noFill/>
                <a:ln w="19050">
                  <a:solidFill>
                    <a:srgbClr val="246BFE"/>
                  </a:solidFill>
                </a:ln>
              </p:spPr>
            </p:sp>
            <p:sp>
              <p:nvSpPr>
                <p:cNvPr id="105" name="Freeform 105"/>
                <p:cNvSpPr/>
                <p:nvPr/>
              </p:nvSpPr>
              <p:spPr>
                <a:xfrm>
                  <a:off x="6562725" y="5753100"/>
                  <a:ext cx="57150" cy="152400"/>
                </a:xfrm>
                <a:custGeom>
                  <a:avLst/>
                  <a:gdLst/>
                  <a:ahLst/>
                  <a:cxnLst/>
                  <a:rect l="l" t="t" r="r" b="b"/>
                  <a:pathLst>
                    <a:path w="57150" h="152400">
                      <a:moveTo>
                        <a:pt x="0" y="9525"/>
                      </a:moveTo>
                      <a:cubicBezTo>
                        <a:pt x="0" y="4264"/>
                        <a:pt x="4264" y="0"/>
                        <a:pt x="9525" y="0"/>
                      </a:cubicBezTo>
                      <a:lnTo>
                        <a:pt x="47625" y="0"/>
                      </a:lnTo>
                      <a:cubicBezTo>
                        <a:pt x="52886" y="0"/>
                        <a:pt x="57150" y="4264"/>
                        <a:pt x="57150" y="9525"/>
                      </a:cubicBezTo>
                      <a:lnTo>
                        <a:pt x="57150" y="142875"/>
                      </a:lnTo>
                      <a:cubicBezTo>
                        <a:pt x="57150" y="148136"/>
                        <a:pt x="52886" y="152400"/>
                        <a:pt x="47625" y="152400"/>
                      </a:cubicBezTo>
                      <a:lnTo>
                        <a:pt x="9525" y="152400"/>
                      </a:lnTo>
                      <a:cubicBezTo>
                        <a:pt x="4264" y="152400"/>
                        <a:pt x="0" y="148136"/>
                        <a:pt x="0" y="142875"/>
                      </a:cubicBezTo>
                      <a:lnTo>
                        <a:pt x="0" y="9525"/>
                      </a:lnTo>
                    </a:path>
                  </a:pathLst>
                </a:custGeom>
                <a:noFill/>
                <a:ln w="19050">
                  <a:solidFill>
                    <a:srgbClr val="246BFE"/>
                  </a:solidFill>
                </a:ln>
              </p:spPr>
            </p:sp>
            <p:sp>
              <p:nvSpPr>
                <p:cNvPr id="106" name="Freeform 106"/>
                <p:cNvSpPr/>
                <p:nvPr/>
              </p:nvSpPr>
              <p:spPr>
                <a:xfrm>
                  <a:off x="6515100" y="5905500"/>
                  <a:ext cx="133350" cy="9525"/>
                </a:xfrm>
                <a:custGeom>
                  <a:avLst/>
                  <a:gdLst/>
                  <a:ahLst/>
                  <a:cxnLst/>
                  <a:rect l="l" t="t" r="r" b="b"/>
                  <a:pathLst>
                    <a:path w="133350" h="9525">
                      <a:moveTo>
                        <a:pt x="0" y="0"/>
                      </a:moveTo>
                      <a:lnTo>
                        <a:pt x="133350" y="0"/>
                      </a:lnTo>
                    </a:path>
                  </a:pathLst>
                </a:custGeom>
                <a:noFill/>
                <a:ln w="19050">
                  <a:solidFill>
                    <a:srgbClr val="246BFE"/>
                  </a:solidFill>
                </a:ln>
              </p:spPr>
            </p:sp>
          </p:grpSp>
          <p:sp>
            <p:nvSpPr>
              <p:cNvPr id="108" name="TextBox 108"/>
              <p:cNvSpPr txBox="1"/>
              <p:nvPr/>
            </p:nvSpPr>
            <p:spPr>
              <a:xfrm>
                <a:off x="6769418" y="5781199"/>
                <a:ext cx="1328503"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评分项拆解,逐项生成</a:t>
                </a:r>
                <a:endParaRPr lang="zh-CN" sz="975" b="1" dirty="0">
                  <a:solidFill>
                    <a:srgbClr val="246BFE"/>
                  </a:solidFill>
                  <a:latin typeface="Arial" panose="020B0604020202020204"/>
                  <a:ea typeface="微软雅黑" panose="020B0503020204020204" charset="-122"/>
                  <a:cs typeface="Arial" panose="020B0604020202020204"/>
                </a:endParaRPr>
              </a:p>
            </p:txBody>
          </p:sp>
        </p:grpSp>
        <p:grpSp>
          <p:nvGrpSpPr>
            <p:cNvPr id="118" name="Group 118"/>
            <p:cNvGrpSpPr/>
            <p:nvPr/>
          </p:nvGrpSpPr>
          <p:grpSpPr>
            <a:xfrm>
              <a:off x="9144000" y="4619625"/>
              <a:ext cx="2476500" cy="1428750"/>
              <a:chOff x="9144000" y="4619625"/>
              <a:chExt cx="2476500" cy="1428750"/>
            </a:xfrm>
          </p:grpSpPr>
          <p:sp>
            <p:nvSpPr>
              <p:cNvPr id="110" name="Rectangle 110"/>
              <p:cNvSpPr/>
              <p:nvPr/>
            </p:nvSpPr>
            <p:spPr>
              <a:xfrm>
                <a:off x="9144000" y="4619625"/>
                <a:ext cx="2476500" cy="1428750"/>
              </a:xfrm>
              <a:prstGeom prst="roundRect">
                <a:avLst>
                  <a:gd name="adj" fmla="val 6667"/>
                </a:avLst>
              </a:prstGeom>
              <a:solidFill>
                <a:srgbClr val="F4F7FC"/>
              </a:solidFill>
              <a:ln>
                <a:noFill/>
              </a:ln>
            </p:spPr>
          </p:sp>
          <p:sp>
            <p:nvSpPr>
              <p:cNvPr id="111" name="Rectangle 111"/>
              <p:cNvSpPr/>
              <p:nvPr/>
            </p:nvSpPr>
            <p:spPr>
              <a:xfrm>
                <a:off x="9144000" y="4619625"/>
                <a:ext cx="38100" cy="1428750"/>
              </a:xfrm>
              <a:prstGeom prst="roundRect">
                <a:avLst>
                  <a:gd name="adj" fmla="val 50000"/>
                </a:avLst>
              </a:prstGeom>
              <a:solidFill>
                <a:srgbClr val="F59E0B"/>
              </a:solidFill>
              <a:ln>
                <a:noFill/>
              </a:ln>
            </p:spPr>
          </p:sp>
          <p:sp>
            <p:nvSpPr>
              <p:cNvPr id="112" name="TextBox 112"/>
              <p:cNvSpPr txBox="1"/>
              <p:nvPr/>
            </p:nvSpPr>
            <p:spPr>
              <a:xfrm>
                <a:off x="9321165" y="4772978"/>
                <a:ext cx="320707"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痛点</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113" name="TextBox 113"/>
              <p:cNvSpPr txBox="1"/>
              <p:nvPr/>
            </p:nvSpPr>
            <p:spPr>
              <a:xfrm>
                <a:off x="9321165" y="5058728"/>
                <a:ext cx="1377839"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资格/废标/签章/格式</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114" name="TextBox 114"/>
              <p:cNvSpPr txBox="1"/>
              <p:nvPr/>
            </p:nvSpPr>
            <p:spPr>
              <a:xfrm>
                <a:off x="9321165" y="527780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低级失误致废标</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115" name="Line 115"/>
              <p:cNvSpPr/>
              <p:nvPr/>
            </p:nvSpPr>
            <p:spPr>
              <a:xfrm>
                <a:off x="9334500" y="5600700"/>
                <a:ext cx="2095500" cy="9525"/>
              </a:xfrm>
              <a:custGeom>
                <a:avLst/>
                <a:gdLst/>
                <a:ahLst/>
                <a:cxnLst/>
                <a:rect l="l" t="t" r="r" b="b"/>
                <a:pathLst>
                  <a:path w="2095500" h="9525">
                    <a:moveTo>
                      <a:pt x="0" y="0"/>
                    </a:moveTo>
                    <a:lnTo>
                      <a:pt x="2095500" y="0"/>
                    </a:lnTo>
                  </a:path>
                </a:pathLst>
              </a:custGeom>
              <a:noFill/>
              <a:ln w="9525">
                <a:solidFill>
                  <a:srgbClr val="E3E9F2"/>
                </a:solidFill>
              </a:ln>
            </p:spPr>
          </p:sp>
          <p:sp>
            <p:nvSpPr>
              <p:cNvPr id="116" name="Freeform 116"/>
              <p:cNvSpPr/>
              <p:nvPr/>
            </p:nvSpPr>
            <p:spPr>
              <a:xfrm>
                <a:off x="9359108" y="5743575"/>
                <a:ext cx="179383" cy="171450"/>
              </a:xfrm>
              <a:custGeom>
                <a:avLst/>
                <a:gdLst/>
                <a:ahLst/>
                <a:cxnLst/>
                <a:rect l="l" t="t" r="r" b="b"/>
                <a:pathLst>
                  <a:path w="179383" h="171450">
                    <a:moveTo>
                      <a:pt x="89692" y="0"/>
                    </a:moveTo>
                    <a:cubicBezTo>
                      <a:pt x="111940" y="19684"/>
                      <a:pt x="140979" y="29933"/>
                      <a:pt x="170654" y="28575"/>
                    </a:cubicBezTo>
                    <a:cubicBezTo>
                      <a:pt x="179383" y="58269"/>
                      <a:pt x="175697" y="90235"/>
                      <a:pt x="160438" y="117163"/>
                    </a:cubicBezTo>
                    <a:cubicBezTo>
                      <a:pt x="145178" y="144091"/>
                      <a:pt x="119651" y="163679"/>
                      <a:pt x="89692" y="171450"/>
                    </a:cubicBezTo>
                    <a:cubicBezTo>
                      <a:pt x="59732" y="163679"/>
                      <a:pt x="34205" y="144091"/>
                      <a:pt x="18946" y="117163"/>
                    </a:cubicBezTo>
                    <a:cubicBezTo>
                      <a:pt x="3686" y="90235"/>
                      <a:pt x="0" y="58269"/>
                      <a:pt x="8729" y="28575"/>
                    </a:cubicBezTo>
                    <a:cubicBezTo>
                      <a:pt x="38405" y="29933"/>
                      <a:pt x="67443" y="19684"/>
                      <a:pt x="89692" y="0"/>
                    </a:cubicBezTo>
                  </a:path>
                </a:pathLst>
              </a:custGeom>
              <a:noFill/>
              <a:ln w="19050">
                <a:solidFill>
                  <a:srgbClr val="0E9F6E"/>
                </a:solidFill>
              </a:ln>
            </p:spPr>
          </p:sp>
          <p:sp>
            <p:nvSpPr>
              <p:cNvPr id="117" name="TextBox 117"/>
              <p:cNvSpPr txBox="1"/>
              <p:nvPr/>
            </p:nvSpPr>
            <p:spPr>
              <a:xfrm>
                <a:off x="9626918" y="5781199"/>
                <a:ext cx="1191986" cy="198120"/>
              </a:xfrm>
              <a:prstGeom prst="rect">
                <a:avLst/>
              </a:prstGeom>
              <a:noFill/>
              <a:ln>
                <a:noFill/>
              </a:ln>
            </p:spPr>
            <p:txBody>
              <a:bodyPr wrap="none" lIns="0" tIns="0" rIns="0" bIns="0" anchor="t" anchorCtr="0">
                <a:spAutoFit/>
              </a:bodyPr>
              <a:lstStyle/>
              <a:p>
                <a:pPr algn="l"/>
                <a:r>
                  <a:rPr lang="zh-CN" sz="975" b="1" dirty="0">
                    <a:solidFill>
                      <a:srgbClr val="0E9F6E"/>
                    </a:solidFill>
                    <a:latin typeface="Arial" panose="020B0604020202020204"/>
                    <a:ea typeface="微软雅黑" panose="020B0503020204020204" charset="-122"/>
                    <a:cs typeface="Arial" panose="020B0604020202020204"/>
                  </a:rPr>
                  <a:t>七维检查,风险预警</a:t>
                </a:r>
                <a:endParaRPr lang="zh-CN" sz="975" b="1" dirty="0">
                  <a:solidFill>
                    <a:srgbClr val="0E9F6E"/>
                  </a:solidFill>
                  <a:latin typeface="Arial" panose="020B0604020202020204"/>
                  <a:ea typeface="微软雅黑" panose="020B0503020204020204" charset="-122"/>
                  <a:cs typeface="Arial" panose="020B0604020202020204"/>
                </a:endParaRPr>
              </a:p>
            </p:txBody>
          </p:sp>
        </p:grpSp>
      </p:grpSp>
      <p:grpSp>
        <p:nvGrpSpPr>
          <p:cNvPr id="122" name="Group 122"/>
          <p:cNvGrpSpPr/>
          <p:nvPr/>
        </p:nvGrpSpPr>
        <p:grpSpPr>
          <a:xfrm>
            <a:off x="561022" y="6578441"/>
            <a:ext cx="11069955" cy="167640"/>
            <a:chOff x="561022" y="6578441"/>
            <a:chExt cx="11069955" cy="167640"/>
          </a:xfrm>
        </p:grpSpPr>
        <p:sp>
          <p:nvSpPr>
            <p:cNvPr id="120" name="TextBox 120"/>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21" name="TextBox 121"/>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15</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image">
                                      <p:cBhvr>
                                        <p:cTn id="7" dur="400"/>
                                        <p:tgtEl>
                                          <p:spTgt spid="6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9"/>
                                        </p:tgtEl>
                                        <p:attrNameLst>
                                          <p:attrName>style.visibility</p:attrName>
                                        </p:attrNameLst>
                                      </p:cBhvr>
                                      <p:to>
                                        <p:strVal val="visible"/>
                                      </p:to>
                                    </p:set>
                                    <p:animEffect transition="in" filter="fade">
                                      <p:cBhvr>
                                        <p:cTn id="11" dur="4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1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9" name="Group 9"/>
          <p:cNvGrpSpPr/>
          <p:nvPr/>
        </p:nvGrpSpPr>
        <p:grpSpPr>
          <a:xfrm>
            <a:off x="542925" y="553402"/>
            <a:ext cx="8124825" cy="970598"/>
            <a:chOff x="542925" y="553402"/>
            <a:chExt cx="8124825" cy="970598"/>
          </a:xfrm>
        </p:grpSpPr>
        <p:sp>
          <p:nvSpPr>
            <p:cNvPr id="5" name="Freeform 5"/>
            <p:cNvSpPr/>
            <p:nvPr/>
          </p:nvSpPr>
          <p:spPr>
            <a:xfrm>
              <a:off x="593803" y="593747"/>
              <a:ext cx="221939" cy="211060"/>
            </a:xfrm>
            <a:custGeom>
              <a:avLst/>
              <a:gdLst/>
              <a:ahLst/>
              <a:cxnLst/>
              <a:rect l="l" t="t" r="r" b="b"/>
              <a:pathLst>
                <a:path w="221939" h="211060">
                  <a:moveTo>
                    <a:pt x="111047" y="175000"/>
                  </a:moveTo>
                  <a:lnTo>
                    <a:pt x="42461" y="211060"/>
                  </a:lnTo>
                  <a:lnTo>
                    <a:pt x="55563" y="134684"/>
                  </a:lnTo>
                  <a:lnTo>
                    <a:pt x="0" y="80599"/>
                  </a:lnTo>
                  <a:lnTo>
                    <a:pt x="76676" y="69486"/>
                  </a:lnTo>
                  <a:lnTo>
                    <a:pt x="110969" y="0"/>
                  </a:lnTo>
                  <a:lnTo>
                    <a:pt x="145263" y="69486"/>
                  </a:lnTo>
                  <a:lnTo>
                    <a:pt x="221939" y="80599"/>
                  </a:lnTo>
                  <a:lnTo>
                    <a:pt x="166376" y="134684"/>
                  </a:lnTo>
                  <a:lnTo>
                    <a:pt x="179478" y="211060"/>
                  </a:lnTo>
                  <a:lnTo>
                    <a:pt x="111047" y="175000"/>
                  </a:lnTo>
                </a:path>
              </a:pathLst>
            </a:custGeom>
            <a:noFill/>
            <a:ln w="19050">
              <a:solidFill>
                <a:srgbClr val="F59E0B"/>
              </a:solidFill>
            </a:ln>
          </p:spPr>
        </p:sp>
        <p:sp>
          <p:nvSpPr>
            <p:cNvPr id="6" name="TextBox 6"/>
            <p:cNvSpPr txBox="1"/>
            <p:nvPr/>
          </p:nvSpPr>
          <p:spPr>
            <a:xfrm>
              <a:off x="901065" y="553402"/>
              <a:ext cx="2187840"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03 场景方案 · 投标 · 核心差异化</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42925" y="852488"/>
              <a:ext cx="5460075"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客户归并与决策链分析 — 统一客户视图</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8" name="TextBox 8"/>
            <p:cNvSpPr txBox="1"/>
            <p:nvPr/>
          </p:nvSpPr>
          <p:spPr>
            <a:xfrm>
              <a:off x="556260" y="1280160"/>
              <a:ext cx="8111490"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同一楼宇/园区被多销售分散跟进时,AI 自动归并为统一客户,并梳理完整决策链 —— 这是高力国际的核心差异化价值</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571500" y="1714500"/>
            <a:ext cx="3048000" cy="1714500"/>
            <a:chOff x="571500" y="1714500"/>
            <a:chExt cx="3048000" cy="1714500"/>
          </a:xfrm>
        </p:grpSpPr>
        <p:sp>
          <p:nvSpPr>
            <p:cNvPr id="10" name="Rectangle 10"/>
            <p:cNvSpPr/>
            <p:nvPr/>
          </p:nvSpPr>
          <p:spPr>
            <a:xfrm>
              <a:off x="571500" y="1714500"/>
              <a:ext cx="3048000" cy="1714500"/>
            </a:xfrm>
            <a:prstGeom prst="roundRect">
              <a:avLst>
                <a:gd name="adj" fmla="val 6667"/>
              </a:avLst>
            </a:prstGeom>
            <a:solidFill>
              <a:srgbClr val="F4F7FC"/>
            </a:solidFill>
            <a:ln>
              <a:noFill/>
            </a:ln>
          </p:spPr>
        </p:sp>
        <p:sp>
          <p:nvSpPr>
            <p:cNvPr id="11" name="Rectangle 11"/>
            <p:cNvSpPr/>
            <p:nvPr/>
          </p:nvSpPr>
          <p:spPr>
            <a:xfrm>
              <a:off x="571500" y="1714500"/>
              <a:ext cx="3048000" cy="457200"/>
            </a:xfrm>
            <a:prstGeom prst="roundRect">
              <a:avLst>
                <a:gd name="adj" fmla="val 25000"/>
              </a:avLst>
            </a:prstGeom>
            <a:solidFill>
              <a:srgbClr val="0052A6"/>
            </a:solidFill>
            <a:ln>
              <a:noFill/>
            </a:ln>
          </p:spPr>
        </p:sp>
        <p:sp>
          <p:nvSpPr>
            <p:cNvPr id="12" name="Rectangle 12"/>
            <p:cNvSpPr/>
            <p:nvPr/>
          </p:nvSpPr>
          <p:spPr>
            <a:xfrm>
              <a:off x="571500" y="2019300"/>
              <a:ext cx="3048000" cy="152400"/>
            </a:xfrm>
            <a:prstGeom prst="rect">
              <a:avLst/>
            </a:prstGeom>
            <a:solidFill>
              <a:srgbClr val="0052A6"/>
            </a:solidFill>
            <a:ln>
              <a:noFill/>
            </a:ln>
          </p:spPr>
        </p:sp>
        <p:grpSp>
          <p:nvGrpSpPr>
            <p:cNvPr id="21" name="Group 21"/>
            <p:cNvGrpSpPr/>
            <p:nvPr/>
          </p:nvGrpSpPr>
          <p:grpSpPr>
            <a:xfrm>
              <a:off x="792956" y="1850231"/>
              <a:ext cx="185737" cy="196056"/>
              <a:chOff x="792956" y="1850231"/>
              <a:chExt cx="185737" cy="196056"/>
            </a:xfrm>
          </p:grpSpPr>
          <p:sp>
            <p:nvSpPr>
              <p:cNvPr id="13" name="Freeform 13"/>
              <p:cNvSpPr/>
              <p:nvPr/>
            </p:nvSpPr>
            <p:spPr>
              <a:xfrm>
                <a:off x="823912" y="1850231"/>
                <a:ext cx="123825" cy="123825"/>
              </a:xfrm>
              <a:custGeom>
                <a:avLst/>
                <a:gdLst/>
                <a:ahLst/>
                <a:cxnLst/>
                <a:rect l="l" t="t" r="r" b="b"/>
                <a:pathLst>
                  <a:path w="123825" h="123825">
                    <a:moveTo>
                      <a:pt x="0" y="61912"/>
                    </a:moveTo>
                    <a:cubicBezTo>
                      <a:pt x="0" y="96106"/>
                      <a:pt x="27719" y="123825"/>
                      <a:pt x="61912" y="123825"/>
                    </a:cubicBezTo>
                    <a:cubicBezTo>
                      <a:pt x="96106" y="123825"/>
                      <a:pt x="123825" y="96106"/>
                      <a:pt x="123825" y="61912"/>
                    </a:cubicBezTo>
                    <a:cubicBezTo>
                      <a:pt x="123825" y="27719"/>
                      <a:pt x="96106" y="0"/>
                      <a:pt x="61912" y="0"/>
                    </a:cubicBezTo>
                    <a:cubicBezTo>
                      <a:pt x="27719" y="0"/>
                      <a:pt x="0" y="27719"/>
                      <a:pt x="0" y="61912"/>
                    </a:cubicBezTo>
                  </a:path>
                </a:pathLst>
              </a:custGeom>
              <a:noFill/>
              <a:ln w="19050">
                <a:solidFill>
                  <a:srgbClr val="FFFFFF"/>
                </a:solidFill>
              </a:ln>
            </p:spPr>
          </p:sp>
          <p:sp>
            <p:nvSpPr>
              <p:cNvPr id="14" name="Freeform 14"/>
              <p:cNvSpPr/>
              <p:nvPr/>
            </p:nvSpPr>
            <p:spPr>
              <a:xfrm>
                <a:off x="885825" y="1850231"/>
                <a:ext cx="20638" cy="123825"/>
              </a:xfrm>
              <a:custGeom>
                <a:avLst/>
                <a:gdLst/>
                <a:ahLst/>
                <a:cxnLst/>
                <a:rect l="l" t="t" r="r" b="b"/>
                <a:pathLst>
                  <a:path w="20638" h="123825">
                    <a:moveTo>
                      <a:pt x="0" y="0"/>
                    </a:moveTo>
                    <a:cubicBezTo>
                      <a:pt x="13755" y="3436"/>
                      <a:pt x="20638" y="24074"/>
                      <a:pt x="20638" y="61912"/>
                    </a:cubicBezTo>
                    <a:cubicBezTo>
                      <a:pt x="20638" y="99751"/>
                      <a:pt x="13755" y="120389"/>
                      <a:pt x="0" y="123825"/>
                    </a:cubicBezTo>
                  </a:path>
                </a:pathLst>
              </a:custGeom>
              <a:noFill/>
              <a:ln w="19050">
                <a:solidFill>
                  <a:srgbClr val="FFFFFF"/>
                </a:solidFill>
              </a:ln>
            </p:spPr>
          </p:sp>
          <p:sp>
            <p:nvSpPr>
              <p:cNvPr id="15" name="Freeform 15"/>
              <p:cNvSpPr/>
              <p:nvPr/>
            </p:nvSpPr>
            <p:spPr>
              <a:xfrm>
                <a:off x="865188" y="1850231"/>
                <a:ext cx="20638" cy="123825"/>
              </a:xfrm>
              <a:custGeom>
                <a:avLst/>
                <a:gdLst/>
                <a:ahLst/>
                <a:cxnLst/>
                <a:rect l="l" t="t" r="r" b="b"/>
                <a:pathLst>
                  <a:path w="20638" h="123825">
                    <a:moveTo>
                      <a:pt x="20638" y="0"/>
                    </a:moveTo>
                    <a:cubicBezTo>
                      <a:pt x="6883" y="3436"/>
                      <a:pt x="0" y="24074"/>
                      <a:pt x="0" y="61912"/>
                    </a:cubicBezTo>
                    <a:cubicBezTo>
                      <a:pt x="0" y="99751"/>
                      <a:pt x="6883" y="120389"/>
                      <a:pt x="20638" y="123825"/>
                    </a:cubicBezTo>
                  </a:path>
                </a:pathLst>
              </a:custGeom>
              <a:noFill/>
              <a:ln w="19050">
                <a:solidFill>
                  <a:srgbClr val="FFFFFF"/>
                </a:solidFill>
              </a:ln>
            </p:spPr>
          </p:sp>
          <p:sp>
            <p:nvSpPr>
              <p:cNvPr id="16" name="Freeform 16"/>
              <p:cNvSpPr/>
              <p:nvPr/>
            </p:nvSpPr>
            <p:spPr>
              <a:xfrm>
                <a:off x="823912" y="1912144"/>
                <a:ext cx="123825" cy="9525"/>
              </a:xfrm>
              <a:custGeom>
                <a:avLst/>
                <a:gdLst/>
                <a:ahLst/>
                <a:cxnLst/>
                <a:rect l="l" t="t" r="r" b="b"/>
                <a:pathLst>
                  <a:path w="123825" h="9525">
                    <a:moveTo>
                      <a:pt x="0" y="0"/>
                    </a:moveTo>
                    <a:lnTo>
                      <a:pt x="123825" y="0"/>
                    </a:lnTo>
                  </a:path>
                </a:pathLst>
              </a:custGeom>
              <a:noFill/>
              <a:ln w="19050">
                <a:solidFill>
                  <a:srgbClr val="FFFFFF"/>
                </a:solidFill>
              </a:ln>
            </p:spPr>
          </p:sp>
          <p:sp>
            <p:nvSpPr>
              <p:cNvPr id="17" name="Freeform 17"/>
              <p:cNvSpPr/>
              <p:nvPr/>
            </p:nvSpPr>
            <p:spPr>
              <a:xfrm>
                <a:off x="792956" y="2025650"/>
                <a:ext cx="72231" cy="9525"/>
              </a:xfrm>
              <a:custGeom>
                <a:avLst/>
                <a:gdLst/>
                <a:ahLst/>
                <a:cxnLst/>
                <a:rect l="l" t="t" r="r" b="b"/>
                <a:pathLst>
                  <a:path w="72231" h="9525">
                    <a:moveTo>
                      <a:pt x="0" y="0"/>
                    </a:moveTo>
                    <a:lnTo>
                      <a:pt x="72231" y="0"/>
                    </a:lnTo>
                  </a:path>
                </a:pathLst>
              </a:custGeom>
              <a:noFill/>
              <a:ln w="19050">
                <a:solidFill>
                  <a:srgbClr val="FFFFFF"/>
                </a:solidFill>
              </a:ln>
            </p:spPr>
          </p:sp>
          <p:sp>
            <p:nvSpPr>
              <p:cNvPr id="18" name="Freeform 18"/>
              <p:cNvSpPr/>
              <p:nvPr/>
            </p:nvSpPr>
            <p:spPr>
              <a:xfrm>
                <a:off x="906462" y="2025650"/>
                <a:ext cx="72231" cy="9525"/>
              </a:xfrm>
              <a:custGeom>
                <a:avLst/>
                <a:gdLst/>
                <a:ahLst/>
                <a:cxnLst/>
                <a:rect l="l" t="t" r="r" b="b"/>
                <a:pathLst>
                  <a:path w="72231" h="9525">
                    <a:moveTo>
                      <a:pt x="0" y="0"/>
                    </a:moveTo>
                    <a:lnTo>
                      <a:pt x="72231" y="0"/>
                    </a:lnTo>
                  </a:path>
                </a:pathLst>
              </a:custGeom>
              <a:noFill/>
              <a:ln w="19050">
                <a:solidFill>
                  <a:srgbClr val="FFFFFF"/>
                </a:solidFill>
              </a:ln>
            </p:spPr>
          </p:sp>
          <p:sp>
            <p:nvSpPr>
              <p:cNvPr id="19" name="Freeform 19"/>
              <p:cNvSpPr/>
              <p:nvPr/>
            </p:nvSpPr>
            <p:spPr>
              <a:xfrm>
                <a:off x="865188" y="2005012"/>
                <a:ext cx="41275" cy="41275"/>
              </a:xfrm>
              <a:custGeom>
                <a:avLst/>
                <a:gdLst/>
                <a:ahLst/>
                <a:cxnLst/>
                <a:rect l="l" t="t" r="r" b="b"/>
                <a:pathLst>
                  <a:path w="41275" h="41275">
                    <a:moveTo>
                      <a:pt x="0" y="20637"/>
                    </a:moveTo>
                    <a:cubicBezTo>
                      <a:pt x="0" y="32035"/>
                      <a:pt x="9240" y="41275"/>
                      <a:pt x="20638" y="41275"/>
                    </a:cubicBezTo>
                    <a:cubicBezTo>
                      <a:pt x="32035" y="41275"/>
                      <a:pt x="41275" y="32035"/>
                      <a:pt x="41275" y="20637"/>
                    </a:cubicBezTo>
                    <a:cubicBezTo>
                      <a:pt x="41275" y="9240"/>
                      <a:pt x="32035" y="0"/>
                      <a:pt x="20638" y="0"/>
                    </a:cubicBezTo>
                    <a:cubicBezTo>
                      <a:pt x="9240" y="0"/>
                      <a:pt x="0" y="9240"/>
                      <a:pt x="0" y="20637"/>
                    </a:cubicBezTo>
                  </a:path>
                </a:pathLst>
              </a:custGeom>
              <a:noFill/>
              <a:ln w="19050">
                <a:solidFill>
                  <a:srgbClr val="FFFFFF"/>
                </a:solidFill>
              </a:ln>
            </p:spPr>
          </p:sp>
          <p:sp>
            <p:nvSpPr>
              <p:cNvPr id="20" name="Freeform 20"/>
              <p:cNvSpPr/>
              <p:nvPr/>
            </p:nvSpPr>
            <p:spPr>
              <a:xfrm>
                <a:off x="885825" y="1974056"/>
                <a:ext cx="9525" cy="30956"/>
              </a:xfrm>
              <a:custGeom>
                <a:avLst/>
                <a:gdLst/>
                <a:ahLst/>
                <a:cxnLst/>
                <a:rect l="l" t="t" r="r" b="b"/>
                <a:pathLst>
                  <a:path w="9525" h="30956">
                    <a:moveTo>
                      <a:pt x="0" y="0"/>
                    </a:moveTo>
                    <a:lnTo>
                      <a:pt x="0" y="30956"/>
                    </a:lnTo>
                  </a:path>
                </a:pathLst>
              </a:custGeom>
              <a:noFill/>
              <a:ln w="19050">
                <a:solidFill>
                  <a:srgbClr val="FFFFFF"/>
                </a:solidFill>
              </a:ln>
            </p:spPr>
          </p:sp>
        </p:grpSp>
        <p:sp>
          <p:nvSpPr>
            <p:cNvPr id="22" name="TextBox 22"/>
            <p:cNvSpPr txBox="1"/>
            <p:nvPr/>
          </p:nvSpPr>
          <p:spPr>
            <a:xfrm>
              <a:off x="1088708" y="1881664"/>
              <a:ext cx="110351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panose="020B0604020202020204"/>
                  <a:ea typeface="微软雅黑" panose="020B0503020204020204" charset="-122"/>
                  <a:cs typeface="Arial" panose="020B0604020202020204"/>
                </a:rPr>
                <a:t>客户主体识别</a:t>
              </a:r>
              <a:endParaRPr lang="zh-CN" sz="1275" b="1" dirty="0">
                <a:solidFill>
                  <a:srgbClr val="FFFFFF"/>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749618" y="2352199"/>
              <a:ext cx="2046518"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结合多维度信息判断是否同一客户:</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24" name="Ellipse 24"/>
            <p:cNvSpPr/>
            <p:nvPr/>
          </p:nvSpPr>
          <p:spPr>
            <a:xfrm>
              <a:off x="790575" y="2676525"/>
              <a:ext cx="57150" cy="57150"/>
            </a:xfrm>
            <a:prstGeom prst="ellipse">
              <a:avLst/>
            </a:prstGeom>
            <a:solidFill>
              <a:srgbClr val="246BFE"/>
            </a:solidFill>
            <a:ln>
              <a:noFill/>
            </a:ln>
          </p:spPr>
        </p:sp>
        <p:sp>
          <p:nvSpPr>
            <p:cNvPr id="25" name="TextBox 25"/>
            <p:cNvSpPr txBox="1"/>
            <p:nvPr/>
          </p:nvSpPr>
          <p:spPr>
            <a:xfrm>
              <a:off x="940118" y="2637949"/>
              <a:ext cx="1623965"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panose="020B0604020202020204"/>
                  <a:ea typeface="微软雅黑" panose="020B0503020204020204" charset="-122"/>
                  <a:cs typeface="Arial" panose="020B0604020202020204"/>
                </a:rPr>
                <a:t>企业名 · 项目名 · 楼宇地址</a:t>
              </a:r>
              <a:endParaRPr lang="zh-CN" sz="975" dirty="0">
                <a:solidFill>
                  <a:srgbClr val="25364A"/>
                </a:solidFill>
                <a:latin typeface="Arial" panose="020B0604020202020204"/>
                <a:ea typeface="微软雅黑" panose="020B0503020204020204" charset="-122"/>
                <a:cs typeface="Arial" panose="020B0604020202020204"/>
              </a:endParaRPr>
            </a:p>
          </p:txBody>
        </p:sp>
        <p:sp>
          <p:nvSpPr>
            <p:cNvPr id="26" name="Ellipse 26"/>
            <p:cNvSpPr/>
            <p:nvPr/>
          </p:nvSpPr>
          <p:spPr>
            <a:xfrm>
              <a:off x="790575" y="2905125"/>
              <a:ext cx="57150" cy="57150"/>
            </a:xfrm>
            <a:prstGeom prst="ellipse">
              <a:avLst/>
            </a:prstGeom>
            <a:solidFill>
              <a:srgbClr val="246BFE"/>
            </a:solidFill>
            <a:ln>
              <a:noFill/>
            </a:ln>
          </p:spPr>
        </p:sp>
        <p:sp>
          <p:nvSpPr>
            <p:cNvPr id="27" name="TextBox 27"/>
            <p:cNvSpPr txBox="1"/>
            <p:nvPr/>
          </p:nvSpPr>
          <p:spPr>
            <a:xfrm>
              <a:off x="940118" y="2866549"/>
              <a:ext cx="1084397"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panose="020B0604020202020204"/>
                  <a:ea typeface="微软雅黑" panose="020B0503020204020204" charset="-122"/>
                  <a:cs typeface="Arial" panose="020B0604020202020204"/>
                </a:rPr>
                <a:t>联系人 · 沟通记录</a:t>
              </a:r>
              <a:endParaRPr lang="zh-CN" sz="975" dirty="0">
                <a:solidFill>
                  <a:srgbClr val="25364A"/>
                </a:solidFill>
                <a:latin typeface="Arial" panose="020B0604020202020204"/>
                <a:ea typeface="微软雅黑" panose="020B0503020204020204" charset="-122"/>
                <a:cs typeface="Arial" panose="020B0604020202020204"/>
              </a:endParaRPr>
            </a:p>
          </p:txBody>
        </p:sp>
        <p:sp>
          <p:nvSpPr>
            <p:cNvPr id="28" name="Ellipse 28"/>
            <p:cNvSpPr/>
            <p:nvPr/>
          </p:nvSpPr>
          <p:spPr>
            <a:xfrm>
              <a:off x="790575" y="3133725"/>
              <a:ext cx="57150" cy="57150"/>
            </a:xfrm>
            <a:prstGeom prst="ellipse">
              <a:avLst/>
            </a:prstGeom>
            <a:solidFill>
              <a:srgbClr val="246BFE"/>
            </a:solidFill>
            <a:ln>
              <a:noFill/>
            </a:ln>
          </p:spPr>
        </p:sp>
        <p:sp>
          <p:nvSpPr>
            <p:cNvPr id="29" name="TextBox 29"/>
            <p:cNvSpPr txBox="1"/>
            <p:nvPr/>
          </p:nvSpPr>
          <p:spPr>
            <a:xfrm>
              <a:off x="940118" y="3095149"/>
              <a:ext cx="544830"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panose="020B0604020202020204"/>
                  <a:ea typeface="微软雅黑" panose="020B0503020204020204" charset="-122"/>
                  <a:cs typeface="Arial" panose="020B0604020202020204"/>
                </a:rPr>
                <a:t>股权关系</a:t>
              </a:r>
              <a:endParaRPr lang="zh-CN" sz="975" dirty="0">
                <a:solidFill>
                  <a:srgbClr val="25364A"/>
                </a:solidFill>
                <a:latin typeface="Arial" panose="020B0604020202020204"/>
                <a:ea typeface="微软雅黑" panose="020B0503020204020204" charset="-122"/>
                <a:cs typeface="Arial" panose="020B0604020202020204"/>
              </a:endParaRPr>
            </a:p>
          </p:txBody>
        </p:sp>
      </p:grpSp>
      <p:grpSp>
        <p:nvGrpSpPr>
          <p:cNvPr id="47" name="Group 47"/>
          <p:cNvGrpSpPr/>
          <p:nvPr/>
        </p:nvGrpSpPr>
        <p:grpSpPr>
          <a:xfrm>
            <a:off x="4048125" y="1714500"/>
            <a:ext cx="3952875" cy="3810000"/>
            <a:chOff x="4048125" y="1714500"/>
            <a:chExt cx="3952875" cy="3810000"/>
          </a:xfrm>
        </p:grpSpPr>
        <p:sp>
          <p:nvSpPr>
            <p:cNvPr id="31" name="Ellipse 31"/>
            <p:cNvSpPr/>
            <p:nvPr/>
          </p:nvSpPr>
          <p:spPr>
            <a:xfrm>
              <a:off x="4191000" y="1714500"/>
              <a:ext cx="3810000" cy="3810000"/>
            </a:xfrm>
            <a:prstGeom prst="ellipse">
              <a:avLst/>
            </a:prstGeom>
            <a:gradFill>
              <a:gsLst>
                <a:gs pos="0">
                  <a:srgbClr val="246BFE">
                    <a:alpha val="18000"/>
                  </a:srgbClr>
                </a:gs>
                <a:gs pos="100000">
                  <a:srgbClr val="246BFE">
                    <a:alpha val="0"/>
                  </a:srgbClr>
                </a:gs>
              </a:gsLst>
              <a:path path="circle">
                <a:fillToRect l="50000" t="50000" r="50000" b="50000"/>
              </a:path>
            </a:gradFill>
            <a:ln>
              <a:noFill/>
            </a:ln>
          </p:spPr>
        </p:sp>
        <p:sp>
          <p:nvSpPr>
            <p:cNvPr id="32" name="Line 32"/>
            <p:cNvSpPr/>
            <p:nvPr/>
          </p:nvSpPr>
          <p:spPr>
            <a:xfrm>
              <a:off x="4048125" y="3190875"/>
              <a:ext cx="714375" cy="285750"/>
            </a:xfrm>
            <a:prstGeom prst="line">
              <a:avLst/>
            </a:prstGeom>
            <a:noFill/>
            <a:ln w="19050">
              <a:solidFill>
                <a:srgbClr val="518FEC"/>
              </a:solidFill>
              <a:custDash>
                <a:ds d="250000" sp="150000"/>
              </a:custDash>
              <a:tailEnd type="triangle" w="lg" len="lg"/>
            </a:ln>
          </p:spPr>
        </p:sp>
        <p:sp>
          <p:nvSpPr>
            <p:cNvPr id="33" name="Ellipse 33"/>
            <p:cNvSpPr/>
            <p:nvPr/>
          </p:nvSpPr>
          <p:spPr>
            <a:xfrm>
              <a:off x="5191125" y="2714625"/>
              <a:ext cx="1809750" cy="1809750"/>
            </a:xfrm>
            <a:prstGeom prst="ellipse">
              <a:avLst/>
            </a:prstGeom>
            <a:solidFill>
              <a:srgbClr val="0052A6"/>
            </a:solidFill>
            <a:ln>
              <a:noFill/>
            </a:ln>
          </p:spPr>
        </p:sp>
        <p:sp>
          <p:nvSpPr>
            <p:cNvPr id="34" name="Ellipse 34"/>
            <p:cNvSpPr/>
            <p:nvPr/>
          </p:nvSpPr>
          <p:spPr>
            <a:xfrm>
              <a:off x="5191125" y="2714625"/>
              <a:ext cx="1809750" cy="1809750"/>
            </a:xfrm>
            <a:prstGeom prst="ellipse">
              <a:avLst/>
            </a:prstGeom>
            <a:noFill/>
            <a:ln w="19050">
              <a:solidFill>
                <a:srgbClr val="518FEC">
                  <a:alpha val="50000"/>
                </a:srgbClr>
              </a:solidFill>
            </a:ln>
          </p:spPr>
        </p:sp>
        <p:grpSp>
          <p:nvGrpSpPr>
            <p:cNvPr id="43" name="Group 43"/>
            <p:cNvGrpSpPr/>
            <p:nvPr/>
          </p:nvGrpSpPr>
          <p:grpSpPr>
            <a:xfrm>
              <a:off x="5895975" y="3257550"/>
              <a:ext cx="400050" cy="409575"/>
              <a:chOff x="5895975" y="3257550"/>
              <a:chExt cx="400050" cy="409575"/>
            </a:xfrm>
          </p:grpSpPr>
          <p:sp>
            <p:nvSpPr>
              <p:cNvPr id="35" name="Freeform 35"/>
              <p:cNvSpPr/>
              <p:nvPr/>
            </p:nvSpPr>
            <p:spPr>
              <a:xfrm>
                <a:off x="5895975" y="3657600"/>
                <a:ext cx="400050" cy="9525"/>
              </a:xfrm>
              <a:custGeom>
                <a:avLst/>
                <a:gdLst/>
                <a:ahLst/>
                <a:cxnLst/>
                <a:rect l="l" t="t" r="r" b="b"/>
                <a:pathLst>
                  <a:path w="400050" h="9525">
                    <a:moveTo>
                      <a:pt x="0" y="0"/>
                    </a:moveTo>
                    <a:lnTo>
                      <a:pt x="400050" y="0"/>
                    </a:lnTo>
                  </a:path>
                </a:pathLst>
              </a:custGeom>
              <a:noFill/>
              <a:ln w="19050">
                <a:solidFill>
                  <a:srgbClr val="518FEC"/>
                </a:solidFill>
              </a:ln>
            </p:spPr>
          </p:sp>
          <p:sp>
            <p:nvSpPr>
              <p:cNvPr id="36" name="Freeform 36"/>
              <p:cNvSpPr/>
              <p:nvPr/>
            </p:nvSpPr>
            <p:spPr>
              <a:xfrm>
                <a:off x="6029325" y="3368675"/>
                <a:ext cx="22225" cy="9525"/>
              </a:xfrm>
              <a:custGeom>
                <a:avLst/>
                <a:gdLst/>
                <a:ahLst/>
                <a:cxnLst/>
                <a:rect l="l" t="t" r="r" b="b"/>
                <a:pathLst>
                  <a:path w="22225" h="9525">
                    <a:moveTo>
                      <a:pt x="0" y="0"/>
                    </a:moveTo>
                    <a:lnTo>
                      <a:pt x="22225" y="0"/>
                    </a:lnTo>
                  </a:path>
                </a:pathLst>
              </a:custGeom>
              <a:noFill/>
              <a:ln w="19050">
                <a:solidFill>
                  <a:srgbClr val="518FEC"/>
                </a:solidFill>
              </a:ln>
            </p:spPr>
          </p:sp>
          <p:sp>
            <p:nvSpPr>
              <p:cNvPr id="37" name="Freeform 37"/>
              <p:cNvSpPr/>
              <p:nvPr/>
            </p:nvSpPr>
            <p:spPr>
              <a:xfrm>
                <a:off x="6029325" y="3457575"/>
                <a:ext cx="22225" cy="9525"/>
              </a:xfrm>
              <a:custGeom>
                <a:avLst/>
                <a:gdLst/>
                <a:ahLst/>
                <a:cxnLst/>
                <a:rect l="l" t="t" r="r" b="b"/>
                <a:pathLst>
                  <a:path w="22225" h="9525">
                    <a:moveTo>
                      <a:pt x="0" y="0"/>
                    </a:moveTo>
                    <a:lnTo>
                      <a:pt x="22225" y="0"/>
                    </a:lnTo>
                  </a:path>
                </a:pathLst>
              </a:custGeom>
              <a:noFill/>
              <a:ln w="19050">
                <a:solidFill>
                  <a:srgbClr val="518FEC"/>
                </a:solidFill>
              </a:ln>
            </p:spPr>
          </p:sp>
          <p:sp>
            <p:nvSpPr>
              <p:cNvPr id="38" name="Freeform 38"/>
              <p:cNvSpPr/>
              <p:nvPr/>
            </p:nvSpPr>
            <p:spPr>
              <a:xfrm>
                <a:off x="6029325" y="3546475"/>
                <a:ext cx="22225" cy="9525"/>
              </a:xfrm>
              <a:custGeom>
                <a:avLst/>
                <a:gdLst/>
                <a:ahLst/>
                <a:cxnLst/>
                <a:rect l="l" t="t" r="r" b="b"/>
                <a:pathLst>
                  <a:path w="22225" h="9525">
                    <a:moveTo>
                      <a:pt x="0" y="0"/>
                    </a:moveTo>
                    <a:lnTo>
                      <a:pt x="22225" y="0"/>
                    </a:lnTo>
                  </a:path>
                </a:pathLst>
              </a:custGeom>
              <a:noFill/>
              <a:ln w="19050">
                <a:solidFill>
                  <a:srgbClr val="518FEC"/>
                </a:solidFill>
              </a:ln>
            </p:spPr>
          </p:sp>
          <p:sp>
            <p:nvSpPr>
              <p:cNvPr id="39" name="Freeform 39"/>
              <p:cNvSpPr/>
              <p:nvPr/>
            </p:nvSpPr>
            <p:spPr>
              <a:xfrm>
                <a:off x="6140450" y="3368675"/>
                <a:ext cx="22225" cy="9525"/>
              </a:xfrm>
              <a:custGeom>
                <a:avLst/>
                <a:gdLst/>
                <a:ahLst/>
                <a:cxnLst/>
                <a:rect l="l" t="t" r="r" b="b"/>
                <a:pathLst>
                  <a:path w="22225" h="9525">
                    <a:moveTo>
                      <a:pt x="0" y="0"/>
                    </a:moveTo>
                    <a:lnTo>
                      <a:pt x="22225" y="0"/>
                    </a:lnTo>
                  </a:path>
                </a:pathLst>
              </a:custGeom>
              <a:noFill/>
              <a:ln w="19050">
                <a:solidFill>
                  <a:srgbClr val="518FEC"/>
                </a:solidFill>
              </a:ln>
            </p:spPr>
          </p:sp>
          <p:sp>
            <p:nvSpPr>
              <p:cNvPr id="40" name="Freeform 40"/>
              <p:cNvSpPr/>
              <p:nvPr/>
            </p:nvSpPr>
            <p:spPr>
              <a:xfrm>
                <a:off x="6140450" y="3457575"/>
                <a:ext cx="22225" cy="9525"/>
              </a:xfrm>
              <a:custGeom>
                <a:avLst/>
                <a:gdLst/>
                <a:ahLst/>
                <a:cxnLst/>
                <a:rect l="l" t="t" r="r" b="b"/>
                <a:pathLst>
                  <a:path w="22225" h="9525">
                    <a:moveTo>
                      <a:pt x="0" y="0"/>
                    </a:moveTo>
                    <a:lnTo>
                      <a:pt x="22225" y="0"/>
                    </a:lnTo>
                  </a:path>
                </a:pathLst>
              </a:custGeom>
              <a:noFill/>
              <a:ln w="19050">
                <a:solidFill>
                  <a:srgbClr val="518FEC"/>
                </a:solidFill>
              </a:ln>
            </p:spPr>
          </p:sp>
          <p:sp>
            <p:nvSpPr>
              <p:cNvPr id="41" name="Freeform 41"/>
              <p:cNvSpPr/>
              <p:nvPr/>
            </p:nvSpPr>
            <p:spPr>
              <a:xfrm>
                <a:off x="6140450" y="3546475"/>
                <a:ext cx="22225" cy="9525"/>
              </a:xfrm>
              <a:custGeom>
                <a:avLst/>
                <a:gdLst/>
                <a:ahLst/>
                <a:cxnLst/>
                <a:rect l="l" t="t" r="r" b="b"/>
                <a:pathLst>
                  <a:path w="22225" h="9525">
                    <a:moveTo>
                      <a:pt x="0" y="0"/>
                    </a:moveTo>
                    <a:lnTo>
                      <a:pt x="22225" y="0"/>
                    </a:lnTo>
                  </a:path>
                </a:pathLst>
              </a:custGeom>
              <a:noFill/>
              <a:ln w="19050">
                <a:solidFill>
                  <a:srgbClr val="518FEC"/>
                </a:solidFill>
              </a:ln>
            </p:spPr>
          </p:sp>
          <p:sp>
            <p:nvSpPr>
              <p:cNvPr id="42" name="Freeform 42"/>
              <p:cNvSpPr/>
              <p:nvPr/>
            </p:nvSpPr>
            <p:spPr>
              <a:xfrm>
                <a:off x="5940425" y="3257550"/>
                <a:ext cx="311150" cy="400050"/>
              </a:xfrm>
              <a:custGeom>
                <a:avLst/>
                <a:gdLst/>
                <a:ahLst/>
                <a:cxnLst/>
                <a:rect l="l" t="t" r="r" b="b"/>
                <a:pathLst>
                  <a:path w="311150" h="400050">
                    <a:moveTo>
                      <a:pt x="0" y="400050"/>
                    </a:moveTo>
                    <a:lnTo>
                      <a:pt x="0" y="44450"/>
                    </a:lnTo>
                    <a:cubicBezTo>
                      <a:pt x="0" y="19901"/>
                      <a:pt x="19901" y="0"/>
                      <a:pt x="44450" y="0"/>
                    </a:cubicBezTo>
                    <a:lnTo>
                      <a:pt x="266700" y="0"/>
                    </a:lnTo>
                    <a:cubicBezTo>
                      <a:pt x="291249" y="0"/>
                      <a:pt x="311150" y="19901"/>
                      <a:pt x="311150" y="44450"/>
                    </a:cubicBezTo>
                    <a:lnTo>
                      <a:pt x="311150" y="400050"/>
                    </a:lnTo>
                  </a:path>
                </a:pathLst>
              </a:custGeom>
              <a:noFill/>
              <a:ln w="19050">
                <a:solidFill>
                  <a:srgbClr val="518FEC"/>
                </a:solidFill>
              </a:ln>
            </p:spPr>
          </p:sp>
        </p:grpSp>
        <p:sp>
          <p:nvSpPr>
            <p:cNvPr id="44" name="TextBox 44"/>
            <p:cNvSpPr txBox="1"/>
            <p:nvPr/>
          </p:nvSpPr>
          <p:spPr>
            <a:xfrm>
              <a:off x="5576697" y="379476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统一客户视图</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5598509" y="4036695"/>
              <a:ext cx="994981" cy="182880"/>
            </a:xfrm>
            <a:prstGeom prst="rect">
              <a:avLst/>
            </a:prstGeom>
            <a:noFill/>
            <a:ln>
              <a:noFill/>
            </a:ln>
          </p:spPr>
          <p:txBody>
            <a:bodyPr wrap="none" lIns="0" tIns="0" rIns="0" bIns="0" anchor="t" anchorCtr="0">
              <a:spAutoFit/>
            </a:bodyPr>
            <a:lstStyle/>
            <a:p>
              <a:pPr algn="ctr"/>
              <a:r>
                <a:rPr lang="zh-CN" sz="900" dirty="0">
                  <a:solidFill>
                    <a:srgbClr val="B8C7E0"/>
                  </a:solidFill>
                  <a:latin typeface="Arial" panose="020B0604020202020204"/>
                  <a:ea typeface="微软雅黑" panose="020B0503020204020204" charset="-122"/>
                  <a:cs typeface="Arial" panose="020B0604020202020204"/>
                </a:rPr>
                <a:t>某楼宇/园区/企业</a:t>
              </a:r>
              <a:endParaRPr lang="zh-CN" sz="900" dirty="0">
                <a:solidFill>
                  <a:srgbClr val="B8C7E0"/>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5469291" y="4657249"/>
              <a:ext cx="1253419" cy="198120"/>
            </a:xfrm>
            <a:prstGeom prst="rect">
              <a:avLst/>
            </a:prstGeom>
            <a:noFill/>
            <a:ln>
              <a:noFill/>
            </a:ln>
          </p:spPr>
          <p:txBody>
            <a:bodyPr wrap="none" lIns="0" tIns="0" rIns="0" bIns="0" anchor="t" anchorCtr="0">
              <a:spAutoFit/>
            </a:bodyPr>
            <a:lstStyle/>
            <a:p>
              <a:pPr algn="ctr"/>
              <a:r>
                <a:rPr lang="zh-CN" sz="975" b="1" dirty="0">
                  <a:solidFill>
                    <a:srgbClr val="518FEC"/>
                  </a:solidFill>
                  <a:latin typeface="Arial" panose="020B0604020202020204"/>
                  <a:ea typeface="微软雅黑" panose="020B0503020204020204" charset="-122"/>
                  <a:cs typeface="Arial" panose="020B0604020202020204"/>
                </a:rPr>
                <a:t>决策链角色向心归并</a:t>
              </a:r>
              <a:endParaRPr lang="zh-CN" sz="975" b="1" dirty="0">
                <a:solidFill>
                  <a:srgbClr val="518FEC"/>
                </a:solidFill>
                <a:latin typeface="Arial" panose="020B0604020202020204"/>
                <a:ea typeface="微软雅黑" panose="020B0503020204020204" charset="-122"/>
                <a:cs typeface="Arial" panose="020B0604020202020204"/>
              </a:endParaRPr>
            </a:p>
          </p:txBody>
        </p:sp>
      </p:grpSp>
      <p:grpSp>
        <p:nvGrpSpPr>
          <p:cNvPr id="54" name="Group 54"/>
          <p:cNvGrpSpPr/>
          <p:nvPr/>
        </p:nvGrpSpPr>
        <p:grpSpPr>
          <a:xfrm>
            <a:off x="4381500" y="1809750"/>
            <a:ext cx="1524000" cy="1162050"/>
            <a:chOff x="4381500" y="1809750"/>
            <a:chExt cx="1524000" cy="1162050"/>
          </a:xfrm>
        </p:grpSpPr>
        <p:sp>
          <p:nvSpPr>
            <p:cNvPr id="48" name="Rectangle 48"/>
            <p:cNvSpPr/>
            <p:nvPr/>
          </p:nvSpPr>
          <p:spPr>
            <a:xfrm>
              <a:off x="4381500" y="1809750"/>
              <a:ext cx="1524000" cy="552450"/>
            </a:xfrm>
            <a:prstGeom prst="roundRect">
              <a:avLst>
                <a:gd name="adj" fmla="val 17241"/>
              </a:avLst>
            </a:prstGeom>
            <a:solidFill>
              <a:srgbClr val="FFFFFF"/>
            </a:solidFill>
            <a:ln w="14288">
              <a:solidFill>
                <a:srgbClr val="246BFE"/>
              </a:solidFill>
            </a:ln>
          </p:spPr>
        </p:sp>
        <p:sp>
          <p:nvSpPr>
            <p:cNvPr id="49" name="Ellipse 49"/>
            <p:cNvSpPr/>
            <p:nvPr/>
          </p:nvSpPr>
          <p:spPr>
            <a:xfrm>
              <a:off x="4486275" y="1952625"/>
              <a:ext cx="266700" cy="266700"/>
            </a:xfrm>
            <a:prstGeom prst="ellipse">
              <a:avLst/>
            </a:prstGeom>
            <a:solidFill>
              <a:srgbClr val="246BFE"/>
            </a:solidFill>
            <a:ln>
              <a:noFill/>
            </a:ln>
          </p:spPr>
        </p:sp>
        <p:sp>
          <p:nvSpPr>
            <p:cNvPr id="50" name="Freeform 50"/>
            <p:cNvSpPr/>
            <p:nvPr/>
          </p:nvSpPr>
          <p:spPr>
            <a:xfrm>
              <a:off x="4524442" y="1990744"/>
              <a:ext cx="190233" cy="180908"/>
            </a:xfrm>
            <a:custGeom>
              <a:avLst/>
              <a:gdLst/>
              <a:ahLst/>
              <a:cxnLst/>
              <a:rect l="l" t="t" r="r" b="b"/>
              <a:pathLst>
                <a:path w="190233" h="180908">
                  <a:moveTo>
                    <a:pt x="95183" y="150000"/>
                  </a:moveTo>
                  <a:lnTo>
                    <a:pt x="36395" y="180908"/>
                  </a:lnTo>
                  <a:lnTo>
                    <a:pt x="47625" y="115443"/>
                  </a:lnTo>
                  <a:lnTo>
                    <a:pt x="0" y="69085"/>
                  </a:lnTo>
                  <a:lnTo>
                    <a:pt x="65722" y="59560"/>
                  </a:lnTo>
                  <a:lnTo>
                    <a:pt x="95117" y="0"/>
                  </a:lnTo>
                  <a:lnTo>
                    <a:pt x="124511" y="59560"/>
                  </a:lnTo>
                  <a:lnTo>
                    <a:pt x="190233" y="69085"/>
                  </a:lnTo>
                  <a:lnTo>
                    <a:pt x="142608" y="115443"/>
                  </a:lnTo>
                  <a:lnTo>
                    <a:pt x="153838" y="180908"/>
                  </a:lnTo>
                  <a:lnTo>
                    <a:pt x="95183" y="150000"/>
                  </a:lnTo>
                </a:path>
              </a:pathLst>
            </a:custGeom>
            <a:noFill/>
            <a:ln w="19050">
              <a:solidFill>
                <a:srgbClr val="FFFFFF"/>
              </a:solidFill>
            </a:ln>
          </p:spPr>
        </p:sp>
        <p:sp>
          <p:nvSpPr>
            <p:cNvPr id="51" name="TextBox 51"/>
            <p:cNvSpPr txBox="1"/>
            <p:nvPr/>
          </p:nvSpPr>
          <p:spPr>
            <a:xfrm>
              <a:off x="4826318" y="1933099"/>
              <a:ext cx="707350" cy="198120"/>
            </a:xfrm>
            <a:prstGeom prst="rect">
              <a:avLst/>
            </a:prstGeom>
            <a:noFill/>
            <a:ln>
              <a:noFill/>
            </a:ln>
          </p:spPr>
          <p:txBody>
            <a:bodyPr wrap="none" lIns="0" tIns="0" rIns="0" bIns="0" anchor="t" anchorCtr="0">
              <a:spAutoFit/>
            </a:bodyPr>
            <a:lstStyle/>
            <a:p>
              <a:pPr algn="l"/>
              <a:r>
                <a:rPr lang="zh-CN" sz="975" b="1" dirty="0">
                  <a:solidFill>
                    <a:srgbClr val="17365D"/>
                  </a:solidFill>
                  <a:latin typeface="Arial" panose="020B0604020202020204"/>
                  <a:ea typeface="微软雅黑" panose="020B0503020204020204" charset="-122"/>
                  <a:cs typeface="Arial" panose="020B0604020202020204"/>
                </a:rPr>
                <a:t>最终决策人</a:t>
              </a:r>
              <a:endParaRPr lang="zh-CN" sz="975" b="1" dirty="0">
                <a:solidFill>
                  <a:srgbClr val="17365D"/>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4828222" y="2139791"/>
              <a:ext cx="571024" cy="167640"/>
            </a:xfrm>
            <a:prstGeom prst="rect">
              <a:avLst/>
            </a:prstGeom>
            <a:noFill/>
            <a:ln>
              <a:noFill/>
            </a:ln>
          </p:spPr>
          <p:txBody>
            <a:bodyPr wrap="none" lIns="0" tIns="0" rIns="0" bIns="0" anchor="t" anchorCtr="0">
              <a:spAutoFit/>
            </a:bodyPr>
            <a:lstStyle/>
            <a:p>
              <a:pPr algn="l"/>
              <a:r>
                <a:rPr lang="zh-CN" sz="825" dirty="0">
                  <a:solidFill>
                    <a:srgbClr val="5E6A78"/>
                  </a:solidFill>
                  <a:latin typeface="Arial" panose="020B0604020202020204"/>
                  <a:ea typeface="微软雅黑" panose="020B0503020204020204" charset="-122"/>
                  <a:cs typeface="Arial" panose="020B0604020202020204"/>
                </a:rPr>
                <a:t>拍板定方案</a:t>
              </a:r>
              <a:endParaRPr lang="zh-CN" sz="825" dirty="0">
                <a:solidFill>
                  <a:srgbClr val="5E6A78"/>
                </a:solidFill>
                <a:latin typeface="Arial" panose="020B0604020202020204"/>
                <a:ea typeface="微软雅黑" panose="020B0503020204020204" charset="-122"/>
                <a:cs typeface="Arial" panose="020B0604020202020204"/>
              </a:endParaRPr>
            </a:p>
          </p:txBody>
        </p:sp>
        <p:sp>
          <p:nvSpPr>
            <p:cNvPr id="53" name="Line 53"/>
            <p:cNvSpPr/>
            <p:nvPr/>
          </p:nvSpPr>
          <p:spPr>
            <a:xfrm>
              <a:off x="5143500" y="2362200"/>
              <a:ext cx="333375" cy="609600"/>
            </a:xfrm>
            <a:prstGeom prst="line">
              <a:avLst/>
            </a:prstGeom>
            <a:noFill/>
            <a:ln w="14288">
              <a:solidFill>
                <a:srgbClr val="518FEC"/>
              </a:solidFill>
              <a:tailEnd type="triangle" w="lg" len="lg"/>
            </a:ln>
          </p:spPr>
        </p:sp>
      </p:grpSp>
      <p:grpSp>
        <p:nvGrpSpPr>
          <p:cNvPr id="64" name="Group 64"/>
          <p:cNvGrpSpPr/>
          <p:nvPr/>
        </p:nvGrpSpPr>
        <p:grpSpPr>
          <a:xfrm>
            <a:off x="6286500" y="1809750"/>
            <a:ext cx="1524000" cy="1162050"/>
            <a:chOff x="6286500" y="1809750"/>
            <a:chExt cx="1524000" cy="1162050"/>
          </a:xfrm>
        </p:grpSpPr>
        <p:sp>
          <p:nvSpPr>
            <p:cNvPr id="55" name="Rectangle 55"/>
            <p:cNvSpPr/>
            <p:nvPr/>
          </p:nvSpPr>
          <p:spPr>
            <a:xfrm>
              <a:off x="6286500" y="1809750"/>
              <a:ext cx="1524000" cy="552450"/>
            </a:xfrm>
            <a:prstGeom prst="roundRect">
              <a:avLst>
                <a:gd name="adj" fmla="val 17241"/>
              </a:avLst>
            </a:prstGeom>
            <a:solidFill>
              <a:srgbClr val="FFFFFF"/>
            </a:solidFill>
            <a:ln w="14288">
              <a:solidFill>
                <a:srgbClr val="246BFE"/>
              </a:solidFill>
            </a:ln>
          </p:spPr>
        </p:sp>
        <p:sp>
          <p:nvSpPr>
            <p:cNvPr id="56" name="Ellipse 56"/>
            <p:cNvSpPr/>
            <p:nvPr/>
          </p:nvSpPr>
          <p:spPr>
            <a:xfrm>
              <a:off x="6391275" y="1952625"/>
              <a:ext cx="266700" cy="266700"/>
            </a:xfrm>
            <a:prstGeom prst="ellipse">
              <a:avLst/>
            </a:prstGeom>
            <a:solidFill>
              <a:srgbClr val="246BFE"/>
            </a:solidFill>
            <a:ln>
              <a:noFill/>
            </a:ln>
          </p:spPr>
        </p:sp>
        <p:grpSp>
          <p:nvGrpSpPr>
            <p:cNvPr id="60" name="Group 60"/>
            <p:cNvGrpSpPr/>
            <p:nvPr/>
          </p:nvGrpSpPr>
          <p:grpSpPr>
            <a:xfrm>
              <a:off x="6438900" y="2000250"/>
              <a:ext cx="171450" cy="171450"/>
              <a:chOff x="6438900" y="2000250"/>
              <a:chExt cx="171450" cy="171450"/>
            </a:xfrm>
          </p:grpSpPr>
          <p:sp>
            <p:nvSpPr>
              <p:cNvPr id="57" name="Freeform 57"/>
              <p:cNvSpPr/>
              <p:nvPr/>
            </p:nvSpPr>
            <p:spPr>
              <a:xfrm>
                <a:off x="6438900" y="2000250"/>
                <a:ext cx="171450" cy="85725"/>
              </a:xfrm>
              <a:custGeom>
                <a:avLst/>
                <a:gdLst/>
                <a:ahLst/>
                <a:cxnLst/>
                <a:rect l="l" t="t" r="r" b="b"/>
                <a:pathLst>
                  <a:path w="171450" h="85725">
                    <a:moveTo>
                      <a:pt x="0" y="85725"/>
                    </a:moveTo>
                    <a:lnTo>
                      <a:pt x="9525" y="85725"/>
                    </a:lnTo>
                    <a:moveTo>
                      <a:pt x="85725" y="0"/>
                    </a:moveTo>
                    <a:lnTo>
                      <a:pt x="85725" y="9525"/>
                    </a:lnTo>
                    <a:moveTo>
                      <a:pt x="161925" y="85725"/>
                    </a:moveTo>
                    <a:lnTo>
                      <a:pt x="171450" y="85725"/>
                    </a:lnTo>
                    <a:moveTo>
                      <a:pt x="24765" y="24765"/>
                    </a:moveTo>
                    <a:lnTo>
                      <a:pt x="31432" y="31433"/>
                    </a:lnTo>
                    <a:moveTo>
                      <a:pt x="146685" y="24765"/>
                    </a:moveTo>
                    <a:lnTo>
                      <a:pt x="140018" y="31433"/>
                    </a:lnTo>
                  </a:path>
                </a:pathLst>
              </a:custGeom>
              <a:noFill/>
              <a:ln w="19050">
                <a:solidFill>
                  <a:srgbClr val="FFFFFF"/>
                </a:solidFill>
              </a:ln>
            </p:spPr>
          </p:sp>
          <p:sp>
            <p:nvSpPr>
              <p:cNvPr id="58" name="Freeform 58"/>
              <p:cNvSpPr/>
              <p:nvPr/>
            </p:nvSpPr>
            <p:spPr>
              <a:xfrm>
                <a:off x="6472962" y="2038350"/>
                <a:ext cx="103327" cy="133350"/>
              </a:xfrm>
              <a:custGeom>
                <a:avLst/>
                <a:gdLst/>
                <a:ahLst/>
                <a:cxnLst/>
                <a:rect l="l" t="t" r="r" b="b"/>
                <a:pathLst>
                  <a:path w="103327" h="133350">
                    <a:moveTo>
                      <a:pt x="23088" y="85725"/>
                    </a:moveTo>
                    <a:cubicBezTo>
                      <a:pt x="6689" y="73425"/>
                      <a:pt x="0" y="52012"/>
                      <a:pt x="6482" y="32565"/>
                    </a:cubicBezTo>
                    <a:cubicBezTo>
                      <a:pt x="12965" y="13117"/>
                      <a:pt x="31164" y="0"/>
                      <a:pt x="51663" y="0"/>
                    </a:cubicBezTo>
                    <a:cubicBezTo>
                      <a:pt x="72163" y="0"/>
                      <a:pt x="90362" y="13117"/>
                      <a:pt x="96845" y="32565"/>
                    </a:cubicBezTo>
                    <a:cubicBezTo>
                      <a:pt x="103327" y="52012"/>
                      <a:pt x="96638" y="73425"/>
                      <a:pt x="80238" y="85725"/>
                    </a:cubicBezTo>
                    <a:cubicBezTo>
                      <a:pt x="72696" y="93191"/>
                      <a:pt x="69159" y="103802"/>
                      <a:pt x="70713" y="114300"/>
                    </a:cubicBezTo>
                    <a:cubicBezTo>
                      <a:pt x="70713" y="124821"/>
                      <a:pt x="62184" y="133350"/>
                      <a:pt x="51663" y="133350"/>
                    </a:cubicBezTo>
                    <a:cubicBezTo>
                      <a:pt x="41142" y="133350"/>
                      <a:pt x="32613" y="124821"/>
                      <a:pt x="32613" y="114300"/>
                    </a:cubicBezTo>
                    <a:cubicBezTo>
                      <a:pt x="34168" y="103802"/>
                      <a:pt x="30631" y="93191"/>
                      <a:pt x="23088" y="85725"/>
                    </a:cubicBezTo>
                  </a:path>
                </a:pathLst>
              </a:custGeom>
              <a:noFill/>
              <a:ln w="19050">
                <a:solidFill>
                  <a:srgbClr val="FFFFFF"/>
                </a:solidFill>
              </a:ln>
            </p:spPr>
          </p:sp>
          <p:sp>
            <p:nvSpPr>
              <p:cNvPr id="59" name="Freeform 59"/>
              <p:cNvSpPr/>
              <p:nvPr/>
            </p:nvSpPr>
            <p:spPr>
              <a:xfrm>
                <a:off x="6502718" y="2133600"/>
                <a:ext cx="43815" cy="9525"/>
              </a:xfrm>
              <a:custGeom>
                <a:avLst/>
                <a:gdLst/>
                <a:ahLst/>
                <a:cxnLst/>
                <a:rect l="l" t="t" r="r" b="b"/>
                <a:pathLst>
                  <a:path w="43815" h="9525">
                    <a:moveTo>
                      <a:pt x="0" y="0"/>
                    </a:moveTo>
                    <a:lnTo>
                      <a:pt x="43815" y="0"/>
                    </a:lnTo>
                  </a:path>
                </a:pathLst>
              </a:custGeom>
              <a:noFill/>
              <a:ln w="19050">
                <a:solidFill>
                  <a:srgbClr val="FFFFFF"/>
                </a:solidFill>
              </a:ln>
            </p:spPr>
          </p:sp>
        </p:grpSp>
        <p:sp>
          <p:nvSpPr>
            <p:cNvPr id="61" name="TextBox 61"/>
            <p:cNvSpPr txBox="1"/>
            <p:nvPr/>
          </p:nvSpPr>
          <p:spPr>
            <a:xfrm>
              <a:off x="6731318" y="1933099"/>
              <a:ext cx="707350" cy="198120"/>
            </a:xfrm>
            <a:prstGeom prst="rect">
              <a:avLst/>
            </a:prstGeom>
            <a:noFill/>
            <a:ln>
              <a:noFill/>
            </a:ln>
          </p:spPr>
          <p:txBody>
            <a:bodyPr wrap="none" lIns="0" tIns="0" rIns="0" bIns="0" anchor="t" anchorCtr="0">
              <a:spAutoFit/>
            </a:bodyPr>
            <a:lstStyle/>
            <a:p>
              <a:pPr algn="l"/>
              <a:r>
                <a:rPr lang="zh-CN" sz="975" b="1" dirty="0">
                  <a:solidFill>
                    <a:srgbClr val="17365D"/>
                  </a:solidFill>
                  <a:latin typeface="Arial" panose="020B0604020202020204"/>
                  <a:ea typeface="微软雅黑" panose="020B0503020204020204" charset="-122"/>
                  <a:cs typeface="Arial" panose="020B0604020202020204"/>
                </a:rPr>
                <a:t>需求提出人</a:t>
              </a:r>
              <a:endParaRPr lang="zh-CN" sz="975" b="1" dirty="0">
                <a:solidFill>
                  <a:srgbClr val="17365D"/>
                </a:solidFill>
                <a:latin typeface="Arial" panose="020B0604020202020204"/>
                <a:ea typeface="微软雅黑" panose="020B0503020204020204" charset="-122"/>
                <a:cs typeface="Arial" panose="020B0604020202020204"/>
              </a:endParaRPr>
            </a:p>
          </p:txBody>
        </p:sp>
        <p:sp>
          <p:nvSpPr>
            <p:cNvPr id="62" name="TextBox 62"/>
            <p:cNvSpPr txBox="1"/>
            <p:nvPr/>
          </p:nvSpPr>
          <p:spPr>
            <a:xfrm>
              <a:off x="6733222" y="2139791"/>
              <a:ext cx="461010" cy="167640"/>
            </a:xfrm>
            <a:prstGeom prst="rect">
              <a:avLst/>
            </a:prstGeom>
            <a:noFill/>
            <a:ln>
              <a:noFill/>
            </a:ln>
          </p:spPr>
          <p:txBody>
            <a:bodyPr wrap="none" lIns="0" tIns="0" rIns="0" bIns="0" anchor="t" anchorCtr="0">
              <a:spAutoFit/>
            </a:bodyPr>
            <a:lstStyle/>
            <a:p>
              <a:pPr algn="l"/>
              <a:r>
                <a:rPr lang="zh-CN" sz="825" dirty="0">
                  <a:solidFill>
                    <a:srgbClr val="5E6A78"/>
                  </a:solidFill>
                  <a:latin typeface="Arial" panose="020B0604020202020204"/>
                  <a:ea typeface="微软雅黑" panose="020B0503020204020204" charset="-122"/>
                  <a:cs typeface="Arial" panose="020B0604020202020204"/>
                </a:rPr>
                <a:t>业务部门</a:t>
              </a:r>
              <a:endParaRPr lang="zh-CN" sz="825" dirty="0">
                <a:solidFill>
                  <a:srgbClr val="5E6A78"/>
                </a:solidFill>
                <a:latin typeface="Arial" panose="020B0604020202020204"/>
                <a:ea typeface="微软雅黑" panose="020B0503020204020204" charset="-122"/>
                <a:cs typeface="Arial" panose="020B0604020202020204"/>
              </a:endParaRPr>
            </a:p>
          </p:txBody>
        </p:sp>
        <p:sp>
          <p:nvSpPr>
            <p:cNvPr id="63" name="Line 63"/>
            <p:cNvSpPr/>
            <p:nvPr/>
          </p:nvSpPr>
          <p:spPr>
            <a:xfrm flipH="1">
              <a:off x="6715125" y="2362200"/>
              <a:ext cx="333375" cy="609600"/>
            </a:xfrm>
            <a:prstGeom prst="line">
              <a:avLst/>
            </a:prstGeom>
            <a:noFill/>
            <a:ln w="14288">
              <a:solidFill>
                <a:srgbClr val="518FEC"/>
              </a:solidFill>
              <a:tailEnd type="triangle" w="lg" len="lg"/>
            </a:ln>
          </p:spPr>
        </p:sp>
      </p:grpSp>
      <p:grpSp>
        <p:nvGrpSpPr>
          <p:cNvPr id="75" name="Group 75"/>
          <p:cNvGrpSpPr/>
          <p:nvPr/>
        </p:nvGrpSpPr>
        <p:grpSpPr>
          <a:xfrm>
            <a:off x="7048500" y="2714625"/>
            <a:ext cx="2667000" cy="714375"/>
            <a:chOff x="7048500" y="2714625"/>
            <a:chExt cx="2667000" cy="714375"/>
          </a:xfrm>
        </p:grpSpPr>
        <p:sp>
          <p:nvSpPr>
            <p:cNvPr id="65" name="Rectangle 65"/>
            <p:cNvSpPr/>
            <p:nvPr/>
          </p:nvSpPr>
          <p:spPr>
            <a:xfrm>
              <a:off x="8191500" y="2714625"/>
              <a:ext cx="1524000" cy="552450"/>
            </a:xfrm>
            <a:prstGeom prst="roundRect">
              <a:avLst>
                <a:gd name="adj" fmla="val 17241"/>
              </a:avLst>
            </a:prstGeom>
            <a:solidFill>
              <a:srgbClr val="FFFFFF"/>
            </a:solidFill>
            <a:ln w="14288">
              <a:solidFill>
                <a:srgbClr val="246BFE"/>
              </a:solidFill>
            </a:ln>
          </p:spPr>
        </p:sp>
        <p:sp>
          <p:nvSpPr>
            <p:cNvPr id="66" name="Ellipse 66"/>
            <p:cNvSpPr/>
            <p:nvPr/>
          </p:nvSpPr>
          <p:spPr>
            <a:xfrm>
              <a:off x="8296275" y="2857500"/>
              <a:ext cx="266700" cy="266700"/>
            </a:xfrm>
            <a:prstGeom prst="ellipse">
              <a:avLst/>
            </a:prstGeom>
            <a:solidFill>
              <a:srgbClr val="246BFE"/>
            </a:solidFill>
            <a:ln>
              <a:noFill/>
            </a:ln>
          </p:spPr>
        </p:sp>
        <p:grpSp>
          <p:nvGrpSpPr>
            <p:cNvPr id="71" name="Group 71"/>
            <p:cNvGrpSpPr/>
            <p:nvPr/>
          </p:nvGrpSpPr>
          <p:grpSpPr>
            <a:xfrm>
              <a:off x="8343900" y="2905125"/>
              <a:ext cx="171450" cy="161925"/>
              <a:chOff x="8343900" y="2905125"/>
              <a:chExt cx="171450" cy="161925"/>
            </a:xfrm>
          </p:grpSpPr>
          <p:sp>
            <p:nvSpPr>
              <p:cNvPr id="67" name="Freeform 67"/>
              <p:cNvSpPr/>
              <p:nvPr/>
            </p:nvSpPr>
            <p:spPr>
              <a:xfrm>
                <a:off x="8343900" y="2943225"/>
                <a:ext cx="171450" cy="123825"/>
              </a:xfrm>
              <a:custGeom>
                <a:avLst/>
                <a:gdLst/>
                <a:ahLst/>
                <a:cxnLst/>
                <a:rect l="l" t="t" r="r" b="b"/>
                <a:pathLst>
                  <a:path w="171450" h="123825">
                    <a:moveTo>
                      <a:pt x="0" y="19050"/>
                    </a:moveTo>
                    <a:cubicBezTo>
                      <a:pt x="0" y="8529"/>
                      <a:pt x="8529" y="0"/>
                      <a:pt x="19050" y="0"/>
                    </a:cubicBezTo>
                    <a:lnTo>
                      <a:pt x="152400" y="0"/>
                    </a:lnTo>
                    <a:cubicBezTo>
                      <a:pt x="162921" y="0"/>
                      <a:pt x="171450" y="8529"/>
                      <a:pt x="171450" y="19050"/>
                    </a:cubicBezTo>
                    <a:lnTo>
                      <a:pt x="171450" y="104775"/>
                    </a:lnTo>
                    <a:cubicBezTo>
                      <a:pt x="171450" y="115296"/>
                      <a:pt x="162921" y="123825"/>
                      <a:pt x="152400" y="123825"/>
                    </a:cubicBezTo>
                    <a:lnTo>
                      <a:pt x="19050" y="123825"/>
                    </a:lnTo>
                    <a:cubicBezTo>
                      <a:pt x="8529" y="123825"/>
                      <a:pt x="0" y="115296"/>
                      <a:pt x="0" y="104775"/>
                    </a:cubicBezTo>
                    <a:lnTo>
                      <a:pt x="0" y="19050"/>
                    </a:lnTo>
                  </a:path>
                </a:pathLst>
              </a:custGeom>
              <a:noFill/>
              <a:ln w="19050">
                <a:solidFill>
                  <a:srgbClr val="FFFFFF"/>
                </a:solidFill>
              </a:ln>
            </p:spPr>
          </p:sp>
          <p:sp>
            <p:nvSpPr>
              <p:cNvPr id="68" name="Freeform 68"/>
              <p:cNvSpPr/>
              <p:nvPr/>
            </p:nvSpPr>
            <p:spPr>
              <a:xfrm>
                <a:off x="8391525" y="2905125"/>
                <a:ext cx="76200" cy="38100"/>
              </a:xfrm>
              <a:custGeom>
                <a:avLst/>
                <a:gdLst/>
                <a:ahLst/>
                <a:cxnLst/>
                <a:rect l="l" t="t" r="r" b="b"/>
                <a:pathLst>
                  <a:path w="76200" h="38100">
                    <a:moveTo>
                      <a:pt x="0" y="38100"/>
                    </a:moveTo>
                    <a:lnTo>
                      <a:pt x="0" y="19050"/>
                    </a:lnTo>
                    <a:cubicBezTo>
                      <a:pt x="0" y="8529"/>
                      <a:pt x="8529" y="0"/>
                      <a:pt x="19050" y="0"/>
                    </a:cubicBezTo>
                    <a:lnTo>
                      <a:pt x="57150" y="0"/>
                    </a:lnTo>
                    <a:cubicBezTo>
                      <a:pt x="67671" y="0"/>
                      <a:pt x="76200" y="8529"/>
                      <a:pt x="76200" y="19050"/>
                    </a:cubicBezTo>
                    <a:lnTo>
                      <a:pt x="76200" y="38100"/>
                    </a:lnTo>
                  </a:path>
                </a:pathLst>
              </a:custGeom>
              <a:noFill/>
              <a:ln w="19050">
                <a:solidFill>
                  <a:srgbClr val="FFFFFF"/>
                </a:solidFill>
              </a:ln>
            </p:spPr>
          </p:sp>
          <p:sp>
            <p:nvSpPr>
              <p:cNvPr id="69" name="Freeform 69"/>
              <p:cNvSpPr/>
              <p:nvPr/>
            </p:nvSpPr>
            <p:spPr>
              <a:xfrm>
                <a:off x="8429625" y="2990850"/>
                <a:ext cx="9525" cy="9525"/>
              </a:xfrm>
              <a:custGeom>
                <a:avLst/>
                <a:gdLst/>
                <a:ahLst/>
                <a:cxnLst/>
                <a:rect l="l" t="t" r="r" b="b"/>
                <a:pathLst>
                  <a:path w="9525" h="9525">
                    <a:moveTo>
                      <a:pt x="0" y="0"/>
                    </a:moveTo>
                    <a:lnTo>
                      <a:pt x="0" y="95"/>
                    </a:lnTo>
                  </a:path>
                </a:pathLst>
              </a:custGeom>
              <a:noFill/>
              <a:ln w="19050">
                <a:solidFill>
                  <a:srgbClr val="FFFFFF"/>
                </a:solidFill>
              </a:ln>
            </p:spPr>
          </p:sp>
          <p:sp>
            <p:nvSpPr>
              <p:cNvPr id="70" name="Freeform 70"/>
              <p:cNvSpPr/>
              <p:nvPr/>
            </p:nvSpPr>
            <p:spPr>
              <a:xfrm>
                <a:off x="8343900" y="3000375"/>
                <a:ext cx="171450" cy="27171"/>
              </a:xfrm>
              <a:custGeom>
                <a:avLst/>
                <a:gdLst/>
                <a:ahLst/>
                <a:cxnLst/>
                <a:rect l="l" t="t" r="r" b="b"/>
                <a:pathLst>
                  <a:path w="171450" h="27171">
                    <a:moveTo>
                      <a:pt x="0" y="0"/>
                    </a:moveTo>
                    <a:cubicBezTo>
                      <a:pt x="53921" y="27171"/>
                      <a:pt x="117529" y="27171"/>
                      <a:pt x="171450" y="0"/>
                    </a:cubicBezTo>
                  </a:path>
                </a:pathLst>
              </a:custGeom>
              <a:noFill/>
              <a:ln w="19050">
                <a:solidFill>
                  <a:srgbClr val="FFFFFF"/>
                </a:solidFill>
              </a:ln>
            </p:spPr>
          </p:sp>
        </p:grpSp>
        <p:sp>
          <p:nvSpPr>
            <p:cNvPr id="72" name="TextBox 72"/>
            <p:cNvSpPr txBox="1"/>
            <p:nvPr/>
          </p:nvSpPr>
          <p:spPr>
            <a:xfrm>
              <a:off x="8636318" y="2837974"/>
              <a:ext cx="570833" cy="198120"/>
            </a:xfrm>
            <a:prstGeom prst="rect">
              <a:avLst/>
            </a:prstGeom>
            <a:noFill/>
            <a:ln>
              <a:noFill/>
            </a:ln>
          </p:spPr>
          <p:txBody>
            <a:bodyPr wrap="none" lIns="0" tIns="0" rIns="0" bIns="0" anchor="t" anchorCtr="0">
              <a:spAutoFit/>
            </a:bodyPr>
            <a:lstStyle/>
            <a:p>
              <a:pPr algn="l"/>
              <a:r>
                <a:rPr lang="zh-CN" sz="975" b="1" dirty="0">
                  <a:solidFill>
                    <a:srgbClr val="17365D"/>
                  </a:solidFill>
                  <a:latin typeface="Arial" panose="020B0604020202020204"/>
                  <a:ea typeface="微软雅黑" panose="020B0503020204020204" charset="-122"/>
                  <a:cs typeface="Arial" panose="020B0604020202020204"/>
                </a:rPr>
                <a:t>采购招标</a:t>
              </a:r>
              <a:endParaRPr lang="zh-CN" sz="975" b="1" dirty="0">
                <a:solidFill>
                  <a:srgbClr val="17365D"/>
                </a:solidFill>
                <a:latin typeface="Arial" panose="020B0604020202020204"/>
                <a:ea typeface="微软雅黑" panose="020B0503020204020204" charset="-122"/>
                <a:cs typeface="Arial" panose="020B0604020202020204"/>
              </a:endParaRPr>
            </a:p>
          </p:txBody>
        </p:sp>
        <p:sp>
          <p:nvSpPr>
            <p:cNvPr id="73" name="TextBox 73"/>
            <p:cNvSpPr txBox="1"/>
            <p:nvPr/>
          </p:nvSpPr>
          <p:spPr>
            <a:xfrm>
              <a:off x="8638222" y="3044666"/>
              <a:ext cx="350996" cy="167640"/>
            </a:xfrm>
            <a:prstGeom prst="rect">
              <a:avLst/>
            </a:prstGeom>
            <a:noFill/>
            <a:ln>
              <a:noFill/>
            </a:ln>
          </p:spPr>
          <p:txBody>
            <a:bodyPr wrap="none" lIns="0" tIns="0" rIns="0" bIns="0" anchor="t" anchorCtr="0">
              <a:spAutoFit/>
            </a:bodyPr>
            <a:lstStyle/>
            <a:p>
              <a:pPr algn="l"/>
              <a:r>
                <a:rPr lang="zh-CN" sz="825" dirty="0">
                  <a:solidFill>
                    <a:srgbClr val="5E6A78"/>
                  </a:solidFill>
                  <a:latin typeface="Arial" panose="020B0604020202020204"/>
                  <a:ea typeface="微软雅黑" panose="020B0503020204020204" charset="-122"/>
                  <a:cs typeface="Arial" panose="020B0604020202020204"/>
                </a:rPr>
                <a:t>负责人</a:t>
              </a:r>
              <a:endParaRPr lang="zh-CN" sz="825" dirty="0">
                <a:solidFill>
                  <a:srgbClr val="5E6A78"/>
                </a:solidFill>
                <a:latin typeface="Arial" panose="020B0604020202020204"/>
                <a:ea typeface="微软雅黑" panose="020B0503020204020204" charset="-122"/>
                <a:cs typeface="Arial" panose="020B0604020202020204"/>
              </a:endParaRPr>
            </a:p>
          </p:txBody>
        </p:sp>
        <p:sp>
          <p:nvSpPr>
            <p:cNvPr id="74" name="Line 74"/>
            <p:cNvSpPr/>
            <p:nvPr/>
          </p:nvSpPr>
          <p:spPr>
            <a:xfrm flipH="1">
              <a:off x="7048500" y="2990850"/>
              <a:ext cx="1143000" cy="438150"/>
            </a:xfrm>
            <a:prstGeom prst="line">
              <a:avLst/>
            </a:prstGeom>
            <a:noFill/>
            <a:ln w="14288">
              <a:solidFill>
                <a:srgbClr val="518FEC"/>
              </a:solidFill>
              <a:tailEnd type="triangle" w="lg" len="lg"/>
            </a:ln>
          </p:spPr>
        </p:sp>
      </p:grpSp>
      <p:grpSp>
        <p:nvGrpSpPr>
          <p:cNvPr id="86" name="Group 86"/>
          <p:cNvGrpSpPr/>
          <p:nvPr/>
        </p:nvGrpSpPr>
        <p:grpSpPr>
          <a:xfrm>
            <a:off x="7048500" y="3762375"/>
            <a:ext cx="2667000" cy="552450"/>
            <a:chOff x="7048500" y="3762375"/>
            <a:chExt cx="2667000" cy="552450"/>
          </a:xfrm>
        </p:grpSpPr>
        <p:sp>
          <p:nvSpPr>
            <p:cNvPr id="76" name="Rectangle 76"/>
            <p:cNvSpPr/>
            <p:nvPr/>
          </p:nvSpPr>
          <p:spPr>
            <a:xfrm>
              <a:off x="8191500" y="3762375"/>
              <a:ext cx="1524000" cy="552450"/>
            </a:xfrm>
            <a:prstGeom prst="roundRect">
              <a:avLst>
                <a:gd name="adj" fmla="val 17241"/>
              </a:avLst>
            </a:prstGeom>
            <a:solidFill>
              <a:srgbClr val="FFFFFF"/>
            </a:solidFill>
            <a:ln w="14288">
              <a:solidFill>
                <a:srgbClr val="246BFE"/>
              </a:solidFill>
            </a:ln>
          </p:spPr>
        </p:sp>
        <p:sp>
          <p:nvSpPr>
            <p:cNvPr id="77" name="Ellipse 77"/>
            <p:cNvSpPr/>
            <p:nvPr/>
          </p:nvSpPr>
          <p:spPr>
            <a:xfrm>
              <a:off x="8296275" y="3905250"/>
              <a:ext cx="266700" cy="266700"/>
            </a:xfrm>
            <a:prstGeom prst="ellipse">
              <a:avLst/>
            </a:prstGeom>
            <a:solidFill>
              <a:srgbClr val="246BFE"/>
            </a:solidFill>
            <a:ln>
              <a:noFill/>
            </a:ln>
          </p:spPr>
        </p:sp>
        <p:grpSp>
          <p:nvGrpSpPr>
            <p:cNvPr id="82" name="Group 82"/>
            <p:cNvGrpSpPr/>
            <p:nvPr/>
          </p:nvGrpSpPr>
          <p:grpSpPr>
            <a:xfrm>
              <a:off x="8343900" y="3952875"/>
              <a:ext cx="171450" cy="171450"/>
              <a:chOff x="8343900" y="3952875"/>
              <a:chExt cx="171450" cy="171450"/>
            </a:xfrm>
          </p:grpSpPr>
          <p:sp>
            <p:nvSpPr>
              <p:cNvPr id="78" name="Freeform 78"/>
              <p:cNvSpPr/>
              <p:nvPr/>
            </p:nvSpPr>
            <p:spPr>
              <a:xfrm>
                <a:off x="8362950" y="395287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FFFFFF"/>
                </a:solidFill>
              </a:ln>
            </p:spPr>
          </p:sp>
          <p:sp>
            <p:nvSpPr>
              <p:cNvPr id="79" name="Freeform 79"/>
              <p:cNvSpPr/>
              <p:nvPr/>
            </p:nvSpPr>
            <p:spPr>
              <a:xfrm>
                <a:off x="8343900" y="4067175"/>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a:solidFill>
                  <a:srgbClr val="FFFFFF"/>
                </a:solidFill>
              </a:ln>
            </p:spPr>
          </p:sp>
          <p:sp>
            <p:nvSpPr>
              <p:cNvPr id="80" name="Freeform 80"/>
              <p:cNvSpPr/>
              <p:nvPr/>
            </p:nvSpPr>
            <p:spPr>
              <a:xfrm>
                <a:off x="8467725" y="3954113"/>
                <a:ext cx="28650" cy="73819"/>
              </a:xfrm>
              <a:custGeom>
                <a:avLst/>
                <a:gdLst/>
                <a:ahLst/>
                <a:cxnLst/>
                <a:rect l="l" t="t" r="r" b="b"/>
                <a:pathLst>
                  <a:path w="28650" h="73819">
                    <a:moveTo>
                      <a:pt x="0" y="0"/>
                    </a:moveTo>
                    <a:cubicBezTo>
                      <a:pt x="16858" y="4316"/>
                      <a:pt x="28650" y="19507"/>
                      <a:pt x="28650" y="36909"/>
                    </a:cubicBezTo>
                    <a:cubicBezTo>
                      <a:pt x="28650" y="54312"/>
                      <a:pt x="16858" y="69502"/>
                      <a:pt x="0" y="73819"/>
                    </a:cubicBezTo>
                  </a:path>
                </a:pathLst>
              </a:custGeom>
              <a:noFill/>
              <a:ln w="19050">
                <a:solidFill>
                  <a:srgbClr val="FFFFFF"/>
                </a:solidFill>
              </a:ln>
            </p:spPr>
          </p:sp>
          <p:sp>
            <p:nvSpPr>
              <p:cNvPr id="81" name="Freeform 81"/>
              <p:cNvSpPr/>
              <p:nvPr/>
            </p:nvSpPr>
            <p:spPr>
              <a:xfrm>
                <a:off x="8486775" y="4068604"/>
                <a:ext cx="28575" cy="55721"/>
              </a:xfrm>
              <a:custGeom>
                <a:avLst/>
                <a:gdLst/>
                <a:ahLst/>
                <a:cxnLst/>
                <a:rect l="l" t="t" r="r" b="b"/>
                <a:pathLst>
                  <a:path w="28575" h="55721">
                    <a:moveTo>
                      <a:pt x="28575" y="55721"/>
                    </a:moveTo>
                    <a:lnTo>
                      <a:pt x="28575" y="36671"/>
                    </a:lnTo>
                    <a:cubicBezTo>
                      <a:pt x="28476" y="19379"/>
                      <a:pt x="16743" y="4323"/>
                      <a:pt x="0" y="0"/>
                    </a:cubicBezTo>
                  </a:path>
                </a:pathLst>
              </a:custGeom>
              <a:noFill/>
              <a:ln w="19050">
                <a:solidFill>
                  <a:srgbClr val="FFFFFF"/>
                </a:solidFill>
              </a:ln>
            </p:spPr>
          </p:sp>
        </p:grpSp>
        <p:sp>
          <p:nvSpPr>
            <p:cNvPr id="83" name="TextBox 83"/>
            <p:cNvSpPr txBox="1"/>
            <p:nvPr/>
          </p:nvSpPr>
          <p:spPr>
            <a:xfrm>
              <a:off x="8636318" y="3885724"/>
              <a:ext cx="570833" cy="198120"/>
            </a:xfrm>
            <a:prstGeom prst="rect">
              <a:avLst/>
            </a:prstGeom>
            <a:noFill/>
            <a:ln>
              <a:noFill/>
            </a:ln>
          </p:spPr>
          <p:txBody>
            <a:bodyPr wrap="none" lIns="0" tIns="0" rIns="0" bIns="0" anchor="t" anchorCtr="0">
              <a:spAutoFit/>
            </a:bodyPr>
            <a:lstStyle/>
            <a:p>
              <a:pPr algn="l"/>
              <a:r>
                <a:rPr lang="zh-CN" sz="975" b="1" dirty="0">
                  <a:solidFill>
                    <a:srgbClr val="17365D"/>
                  </a:solidFill>
                  <a:latin typeface="Arial" panose="020B0604020202020204"/>
                  <a:ea typeface="微软雅黑" panose="020B0503020204020204" charset="-122"/>
                  <a:cs typeface="Arial" panose="020B0604020202020204"/>
                </a:rPr>
                <a:t>项目使用</a:t>
              </a:r>
              <a:endParaRPr lang="zh-CN" sz="975" b="1" dirty="0">
                <a:solidFill>
                  <a:srgbClr val="17365D"/>
                </a:solidFill>
                <a:latin typeface="Arial" panose="020B0604020202020204"/>
                <a:ea typeface="微软雅黑" panose="020B0503020204020204" charset="-122"/>
                <a:cs typeface="Arial" panose="020B0604020202020204"/>
              </a:endParaRPr>
            </a:p>
          </p:txBody>
        </p:sp>
        <p:sp>
          <p:nvSpPr>
            <p:cNvPr id="84" name="TextBox 84"/>
            <p:cNvSpPr txBox="1"/>
            <p:nvPr/>
          </p:nvSpPr>
          <p:spPr>
            <a:xfrm>
              <a:off x="8638222" y="4092416"/>
              <a:ext cx="240982" cy="167640"/>
            </a:xfrm>
            <a:prstGeom prst="rect">
              <a:avLst/>
            </a:prstGeom>
            <a:noFill/>
            <a:ln>
              <a:noFill/>
            </a:ln>
          </p:spPr>
          <p:txBody>
            <a:bodyPr wrap="none" lIns="0" tIns="0" rIns="0" bIns="0" anchor="t" anchorCtr="0">
              <a:spAutoFit/>
            </a:bodyPr>
            <a:lstStyle/>
            <a:p>
              <a:pPr algn="l"/>
              <a:r>
                <a:rPr lang="zh-CN" sz="825" dirty="0">
                  <a:solidFill>
                    <a:srgbClr val="5E6A78"/>
                  </a:solidFill>
                  <a:latin typeface="Arial" panose="020B0604020202020204"/>
                  <a:ea typeface="微软雅黑" panose="020B0503020204020204" charset="-122"/>
                  <a:cs typeface="Arial" panose="020B0604020202020204"/>
                </a:rPr>
                <a:t>部门</a:t>
              </a:r>
              <a:endParaRPr lang="zh-CN" sz="825" dirty="0">
                <a:solidFill>
                  <a:srgbClr val="5E6A78"/>
                </a:solidFill>
                <a:latin typeface="Arial" panose="020B0604020202020204"/>
                <a:ea typeface="微软雅黑" panose="020B0503020204020204" charset="-122"/>
                <a:cs typeface="Arial" panose="020B0604020202020204"/>
              </a:endParaRPr>
            </a:p>
          </p:txBody>
        </p:sp>
        <p:sp>
          <p:nvSpPr>
            <p:cNvPr id="85" name="Line 85"/>
            <p:cNvSpPr/>
            <p:nvPr/>
          </p:nvSpPr>
          <p:spPr>
            <a:xfrm flipH="1" flipV="1">
              <a:off x="7048500" y="3810000"/>
              <a:ext cx="1143000" cy="228600"/>
            </a:xfrm>
            <a:prstGeom prst="line">
              <a:avLst/>
            </a:prstGeom>
            <a:noFill/>
            <a:ln w="14288">
              <a:solidFill>
                <a:srgbClr val="518FEC"/>
              </a:solidFill>
              <a:tailEnd type="triangle" w="lg" len="lg"/>
            </a:ln>
          </p:spPr>
        </p:sp>
      </p:grpSp>
      <p:grpSp>
        <p:nvGrpSpPr>
          <p:cNvPr id="97" name="Group 97"/>
          <p:cNvGrpSpPr/>
          <p:nvPr/>
        </p:nvGrpSpPr>
        <p:grpSpPr>
          <a:xfrm>
            <a:off x="6286500" y="4267200"/>
            <a:ext cx="1524000" cy="952500"/>
            <a:chOff x="6286500" y="4267200"/>
            <a:chExt cx="1524000" cy="952500"/>
          </a:xfrm>
        </p:grpSpPr>
        <p:sp>
          <p:nvSpPr>
            <p:cNvPr id="87" name="Rectangle 87"/>
            <p:cNvSpPr/>
            <p:nvPr/>
          </p:nvSpPr>
          <p:spPr>
            <a:xfrm>
              <a:off x="6286500" y="4667250"/>
              <a:ext cx="1524000" cy="552450"/>
            </a:xfrm>
            <a:prstGeom prst="roundRect">
              <a:avLst>
                <a:gd name="adj" fmla="val 17241"/>
              </a:avLst>
            </a:prstGeom>
            <a:solidFill>
              <a:srgbClr val="FFFFFF"/>
            </a:solidFill>
            <a:ln w="14288">
              <a:solidFill>
                <a:srgbClr val="246BFE"/>
              </a:solidFill>
            </a:ln>
          </p:spPr>
        </p:sp>
        <p:sp>
          <p:nvSpPr>
            <p:cNvPr id="88" name="Ellipse 88"/>
            <p:cNvSpPr/>
            <p:nvPr/>
          </p:nvSpPr>
          <p:spPr>
            <a:xfrm>
              <a:off x="6391275" y="4810125"/>
              <a:ext cx="266700" cy="266700"/>
            </a:xfrm>
            <a:prstGeom prst="ellipse">
              <a:avLst/>
            </a:prstGeom>
            <a:solidFill>
              <a:srgbClr val="246BFE"/>
            </a:solidFill>
            <a:ln>
              <a:noFill/>
            </a:ln>
          </p:spPr>
        </p:sp>
        <p:grpSp>
          <p:nvGrpSpPr>
            <p:cNvPr id="93" name="Group 93"/>
            <p:cNvGrpSpPr/>
            <p:nvPr/>
          </p:nvGrpSpPr>
          <p:grpSpPr>
            <a:xfrm>
              <a:off x="6438900" y="4867275"/>
              <a:ext cx="171450" cy="161925"/>
              <a:chOff x="6438900" y="4867275"/>
              <a:chExt cx="171450" cy="161925"/>
            </a:xfrm>
          </p:grpSpPr>
          <p:sp>
            <p:nvSpPr>
              <p:cNvPr id="89" name="Freeform 89"/>
              <p:cNvSpPr/>
              <p:nvPr/>
            </p:nvSpPr>
            <p:spPr>
              <a:xfrm>
                <a:off x="6438900" y="4943475"/>
                <a:ext cx="57150" cy="76200"/>
              </a:xfrm>
              <a:custGeom>
                <a:avLst/>
                <a:gdLst/>
                <a:ahLst/>
                <a:cxnLst/>
                <a:rect l="l" t="t" r="r" b="b"/>
                <a:pathLst>
                  <a:path w="57150" h="76200">
                    <a:moveTo>
                      <a:pt x="0" y="9525"/>
                    </a:moveTo>
                    <a:cubicBezTo>
                      <a:pt x="0" y="4264"/>
                      <a:pt x="4264" y="0"/>
                      <a:pt x="9525" y="0"/>
                    </a:cubicBezTo>
                    <a:lnTo>
                      <a:pt x="47625" y="0"/>
                    </a:lnTo>
                    <a:cubicBezTo>
                      <a:pt x="52886" y="0"/>
                      <a:pt x="57150" y="4264"/>
                      <a:pt x="57150" y="9525"/>
                    </a:cubicBezTo>
                    <a:lnTo>
                      <a:pt x="57150" y="66675"/>
                    </a:lnTo>
                    <a:cubicBezTo>
                      <a:pt x="57150" y="71936"/>
                      <a:pt x="52886" y="76200"/>
                      <a:pt x="47625" y="76200"/>
                    </a:cubicBezTo>
                    <a:lnTo>
                      <a:pt x="9525" y="76200"/>
                    </a:lnTo>
                    <a:cubicBezTo>
                      <a:pt x="4264" y="76200"/>
                      <a:pt x="0" y="71936"/>
                      <a:pt x="0" y="66675"/>
                    </a:cubicBezTo>
                    <a:lnTo>
                      <a:pt x="0" y="9525"/>
                    </a:lnTo>
                  </a:path>
                </a:pathLst>
              </a:custGeom>
              <a:noFill/>
              <a:ln w="19050">
                <a:solidFill>
                  <a:srgbClr val="FFFFFF"/>
                </a:solidFill>
              </a:ln>
            </p:spPr>
          </p:sp>
          <p:sp>
            <p:nvSpPr>
              <p:cNvPr id="90" name="Freeform 90"/>
              <p:cNvSpPr/>
              <p:nvPr/>
            </p:nvSpPr>
            <p:spPr>
              <a:xfrm>
                <a:off x="6553200" y="4905375"/>
                <a:ext cx="57150" cy="114300"/>
              </a:xfrm>
              <a:custGeom>
                <a:avLst/>
                <a:gdLst/>
                <a:ahLst/>
                <a:cxnLst/>
                <a:rect l="l" t="t" r="r" b="b"/>
                <a:pathLst>
                  <a:path w="57150" h="114300">
                    <a:moveTo>
                      <a:pt x="0" y="9525"/>
                    </a:moveTo>
                    <a:cubicBezTo>
                      <a:pt x="0" y="4264"/>
                      <a:pt x="4264" y="0"/>
                      <a:pt x="9525" y="0"/>
                    </a:cubicBezTo>
                    <a:lnTo>
                      <a:pt x="47625" y="0"/>
                    </a:lnTo>
                    <a:cubicBezTo>
                      <a:pt x="52886" y="0"/>
                      <a:pt x="57150" y="4264"/>
                      <a:pt x="57150" y="9525"/>
                    </a:cubicBezTo>
                    <a:lnTo>
                      <a:pt x="57150" y="104775"/>
                    </a:lnTo>
                    <a:cubicBezTo>
                      <a:pt x="57150" y="110036"/>
                      <a:pt x="52886" y="114300"/>
                      <a:pt x="47625" y="114300"/>
                    </a:cubicBezTo>
                    <a:lnTo>
                      <a:pt x="9525" y="114300"/>
                    </a:lnTo>
                    <a:cubicBezTo>
                      <a:pt x="4264" y="114300"/>
                      <a:pt x="0" y="110036"/>
                      <a:pt x="0" y="104775"/>
                    </a:cubicBezTo>
                    <a:lnTo>
                      <a:pt x="0" y="9525"/>
                    </a:lnTo>
                  </a:path>
                </a:pathLst>
              </a:custGeom>
              <a:noFill/>
              <a:ln w="19050">
                <a:solidFill>
                  <a:srgbClr val="FFFFFF"/>
                </a:solidFill>
              </a:ln>
            </p:spPr>
          </p:sp>
          <p:sp>
            <p:nvSpPr>
              <p:cNvPr id="91" name="Freeform 91"/>
              <p:cNvSpPr/>
              <p:nvPr/>
            </p:nvSpPr>
            <p:spPr>
              <a:xfrm>
                <a:off x="6496050" y="4867275"/>
                <a:ext cx="57150" cy="152400"/>
              </a:xfrm>
              <a:custGeom>
                <a:avLst/>
                <a:gdLst/>
                <a:ahLst/>
                <a:cxnLst/>
                <a:rect l="l" t="t" r="r" b="b"/>
                <a:pathLst>
                  <a:path w="57150" h="152400">
                    <a:moveTo>
                      <a:pt x="0" y="9525"/>
                    </a:moveTo>
                    <a:cubicBezTo>
                      <a:pt x="0" y="4264"/>
                      <a:pt x="4264" y="0"/>
                      <a:pt x="9525" y="0"/>
                    </a:cubicBezTo>
                    <a:lnTo>
                      <a:pt x="47625" y="0"/>
                    </a:lnTo>
                    <a:cubicBezTo>
                      <a:pt x="52886" y="0"/>
                      <a:pt x="57150" y="4264"/>
                      <a:pt x="57150" y="9525"/>
                    </a:cubicBezTo>
                    <a:lnTo>
                      <a:pt x="57150" y="142875"/>
                    </a:lnTo>
                    <a:cubicBezTo>
                      <a:pt x="57150" y="148136"/>
                      <a:pt x="52886" y="152400"/>
                      <a:pt x="47625" y="152400"/>
                    </a:cubicBezTo>
                    <a:lnTo>
                      <a:pt x="9525" y="152400"/>
                    </a:lnTo>
                    <a:cubicBezTo>
                      <a:pt x="4264" y="152400"/>
                      <a:pt x="0" y="148136"/>
                      <a:pt x="0" y="142875"/>
                    </a:cubicBezTo>
                    <a:lnTo>
                      <a:pt x="0" y="9525"/>
                    </a:lnTo>
                  </a:path>
                </a:pathLst>
              </a:custGeom>
              <a:noFill/>
              <a:ln w="19050">
                <a:solidFill>
                  <a:srgbClr val="FFFFFF"/>
                </a:solidFill>
              </a:ln>
            </p:spPr>
          </p:sp>
          <p:sp>
            <p:nvSpPr>
              <p:cNvPr id="92" name="Freeform 92"/>
              <p:cNvSpPr/>
              <p:nvPr/>
            </p:nvSpPr>
            <p:spPr>
              <a:xfrm>
                <a:off x="6448425" y="5019675"/>
                <a:ext cx="133350" cy="9525"/>
              </a:xfrm>
              <a:custGeom>
                <a:avLst/>
                <a:gdLst/>
                <a:ahLst/>
                <a:cxnLst/>
                <a:rect l="l" t="t" r="r" b="b"/>
                <a:pathLst>
                  <a:path w="133350" h="9525">
                    <a:moveTo>
                      <a:pt x="0" y="0"/>
                    </a:moveTo>
                    <a:lnTo>
                      <a:pt x="133350" y="0"/>
                    </a:lnTo>
                  </a:path>
                </a:pathLst>
              </a:custGeom>
              <a:noFill/>
              <a:ln w="19050">
                <a:solidFill>
                  <a:srgbClr val="FFFFFF"/>
                </a:solidFill>
              </a:ln>
            </p:spPr>
          </p:sp>
        </p:grpSp>
        <p:sp>
          <p:nvSpPr>
            <p:cNvPr id="94" name="TextBox 94"/>
            <p:cNvSpPr txBox="1"/>
            <p:nvPr/>
          </p:nvSpPr>
          <p:spPr>
            <a:xfrm>
              <a:off x="6731318" y="4790599"/>
              <a:ext cx="570833" cy="198120"/>
            </a:xfrm>
            <a:prstGeom prst="rect">
              <a:avLst/>
            </a:prstGeom>
            <a:noFill/>
            <a:ln>
              <a:noFill/>
            </a:ln>
          </p:spPr>
          <p:txBody>
            <a:bodyPr wrap="none" lIns="0" tIns="0" rIns="0" bIns="0" anchor="t" anchorCtr="0">
              <a:spAutoFit/>
            </a:bodyPr>
            <a:lstStyle/>
            <a:p>
              <a:pPr algn="l"/>
              <a:r>
                <a:rPr lang="zh-CN" sz="975" b="1" dirty="0">
                  <a:solidFill>
                    <a:srgbClr val="17365D"/>
                  </a:solidFill>
                  <a:latin typeface="Arial" panose="020B0604020202020204"/>
                  <a:ea typeface="微软雅黑" panose="020B0503020204020204" charset="-122"/>
                  <a:cs typeface="Arial" panose="020B0604020202020204"/>
                </a:rPr>
                <a:t>技术方案</a:t>
              </a:r>
              <a:endParaRPr lang="zh-CN" sz="975" b="1" dirty="0">
                <a:solidFill>
                  <a:srgbClr val="17365D"/>
                </a:solidFill>
                <a:latin typeface="Arial" panose="020B0604020202020204"/>
                <a:ea typeface="微软雅黑" panose="020B0503020204020204" charset="-122"/>
                <a:cs typeface="Arial" panose="020B0604020202020204"/>
              </a:endParaRPr>
            </a:p>
          </p:txBody>
        </p:sp>
        <p:sp>
          <p:nvSpPr>
            <p:cNvPr id="95" name="TextBox 95"/>
            <p:cNvSpPr txBox="1"/>
            <p:nvPr/>
          </p:nvSpPr>
          <p:spPr>
            <a:xfrm>
              <a:off x="6733222" y="4997291"/>
              <a:ext cx="350996" cy="167640"/>
            </a:xfrm>
            <a:prstGeom prst="rect">
              <a:avLst/>
            </a:prstGeom>
            <a:noFill/>
            <a:ln>
              <a:noFill/>
            </a:ln>
          </p:spPr>
          <p:txBody>
            <a:bodyPr wrap="none" lIns="0" tIns="0" rIns="0" bIns="0" anchor="t" anchorCtr="0">
              <a:spAutoFit/>
            </a:bodyPr>
            <a:lstStyle/>
            <a:p>
              <a:pPr algn="l"/>
              <a:r>
                <a:rPr lang="zh-CN" sz="825" dirty="0">
                  <a:solidFill>
                    <a:srgbClr val="5E6A78"/>
                  </a:solidFill>
                  <a:latin typeface="Arial" panose="020B0604020202020204"/>
                  <a:ea typeface="微软雅黑" panose="020B0503020204020204" charset="-122"/>
                  <a:cs typeface="Arial" panose="020B0604020202020204"/>
                </a:rPr>
                <a:t>评估人</a:t>
              </a:r>
              <a:endParaRPr lang="zh-CN" sz="825" dirty="0">
                <a:solidFill>
                  <a:srgbClr val="5E6A78"/>
                </a:solidFill>
                <a:latin typeface="Arial" panose="020B0604020202020204"/>
                <a:ea typeface="微软雅黑" panose="020B0503020204020204" charset="-122"/>
                <a:cs typeface="Arial" panose="020B0604020202020204"/>
              </a:endParaRPr>
            </a:p>
          </p:txBody>
        </p:sp>
        <p:sp>
          <p:nvSpPr>
            <p:cNvPr id="96" name="Line 96"/>
            <p:cNvSpPr/>
            <p:nvPr/>
          </p:nvSpPr>
          <p:spPr>
            <a:xfrm flipH="1" flipV="1">
              <a:off x="6715125" y="4267200"/>
              <a:ext cx="333375" cy="400050"/>
            </a:xfrm>
            <a:prstGeom prst="line">
              <a:avLst/>
            </a:prstGeom>
            <a:noFill/>
            <a:ln w="14288">
              <a:solidFill>
                <a:srgbClr val="518FEC"/>
              </a:solidFill>
              <a:tailEnd type="triangle" w="lg" len="lg"/>
            </a:ln>
          </p:spPr>
        </p:sp>
      </p:grpSp>
      <p:grpSp>
        <p:nvGrpSpPr>
          <p:cNvPr id="112" name="Group 112"/>
          <p:cNvGrpSpPr/>
          <p:nvPr/>
        </p:nvGrpSpPr>
        <p:grpSpPr>
          <a:xfrm>
            <a:off x="4381500" y="4267200"/>
            <a:ext cx="1524000" cy="952500"/>
            <a:chOff x="4381500" y="4267200"/>
            <a:chExt cx="1524000" cy="952500"/>
          </a:xfrm>
        </p:grpSpPr>
        <p:sp>
          <p:nvSpPr>
            <p:cNvPr id="98" name="Rectangle 98"/>
            <p:cNvSpPr/>
            <p:nvPr/>
          </p:nvSpPr>
          <p:spPr>
            <a:xfrm>
              <a:off x="4381500" y="4667250"/>
              <a:ext cx="1524000" cy="552450"/>
            </a:xfrm>
            <a:prstGeom prst="roundRect">
              <a:avLst>
                <a:gd name="adj" fmla="val 17241"/>
              </a:avLst>
            </a:prstGeom>
            <a:solidFill>
              <a:srgbClr val="FFFFFF"/>
            </a:solidFill>
            <a:ln w="14288">
              <a:solidFill>
                <a:srgbClr val="0E9F6E"/>
              </a:solidFill>
            </a:ln>
          </p:spPr>
        </p:sp>
        <p:sp>
          <p:nvSpPr>
            <p:cNvPr id="99" name="Ellipse 99"/>
            <p:cNvSpPr/>
            <p:nvPr/>
          </p:nvSpPr>
          <p:spPr>
            <a:xfrm>
              <a:off x="4486275" y="4810125"/>
              <a:ext cx="266700" cy="266700"/>
            </a:xfrm>
            <a:prstGeom prst="ellipse">
              <a:avLst/>
            </a:prstGeom>
            <a:solidFill>
              <a:srgbClr val="0E9F6E"/>
            </a:solidFill>
            <a:ln>
              <a:noFill/>
            </a:ln>
          </p:spPr>
        </p:sp>
        <p:grpSp>
          <p:nvGrpSpPr>
            <p:cNvPr id="108" name="Group 108"/>
            <p:cNvGrpSpPr/>
            <p:nvPr/>
          </p:nvGrpSpPr>
          <p:grpSpPr>
            <a:xfrm>
              <a:off x="4533900" y="4857750"/>
              <a:ext cx="171450" cy="180975"/>
              <a:chOff x="4533900" y="4857750"/>
              <a:chExt cx="171450" cy="180975"/>
            </a:xfrm>
          </p:grpSpPr>
          <p:sp>
            <p:nvSpPr>
              <p:cNvPr id="100" name="Freeform 100"/>
              <p:cNvSpPr/>
              <p:nvPr/>
            </p:nvSpPr>
            <p:spPr>
              <a:xfrm>
                <a:off x="4533900" y="5029200"/>
                <a:ext cx="171450" cy="9525"/>
              </a:xfrm>
              <a:custGeom>
                <a:avLst/>
                <a:gdLst/>
                <a:ahLst/>
                <a:cxnLst/>
                <a:rect l="l" t="t" r="r" b="b"/>
                <a:pathLst>
                  <a:path w="171450" h="9525">
                    <a:moveTo>
                      <a:pt x="0" y="0"/>
                    </a:moveTo>
                    <a:lnTo>
                      <a:pt x="171450" y="0"/>
                    </a:lnTo>
                  </a:path>
                </a:pathLst>
              </a:custGeom>
              <a:noFill/>
              <a:ln w="19050">
                <a:solidFill>
                  <a:srgbClr val="FFFFFF"/>
                </a:solidFill>
              </a:ln>
            </p:spPr>
          </p:sp>
          <p:sp>
            <p:nvSpPr>
              <p:cNvPr id="101" name="Freeform 101"/>
              <p:cNvSpPr/>
              <p:nvPr/>
            </p:nvSpPr>
            <p:spPr>
              <a:xfrm>
                <a:off x="4591050" y="4905375"/>
                <a:ext cx="9525" cy="9525"/>
              </a:xfrm>
              <a:custGeom>
                <a:avLst/>
                <a:gdLst/>
                <a:ahLst/>
                <a:cxnLst/>
                <a:rect l="l" t="t" r="r" b="b"/>
                <a:pathLst>
                  <a:path w="9525" h="9525">
                    <a:moveTo>
                      <a:pt x="0" y="0"/>
                    </a:moveTo>
                    <a:lnTo>
                      <a:pt x="9525" y="0"/>
                    </a:lnTo>
                  </a:path>
                </a:pathLst>
              </a:custGeom>
              <a:noFill/>
              <a:ln w="19050">
                <a:solidFill>
                  <a:srgbClr val="FFFFFF"/>
                </a:solidFill>
              </a:ln>
            </p:spPr>
          </p:sp>
          <p:sp>
            <p:nvSpPr>
              <p:cNvPr id="102" name="Freeform 102"/>
              <p:cNvSpPr/>
              <p:nvPr/>
            </p:nvSpPr>
            <p:spPr>
              <a:xfrm>
                <a:off x="4591050" y="4943475"/>
                <a:ext cx="9525" cy="9525"/>
              </a:xfrm>
              <a:custGeom>
                <a:avLst/>
                <a:gdLst/>
                <a:ahLst/>
                <a:cxnLst/>
                <a:rect l="l" t="t" r="r" b="b"/>
                <a:pathLst>
                  <a:path w="9525" h="9525">
                    <a:moveTo>
                      <a:pt x="0" y="0"/>
                    </a:moveTo>
                    <a:lnTo>
                      <a:pt x="9525" y="0"/>
                    </a:lnTo>
                  </a:path>
                </a:pathLst>
              </a:custGeom>
              <a:noFill/>
              <a:ln w="19050">
                <a:solidFill>
                  <a:srgbClr val="FFFFFF"/>
                </a:solidFill>
              </a:ln>
            </p:spPr>
          </p:sp>
          <p:sp>
            <p:nvSpPr>
              <p:cNvPr id="103" name="Freeform 103"/>
              <p:cNvSpPr/>
              <p:nvPr/>
            </p:nvSpPr>
            <p:spPr>
              <a:xfrm>
                <a:off x="4591050" y="4981575"/>
                <a:ext cx="9525" cy="9525"/>
              </a:xfrm>
              <a:custGeom>
                <a:avLst/>
                <a:gdLst/>
                <a:ahLst/>
                <a:cxnLst/>
                <a:rect l="l" t="t" r="r" b="b"/>
                <a:pathLst>
                  <a:path w="9525" h="9525">
                    <a:moveTo>
                      <a:pt x="0" y="0"/>
                    </a:moveTo>
                    <a:lnTo>
                      <a:pt x="9525" y="0"/>
                    </a:lnTo>
                  </a:path>
                </a:pathLst>
              </a:custGeom>
              <a:noFill/>
              <a:ln w="19050">
                <a:solidFill>
                  <a:srgbClr val="FFFFFF"/>
                </a:solidFill>
              </a:ln>
            </p:spPr>
          </p:sp>
          <p:sp>
            <p:nvSpPr>
              <p:cNvPr id="104" name="Freeform 104"/>
              <p:cNvSpPr/>
              <p:nvPr/>
            </p:nvSpPr>
            <p:spPr>
              <a:xfrm>
                <a:off x="4638675" y="4905375"/>
                <a:ext cx="9525" cy="9525"/>
              </a:xfrm>
              <a:custGeom>
                <a:avLst/>
                <a:gdLst/>
                <a:ahLst/>
                <a:cxnLst/>
                <a:rect l="l" t="t" r="r" b="b"/>
                <a:pathLst>
                  <a:path w="9525" h="9525">
                    <a:moveTo>
                      <a:pt x="0" y="0"/>
                    </a:moveTo>
                    <a:lnTo>
                      <a:pt x="9525" y="0"/>
                    </a:lnTo>
                  </a:path>
                </a:pathLst>
              </a:custGeom>
              <a:noFill/>
              <a:ln w="19050">
                <a:solidFill>
                  <a:srgbClr val="FFFFFF"/>
                </a:solidFill>
              </a:ln>
            </p:spPr>
          </p:sp>
          <p:sp>
            <p:nvSpPr>
              <p:cNvPr id="105" name="Freeform 105"/>
              <p:cNvSpPr/>
              <p:nvPr/>
            </p:nvSpPr>
            <p:spPr>
              <a:xfrm>
                <a:off x="4638675" y="4943475"/>
                <a:ext cx="9525" cy="9525"/>
              </a:xfrm>
              <a:custGeom>
                <a:avLst/>
                <a:gdLst/>
                <a:ahLst/>
                <a:cxnLst/>
                <a:rect l="l" t="t" r="r" b="b"/>
                <a:pathLst>
                  <a:path w="9525" h="9525">
                    <a:moveTo>
                      <a:pt x="0" y="0"/>
                    </a:moveTo>
                    <a:lnTo>
                      <a:pt x="9525" y="0"/>
                    </a:lnTo>
                  </a:path>
                </a:pathLst>
              </a:custGeom>
              <a:noFill/>
              <a:ln w="19050">
                <a:solidFill>
                  <a:srgbClr val="FFFFFF"/>
                </a:solidFill>
              </a:ln>
            </p:spPr>
          </p:sp>
          <p:sp>
            <p:nvSpPr>
              <p:cNvPr id="106" name="Freeform 106"/>
              <p:cNvSpPr/>
              <p:nvPr/>
            </p:nvSpPr>
            <p:spPr>
              <a:xfrm>
                <a:off x="4638675" y="4981575"/>
                <a:ext cx="9525" cy="9525"/>
              </a:xfrm>
              <a:custGeom>
                <a:avLst/>
                <a:gdLst/>
                <a:ahLst/>
                <a:cxnLst/>
                <a:rect l="l" t="t" r="r" b="b"/>
                <a:pathLst>
                  <a:path w="9525" h="9525">
                    <a:moveTo>
                      <a:pt x="0" y="0"/>
                    </a:moveTo>
                    <a:lnTo>
                      <a:pt x="9525" y="0"/>
                    </a:lnTo>
                  </a:path>
                </a:pathLst>
              </a:custGeom>
              <a:noFill/>
              <a:ln w="19050">
                <a:solidFill>
                  <a:srgbClr val="FFFFFF"/>
                </a:solidFill>
              </a:ln>
            </p:spPr>
          </p:sp>
          <p:sp>
            <p:nvSpPr>
              <p:cNvPr id="107" name="Freeform 107"/>
              <p:cNvSpPr/>
              <p:nvPr/>
            </p:nvSpPr>
            <p:spPr>
              <a:xfrm>
                <a:off x="4552950" y="4857750"/>
                <a:ext cx="133350" cy="171450"/>
              </a:xfrm>
              <a:custGeom>
                <a:avLst/>
                <a:gdLst/>
                <a:ahLst/>
                <a:cxnLst/>
                <a:rect l="l" t="t" r="r" b="b"/>
                <a:pathLst>
                  <a:path w="133350" h="171450">
                    <a:moveTo>
                      <a:pt x="0" y="171450"/>
                    </a:moveTo>
                    <a:lnTo>
                      <a:pt x="0" y="19050"/>
                    </a:lnTo>
                    <a:cubicBezTo>
                      <a:pt x="0" y="8529"/>
                      <a:pt x="8529" y="0"/>
                      <a:pt x="19050" y="0"/>
                    </a:cubicBezTo>
                    <a:lnTo>
                      <a:pt x="114300" y="0"/>
                    </a:lnTo>
                    <a:cubicBezTo>
                      <a:pt x="124821" y="0"/>
                      <a:pt x="133350" y="8529"/>
                      <a:pt x="133350" y="19050"/>
                    </a:cubicBezTo>
                    <a:lnTo>
                      <a:pt x="133350" y="171450"/>
                    </a:lnTo>
                  </a:path>
                </a:pathLst>
              </a:custGeom>
              <a:noFill/>
              <a:ln w="19050">
                <a:solidFill>
                  <a:srgbClr val="FFFFFF"/>
                </a:solidFill>
              </a:ln>
            </p:spPr>
          </p:sp>
        </p:grpSp>
        <p:sp>
          <p:nvSpPr>
            <p:cNvPr id="109" name="TextBox 109"/>
            <p:cNvSpPr txBox="1"/>
            <p:nvPr/>
          </p:nvSpPr>
          <p:spPr>
            <a:xfrm>
              <a:off x="4826318" y="4790599"/>
              <a:ext cx="721002" cy="198120"/>
            </a:xfrm>
            <a:prstGeom prst="rect">
              <a:avLst/>
            </a:prstGeom>
            <a:noFill/>
            <a:ln>
              <a:noFill/>
            </a:ln>
          </p:spPr>
          <p:txBody>
            <a:bodyPr wrap="none" lIns="0" tIns="0" rIns="0" bIns="0" anchor="t" anchorCtr="0">
              <a:spAutoFit/>
            </a:bodyPr>
            <a:lstStyle/>
            <a:p>
              <a:pPr algn="l"/>
              <a:r>
                <a:rPr lang="zh-CN" sz="975" b="1" dirty="0">
                  <a:solidFill>
                    <a:srgbClr val="17365D"/>
                  </a:solidFill>
                  <a:latin typeface="Arial" panose="020B0604020202020204"/>
                  <a:ea typeface="微软雅黑" panose="020B0503020204020204" charset="-122"/>
                  <a:cs typeface="Arial" panose="020B0604020202020204"/>
                </a:rPr>
                <a:t>业主/投资/</a:t>
              </a:r>
              <a:endParaRPr lang="zh-CN" sz="975" b="1" dirty="0">
                <a:solidFill>
                  <a:srgbClr val="17365D"/>
                </a:solidFill>
                <a:latin typeface="Arial" panose="020B0604020202020204"/>
                <a:ea typeface="微软雅黑" panose="020B0503020204020204" charset="-122"/>
                <a:cs typeface="Arial" panose="020B0604020202020204"/>
              </a:endParaRPr>
            </a:p>
          </p:txBody>
        </p:sp>
        <p:sp>
          <p:nvSpPr>
            <p:cNvPr id="110" name="TextBox 110"/>
            <p:cNvSpPr txBox="1"/>
            <p:nvPr/>
          </p:nvSpPr>
          <p:spPr>
            <a:xfrm>
              <a:off x="4828222" y="4997291"/>
              <a:ext cx="631531" cy="167640"/>
            </a:xfrm>
            <a:prstGeom prst="rect">
              <a:avLst/>
            </a:prstGeom>
            <a:noFill/>
            <a:ln>
              <a:noFill/>
            </a:ln>
          </p:spPr>
          <p:txBody>
            <a:bodyPr wrap="none" lIns="0" tIns="0" rIns="0" bIns="0" anchor="t" anchorCtr="0">
              <a:spAutoFit/>
            </a:bodyPr>
            <a:lstStyle/>
            <a:p>
              <a:pPr algn="l"/>
              <a:r>
                <a:rPr lang="zh-CN" sz="825" dirty="0">
                  <a:solidFill>
                    <a:srgbClr val="5E6A78"/>
                  </a:solidFill>
                  <a:latin typeface="Arial" panose="020B0604020202020204"/>
                  <a:ea typeface="微软雅黑" panose="020B0503020204020204" charset="-122"/>
                  <a:cs typeface="Arial" panose="020B0604020202020204"/>
                </a:rPr>
                <a:t>运营/物业方</a:t>
              </a:r>
              <a:endParaRPr lang="zh-CN" sz="825" dirty="0">
                <a:solidFill>
                  <a:srgbClr val="5E6A78"/>
                </a:solidFill>
                <a:latin typeface="Arial" panose="020B0604020202020204"/>
                <a:ea typeface="微软雅黑" panose="020B0503020204020204" charset="-122"/>
                <a:cs typeface="Arial" panose="020B0604020202020204"/>
              </a:endParaRPr>
            </a:p>
          </p:txBody>
        </p:sp>
        <p:sp>
          <p:nvSpPr>
            <p:cNvPr id="111" name="Line 111"/>
            <p:cNvSpPr/>
            <p:nvPr/>
          </p:nvSpPr>
          <p:spPr>
            <a:xfrm flipV="1">
              <a:off x="5143500" y="4267200"/>
              <a:ext cx="333375" cy="400050"/>
            </a:xfrm>
            <a:prstGeom prst="line">
              <a:avLst/>
            </a:prstGeom>
            <a:noFill/>
            <a:ln w="14288">
              <a:solidFill>
                <a:srgbClr val="518FEC"/>
              </a:solidFill>
              <a:tailEnd type="triangle" w="lg" len="lg"/>
            </a:ln>
          </p:spPr>
        </p:sp>
      </p:grpSp>
      <p:grpSp>
        <p:nvGrpSpPr>
          <p:cNvPr id="128" name="Group 128"/>
          <p:cNvGrpSpPr/>
          <p:nvPr/>
        </p:nvGrpSpPr>
        <p:grpSpPr>
          <a:xfrm>
            <a:off x="10001250" y="1714500"/>
            <a:ext cx="1619250" cy="1714500"/>
            <a:chOff x="10001250" y="1714500"/>
            <a:chExt cx="1619250" cy="1714500"/>
          </a:xfrm>
        </p:grpSpPr>
        <p:sp>
          <p:nvSpPr>
            <p:cNvPr id="113" name="Rectangle 113"/>
            <p:cNvSpPr/>
            <p:nvPr/>
          </p:nvSpPr>
          <p:spPr>
            <a:xfrm>
              <a:off x="10001250" y="1714500"/>
              <a:ext cx="1619250" cy="1714500"/>
            </a:xfrm>
            <a:prstGeom prst="roundRect">
              <a:avLst>
                <a:gd name="adj" fmla="val 7059"/>
              </a:avLst>
            </a:prstGeom>
            <a:solidFill>
              <a:srgbClr val="17365D"/>
            </a:solidFill>
            <a:ln>
              <a:noFill/>
            </a:ln>
          </p:spPr>
        </p:sp>
        <p:grpSp>
          <p:nvGrpSpPr>
            <p:cNvPr id="117" name="Group 117"/>
            <p:cNvGrpSpPr/>
            <p:nvPr/>
          </p:nvGrpSpPr>
          <p:grpSpPr>
            <a:xfrm>
              <a:off x="10247312" y="1938338"/>
              <a:ext cx="155575" cy="200024"/>
              <a:chOff x="10247312" y="1938338"/>
              <a:chExt cx="155575" cy="200024"/>
            </a:xfrm>
          </p:grpSpPr>
          <p:sp>
            <p:nvSpPr>
              <p:cNvPr id="114" name="Freeform 114"/>
              <p:cNvSpPr/>
              <p:nvPr/>
            </p:nvSpPr>
            <p:spPr>
              <a:xfrm>
                <a:off x="10247312" y="2005012"/>
                <a:ext cx="155575" cy="133350"/>
              </a:xfrm>
              <a:custGeom>
                <a:avLst/>
                <a:gdLst/>
                <a:ahLst/>
                <a:cxnLst/>
                <a:rect l="l" t="t" r="r" b="b"/>
                <a:pathLst>
                  <a:path w="155575" h="133350">
                    <a:moveTo>
                      <a:pt x="33338" y="0"/>
                    </a:moveTo>
                    <a:lnTo>
                      <a:pt x="22225" y="0"/>
                    </a:lnTo>
                    <a:cubicBezTo>
                      <a:pt x="9950" y="0"/>
                      <a:pt x="0" y="9950"/>
                      <a:pt x="0" y="22225"/>
                    </a:cubicBezTo>
                    <a:lnTo>
                      <a:pt x="0" y="111125"/>
                    </a:lnTo>
                    <a:cubicBezTo>
                      <a:pt x="0" y="123400"/>
                      <a:pt x="9950" y="133350"/>
                      <a:pt x="22225" y="133350"/>
                    </a:cubicBezTo>
                    <a:lnTo>
                      <a:pt x="133350" y="133350"/>
                    </a:lnTo>
                    <a:cubicBezTo>
                      <a:pt x="145625" y="133350"/>
                      <a:pt x="155575" y="123400"/>
                      <a:pt x="155575" y="111125"/>
                    </a:cubicBezTo>
                    <a:lnTo>
                      <a:pt x="155575" y="22225"/>
                    </a:lnTo>
                    <a:cubicBezTo>
                      <a:pt x="155575" y="9950"/>
                      <a:pt x="145625" y="0"/>
                      <a:pt x="133350" y="0"/>
                    </a:cubicBezTo>
                    <a:lnTo>
                      <a:pt x="122238" y="0"/>
                    </a:lnTo>
                  </a:path>
                </a:pathLst>
              </a:custGeom>
              <a:noFill/>
              <a:ln w="19050">
                <a:solidFill>
                  <a:srgbClr val="518FEC"/>
                </a:solidFill>
              </a:ln>
            </p:spPr>
          </p:sp>
          <p:sp>
            <p:nvSpPr>
              <p:cNvPr id="115" name="Freeform 115"/>
              <p:cNvSpPr/>
              <p:nvPr/>
            </p:nvSpPr>
            <p:spPr>
              <a:xfrm>
                <a:off x="10325100" y="1938338"/>
                <a:ext cx="9525" cy="122238"/>
              </a:xfrm>
              <a:custGeom>
                <a:avLst/>
                <a:gdLst/>
                <a:ahLst/>
                <a:cxnLst/>
                <a:rect l="l" t="t" r="r" b="b"/>
                <a:pathLst>
                  <a:path w="9525" h="122238">
                    <a:moveTo>
                      <a:pt x="0" y="122238"/>
                    </a:moveTo>
                    <a:lnTo>
                      <a:pt x="0" y="0"/>
                    </a:lnTo>
                  </a:path>
                </a:pathLst>
              </a:custGeom>
              <a:noFill/>
              <a:ln w="19050">
                <a:solidFill>
                  <a:srgbClr val="518FEC"/>
                </a:solidFill>
              </a:ln>
            </p:spPr>
          </p:sp>
          <p:sp>
            <p:nvSpPr>
              <p:cNvPr id="116" name="Freeform 116"/>
              <p:cNvSpPr/>
              <p:nvPr/>
            </p:nvSpPr>
            <p:spPr>
              <a:xfrm>
                <a:off x="10291762" y="1938338"/>
                <a:ext cx="66675" cy="33338"/>
              </a:xfrm>
              <a:custGeom>
                <a:avLst/>
                <a:gdLst/>
                <a:ahLst/>
                <a:cxnLst/>
                <a:rect l="l" t="t" r="r" b="b"/>
                <a:pathLst>
                  <a:path w="66675" h="33338">
                    <a:moveTo>
                      <a:pt x="0" y="33338"/>
                    </a:moveTo>
                    <a:lnTo>
                      <a:pt x="33338" y="0"/>
                    </a:lnTo>
                    <a:lnTo>
                      <a:pt x="66675" y="33338"/>
                    </a:lnTo>
                  </a:path>
                </a:pathLst>
              </a:custGeom>
              <a:noFill/>
              <a:ln w="19050">
                <a:solidFill>
                  <a:srgbClr val="518FEC"/>
                </a:solidFill>
              </a:ln>
            </p:spPr>
          </p:sp>
        </p:grpSp>
        <p:sp>
          <p:nvSpPr>
            <p:cNvPr id="118" name="TextBox 118"/>
            <p:cNvSpPr txBox="1"/>
            <p:nvPr/>
          </p:nvSpPr>
          <p:spPr>
            <a:xfrm>
              <a:off x="10540365" y="2001202"/>
              <a:ext cx="61474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panose="020B0604020202020204"/>
                  <a:ea typeface="微软雅黑" panose="020B0503020204020204" charset="-122"/>
                  <a:cs typeface="Arial" panose="020B0604020202020204"/>
                </a:rPr>
                <a:t>关系洞察</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19" name="Line 119"/>
            <p:cNvSpPr/>
            <p:nvPr/>
          </p:nvSpPr>
          <p:spPr>
            <a:xfrm>
              <a:off x="10191750" y="2266950"/>
              <a:ext cx="1238250" cy="9525"/>
            </a:xfrm>
            <a:custGeom>
              <a:avLst/>
              <a:gdLst/>
              <a:ahLst/>
              <a:cxnLst/>
              <a:rect l="l" t="t" r="r" b="b"/>
              <a:pathLst>
                <a:path w="1238250" h="9525">
                  <a:moveTo>
                    <a:pt x="0" y="0"/>
                  </a:moveTo>
                  <a:lnTo>
                    <a:pt x="1238250" y="0"/>
                  </a:lnTo>
                </a:path>
              </a:pathLst>
            </a:custGeom>
            <a:noFill/>
            <a:ln w="14288">
              <a:solidFill>
                <a:srgbClr val="518FEC">
                  <a:alpha val="40000"/>
                </a:srgbClr>
              </a:solidFill>
            </a:ln>
          </p:spPr>
        </p:sp>
        <p:sp>
          <p:nvSpPr>
            <p:cNvPr id="120" name="Ellipse 120"/>
            <p:cNvSpPr/>
            <p:nvPr/>
          </p:nvSpPr>
          <p:spPr>
            <a:xfrm>
              <a:off x="10220325" y="2466975"/>
              <a:ext cx="57150" cy="57150"/>
            </a:xfrm>
            <a:prstGeom prst="ellipse">
              <a:avLst/>
            </a:prstGeom>
            <a:solidFill>
              <a:srgbClr val="518FEC"/>
            </a:solidFill>
            <a:ln>
              <a:noFill/>
            </a:ln>
          </p:spPr>
        </p:sp>
        <p:sp>
          <p:nvSpPr>
            <p:cNvPr id="121" name="TextBox 121"/>
            <p:cNvSpPr txBox="1"/>
            <p:nvPr/>
          </p:nvSpPr>
          <p:spPr>
            <a:xfrm>
              <a:off x="10351770" y="2436495"/>
              <a:ext cx="622935"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panose="020B0604020202020204"/>
                  <a:ea typeface="微软雅黑" panose="020B0503020204020204" charset="-122"/>
                  <a:cs typeface="Arial" panose="020B0604020202020204"/>
                </a:rPr>
                <a:t>联系人关系</a:t>
              </a:r>
              <a:endParaRPr lang="zh-CN" sz="900" dirty="0">
                <a:solidFill>
                  <a:srgbClr val="B8C7E0"/>
                </a:solidFill>
                <a:latin typeface="Arial" panose="020B0604020202020204"/>
                <a:ea typeface="微软雅黑" panose="020B0503020204020204" charset="-122"/>
                <a:cs typeface="Arial" panose="020B0604020202020204"/>
              </a:endParaRPr>
            </a:p>
          </p:txBody>
        </p:sp>
        <p:sp>
          <p:nvSpPr>
            <p:cNvPr id="122" name="Ellipse 122"/>
            <p:cNvSpPr/>
            <p:nvPr/>
          </p:nvSpPr>
          <p:spPr>
            <a:xfrm>
              <a:off x="10220325" y="2733675"/>
              <a:ext cx="57150" cy="57150"/>
            </a:xfrm>
            <a:prstGeom prst="ellipse">
              <a:avLst/>
            </a:prstGeom>
            <a:solidFill>
              <a:srgbClr val="518FEC"/>
            </a:solidFill>
            <a:ln>
              <a:noFill/>
            </a:ln>
          </p:spPr>
        </p:sp>
        <p:sp>
          <p:nvSpPr>
            <p:cNvPr id="123" name="TextBox 123"/>
            <p:cNvSpPr txBox="1"/>
            <p:nvPr/>
          </p:nvSpPr>
          <p:spPr>
            <a:xfrm>
              <a:off x="10351770" y="2703195"/>
              <a:ext cx="622935"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panose="020B0604020202020204"/>
                  <a:ea typeface="微软雅黑" panose="020B0503020204020204" charset="-122"/>
                  <a:cs typeface="Arial" panose="020B0604020202020204"/>
                </a:rPr>
                <a:t>影响力排序</a:t>
              </a:r>
              <a:endParaRPr lang="zh-CN" sz="900" dirty="0">
                <a:solidFill>
                  <a:srgbClr val="B8C7E0"/>
                </a:solidFill>
                <a:latin typeface="Arial" panose="020B0604020202020204"/>
                <a:ea typeface="微软雅黑" panose="020B0503020204020204" charset="-122"/>
                <a:cs typeface="Arial" panose="020B0604020202020204"/>
              </a:endParaRPr>
            </a:p>
          </p:txBody>
        </p:sp>
        <p:sp>
          <p:nvSpPr>
            <p:cNvPr id="124" name="Ellipse 124"/>
            <p:cNvSpPr/>
            <p:nvPr/>
          </p:nvSpPr>
          <p:spPr>
            <a:xfrm>
              <a:off x="10220325" y="3000375"/>
              <a:ext cx="57150" cy="57150"/>
            </a:xfrm>
            <a:prstGeom prst="ellipse">
              <a:avLst/>
            </a:prstGeom>
            <a:solidFill>
              <a:srgbClr val="518FEC"/>
            </a:solidFill>
            <a:ln>
              <a:noFill/>
            </a:ln>
          </p:spPr>
        </p:sp>
        <p:sp>
          <p:nvSpPr>
            <p:cNvPr id="125" name="TextBox 125"/>
            <p:cNvSpPr txBox="1"/>
            <p:nvPr/>
          </p:nvSpPr>
          <p:spPr>
            <a:xfrm>
              <a:off x="10351770" y="2969895"/>
              <a:ext cx="742950"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panose="020B0604020202020204"/>
                  <a:ea typeface="微软雅黑" panose="020B0503020204020204" charset="-122"/>
                  <a:cs typeface="Arial" panose="020B0604020202020204"/>
                </a:rPr>
                <a:t>销售掌握信息</a:t>
              </a:r>
              <a:endParaRPr lang="zh-CN" sz="900" dirty="0">
                <a:solidFill>
                  <a:srgbClr val="B8C7E0"/>
                </a:solidFill>
                <a:latin typeface="Arial" panose="020B0604020202020204"/>
                <a:ea typeface="微软雅黑" panose="020B0503020204020204" charset="-122"/>
                <a:cs typeface="Arial" panose="020B0604020202020204"/>
              </a:endParaRPr>
            </a:p>
          </p:txBody>
        </p:sp>
        <p:sp>
          <p:nvSpPr>
            <p:cNvPr id="126" name="Ellipse 126"/>
            <p:cNvSpPr/>
            <p:nvPr/>
          </p:nvSpPr>
          <p:spPr>
            <a:xfrm>
              <a:off x="10220325" y="3267075"/>
              <a:ext cx="57150" cy="57150"/>
            </a:xfrm>
            <a:prstGeom prst="ellipse">
              <a:avLst/>
            </a:prstGeom>
            <a:solidFill>
              <a:srgbClr val="518FEC"/>
            </a:solidFill>
            <a:ln>
              <a:noFill/>
            </a:ln>
          </p:spPr>
        </p:sp>
        <p:sp>
          <p:nvSpPr>
            <p:cNvPr id="127" name="TextBox 127"/>
            <p:cNvSpPr txBox="1"/>
            <p:nvPr/>
          </p:nvSpPr>
          <p:spPr>
            <a:xfrm>
              <a:off x="10351770" y="3236595"/>
              <a:ext cx="862965"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panose="020B0604020202020204"/>
                  <a:ea typeface="微软雅黑" panose="020B0503020204020204" charset="-122"/>
                  <a:cs typeface="Arial" panose="020B0604020202020204"/>
                </a:rPr>
                <a:t>各销售跟进情况</a:t>
              </a:r>
              <a:endParaRPr lang="zh-CN" sz="900" dirty="0">
                <a:solidFill>
                  <a:srgbClr val="B8C7E0"/>
                </a:solidFill>
                <a:latin typeface="Arial" panose="020B0604020202020204"/>
                <a:ea typeface="微软雅黑" panose="020B0503020204020204" charset="-122"/>
                <a:cs typeface="Arial" panose="020B0604020202020204"/>
              </a:endParaRPr>
            </a:p>
          </p:txBody>
        </p:sp>
      </p:grpSp>
      <p:grpSp>
        <p:nvGrpSpPr>
          <p:cNvPr id="135" name="Group 135"/>
          <p:cNvGrpSpPr/>
          <p:nvPr/>
        </p:nvGrpSpPr>
        <p:grpSpPr>
          <a:xfrm>
            <a:off x="571500" y="5905500"/>
            <a:ext cx="11049000" cy="495300"/>
            <a:chOff x="571500" y="5905500"/>
            <a:chExt cx="11049000" cy="495300"/>
          </a:xfrm>
        </p:grpSpPr>
        <p:sp>
          <p:nvSpPr>
            <p:cNvPr id="129" name="Rectangle 129"/>
            <p:cNvSpPr/>
            <p:nvPr/>
          </p:nvSpPr>
          <p:spPr>
            <a:xfrm>
              <a:off x="571500" y="5905500"/>
              <a:ext cx="11049000" cy="495300"/>
            </a:xfrm>
            <a:prstGeom prst="roundRect">
              <a:avLst>
                <a:gd name="adj" fmla="val 19231"/>
              </a:avLst>
            </a:prstGeom>
            <a:solidFill>
              <a:srgbClr val="F59E0B">
                <a:alpha val="12000"/>
              </a:srgbClr>
            </a:solidFill>
            <a:ln>
              <a:noFill/>
            </a:ln>
          </p:spPr>
        </p:sp>
        <p:grpSp>
          <p:nvGrpSpPr>
            <p:cNvPr id="133" name="Group 133"/>
            <p:cNvGrpSpPr/>
            <p:nvPr/>
          </p:nvGrpSpPr>
          <p:grpSpPr>
            <a:xfrm>
              <a:off x="783279" y="6049446"/>
              <a:ext cx="224133" cy="192560"/>
              <a:chOff x="783279" y="6049446"/>
              <a:chExt cx="224133" cy="192560"/>
            </a:xfrm>
          </p:grpSpPr>
          <p:sp>
            <p:nvSpPr>
              <p:cNvPr id="130" name="Freeform 130"/>
              <p:cNvSpPr/>
              <p:nvPr/>
            </p:nvSpPr>
            <p:spPr>
              <a:xfrm>
                <a:off x="895350" y="6119812"/>
                <a:ext cx="9525" cy="44450"/>
              </a:xfrm>
              <a:custGeom>
                <a:avLst/>
                <a:gdLst/>
                <a:ahLst/>
                <a:cxnLst/>
                <a:rect l="l" t="t" r="r" b="b"/>
                <a:pathLst>
                  <a:path w="9525" h="44450">
                    <a:moveTo>
                      <a:pt x="0" y="0"/>
                    </a:moveTo>
                    <a:lnTo>
                      <a:pt x="0" y="44450"/>
                    </a:lnTo>
                  </a:path>
                </a:pathLst>
              </a:custGeom>
              <a:noFill/>
              <a:ln w="19050">
                <a:solidFill>
                  <a:srgbClr val="F59E0B"/>
                </a:solidFill>
              </a:ln>
            </p:spPr>
          </p:sp>
          <p:sp>
            <p:nvSpPr>
              <p:cNvPr id="131" name="Freeform 131"/>
              <p:cNvSpPr/>
              <p:nvPr/>
            </p:nvSpPr>
            <p:spPr>
              <a:xfrm>
                <a:off x="783279" y="6049446"/>
                <a:ext cx="224133" cy="192560"/>
              </a:xfrm>
              <a:custGeom>
                <a:avLst/>
                <a:gdLst/>
                <a:ahLst/>
                <a:cxnLst/>
                <a:rect l="l" t="t" r="r" b="b"/>
                <a:pathLst>
                  <a:path w="224133" h="192560">
                    <a:moveTo>
                      <a:pt x="93880" y="10259"/>
                    </a:moveTo>
                    <a:lnTo>
                      <a:pt x="3802" y="160656"/>
                    </a:lnTo>
                    <a:cubicBezTo>
                      <a:pt x="23" y="167200"/>
                      <a:pt x="0" y="175257"/>
                      <a:pt x="3741" y="181822"/>
                    </a:cubicBezTo>
                    <a:cubicBezTo>
                      <a:pt x="7482" y="188388"/>
                      <a:pt x="14426" y="192475"/>
                      <a:pt x="21982" y="192560"/>
                    </a:cubicBezTo>
                    <a:lnTo>
                      <a:pt x="202160" y="192560"/>
                    </a:lnTo>
                    <a:cubicBezTo>
                      <a:pt x="209712" y="192473"/>
                      <a:pt x="216652" y="188387"/>
                      <a:pt x="220393" y="181825"/>
                    </a:cubicBezTo>
                    <a:cubicBezTo>
                      <a:pt x="224133" y="175263"/>
                      <a:pt x="224113" y="167210"/>
                      <a:pt x="220340" y="160667"/>
                    </a:cubicBezTo>
                    <a:lnTo>
                      <a:pt x="130262" y="10248"/>
                    </a:lnTo>
                    <a:cubicBezTo>
                      <a:pt x="126408" y="3886"/>
                      <a:pt x="119509" y="0"/>
                      <a:pt x="112071" y="0"/>
                    </a:cubicBezTo>
                    <a:cubicBezTo>
                      <a:pt x="104632" y="0"/>
                      <a:pt x="97734" y="3886"/>
                      <a:pt x="93880" y="10248"/>
                    </a:cubicBezTo>
                  </a:path>
                </a:pathLst>
              </a:custGeom>
              <a:noFill/>
              <a:ln w="19050">
                <a:solidFill>
                  <a:srgbClr val="F59E0B"/>
                </a:solidFill>
              </a:ln>
            </p:spPr>
          </p:sp>
          <p:sp>
            <p:nvSpPr>
              <p:cNvPr id="132" name="Freeform 132"/>
              <p:cNvSpPr/>
              <p:nvPr/>
            </p:nvSpPr>
            <p:spPr>
              <a:xfrm>
                <a:off x="895350" y="6197600"/>
                <a:ext cx="9525" cy="9525"/>
              </a:xfrm>
              <a:custGeom>
                <a:avLst/>
                <a:gdLst/>
                <a:ahLst/>
                <a:cxnLst/>
                <a:rect l="l" t="t" r="r" b="b"/>
                <a:pathLst>
                  <a:path w="9525" h="9525">
                    <a:moveTo>
                      <a:pt x="0" y="0"/>
                    </a:moveTo>
                    <a:lnTo>
                      <a:pt x="111" y="0"/>
                    </a:lnTo>
                  </a:path>
                </a:pathLst>
              </a:custGeom>
              <a:noFill/>
              <a:ln w="19050">
                <a:solidFill>
                  <a:srgbClr val="F59E0B"/>
                </a:solidFill>
              </a:ln>
            </p:spPr>
          </p:sp>
        </p:grpSp>
        <p:sp>
          <p:nvSpPr>
            <p:cNvPr id="134" name="TextBox 134"/>
            <p:cNvSpPr txBox="1"/>
            <p:nvPr/>
          </p:nvSpPr>
          <p:spPr>
            <a:xfrm>
              <a:off x="1110615" y="6096952"/>
              <a:ext cx="728657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痛点对照:同一客户被重复跟进 · 名称不统一 · 信息分散在个人记录与录音 · 关键人物识别不清 —— AI 归并后全部化解</a:t>
              </a:r>
              <a:endParaRPr lang="zh-CN" sz="1050" dirty="0">
                <a:solidFill>
                  <a:srgbClr val="25364A"/>
                </a:solidFill>
                <a:latin typeface="Arial" panose="020B0604020202020204"/>
                <a:ea typeface="微软雅黑" panose="020B0503020204020204" charset="-122"/>
                <a:cs typeface="Arial" panose="020B0604020202020204"/>
              </a:endParaRPr>
            </a:p>
          </p:txBody>
        </p:sp>
      </p:grpSp>
      <p:grpSp>
        <p:nvGrpSpPr>
          <p:cNvPr id="138" name="Group 138"/>
          <p:cNvGrpSpPr/>
          <p:nvPr/>
        </p:nvGrpSpPr>
        <p:grpSpPr>
          <a:xfrm>
            <a:off x="561022" y="6578441"/>
            <a:ext cx="11069955" cy="167640"/>
            <a:chOff x="561022" y="6578441"/>
            <a:chExt cx="11069955" cy="167640"/>
          </a:xfrm>
        </p:grpSpPr>
        <p:sp>
          <p:nvSpPr>
            <p:cNvPr id="136" name="TextBox 136"/>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37" name="TextBox 137"/>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16</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400"/>
                                        <p:tgtEl>
                                          <p:spTgt spid="3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slide(fromBottom)">
                                      <p:cBhvr>
                                        <p:cTn id="11" dur="400"/>
                                        <p:tgtEl>
                                          <p:spTgt spid="47"/>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image">
                                      <p:cBhvr>
                                        <p:cTn id="15" dur="400"/>
                                        <p:tgtEl>
                                          <p:spTgt spid="5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400"/>
                                        <p:tgtEl>
                                          <p:spTgt spid="64"/>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wipe(left)">
                                      <p:cBhvr>
                                        <p:cTn id="23" dur="400"/>
                                        <p:tgtEl>
                                          <p:spTgt spid="75"/>
                                        </p:tgtEl>
                                      </p:cBhvr>
                                    </p:animEffect>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86"/>
                                        </p:tgtEl>
                                        <p:attrNameLst>
                                          <p:attrName>style.visibility</p:attrName>
                                        </p:attrNameLst>
                                      </p:cBhvr>
                                      <p:to>
                                        <p:strVal val="visible"/>
                                      </p:to>
                                    </p:set>
                                    <p:animEffect transition="in" filter="slide(fromBottom)">
                                      <p:cBhvr>
                                        <p:cTn id="27" dur="400"/>
                                        <p:tgtEl>
                                          <p:spTgt spid="86"/>
                                        </p:tgtEl>
                                      </p:cBhvr>
                                    </p:animEffect>
                                  </p:childTnLst>
                                </p:cTn>
                              </p:par>
                            </p:childTnLst>
                          </p:cTn>
                        </p:par>
                        <p:par>
                          <p:cTn id="28" fill="hold">
                            <p:stCondLst>
                              <p:cond delay="3000"/>
                            </p:stCondLst>
                            <p:childTnLst>
                              <p:par>
                                <p:cTn id="29" presetID="23" presetClass="entr" presetSubtype="16" fill="hold" nodeType="afterEffect">
                                  <p:stCondLst>
                                    <p:cond delay="0"/>
                                  </p:stCondLst>
                                  <p:childTnLst>
                                    <p:set>
                                      <p:cBhvr>
                                        <p:cTn id="30" dur="1" fill="hold">
                                          <p:stCondLst>
                                            <p:cond delay="0"/>
                                          </p:stCondLst>
                                        </p:cTn>
                                        <p:tgtEl>
                                          <p:spTgt spid="97"/>
                                        </p:tgtEl>
                                        <p:attrNameLst>
                                          <p:attrName>style.visibility</p:attrName>
                                        </p:attrNameLst>
                                      </p:cBhvr>
                                      <p:to>
                                        <p:strVal val="visible"/>
                                      </p:to>
                                    </p:set>
                                    <p:animEffect transition="in" filter="image">
                                      <p:cBhvr>
                                        <p:cTn id="31" dur="400"/>
                                        <p:tgtEl>
                                          <p:spTgt spid="97"/>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12"/>
                                        </p:tgtEl>
                                        <p:attrNameLst>
                                          <p:attrName>style.visibility</p:attrName>
                                        </p:attrNameLst>
                                      </p:cBhvr>
                                      <p:to>
                                        <p:strVal val="visible"/>
                                      </p:to>
                                    </p:set>
                                    <p:animEffect transition="in" filter="fade">
                                      <p:cBhvr>
                                        <p:cTn id="35" dur="400"/>
                                        <p:tgtEl>
                                          <p:spTgt spid="112"/>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128"/>
                                        </p:tgtEl>
                                        <p:attrNameLst>
                                          <p:attrName>style.visibility</p:attrName>
                                        </p:attrNameLst>
                                      </p:cBhvr>
                                      <p:to>
                                        <p:strVal val="visible"/>
                                      </p:to>
                                    </p:set>
                                    <p:animEffect transition="in" filter="wipe(left)">
                                      <p:cBhvr>
                                        <p:cTn id="39" dur="400"/>
                                        <p:tgtEl>
                                          <p:spTgt spid="128"/>
                                        </p:tgtEl>
                                      </p:cBhvr>
                                    </p:animEffect>
                                  </p:childTnLst>
                                </p:cTn>
                              </p:par>
                            </p:childTnLst>
                          </p:cTn>
                        </p:par>
                        <p:par>
                          <p:cTn id="40" fill="hold">
                            <p:stCondLst>
                              <p:cond delay="4500"/>
                            </p:stCondLst>
                            <p:childTnLst>
                              <p:par>
                                <p:cTn id="41" presetID="2" presetClass="entr" presetSubtype="4" fill="hold" nodeType="afterEffect">
                                  <p:stCondLst>
                                    <p:cond delay="0"/>
                                  </p:stCondLst>
                                  <p:childTnLst>
                                    <p:set>
                                      <p:cBhvr>
                                        <p:cTn id="42" dur="1" fill="hold">
                                          <p:stCondLst>
                                            <p:cond delay="0"/>
                                          </p:stCondLst>
                                        </p:cTn>
                                        <p:tgtEl>
                                          <p:spTgt spid="135"/>
                                        </p:tgtEl>
                                        <p:attrNameLst>
                                          <p:attrName>style.visibility</p:attrName>
                                        </p:attrNameLst>
                                      </p:cBhvr>
                                      <p:to>
                                        <p:strVal val="visible"/>
                                      </p:to>
                                    </p:set>
                                    <p:animEffect transition="in" filter="slide(fromBottom)">
                                      <p:cBhvr>
                                        <p:cTn id="43" dur="4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7" grpId="0"/>
      <p:bldP spid="54" grpId="0"/>
      <p:bldP spid="64" grpId="0"/>
      <p:bldP spid="75" grpId="0"/>
      <p:bldP spid="86" grpId="0"/>
      <p:bldP spid="97" grpId="0"/>
      <p:bldP spid="112" grpId="0"/>
      <p:bldP spid="128" grpId="0"/>
      <p:bldP spid="1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5775115" cy="970598"/>
            <a:chOff x="542925" y="553402"/>
            <a:chExt cx="5775115" cy="970598"/>
          </a:xfrm>
        </p:grpSpPr>
        <p:sp>
          <p:nvSpPr>
            <p:cNvPr id="5" name="TextBox 5"/>
            <p:cNvSpPr txBox="1"/>
            <p:nvPr/>
          </p:nvSpPr>
          <p:spPr>
            <a:xfrm>
              <a:off x="558165" y="553402"/>
              <a:ext cx="1283677"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03 场景方案 · 营销</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5775115"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智能营销与销售录音分析 — 从录音到洞察</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5399151"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销售录音自动转写并多维分析,把停留在录音里的信息变成可行动的客户洞察</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558165" y="1696402"/>
            <a:ext cx="11062335" cy="903923"/>
            <a:chOff x="558165" y="1696402"/>
            <a:chExt cx="11062335" cy="903923"/>
          </a:xfrm>
        </p:grpSpPr>
        <p:sp>
          <p:nvSpPr>
            <p:cNvPr id="9" name="TextBox 9"/>
            <p:cNvSpPr txBox="1"/>
            <p:nvPr/>
          </p:nvSpPr>
          <p:spPr>
            <a:xfrm>
              <a:off x="558165" y="1696402"/>
              <a:ext cx="1592416"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panose="020B0604020202020204"/>
                  <a:ea typeface="微软雅黑" panose="020B0503020204020204" charset="-122"/>
                  <a:cs typeface="Arial" panose="020B0604020202020204"/>
                </a:rPr>
                <a:t>五大痛点 · PAIN POINTS</a:t>
              </a:r>
              <a:endParaRPr lang="zh-CN" sz="1050" b="1" dirty="0">
                <a:solidFill>
                  <a:srgbClr val="F59E0B"/>
                </a:solidFill>
                <a:latin typeface="Arial" panose="020B0604020202020204"/>
                <a:ea typeface="微软雅黑" panose="020B0503020204020204" charset="-122"/>
                <a:cs typeface="Arial" panose="020B0604020202020204"/>
              </a:endParaRPr>
            </a:p>
          </p:txBody>
        </p:sp>
        <p:sp>
          <p:nvSpPr>
            <p:cNvPr id="10" name="Rectangle 10"/>
            <p:cNvSpPr/>
            <p:nvPr/>
          </p:nvSpPr>
          <p:spPr>
            <a:xfrm>
              <a:off x="571500" y="1952625"/>
              <a:ext cx="2095500" cy="647700"/>
            </a:xfrm>
            <a:prstGeom prst="roundRect">
              <a:avLst>
                <a:gd name="adj" fmla="val 14706"/>
              </a:avLst>
            </a:prstGeom>
            <a:solidFill>
              <a:srgbClr val="F4F7FC"/>
            </a:solidFill>
            <a:ln>
              <a:noFill/>
            </a:ln>
          </p:spPr>
        </p:sp>
        <p:sp>
          <p:nvSpPr>
            <p:cNvPr id="11" name="Rectangle 11"/>
            <p:cNvSpPr/>
            <p:nvPr/>
          </p:nvSpPr>
          <p:spPr>
            <a:xfrm>
              <a:off x="571500" y="1952625"/>
              <a:ext cx="38100" cy="647700"/>
            </a:xfrm>
            <a:prstGeom prst="roundRect">
              <a:avLst>
                <a:gd name="adj" fmla="val 50000"/>
              </a:avLst>
            </a:prstGeom>
            <a:solidFill>
              <a:srgbClr val="F59E0B"/>
            </a:solidFill>
            <a:ln>
              <a:noFill/>
            </a:ln>
          </p:spPr>
        </p:sp>
        <p:sp>
          <p:nvSpPr>
            <p:cNvPr id="12" name="TextBox 12"/>
            <p:cNvSpPr txBox="1"/>
            <p:nvPr/>
          </p:nvSpPr>
          <p:spPr>
            <a:xfrm>
              <a:off x="729615" y="2105978"/>
              <a:ext cx="614744"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录音量大</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73152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无法逐条回听</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14" name="Rectangle 14"/>
            <p:cNvSpPr/>
            <p:nvPr/>
          </p:nvSpPr>
          <p:spPr>
            <a:xfrm>
              <a:off x="2800350" y="1952625"/>
              <a:ext cx="2095500" cy="647700"/>
            </a:xfrm>
            <a:prstGeom prst="roundRect">
              <a:avLst>
                <a:gd name="adj" fmla="val 14706"/>
              </a:avLst>
            </a:prstGeom>
            <a:solidFill>
              <a:srgbClr val="F4F7FC"/>
            </a:solidFill>
            <a:ln>
              <a:noFill/>
            </a:ln>
          </p:spPr>
        </p:sp>
        <p:sp>
          <p:nvSpPr>
            <p:cNvPr id="15" name="Rectangle 15"/>
            <p:cNvSpPr/>
            <p:nvPr/>
          </p:nvSpPr>
          <p:spPr>
            <a:xfrm>
              <a:off x="2800350" y="1952625"/>
              <a:ext cx="38100" cy="647700"/>
            </a:xfrm>
            <a:prstGeom prst="roundRect">
              <a:avLst>
                <a:gd name="adj" fmla="val 50000"/>
              </a:avLst>
            </a:prstGeom>
            <a:solidFill>
              <a:srgbClr val="F59E0B"/>
            </a:solidFill>
            <a:ln>
              <a:noFill/>
            </a:ln>
          </p:spPr>
        </p:sp>
        <p:sp>
          <p:nvSpPr>
            <p:cNvPr id="16" name="TextBox 16"/>
            <p:cNvSpPr txBox="1"/>
            <p:nvPr/>
          </p:nvSpPr>
          <p:spPr>
            <a:xfrm>
              <a:off x="295846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缺统一标准</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296037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沟通质量难评</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18" name="Rectangle 18"/>
            <p:cNvSpPr/>
            <p:nvPr/>
          </p:nvSpPr>
          <p:spPr>
            <a:xfrm>
              <a:off x="5029200" y="1952625"/>
              <a:ext cx="2095500" cy="647700"/>
            </a:xfrm>
            <a:prstGeom prst="roundRect">
              <a:avLst>
                <a:gd name="adj" fmla="val 14706"/>
              </a:avLst>
            </a:prstGeom>
            <a:solidFill>
              <a:srgbClr val="F4F7FC"/>
            </a:solidFill>
            <a:ln>
              <a:noFill/>
            </a:ln>
          </p:spPr>
        </p:sp>
        <p:sp>
          <p:nvSpPr>
            <p:cNvPr id="19" name="Rectangle 19"/>
            <p:cNvSpPr/>
            <p:nvPr/>
          </p:nvSpPr>
          <p:spPr>
            <a:xfrm>
              <a:off x="5029200" y="1952625"/>
              <a:ext cx="38100" cy="647700"/>
            </a:xfrm>
            <a:prstGeom prst="roundRect">
              <a:avLst>
                <a:gd name="adj" fmla="val 50000"/>
              </a:avLst>
            </a:prstGeom>
            <a:solidFill>
              <a:srgbClr val="F59E0B"/>
            </a:solidFill>
            <a:ln>
              <a:noFill/>
            </a:ln>
          </p:spPr>
        </p:sp>
        <p:sp>
          <p:nvSpPr>
            <p:cNvPr id="20" name="TextBox 20"/>
            <p:cNvSpPr txBox="1"/>
            <p:nvPr/>
          </p:nvSpPr>
          <p:spPr>
            <a:xfrm>
              <a:off x="51873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需求被忽略</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5189220" y="2350770"/>
              <a:ext cx="62293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商机难识别</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2" name="Rectangle 22"/>
            <p:cNvSpPr/>
            <p:nvPr/>
          </p:nvSpPr>
          <p:spPr>
            <a:xfrm>
              <a:off x="7258050" y="1952625"/>
              <a:ext cx="2095500" cy="647700"/>
            </a:xfrm>
            <a:prstGeom prst="roundRect">
              <a:avLst>
                <a:gd name="adj" fmla="val 14706"/>
              </a:avLst>
            </a:prstGeom>
            <a:solidFill>
              <a:srgbClr val="F4F7FC"/>
            </a:solidFill>
            <a:ln>
              <a:noFill/>
            </a:ln>
          </p:spPr>
        </p:sp>
        <p:sp>
          <p:nvSpPr>
            <p:cNvPr id="23" name="Rectangle 23"/>
            <p:cNvSpPr/>
            <p:nvPr/>
          </p:nvSpPr>
          <p:spPr>
            <a:xfrm>
              <a:off x="7258050" y="1952625"/>
              <a:ext cx="38100" cy="647700"/>
            </a:xfrm>
            <a:prstGeom prst="roundRect">
              <a:avLst>
                <a:gd name="adj" fmla="val 50000"/>
              </a:avLst>
            </a:prstGeom>
            <a:solidFill>
              <a:srgbClr val="F59E0B"/>
            </a:solidFill>
            <a:ln>
              <a:noFill/>
            </a:ln>
          </p:spPr>
        </p:sp>
        <p:sp>
          <p:nvSpPr>
            <p:cNvPr id="24" name="TextBox 24"/>
            <p:cNvSpPr txBox="1"/>
            <p:nvPr/>
          </p:nvSpPr>
          <p:spPr>
            <a:xfrm>
              <a:off x="741616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经验难沉淀</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741807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优秀话术流失</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6" name="Rectangle 26"/>
            <p:cNvSpPr/>
            <p:nvPr/>
          </p:nvSpPr>
          <p:spPr>
            <a:xfrm>
              <a:off x="9486900" y="1952625"/>
              <a:ext cx="2133600" cy="647700"/>
            </a:xfrm>
            <a:prstGeom prst="roundRect">
              <a:avLst>
                <a:gd name="adj" fmla="val 14706"/>
              </a:avLst>
            </a:prstGeom>
            <a:solidFill>
              <a:srgbClr val="F4F7FC"/>
            </a:solidFill>
            <a:ln>
              <a:noFill/>
            </a:ln>
          </p:spPr>
        </p:sp>
        <p:sp>
          <p:nvSpPr>
            <p:cNvPr id="27" name="Rectangle 27"/>
            <p:cNvSpPr/>
            <p:nvPr/>
          </p:nvSpPr>
          <p:spPr>
            <a:xfrm>
              <a:off x="9486900" y="1952625"/>
              <a:ext cx="38100" cy="647700"/>
            </a:xfrm>
            <a:prstGeom prst="roundRect">
              <a:avLst>
                <a:gd name="adj" fmla="val 50000"/>
              </a:avLst>
            </a:prstGeom>
            <a:solidFill>
              <a:srgbClr val="F59E0B"/>
            </a:solidFill>
            <a:ln>
              <a:noFill/>
            </a:ln>
          </p:spPr>
        </p:sp>
        <p:sp>
          <p:nvSpPr>
            <p:cNvPr id="28" name="TextBox 28"/>
            <p:cNvSpPr txBox="1"/>
            <p:nvPr/>
          </p:nvSpPr>
          <p:spPr>
            <a:xfrm>
              <a:off x="9645015" y="2105978"/>
              <a:ext cx="761762" cy="213360"/>
            </a:xfrm>
            <a:prstGeom prst="rect">
              <a:avLst/>
            </a:prstGeom>
            <a:noFill/>
            <a:ln>
              <a:noFill/>
            </a:ln>
          </p:spPr>
          <p:txBody>
            <a:bodyPr wrap="none" lIns="0" tIns="0" rIns="0" bIns="0" anchor="t" anchorCtr="0">
              <a:spAutoFit/>
            </a:bodyPr>
            <a:lstStyle/>
            <a:p>
              <a:pPr algn="l"/>
              <a:r>
                <a:rPr lang="zh-CN" sz="1050" b="1" dirty="0">
                  <a:solidFill>
                    <a:srgbClr val="17365D"/>
                  </a:solidFill>
                  <a:latin typeface="Arial" panose="020B0604020202020204"/>
                  <a:ea typeface="微软雅黑" panose="020B0503020204020204" charset="-122"/>
                  <a:cs typeface="Arial" panose="020B0604020202020204"/>
                </a:rPr>
                <a:t>数据未关联</a:t>
              </a:r>
              <a:endParaRPr lang="zh-CN" sz="1050" b="1" dirty="0">
                <a:solidFill>
                  <a:srgbClr val="17365D"/>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9646920" y="2350770"/>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录音客户脱节</a:t>
              </a:r>
              <a:endParaRPr lang="zh-CN" sz="900" dirty="0">
                <a:solidFill>
                  <a:srgbClr val="5E6A78"/>
                </a:solidFill>
                <a:latin typeface="Arial" panose="020B0604020202020204"/>
                <a:ea typeface="微软雅黑" panose="020B0503020204020204" charset="-122"/>
                <a:cs typeface="Arial" panose="020B0604020202020204"/>
              </a:endParaRPr>
            </a:p>
          </p:txBody>
        </p:sp>
      </p:grpSp>
      <p:grpSp>
        <p:nvGrpSpPr>
          <p:cNvPr id="73" name="Group 73"/>
          <p:cNvGrpSpPr/>
          <p:nvPr/>
        </p:nvGrpSpPr>
        <p:grpSpPr>
          <a:xfrm>
            <a:off x="558165" y="2915602"/>
            <a:ext cx="11062335" cy="2085023"/>
            <a:chOff x="558165" y="2915602"/>
            <a:chExt cx="11062335" cy="2085023"/>
          </a:xfrm>
        </p:grpSpPr>
        <p:sp>
          <p:nvSpPr>
            <p:cNvPr id="31" name="TextBox 31"/>
            <p:cNvSpPr txBox="1"/>
            <p:nvPr/>
          </p:nvSpPr>
          <p:spPr>
            <a:xfrm>
              <a:off x="558165" y="2915602"/>
              <a:ext cx="2584790" cy="213360"/>
            </a:xfrm>
            <a:prstGeom prst="rect">
              <a:avLst/>
            </a:prstGeom>
            <a:noFill/>
            <a:ln>
              <a:noFill/>
            </a:ln>
          </p:spPr>
          <p:txBody>
            <a:bodyPr wrap="none" lIns="0" tIns="0" rIns="0" bIns="0" anchor="t" anchorCtr="0">
              <a:spAutoFit/>
            </a:bodyPr>
            <a:lstStyle/>
            <a:p>
              <a:pPr algn="l"/>
              <a:r>
                <a:rPr lang="zh-CN" sz="1050" b="1" dirty="0">
                  <a:solidFill>
                    <a:srgbClr val="20A7B8"/>
                  </a:solidFill>
                  <a:latin typeface="Arial" panose="020B0604020202020204"/>
                  <a:ea typeface="微软雅黑" panose="020B0503020204020204" charset="-122"/>
                  <a:cs typeface="Arial" panose="020B0604020202020204"/>
                </a:rPr>
                <a:t>转写分析流程 · TRANSCRIBE &amp; ANALYZE</a:t>
              </a:r>
              <a:endParaRPr lang="zh-CN" sz="1050" b="1" dirty="0">
                <a:solidFill>
                  <a:srgbClr val="20A7B8"/>
                </a:solidFill>
                <a:latin typeface="Arial" panose="020B0604020202020204"/>
                <a:ea typeface="微软雅黑" panose="020B0503020204020204" charset="-122"/>
                <a:cs typeface="Arial" panose="020B0604020202020204"/>
              </a:endParaRPr>
            </a:p>
          </p:txBody>
        </p:sp>
        <p:sp>
          <p:nvSpPr>
            <p:cNvPr id="32" name="Rectangle 32"/>
            <p:cNvSpPr/>
            <p:nvPr/>
          </p:nvSpPr>
          <p:spPr>
            <a:xfrm>
              <a:off x="571500" y="3190875"/>
              <a:ext cx="11049000" cy="1714500"/>
            </a:xfrm>
            <a:prstGeom prst="roundRect">
              <a:avLst>
                <a:gd name="adj" fmla="val 6667"/>
              </a:avLst>
            </a:prstGeom>
            <a:solidFill>
              <a:srgbClr val="F4F7FC"/>
            </a:solidFill>
            <a:ln>
              <a:noFill/>
            </a:ln>
          </p:spPr>
        </p:sp>
        <p:sp>
          <p:nvSpPr>
            <p:cNvPr id="33" name="Line 33"/>
            <p:cNvSpPr/>
            <p:nvPr/>
          </p:nvSpPr>
          <p:spPr>
            <a:xfrm>
              <a:off x="3048000" y="4048125"/>
              <a:ext cx="647700" cy="1"/>
            </a:xfrm>
            <a:prstGeom prst="line">
              <a:avLst/>
            </a:prstGeom>
            <a:noFill/>
            <a:ln w="28575">
              <a:solidFill>
                <a:srgbClr val="20A7B8"/>
              </a:solidFill>
              <a:tailEnd type="triangle" w="lg" len="lg"/>
            </a:ln>
          </p:spPr>
        </p:sp>
        <p:sp>
          <p:nvSpPr>
            <p:cNvPr id="34" name="Line 34"/>
            <p:cNvSpPr/>
            <p:nvPr/>
          </p:nvSpPr>
          <p:spPr>
            <a:xfrm>
              <a:off x="5905500" y="4048125"/>
              <a:ext cx="647700" cy="1"/>
            </a:xfrm>
            <a:prstGeom prst="line">
              <a:avLst/>
            </a:prstGeom>
            <a:noFill/>
            <a:ln w="28575">
              <a:solidFill>
                <a:srgbClr val="20A7B8"/>
              </a:solidFill>
              <a:tailEnd type="triangle" w="lg" len="lg"/>
            </a:ln>
          </p:spPr>
        </p:sp>
        <p:sp>
          <p:nvSpPr>
            <p:cNvPr id="35" name="Line 35"/>
            <p:cNvSpPr/>
            <p:nvPr/>
          </p:nvSpPr>
          <p:spPr>
            <a:xfrm>
              <a:off x="8763000" y="4048125"/>
              <a:ext cx="647700" cy="1"/>
            </a:xfrm>
            <a:prstGeom prst="line">
              <a:avLst/>
            </a:prstGeom>
            <a:noFill/>
            <a:ln w="28575">
              <a:solidFill>
                <a:srgbClr val="20A7B8"/>
              </a:solidFill>
              <a:tailEnd type="triangle" w="lg" len="lg"/>
            </a:ln>
          </p:spPr>
        </p:sp>
        <p:grpSp>
          <p:nvGrpSpPr>
            <p:cNvPr id="44" name="Group 44"/>
            <p:cNvGrpSpPr/>
            <p:nvPr/>
          </p:nvGrpSpPr>
          <p:grpSpPr>
            <a:xfrm>
              <a:off x="857250" y="3095625"/>
              <a:ext cx="1905000" cy="1905000"/>
              <a:chOff x="857250" y="3095625"/>
              <a:chExt cx="1905000" cy="1905000"/>
            </a:xfrm>
          </p:grpSpPr>
          <p:sp>
            <p:nvSpPr>
              <p:cNvPr id="36" name="Ellipse 36"/>
              <p:cNvSpPr/>
              <p:nvPr/>
            </p:nvSpPr>
            <p:spPr>
              <a:xfrm>
                <a:off x="857250" y="3095625"/>
                <a:ext cx="1905000" cy="1905000"/>
              </a:xfrm>
              <a:prstGeom prst="ellipse">
                <a:avLst/>
              </a:prstGeom>
              <a:solidFill>
                <a:srgbClr val="FFFFFF"/>
              </a:solidFill>
              <a:ln w="19050">
                <a:solidFill>
                  <a:srgbClr val="20A7B8"/>
                </a:solidFill>
              </a:ln>
            </p:spPr>
          </p:sp>
          <p:grpSp>
            <p:nvGrpSpPr>
              <p:cNvPr id="41" name="Group 41"/>
              <p:cNvGrpSpPr/>
              <p:nvPr/>
            </p:nvGrpSpPr>
            <p:grpSpPr>
              <a:xfrm>
                <a:off x="1619250" y="3548062"/>
                <a:ext cx="381000" cy="452438"/>
                <a:chOff x="1619250" y="3548062"/>
                <a:chExt cx="381000" cy="452438"/>
              </a:xfrm>
            </p:grpSpPr>
            <p:sp>
              <p:nvSpPr>
                <p:cNvPr id="37" name="Freeform 37"/>
                <p:cNvSpPr/>
                <p:nvPr/>
              </p:nvSpPr>
              <p:spPr>
                <a:xfrm>
                  <a:off x="1619250" y="3548062"/>
                  <a:ext cx="381000" cy="261938"/>
                </a:xfrm>
                <a:custGeom>
                  <a:avLst/>
                  <a:gdLst/>
                  <a:ahLst/>
                  <a:cxnLst/>
                  <a:rect l="l" t="t" r="r" b="b"/>
                  <a:pathLst>
                    <a:path w="381000" h="261938">
                      <a:moveTo>
                        <a:pt x="0" y="261938"/>
                      </a:moveTo>
                      <a:lnTo>
                        <a:pt x="0" y="190500"/>
                      </a:lnTo>
                      <a:cubicBezTo>
                        <a:pt x="0" y="85290"/>
                        <a:pt x="85290" y="0"/>
                        <a:pt x="190500" y="0"/>
                      </a:cubicBezTo>
                      <a:cubicBezTo>
                        <a:pt x="295710" y="0"/>
                        <a:pt x="381000" y="85290"/>
                        <a:pt x="381000" y="190500"/>
                      </a:cubicBezTo>
                      <a:lnTo>
                        <a:pt x="381000" y="261938"/>
                      </a:lnTo>
                    </a:path>
                  </a:pathLst>
                </a:custGeom>
                <a:noFill/>
                <a:ln w="19050">
                  <a:solidFill>
                    <a:srgbClr val="20A7B8"/>
                  </a:solidFill>
                </a:ln>
              </p:spPr>
            </p:sp>
            <p:sp>
              <p:nvSpPr>
                <p:cNvPr id="38" name="Freeform 38"/>
                <p:cNvSpPr/>
                <p:nvPr/>
              </p:nvSpPr>
              <p:spPr>
                <a:xfrm>
                  <a:off x="1809750" y="3929062"/>
                  <a:ext cx="142875" cy="71438"/>
                </a:xfrm>
                <a:custGeom>
                  <a:avLst/>
                  <a:gdLst/>
                  <a:ahLst/>
                  <a:cxnLst/>
                  <a:rect l="l" t="t" r="r" b="b"/>
                  <a:pathLst>
                    <a:path w="142875" h="71438">
                      <a:moveTo>
                        <a:pt x="142875" y="0"/>
                      </a:moveTo>
                      <a:cubicBezTo>
                        <a:pt x="142875" y="39457"/>
                        <a:pt x="78915" y="71438"/>
                        <a:pt x="0" y="71438"/>
                      </a:cubicBezTo>
                    </a:path>
                  </a:pathLst>
                </a:custGeom>
                <a:noFill/>
                <a:ln w="19050">
                  <a:solidFill>
                    <a:srgbClr val="20A7B8"/>
                  </a:solidFill>
                </a:ln>
              </p:spPr>
            </p:sp>
            <p:sp>
              <p:nvSpPr>
                <p:cNvPr id="39" name="Freeform 39"/>
                <p:cNvSpPr/>
                <p:nvPr/>
              </p:nvSpPr>
              <p:spPr>
                <a:xfrm>
                  <a:off x="1619250" y="3762375"/>
                  <a:ext cx="119062" cy="166688"/>
                </a:xfrm>
                <a:custGeom>
                  <a:avLst/>
                  <a:gdLst/>
                  <a:ahLst/>
                  <a:cxnLst/>
                  <a:rect l="l" t="t" r="r" b="b"/>
                  <a:pathLst>
                    <a:path w="119062" h="166688">
                      <a:moveTo>
                        <a:pt x="0" y="47625"/>
                      </a:moveTo>
                      <a:cubicBezTo>
                        <a:pt x="0" y="21322"/>
                        <a:pt x="21322" y="0"/>
                        <a:pt x="47625" y="0"/>
                      </a:cubicBezTo>
                      <a:lnTo>
                        <a:pt x="71438" y="0"/>
                      </a:lnTo>
                      <a:cubicBezTo>
                        <a:pt x="97740" y="0"/>
                        <a:pt x="119062" y="21322"/>
                        <a:pt x="119062" y="47625"/>
                      </a:cubicBezTo>
                      <a:lnTo>
                        <a:pt x="119062" y="119062"/>
                      </a:lnTo>
                      <a:cubicBezTo>
                        <a:pt x="119062" y="145365"/>
                        <a:pt x="97740" y="166688"/>
                        <a:pt x="71438" y="166688"/>
                      </a:cubicBezTo>
                      <a:lnTo>
                        <a:pt x="47625" y="166688"/>
                      </a:lnTo>
                      <a:cubicBezTo>
                        <a:pt x="21322" y="166688"/>
                        <a:pt x="0" y="145365"/>
                        <a:pt x="0" y="119062"/>
                      </a:cubicBezTo>
                      <a:lnTo>
                        <a:pt x="0" y="47625"/>
                      </a:lnTo>
                    </a:path>
                  </a:pathLst>
                </a:custGeom>
                <a:noFill/>
                <a:ln w="19050">
                  <a:solidFill>
                    <a:srgbClr val="20A7B8"/>
                  </a:solidFill>
                </a:ln>
              </p:spPr>
            </p:sp>
            <p:sp>
              <p:nvSpPr>
                <p:cNvPr id="40" name="Freeform 40"/>
                <p:cNvSpPr/>
                <p:nvPr/>
              </p:nvSpPr>
              <p:spPr>
                <a:xfrm>
                  <a:off x="1881188" y="3762375"/>
                  <a:ext cx="119062" cy="166688"/>
                </a:xfrm>
                <a:custGeom>
                  <a:avLst/>
                  <a:gdLst/>
                  <a:ahLst/>
                  <a:cxnLst/>
                  <a:rect l="l" t="t" r="r" b="b"/>
                  <a:pathLst>
                    <a:path w="119062" h="166688">
                      <a:moveTo>
                        <a:pt x="0" y="47625"/>
                      </a:moveTo>
                      <a:cubicBezTo>
                        <a:pt x="0" y="21322"/>
                        <a:pt x="21322" y="0"/>
                        <a:pt x="47625" y="0"/>
                      </a:cubicBezTo>
                      <a:lnTo>
                        <a:pt x="71438" y="0"/>
                      </a:lnTo>
                      <a:cubicBezTo>
                        <a:pt x="97740" y="0"/>
                        <a:pt x="119062" y="21322"/>
                        <a:pt x="119062" y="47625"/>
                      </a:cubicBezTo>
                      <a:lnTo>
                        <a:pt x="119062" y="119062"/>
                      </a:lnTo>
                      <a:cubicBezTo>
                        <a:pt x="119062" y="145365"/>
                        <a:pt x="97740" y="166688"/>
                        <a:pt x="71438" y="166688"/>
                      </a:cubicBezTo>
                      <a:lnTo>
                        <a:pt x="47625" y="166688"/>
                      </a:lnTo>
                      <a:cubicBezTo>
                        <a:pt x="21322" y="166688"/>
                        <a:pt x="0" y="145365"/>
                        <a:pt x="0" y="119062"/>
                      </a:cubicBezTo>
                      <a:lnTo>
                        <a:pt x="0" y="47625"/>
                      </a:lnTo>
                    </a:path>
                  </a:pathLst>
                </a:custGeom>
                <a:noFill/>
                <a:ln w="19050">
                  <a:solidFill>
                    <a:srgbClr val="20A7B8"/>
                  </a:solidFill>
                </a:ln>
              </p:spPr>
            </p:sp>
          </p:grpSp>
          <p:sp>
            <p:nvSpPr>
              <p:cNvPr id="42" name="TextBox 42"/>
              <p:cNvSpPr txBox="1"/>
              <p:nvPr/>
            </p:nvSpPr>
            <p:spPr>
              <a:xfrm>
                <a:off x="1458468" y="4156710"/>
                <a:ext cx="702564" cy="243840"/>
              </a:xfrm>
              <a:prstGeom prst="rect">
                <a:avLst/>
              </a:prstGeom>
              <a:noFill/>
              <a:ln>
                <a:noFill/>
              </a:ln>
            </p:spPr>
            <p:txBody>
              <a:bodyPr wrap="none" lIns="0" tIns="0" rIns="0" bIns="0" anchor="t" anchorCtr="0">
                <a:spAutoFit/>
              </a:bodyPr>
              <a:lstStyle/>
              <a:p>
                <a:pPr algn="ctr"/>
                <a:r>
                  <a:rPr lang="zh-CN" sz="1200" b="1" dirty="0">
                    <a:solidFill>
                      <a:srgbClr val="17365D"/>
                    </a:solidFill>
                    <a:latin typeface="Arial" panose="020B0604020202020204"/>
                    <a:ea typeface="微软雅黑" panose="020B0503020204020204" charset="-122"/>
                    <a:cs typeface="Arial" panose="020B0604020202020204"/>
                  </a:rPr>
                  <a:t>销售录音</a:t>
                </a:r>
                <a:endParaRPr lang="zh-CN" sz="1200" b="1" dirty="0">
                  <a:solidFill>
                    <a:srgbClr val="17365D"/>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1369266" y="4427220"/>
                <a:ext cx="880967" cy="182880"/>
              </a:xfrm>
              <a:prstGeom prst="rect">
                <a:avLst/>
              </a:prstGeom>
              <a:noFill/>
              <a:ln>
                <a:noFill/>
              </a:ln>
            </p:spPr>
            <p:txBody>
              <a:bodyPr wrap="none" lIns="0" tIns="0" rIns="0" bIns="0" anchor="t" anchorCtr="0">
                <a:spAutoFit/>
              </a:bodyPr>
              <a:lstStyle/>
              <a:p>
                <a:pPr algn="ctr"/>
                <a:r>
                  <a:rPr lang="zh-CN" sz="900" dirty="0">
                    <a:solidFill>
                      <a:srgbClr val="5E6A78"/>
                    </a:solidFill>
                    <a:latin typeface="Arial" panose="020B0604020202020204"/>
                    <a:ea typeface="微软雅黑" panose="020B0503020204020204" charset="-122"/>
                    <a:cs typeface="Arial" panose="020B0604020202020204"/>
                  </a:rPr>
                  <a:t>电话 · 会议录音</a:t>
                </a:r>
                <a:endParaRPr lang="zh-CN" sz="900" dirty="0">
                  <a:solidFill>
                    <a:srgbClr val="5E6A78"/>
                  </a:solidFill>
                  <a:latin typeface="Arial" panose="020B0604020202020204"/>
                  <a:ea typeface="微软雅黑" panose="020B0503020204020204" charset="-122"/>
                  <a:cs typeface="Arial" panose="020B0604020202020204"/>
                </a:endParaRPr>
              </a:p>
            </p:txBody>
          </p:sp>
        </p:grpSp>
        <p:grpSp>
          <p:nvGrpSpPr>
            <p:cNvPr id="53" name="Group 53"/>
            <p:cNvGrpSpPr/>
            <p:nvPr/>
          </p:nvGrpSpPr>
          <p:grpSpPr>
            <a:xfrm>
              <a:off x="3714750" y="3095625"/>
              <a:ext cx="1905000" cy="1905000"/>
              <a:chOff x="3714750" y="3095625"/>
              <a:chExt cx="1905000" cy="1905000"/>
            </a:xfrm>
          </p:grpSpPr>
          <p:sp>
            <p:nvSpPr>
              <p:cNvPr id="45" name="Ellipse 45"/>
              <p:cNvSpPr/>
              <p:nvPr/>
            </p:nvSpPr>
            <p:spPr>
              <a:xfrm>
                <a:off x="3714750" y="3095625"/>
                <a:ext cx="1905000" cy="1905000"/>
              </a:xfrm>
              <a:prstGeom prst="ellipse">
                <a:avLst/>
              </a:prstGeom>
              <a:solidFill>
                <a:srgbClr val="20A7B8"/>
              </a:solidFill>
              <a:ln>
                <a:noFill/>
              </a:ln>
            </p:spPr>
          </p:sp>
          <p:grpSp>
            <p:nvGrpSpPr>
              <p:cNvPr id="50" name="Group 50"/>
              <p:cNvGrpSpPr/>
              <p:nvPr/>
            </p:nvGrpSpPr>
            <p:grpSpPr>
              <a:xfrm>
                <a:off x="4500562" y="3524250"/>
                <a:ext cx="333375" cy="461963"/>
                <a:chOff x="4500562" y="3524250"/>
                <a:chExt cx="333375" cy="461963"/>
              </a:xfrm>
            </p:grpSpPr>
            <p:sp>
              <p:nvSpPr>
                <p:cNvPr id="46" name="Freeform 46"/>
                <p:cNvSpPr/>
                <p:nvPr/>
              </p:nvSpPr>
              <p:spPr>
                <a:xfrm>
                  <a:off x="4595812" y="3524250"/>
                  <a:ext cx="142875" cy="261938"/>
                </a:xfrm>
                <a:custGeom>
                  <a:avLst/>
                  <a:gdLst/>
                  <a:ahLst/>
                  <a:cxnLst/>
                  <a:rect l="l" t="t" r="r" b="b"/>
                  <a:pathLst>
                    <a:path w="142875" h="261938">
                      <a:moveTo>
                        <a:pt x="0" y="71438"/>
                      </a:moveTo>
                      <a:cubicBezTo>
                        <a:pt x="0" y="31984"/>
                        <a:pt x="31984" y="0"/>
                        <a:pt x="71438" y="0"/>
                      </a:cubicBezTo>
                      <a:cubicBezTo>
                        <a:pt x="110891" y="0"/>
                        <a:pt x="142875" y="31984"/>
                        <a:pt x="142875" y="71438"/>
                      </a:cubicBezTo>
                      <a:lnTo>
                        <a:pt x="142875" y="190500"/>
                      </a:lnTo>
                      <a:cubicBezTo>
                        <a:pt x="142875" y="229954"/>
                        <a:pt x="110891" y="261938"/>
                        <a:pt x="71438" y="261938"/>
                      </a:cubicBezTo>
                      <a:cubicBezTo>
                        <a:pt x="31984" y="261938"/>
                        <a:pt x="0" y="229954"/>
                        <a:pt x="0" y="190500"/>
                      </a:cubicBezTo>
                      <a:lnTo>
                        <a:pt x="0" y="71438"/>
                      </a:lnTo>
                    </a:path>
                  </a:pathLst>
                </a:custGeom>
                <a:noFill/>
                <a:ln w="19050">
                  <a:solidFill>
                    <a:srgbClr val="FFFFFF"/>
                  </a:solidFill>
                </a:ln>
              </p:spPr>
            </p:sp>
            <p:sp>
              <p:nvSpPr>
                <p:cNvPr id="47" name="Freeform 47"/>
                <p:cNvSpPr/>
                <p:nvPr/>
              </p:nvSpPr>
              <p:spPr>
                <a:xfrm>
                  <a:off x="4500562" y="3714750"/>
                  <a:ext cx="333375" cy="166688"/>
                </a:xfrm>
                <a:custGeom>
                  <a:avLst/>
                  <a:gdLst/>
                  <a:ahLst/>
                  <a:cxnLst/>
                  <a:rect l="l" t="t" r="r" b="b"/>
                  <a:pathLst>
                    <a:path w="333375" h="166688">
                      <a:moveTo>
                        <a:pt x="0" y="0"/>
                      </a:moveTo>
                      <a:cubicBezTo>
                        <a:pt x="0" y="92059"/>
                        <a:pt x="74629" y="166688"/>
                        <a:pt x="166688" y="166688"/>
                      </a:cubicBezTo>
                      <a:cubicBezTo>
                        <a:pt x="258746" y="166688"/>
                        <a:pt x="333375" y="92059"/>
                        <a:pt x="333375" y="0"/>
                      </a:cubicBezTo>
                    </a:path>
                  </a:pathLst>
                </a:custGeom>
                <a:noFill/>
                <a:ln w="19050">
                  <a:solidFill>
                    <a:srgbClr val="FFFFFF"/>
                  </a:solidFill>
                </a:ln>
              </p:spPr>
            </p:sp>
            <p:sp>
              <p:nvSpPr>
                <p:cNvPr id="48" name="Freeform 48"/>
                <p:cNvSpPr/>
                <p:nvPr/>
              </p:nvSpPr>
              <p:spPr>
                <a:xfrm>
                  <a:off x="4572000" y="3976688"/>
                  <a:ext cx="190500" cy="9525"/>
                </a:xfrm>
                <a:custGeom>
                  <a:avLst/>
                  <a:gdLst/>
                  <a:ahLst/>
                  <a:cxnLst/>
                  <a:rect l="l" t="t" r="r" b="b"/>
                  <a:pathLst>
                    <a:path w="190500" h="9525">
                      <a:moveTo>
                        <a:pt x="0" y="0"/>
                      </a:moveTo>
                      <a:lnTo>
                        <a:pt x="190500" y="0"/>
                      </a:lnTo>
                    </a:path>
                  </a:pathLst>
                </a:custGeom>
                <a:noFill/>
                <a:ln w="19050">
                  <a:solidFill>
                    <a:srgbClr val="FFFFFF"/>
                  </a:solidFill>
                </a:ln>
              </p:spPr>
            </p:sp>
            <p:sp>
              <p:nvSpPr>
                <p:cNvPr id="49" name="Freeform 49"/>
                <p:cNvSpPr/>
                <p:nvPr/>
              </p:nvSpPr>
              <p:spPr>
                <a:xfrm>
                  <a:off x="4667250" y="3881438"/>
                  <a:ext cx="9525" cy="95250"/>
                </a:xfrm>
                <a:custGeom>
                  <a:avLst/>
                  <a:gdLst/>
                  <a:ahLst/>
                  <a:cxnLst/>
                  <a:rect l="l" t="t" r="r" b="b"/>
                  <a:pathLst>
                    <a:path w="9525" h="95250">
                      <a:moveTo>
                        <a:pt x="0" y="0"/>
                      </a:moveTo>
                      <a:lnTo>
                        <a:pt x="0" y="95250"/>
                      </a:lnTo>
                    </a:path>
                  </a:pathLst>
                </a:custGeom>
                <a:noFill/>
                <a:ln w="19050">
                  <a:solidFill>
                    <a:srgbClr val="FFFFFF"/>
                  </a:solidFill>
                </a:ln>
              </p:spPr>
            </p:sp>
          </p:grpSp>
          <p:sp>
            <p:nvSpPr>
              <p:cNvPr id="51" name="TextBox 51"/>
              <p:cNvSpPr txBox="1"/>
              <p:nvPr/>
            </p:nvSpPr>
            <p:spPr>
              <a:xfrm>
                <a:off x="4231958" y="4156710"/>
                <a:ext cx="87058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语音转文字</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4298775" y="4427220"/>
                <a:ext cx="736949" cy="182880"/>
              </a:xfrm>
              <a:prstGeom prst="rect">
                <a:avLst/>
              </a:prstGeom>
              <a:noFill/>
              <a:ln>
                <a:noFill/>
              </a:ln>
            </p:spPr>
            <p:txBody>
              <a:bodyPr wrap="none" lIns="0" tIns="0" rIns="0" bIns="0" anchor="t" anchorCtr="0">
                <a:spAutoFit/>
              </a:bodyPr>
              <a:lstStyle/>
              <a:p>
                <a:pPr algn="ctr"/>
                <a:r>
                  <a:rPr lang="zh-CN" sz="900" dirty="0">
                    <a:solidFill>
                      <a:srgbClr val="DCE6FB"/>
                    </a:solidFill>
                    <a:latin typeface="Arial" panose="020B0604020202020204"/>
                    <a:ea typeface="微软雅黑" panose="020B0503020204020204" charset="-122"/>
                    <a:cs typeface="Arial" panose="020B0604020202020204"/>
                  </a:rPr>
                  <a:t>ASR 自动转写</a:t>
                </a:r>
                <a:endParaRPr lang="zh-CN" sz="900" dirty="0">
                  <a:solidFill>
                    <a:srgbClr val="DCE6FB"/>
                  </a:solidFill>
                  <a:latin typeface="Arial" panose="020B0604020202020204"/>
                  <a:ea typeface="微软雅黑" panose="020B0503020204020204" charset="-122"/>
                  <a:cs typeface="Arial" panose="020B0604020202020204"/>
                </a:endParaRPr>
              </a:p>
            </p:txBody>
          </p:sp>
        </p:grpSp>
        <p:grpSp>
          <p:nvGrpSpPr>
            <p:cNvPr id="64" name="Group 64"/>
            <p:cNvGrpSpPr/>
            <p:nvPr/>
          </p:nvGrpSpPr>
          <p:grpSpPr>
            <a:xfrm>
              <a:off x="6572250" y="3095625"/>
              <a:ext cx="1905000" cy="1905000"/>
              <a:chOff x="6572250" y="3095625"/>
              <a:chExt cx="1905000" cy="1905000"/>
            </a:xfrm>
          </p:grpSpPr>
          <p:sp>
            <p:nvSpPr>
              <p:cNvPr id="54" name="Ellipse 54"/>
              <p:cNvSpPr/>
              <p:nvPr/>
            </p:nvSpPr>
            <p:spPr>
              <a:xfrm>
                <a:off x="6572250" y="3095625"/>
                <a:ext cx="1905000" cy="1905000"/>
              </a:xfrm>
              <a:prstGeom prst="ellipse">
                <a:avLst/>
              </a:prstGeom>
              <a:solidFill>
                <a:srgbClr val="FFFFFF"/>
              </a:solidFill>
              <a:ln w="19050">
                <a:solidFill>
                  <a:srgbClr val="20A7B8"/>
                </a:solidFill>
              </a:ln>
            </p:spPr>
          </p:sp>
          <p:grpSp>
            <p:nvGrpSpPr>
              <p:cNvPr id="61" name="Group 61"/>
              <p:cNvGrpSpPr/>
              <p:nvPr/>
            </p:nvGrpSpPr>
            <p:grpSpPr>
              <a:xfrm>
                <a:off x="7310438" y="3548062"/>
                <a:ext cx="428624" cy="428626"/>
                <a:chOff x="7310438" y="3548062"/>
                <a:chExt cx="428624" cy="428626"/>
              </a:xfrm>
            </p:grpSpPr>
            <p:sp>
              <p:nvSpPr>
                <p:cNvPr id="55" name="Freeform 55"/>
                <p:cNvSpPr/>
                <p:nvPr/>
              </p:nvSpPr>
              <p:spPr>
                <a:xfrm>
                  <a:off x="7524750" y="3786188"/>
                  <a:ext cx="166688" cy="190500"/>
                </a:xfrm>
                <a:custGeom>
                  <a:avLst/>
                  <a:gdLst/>
                  <a:ahLst/>
                  <a:cxnLst/>
                  <a:rect l="l" t="t" r="r" b="b"/>
                  <a:pathLst>
                    <a:path w="166688" h="190500">
                      <a:moveTo>
                        <a:pt x="83344" y="0"/>
                      </a:moveTo>
                      <a:cubicBezTo>
                        <a:pt x="37314" y="0"/>
                        <a:pt x="0" y="37314"/>
                        <a:pt x="0" y="83344"/>
                      </a:cubicBezTo>
                      <a:lnTo>
                        <a:pt x="0" y="107156"/>
                      </a:lnTo>
                      <a:cubicBezTo>
                        <a:pt x="0" y="153186"/>
                        <a:pt x="37314" y="190500"/>
                        <a:pt x="83344" y="190500"/>
                      </a:cubicBezTo>
                      <a:cubicBezTo>
                        <a:pt x="129373" y="190500"/>
                        <a:pt x="166688" y="153186"/>
                        <a:pt x="166688" y="107156"/>
                      </a:cubicBezTo>
                      <a:lnTo>
                        <a:pt x="166688" y="64294"/>
                      </a:lnTo>
                    </a:path>
                  </a:pathLst>
                </a:custGeom>
                <a:noFill/>
                <a:ln w="19050">
                  <a:solidFill>
                    <a:srgbClr val="20A7B8"/>
                  </a:solidFill>
                </a:ln>
              </p:spPr>
            </p:sp>
            <p:sp>
              <p:nvSpPr>
                <p:cNvPr id="56" name="Freeform 56"/>
                <p:cNvSpPr/>
                <p:nvPr/>
              </p:nvSpPr>
              <p:spPr>
                <a:xfrm>
                  <a:off x="7358062" y="3786188"/>
                  <a:ext cx="166688" cy="190500"/>
                </a:xfrm>
                <a:custGeom>
                  <a:avLst/>
                  <a:gdLst/>
                  <a:ahLst/>
                  <a:cxnLst/>
                  <a:rect l="l" t="t" r="r" b="b"/>
                  <a:pathLst>
                    <a:path w="166688" h="190500">
                      <a:moveTo>
                        <a:pt x="83344" y="0"/>
                      </a:moveTo>
                      <a:cubicBezTo>
                        <a:pt x="129373" y="0"/>
                        <a:pt x="166688" y="37314"/>
                        <a:pt x="166688" y="83344"/>
                      </a:cubicBezTo>
                      <a:lnTo>
                        <a:pt x="166688" y="107156"/>
                      </a:lnTo>
                      <a:cubicBezTo>
                        <a:pt x="166688" y="153186"/>
                        <a:pt x="129373" y="190500"/>
                        <a:pt x="83344" y="190500"/>
                      </a:cubicBezTo>
                      <a:cubicBezTo>
                        <a:pt x="37314" y="190500"/>
                        <a:pt x="0" y="153186"/>
                        <a:pt x="0" y="107156"/>
                      </a:cubicBezTo>
                      <a:lnTo>
                        <a:pt x="0" y="64294"/>
                      </a:lnTo>
                    </a:path>
                  </a:pathLst>
                </a:custGeom>
                <a:noFill/>
                <a:ln w="19050">
                  <a:solidFill>
                    <a:srgbClr val="20A7B8"/>
                  </a:solidFill>
                </a:ln>
              </p:spPr>
            </p:sp>
            <p:sp>
              <p:nvSpPr>
                <p:cNvPr id="57" name="Freeform 57"/>
                <p:cNvSpPr/>
                <p:nvPr/>
              </p:nvSpPr>
              <p:spPr>
                <a:xfrm>
                  <a:off x="7643812" y="3690938"/>
                  <a:ext cx="95250" cy="166688"/>
                </a:xfrm>
                <a:custGeom>
                  <a:avLst/>
                  <a:gdLst/>
                  <a:ahLst/>
                  <a:cxnLst/>
                  <a:rect l="l" t="t" r="r" b="b"/>
                  <a:pathLst>
                    <a:path w="95250" h="166688">
                      <a:moveTo>
                        <a:pt x="11906" y="166688"/>
                      </a:moveTo>
                      <a:cubicBezTo>
                        <a:pt x="57936" y="166688"/>
                        <a:pt x="95250" y="129373"/>
                        <a:pt x="95250" y="83344"/>
                      </a:cubicBezTo>
                      <a:cubicBezTo>
                        <a:pt x="95250" y="37314"/>
                        <a:pt x="57936" y="0"/>
                        <a:pt x="11906" y="0"/>
                      </a:cubicBezTo>
                      <a:lnTo>
                        <a:pt x="0" y="0"/>
                      </a:lnTo>
                    </a:path>
                  </a:pathLst>
                </a:custGeom>
                <a:noFill/>
                <a:ln w="19050">
                  <a:solidFill>
                    <a:srgbClr val="20A7B8"/>
                  </a:solidFill>
                </a:ln>
              </p:spPr>
            </p:sp>
            <p:sp>
              <p:nvSpPr>
                <p:cNvPr id="58" name="Freeform 58"/>
                <p:cNvSpPr/>
                <p:nvPr/>
              </p:nvSpPr>
              <p:spPr>
                <a:xfrm>
                  <a:off x="7524750" y="3548062"/>
                  <a:ext cx="166688" cy="150019"/>
                </a:xfrm>
                <a:custGeom>
                  <a:avLst/>
                  <a:gdLst/>
                  <a:ahLst/>
                  <a:cxnLst/>
                  <a:rect l="l" t="t" r="r" b="b"/>
                  <a:pathLst>
                    <a:path w="166688" h="150019">
                      <a:moveTo>
                        <a:pt x="166688" y="150019"/>
                      </a:moveTo>
                      <a:lnTo>
                        <a:pt x="166688" y="83344"/>
                      </a:lnTo>
                      <a:cubicBezTo>
                        <a:pt x="166688" y="37314"/>
                        <a:pt x="129373" y="0"/>
                        <a:pt x="83344" y="0"/>
                      </a:cubicBezTo>
                      <a:cubicBezTo>
                        <a:pt x="37314" y="0"/>
                        <a:pt x="0" y="37314"/>
                        <a:pt x="0" y="83344"/>
                      </a:cubicBezTo>
                    </a:path>
                  </a:pathLst>
                </a:custGeom>
                <a:noFill/>
                <a:ln w="19050">
                  <a:solidFill>
                    <a:srgbClr val="20A7B8"/>
                  </a:solidFill>
                </a:ln>
              </p:spPr>
            </p:sp>
            <p:sp>
              <p:nvSpPr>
                <p:cNvPr id="59" name="Freeform 59"/>
                <p:cNvSpPr/>
                <p:nvPr/>
              </p:nvSpPr>
              <p:spPr>
                <a:xfrm>
                  <a:off x="7310438" y="3690938"/>
                  <a:ext cx="95250" cy="166688"/>
                </a:xfrm>
                <a:custGeom>
                  <a:avLst/>
                  <a:gdLst/>
                  <a:ahLst/>
                  <a:cxnLst/>
                  <a:rect l="l" t="t" r="r" b="b"/>
                  <a:pathLst>
                    <a:path w="95250" h="166688">
                      <a:moveTo>
                        <a:pt x="83344" y="166688"/>
                      </a:moveTo>
                      <a:cubicBezTo>
                        <a:pt x="37314" y="166688"/>
                        <a:pt x="0" y="129373"/>
                        <a:pt x="0" y="83344"/>
                      </a:cubicBezTo>
                      <a:cubicBezTo>
                        <a:pt x="0" y="37314"/>
                        <a:pt x="37314" y="0"/>
                        <a:pt x="83344" y="0"/>
                      </a:cubicBezTo>
                      <a:lnTo>
                        <a:pt x="95250" y="0"/>
                      </a:lnTo>
                    </a:path>
                  </a:pathLst>
                </a:custGeom>
                <a:noFill/>
                <a:ln w="19050">
                  <a:solidFill>
                    <a:srgbClr val="20A7B8"/>
                  </a:solidFill>
                </a:ln>
              </p:spPr>
            </p:sp>
            <p:sp>
              <p:nvSpPr>
                <p:cNvPr id="60" name="Freeform 60"/>
                <p:cNvSpPr/>
                <p:nvPr/>
              </p:nvSpPr>
              <p:spPr>
                <a:xfrm>
                  <a:off x="7358062" y="3548062"/>
                  <a:ext cx="166688" cy="321469"/>
                </a:xfrm>
                <a:custGeom>
                  <a:avLst/>
                  <a:gdLst/>
                  <a:ahLst/>
                  <a:cxnLst/>
                  <a:rect l="l" t="t" r="r" b="b"/>
                  <a:pathLst>
                    <a:path w="166688" h="321469">
                      <a:moveTo>
                        <a:pt x="0" y="150019"/>
                      </a:moveTo>
                      <a:lnTo>
                        <a:pt x="0" y="83344"/>
                      </a:lnTo>
                      <a:cubicBezTo>
                        <a:pt x="0" y="37314"/>
                        <a:pt x="37314" y="0"/>
                        <a:pt x="83344" y="0"/>
                      </a:cubicBezTo>
                      <a:cubicBezTo>
                        <a:pt x="129373" y="0"/>
                        <a:pt x="166688" y="37314"/>
                        <a:pt x="166688" y="83344"/>
                      </a:cubicBezTo>
                      <a:lnTo>
                        <a:pt x="166688" y="321469"/>
                      </a:lnTo>
                    </a:path>
                  </a:pathLst>
                </a:custGeom>
                <a:noFill/>
                <a:ln w="19050">
                  <a:solidFill>
                    <a:srgbClr val="20A7B8"/>
                  </a:solidFill>
                </a:ln>
              </p:spPr>
            </p:sp>
          </p:grpSp>
          <p:sp>
            <p:nvSpPr>
              <p:cNvPr id="62" name="TextBox 62"/>
              <p:cNvSpPr txBox="1"/>
              <p:nvPr/>
            </p:nvSpPr>
            <p:spPr>
              <a:xfrm>
                <a:off x="7173468" y="4156710"/>
                <a:ext cx="702564" cy="243840"/>
              </a:xfrm>
              <a:prstGeom prst="rect">
                <a:avLst/>
              </a:prstGeom>
              <a:noFill/>
              <a:ln>
                <a:noFill/>
              </a:ln>
            </p:spPr>
            <p:txBody>
              <a:bodyPr wrap="none" lIns="0" tIns="0" rIns="0" bIns="0" anchor="t" anchorCtr="0">
                <a:spAutoFit/>
              </a:bodyPr>
              <a:lstStyle/>
              <a:p>
                <a:pPr algn="ctr"/>
                <a:r>
                  <a:rPr lang="zh-CN" sz="1200" b="1" dirty="0">
                    <a:solidFill>
                      <a:srgbClr val="17365D"/>
                    </a:solidFill>
                    <a:latin typeface="Arial" panose="020B0604020202020204"/>
                    <a:ea typeface="微软雅黑" panose="020B0503020204020204" charset="-122"/>
                    <a:cs typeface="Arial" panose="020B0604020202020204"/>
                  </a:rPr>
                  <a:t>智能分析</a:t>
                </a:r>
                <a:endParaRPr lang="zh-CN" sz="1200" b="1" dirty="0">
                  <a:solidFill>
                    <a:srgbClr val="17365D"/>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7093267" y="4427220"/>
                <a:ext cx="862965" cy="182880"/>
              </a:xfrm>
              <a:prstGeom prst="rect">
                <a:avLst/>
              </a:prstGeom>
              <a:noFill/>
              <a:ln>
                <a:noFill/>
              </a:ln>
            </p:spPr>
            <p:txBody>
              <a:bodyPr wrap="none" lIns="0" tIns="0" rIns="0" bIns="0" anchor="t" anchorCtr="0">
                <a:spAutoFit/>
              </a:bodyPr>
              <a:lstStyle/>
              <a:p>
                <a:pPr algn="ctr"/>
                <a:r>
                  <a:rPr lang="zh-CN" sz="900" dirty="0">
                    <a:solidFill>
                      <a:srgbClr val="5E6A78"/>
                    </a:solidFill>
                    <a:latin typeface="Arial" panose="020B0604020202020204"/>
                    <a:ea typeface="微软雅黑" panose="020B0503020204020204" charset="-122"/>
                    <a:cs typeface="Arial" panose="020B0604020202020204"/>
                  </a:rPr>
                  <a:t>按规则多维筛选</a:t>
                </a:r>
                <a:endParaRPr lang="zh-CN" sz="900" dirty="0">
                  <a:solidFill>
                    <a:srgbClr val="5E6A78"/>
                  </a:solidFill>
                  <a:latin typeface="Arial" panose="020B0604020202020204"/>
                  <a:ea typeface="微软雅黑" panose="020B0503020204020204" charset="-122"/>
                  <a:cs typeface="Arial" panose="020B0604020202020204"/>
                </a:endParaRPr>
              </a:p>
            </p:txBody>
          </p:sp>
        </p:grpSp>
        <p:grpSp>
          <p:nvGrpSpPr>
            <p:cNvPr id="72" name="Group 72"/>
            <p:cNvGrpSpPr/>
            <p:nvPr/>
          </p:nvGrpSpPr>
          <p:grpSpPr>
            <a:xfrm>
              <a:off x="9429750" y="3095625"/>
              <a:ext cx="1905000" cy="1905000"/>
              <a:chOff x="9429750" y="3095625"/>
              <a:chExt cx="1905000" cy="1905000"/>
            </a:xfrm>
          </p:grpSpPr>
          <p:sp>
            <p:nvSpPr>
              <p:cNvPr id="65" name="Ellipse 65"/>
              <p:cNvSpPr/>
              <p:nvPr/>
            </p:nvSpPr>
            <p:spPr>
              <a:xfrm>
                <a:off x="9429750" y="3095625"/>
                <a:ext cx="1905000" cy="1905000"/>
              </a:xfrm>
              <a:prstGeom prst="ellipse">
                <a:avLst/>
              </a:prstGeom>
              <a:solidFill>
                <a:srgbClr val="0E9F6E"/>
              </a:solidFill>
              <a:ln>
                <a:noFill/>
              </a:ln>
            </p:spPr>
          </p:sp>
          <p:grpSp>
            <p:nvGrpSpPr>
              <p:cNvPr id="69" name="Group 69"/>
              <p:cNvGrpSpPr/>
              <p:nvPr/>
            </p:nvGrpSpPr>
            <p:grpSpPr>
              <a:xfrm>
                <a:off x="10167938" y="3548062"/>
                <a:ext cx="428625" cy="428625"/>
                <a:chOff x="10167938" y="3548062"/>
                <a:chExt cx="428625" cy="428625"/>
              </a:xfrm>
            </p:grpSpPr>
            <p:sp>
              <p:nvSpPr>
                <p:cNvPr id="66" name="Freeform 66"/>
                <p:cNvSpPr/>
                <p:nvPr/>
              </p:nvSpPr>
              <p:spPr>
                <a:xfrm>
                  <a:off x="10167938" y="3548062"/>
                  <a:ext cx="428625" cy="214312"/>
                </a:xfrm>
                <a:custGeom>
                  <a:avLst/>
                  <a:gdLst/>
                  <a:ahLst/>
                  <a:cxnLst/>
                  <a:rect l="l" t="t" r="r" b="b"/>
                  <a:pathLst>
                    <a:path w="428625" h="214312">
                      <a:moveTo>
                        <a:pt x="0" y="214312"/>
                      </a:moveTo>
                      <a:lnTo>
                        <a:pt x="23812" y="214312"/>
                      </a:lnTo>
                      <a:moveTo>
                        <a:pt x="214312" y="0"/>
                      </a:moveTo>
                      <a:lnTo>
                        <a:pt x="214312" y="23812"/>
                      </a:lnTo>
                      <a:moveTo>
                        <a:pt x="404812" y="214312"/>
                      </a:moveTo>
                      <a:lnTo>
                        <a:pt x="428625" y="214312"/>
                      </a:lnTo>
                      <a:moveTo>
                        <a:pt x="61912" y="61912"/>
                      </a:moveTo>
                      <a:lnTo>
                        <a:pt x="78581" y="78581"/>
                      </a:lnTo>
                      <a:moveTo>
                        <a:pt x="366712" y="61912"/>
                      </a:moveTo>
                      <a:lnTo>
                        <a:pt x="350044" y="78581"/>
                      </a:lnTo>
                    </a:path>
                  </a:pathLst>
                </a:custGeom>
                <a:noFill/>
                <a:ln w="19050">
                  <a:solidFill>
                    <a:srgbClr val="FFFFFF"/>
                  </a:solidFill>
                </a:ln>
              </p:spPr>
            </p:sp>
            <p:sp>
              <p:nvSpPr>
                <p:cNvPr id="67" name="Freeform 67"/>
                <p:cNvSpPr/>
                <p:nvPr/>
              </p:nvSpPr>
              <p:spPr>
                <a:xfrm>
                  <a:off x="10253091" y="3643312"/>
                  <a:ext cx="258317" cy="333375"/>
                </a:xfrm>
                <a:custGeom>
                  <a:avLst/>
                  <a:gdLst/>
                  <a:ahLst/>
                  <a:cxnLst/>
                  <a:rect l="l" t="t" r="r" b="b"/>
                  <a:pathLst>
                    <a:path w="258317" h="333375">
                      <a:moveTo>
                        <a:pt x="57721" y="214312"/>
                      </a:moveTo>
                      <a:cubicBezTo>
                        <a:pt x="16723" y="183564"/>
                        <a:pt x="0" y="130030"/>
                        <a:pt x="16206" y="81412"/>
                      </a:cubicBezTo>
                      <a:cubicBezTo>
                        <a:pt x="32412" y="32793"/>
                        <a:pt x="77911" y="0"/>
                        <a:pt x="129159" y="0"/>
                      </a:cubicBezTo>
                      <a:cubicBezTo>
                        <a:pt x="180407" y="0"/>
                        <a:pt x="225905" y="32793"/>
                        <a:pt x="242111" y="81412"/>
                      </a:cubicBezTo>
                      <a:cubicBezTo>
                        <a:pt x="258317" y="130030"/>
                        <a:pt x="241595" y="183564"/>
                        <a:pt x="200596" y="214312"/>
                      </a:cubicBezTo>
                      <a:cubicBezTo>
                        <a:pt x="181741" y="232977"/>
                        <a:pt x="172898" y="259505"/>
                        <a:pt x="176784" y="285750"/>
                      </a:cubicBezTo>
                      <a:cubicBezTo>
                        <a:pt x="176784" y="312053"/>
                        <a:pt x="155461" y="333375"/>
                        <a:pt x="129159" y="333375"/>
                      </a:cubicBezTo>
                      <a:cubicBezTo>
                        <a:pt x="102856" y="333375"/>
                        <a:pt x="81534" y="312053"/>
                        <a:pt x="81534" y="285750"/>
                      </a:cubicBezTo>
                      <a:cubicBezTo>
                        <a:pt x="85419" y="259505"/>
                        <a:pt x="76577" y="232977"/>
                        <a:pt x="57721" y="214312"/>
                      </a:cubicBezTo>
                    </a:path>
                  </a:pathLst>
                </a:custGeom>
                <a:noFill/>
                <a:ln w="19050">
                  <a:solidFill>
                    <a:srgbClr val="FFFFFF"/>
                  </a:solidFill>
                </a:ln>
              </p:spPr>
            </p:sp>
            <p:sp>
              <p:nvSpPr>
                <p:cNvPr id="68" name="Freeform 68"/>
                <p:cNvSpPr/>
                <p:nvPr/>
              </p:nvSpPr>
              <p:spPr>
                <a:xfrm>
                  <a:off x="10327481" y="3881438"/>
                  <a:ext cx="109538" cy="9525"/>
                </a:xfrm>
                <a:custGeom>
                  <a:avLst/>
                  <a:gdLst/>
                  <a:ahLst/>
                  <a:cxnLst/>
                  <a:rect l="l" t="t" r="r" b="b"/>
                  <a:pathLst>
                    <a:path w="109538" h="9525">
                      <a:moveTo>
                        <a:pt x="0" y="0"/>
                      </a:moveTo>
                      <a:lnTo>
                        <a:pt x="109538" y="0"/>
                      </a:lnTo>
                    </a:path>
                  </a:pathLst>
                </a:custGeom>
                <a:noFill/>
                <a:ln w="19050">
                  <a:solidFill>
                    <a:srgbClr val="FFFFFF"/>
                  </a:solidFill>
                </a:ln>
              </p:spPr>
            </p:sp>
          </p:grpSp>
          <p:sp>
            <p:nvSpPr>
              <p:cNvPr id="70" name="TextBox 70"/>
              <p:cNvSpPr txBox="1"/>
              <p:nvPr/>
            </p:nvSpPr>
            <p:spPr>
              <a:xfrm>
                <a:off x="10030968" y="4156710"/>
                <a:ext cx="70256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客户洞察</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71" name="TextBox 71"/>
              <p:cNvSpPr txBox="1"/>
              <p:nvPr/>
            </p:nvSpPr>
            <p:spPr>
              <a:xfrm>
                <a:off x="10070782" y="4427220"/>
                <a:ext cx="622935" cy="182880"/>
              </a:xfrm>
              <a:prstGeom prst="rect">
                <a:avLst/>
              </a:prstGeom>
              <a:noFill/>
              <a:ln>
                <a:noFill/>
              </a:ln>
            </p:spPr>
            <p:txBody>
              <a:bodyPr wrap="none" lIns="0" tIns="0" rIns="0" bIns="0" anchor="t" anchorCtr="0">
                <a:spAutoFit/>
              </a:bodyPr>
              <a:lstStyle/>
              <a:p>
                <a:pPr algn="ctr"/>
                <a:r>
                  <a:rPr lang="zh-CN" sz="900" dirty="0">
                    <a:solidFill>
                      <a:srgbClr val="DCE6FB"/>
                    </a:solidFill>
                    <a:latin typeface="Arial" panose="020B0604020202020204"/>
                    <a:ea typeface="微软雅黑" panose="020B0503020204020204" charset="-122"/>
                    <a:cs typeface="Arial" panose="020B0604020202020204"/>
                  </a:rPr>
                  <a:t>可行动建议</a:t>
                </a:r>
                <a:endParaRPr lang="zh-CN" sz="900" dirty="0">
                  <a:solidFill>
                    <a:srgbClr val="DCE6FB"/>
                  </a:solidFill>
                  <a:latin typeface="Arial" panose="020B0604020202020204"/>
                  <a:ea typeface="微软雅黑" panose="020B0503020204020204" charset="-122"/>
                  <a:cs typeface="Arial" panose="020B0604020202020204"/>
                </a:endParaRPr>
              </a:p>
            </p:txBody>
          </p:sp>
        </p:grpSp>
      </p:grpSp>
      <p:grpSp>
        <p:nvGrpSpPr>
          <p:cNvPr id="87" name="Group 87"/>
          <p:cNvGrpSpPr/>
          <p:nvPr/>
        </p:nvGrpSpPr>
        <p:grpSpPr>
          <a:xfrm>
            <a:off x="571500" y="5143500"/>
            <a:ext cx="11049000" cy="952500"/>
            <a:chOff x="571500" y="5143500"/>
            <a:chExt cx="11049000" cy="952500"/>
          </a:xfrm>
        </p:grpSpPr>
        <p:sp>
          <p:nvSpPr>
            <p:cNvPr id="74" name="Rectangle 74"/>
            <p:cNvSpPr/>
            <p:nvPr/>
          </p:nvSpPr>
          <p:spPr>
            <a:xfrm>
              <a:off x="571500" y="5143500"/>
              <a:ext cx="11049000" cy="952500"/>
            </a:xfrm>
            <a:prstGeom prst="roundRect">
              <a:avLst>
                <a:gd name="adj" fmla="val 12000"/>
              </a:avLst>
            </a:prstGeom>
            <a:solidFill>
              <a:srgbClr val="17365D"/>
            </a:solidFill>
            <a:ln>
              <a:noFill/>
            </a:ln>
          </p:spPr>
        </p:sp>
        <p:grpSp>
          <p:nvGrpSpPr>
            <p:cNvPr id="83" name="Group 83"/>
            <p:cNvGrpSpPr/>
            <p:nvPr/>
          </p:nvGrpSpPr>
          <p:grpSpPr>
            <a:xfrm>
              <a:off x="840581" y="5403056"/>
              <a:ext cx="242888" cy="256381"/>
              <a:chOff x="840581" y="5403056"/>
              <a:chExt cx="242888" cy="256381"/>
            </a:xfrm>
          </p:grpSpPr>
          <p:sp>
            <p:nvSpPr>
              <p:cNvPr id="75" name="Freeform 75"/>
              <p:cNvSpPr/>
              <p:nvPr/>
            </p:nvSpPr>
            <p:spPr>
              <a:xfrm>
                <a:off x="881062" y="5403056"/>
                <a:ext cx="161925" cy="161925"/>
              </a:xfrm>
              <a:custGeom>
                <a:avLst/>
                <a:gdLst/>
                <a:ahLst/>
                <a:cxnLst/>
                <a:rect l="l" t="t" r="r" b="b"/>
                <a:pathLst>
                  <a:path w="161925" h="161925">
                    <a:moveTo>
                      <a:pt x="0" y="80962"/>
                    </a:moveTo>
                    <a:cubicBezTo>
                      <a:pt x="0" y="125677"/>
                      <a:pt x="36248" y="161925"/>
                      <a:pt x="80962" y="161925"/>
                    </a:cubicBezTo>
                    <a:cubicBezTo>
                      <a:pt x="125677" y="161925"/>
                      <a:pt x="161925" y="125677"/>
                      <a:pt x="161925" y="80962"/>
                    </a:cubicBezTo>
                    <a:cubicBezTo>
                      <a:pt x="161925" y="36248"/>
                      <a:pt x="125677" y="0"/>
                      <a:pt x="80962" y="0"/>
                    </a:cubicBezTo>
                    <a:cubicBezTo>
                      <a:pt x="36248" y="0"/>
                      <a:pt x="0" y="36248"/>
                      <a:pt x="0" y="80962"/>
                    </a:cubicBezTo>
                  </a:path>
                </a:pathLst>
              </a:custGeom>
              <a:noFill/>
              <a:ln w="19050">
                <a:solidFill>
                  <a:srgbClr val="518FEC"/>
                </a:solidFill>
              </a:ln>
            </p:spPr>
          </p:sp>
          <p:sp>
            <p:nvSpPr>
              <p:cNvPr id="76" name="Freeform 76"/>
              <p:cNvSpPr/>
              <p:nvPr/>
            </p:nvSpPr>
            <p:spPr>
              <a:xfrm>
                <a:off x="962025" y="5403056"/>
                <a:ext cx="26988" cy="161925"/>
              </a:xfrm>
              <a:custGeom>
                <a:avLst/>
                <a:gdLst/>
                <a:ahLst/>
                <a:cxnLst/>
                <a:rect l="l" t="t" r="r" b="b"/>
                <a:pathLst>
                  <a:path w="26988" h="161925">
                    <a:moveTo>
                      <a:pt x="0" y="0"/>
                    </a:moveTo>
                    <a:cubicBezTo>
                      <a:pt x="17987" y="4493"/>
                      <a:pt x="26988" y="31481"/>
                      <a:pt x="26988" y="80962"/>
                    </a:cubicBezTo>
                    <a:cubicBezTo>
                      <a:pt x="26988" y="130444"/>
                      <a:pt x="17987" y="157432"/>
                      <a:pt x="0" y="161925"/>
                    </a:cubicBezTo>
                  </a:path>
                </a:pathLst>
              </a:custGeom>
              <a:noFill/>
              <a:ln w="19050">
                <a:solidFill>
                  <a:srgbClr val="518FEC"/>
                </a:solidFill>
              </a:ln>
            </p:spPr>
          </p:sp>
          <p:sp>
            <p:nvSpPr>
              <p:cNvPr id="77" name="Freeform 77"/>
              <p:cNvSpPr/>
              <p:nvPr/>
            </p:nvSpPr>
            <p:spPr>
              <a:xfrm>
                <a:off x="935038" y="5403056"/>
                <a:ext cx="26987" cy="161925"/>
              </a:xfrm>
              <a:custGeom>
                <a:avLst/>
                <a:gdLst/>
                <a:ahLst/>
                <a:cxnLst/>
                <a:rect l="l" t="t" r="r" b="b"/>
                <a:pathLst>
                  <a:path w="26987" h="161925">
                    <a:moveTo>
                      <a:pt x="26987" y="0"/>
                    </a:moveTo>
                    <a:cubicBezTo>
                      <a:pt x="9000" y="4493"/>
                      <a:pt x="0" y="31481"/>
                      <a:pt x="0" y="80962"/>
                    </a:cubicBezTo>
                    <a:cubicBezTo>
                      <a:pt x="0" y="130444"/>
                      <a:pt x="9000" y="157432"/>
                      <a:pt x="26987" y="161925"/>
                    </a:cubicBezTo>
                  </a:path>
                </a:pathLst>
              </a:custGeom>
              <a:noFill/>
              <a:ln w="19050">
                <a:solidFill>
                  <a:srgbClr val="518FEC"/>
                </a:solidFill>
              </a:ln>
            </p:spPr>
          </p:sp>
          <p:sp>
            <p:nvSpPr>
              <p:cNvPr id="78" name="Freeform 78"/>
              <p:cNvSpPr/>
              <p:nvPr/>
            </p:nvSpPr>
            <p:spPr>
              <a:xfrm>
                <a:off x="881062" y="5484019"/>
                <a:ext cx="161925" cy="9525"/>
              </a:xfrm>
              <a:custGeom>
                <a:avLst/>
                <a:gdLst/>
                <a:ahLst/>
                <a:cxnLst/>
                <a:rect l="l" t="t" r="r" b="b"/>
                <a:pathLst>
                  <a:path w="161925" h="9525">
                    <a:moveTo>
                      <a:pt x="0" y="0"/>
                    </a:moveTo>
                    <a:lnTo>
                      <a:pt x="161925" y="0"/>
                    </a:lnTo>
                  </a:path>
                </a:pathLst>
              </a:custGeom>
              <a:noFill/>
              <a:ln w="19050">
                <a:solidFill>
                  <a:srgbClr val="518FEC"/>
                </a:solidFill>
              </a:ln>
            </p:spPr>
          </p:sp>
          <p:sp>
            <p:nvSpPr>
              <p:cNvPr id="79" name="Freeform 79"/>
              <p:cNvSpPr/>
              <p:nvPr/>
            </p:nvSpPr>
            <p:spPr>
              <a:xfrm>
                <a:off x="840581" y="5632450"/>
                <a:ext cx="94456" cy="9525"/>
              </a:xfrm>
              <a:custGeom>
                <a:avLst/>
                <a:gdLst/>
                <a:ahLst/>
                <a:cxnLst/>
                <a:rect l="l" t="t" r="r" b="b"/>
                <a:pathLst>
                  <a:path w="94456" h="9525">
                    <a:moveTo>
                      <a:pt x="0" y="0"/>
                    </a:moveTo>
                    <a:lnTo>
                      <a:pt x="94456" y="0"/>
                    </a:lnTo>
                  </a:path>
                </a:pathLst>
              </a:custGeom>
              <a:noFill/>
              <a:ln w="19050">
                <a:solidFill>
                  <a:srgbClr val="518FEC"/>
                </a:solidFill>
              </a:ln>
            </p:spPr>
          </p:sp>
          <p:sp>
            <p:nvSpPr>
              <p:cNvPr id="80" name="Freeform 80"/>
              <p:cNvSpPr/>
              <p:nvPr/>
            </p:nvSpPr>
            <p:spPr>
              <a:xfrm>
                <a:off x="989013" y="5632450"/>
                <a:ext cx="94456" cy="9525"/>
              </a:xfrm>
              <a:custGeom>
                <a:avLst/>
                <a:gdLst/>
                <a:ahLst/>
                <a:cxnLst/>
                <a:rect l="l" t="t" r="r" b="b"/>
                <a:pathLst>
                  <a:path w="94456" h="9525">
                    <a:moveTo>
                      <a:pt x="0" y="0"/>
                    </a:moveTo>
                    <a:lnTo>
                      <a:pt x="94456" y="0"/>
                    </a:lnTo>
                  </a:path>
                </a:pathLst>
              </a:custGeom>
              <a:noFill/>
              <a:ln w="19050">
                <a:solidFill>
                  <a:srgbClr val="518FEC"/>
                </a:solidFill>
              </a:ln>
            </p:spPr>
          </p:sp>
          <p:sp>
            <p:nvSpPr>
              <p:cNvPr id="81" name="Freeform 81"/>
              <p:cNvSpPr/>
              <p:nvPr/>
            </p:nvSpPr>
            <p:spPr>
              <a:xfrm>
                <a:off x="935038" y="5605462"/>
                <a:ext cx="53975" cy="53975"/>
              </a:xfrm>
              <a:custGeom>
                <a:avLst/>
                <a:gdLst/>
                <a:ahLst/>
                <a:cxnLst/>
                <a:rect l="l" t="t" r="r" b="b"/>
                <a:pathLst>
                  <a:path w="53975" h="53975">
                    <a:moveTo>
                      <a:pt x="0" y="26988"/>
                    </a:moveTo>
                    <a:cubicBezTo>
                      <a:pt x="0" y="41892"/>
                      <a:pt x="12083" y="53975"/>
                      <a:pt x="26987" y="53975"/>
                    </a:cubicBezTo>
                    <a:cubicBezTo>
                      <a:pt x="41892" y="53975"/>
                      <a:pt x="53975" y="41892"/>
                      <a:pt x="53975" y="26988"/>
                    </a:cubicBezTo>
                    <a:cubicBezTo>
                      <a:pt x="53975" y="12083"/>
                      <a:pt x="41892" y="0"/>
                      <a:pt x="26987" y="0"/>
                    </a:cubicBezTo>
                    <a:cubicBezTo>
                      <a:pt x="12083" y="0"/>
                      <a:pt x="0" y="12083"/>
                      <a:pt x="0" y="26988"/>
                    </a:cubicBezTo>
                  </a:path>
                </a:pathLst>
              </a:custGeom>
              <a:noFill/>
              <a:ln w="19050">
                <a:solidFill>
                  <a:srgbClr val="518FEC"/>
                </a:solidFill>
              </a:ln>
            </p:spPr>
          </p:sp>
          <p:sp>
            <p:nvSpPr>
              <p:cNvPr id="82" name="Freeform 82"/>
              <p:cNvSpPr/>
              <p:nvPr/>
            </p:nvSpPr>
            <p:spPr>
              <a:xfrm>
                <a:off x="962025" y="5564981"/>
                <a:ext cx="9525" cy="40481"/>
              </a:xfrm>
              <a:custGeom>
                <a:avLst/>
                <a:gdLst/>
                <a:ahLst/>
                <a:cxnLst/>
                <a:rect l="l" t="t" r="r" b="b"/>
                <a:pathLst>
                  <a:path w="9525" h="40481">
                    <a:moveTo>
                      <a:pt x="0" y="0"/>
                    </a:moveTo>
                    <a:lnTo>
                      <a:pt x="0" y="40481"/>
                    </a:lnTo>
                  </a:path>
                </a:pathLst>
              </a:custGeom>
              <a:noFill/>
              <a:ln w="19050">
                <a:solidFill>
                  <a:srgbClr val="518FEC"/>
                </a:solidFill>
              </a:ln>
            </p:spPr>
          </p:sp>
        </p:grpSp>
        <p:sp>
          <p:nvSpPr>
            <p:cNvPr id="84" name="TextBox 84"/>
            <p:cNvSpPr txBox="1"/>
            <p:nvPr/>
          </p:nvSpPr>
          <p:spPr>
            <a:xfrm>
              <a:off x="1225868" y="5343049"/>
              <a:ext cx="1410413" cy="198120"/>
            </a:xfrm>
            <a:prstGeom prst="rect">
              <a:avLst/>
            </a:prstGeom>
            <a:noFill/>
            <a:ln>
              <a:noFill/>
            </a:ln>
          </p:spPr>
          <p:txBody>
            <a:bodyPr wrap="none" lIns="0" tIns="0" rIns="0" bIns="0" anchor="t" anchorCtr="0">
              <a:spAutoFit/>
            </a:bodyPr>
            <a:lstStyle/>
            <a:p>
              <a:pPr algn="l"/>
              <a:r>
                <a:rPr lang="zh-CN" sz="975" b="1" dirty="0">
                  <a:solidFill>
                    <a:srgbClr val="518FEC"/>
                  </a:solidFill>
                  <a:latin typeface="Arial" panose="020B0604020202020204"/>
                  <a:ea typeface="微软雅黑" panose="020B0503020204020204" charset="-122"/>
                  <a:cs typeface="Arial" panose="020B0604020202020204"/>
                </a:rPr>
                <a:t>自动联动 · 关联与回灌</a:t>
              </a:r>
              <a:endParaRPr lang="zh-CN" sz="975" b="1" dirty="0">
                <a:solidFill>
                  <a:srgbClr val="518FEC"/>
                </a:solidFill>
                <a:latin typeface="Arial" panose="020B0604020202020204"/>
                <a:ea typeface="微软雅黑" panose="020B0503020204020204" charset="-122"/>
                <a:cs typeface="Arial" panose="020B0604020202020204"/>
              </a:endParaRPr>
            </a:p>
          </p:txBody>
        </p:sp>
        <p:sp>
          <p:nvSpPr>
            <p:cNvPr id="85" name="TextBox 85"/>
            <p:cNvSpPr txBox="1"/>
            <p:nvPr/>
          </p:nvSpPr>
          <p:spPr>
            <a:xfrm>
              <a:off x="1222058" y="5596414"/>
              <a:ext cx="3736723"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panose="020B0604020202020204"/>
                  <a:ea typeface="微软雅黑" panose="020B0503020204020204" charset="-122"/>
                  <a:cs typeface="Arial" panose="020B0604020202020204"/>
                </a:rPr>
                <a:t>录音信息自动关联 客户 / 项目 / 联系人 / 销售</a:t>
              </a:r>
              <a:endParaRPr lang="zh-CN" sz="1275" b="1" dirty="0">
                <a:solidFill>
                  <a:srgbClr val="FFFFFF"/>
                </a:solidFill>
                <a:latin typeface="Arial" panose="020B0604020202020204"/>
                <a:ea typeface="微软雅黑" panose="020B0503020204020204" charset="-122"/>
                <a:cs typeface="Arial" panose="020B0604020202020204"/>
              </a:endParaRPr>
            </a:p>
          </p:txBody>
        </p:sp>
        <p:sp>
          <p:nvSpPr>
            <p:cNvPr id="86" name="TextBox 86"/>
            <p:cNvSpPr txBox="1"/>
            <p:nvPr/>
          </p:nvSpPr>
          <p:spPr>
            <a:xfrm>
              <a:off x="1224915" y="5868352"/>
              <a:ext cx="4423220"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panose="020B0604020202020204"/>
                  <a:ea typeface="微软雅黑" panose="020B0503020204020204" charset="-122"/>
                  <a:cs typeface="Arial" panose="020B0604020202020204"/>
                </a:rPr>
                <a:t>→ 补入客户档案与决策链,避免重要信息只停留在录音或销售个人认知中</a:t>
              </a:r>
              <a:endParaRPr lang="zh-CN" sz="1050" dirty="0">
                <a:solidFill>
                  <a:srgbClr val="B8C7E0"/>
                </a:solidFill>
                <a:latin typeface="Arial" panose="020B0604020202020204"/>
                <a:ea typeface="微软雅黑" panose="020B0503020204020204" charset="-122"/>
                <a:cs typeface="Arial" panose="020B0604020202020204"/>
              </a:endParaRPr>
            </a:p>
          </p:txBody>
        </p:sp>
      </p:grpSp>
      <p:grpSp>
        <p:nvGrpSpPr>
          <p:cNvPr id="90" name="Group 90"/>
          <p:cNvGrpSpPr/>
          <p:nvPr/>
        </p:nvGrpSpPr>
        <p:grpSpPr>
          <a:xfrm>
            <a:off x="561022" y="6578441"/>
            <a:ext cx="11069955" cy="167640"/>
            <a:chOff x="561022" y="6578441"/>
            <a:chExt cx="11069955" cy="167640"/>
          </a:xfrm>
        </p:grpSpPr>
        <p:sp>
          <p:nvSpPr>
            <p:cNvPr id="88" name="TextBox 88"/>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89" name="TextBox 89"/>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17</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image">
                                      <p:cBhvr>
                                        <p:cTn id="7" dur="400"/>
                                        <p:tgtEl>
                                          <p:spTgt spid="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fade">
                                      <p:cBhvr>
                                        <p:cTn id="11" dur="400"/>
                                        <p:tgtEl>
                                          <p:spTgt spid="7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87"/>
                                        </p:tgtEl>
                                        <p:attrNameLst>
                                          <p:attrName>style.visibility</p:attrName>
                                        </p:attrNameLst>
                                      </p:cBhvr>
                                      <p:to>
                                        <p:strVal val="visible"/>
                                      </p:to>
                                    </p:set>
                                    <p:animEffect transition="in" filter="wipe(left)">
                                      <p:cBhvr>
                                        <p:cTn id="15" dur="4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73" grpId="0"/>
      <p:bldP spid="8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6184666" cy="970598"/>
            <a:chOff x="542925" y="553402"/>
            <a:chExt cx="6184666" cy="970598"/>
          </a:xfrm>
        </p:grpSpPr>
        <p:sp>
          <p:nvSpPr>
            <p:cNvPr id="5" name="TextBox 5"/>
            <p:cNvSpPr txBox="1"/>
            <p:nvPr/>
          </p:nvSpPr>
          <p:spPr>
            <a:xfrm>
              <a:off x="558165" y="553402"/>
              <a:ext cx="1283677"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03 场景方案 · 营销</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6184666"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智能营销 — 十维分析 + 话术沉淀 + 客户联动</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5327142"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十个维度深度分析录音,优秀话术自动沉淀,分析结果回灌客户档案与决策链</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24" name="Group 24"/>
          <p:cNvGrpSpPr/>
          <p:nvPr/>
        </p:nvGrpSpPr>
        <p:grpSpPr>
          <a:xfrm>
            <a:off x="571500" y="1714500"/>
            <a:ext cx="2647950" cy="1905000"/>
            <a:chOff x="571500" y="1714500"/>
            <a:chExt cx="2647950" cy="1905000"/>
          </a:xfrm>
        </p:grpSpPr>
        <p:sp>
          <p:nvSpPr>
            <p:cNvPr id="9" name="Rectangle 9"/>
            <p:cNvSpPr/>
            <p:nvPr/>
          </p:nvSpPr>
          <p:spPr>
            <a:xfrm>
              <a:off x="571500" y="1714500"/>
              <a:ext cx="2647950" cy="1905000"/>
            </a:xfrm>
            <a:prstGeom prst="roundRect">
              <a:avLst>
                <a:gd name="adj" fmla="val 6000"/>
              </a:avLst>
            </a:prstGeom>
            <a:solidFill>
              <a:srgbClr val="F4F7FC"/>
            </a:solidFill>
            <a:ln>
              <a:noFill/>
            </a:ln>
          </p:spPr>
        </p:sp>
        <p:sp>
          <p:nvSpPr>
            <p:cNvPr id="10" name="Rectangle 10"/>
            <p:cNvSpPr/>
            <p:nvPr/>
          </p:nvSpPr>
          <p:spPr>
            <a:xfrm>
              <a:off x="571500" y="1714500"/>
              <a:ext cx="2647950" cy="419100"/>
            </a:xfrm>
            <a:prstGeom prst="roundRect">
              <a:avLst>
                <a:gd name="adj" fmla="val 27273"/>
              </a:avLst>
            </a:prstGeom>
            <a:solidFill>
              <a:srgbClr val="246BFE"/>
            </a:solidFill>
            <a:ln>
              <a:noFill/>
            </a:ln>
          </p:spPr>
        </p:sp>
        <p:sp>
          <p:nvSpPr>
            <p:cNvPr id="11" name="Rectangle 11"/>
            <p:cNvSpPr/>
            <p:nvPr/>
          </p:nvSpPr>
          <p:spPr>
            <a:xfrm>
              <a:off x="571500" y="2019300"/>
              <a:ext cx="2647950" cy="114300"/>
            </a:xfrm>
            <a:prstGeom prst="rect">
              <a:avLst/>
            </a:prstGeom>
            <a:solidFill>
              <a:srgbClr val="246BFE"/>
            </a:solidFill>
            <a:ln>
              <a:noFill/>
            </a:ln>
          </p:spPr>
        </p:sp>
        <p:grpSp>
          <p:nvGrpSpPr>
            <p:cNvPr id="15" name="Group 15"/>
            <p:cNvGrpSpPr/>
            <p:nvPr/>
          </p:nvGrpSpPr>
          <p:grpSpPr>
            <a:xfrm>
              <a:off x="790575" y="1838325"/>
              <a:ext cx="171450" cy="171450"/>
              <a:chOff x="790575" y="1838325"/>
              <a:chExt cx="171450" cy="171450"/>
            </a:xfrm>
          </p:grpSpPr>
          <p:sp>
            <p:nvSpPr>
              <p:cNvPr id="12" name="Freeform 12"/>
              <p:cNvSpPr/>
              <p:nvPr/>
            </p:nvSpPr>
            <p:spPr>
              <a:xfrm>
                <a:off x="790575" y="1838325"/>
                <a:ext cx="171450" cy="85725"/>
              </a:xfrm>
              <a:custGeom>
                <a:avLst/>
                <a:gdLst/>
                <a:ahLst/>
                <a:cxnLst/>
                <a:rect l="l" t="t" r="r" b="b"/>
                <a:pathLst>
                  <a:path w="171450" h="85725">
                    <a:moveTo>
                      <a:pt x="0" y="85725"/>
                    </a:moveTo>
                    <a:lnTo>
                      <a:pt x="9525" y="85725"/>
                    </a:lnTo>
                    <a:moveTo>
                      <a:pt x="85725" y="0"/>
                    </a:moveTo>
                    <a:lnTo>
                      <a:pt x="85725" y="9525"/>
                    </a:lnTo>
                    <a:moveTo>
                      <a:pt x="161925" y="85725"/>
                    </a:moveTo>
                    <a:lnTo>
                      <a:pt x="171450" y="85725"/>
                    </a:lnTo>
                    <a:moveTo>
                      <a:pt x="24765" y="24765"/>
                    </a:moveTo>
                    <a:lnTo>
                      <a:pt x="31432" y="31433"/>
                    </a:lnTo>
                    <a:moveTo>
                      <a:pt x="146685" y="24765"/>
                    </a:moveTo>
                    <a:lnTo>
                      <a:pt x="140018" y="31433"/>
                    </a:lnTo>
                  </a:path>
                </a:pathLst>
              </a:custGeom>
              <a:noFill/>
              <a:ln w="19050">
                <a:solidFill>
                  <a:srgbClr val="FFFFFF"/>
                </a:solidFill>
              </a:ln>
            </p:spPr>
          </p:sp>
          <p:sp>
            <p:nvSpPr>
              <p:cNvPr id="13" name="Freeform 13"/>
              <p:cNvSpPr/>
              <p:nvPr/>
            </p:nvSpPr>
            <p:spPr>
              <a:xfrm>
                <a:off x="824637" y="1876425"/>
                <a:ext cx="103327" cy="133350"/>
              </a:xfrm>
              <a:custGeom>
                <a:avLst/>
                <a:gdLst/>
                <a:ahLst/>
                <a:cxnLst/>
                <a:rect l="l" t="t" r="r" b="b"/>
                <a:pathLst>
                  <a:path w="103327" h="133350">
                    <a:moveTo>
                      <a:pt x="23088" y="85725"/>
                    </a:moveTo>
                    <a:cubicBezTo>
                      <a:pt x="6689" y="73425"/>
                      <a:pt x="0" y="52012"/>
                      <a:pt x="6482" y="32565"/>
                    </a:cubicBezTo>
                    <a:cubicBezTo>
                      <a:pt x="12965" y="13117"/>
                      <a:pt x="31164" y="0"/>
                      <a:pt x="51663" y="0"/>
                    </a:cubicBezTo>
                    <a:cubicBezTo>
                      <a:pt x="72163" y="0"/>
                      <a:pt x="90362" y="13117"/>
                      <a:pt x="96845" y="32565"/>
                    </a:cubicBezTo>
                    <a:cubicBezTo>
                      <a:pt x="103327" y="52012"/>
                      <a:pt x="96638" y="73425"/>
                      <a:pt x="80238" y="85725"/>
                    </a:cubicBezTo>
                    <a:cubicBezTo>
                      <a:pt x="72696" y="93191"/>
                      <a:pt x="69159" y="103802"/>
                      <a:pt x="70713" y="114300"/>
                    </a:cubicBezTo>
                    <a:cubicBezTo>
                      <a:pt x="70713" y="124821"/>
                      <a:pt x="62184" y="133350"/>
                      <a:pt x="51663" y="133350"/>
                    </a:cubicBezTo>
                    <a:cubicBezTo>
                      <a:pt x="41142" y="133350"/>
                      <a:pt x="32613" y="124821"/>
                      <a:pt x="32613" y="114300"/>
                    </a:cubicBezTo>
                    <a:cubicBezTo>
                      <a:pt x="34168" y="103802"/>
                      <a:pt x="30631" y="93191"/>
                      <a:pt x="23088" y="85725"/>
                    </a:cubicBezTo>
                  </a:path>
                </a:pathLst>
              </a:custGeom>
              <a:noFill/>
              <a:ln w="19050">
                <a:solidFill>
                  <a:srgbClr val="FFFFFF"/>
                </a:solidFill>
              </a:ln>
            </p:spPr>
          </p:sp>
          <p:sp>
            <p:nvSpPr>
              <p:cNvPr id="14" name="Freeform 14"/>
              <p:cNvSpPr/>
              <p:nvPr/>
            </p:nvSpPr>
            <p:spPr>
              <a:xfrm>
                <a:off x="854392" y="1971675"/>
                <a:ext cx="43815" cy="9525"/>
              </a:xfrm>
              <a:custGeom>
                <a:avLst/>
                <a:gdLst/>
                <a:ahLst/>
                <a:cxnLst/>
                <a:rect l="l" t="t" r="r" b="b"/>
                <a:pathLst>
                  <a:path w="43815" h="9525">
                    <a:moveTo>
                      <a:pt x="0" y="0"/>
                    </a:moveTo>
                    <a:lnTo>
                      <a:pt x="43815" y="0"/>
                    </a:lnTo>
                  </a:path>
                </a:pathLst>
              </a:custGeom>
              <a:noFill/>
              <a:ln w="19050">
                <a:solidFill>
                  <a:srgbClr val="FFFFFF"/>
                </a:solidFill>
              </a:ln>
            </p:spPr>
          </p:sp>
        </p:grpSp>
        <p:sp>
          <p:nvSpPr>
            <p:cNvPr id="16" name="TextBox 16"/>
            <p:cNvSpPr txBox="1"/>
            <p:nvPr/>
          </p:nvSpPr>
          <p:spPr>
            <a:xfrm>
              <a:off x="1070610" y="18611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需求洞察</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17" name="Ellipse 17"/>
            <p:cNvSpPr/>
            <p:nvPr/>
          </p:nvSpPr>
          <p:spPr>
            <a:xfrm>
              <a:off x="733425" y="2428875"/>
              <a:ext cx="57150" cy="57150"/>
            </a:xfrm>
            <a:prstGeom prst="ellipse">
              <a:avLst/>
            </a:prstGeom>
            <a:solidFill>
              <a:srgbClr val="246BFE"/>
            </a:solidFill>
            <a:ln>
              <a:noFill/>
            </a:ln>
          </p:spPr>
        </p:sp>
        <p:sp>
          <p:nvSpPr>
            <p:cNvPr id="18" name="TextBox 18"/>
            <p:cNvSpPr txBox="1"/>
            <p:nvPr/>
          </p:nvSpPr>
          <p:spPr>
            <a:xfrm>
              <a:off x="882015" y="2382202"/>
              <a:ext cx="142684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客户需求与关注点提取</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19" name="Ellipse 19"/>
            <p:cNvSpPr/>
            <p:nvPr/>
          </p:nvSpPr>
          <p:spPr>
            <a:xfrm>
              <a:off x="733425" y="2828925"/>
              <a:ext cx="57150" cy="57150"/>
            </a:xfrm>
            <a:prstGeom prst="ellipse">
              <a:avLst/>
            </a:prstGeom>
            <a:solidFill>
              <a:srgbClr val="246BFE"/>
            </a:solidFill>
            <a:ln>
              <a:noFill/>
            </a:ln>
          </p:spPr>
        </p:sp>
        <p:sp>
          <p:nvSpPr>
            <p:cNvPr id="20" name="TextBox 20"/>
            <p:cNvSpPr txBox="1"/>
            <p:nvPr/>
          </p:nvSpPr>
          <p:spPr>
            <a:xfrm>
              <a:off x="882015" y="2782252"/>
              <a:ext cx="1377839"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楼宇出售/易主/招商/</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882015" y="299180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物业更换商机识别</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2" name="Rectangle 22"/>
            <p:cNvSpPr/>
            <p:nvPr/>
          </p:nvSpPr>
          <p:spPr>
            <a:xfrm>
              <a:off x="762000" y="3286125"/>
              <a:ext cx="952500" cy="209550"/>
            </a:xfrm>
            <a:prstGeom prst="roundRect">
              <a:avLst>
                <a:gd name="adj" fmla="val 50000"/>
              </a:avLst>
            </a:prstGeom>
            <a:solidFill>
              <a:srgbClr val="246BFE">
                <a:alpha val="12000"/>
              </a:srgbClr>
            </a:solidFill>
            <a:ln>
              <a:noFill/>
            </a:ln>
          </p:spPr>
        </p:sp>
        <p:sp>
          <p:nvSpPr>
            <p:cNvPr id="23" name="TextBox 23"/>
            <p:cNvSpPr txBox="1"/>
            <p:nvPr/>
          </p:nvSpPr>
          <p:spPr>
            <a:xfrm>
              <a:off x="974788" y="3331845"/>
              <a:ext cx="526923" cy="182880"/>
            </a:xfrm>
            <a:prstGeom prst="rect">
              <a:avLst/>
            </a:prstGeom>
            <a:noFill/>
            <a:ln>
              <a:noFill/>
            </a:ln>
          </p:spPr>
          <p:txBody>
            <a:bodyPr wrap="none" lIns="0" tIns="0" rIns="0" bIns="0" anchor="t" anchorCtr="0">
              <a:spAutoFit/>
            </a:bodyPr>
            <a:lstStyle/>
            <a:p>
              <a:pPr algn="ctr"/>
              <a:r>
                <a:rPr lang="zh-CN" sz="900" b="1" dirty="0">
                  <a:solidFill>
                    <a:srgbClr val="246BFE"/>
                  </a:solidFill>
                  <a:latin typeface="Arial" panose="020B0604020202020204"/>
                  <a:ea typeface="微软雅黑" panose="020B0503020204020204" charset="-122"/>
                  <a:cs typeface="Arial" panose="020B0604020202020204"/>
                </a:rPr>
                <a:t>商机雷达</a:t>
              </a:r>
              <a:endParaRPr lang="zh-CN" sz="900" b="1" dirty="0">
                <a:solidFill>
                  <a:srgbClr val="246BFE"/>
                </a:solidFill>
                <a:latin typeface="Arial" panose="020B0604020202020204"/>
                <a:ea typeface="微软雅黑" panose="020B0503020204020204" charset="-122"/>
                <a:cs typeface="Arial" panose="020B0604020202020204"/>
              </a:endParaRPr>
            </a:p>
          </p:txBody>
        </p:sp>
      </p:grpSp>
      <p:grpSp>
        <p:nvGrpSpPr>
          <p:cNvPr id="40" name="Group 40"/>
          <p:cNvGrpSpPr/>
          <p:nvPr/>
        </p:nvGrpSpPr>
        <p:grpSpPr>
          <a:xfrm>
            <a:off x="3371850" y="1714500"/>
            <a:ext cx="2647950" cy="1905000"/>
            <a:chOff x="3371850" y="1714500"/>
            <a:chExt cx="2647950" cy="1905000"/>
          </a:xfrm>
        </p:grpSpPr>
        <p:sp>
          <p:nvSpPr>
            <p:cNvPr id="25" name="Rectangle 25"/>
            <p:cNvSpPr/>
            <p:nvPr/>
          </p:nvSpPr>
          <p:spPr>
            <a:xfrm>
              <a:off x="3371850" y="1714500"/>
              <a:ext cx="2647950" cy="1905000"/>
            </a:xfrm>
            <a:prstGeom prst="roundRect">
              <a:avLst>
                <a:gd name="adj" fmla="val 6000"/>
              </a:avLst>
            </a:prstGeom>
            <a:solidFill>
              <a:srgbClr val="F4F7FC"/>
            </a:solidFill>
            <a:ln>
              <a:noFill/>
            </a:ln>
          </p:spPr>
        </p:sp>
        <p:sp>
          <p:nvSpPr>
            <p:cNvPr id="26" name="Rectangle 26"/>
            <p:cNvSpPr/>
            <p:nvPr/>
          </p:nvSpPr>
          <p:spPr>
            <a:xfrm>
              <a:off x="3371850" y="1714500"/>
              <a:ext cx="2647950" cy="419100"/>
            </a:xfrm>
            <a:prstGeom prst="roundRect">
              <a:avLst>
                <a:gd name="adj" fmla="val 27273"/>
              </a:avLst>
            </a:prstGeom>
            <a:solidFill>
              <a:srgbClr val="0052A6"/>
            </a:solidFill>
            <a:ln>
              <a:noFill/>
            </a:ln>
          </p:spPr>
        </p:sp>
        <p:sp>
          <p:nvSpPr>
            <p:cNvPr id="27" name="Rectangle 27"/>
            <p:cNvSpPr/>
            <p:nvPr/>
          </p:nvSpPr>
          <p:spPr>
            <a:xfrm>
              <a:off x="3371850" y="2019300"/>
              <a:ext cx="2647950" cy="114300"/>
            </a:xfrm>
            <a:prstGeom prst="rect">
              <a:avLst/>
            </a:prstGeom>
            <a:solidFill>
              <a:srgbClr val="0052A6"/>
            </a:solidFill>
            <a:ln>
              <a:noFill/>
            </a:ln>
          </p:spPr>
        </p:sp>
        <p:grpSp>
          <p:nvGrpSpPr>
            <p:cNvPr id="31" name="Group 31"/>
            <p:cNvGrpSpPr/>
            <p:nvPr/>
          </p:nvGrpSpPr>
          <p:grpSpPr>
            <a:xfrm>
              <a:off x="3590925" y="1838325"/>
              <a:ext cx="171450" cy="171450"/>
              <a:chOff x="3590925" y="1838325"/>
              <a:chExt cx="171450" cy="171450"/>
            </a:xfrm>
          </p:grpSpPr>
          <p:sp>
            <p:nvSpPr>
              <p:cNvPr id="28" name="Freeform 28"/>
              <p:cNvSpPr/>
              <p:nvPr/>
            </p:nvSpPr>
            <p:spPr>
              <a:xfrm>
                <a:off x="3667125" y="1914525"/>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rgbClr val="FFFFFF"/>
                </a:solidFill>
              </a:ln>
            </p:spPr>
          </p:sp>
          <p:sp>
            <p:nvSpPr>
              <p:cNvPr id="29" name="Freeform 29"/>
              <p:cNvSpPr/>
              <p:nvPr/>
            </p:nvSpPr>
            <p:spPr>
              <a:xfrm>
                <a:off x="3629025" y="187642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FFFFFF"/>
                </a:solidFill>
              </a:ln>
            </p:spPr>
          </p:sp>
          <p:sp>
            <p:nvSpPr>
              <p:cNvPr id="30" name="Freeform 30"/>
              <p:cNvSpPr/>
              <p:nvPr/>
            </p:nvSpPr>
            <p:spPr>
              <a:xfrm>
                <a:off x="3590925" y="183832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FFFFFF"/>
                </a:solidFill>
              </a:ln>
            </p:spPr>
          </p:sp>
        </p:grpSp>
        <p:sp>
          <p:nvSpPr>
            <p:cNvPr id="32" name="TextBox 32"/>
            <p:cNvSpPr txBox="1"/>
            <p:nvPr/>
          </p:nvSpPr>
          <p:spPr>
            <a:xfrm>
              <a:off x="3870960" y="18611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意向判断</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33" name="Ellipse 33"/>
            <p:cNvSpPr/>
            <p:nvPr/>
          </p:nvSpPr>
          <p:spPr>
            <a:xfrm>
              <a:off x="3533775" y="2428875"/>
              <a:ext cx="57150" cy="57150"/>
            </a:xfrm>
            <a:prstGeom prst="ellipse">
              <a:avLst/>
            </a:prstGeom>
            <a:solidFill>
              <a:srgbClr val="0052A6"/>
            </a:solidFill>
            <a:ln>
              <a:noFill/>
            </a:ln>
          </p:spPr>
        </p:sp>
        <p:sp>
          <p:nvSpPr>
            <p:cNvPr id="34" name="TextBox 34"/>
            <p:cNvSpPr txBox="1"/>
            <p:nvPr/>
          </p:nvSpPr>
          <p:spPr>
            <a:xfrm>
              <a:off x="3682365" y="238220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客户意向强弱判断</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5" name="Ellipse 35"/>
            <p:cNvSpPr/>
            <p:nvPr/>
          </p:nvSpPr>
          <p:spPr>
            <a:xfrm>
              <a:off x="3533775" y="2828925"/>
              <a:ext cx="57150" cy="57150"/>
            </a:xfrm>
            <a:prstGeom prst="ellipse">
              <a:avLst/>
            </a:prstGeom>
            <a:solidFill>
              <a:srgbClr val="0052A6"/>
            </a:solidFill>
            <a:ln>
              <a:noFill/>
            </a:ln>
          </p:spPr>
        </p:sp>
        <p:sp>
          <p:nvSpPr>
            <p:cNvPr id="36" name="TextBox 36"/>
            <p:cNvSpPr txBox="1"/>
            <p:nvPr/>
          </p:nvSpPr>
          <p:spPr>
            <a:xfrm>
              <a:off x="3682365" y="2782252"/>
              <a:ext cx="1377839"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预算/时间/竞争对手/</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3682365" y="299180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决策人信息提取</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8" name="Rectangle 38"/>
            <p:cNvSpPr/>
            <p:nvPr/>
          </p:nvSpPr>
          <p:spPr>
            <a:xfrm>
              <a:off x="3562350" y="3286125"/>
              <a:ext cx="952500" cy="209550"/>
            </a:xfrm>
            <a:prstGeom prst="roundRect">
              <a:avLst>
                <a:gd name="adj" fmla="val 50000"/>
              </a:avLst>
            </a:prstGeom>
            <a:solidFill>
              <a:srgbClr val="0052A6">
                <a:alpha val="12000"/>
              </a:srgbClr>
            </a:solidFill>
            <a:ln>
              <a:noFill/>
            </a:ln>
          </p:spPr>
        </p:sp>
        <p:sp>
          <p:nvSpPr>
            <p:cNvPr id="39" name="TextBox 39"/>
            <p:cNvSpPr txBox="1"/>
            <p:nvPr/>
          </p:nvSpPr>
          <p:spPr>
            <a:xfrm>
              <a:off x="3775139" y="3331845"/>
              <a:ext cx="526923" cy="182880"/>
            </a:xfrm>
            <a:prstGeom prst="rect">
              <a:avLst/>
            </a:prstGeom>
            <a:noFill/>
            <a:ln>
              <a:noFill/>
            </a:ln>
          </p:spPr>
          <p:txBody>
            <a:bodyPr wrap="none" lIns="0" tIns="0" rIns="0" bIns="0" anchor="t" anchorCtr="0">
              <a:spAutoFit/>
            </a:bodyPr>
            <a:lstStyle/>
            <a:p>
              <a:pPr algn="ctr"/>
              <a:r>
                <a:rPr lang="zh-CN" sz="900" b="1" dirty="0">
                  <a:solidFill>
                    <a:srgbClr val="0052A6"/>
                  </a:solidFill>
                  <a:latin typeface="Arial" panose="020B0604020202020204"/>
                  <a:ea typeface="微软雅黑" panose="020B0503020204020204" charset="-122"/>
                  <a:cs typeface="Arial" panose="020B0604020202020204"/>
                </a:rPr>
                <a:t>真实需求</a:t>
              </a:r>
              <a:endParaRPr lang="zh-CN" sz="900" b="1" dirty="0">
                <a:solidFill>
                  <a:srgbClr val="0052A6"/>
                </a:solidFill>
                <a:latin typeface="Arial" panose="020B0604020202020204"/>
                <a:ea typeface="微软雅黑" panose="020B0503020204020204" charset="-122"/>
                <a:cs typeface="Arial" panose="020B0604020202020204"/>
              </a:endParaRPr>
            </a:p>
          </p:txBody>
        </p:sp>
      </p:grpSp>
      <p:grpSp>
        <p:nvGrpSpPr>
          <p:cNvPr id="58" name="Group 58"/>
          <p:cNvGrpSpPr/>
          <p:nvPr/>
        </p:nvGrpSpPr>
        <p:grpSpPr>
          <a:xfrm>
            <a:off x="6172200" y="1714500"/>
            <a:ext cx="2647950" cy="1905000"/>
            <a:chOff x="6172200" y="1714500"/>
            <a:chExt cx="2647950" cy="1905000"/>
          </a:xfrm>
        </p:grpSpPr>
        <p:sp>
          <p:nvSpPr>
            <p:cNvPr id="41" name="Rectangle 41"/>
            <p:cNvSpPr/>
            <p:nvPr/>
          </p:nvSpPr>
          <p:spPr>
            <a:xfrm>
              <a:off x="6172200" y="1714500"/>
              <a:ext cx="2647950" cy="1905000"/>
            </a:xfrm>
            <a:prstGeom prst="roundRect">
              <a:avLst>
                <a:gd name="adj" fmla="val 6000"/>
              </a:avLst>
            </a:prstGeom>
            <a:solidFill>
              <a:srgbClr val="F4F7FC"/>
            </a:solidFill>
            <a:ln>
              <a:noFill/>
            </a:ln>
          </p:spPr>
        </p:sp>
        <p:sp>
          <p:nvSpPr>
            <p:cNvPr id="42" name="Rectangle 42"/>
            <p:cNvSpPr/>
            <p:nvPr/>
          </p:nvSpPr>
          <p:spPr>
            <a:xfrm>
              <a:off x="6172200" y="1714500"/>
              <a:ext cx="2647950" cy="419100"/>
            </a:xfrm>
            <a:prstGeom prst="roundRect">
              <a:avLst>
                <a:gd name="adj" fmla="val 27273"/>
              </a:avLst>
            </a:prstGeom>
            <a:solidFill>
              <a:srgbClr val="F59E0B"/>
            </a:solidFill>
            <a:ln>
              <a:noFill/>
            </a:ln>
          </p:spPr>
        </p:sp>
        <p:sp>
          <p:nvSpPr>
            <p:cNvPr id="43" name="Rectangle 43"/>
            <p:cNvSpPr/>
            <p:nvPr/>
          </p:nvSpPr>
          <p:spPr>
            <a:xfrm>
              <a:off x="6172200" y="2019300"/>
              <a:ext cx="2647950" cy="114300"/>
            </a:xfrm>
            <a:prstGeom prst="rect">
              <a:avLst/>
            </a:prstGeom>
            <a:solidFill>
              <a:srgbClr val="F59E0B"/>
            </a:solidFill>
            <a:ln>
              <a:noFill/>
            </a:ln>
          </p:spPr>
        </p:sp>
        <p:grpSp>
          <p:nvGrpSpPr>
            <p:cNvPr id="48" name="Group 48"/>
            <p:cNvGrpSpPr/>
            <p:nvPr/>
          </p:nvGrpSpPr>
          <p:grpSpPr>
            <a:xfrm>
              <a:off x="6391275" y="1847850"/>
              <a:ext cx="171450" cy="161925"/>
              <a:chOff x="6391275" y="1847850"/>
              <a:chExt cx="171450" cy="161925"/>
            </a:xfrm>
          </p:grpSpPr>
          <p:sp>
            <p:nvSpPr>
              <p:cNvPr id="44" name="Freeform 44"/>
              <p:cNvSpPr/>
              <p:nvPr/>
            </p:nvSpPr>
            <p:spPr>
              <a:xfrm>
                <a:off x="6391275" y="1924050"/>
                <a:ext cx="57150" cy="76200"/>
              </a:xfrm>
              <a:custGeom>
                <a:avLst/>
                <a:gdLst/>
                <a:ahLst/>
                <a:cxnLst/>
                <a:rect l="l" t="t" r="r" b="b"/>
                <a:pathLst>
                  <a:path w="57150" h="76200">
                    <a:moveTo>
                      <a:pt x="0" y="9525"/>
                    </a:moveTo>
                    <a:cubicBezTo>
                      <a:pt x="0" y="4264"/>
                      <a:pt x="4264" y="0"/>
                      <a:pt x="9525" y="0"/>
                    </a:cubicBezTo>
                    <a:lnTo>
                      <a:pt x="47625" y="0"/>
                    </a:lnTo>
                    <a:cubicBezTo>
                      <a:pt x="52886" y="0"/>
                      <a:pt x="57150" y="4264"/>
                      <a:pt x="57150" y="9525"/>
                    </a:cubicBezTo>
                    <a:lnTo>
                      <a:pt x="57150" y="66675"/>
                    </a:lnTo>
                    <a:cubicBezTo>
                      <a:pt x="57150" y="71936"/>
                      <a:pt x="52886" y="76200"/>
                      <a:pt x="47625" y="76200"/>
                    </a:cubicBezTo>
                    <a:lnTo>
                      <a:pt x="9525" y="76200"/>
                    </a:lnTo>
                    <a:cubicBezTo>
                      <a:pt x="4264" y="76200"/>
                      <a:pt x="0" y="71936"/>
                      <a:pt x="0" y="66675"/>
                    </a:cubicBezTo>
                    <a:lnTo>
                      <a:pt x="0" y="9525"/>
                    </a:lnTo>
                  </a:path>
                </a:pathLst>
              </a:custGeom>
              <a:noFill/>
              <a:ln w="19050">
                <a:solidFill>
                  <a:srgbClr val="FFFFFF"/>
                </a:solidFill>
              </a:ln>
            </p:spPr>
          </p:sp>
          <p:sp>
            <p:nvSpPr>
              <p:cNvPr id="45" name="Freeform 45"/>
              <p:cNvSpPr/>
              <p:nvPr/>
            </p:nvSpPr>
            <p:spPr>
              <a:xfrm>
                <a:off x="6505575" y="1885950"/>
                <a:ext cx="57150" cy="114300"/>
              </a:xfrm>
              <a:custGeom>
                <a:avLst/>
                <a:gdLst/>
                <a:ahLst/>
                <a:cxnLst/>
                <a:rect l="l" t="t" r="r" b="b"/>
                <a:pathLst>
                  <a:path w="57150" h="114300">
                    <a:moveTo>
                      <a:pt x="0" y="9525"/>
                    </a:moveTo>
                    <a:cubicBezTo>
                      <a:pt x="0" y="4264"/>
                      <a:pt x="4264" y="0"/>
                      <a:pt x="9525" y="0"/>
                    </a:cubicBezTo>
                    <a:lnTo>
                      <a:pt x="47625" y="0"/>
                    </a:lnTo>
                    <a:cubicBezTo>
                      <a:pt x="52886" y="0"/>
                      <a:pt x="57150" y="4264"/>
                      <a:pt x="57150" y="9525"/>
                    </a:cubicBezTo>
                    <a:lnTo>
                      <a:pt x="57150" y="104775"/>
                    </a:lnTo>
                    <a:cubicBezTo>
                      <a:pt x="57150" y="110036"/>
                      <a:pt x="52886" y="114300"/>
                      <a:pt x="47625" y="114300"/>
                    </a:cubicBezTo>
                    <a:lnTo>
                      <a:pt x="9525" y="114300"/>
                    </a:lnTo>
                    <a:cubicBezTo>
                      <a:pt x="4264" y="114300"/>
                      <a:pt x="0" y="110036"/>
                      <a:pt x="0" y="104775"/>
                    </a:cubicBezTo>
                    <a:lnTo>
                      <a:pt x="0" y="9525"/>
                    </a:lnTo>
                  </a:path>
                </a:pathLst>
              </a:custGeom>
              <a:noFill/>
              <a:ln w="19050">
                <a:solidFill>
                  <a:srgbClr val="FFFFFF"/>
                </a:solidFill>
              </a:ln>
            </p:spPr>
          </p:sp>
          <p:sp>
            <p:nvSpPr>
              <p:cNvPr id="46" name="Freeform 46"/>
              <p:cNvSpPr/>
              <p:nvPr/>
            </p:nvSpPr>
            <p:spPr>
              <a:xfrm>
                <a:off x="6448425" y="1847850"/>
                <a:ext cx="57150" cy="152400"/>
              </a:xfrm>
              <a:custGeom>
                <a:avLst/>
                <a:gdLst/>
                <a:ahLst/>
                <a:cxnLst/>
                <a:rect l="l" t="t" r="r" b="b"/>
                <a:pathLst>
                  <a:path w="57150" h="152400">
                    <a:moveTo>
                      <a:pt x="0" y="9525"/>
                    </a:moveTo>
                    <a:cubicBezTo>
                      <a:pt x="0" y="4264"/>
                      <a:pt x="4264" y="0"/>
                      <a:pt x="9525" y="0"/>
                    </a:cubicBezTo>
                    <a:lnTo>
                      <a:pt x="47625" y="0"/>
                    </a:lnTo>
                    <a:cubicBezTo>
                      <a:pt x="52886" y="0"/>
                      <a:pt x="57150" y="4264"/>
                      <a:pt x="57150" y="9525"/>
                    </a:cubicBezTo>
                    <a:lnTo>
                      <a:pt x="57150" y="142875"/>
                    </a:lnTo>
                    <a:cubicBezTo>
                      <a:pt x="57150" y="148136"/>
                      <a:pt x="52886" y="152400"/>
                      <a:pt x="47625" y="152400"/>
                    </a:cubicBezTo>
                    <a:lnTo>
                      <a:pt x="9525" y="152400"/>
                    </a:lnTo>
                    <a:cubicBezTo>
                      <a:pt x="4264" y="152400"/>
                      <a:pt x="0" y="148136"/>
                      <a:pt x="0" y="142875"/>
                    </a:cubicBezTo>
                    <a:lnTo>
                      <a:pt x="0" y="9525"/>
                    </a:lnTo>
                  </a:path>
                </a:pathLst>
              </a:custGeom>
              <a:noFill/>
              <a:ln w="19050">
                <a:solidFill>
                  <a:srgbClr val="FFFFFF"/>
                </a:solidFill>
              </a:ln>
            </p:spPr>
          </p:sp>
          <p:sp>
            <p:nvSpPr>
              <p:cNvPr id="47" name="Freeform 47"/>
              <p:cNvSpPr/>
              <p:nvPr/>
            </p:nvSpPr>
            <p:spPr>
              <a:xfrm>
                <a:off x="6400800" y="2000250"/>
                <a:ext cx="133350" cy="9525"/>
              </a:xfrm>
              <a:custGeom>
                <a:avLst/>
                <a:gdLst/>
                <a:ahLst/>
                <a:cxnLst/>
                <a:rect l="l" t="t" r="r" b="b"/>
                <a:pathLst>
                  <a:path w="133350" h="9525">
                    <a:moveTo>
                      <a:pt x="0" y="0"/>
                    </a:moveTo>
                    <a:lnTo>
                      <a:pt x="133350" y="0"/>
                    </a:lnTo>
                  </a:path>
                </a:pathLst>
              </a:custGeom>
              <a:noFill/>
              <a:ln w="19050">
                <a:solidFill>
                  <a:srgbClr val="FFFFFF"/>
                </a:solidFill>
              </a:ln>
            </p:spPr>
          </p:sp>
        </p:grpSp>
        <p:sp>
          <p:nvSpPr>
            <p:cNvPr id="49" name="TextBox 49"/>
            <p:cNvSpPr txBox="1"/>
            <p:nvPr/>
          </p:nvSpPr>
          <p:spPr>
            <a:xfrm>
              <a:off x="6671310" y="18611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质量评估</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50" name="Ellipse 50"/>
            <p:cNvSpPr/>
            <p:nvPr/>
          </p:nvSpPr>
          <p:spPr>
            <a:xfrm>
              <a:off x="6334125" y="2428875"/>
              <a:ext cx="57150" cy="57150"/>
            </a:xfrm>
            <a:prstGeom prst="ellipse">
              <a:avLst/>
            </a:prstGeom>
            <a:solidFill>
              <a:srgbClr val="F59E0B"/>
            </a:solidFill>
            <a:ln>
              <a:noFill/>
            </a:ln>
          </p:spPr>
        </p:sp>
        <p:sp>
          <p:nvSpPr>
            <p:cNvPr id="51" name="TextBox 51"/>
            <p:cNvSpPr txBox="1"/>
            <p:nvPr/>
          </p:nvSpPr>
          <p:spPr>
            <a:xfrm>
              <a:off x="6482715" y="238220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销售话术使用分析</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2" name="Ellipse 52"/>
            <p:cNvSpPr/>
            <p:nvPr/>
          </p:nvSpPr>
          <p:spPr>
            <a:xfrm>
              <a:off x="6334125" y="2752725"/>
              <a:ext cx="57150" cy="57150"/>
            </a:xfrm>
            <a:prstGeom prst="ellipse">
              <a:avLst/>
            </a:prstGeom>
            <a:solidFill>
              <a:srgbClr val="F59E0B"/>
            </a:solidFill>
            <a:ln>
              <a:noFill/>
            </a:ln>
          </p:spPr>
        </p:sp>
        <p:sp>
          <p:nvSpPr>
            <p:cNvPr id="53" name="TextBox 53"/>
            <p:cNvSpPr txBox="1"/>
            <p:nvPr/>
          </p:nvSpPr>
          <p:spPr>
            <a:xfrm>
              <a:off x="6482715" y="270605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关键问题是否问全</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4" name="Ellipse 54"/>
            <p:cNvSpPr/>
            <p:nvPr/>
          </p:nvSpPr>
          <p:spPr>
            <a:xfrm>
              <a:off x="6334125" y="3057525"/>
              <a:ext cx="57150" cy="57150"/>
            </a:xfrm>
            <a:prstGeom prst="ellipse">
              <a:avLst/>
            </a:prstGeom>
            <a:solidFill>
              <a:srgbClr val="F59E0B"/>
            </a:solidFill>
            <a:ln>
              <a:noFill/>
            </a:ln>
          </p:spPr>
        </p:sp>
        <p:sp>
          <p:nvSpPr>
            <p:cNvPr id="55" name="TextBox 55"/>
            <p:cNvSpPr txBox="1"/>
            <p:nvPr/>
          </p:nvSpPr>
          <p:spPr>
            <a:xfrm>
              <a:off x="6482715" y="3010852"/>
              <a:ext cx="8667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沟通质量评分</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6" name="Rectangle 56"/>
            <p:cNvSpPr/>
            <p:nvPr/>
          </p:nvSpPr>
          <p:spPr>
            <a:xfrm>
              <a:off x="6362700" y="3286125"/>
              <a:ext cx="952500" cy="209550"/>
            </a:xfrm>
            <a:prstGeom prst="roundRect">
              <a:avLst>
                <a:gd name="adj" fmla="val 50000"/>
              </a:avLst>
            </a:prstGeom>
            <a:solidFill>
              <a:srgbClr val="F59E0B">
                <a:alpha val="14000"/>
              </a:srgbClr>
            </a:solidFill>
            <a:ln>
              <a:noFill/>
            </a:ln>
          </p:spPr>
        </p:sp>
        <p:sp>
          <p:nvSpPr>
            <p:cNvPr id="57" name="TextBox 57"/>
            <p:cNvSpPr txBox="1"/>
            <p:nvPr/>
          </p:nvSpPr>
          <p:spPr>
            <a:xfrm>
              <a:off x="6575488" y="3331845"/>
              <a:ext cx="526923" cy="182880"/>
            </a:xfrm>
            <a:prstGeom prst="rect">
              <a:avLst/>
            </a:prstGeom>
            <a:noFill/>
            <a:ln>
              <a:noFill/>
            </a:ln>
          </p:spPr>
          <p:txBody>
            <a:bodyPr wrap="none" lIns="0" tIns="0" rIns="0" bIns="0" anchor="t" anchorCtr="0">
              <a:spAutoFit/>
            </a:bodyPr>
            <a:lstStyle/>
            <a:p>
              <a:pPr algn="ctr"/>
              <a:r>
                <a:rPr lang="zh-CN" sz="900" b="1" dirty="0">
                  <a:solidFill>
                    <a:srgbClr val="F59E0B"/>
                  </a:solidFill>
                  <a:latin typeface="Arial" panose="020B0604020202020204"/>
                  <a:ea typeface="微软雅黑" panose="020B0503020204020204" charset="-122"/>
                  <a:cs typeface="Arial" panose="020B0604020202020204"/>
                </a:rPr>
                <a:t>质量标准</a:t>
              </a:r>
              <a:endParaRPr lang="zh-CN" sz="900" b="1" dirty="0">
                <a:solidFill>
                  <a:srgbClr val="F59E0B"/>
                </a:solidFill>
                <a:latin typeface="Arial" panose="020B0604020202020204"/>
                <a:ea typeface="微软雅黑" panose="020B0503020204020204" charset="-122"/>
                <a:cs typeface="Arial" panose="020B0604020202020204"/>
              </a:endParaRPr>
            </a:p>
          </p:txBody>
        </p:sp>
      </p:grpSp>
      <p:grpSp>
        <p:nvGrpSpPr>
          <p:cNvPr id="71" name="Group 71"/>
          <p:cNvGrpSpPr/>
          <p:nvPr/>
        </p:nvGrpSpPr>
        <p:grpSpPr>
          <a:xfrm>
            <a:off x="8972550" y="1714500"/>
            <a:ext cx="2647950" cy="1905000"/>
            <a:chOff x="8972550" y="1714500"/>
            <a:chExt cx="2647950" cy="1905000"/>
          </a:xfrm>
        </p:grpSpPr>
        <p:sp>
          <p:nvSpPr>
            <p:cNvPr id="59" name="Rectangle 59"/>
            <p:cNvSpPr/>
            <p:nvPr/>
          </p:nvSpPr>
          <p:spPr>
            <a:xfrm>
              <a:off x="8972550" y="1714500"/>
              <a:ext cx="2647950" cy="1905000"/>
            </a:xfrm>
            <a:prstGeom prst="roundRect">
              <a:avLst>
                <a:gd name="adj" fmla="val 6000"/>
              </a:avLst>
            </a:prstGeom>
            <a:solidFill>
              <a:srgbClr val="F4F7FC"/>
            </a:solidFill>
            <a:ln>
              <a:noFill/>
            </a:ln>
          </p:spPr>
        </p:sp>
        <p:sp>
          <p:nvSpPr>
            <p:cNvPr id="60" name="Rectangle 60"/>
            <p:cNvSpPr/>
            <p:nvPr/>
          </p:nvSpPr>
          <p:spPr>
            <a:xfrm>
              <a:off x="8972550" y="1714500"/>
              <a:ext cx="2647950" cy="419100"/>
            </a:xfrm>
            <a:prstGeom prst="roundRect">
              <a:avLst>
                <a:gd name="adj" fmla="val 27273"/>
              </a:avLst>
            </a:prstGeom>
            <a:solidFill>
              <a:srgbClr val="0E9F6E"/>
            </a:solidFill>
            <a:ln>
              <a:noFill/>
            </a:ln>
          </p:spPr>
        </p:sp>
        <p:sp>
          <p:nvSpPr>
            <p:cNvPr id="61" name="Rectangle 61"/>
            <p:cNvSpPr/>
            <p:nvPr/>
          </p:nvSpPr>
          <p:spPr>
            <a:xfrm>
              <a:off x="8972550" y="2019300"/>
              <a:ext cx="2647950" cy="114300"/>
            </a:xfrm>
            <a:prstGeom prst="rect">
              <a:avLst/>
            </a:prstGeom>
            <a:solidFill>
              <a:srgbClr val="0E9F6E"/>
            </a:solidFill>
            <a:ln>
              <a:noFill/>
            </a:ln>
          </p:spPr>
        </p:sp>
        <p:sp>
          <p:nvSpPr>
            <p:cNvPr id="62" name="Freeform 62"/>
            <p:cNvSpPr/>
            <p:nvPr/>
          </p:nvSpPr>
          <p:spPr>
            <a:xfrm>
              <a:off x="9182167" y="1828819"/>
              <a:ext cx="190233" cy="180908"/>
            </a:xfrm>
            <a:custGeom>
              <a:avLst/>
              <a:gdLst/>
              <a:ahLst/>
              <a:cxnLst/>
              <a:rect l="l" t="t" r="r" b="b"/>
              <a:pathLst>
                <a:path w="190233" h="180908">
                  <a:moveTo>
                    <a:pt x="95183" y="150000"/>
                  </a:moveTo>
                  <a:lnTo>
                    <a:pt x="36395" y="180908"/>
                  </a:lnTo>
                  <a:lnTo>
                    <a:pt x="47625" y="115443"/>
                  </a:lnTo>
                  <a:lnTo>
                    <a:pt x="0" y="69085"/>
                  </a:lnTo>
                  <a:lnTo>
                    <a:pt x="65723" y="59560"/>
                  </a:lnTo>
                  <a:lnTo>
                    <a:pt x="95117" y="0"/>
                  </a:lnTo>
                  <a:lnTo>
                    <a:pt x="124511" y="59560"/>
                  </a:lnTo>
                  <a:lnTo>
                    <a:pt x="190233" y="69085"/>
                  </a:lnTo>
                  <a:lnTo>
                    <a:pt x="142608" y="115443"/>
                  </a:lnTo>
                  <a:lnTo>
                    <a:pt x="153838" y="180908"/>
                  </a:lnTo>
                  <a:lnTo>
                    <a:pt x="95183" y="150000"/>
                  </a:lnTo>
                </a:path>
              </a:pathLst>
            </a:custGeom>
            <a:noFill/>
            <a:ln w="19050">
              <a:solidFill>
                <a:srgbClr val="FFFFFF"/>
              </a:solidFill>
            </a:ln>
          </p:spPr>
        </p:sp>
        <p:sp>
          <p:nvSpPr>
            <p:cNvPr id="63" name="TextBox 63"/>
            <p:cNvSpPr txBox="1"/>
            <p:nvPr/>
          </p:nvSpPr>
          <p:spPr>
            <a:xfrm>
              <a:off x="9471660" y="1861185"/>
              <a:ext cx="87058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合规与沉淀</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64" name="Ellipse 64"/>
            <p:cNvSpPr/>
            <p:nvPr/>
          </p:nvSpPr>
          <p:spPr>
            <a:xfrm>
              <a:off x="9134475" y="2428875"/>
              <a:ext cx="57150" cy="57150"/>
            </a:xfrm>
            <a:prstGeom prst="ellipse">
              <a:avLst/>
            </a:prstGeom>
            <a:solidFill>
              <a:srgbClr val="0E9F6E"/>
            </a:solidFill>
            <a:ln>
              <a:noFill/>
            </a:ln>
          </p:spPr>
        </p:sp>
        <p:sp>
          <p:nvSpPr>
            <p:cNvPr id="65" name="TextBox 65"/>
            <p:cNvSpPr txBox="1"/>
            <p:nvPr/>
          </p:nvSpPr>
          <p:spPr>
            <a:xfrm>
              <a:off x="9283065" y="2382202"/>
              <a:ext cx="1300829"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风险词/承诺/不规范</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6" name="TextBox 66"/>
            <p:cNvSpPr txBox="1"/>
            <p:nvPr/>
          </p:nvSpPr>
          <p:spPr>
            <a:xfrm>
              <a:off x="9283065" y="2591752"/>
              <a:ext cx="58674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话术识别</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7" name="Ellipse 67"/>
            <p:cNvSpPr/>
            <p:nvPr/>
          </p:nvSpPr>
          <p:spPr>
            <a:xfrm>
              <a:off x="9134475" y="2943225"/>
              <a:ext cx="57150" cy="57150"/>
            </a:xfrm>
            <a:prstGeom prst="ellipse">
              <a:avLst/>
            </a:prstGeom>
            <a:solidFill>
              <a:srgbClr val="0E9F6E"/>
            </a:solidFill>
            <a:ln>
              <a:noFill/>
            </a:ln>
          </p:spPr>
        </p:sp>
        <p:sp>
          <p:nvSpPr>
            <p:cNvPr id="68" name="TextBox 68"/>
            <p:cNvSpPr txBox="1"/>
            <p:nvPr/>
          </p:nvSpPr>
          <p:spPr>
            <a:xfrm>
              <a:off x="9283065" y="2896552"/>
              <a:ext cx="150385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优秀话术沉淀+案例推荐</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9" name="Ellipse 69"/>
            <p:cNvSpPr/>
            <p:nvPr/>
          </p:nvSpPr>
          <p:spPr>
            <a:xfrm>
              <a:off x="9134475" y="3248025"/>
              <a:ext cx="57150" cy="57150"/>
            </a:xfrm>
            <a:prstGeom prst="ellipse">
              <a:avLst/>
            </a:prstGeom>
            <a:solidFill>
              <a:srgbClr val="0E9F6E"/>
            </a:solidFill>
            <a:ln>
              <a:noFill/>
            </a:ln>
          </p:spPr>
        </p:sp>
        <p:sp>
          <p:nvSpPr>
            <p:cNvPr id="70" name="TextBox 70"/>
            <p:cNvSpPr txBox="1"/>
            <p:nvPr/>
          </p:nvSpPr>
          <p:spPr>
            <a:xfrm>
              <a:off x="9283065" y="3201352"/>
              <a:ext cx="122382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自动纪要+跟进建议</a:t>
              </a:r>
              <a:endParaRPr lang="zh-CN" sz="1050" dirty="0">
                <a:solidFill>
                  <a:srgbClr val="25364A"/>
                </a:solidFill>
                <a:latin typeface="Arial" panose="020B0604020202020204"/>
                <a:ea typeface="微软雅黑" panose="020B0503020204020204" charset="-122"/>
                <a:cs typeface="Arial" panose="020B0604020202020204"/>
              </a:endParaRPr>
            </a:p>
          </p:txBody>
        </p:sp>
      </p:grpSp>
      <p:grpSp>
        <p:nvGrpSpPr>
          <p:cNvPr id="74" name="Group 74"/>
          <p:cNvGrpSpPr/>
          <p:nvPr/>
        </p:nvGrpSpPr>
        <p:grpSpPr>
          <a:xfrm>
            <a:off x="571500" y="3810000"/>
            <a:ext cx="11049000" cy="533400"/>
            <a:chOff x="571500" y="3810000"/>
            <a:chExt cx="11049000" cy="533400"/>
          </a:xfrm>
        </p:grpSpPr>
        <p:sp>
          <p:nvSpPr>
            <p:cNvPr id="72" name="Rectangle 72"/>
            <p:cNvSpPr/>
            <p:nvPr/>
          </p:nvSpPr>
          <p:spPr>
            <a:xfrm>
              <a:off x="571500" y="3810000"/>
              <a:ext cx="11049000" cy="533400"/>
            </a:xfrm>
            <a:prstGeom prst="roundRect">
              <a:avLst>
                <a:gd name="adj" fmla="val 17857"/>
              </a:avLst>
            </a:prstGeom>
            <a:solidFill>
              <a:srgbClr val="17365D"/>
            </a:solidFill>
            <a:ln>
              <a:noFill/>
            </a:ln>
          </p:spPr>
        </p:sp>
        <p:sp>
          <p:nvSpPr>
            <p:cNvPr id="73" name="TextBox 73"/>
            <p:cNvSpPr txBox="1"/>
            <p:nvPr/>
          </p:nvSpPr>
          <p:spPr>
            <a:xfrm>
              <a:off x="2756765" y="3997642"/>
              <a:ext cx="6678470"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panose="020B0604020202020204"/>
                  <a:ea typeface="微软雅黑" panose="020B0503020204020204" charset="-122"/>
                  <a:cs typeface="Arial" panose="020B0604020202020204"/>
                </a:rPr>
                <a:t>10 大分析维度 —— 需求洞察(2) · 意向判断(2) · 质量评估(3) · 合规与沉淀(3)</a:t>
              </a:r>
              <a:endParaRPr lang="zh-CN" sz="1350" b="1" dirty="0">
                <a:solidFill>
                  <a:srgbClr val="FFFFFF"/>
                </a:solidFill>
                <a:latin typeface="Arial" panose="020B0604020202020204"/>
                <a:ea typeface="微软雅黑" panose="020B0503020204020204" charset="-122"/>
                <a:cs typeface="Arial" panose="020B0604020202020204"/>
              </a:endParaRPr>
            </a:p>
          </p:txBody>
        </p:sp>
      </p:grpSp>
      <p:grpSp>
        <p:nvGrpSpPr>
          <p:cNvPr id="90" name="Group 90"/>
          <p:cNvGrpSpPr/>
          <p:nvPr/>
        </p:nvGrpSpPr>
        <p:grpSpPr>
          <a:xfrm>
            <a:off x="558165" y="4601528"/>
            <a:ext cx="11062335" cy="1494472"/>
            <a:chOff x="558165" y="4601528"/>
            <a:chExt cx="11062335" cy="1494472"/>
          </a:xfrm>
        </p:grpSpPr>
        <p:sp>
          <p:nvSpPr>
            <p:cNvPr id="75" name="TextBox 75"/>
            <p:cNvSpPr txBox="1"/>
            <p:nvPr/>
          </p:nvSpPr>
          <p:spPr>
            <a:xfrm>
              <a:off x="558165" y="4601528"/>
              <a:ext cx="2290753" cy="213360"/>
            </a:xfrm>
            <a:prstGeom prst="rect">
              <a:avLst/>
            </a:prstGeom>
            <a:noFill/>
            <a:ln>
              <a:noFill/>
            </a:ln>
          </p:spPr>
          <p:txBody>
            <a:bodyPr wrap="none" lIns="0" tIns="0" rIns="0" bIns="0" anchor="t" anchorCtr="0">
              <a:spAutoFit/>
            </a:bodyPr>
            <a:lstStyle/>
            <a:p>
              <a:pPr algn="l"/>
              <a:r>
                <a:rPr lang="zh-CN" sz="1050" b="1" dirty="0">
                  <a:solidFill>
                    <a:srgbClr val="246BFE"/>
                  </a:solidFill>
                  <a:latin typeface="Arial" panose="020B0604020202020204"/>
                  <a:ea typeface="微软雅黑" panose="020B0503020204020204" charset="-122"/>
                  <a:cs typeface="Arial" panose="020B0604020202020204"/>
                </a:rPr>
                <a:t>客户档案联动 · DATA INTEGRATION</a:t>
              </a:r>
              <a:endParaRPr lang="zh-CN" sz="1050" b="1" dirty="0">
                <a:solidFill>
                  <a:srgbClr val="246BFE"/>
                </a:solidFill>
                <a:latin typeface="Arial" panose="020B0604020202020204"/>
                <a:ea typeface="微软雅黑" panose="020B0503020204020204" charset="-122"/>
                <a:cs typeface="Arial" panose="020B0604020202020204"/>
              </a:endParaRPr>
            </a:p>
          </p:txBody>
        </p:sp>
        <p:sp>
          <p:nvSpPr>
            <p:cNvPr id="76" name="Rectangle 76"/>
            <p:cNvSpPr/>
            <p:nvPr/>
          </p:nvSpPr>
          <p:spPr>
            <a:xfrm>
              <a:off x="571500" y="4857750"/>
              <a:ext cx="5429250" cy="1238250"/>
            </a:xfrm>
            <a:prstGeom prst="roundRect">
              <a:avLst>
                <a:gd name="adj" fmla="val 9231"/>
              </a:avLst>
            </a:prstGeom>
            <a:solidFill>
              <a:srgbClr val="F4F7FC"/>
            </a:solidFill>
            <a:ln>
              <a:noFill/>
            </a:ln>
          </p:spPr>
        </p:sp>
        <p:sp>
          <p:nvSpPr>
            <p:cNvPr id="77" name="Freeform 77"/>
            <p:cNvSpPr/>
            <p:nvPr/>
          </p:nvSpPr>
          <p:spPr>
            <a:xfrm>
              <a:off x="835819" y="5114925"/>
              <a:ext cx="202406" cy="202406"/>
            </a:xfrm>
            <a:custGeom>
              <a:avLst/>
              <a:gdLst/>
              <a:ahLst/>
              <a:cxnLst/>
              <a:rect l="l" t="t" r="r" b="b"/>
              <a:pathLst>
                <a:path w="202406" h="202406">
                  <a:moveTo>
                    <a:pt x="23812" y="0"/>
                  </a:moveTo>
                  <a:lnTo>
                    <a:pt x="71438" y="0"/>
                  </a:lnTo>
                  <a:lnTo>
                    <a:pt x="95250" y="59531"/>
                  </a:lnTo>
                  <a:lnTo>
                    <a:pt x="65484" y="77391"/>
                  </a:lnTo>
                  <a:cubicBezTo>
                    <a:pt x="78235" y="103245"/>
                    <a:pt x="99161" y="124171"/>
                    <a:pt x="125016" y="136922"/>
                  </a:cubicBezTo>
                  <a:lnTo>
                    <a:pt x="142875" y="107156"/>
                  </a:lnTo>
                  <a:lnTo>
                    <a:pt x="202406" y="130969"/>
                  </a:lnTo>
                  <a:lnTo>
                    <a:pt x="202406" y="178594"/>
                  </a:lnTo>
                  <a:cubicBezTo>
                    <a:pt x="202406" y="191745"/>
                    <a:pt x="191745" y="202406"/>
                    <a:pt x="178594" y="202406"/>
                  </a:cubicBezTo>
                  <a:cubicBezTo>
                    <a:pt x="82482" y="196566"/>
                    <a:pt x="5841" y="119924"/>
                    <a:pt x="0" y="23812"/>
                  </a:cubicBezTo>
                  <a:cubicBezTo>
                    <a:pt x="0" y="10661"/>
                    <a:pt x="10661" y="0"/>
                    <a:pt x="23812" y="0"/>
                  </a:cubicBezTo>
                </a:path>
              </a:pathLst>
            </a:custGeom>
            <a:noFill/>
            <a:ln w="19050">
              <a:solidFill>
                <a:srgbClr val="246BFE"/>
              </a:solidFill>
            </a:ln>
          </p:spPr>
        </p:sp>
        <p:sp>
          <p:nvSpPr>
            <p:cNvPr id="78" name="TextBox 78"/>
            <p:cNvSpPr txBox="1"/>
            <p:nvPr/>
          </p:nvSpPr>
          <p:spPr>
            <a:xfrm>
              <a:off x="1165860" y="5147310"/>
              <a:ext cx="1231830" cy="243840"/>
            </a:xfrm>
            <a:prstGeom prst="rect">
              <a:avLst/>
            </a:prstGeom>
            <a:noFill/>
            <a:ln>
              <a:noFill/>
            </a:ln>
          </p:spPr>
          <p:txBody>
            <a:bodyPr wrap="none" lIns="0" tIns="0" rIns="0" bIns="0" anchor="t" anchorCtr="0">
              <a:spAutoFit/>
            </a:bodyPr>
            <a:lstStyle/>
            <a:p>
              <a:pPr algn="l"/>
              <a:r>
                <a:rPr lang="zh-CN" sz="1200" b="1" dirty="0">
                  <a:solidFill>
                    <a:srgbClr val="17365D"/>
                  </a:solidFill>
                  <a:latin typeface="Arial" panose="020B0604020202020204"/>
                  <a:ea typeface="微软雅黑" panose="020B0503020204020204" charset="-122"/>
                  <a:cs typeface="Arial" panose="020B0604020202020204"/>
                </a:rPr>
                <a:t>录音 → 客户档案</a:t>
              </a:r>
              <a:endParaRPr lang="zh-CN" sz="1200" b="1" dirty="0">
                <a:solidFill>
                  <a:srgbClr val="17365D"/>
                </a:solidFill>
                <a:latin typeface="Arial" panose="020B0604020202020204"/>
                <a:ea typeface="微软雅黑" panose="020B0503020204020204" charset="-122"/>
                <a:cs typeface="Arial" panose="020B0604020202020204"/>
              </a:endParaRPr>
            </a:p>
          </p:txBody>
        </p:sp>
        <p:sp>
          <p:nvSpPr>
            <p:cNvPr id="79" name="TextBox 79"/>
            <p:cNvSpPr txBox="1"/>
            <p:nvPr/>
          </p:nvSpPr>
          <p:spPr>
            <a:xfrm>
              <a:off x="786765" y="5506402"/>
              <a:ext cx="2154936"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自动关联客户/项目/联系人/销售,</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0" name="TextBox 80"/>
            <p:cNvSpPr txBox="1"/>
            <p:nvPr/>
          </p:nvSpPr>
          <p:spPr>
            <a:xfrm>
              <a:off x="786765" y="5735002"/>
              <a:ext cx="230895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把录音信息 </a:t>
              </a:r>
              <a:r>
                <a:rPr lang="zh-CN" sz="1050" b="1" dirty="0">
                  <a:solidFill>
                    <a:srgbClr val="0052A6"/>
                  </a:solidFill>
                  <a:latin typeface="Arial" panose="020B0604020202020204"/>
                  <a:ea typeface="微软雅黑" panose="020B0503020204020204" charset="-122"/>
                  <a:cs typeface="Arial" panose="020B0604020202020204"/>
                </a:rPr>
                <a:t>补入客户档案与决策链</a:t>
              </a:r>
              <a:r>
                <a:rPr lang="zh-CN" sz="1050" dirty="0">
                  <a:solidFill>
                    <a:srgbClr val="25364A"/>
                  </a:solidFill>
                  <a:latin typeface="Arial" panose="020B0604020202020204"/>
                  <a:ea typeface="微软雅黑" panose="020B0503020204020204" charset="-122"/>
                  <a:cs typeface="Arial" panose="020B0604020202020204"/>
                </a:rPr>
                <a:t>。</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1" name="Rectangle 81"/>
            <p:cNvSpPr/>
            <p:nvPr/>
          </p:nvSpPr>
          <p:spPr>
            <a:xfrm>
              <a:off x="6191250" y="4857750"/>
              <a:ext cx="5429250" cy="1238250"/>
            </a:xfrm>
            <a:prstGeom prst="roundRect">
              <a:avLst>
                <a:gd name="adj" fmla="val 9231"/>
              </a:avLst>
            </a:prstGeom>
            <a:solidFill>
              <a:srgbClr val="0E9F6E"/>
            </a:solidFill>
            <a:ln>
              <a:noFill/>
            </a:ln>
          </p:spPr>
        </p:sp>
        <p:grpSp>
          <p:nvGrpSpPr>
            <p:cNvPr id="86" name="Group 86"/>
            <p:cNvGrpSpPr/>
            <p:nvPr/>
          </p:nvGrpSpPr>
          <p:grpSpPr>
            <a:xfrm>
              <a:off x="6455569" y="5114925"/>
              <a:ext cx="214313" cy="200025"/>
              <a:chOff x="6455569" y="5114925"/>
              <a:chExt cx="214313" cy="200025"/>
            </a:xfrm>
          </p:grpSpPr>
          <p:sp>
            <p:nvSpPr>
              <p:cNvPr id="82" name="Freeform 82"/>
              <p:cNvSpPr/>
              <p:nvPr/>
            </p:nvSpPr>
            <p:spPr>
              <a:xfrm>
                <a:off x="6455569" y="5210175"/>
                <a:ext cx="71438" cy="95250"/>
              </a:xfrm>
              <a:custGeom>
                <a:avLst/>
                <a:gdLst/>
                <a:ahLst/>
                <a:cxnLst/>
                <a:rect l="l" t="t" r="r" b="b"/>
                <a:pathLst>
                  <a:path w="71438" h="95250">
                    <a:moveTo>
                      <a:pt x="0" y="11906"/>
                    </a:moveTo>
                    <a:cubicBezTo>
                      <a:pt x="0" y="5331"/>
                      <a:pt x="5331" y="0"/>
                      <a:pt x="11906" y="0"/>
                    </a:cubicBezTo>
                    <a:lnTo>
                      <a:pt x="59531" y="0"/>
                    </a:lnTo>
                    <a:cubicBezTo>
                      <a:pt x="66107" y="0"/>
                      <a:pt x="71438" y="5331"/>
                      <a:pt x="71438" y="11906"/>
                    </a:cubicBezTo>
                    <a:lnTo>
                      <a:pt x="71438" y="83344"/>
                    </a:lnTo>
                    <a:cubicBezTo>
                      <a:pt x="71438" y="89919"/>
                      <a:pt x="66107" y="95250"/>
                      <a:pt x="59531" y="95250"/>
                    </a:cubicBezTo>
                    <a:lnTo>
                      <a:pt x="11906" y="95250"/>
                    </a:lnTo>
                    <a:cubicBezTo>
                      <a:pt x="5331" y="95250"/>
                      <a:pt x="0" y="89919"/>
                      <a:pt x="0" y="83344"/>
                    </a:cubicBezTo>
                    <a:lnTo>
                      <a:pt x="0" y="11906"/>
                    </a:lnTo>
                  </a:path>
                </a:pathLst>
              </a:custGeom>
              <a:noFill/>
              <a:ln w="19050">
                <a:solidFill>
                  <a:srgbClr val="FFFFFF"/>
                </a:solidFill>
              </a:ln>
            </p:spPr>
          </p:sp>
          <p:sp>
            <p:nvSpPr>
              <p:cNvPr id="83" name="Freeform 83"/>
              <p:cNvSpPr/>
              <p:nvPr/>
            </p:nvSpPr>
            <p:spPr>
              <a:xfrm>
                <a:off x="6598444" y="5162550"/>
                <a:ext cx="71438" cy="142875"/>
              </a:xfrm>
              <a:custGeom>
                <a:avLst/>
                <a:gdLst/>
                <a:ahLst/>
                <a:cxnLst/>
                <a:rect l="l" t="t" r="r" b="b"/>
                <a:pathLst>
                  <a:path w="71438" h="142875">
                    <a:moveTo>
                      <a:pt x="0" y="11906"/>
                    </a:moveTo>
                    <a:cubicBezTo>
                      <a:pt x="0" y="5331"/>
                      <a:pt x="5331" y="0"/>
                      <a:pt x="11906" y="0"/>
                    </a:cubicBezTo>
                    <a:lnTo>
                      <a:pt x="59531" y="0"/>
                    </a:lnTo>
                    <a:cubicBezTo>
                      <a:pt x="66107" y="0"/>
                      <a:pt x="71438" y="5331"/>
                      <a:pt x="71438" y="11906"/>
                    </a:cubicBezTo>
                    <a:lnTo>
                      <a:pt x="71438" y="130969"/>
                    </a:lnTo>
                    <a:cubicBezTo>
                      <a:pt x="71438" y="137544"/>
                      <a:pt x="66107" y="142875"/>
                      <a:pt x="59531" y="142875"/>
                    </a:cubicBezTo>
                    <a:lnTo>
                      <a:pt x="11906" y="142875"/>
                    </a:lnTo>
                    <a:cubicBezTo>
                      <a:pt x="5331" y="142875"/>
                      <a:pt x="0" y="137544"/>
                      <a:pt x="0" y="130969"/>
                    </a:cubicBezTo>
                    <a:lnTo>
                      <a:pt x="0" y="11906"/>
                    </a:lnTo>
                  </a:path>
                </a:pathLst>
              </a:custGeom>
              <a:noFill/>
              <a:ln w="19050">
                <a:solidFill>
                  <a:srgbClr val="FFFFFF"/>
                </a:solidFill>
              </a:ln>
            </p:spPr>
          </p:sp>
          <p:sp>
            <p:nvSpPr>
              <p:cNvPr id="84" name="Freeform 84"/>
              <p:cNvSpPr/>
              <p:nvPr/>
            </p:nvSpPr>
            <p:spPr>
              <a:xfrm>
                <a:off x="6527006" y="5114925"/>
                <a:ext cx="71438" cy="190500"/>
              </a:xfrm>
              <a:custGeom>
                <a:avLst/>
                <a:gdLst/>
                <a:ahLst/>
                <a:cxnLst/>
                <a:rect l="l" t="t" r="r" b="b"/>
                <a:pathLst>
                  <a:path w="71438" h="190500">
                    <a:moveTo>
                      <a:pt x="0" y="11906"/>
                    </a:moveTo>
                    <a:cubicBezTo>
                      <a:pt x="0" y="5331"/>
                      <a:pt x="5331" y="0"/>
                      <a:pt x="11906" y="0"/>
                    </a:cubicBezTo>
                    <a:lnTo>
                      <a:pt x="59531" y="0"/>
                    </a:lnTo>
                    <a:cubicBezTo>
                      <a:pt x="66107" y="0"/>
                      <a:pt x="71438" y="5331"/>
                      <a:pt x="71438" y="11906"/>
                    </a:cubicBezTo>
                    <a:lnTo>
                      <a:pt x="71438" y="178594"/>
                    </a:lnTo>
                    <a:cubicBezTo>
                      <a:pt x="71438" y="185169"/>
                      <a:pt x="66107" y="190500"/>
                      <a:pt x="59531" y="190500"/>
                    </a:cubicBezTo>
                    <a:lnTo>
                      <a:pt x="11906" y="190500"/>
                    </a:lnTo>
                    <a:cubicBezTo>
                      <a:pt x="5331" y="190500"/>
                      <a:pt x="0" y="185169"/>
                      <a:pt x="0" y="178594"/>
                    </a:cubicBezTo>
                    <a:lnTo>
                      <a:pt x="0" y="11906"/>
                    </a:lnTo>
                  </a:path>
                </a:pathLst>
              </a:custGeom>
              <a:noFill/>
              <a:ln w="19050">
                <a:solidFill>
                  <a:srgbClr val="FFFFFF"/>
                </a:solidFill>
              </a:ln>
            </p:spPr>
          </p:sp>
          <p:sp>
            <p:nvSpPr>
              <p:cNvPr id="85" name="Freeform 85"/>
              <p:cNvSpPr/>
              <p:nvPr/>
            </p:nvSpPr>
            <p:spPr>
              <a:xfrm>
                <a:off x="6467475" y="5305425"/>
                <a:ext cx="166688" cy="9525"/>
              </a:xfrm>
              <a:custGeom>
                <a:avLst/>
                <a:gdLst/>
                <a:ahLst/>
                <a:cxnLst/>
                <a:rect l="l" t="t" r="r" b="b"/>
                <a:pathLst>
                  <a:path w="166688" h="9525">
                    <a:moveTo>
                      <a:pt x="0" y="0"/>
                    </a:moveTo>
                    <a:lnTo>
                      <a:pt x="166688" y="0"/>
                    </a:lnTo>
                  </a:path>
                </a:pathLst>
              </a:custGeom>
              <a:noFill/>
              <a:ln w="19050">
                <a:solidFill>
                  <a:srgbClr val="FFFFFF"/>
                </a:solidFill>
              </a:ln>
            </p:spPr>
          </p:sp>
        </p:grpSp>
        <p:sp>
          <p:nvSpPr>
            <p:cNvPr id="87" name="TextBox 87"/>
            <p:cNvSpPr txBox="1"/>
            <p:nvPr/>
          </p:nvSpPr>
          <p:spPr>
            <a:xfrm>
              <a:off x="6785610" y="5147310"/>
              <a:ext cx="887387"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价值(预估)</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88" name="TextBox 88"/>
            <p:cNvSpPr txBox="1"/>
            <p:nvPr/>
          </p:nvSpPr>
          <p:spPr>
            <a:xfrm>
              <a:off x="6405562" y="5498306"/>
              <a:ext cx="311146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录音分析覆盖率 </a:t>
              </a:r>
              <a:r>
                <a:rPr lang="zh-CN" sz="1125" b="1" dirty="0">
                  <a:solidFill>
                    <a:srgbClr val="FFFFFF"/>
                  </a:solidFill>
                  <a:latin typeface="Arial" panose="020B0604020202020204"/>
                  <a:ea typeface="微软雅黑" panose="020B0503020204020204" charset="-122"/>
                  <a:cs typeface="Arial" panose="020B0604020202020204"/>
                </a:rPr>
                <a:t>100%</a:t>
              </a:r>
              <a:r>
                <a:rPr lang="zh-CN" sz="1125" dirty="0">
                  <a:solidFill>
                    <a:srgbClr val="FFFFFF"/>
                  </a:solidFill>
                  <a:latin typeface="Arial" panose="020B0604020202020204"/>
                  <a:ea typeface="微软雅黑" panose="020B0503020204020204" charset="-122"/>
                  <a:cs typeface="Arial" panose="020B0604020202020204"/>
                </a:rPr>
                <a:t> · 商机识别响应 </a:t>
              </a:r>
              <a:r>
                <a:rPr lang="zh-CN" sz="1125" b="1" dirty="0">
                  <a:solidFill>
                    <a:srgbClr val="FFFFFF"/>
                  </a:solidFill>
                  <a:latin typeface="Arial" panose="020B0604020202020204"/>
                  <a:ea typeface="微软雅黑" panose="020B0503020204020204" charset="-122"/>
                  <a:cs typeface="Arial" panose="020B0604020202020204"/>
                </a:rPr>
                <a:t>&lt;1 小时</a:t>
              </a:r>
              <a:endParaRPr lang="zh-CN" sz="1125" b="1" dirty="0">
                <a:solidFill>
                  <a:srgbClr val="FFFFFF"/>
                </a:solidFill>
                <a:latin typeface="Arial" panose="020B0604020202020204"/>
                <a:ea typeface="微软雅黑" panose="020B0503020204020204" charset="-122"/>
                <a:cs typeface="Arial" panose="020B0604020202020204"/>
              </a:endParaRPr>
            </a:p>
          </p:txBody>
        </p:sp>
        <p:sp>
          <p:nvSpPr>
            <p:cNvPr id="89" name="TextBox 89"/>
            <p:cNvSpPr txBox="1"/>
            <p:nvPr/>
          </p:nvSpPr>
          <p:spPr>
            <a:xfrm>
              <a:off x="6405562" y="5726906"/>
              <a:ext cx="2301359"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优秀话术可复制 · 沟通质量可量化</a:t>
              </a:r>
              <a:endParaRPr lang="zh-CN" sz="1125" dirty="0">
                <a:solidFill>
                  <a:srgbClr val="FFFFFF"/>
                </a:solidFill>
                <a:latin typeface="Arial" panose="020B0604020202020204"/>
                <a:ea typeface="微软雅黑" panose="020B0503020204020204" charset="-122"/>
                <a:cs typeface="Arial" panose="020B0604020202020204"/>
              </a:endParaRPr>
            </a:p>
          </p:txBody>
        </p:sp>
      </p:grpSp>
      <p:grpSp>
        <p:nvGrpSpPr>
          <p:cNvPr id="93" name="Group 93"/>
          <p:cNvGrpSpPr/>
          <p:nvPr/>
        </p:nvGrpSpPr>
        <p:grpSpPr>
          <a:xfrm>
            <a:off x="561022" y="6578441"/>
            <a:ext cx="11069955" cy="167640"/>
            <a:chOff x="561022" y="6578441"/>
            <a:chExt cx="11069955" cy="167640"/>
          </a:xfrm>
        </p:grpSpPr>
        <p:sp>
          <p:nvSpPr>
            <p:cNvPr id="91" name="TextBox 91"/>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92" name="TextBox 92"/>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18</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400"/>
                                        <p:tgtEl>
                                          <p:spTgt spid="24"/>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image">
                                      <p:cBhvr>
                                        <p:cTn id="11" dur="400"/>
                                        <p:tgtEl>
                                          <p:spTgt spid="4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400"/>
                                        <p:tgtEl>
                                          <p:spTgt spid="58"/>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wipe(left)">
                                      <p:cBhvr>
                                        <p:cTn id="19" dur="400"/>
                                        <p:tgtEl>
                                          <p:spTgt spid="71"/>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slide(fromBottom)">
                                      <p:cBhvr>
                                        <p:cTn id="23" dur="400"/>
                                        <p:tgtEl>
                                          <p:spTgt spid="74"/>
                                        </p:tgtEl>
                                      </p:cBhvr>
                                    </p:animEffect>
                                  </p:childTnLst>
                                </p:cTn>
                              </p:par>
                            </p:childTnLst>
                          </p:cTn>
                        </p:par>
                        <p:par>
                          <p:cTn id="24" fill="hold">
                            <p:stCondLst>
                              <p:cond delay="2500"/>
                            </p:stCondLst>
                            <p:childTnLst>
                              <p:par>
                                <p:cTn id="25" presetID="23" presetClass="entr" presetSubtype="16" fill="hold" nodeType="after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image">
                                      <p:cBhvr>
                                        <p:cTn id="27"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0" grpId="0"/>
      <p:bldP spid="58" grpId="0"/>
      <p:bldP spid="71" grpId="0"/>
      <p:bldP spid="74" grpId="0"/>
      <p:bldP spid="9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2A5E"/>
                </a:gs>
                <a:gs pos="100000">
                  <a:srgbClr val="17365D"/>
                </a:gs>
              </a:gsLst>
              <a:lin ang="2700000" scaled="1"/>
            </a:gradFill>
            <a:ln>
              <a:noFill/>
            </a:ln>
          </p:spPr>
        </p:sp>
        <p:sp>
          <p:nvSpPr>
            <p:cNvPr id="3" name="Rectangle 3"/>
            <p:cNvSpPr/>
            <p:nvPr/>
          </p:nvSpPr>
          <p:spPr>
            <a:xfrm>
              <a:off x="0" y="0"/>
              <a:ext cx="12192000" cy="6858000"/>
            </a:xfrm>
            <a:prstGeom prst="rect">
              <a:avLst/>
            </a:prstGeom>
            <a:gradFill>
              <a:gsLst>
                <a:gs pos="0">
                  <a:srgbClr val="246BFE">
                    <a:alpha val="20000"/>
                  </a:srgbClr>
                </a:gs>
                <a:gs pos="100000">
                  <a:srgbClr val="246BFE">
                    <a:alpha val="0"/>
                  </a:srgbClr>
                </a:gs>
              </a:gsLst>
              <a:path path="circle">
                <a:fillToRect l="50000" t="50000" r="50000" b="50000"/>
              </a:path>
            </a:gradFill>
            <a:ln>
              <a:noFill/>
            </a:ln>
          </p:spPr>
        </p:sp>
      </p:grpSp>
      <p:grpSp>
        <p:nvGrpSpPr>
          <p:cNvPr id="9" name="Group 9"/>
          <p:cNvGrpSpPr/>
          <p:nvPr/>
        </p:nvGrpSpPr>
        <p:grpSpPr>
          <a:xfrm>
            <a:off x="1866900" y="1381125"/>
            <a:ext cx="8734425" cy="3990975"/>
            <a:chOff x="1866900" y="1381125"/>
            <a:chExt cx="8734425" cy="3990975"/>
          </a:xfrm>
        </p:grpSpPr>
        <p:sp>
          <p:nvSpPr>
            <p:cNvPr id="5" name="Ellipse 5"/>
            <p:cNvSpPr/>
            <p:nvPr/>
          </p:nvSpPr>
          <p:spPr>
            <a:xfrm>
              <a:off x="9953625" y="1381125"/>
              <a:ext cx="95250" cy="95250"/>
            </a:xfrm>
            <a:prstGeom prst="ellipse">
              <a:avLst/>
            </a:prstGeom>
            <a:solidFill>
              <a:srgbClr val="518FEC">
                <a:alpha val="25000"/>
              </a:srgbClr>
            </a:solidFill>
            <a:ln>
              <a:noFill/>
            </a:ln>
          </p:spPr>
        </p:sp>
        <p:sp>
          <p:nvSpPr>
            <p:cNvPr id="6" name="Ellipse 6"/>
            <p:cNvSpPr/>
            <p:nvPr/>
          </p:nvSpPr>
          <p:spPr>
            <a:xfrm>
              <a:off x="10544175" y="1971675"/>
              <a:ext cx="57150" cy="57150"/>
            </a:xfrm>
            <a:prstGeom prst="ellipse">
              <a:avLst/>
            </a:prstGeom>
            <a:solidFill>
              <a:srgbClr val="246BFE">
                <a:alpha val="30000"/>
              </a:srgbClr>
            </a:solidFill>
            <a:ln>
              <a:noFill/>
            </a:ln>
          </p:spPr>
        </p:sp>
        <p:sp>
          <p:nvSpPr>
            <p:cNvPr id="7" name="Ellipse 7"/>
            <p:cNvSpPr/>
            <p:nvPr/>
          </p:nvSpPr>
          <p:spPr>
            <a:xfrm>
              <a:off x="9405938" y="2166938"/>
              <a:ext cx="47625" cy="47625"/>
            </a:xfrm>
            <a:prstGeom prst="ellipse">
              <a:avLst/>
            </a:prstGeom>
            <a:solidFill>
              <a:srgbClr val="518FEC">
                <a:alpha val="20000"/>
              </a:srgbClr>
            </a:solidFill>
            <a:ln>
              <a:noFill/>
            </a:ln>
          </p:spPr>
        </p:sp>
        <p:sp>
          <p:nvSpPr>
            <p:cNvPr id="8" name="Ellipse 8"/>
            <p:cNvSpPr/>
            <p:nvPr/>
          </p:nvSpPr>
          <p:spPr>
            <a:xfrm>
              <a:off x="1866900" y="5295900"/>
              <a:ext cx="76200" cy="76200"/>
            </a:xfrm>
            <a:prstGeom prst="ellipse">
              <a:avLst/>
            </a:prstGeom>
            <a:solidFill>
              <a:srgbClr val="518FEC">
                <a:alpha val="18000"/>
              </a:srgbClr>
            </a:solidFill>
            <a:ln>
              <a:noFill/>
            </a:ln>
          </p:spPr>
        </p:sp>
      </p:grpSp>
      <p:grpSp>
        <p:nvGrpSpPr>
          <p:cNvPr id="11" name="Group 11"/>
          <p:cNvGrpSpPr/>
          <p:nvPr/>
        </p:nvGrpSpPr>
        <p:grpSpPr>
          <a:xfrm>
            <a:off x="647700" y="1838325"/>
            <a:ext cx="2960418" cy="3352800"/>
            <a:chOff x="647700" y="1838325"/>
            <a:chExt cx="2960418" cy="3352800"/>
          </a:xfrm>
        </p:grpSpPr>
        <p:sp>
          <p:nvSpPr>
            <p:cNvPr id="10" name="TextBox 10"/>
            <p:cNvSpPr txBox="1"/>
            <p:nvPr/>
          </p:nvSpPr>
          <p:spPr>
            <a:xfrm>
              <a:off x="647700" y="1838325"/>
              <a:ext cx="2960418" cy="3352800"/>
            </a:xfrm>
            <a:prstGeom prst="rect">
              <a:avLst/>
            </a:prstGeom>
            <a:noFill/>
            <a:ln>
              <a:noFill/>
            </a:ln>
          </p:spPr>
          <p:txBody>
            <a:bodyPr wrap="none" lIns="0" tIns="0" rIns="0" bIns="0" anchor="t" anchorCtr="0">
              <a:spAutoFit/>
            </a:bodyPr>
            <a:lstStyle/>
            <a:p>
              <a:pPr algn="l"/>
              <a:r>
                <a:rPr lang="zh-CN" sz="16500" b="1" dirty="0">
                  <a:solidFill>
                    <a:srgbClr val="246BFE">
                      <a:alphaMod val="22000"/>
                    </a:srgbClr>
                  </a:solidFill>
                  <a:latin typeface="Arial" panose="020B0604020202020204"/>
                  <a:ea typeface="微软雅黑" panose="020B0503020204020204" charset="-122"/>
                  <a:cs typeface="Arial" panose="020B0604020202020204"/>
                </a:rPr>
                <a:t>04</a:t>
              </a:r>
              <a:endParaRPr lang="zh-CN" sz="16500" b="1" dirty="0">
                <a:solidFill>
                  <a:srgbClr val="246BFE">
                    <a:alphaMod val="22000"/>
                  </a:srgbClr>
                </a:solidFill>
                <a:latin typeface="Arial" panose="020B0604020202020204"/>
                <a:ea typeface="微软雅黑" panose="020B0503020204020204" charset="-122"/>
                <a:cs typeface="Arial" panose="020B0604020202020204"/>
              </a:endParaRPr>
            </a:p>
          </p:txBody>
        </p:sp>
      </p:grpSp>
      <p:grpSp>
        <p:nvGrpSpPr>
          <p:cNvPr id="16" name="Group 16"/>
          <p:cNvGrpSpPr/>
          <p:nvPr/>
        </p:nvGrpSpPr>
        <p:grpSpPr>
          <a:xfrm>
            <a:off x="819150" y="2762250"/>
            <a:ext cx="3436620" cy="1809750"/>
            <a:chOff x="819150" y="2762250"/>
            <a:chExt cx="3436620" cy="1809750"/>
          </a:xfrm>
        </p:grpSpPr>
        <p:sp>
          <p:nvSpPr>
            <p:cNvPr id="12" name="Rectangle 12"/>
            <p:cNvSpPr/>
            <p:nvPr/>
          </p:nvSpPr>
          <p:spPr>
            <a:xfrm>
              <a:off x="857250" y="2762250"/>
              <a:ext cx="685800" cy="57150"/>
            </a:xfrm>
            <a:prstGeom prst="roundRect">
              <a:avLst>
                <a:gd name="adj" fmla="val 50000"/>
              </a:avLst>
            </a:prstGeom>
            <a:solidFill>
              <a:srgbClr val="518FEC"/>
            </a:solidFill>
            <a:ln>
              <a:noFill/>
            </a:ln>
          </p:spPr>
        </p:sp>
        <p:sp>
          <p:nvSpPr>
            <p:cNvPr id="13" name="TextBox 13"/>
            <p:cNvSpPr txBox="1"/>
            <p:nvPr/>
          </p:nvSpPr>
          <p:spPr>
            <a:xfrm>
              <a:off x="838200" y="3124200"/>
              <a:ext cx="1140738" cy="304800"/>
            </a:xfrm>
            <a:prstGeom prst="rect">
              <a:avLst/>
            </a:prstGeom>
            <a:noFill/>
            <a:ln>
              <a:noFill/>
            </a:ln>
          </p:spPr>
          <p:txBody>
            <a:bodyPr wrap="none" lIns="0" tIns="0" rIns="0" bIns="0" anchor="t" anchorCtr="0">
              <a:spAutoFit/>
            </a:bodyPr>
            <a:lstStyle/>
            <a:p>
              <a:pPr algn="l"/>
              <a:r>
                <a:rPr lang="zh-CN" sz="1500" b="1" dirty="0">
                  <a:solidFill>
                    <a:srgbClr val="518FEC"/>
                  </a:solidFill>
                  <a:latin typeface="Arial" panose="020B0604020202020204"/>
                  <a:ea typeface="微软雅黑" panose="020B0503020204020204" charset="-122"/>
                  <a:cs typeface="Arial" panose="020B0604020202020204"/>
                </a:rPr>
                <a:t>CHAPTER 04</a:t>
              </a:r>
              <a:endParaRPr lang="zh-CN" sz="1500" b="1" dirty="0">
                <a:solidFill>
                  <a:srgbClr val="518FEC"/>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819150" y="3629025"/>
              <a:ext cx="3436620"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panose="020B0604020202020204"/>
                  <a:ea typeface="微软雅黑" panose="020B0503020204020204" charset="-122"/>
                  <a:cs typeface="Arial" panose="020B0604020202020204"/>
                </a:rPr>
                <a:t>价值、实施与保障</a:t>
              </a:r>
              <a:endParaRPr lang="zh-CN" sz="3000" b="1" dirty="0">
                <a:solidFill>
                  <a:srgbClr val="FFFFFF"/>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838200" y="4267200"/>
              <a:ext cx="3298508" cy="304800"/>
            </a:xfrm>
            <a:prstGeom prst="rect">
              <a:avLst/>
            </a:prstGeom>
            <a:noFill/>
            <a:ln>
              <a:noFill/>
            </a:ln>
          </p:spPr>
          <p:txBody>
            <a:bodyPr wrap="none" lIns="0" tIns="0" rIns="0" bIns="0" anchor="t" anchorCtr="0">
              <a:spAutoFit/>
            </a:bodyPr>
            <a:lstStyle/>
            <a:p>
              <a:pPr algn="l"/>
              <a:r>
                <a:rPr lang="zh-CN" sz="1500" dirty="0">
                  <a:solidFill>
                    <a:srgbClr val="B8C7E0"/>
                  </a:solidFill>
                  <a:latin typeface="Arial" panose="020B0604020202020204"/>
                  <a:ea typeface="微软雅黑" panose="020B0503020204020204" charset="-122"/>
                  <a:cs typeface="Arial" panose="020B0604020202020204"/>
                </a:rPr>
                <a:t>商业价值矩阵 · 落地路径 · 法本保障</a:t>
              </a:r>
              <a:endParaRPr lang="zh-CN" sz="1500" dirty="0">
                <a:solidFill>
                  <a:srgbClr val="B8C7E0"/>
                </a:solidFill>
                <a:latin typeface="Arial" panose="020B0604020202020204"/>
                <a:ea typeface="微软雅黑" panose="020B0503020204020204" charset="-122"/>
                <a:cs typeface="Arial" panose="020B0604020202020204"/>
              </a:endParaRPr>
            </a:p>
          </p:txBody>
        </p:sp>
      </p:grpSp>
      <p:grpSp>
        <p:nvGrpSpPr>
          <p:cNvPr id="19" name="Group 19"/>
          <p:cNvGrpSpPr/>
          <p:nvPr/>
        </p:nvGrpSpPr>
        <p:grpSpPr>
          <a:xfrm>
            <a:off x="844868" y="5905500"/>
            <a:ext cx="2742105" cy="426244"/>
            <a:chOff x="844868" y="5905500"/>
            <a:chExt cx="2742105" cy="426244"/>
          </a:xfrm>
        </p:grpSpPr>
        <p:sp>
          <p:nvSpPr>
            <p:cNvPr id="17" name="Line 17"/>
            <p:cNvSpPr/>
            <p:nvPr/>
          </p:nvSpPr>
          <p:spPr>
            <a:xfrm>
              <a:off x="857250" y="5905500"/>
              <a:ext cx="857250" cy="9525"/>
            </a:xfrm>
            <a:custGeom>
              <a:avLst/>
              <a:gdLst/>
              <a:ahLst/>
              <a:cxnLst/>
              <a:rect l="l" t="t" r="r" b="b"/>
              <a:pathLst>
                <a:path w="857250" h="9525">
                  <a:moveTo>
                    <a:pt x="0" y="0"/>
                  </a:moveTo>
                  <a:lnTo>
                    <a:pt x="857250" y="0"/>
                  </a:lnTo>
                </a:path>
              </a:pathLst>
            </a:custGeom>
            <a:noFill/>
            <a:ln w="19050">
              <a:solidFill>
                <a:srgbClr val="518FEC"/>
              </a:solidFill>
            </a:ln>
          </p:spPr>
        </p:sp>
        <p:sp>
          <p:nvSpPr>
            <p:cNvPr id="18" name="TextBox 18"/>
            <p:cNvSpPr txBox="1"/>
            <p:nvPr/>
          </p:nvSpPr>
          <p:spPr>
            <a:xfrm>
              <a:off x="844868" y="6133624"/>
              <a:ext cx="2742105"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panose="020B0604020202020204"/>
                  <a:ea typeface="微软雅黑" panose="020B0503020204020204" charset="-122"/>
                  <a:cs typeface="Arial" panose="020B0604020202020204"/>
                </a:rPr>
                <a:t>FarAI × Colliers · 商业地产 AI 智能化解决方案</a:t>
              </a:r>
              <a:endParaRPr lang="zh-CN" sz="975" dirty="0">
                <a:solidFill>
                  <a:srgbClr val="8FA3C4"/>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6751737" cy="970598"/>
            <a:chOff x="542925" y="553402"/>
            <a:chExt cx="6751737" cy="970598"/>
          </a:xfrm>
        </p:grpSpPr>
        <p:sp>
          <p:nvSpPr>
            <p:cNvPr id="5" name="TextBox 5"/>
            <p:cNvSpPr txBox="1"/>
            <p:nvPr/>
          </p:nvSpPr>
          <p:spPr>
            <a:xfrm>
              <a:off x="558165" y="553402"/>
              <a:ext cx="967588"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04 价值与实施</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6751737"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商业价值矩阵 — 四大场景的效率·成本·收入提升</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6535293"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四大场景均带来可量化的效率提升、成本下降或收入增长机会(指标为预估值,可按实际校准)</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26" name="Group 26"/>
          <p:cNvGrpSpPr/>
          <p:nvPr/>
        </p:nvGrpSpPr>
        <p:grpSpPr>
          <a:xfrm>
            <a:off x="571500" y="1714500"/>
            <a:ext cx="5429250" cy="2143125"/>
            <a:chOff x="571500" y="1714500"/>
            <a:chExt cx="5429250" cy="2143125"/>
          </a:xfrm>
        </p:grpSpPr>
        <p:sp>
          <p:nvSpPr>
            <p:cNvPr id="9" name="Rectangle 9"/>
            <p:cNvSpPr/>
            <p:nvPr/>
          </p:nvSpPr>
          <p:spPr>
            <a:xfrm>
              <a:off x="571500" y="1714500"/>
              <a:ext cx="5429250" cy="2143125"/>
            </a:xfrm>
            <a:prstGeom prst="roundRect">
              <a:avLst>
                <a:gd name="adj" fmla="val 5333"/>
              </a:avLst>
            </a:prstGeom>
            <a:solidFill>
              <a:srgbClr val="F4F7FC"/>
            </a:solidFill>
            <a:ln>
              <a:noFill/>
            </a:ln>
          </p:spPr>
        </p:sp>
        <p:sp>
          <p:nvSpPr>
            <p:cNvPr id="10" name="Rectangle 10"/>
            <p:cNvSpPr/>
            <p:nvPr/>
          </p:nvSpPr>
          <p:spPr>
            <a:xfrm>
              <a:off x="571500" y="1714500"/>
              <a:ext cx="57150" cy="2143125"/>
            </a:xfrm>
            <a:prstGeom prst="roundRect">
              <a:avLst>
                <a:gd name="adj" fmla="val 50000"/>
              </a:avLst>
            </a:prstGeom>
            <a:solidFill>
              <a:srgbClr val="246BFE"/>
            </a:solidFill>
            <a:ln>
              <a:noFill/>
            </a:ln>
          </p:spPr>
        </p:sp>
        <p:sp>
          <p:nvSpPr>
            <p:cNvPr id="11" name="Ellipse 11"/>
            <p:cNvSpPr/>
            <p:nvPr/>
          </p:nvSpPr>
          <p:spPr>
            <a:xfrm>
              <a:off x="781050" y="1924050"/>
              <a:ext cx="495300" cy="495300"/>
            </a:xfrm>
            <a:prstGeom prst="ellipse">
              <a:avLst/>
            </a:prstGeom>
            <a:solidFill>
              <a:srgbClr val="246BFE"/>
            </a:solidFill>
            <a:ln>
              <a:noFill/>
            </a:ln>
          </p:spPr>
        </p:sp>
        <p:grpSp>
          <p:nvGrpSpPr>
            <p:cNvPr id="16" name="Group 16"/>
            <p:cNvGrpSpPr/>
            <p:nvPr/>
          </p:nvGrpSpPr>
          <p:grpSpPr>
            <a:xfrm>
              <a:off x="914400" y="2057400"/>
              <a:ext cx="228600" cy="228600"/>
              <a:chOff x="914400" y="2057400"/>
              <a:chExt cx="228600" cy="228600"/>
            </a:xfrm>
          </p:grpSpPr>
          <p:sp>
            <p:nvSpPr>
              <p:cNvPr id="12" name="Freeform 12"/>
              <p:cNvSpPr/>
              <p:nvPr/>
            </p:nvSpPr>
            <p:spPr>
              <a:xfrm>
                <a:off x="939800" y="205740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FFFFFF"/>
                </a:solidFill>
              </a:ln>
            </p:spPr>
          </p:sp>
          <p:sp>
            <p:nvSpPr>
              <p:cNvPr id="13" name="Freeform 13"/>
              <p:cNvSpPr/>
              <p:nvPr/>
            </p:nvSpPr>
            <p:spPr>
              <a:xfrm>
                <a:off x="914400" y="220980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19050">
                <a:solidFill>
                  <a:srgbClr val="FFFFFF"/>
                </a:solidFill>
              </a:ln>
            </p:spPr>
          </p:sp>
          <p:sp>
            <p:nvSpPr>
              <p:cNvPr id="14" name="Freeform 14"/>
              <p:cNvSpPr/>
              <p:nvPr/>
            </p:nvSpPr>
            <p:spPr>
              <a:xfrm>
                <a:off x="1079500" y="2059051"/>
                <a:ext cx="38200" cy="98425"/>
              </a:xfrm>
              <a:custGeom>
                <a:avLst/>
                <a:gdLst/>
                <a:ahLst/>
                <a:cxnLst/>
                <a:rect l="l" t="t" r="r" b="b"/>
                <a:pathLst>
                  <a:path w="38200" h="98425">
                    <a:moveTo>
                      <a:pt x="0" y="0"/>
                    </a:moveTo>
                    <a:cubicBezTo>
                      <a:pt x="22478" y="5755"/>
                      <a:pt x="38200" y="26009"/>
                      <a:pt x="38200" y="49212"/>
                    </a:cubicBezTo>
                    <a:cubicBezTo>
                      <a:pt x="38200" y="72416"/>
                      <a:pt x="22478" y="92670"/>
                      <a:pt x="0" y="98425"/>
                    </a:cubicBezTo>
                  </a:path>
                </a:pathLst>
              </a:custGeom>
              <a:noFill/>
              <a:ln w="19050">
                <a:solidFill>
                  <a:srgbClr val="FFFFFF"/>
                </a:solidFill>
              </a:ln>
            </p:spPr>
          </p:sp>
          <p:sp>
            <p:nvSpPr>
              <p:cNvPr id="15" name="Freeform 15"/>
              <p:cNvSpPr/>
              <p:nvPr/>
            </p:nvSpPr>
            <p:spPr>
              <a:xfrm>
                <a:off x="1104900" y="221170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19050">
                <a:solidFill>
                  <a:srgbClr val="FFFFFF"/>
                </a:solidFill>
              </a:ln>
            </p:spPr>
          </p:sp>
        </p:grpSp>
        <p:sp>
          <p:nvSpPr>
            <p:cNvPr id="17" name="TextBox 17"/>
            <p:cNvSpPr txBox="1"/>
            <p:nvPr/>
          </p:nvSpPr>
          <p:spPr>
            <a:xfrm>
              <a:off x="1416368" y="2009299"/>
              <a:ext cx="570833"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智能招聘</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1407795" y="2203132"/>
              <a:ext cx="1485840"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效率↑ · 成本↓</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845820" y="2579370"/>
              <a:ext cx="867461" cy="487680"/>
            </a:xfrm>
            <a:prstGeom prst="rect">
              <a:avLst/>
            </a:prstGeom>
            <a:noFill/>
            <a:ln>
              <a:noFill/>
            </a:ln>
          </p:spPr>
          <p:txBody>
            <a:bodyPr wrap="none" lIns="0" tIns="0" rIns="0" bIns="0" anchor="t" anchorCtr="0">
              <a:spAutoFit/>
            </a:bodyPr>
            <a:lstStyle/>
            <a:p>
              <a:pPr algn="l"/>
              <a:r>
                <a:rPr lang="zh-CN" sz="2400" b="1" dirty="0">
                  <a:solidFill>
                    <a:srgbClr val="0052A6"/>
                  </a:solidFill>
                  <a:latin typeface="Arial" panose="020B0604020202020204"/>
                  <a:ea typeface="微软雅黑" panose="020B0503020204020204" charset="-122"/>
                  <a:cs typeface="Arial" panose="020B0604020202020204"/>
                </a:rPr>
                <a:t>50%+</a:t>
              </a:r>
              <a:endParaRPr lang="zh-CN" sz="2400" b="1" dirty="0">
                <a:solidFill>
                  <a:srgbClr val="0052A6"/>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863918" y="2980849"/>
              <a:ext cx="1064895"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简历筛选效率提升</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2369820" y="2579370"/>
              <a:ext cx="682638" cy="487680"/>
            </a:xfrm>
            <a:prstGeom prst="rect">
              <a:avLst/>
            </a:prstGeom>
            <a:noFill/>
            <a:ln>
              <a:noFill/>
            </a:ln>
          </p:spPr>
          <p:txBody>
            <a:bodyPr wrap="none" lIns="0" tIns="0" rIns="0" bIns="0" anchor="t" anchorCtr="0">
              <a:spAutoFit/>
            </a:bodyPr>
            <a:lstStyle/>
            <a:p>
              <a:pPr algn="l"/>
              <a:r>
                <a:rPr lang="zh-CN" sz="2400" b="1" dirty="0">
                  <a:solidFill>
                    <a:srgbClr val="0052A6"/>
                  </a:solidFill>
                  <a:latin typeface="Arial" panose="020B0604020202020204"/>
                  <a:ea typeface="微软雅黑" panose="020B0503020204020204" charset="-122"/>
                  <a:cs typeface="Arial" panose="020B0604020202020204"/>
                </a:rPr>
                <a:t>40%</a:t>
              </a:r>
              <a:endParaRPr lang="zh-CN" sz="2400" b="1" dirty="0">
                <a:solidFill>
                  <a:srgbClr val="0052A6"/>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2387918" y="2980849"/>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招聘周期缩短</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3893820" y="2579370"/>
              <a:ext cx="682638" cy="487680"/>
            </a:xfrm>
            <a:prstGeom prst="rect">
              <a:avLst/>
            </a:prstGeom>
            <a:noFill/>
            <a:ln>
              <a:noFill/>
            </a:ln>
          </p:spPr>
          <p:txBody>
            <a:bodyPr wrap="none" lIns="0" tIns="0" rIns="0" bIns="0" anchor="t" anchorCtr="0">
              <a:spAutoFit/>
            </a:bodyPr>
            <a:lstStyle/>
            <a:p>
              <a:pPr algn="l"/>
              <a:r>
                <a:rPr lang="zh-CN" sz="2400" b="1" dirty="0">
                  <a:solidFill>
                    <a:srgbClr val="0E9F6E"/>
                  </a:solidFill>
                  <a:latin typeface="Arial" panose="020B0604020202020204"/>
                  <a:ea typeface="微软雅黑" panose="020B0503020204020204" charset="-122"/>
                  <a:cs typeface="Arial" panose="020B0604020202020204"/>
                </a:rPr>
                <a:t>30%</a:t>
              </a:r>
              <a:endParaRPr lang="zh-CN" sz="2400" b="1" dirty="0">
                <a:solidFill>
                  <a:srgbClr val="0E9F6E"/>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3911918" y="2980849"/>
              <a:ext cx="1064895"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简历采购成本下降</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864870" y="3503295"/>
              <a:ext cx="1991106"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panose="020B0604020202020204"/>
                  <a:ea typeface="微软雅黑" panose="020B0503020204020204" charset="-122"/>
                  <a:cs typeface="Arial" panose="020B0604020202020204"/>
                </a:rPr>
                <a:t>* 以上为预估值,可按实际业务量校准</a:t>
              </a:r>
              <a:endParaRPr lang="zh-CN" sz="900" dirty="0">
                <a:solidFill>
                  <a:srgbClr val="6B7785"/>
                </a:solidFill>
                <a:latin typeface="Arial" panose="020B0604020202020204"/>
                <a:ea typeface="微软雅黑" panose="020B0503020204020204" charset="-122"/>
                <a:cs typeface="Arial" panose="020B0604020202020204"/>
              </a:endParaRPr>
            </a:p>
          </p:txBody>
        </p:sp>
      </p:grpSp>
      <p:grpSp>
        <p:nvGrpSpPr>
          <p:cNvPr id="42" name="Group 42"/>
          <p:cNvGrpSpPr/>
          <p:nvPr/>
        </p:nvGrpSpPr>
        <p:grpSpPr>
          <a:xfrm>
            <a:off x="6191250" y="1714500"/>
            <a:ext cx="5429250" cy="2143125"/>
            <a:chOff x="6191250" y="1714500"/>
            <a:chExt cx="5429250" cy="2143125"/>
          </a:xfrm>
        </p:grpSpPr>
        <p:sp>
          <p:nvSpPr>
            <p:cNvPr id="27" name="Rectangle 27"/>
            <p:cNvSpPr/>
            <p:nvPr/>
          </p:nvSpPr>
          <p:spPr>
            <a:xfrm>
              <a:off x="6191250" y="1714500"/>
              <a:ext cx="5429250" cy="2143125"/>
            </a:xfrm>
            <a:prstGeom prst="roundRect">
              <a:avLst>
                <a:gd name="adj" fmla="val 5333"/>
              </a:avLst>
            </a:prstGeom>
            <a:solidFill>
              <a:srgbClr val="F4F7FC"/>
            </a:solidFill>
            <a:ln>
              <a:noFill/>
            </a:ln>
          </p:spPr>
        </p:sp>
        <p:sp>
          <p:nvSpPr>
            <p:cNvPr id="28" name="Rectangle 28"/>
            <p:cNvSpPr/>
            <p:nvPr/>
          </p:nvSpPr>
          <p:spPr>
            <a:xfrm>
              <a:off x="6191250" y="1714500"/>
              <a:ext cx="57150" cy="2143125"/>
            </a:xfrm>
            <a:prstGeom prst="roundRect">
              <a:avLst>
                <a:gd name="adj" fmla="val 50000"/>
              </a:avLst>
            </a:prstGeom>
            <a:solidFill>
              <a:srgbClr val="0E9F6E"/>
            </a:solidFill>
            <a:ln>
              <a:noFill/>
            </a:ln>
          </p:spPr>
        </p:sp>
        <p:sp>
          <p:nvSpPr>
            <p:cNvPr id="29" name="Ellipse 29"/>
            <p:cNvSpPr/>
            <p:nvPr/>
          </p:nvSpPr>
          <p:spPr>
            <a:xfrm>
              <a:off x="6400800" y="1924050"/>
              <a:ext cx="495300" cy="495300"/>
            </a:xfrm>
            <a:prstGeom prst="ellipse">
              <a:avLst/>
            </a:prstGeom>
            <a:solidFill>
              <a:srgbClr val="0E9F6E"/>
            </a:solidFill>
            <a:ln>
              <a:noFill/>
            </a:ln>
          </p:spPr>
        </p:sp>
        <p:grpSp>
          <p:nvGrpSpPr>
            <p:cNvPr id="32" name="Group 32"/>
            <p:cNvGrpSpPr/>
            <p:nvPr/>
          </p:nvGrpSpPr>
          <p:grpSpPr>
            <a:xfrm>
              <a:off x="6534150" y="2057400"/>
              <a:ext cx="228600" cy="228600"/>
              <a:chOff x="6534150" y="2057400"/>
              <a:chExt cx="228600" cy="228600"/>
            </a:xfrm>
          </p:grpSpPr>
          <p:sp>
            <p:nvSpPr>
              <p:cNvPr id="30" name="Freeform 30"/>
              <p:cNvSpPr/>
              <p:nvPr/>
            </p:nvSpPr>
            <p:spPr>
              <a:xfrm>
                <a:off x="6534150" y="2057400"/>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19050">
                <a:solidFill>
                  <a:srgbClr val="FFFFFF"/>
                </a:solidFill>
              </a:ln>
            </p:spPr>
          </p:sp>
          <p:sp>
            <p:nvSpPr>
              <p:cNvPr id="31" name="Freeform 31"/>
              <p:cNvSpPr/>
              <p:nvPr/>
            </p:nvSpPr>
            <p:spPr>
              <a:xfrm>
                <a:off x="6686550" y="2209800"/>
                <a:ext cx="76200" cy="76200"/>
              </a:xfrm>
              <a:custGeom>
                <a:avLst/>
                <a:gdLst/>
                <a:ahLst/>
                <a:cxnLst/>
                <a:rect l="l" t="t" r="r" b="b"/>
                <a:pathLst>
                  <a:path w="76200" h="76200">
                    <a:moveTo>
                      <a:pt x="76200" y="76200"/>
                    </a:moveTo>
                    <a:lnTo>
                      <a:pt x="0" y="0"/>
                    </a:lnTo>
                  </a:path>
                </a:pathLst>
              </a:custGeom>
              <a:noFill/>
              <a:ln w="19050">
                <a:solidFill>
                  <a:srgbClr val="FFFFFF"/>
                </a:solidFill>
              </a:ln>
            </p:spPr>
          </p:sp>
        </p:grpSp>
        <p:sp>
          <p:nvSpPr>
            <p:cNvPr id="33" name="TextBox 33"/>
            <p:cNvSpPr txBox="1"/>
            <p:nvPr/>
          </p:nvSpPr>
          <p:spPr>
            <a:xfrm>
              <a:off x="7036118" y="2009299"/>
              <a:ext cx="570833" cy="198120"/>
            </a:xfrm>
            <a:prstGeom prst="rect">
              <a:avLst/>
            </a:prstGeom>
            <a:noFill/>
            <a:ln>
              <a:noFill/>
            </a:ln>
          </p:spPr>
          <p:txBody>
            <a:bodyPr wrap="none" lIns="0" tIns="0" rIns="0" bIns="0" anchor="t" anchorCtr="0">
              <a:spAutoFit/>
            </a:bodyPr>
            <a:lstStyle/>
            <a:p>
              <a:pPr algn="l"/>
              <a:r>
                <a:rPr lang="zh-CN" sz="975" b="1" dirty="0">
                  <a:solidFill>
                    <a:srgbClr val="0E9F6E"/>
                  </a:solidFill>
                  <a:latin typeface="Arial" panose="020B0604020202020204"/>
                  <a:ea typeface="微软雅黑" panose="020B0503020204020204" charset="-122"/>
                  <a:cs typeface="Arial" panose="020B0604020202020204"/>
                </a:rPr>
                <a:t>智能商机</a:t>
              </a:r>
              <a:endParaRPr lang="zh-CN" sz="975" b="1" dirty="0">
                <a:solidFill>
                  <a:srgbClr val="0E9F6E"/>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7027545" y="2203132"/>
              <a:ext cx="1485840"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商机↑ · 响应↑</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6465570" y="2579370"/>
              <a:ext cx="1069086" cy="487680"/>
            </a:xfrm>
            <a:prstGeom prst="rect">
              <a:avLst/>
            </a:prstGeom>
            <a:noFill/>
            <a:ln>
              <a:noFill/>
            </a:ln>
          </p:spPr>
          <p:txBody>
            <a:bodyPr wrap="none" lIns="0" tIns="0" rIns="0" bIns="0" anchor="t" anchorCtr="0">
              <a:spAutoFit/>
            </a:bodyPr>
            <a:lstStyle/>
            <a:p>
              <a:pPr algn="l"/>
              <a:r>
                <a:rPr lang="zh-CN" sz="2400" b="1" dirty="0">
                  <a:solidFill>
                    <a:srgbClr val="0052A6"/>
                  </a:solidFill>
                  <a:latin typeface="Arial" panose="020B0604020202020204"/>
                  <a:ea typeface="微软雅黑" panose="020B0503020204020204" charset="-122"/>
                  <a:cs typeface="Arial" panose="020B0604020202020204"/>
                </a:rPr>
                <a:t>小时级</a:t>
              </a:r>
              <a:endParaRPr lang="zh-CN" sz="2400" b="1" dirty="0">
                <a:solidFill>
                  <a:srgbClr val="0052A6"/>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6483668" y="2980849"/>
              <a:ext cx="133792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商机发现时效(原天级)</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8370570" y="2579370"/>
              <a:ext cx="682638" cy="487680"/>
            </a:xfrm>
            <a:prstGeom prst="rect">
              <a:avLst/>
            </a:prstGeom>
            <a:noFill/>
            <a:ln>
              <a:noFill/>
            </a:ln>
          </p:spPr>
          <p:txBody>
            <a:bodyPr wrap="none" lIns="0" tIns="0" rIns="0" bIns="0" anchor="t" anchorCtr="0">
              <a:spAutoFit/>
            </a:bodyPr>
            <a:lstStyle/>
            <a:p>
              <a:pPr algn="l"/>
              <a:r>
                <a:rPr lang="zh-CN" sz="2400" b="1" dirty="0">
                  <a:solidFill>
                    <a:srgbClr val="0052A6"/>
                  </a:solidFill>
                  <a:latin typeface="Arial" panose="020B0604020202020204"/>
                  <a:ea typeface="微软雅黑" panose="020B0503020204020204" charset="-122"/>
                  <a:cs typeface="Arial" panose="020B0604020202020204"/>
                </a:rPr>
                <a:t>3 倍</a:t>
              </a:r>
              <a:endParaRPr lang="zh-CN" sz="2400" b="1" dirty="0">
                <a:solidFill>
                  <a:srgbClr val="0052A6"/>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8388668" y="2980849"/>
              <a:ext cx="93487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商机覆盖率提升</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9894570" y="2579370"/>
              <a:ext cx="733044" cy="487680"/>
            </a:xfrm>
            <a:prstGeom prst="rect">
              <a:avLst/>
            </a:prstGeom>
            <a:noFill/>
            <a:ln>
              <a:noFill/>
            </a:ln>
          </p:spPr>
          <p:txBody>
            <a:bodyPr wrap="none" lIns="0" tIns="0" rIns="0" bIns="0" anchor="t" anchorCtr="0">
              <a:spAutoFit/>
            </a:bodyPr>
            <a:lstStyle/>
            <a:p>
              <a:pPr algn="l"/>
              <a:r>
                <a:rPr lang="zh-CN" sz="2400" b="1" dirty="0">
                  <a:solidFill>
                    <a:srgbClr val="0E9F6E"/>
                  </a:solidFill>
                  <a:latin typeface="Arial" panose="020B0604020202020204"/>
                  <a:ea typeface="微软雅黑" panose="020B0503020204020204" charset="-122"/>
                  <a:cs typeface="Arial" panose="020B0604020202020204"/>
                </a:rPr>
                <a:t>自动</a:t>
              </a:r>
              <a:endParaRPr lang="zh-CN" sz="2400" b="1" dirty="0">
                <a:solidFill>
                  <a:srgbClr val="0E9F6E"/>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9912668" y="2980849"/>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重复信息去重</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6484620" y="3503295"/>
              <a:ext cx="1991106"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panose="020B0604020202020204"/>
                  <a:ea typeface="微软雅黑" panose="020B0503020204020204" charset="-122"/>
                  <a:cs typeface="Arial" panose="020B0604020202020204"/>
                </a:rPr>
                <a:t>* 以上为预估值,可按实际业务量校准</a:t>
              </a:r>
              <a:endParaRPr lang="zh-CN" sz="900" dirty="0">
                <a:solidFill>
                  <a:srgbClr val="6B7785"/>
                </a:solidFill>
                <a:latin typeface="Arial" panose="020B0604020202020204"/>
                <a:ea typeface="微软雅黑" panose="020B0503020204020204" charset="-122"/>
                <a:cs typeface="Arial" panose="020B0604020202020204"/>
              </a:endParaRPr>
            </a:p>
          </p:txBody>
        </p:sp>
      </p:grpSp>
      <p:grpSp>
        <p:nvGrpSpPr>
          <p:cNvPr id="61" name="Group 61"/>
          <p:cNvGrpSpPr/>
          <p:nvPr/>
        </p:nvGrpSpPr>
        <p:grpSpPr>
          <a:xfrm>
            <a:off x="571500" y="4048125"/>
            <a:ext cx="5429250" cy="2143125"/>
            <a:chOff x="571500" y="4048125"/>
            <a:chExt cx="5429250" cy="2143125"/>
          </a:xfrm>
        </p:grpSpPr>
        <p:sp>
          <p:nvSpPr>
            <p:cNvPr id="43" name="Rectangle 43"/>
            <p:cNvSpPr/>
            <p:nvPr/>
          </p:nvSpPr>
          <p:spPr>
            <a:xfrm>
              <a:off x="571500" y="4048125"/>
              <a:ext cx="5429250" cy="2143125"/>
            </a:xfrm>
            <a:prstGeom prst="roundRect">
              <a:avLst>
                <a:gd name="adj" fmla="val 5333"/>
              </a:avLst>
            </a:prstGeom>
            <a:solidFill>
              <a:srgbClr val="F4F7FC"/>
            </a:solidFill>
            <a:ln>
              <a:noFill/>
            </a:ln>
          </p:spPr>
        </p:sp>
        <p:sp>
          <p:nvSpPr>
            <p:cNvPr id="44" name="Rectangle 44"/>
            <p:cNvSpPr/>
            <p:nvPr/>
          </p:nvSpPr>
          <p:spPr>
            <a:xfrm>
              <a:off x="571500" y="4048125"/>
              <a:ext cx="57150" cy="2143125"/>
            </a:xfrm>
            <a:prstGeom prst="roundRect">
              <a:avLst>
                <a:gd name="adj" fmla="val 50000"/>
              </a:avLst>
            </a:prstGeom>
            <a:solidFill>
              <a:srgbClr val="F59E0B"/>
            </a:solidFill>
            <a:ln>
              <a:noFill/>
            </a:ln>
          </p:spPr>
        </p:sp>
        <p:sp>
          <p:nvSpPr>
            <p:cNvPr id="45" name="Ellipse 45"/>
            <p:cNvSpPr/>
            <p:nvPr/>
          </p:nvSpPr>
          <p:spPr>
            <a:xfrm>
              <a:off x="781050" y="4257675"/>
              <a:ext cx="495300" cy="495300"/>
            </a:xfrm>
            <a:prstGeom prst="ellipse">
              <a:avLst/>
            </a:prstGeom>
            <a:solidFill>
              <a:srgbClr val="F59E0B"/>
            </a:solidFill>
            <a:ln>
              <a:noFill/>
            </a:ln>
          </p:spPr>
        </p:sp>
        <p:grpSp>
          <p:nvGrpSpPr>
            <p:cNvPr id="51" name="Group 51"/>
            <p:cNvGrpSpPr/>
            <p:nvPr/>
          </p:nvGrpSpPr>
          <p:grpSpPr>
            <a:xfrm>
              <a:off x="939800" y="4391025"/>
              <a:ext cx="177800" cy="228600"/>
              <a:chOff x="939800" y="4391025"/>
              <a:chExt cx="177800" cy="228600"/>
            </a:xfrm>
          </p:grpSpPr>
          <p:sp>
            <p:nvSpPr>
              <p:cNvPr id="46" name="Freeform 46"/>
              <p:cNvSpPr/>
              <p:nvPr/>
            </p:nvSpPr>
            <p:spPr>
              <a:xfrm>
                <a:off x="1054100" y="4391025"/>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19050">
                <a:solidFill>
                  <a:srgbClr val="FFFFFF"/>
                </a:solidFill>
              </a:ln>
            </p:spPr>
          </p:sp>
          <p:sp>
            <p:nvSpPr>
              <p:cNvPr id="47" name="Freeform 47"/>
              <p:cNvSpPr/>
              <p:nvPr/>
            </p:nvSpPr>
            <p:spPr>
              <a:xfrm>
                <a:off x="939800" y="4391025"/>
                <a:ext cx="177800" cy="228600"/>
              </a:xfrm>
              <a:custGeom>
                <a:avLst/>
                <a:gdLst/>
                <a:ahLst/>
                <a:cxnLst/>
                <a:rect l="l" t="t" r="r" b="b"/>
                <a:pathLst>
                  <a:path w="177800" h="228600">
                    <a:moveTo>
                      <a:pt x="152400" y="228600"/>
                    </a:moveTo>
                    <a:lnTo>
                      <a:pt x="25400" y="228600"/>
                    </a:lnTo>
                    <a:cubicBezTo>
                      <a:pt x="11372" y="228600"/>
                      <a:pt x="0" y="217228"/>
                      <a:pt x="0" y="203200"/>
                    </a:cubicBezTo>
                    <a:lnTo>
                      <a:pt x="0" y="25400"/>
                    </a:lnTo>
                    <a:cubicBezTo>
                      <a:pt x="0" y="11372"/>
                      <a:pt x="11372" y="0"/>
                      <a:pt x="25400" y="0"/>
                    </a:cubicBezTo>
                    <a:lnTo>
                      <a:pt x="114300" y="0"/>
                    </a:lnTo>
                    <a:lnTo>
                      <a:pt x="177800" y="63500"/>
                    </a:lnTo>
                    <a:lnTo>
                      <a:pt x="177800" y="203200"/>
                    </a:lnTo>
                    <a:cubicBezTo>
                      <a:pt x="177800" y="217228"/>
                      <a:pt x="166428" y="228600"/>
                      <a:pt x="152400" y="228600"/>
                    </a:cubicBezTo>
                  </a:path>
                </a:pathLst>
              </a:custGeom>
              <a:noFill/>
              <a:ln w="19050">
                <a:solidFill>
                  <a:srgbClr val="FFFFFF"/>
                </a:solidFill>
              </a:ln>
            </p:spPr>
          </p:sp>
          <p:sp>
            <p:nvSpPr>
              <p:cNvPr id="48" name="Freeform 48"/>
              <p:cNvSpPr/>
              <p:nvPr/>
            </p:nvSpPr>
            <p:spPr>
              <a:xfrm>
                <a:off x="990600" y="4467225"/>
                <a:ext cx="12700" cy="9525"/>
              </a:xfrm>
              <a:custGeom>
                <a:avLst/>
                <a:gdLst/>
                <a:ahLst/>
                <a:cxnLst/>
                <a:rect l="l" t="t" r="r" b="b"/>
                <a:pathLst>
                  <a:path w="12700" h="9525">
                    <a:moveTo>
                      <a:pt x="0" y="0"/>
                    </a:moveTo>
                    <a:lnTo>
                      <a:pt x="12700" y="0"/>
                    </a:lnTo>
                  </a:path>
                </a:pathLst>
              </a:custGeom>
              <a:noFill/>
              <a:ln w="19050">
                <a:solidFill>
                  <a:srgbClr val="FFFFFF"/>
                </a:solidFill>
              </a:ln>
            </p:spPr>
          </p:sp>
          <p:sp>
            <p:nvSpPr>
              <p:cNvPr id="49" name="Freeform 49"/>
              <p:cNvSpPr/>
              <p:nvPr/>
            </p:nvSpPr>
            <p:spPr>
              <a:xfrm>
                <a:off x="990600" y="4518025"/>
                <a:ext cx="76200" cy="9525"/>
              </a:xfrm>
              <a:custGeom>
                <a:avLst/>
                <a:gdLst/>
                <a:ahLst/>
                <a:cxnLst/>
                <a:rect l="l" t="t" r="r" b="b"/>
                <a:pathLst>
                  <a:path w="76200" h="9525">
                    <a:moveTo>
                      <a:pt x="0" y="0"/>
                    </a:moveTo>
                    <a:lnTo>
                      <a:pt x="76200" y="0"/>
                    </a:lnTo>
                  </a:path>
                </a:pathLst>
              </a:custGeom>
              <a:noFill/>
              <a:ln w="19050">
                <a:solidFill>
                  <a:srgbClr val="FFFFFF"/>
                </a:solidFill>
              </a:ln>
            </p:spPr>
          </p:sp>
          <p:sp>
            <p:nvSpPr>
              <p:cNvPr id="50" name="Freeform 50"/>
              <p:cNvSpPr/>
              <p:nvPr/>
            </p:nvSpPr>
            <p:spPr>
              <a:xfrm>
                <a:off x="990600" y="4568825"/>
                <a:ext cx="76200" cy="9525"/>
              </a:xfrm>
              <a:custGeom>
                <a:avLst/>
                <a:gdLst/>
                <a:ahLst/>
                <a:cxnLst/>
                <a:rect l="l" t="t" r="r" b="b"/>
                <a:pathLst>
                  <a:path w="76200" h="9525">
                    <a:moveTo>
                      <a:pt x="0" y="0"/>
                    </a:moveTo>
                    <a:lnTo>
                      <a:pt x="76200" y="0"/>
                    </a:lnTo>
                  </a:path>
                </a:pathLst>
              </a:custGeom>
              <a:noFill/>
              <a:ln w="19050">
                <a:solidFill>
                  <a:srgbClr val="FFFFFF"/>
                </a:solidFill>
              </a:ln>
            </p:spPr>
          </p:sp>
        </p:grpSp>
        <p:sp>
          <p:nvSpPr>
            <p:cNvPr id="52" name="TextBox 52"/>
            <p:cNvSpPr txBox="1"/>
            <p:nvPr/>
          </p:nvSpPr>
          <p:spPr>
            <a:xfrm>
              <a:off x="1416368" y="4342924"/>
              <a:ext cx="1191986" cy="198120"/>
            </a:xfrm>
            <a:prstGeom prst="rect">
              <a:avLst/>
            </a:prstGeom>
            <a:noFill/>
            <a:ln>
              <a:noFill/>
            </a:ln>
          </p:spPr>
          <p:txBody>
            <a:bodyPr wrap="none" lIns="0" tIns="0" rIns="0" bIns="0" anchor="t" anchorCtr="0">
              <a:spAutoFit/>
            </a:bodyPr>
            <a:lstStyle/>
            <a:p>
              <a:pPr algn="l"/>
              <a:r>
                <a:rPr lang="zh-CN" sz="975" b="1" dirty="0">
                  <a:solidFill>
                    <a:srgbClr val="F59E0B"/>
                  </a:solidFill>
                  <a:latin typeface="Arial" panose="020B0604020202020204"/>
                  <a:ea typeface="微软雅黑" panose="020B0503020204020204" charset="-122"/>
                  <a:cs typeface="Arial" panose="020B0604020202020204"/>
                </a:rPr>
                <a:t>智能投标+客户归并</a:t>
              </a:r>
              <a:endParaRPr lang="zh-CN" sz="975" b="1" dirty="0">
                <a:solidFill>
                  <a:srgbClr val="F59E0B"/>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1407795" y="4536758"/>
              <a:ext cx="1485840"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效率↑ · 风险↓</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845820" y="4912995"/>
              <a:ext cx="682638" cy="487680"/>
            </a:xfrm>
            <a:prstGeom prst="rect">
              <a:avLst/>
            </a:prstGeom>
            <a:noFill/>
            <a:ln>
              <a:noFill/>
            </a:ln>
          </p:spPr>
          <p:txBody>
            <a:bodyPr wrap="none" lIns="0" tIns="0" rIns="0" bIns="0" anchor="t" anchorCtr="0">
              <a:spAutoFit/>
            </a:bodyPr>
            <a:lstStyle/>
            <a:p>
              <a:pPr algn="l"/>
              <a:r>
                <a:rPr lang="zh-CN" sz="2400" b="1" dirty="0">
                  <a:solidFill>
                    <a:srgbClr val="0052A6"/>
                  </a:solidFill>
                  <a:latin typeface="Arial" panose="020B0604020202020204"/>
                  <a:ea typeface="微软雅黑" panose="020B0503020204020204" charset="-122"/>
                  <a:cs typeface="Arial" panose="020B0604020202020204"/>
                </a:rPr>
                <a:t>5 倍</a:t>
              </a:r>
              <a:endParaRPr lang="zh-CN" sz="2400" b="1" dirty="0">
                <a:solidFill>
                  <a:srgbClr val="0052A6"/>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863918" y="5314474"/>
              <a:ext cx="1064895"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标书生产效率提升</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2369820" y="4912995"/>
              <a:ext cx="682638" cy="487680"/>
            </a:xfrm>
            <a:prstGeom prst="rect">
              <a:avLst/>
            </a:prstGeom>
            <a:noFill/>
            <a:ln>
              <a:noFill/>
            </a:ln>
          </p:spPr>
          <p:txBody>
            <a:bodyPr wrap="none" lIns="0" tIns="0" rIns="0" bIns="0" anchor="t" anchorCtr="0">
              <a:spAutoFit/>
            </a:bodyPr>
            <a:lstStyle/>
            <a:p>
              <a:pPr algn="l"/>
              <a:r>
                <a:rPr lang="zh-CN" sz="2400" b="1" dirty="0">
                  <a:solidFill>
                    <a:srgbClr val="0E9F6E"/>
                  </a:solidFill>
                  <a:latin typeface="Arial" panose="020B0604020202020204"/>
                  <a:ea typeface="微软雅黑" panose="020B0503020204020204" charset="-122"/>
                  <a:cs typeface="Arial" panose="020B0604020202020204"/>
                </a:rPr>
                <a:t>50%</a:t>
              </a:r>
              <a:endParaRPr lang="zh-CN" sz="2400" b="1" dirty="0">
                <a:solidFill>
                  <a:srgbClr val="0E9F6E"/>
                </a:solidFill>
                <a:latin typeface="Arial" panose="020B0604020202020204"/>
                <a:ea typeface="微软雅黑" panose="020B0503020204020204" charset="-122"/>
                <a:cs typeface="Arial" panose="020B0604020202020204"/>
              </a:endParaRPr>
            </a:p>
          </p:txBody>
        </p:sp>
        <p:sp>
          <p:nvSpPr>
            <p:cNvPr id="57" name="TextBox 57"/>
            <p:cNvSpPr txBox="1"/>
            <p:nvPr/>
          </p:nvSpPr>
          <p:spPr>
            <a:xfrm>
              <a:off x="2387918" y="5314474"/>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废标风险降低</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58" name="TextBox 58"/>
            <p:cNvSpPr txBox="1"/>
            <p:nvPr/>
          </p:nvSpPr>
          <p:spPr>
            <a:xfrm>
              <a:off x="3893820" y="4912995"/>
              <a:ext cx="1069086" cy="487680"/>
            </a:xfrm>
            <a:prstGeom prst="rect">
              <a:avLst/>
            </a:prstGeom>
            <a:noFill/>
            <a:ln>
              <a:noFill/>
            </a:ln>
          </p:spPr>
          <p:txBody>
            <a:bodyPr wrap="none" lIns="0" tIns="0" rIns="0" bIns="0" anchor="t" anchorCtr="0">
              <a:spAutoFit/>
            </a:bodyPr>
            <a:lstStyle/>
            <a:p>
              <a:pPr algn="l"/>
              <a:r>
                <a:rPr lang="zh-CN" sz="2400" b="1" dirty="0">
                  <a:solidFill>
                    <a:srgbClr val="0E9F6E"/>
                  </a:solidFill>
                  <a:latin typeface="Arial" panose="020B0604020202020204"/>
                  <a:ea typeface="微软雅黑" panose="020B0503020204020204" charset="-122"/>
                  <a:cs typeface="Arial" panose="020B0604020202020204"/>
                </a:rPr>
                <a:t>可复用</a:t>
              </a:r>
              <a:endParaRPr lang="zh-CN" sz="2400" b="1" dirty="0">
                <a:solidFill>
                  <a:srgbClr val="0E9F6E"/>
                </a:solidFill>
                <a:latin typeface="Arial" panose="020B0604020202020204"/>
                <a:ea typeface="微软雅黑" panose="020B0503020204020204" charset="-122"/>
                <a:cs typeface="Arial" panose="020B0604020202020204"/>
              </a:endParaRPr>
            </a:p>
          </p:txBody>
        </p:sp>
        <p:sp>
          <p:nvSpPr>
            <p:cNvPr id="59" name="TextBox 59"/>
            <p:cNvSpPr txBox="1"/>
            <p:nvPr/>
          </p:nvSpPr>
          <p:spPr>
            <a:xfrm>
              <a:off x="3911918" y="5314474"/>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历史标书资产</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60" name="TextBox 60"/>
            <p:cNvSpPr txBox="1"/>
            <p:nvPr/>
          </p:nvSpPr>
          <p:spPr>
            <a:xfrm>
              <a:off x="864870" y="5836920"/>
              <a:ext cx="2111121"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panose="020B0604020202020204"/>
                  <a:ea typeface="微软雅黑" panose="020B0503020204020204" charset="-122"/>
                  <a:cs typeface="Arial" panose="020B0604020202020204"/>
                </a:rPr>
                <a:t>* 客户归并化解重复跟进,隐性价值显著</a:t>
              </a:r>
              <a:endParaRPr lang="zh-CN" sz="900" dirty="0">
                <a:solidFill>
                  <a:srgbClr val="6B7785"/>
                </a:solidFill>
                <a:latin typeface="Arial" panose="020B0604020202020204"/>
                <a:ea typeface="微软雅黑" panose="020B0503020204020204" charset="-122"/>
                <a:cs typeface="Arial" panose="020B0604020202020204"/>
              </a:endParaRPr>
            </a:p>
          </p:txBody>
        </p:sp>
      </p:grpSp>
      <p:grpSp>
        <p:nvGrpSpPr>
          <p:cNvPr id="79" name="Group 79"/>
          <p:cNvGrpSpPr/>
          <p:nvPr/>
        </p:nvGrpSpPr>
        <p:grpSpPr>
          <a:xfrm>
            <a:off x="6191250" y="4048125"/>
            <a:ext cx="5429250" cy="2143125"/>
            <a:chOff x="6191250" y="4048125"/>
            <a:chExt cx="5429250" cy="2143125"/>
          </a:xfrm>
        </p:grpSpPr>
        <p:sp>
          <p:nvSpPr>
            <p:cNvPr id="62" name="Rectangle 62"/>
            <p:cNvSpPr/>
            <p:nvPr/>
          </p:nvSpPr>
          <p:spPr>
            <a:xfrm>
              <a:off x="6191250" y="4048125"/>
              <a:ext cx="5429250" cy="2143125"/>
            </a:xfrm>
            <a:prstGeom prst="roundRect">
              <a:avLst>
                <a:gd name="adj" fmla="val 5333"/>
              </a:avLst>
            </a:prstGeom>
            <a:solidFill>
              <a:srgbClr val="F4F7FC"/>
            </a:solidFill>
            <a:ln>
              <a:noFill/>
            </a:ln>
          </p:spPr>
        </p:sp>
        <p:sp>
          <p:nvSpPr>
            <p:cNvPr id="63" name="Rectangle 63"/>
            <p:cNvSpPr/>
            <p:nvPr/>
          </p:nvSpPr>
          <p:spPr>
            <a:xfrm>
              <a:off x="6191250" y="4048125"/>
              <a:ext cx="57150" cy="2143125"/>
            </a:xfrm>
            <a:prstGeom prst="roundRect">
              <a:avLst>
                <a:gd name="adj" fmla="val 50000"/>
              </a:avLst>
            </a:prstGeom>
            <a:solidFill>
              <a:srgbClr val="20A7B8"/>
            </a:solidFill>
            <a:ln>
              <a:noFill/>
            </a:ln>
          </p:spPr>
        </p:sp>
        <p:sp>
          <p:nvSpPr>
            <p:cNvPr id="64" name="Ellipse 64"/>
            <p:cNvSpPr/>
            <p:nvPr/>
          </p:nvSpPr>
          <p:spPr>
            <a:xfrm>
              <a:off x="6400800" y="4257675"/>
              <a:ext cx="495300" cy="495300"/>
            </a:xfrm>
            <a:prstGeom prst="ellipse">
              <a:avLst/>
            </a:prstGeom>
            <a:solidFill>
              <a:srgbClr val="20A7B8"/>
            </a:solidFill>
            <a:ln>
              <a:noFill/>
            </a:ln>
          </p:spPr>
        </p:sp>
        <p:grpSp>
          <p:nvGrpSpPr>
            <p:cNvPr id="69" name="Group 69"/>
            <p:cNvGrpSpPr/>
            <p:nvPr/>
          </p:nvGrpSpPr>
          <p:grpSpPr>
            <a:xfrm>
              <a:off x="6546850" y="4391025"/>
              <a:ext cx="203200" cy="241300"/>
              <a:chOff x="6546850" y="4391025"/>
              <a:chExt cx="203200" cy="241300"/>
            </a:xfrm>
          </p:grpSpPr>
          <p:sp>
            <p:nvSpPr>
              <p:cNvPr id="65" name="Freeform 65"/>
              <p:cNvSpPr/>
              <p:nvPr/>
            </p:nvSpPr>
            <p:spPr>
              <a:xfrm>
                <a:off x="6546850" y="4391025"/>
                <a:ext cx="203200" cy="139700"/>
              </a:xfrm>
              <a:custGeom>
                <a:avLst/>
                <a:gdLst/>
                <a:ahLst/>
                <a:cxnLst/>
                <a:rect l="l" t="t" r="r" b="b"/>
                <a:pathLst>
                  <a:path w="203200" h="139700">
                    <a:moveTo>
                      <a:pt x="0" y="139700"/>
                    </a:moveTo>
                    <a:lnTo>
                      <a:pt x="0" y="101600"/>
                    </a:lnTo>
                    <a:cubicBezTo>
                      <a:pt x="0" y="45488"/>
                      <a:pt x="45488" y="0"/>
                      <a:pt x="101600" y="0"/>
                    </a:cubicBezTo>
                    <a:cubicBezTo>
                      <a:pt x="157712" y="0"/>
                      <a:pt x="203200" y="45488"/>
                      <a:pt x="203200" y="101600"/>
                    </a:cubicBezTo>
                    <a:lnTo>
                      <a:pt x="203200" y="139700"/>
                    </a:lnTo>
                  </a:path>
                </a:pathLst>
              </a:custGeom>
              <a:noFill/>
              <a:ln w="19050">
                <a:solidFill>
                  <a:srgbClr val="FFFFFF"/>
                </a:solidFill>
              </a:ln>
            </p:spPr>
          </p:sp>
          <p:sp>
            <p:nvSpPr>
              <p:cNvPr id="66" name="Freeform 66"/>
              <p:cNvSpPr/>
              <p:nvPr/>
            </p:nvSpPr>
            <p:spPr>
              <a:xfrm>
                <a:off x="6648450" y="4594225"/>
                <a:ext cx="76200" cy="38100"/>
              </a:xfrm>
              <a:custGeom>
                <a:avLst/>
                <a:gdLst/>
                <a:ahLst/>
                <a:cxnLst/>
                <a:rect l="l" t="t" r="r" b="b"/>
                <a:pathLst>
                  <a:path w="76200" h="38100">
                    <a:moveTo>
                      <a:pt x="76200" y="0"/>
                    </a:moveTo>
                    <a:cubicBezTo>
                      <a:pt x="76200" y="21044"/>
                      <a:pt x="42088" y="38100"/>
                      <a:pt x="0" y="38100"/>
                    </a:cubicBezTo>
                  </a:path>
                </a:pathLst>
              </a:custGeom>
              <a:noFill/>
              <a:ln w="19050">
                <a:solidFill>
                  <a:srgbClr val="FFFFFF"/>
                </a:solidFill>
              </a:ln>
            </p:spPr>
          </p:sp>
          <p:sp>
            <p:nvSpPr>
              <p:cNvPr id="67" name="Freeform 67"/>
              <p:cNvSpPr/>
              <p:nvPr/>
            </p:nvSpPr>
            <p:spPr>
              <a:xfrm>
                <a:off x="6546850" y="4505325"/>
                <a:ext cx="63500" cy="88900"/>
              </a:xfrm>
              <a:custGeom>
                <a:avLst/>
                <a:gdLst/>
                <a:ahLst/>
                <a:cxnLst/>
                <a:rect l="l" t="t" r="r" b="b"/>
                <a:pathLst>
                  <a:path w="63500" h="88900">
                    <a:moveTo>
                      <a:pt x="0" y="25400"/>
                    </a:moveTo>
                    <a:cubicBezTo>
                      <a:pt x="0" y="11372"/>
                      <a:pt x="11372" y="0"/>
                      <a:pt x="25400" y="0"/>
                    </a:cubicBezTo>
                    <a:lnTo>
                      <a:pt x="38100" y="0"/>
                    </a:lnTo>
                    <a:cubicBezTo>
                      <a:pt x="52128" y="0"/>
                      <a:pt x="63500" y="11372"/>
                      <a:pt x="63500" y="25400"/>
                    </a:cubicBezTo>
                    <a:lnTo>
                      <a:pt x="63500" y="63500"/>
                    </a:lnTo>
                    <a:cubicBezTo>
                      <a:pt x="63500" y="77528"/>
                      <a:pt x="52128" y="88900"/>
                      <a:pt x="38100" y="88900"/>
                    </a:cubicBezTo>
                    <a:lnTo>
                      <a:pt x="25400" y="88900"/>
                    </a:lnTo>
                    <a:cubicBezTo>
                      <a:pt x="11372" y="88900"/>
                      <a:pt x="0" y="77528"/>
                      <a:pt x="0" y="63500"/>
                    </a:cubicBezTo>
                    <a:lnTo>
                      <a:pt x="0" y="25400"/>
                    </a:lnTo>
                  </a:path>
                </a:pathLst>
              </a:custGeom>
              <a:noFill/>
              <a:ln w="19050">
                <a:solidFill>
                  <a:srgbClr val="FFFFFF"/>
                </a:solidFill>
              </a:ln>
            </p:spPr>
          </p:sp>
          <p:sp>
            <p:nvSpPr>
              <p:cNvPr id="68" name="Freeform 68"/>
              <p:cNvSpPr/>
              <p:nvPr/>
            </p:nvSpPr>
            <p:spPr>
              <a:xfrm>
                <a:off x="6686550" y="4505325"/>
                <a:ext cx="63500" cy="88900"/>
              </a:xfrm>
              <a:custGeom>
                <a:avLst/>
                <a:gdLst/>
                <a:ahLst/>
                <a:cxnLst/>
                <a:rect l="l" t="t" r="r" b="b"/>
                <a:pathLst>
                  <a:path w="63500" h="88900">
                    <a:moveTo>
                      <a:pt x="0" y="25400"/>
                    </a:moveTo>
                    <a:cubicBezTo>
                      <a:pt x="0" y="11372"/>
                      <a:pt x="11372" y="0"/>
                      <a:pt x="25400" y="0"/>
                    </a:cubicBezTo>
                    <a:lnTo>
                      <a:pt x="38100" y="0"/>
                    </a:lnTo>
                    <a:cubicBezTo>
                      <a:pt x="52128" y="0"/>
                      <a:pt x="63500" y="11372"/>
                      <a:pt x="63500" y="25400"/>
                    </a:cubicBezTo>
                    <a:lnTo>
                      <a:pt x="63500" y="63500"/>
                    </a:lnTo>
                    <a:cubicBezTo>
                      <a:pt x="63500" y="77528"/>
                      <a:pt x="52128" y="88900"/>
                      <a:pt x="38100" y="88900"/>
                    </a:cubicBezTo>
                    <a:lnTo>
                      <a:pt x="25400" y="88900"/>
                    </a:lnTo>
                    <a:cubicBezTo>
                      <a:pt x="11372" y="88900"/>
                      <a:pt x="0" y="77528"/>
                      <a:pt x="0" y="63500"/>
                    </a:cubicBezTo>
                    <a:lnTo>
                      <a:pt x="0" y="25400"/>
                    </a:lnTo>
                  </a:path>
                </a:pathLst>
              </a:custGeom>
              <a:noFill/>
              <a:ln w="19050">
                <a:solidFill>
                  <a:srgbClr val="FFFFFF"/>
                </a:solidFill>
              </a:ln>
            </p:spPr>
          </p:sp>
        </p:grpSp>
        <p:sp>
          <p:nvSpPr>
            <p:cNvPr id="70" name="TextBox 70"/>
            <p:cNvSpPr txBox="1"/>
            <p:nvPr/>
          </p:nvSpPr>
          <p:spPr>
            <a:xfrm>
              <a:off x="7036118" y="4342924"/>
              <a:ext cx="570833" cy="198120"/>
            </a:xfrm>
            <a:prstGeom prst="rect">
              <a:avLst/>
            </a:prstGeom>
            <a:noFill/>
            <a:ln>
              <a:noFill/>
            </a:ln>
          </p:spPr>
          <p:txBody>
            <a:bodyPr wrap="none" lIns="0" tIns="0" rIns="0" bIns="0" anchor="t" anchorCtr="0">
              <a:spAutoFit/>
            </a:bodyPr>
            <a:lstStyle/>
            <a:p>
              <a:pPr algn="l"/>
              <a:r>
                <a:rPr lang="zh-CN" sz="975" b="1" dirty="0">
                  <a:solidFill>
                    <a:srgbClr val="20A7B8"/>
                  </a:solidFill>
                  <a:latin typeface="Arial" panose="020B0604020202020204"/>
                  <a:ea typeface="微软雅黑" panose="020B0503020204020204" charset="-122"/>
                  <a:cs typeface="Arial" panose="020B0604020202020204"/>
                </a:rPr>
                <a:t>智能营销</a:t>
              </a:r>
              <a:endParaRPr lang="zh-CN" sz="975" b="1" dirty="0">
                <a:solidFill>
                  <a:srgbClr val="20A7B8"/>
                </a:solidFill>
                <a:latin typeface="Arial" panose="020B0604020202020204"/>
                <a:ea typeface="微软雅黑" panose="020B0503020204020204" charset="-122"/>
                <a:cs typeface="Arial" panose="020B0604020202020204"/>
              </a:endParaRPr>
            </a:p>
          </p:txBody>
        </p:sp>
        <p:sp>
          <p:nvSpPr>
            <p:cNvPr id="71" name="TextBox 71"/>
            <p:cNvSpPr txBox="1"/>
            <p:nvPr/>
          </p:nvSpPr>
          <p:spPr>
            <a:xfrm>
              <a:off x="7027545" y="4536758"/>
              <a:ext cx="1485840"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覆盖↑ · 响应↑</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72" name="TextBox 72"/>
            <p:cNvSpPr txBox="1"/>
            <p:nvPr/>
          </p:nvSpPr>
          <p:spPr>
            <a:xfrm>
              <a:off x="6465570" y="4912995"/>
              <a:ext cx="867461" cy="487680"/>
            </a:xfrm>
            <a:prstGeom prst="rect">
              <a:avLst/>
            </a:prstGeom>
            <a:noFill/>
            <a:ln>
              <a:noFill/>
            </a:ln>
          </p:spPr>
          <p:txBody>
            <a:bodyPr wrap="none" lIns="0" tIns="0" rIns="0" bIns="0" anchor="t" anchorCtr="0">
              <a:spAutoFit/>
            </a:bodyPr>
            <a:lstStyle/>
            <a:p>
              <a:pPr algn="l"/>
              <a:r>
                <a:rPr lang="zh-CN" sz="2400" b="1" dirty="0">
                  <a:solidFill>
                    <a:srgbClr val="0052A6"/>
                  </a:solidFill>
                  <a:latin typeface="Arial" panose="020B0604020202020204"/>
                  <a:ea typeface="微软雅黑" panose="020B0503020204020204" charset="-122"/>
                  <a:cs typeface="Arial" panose="020B0604020202020204"/>
                </a:rPr>
                <a:t>100%</a:t>
              </a:r>
              <a:endParaRPr lang="zh-CN" sz="2400" b="1" dirty="0">
                <a:solidFill>
                  <a:srgbClr val="0052A6"/>
                </a:solidFill>
                <a:latin typeface="Arial" panose="020B0604020202020204"/>
                <a:ea typeface="微软雅黑" panose="020B0503020204020204" charset="-122"/>
                <a:cs typeface="Arial" panose="020B0604020202020204"/>
              </a:endParaRPr>
            </a:p>
          </p:txBody>
        </p:sp>
        <p:sp>
          <p:nvSpPr>
            <p:cNvPr id="73" name="TextBox 73"/>
            <p:cNvSpPr txBox="1"/>
            <p:nvPr/>
          </p:nvSpPr>
          <p:spPr>
            <a:xfrm>
              <a:off x="6483668" y="5314474"/>
              <a:ext cx="93487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录音分析覆盖率</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74" name="TextBox 74"/>
            <p:cNvSpPr txBox="1"/>
            <p:nvPr/>
          </p:nvSpPr>
          <p:spPr>
            <a:xfrm>
              <a:off x="8370570" y="4912995"/>
              <a:ext cx="615429" cy="487680"/>
            </a:xfrm>
            <a:prstGeom prst="rect">
              <a:avLst/>
            </a:prstGeom>
            <a:noFill/>
            <a:ln>
              <a:noFill/>
            </a:ln>
          </p:spPr>
          <p:txBody>
            <a:bodyPr wrap="none" lIns="0" tIns="0" rIns="0" bIns="0" anchor="t" anchorCtr="0">
              <a:spAutoFit/>
            </a:bodyPr>
            <a:lstStyle/>
            <a:p>
              <a:pPr algn="l"/>
              <a:r>
                <a:rPr lang="zh-CN" sz="2400" b="1" dirty="0">
                  <a:solidFill>
                    <a:srgbClr val="0052A6"/>
                  </a:solidFill>
                  <a:latin typeface="Arial" panose="020B0604020202020204"/>
                  <a:ea typeface="微软雅黑" panose="020B0503020204020204" charset="-122"/>
                  <a:cs typeface="Arial" panose="020B0604020202020204"/>
                </a:rPr>
                <a:t>&lt;1h</a:t>
              </a:r>
              <a:endParaRPr lang="zh-CN" sz="2400" b="1" dirty="0">
                <a:solidFill>
                  <a:srgbClr val="0052A6"/>
                </a:solidFill>
                <a:latin typeface="Arial" panose="020B0604020202020204"/>
                <a:ea typeface="微软雅黑" panose="020B0503020204020204" charset="-122"/>
                <a:cs typeface="Arial" panose="020B0604020202020204"/>
              </a:endParaRPr>
            </a:p>
          </p:txBody>
        </p:sp>
        <p:sp>
          <p:nvSpPr>
            <p:cNvPr id="75" name="TextBox 75"/>
            <p:cNvSpPr txBox="1"/>
            <p:nvPr/>
          </p:nvSpPr>
          <p:spPr>
            <a:xfrm>
              <a:off x="8388668" y="5314474"/>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商机识别响应</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76" name="TextBox 76"/>
            <p:cNvSpPr txBox="1"/>
            <p:nvPr/>
          </p:nvSpPr>
          <p:spPr>
            <a:xfrm>
              <a:off x="9894570" y="4912995"/>
              <a:ext cx="1069086" cy="487680"/>
            </a:xfrm>
            <a:prstGeom prst="rect">
              <a:avLst/>
            </a:prstGeom>
            <a:noFill/>
            <a:ln>
              <a:noFill/>
            </a:ln>
          </p:spPr>
          <p:txBody>
            <a:bodyPr wrap="none" lIns="0" tIns="0" rIns="0" bIns="0" anchor="t" anchorCtr="0">
              <a:spAutoFit/>
            </a:bodyPr>
            <a:lstStyle/>
            <a:p>
              <a:pPr algn="l"/>
              <a:r>
                <a:rPr lang="zh-CN" sz="2400" b="1" dirty="0">
                  <a:solidFill>
                    <a:srgbClr val="0E9F6E"/>
                  </a:solidFill>
                  <a:latin typeface="Arial" panose="020B0604020202020204"/>
                  <a:ea typeface="微软雅黑" panose="020B0503020204020204" charset="-122"/>
                  <a:cs typeface="Arial" panose="020B0604020202020204"/>
                </a:rPr>
                <a:t>可复制</a:t>
              </a:r>
              <a:endParaRPr lang="zh-CN" sz="2400" b="1" dirty="0">
                <a:solidFill>
                  <a:srgbClr val="0E9F6E"/>
                </a:solidFill>
                <a:latin typeface="Arial" panose="020B0604020202020204"/>
                <a:ea typeface="微软雅黑" panose="020B0503020204020204" charset="-122"/>
                <a:cs typeface="Arial" panose="020B0604020202020204"/>
              </a:endParaRPr>
            </a:p>
          </p:txBody>
        </p:sp>
        <p:sp>
          <p:nvSpPr>
            <p:cNvPr id="77" name="TextBox 77"/>
            <p:cNvSpPr txBox="1"/>
            <p:nvPr/>
          </p:nvSpPr>
          <p:spPr>
            <a:xfrm>
              <a:off x="9912668" y="5314474"/>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优秀话术沉淀</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78" name="TextBox 78"/>
            <p:cNvSpPr txBox="1"/>
            <p:nvPr/>
          </p:nvSpPr>
          <p:spPr>
            <a:xfrm>
              <a:off x="6484620" y="5836920"/>
              <a:ext cx="1991106"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panose="020B0604020202020204"/>
                  <a:ea typeface="微软雅黑" panose="020B0503020204020204" charset="-122"/>
                  <a:cs typeface="Arial" panose="020B0604020202020204"/>
                </a:rPr>
                <a:t>* 以上为预估值,可按实际业务量校准</a:t>
              </a:r>
              <a:endParaRPr lang="zh-CN" sz="900" dirty="0">
                <a:solidFill>
                  <a:srgbClr val="6B7785"/>
                </a:solidFill>
                <a:latin typeface="Arial" panose="020B0604020202020204"/>
                <a:ea typeface="微软雅黑" panose="020B0503020204020204" charset="-122"/>
                <a:cs typeface="Arial" panose="020B0604020202020204"/>
              </a:endParaRPr>
            </a:p>
          </p:txBody>
        </p:sp>
      </p:grpSp>
      <p:grpSp>
        <p:nvGrpSpPr>
          <p:cNvPr id="82" name="Group 82"/>
          <p:cNvGrpSpPr/>
          <p:nvPr/>
        </p:nvGrpSpPr>
        <p:grpSpPr>
          <a:xfrm>
            <a:off x="561022" y="6578441"/>
            <a:ext cx="11069955" cy="167640"/>
            <a:chOff x="561022" y="6578441"/>
            <a:chExt cx="11069955" cy="167640"/>
          </a:xfrm>
        </p:grpSpPr>
        <p:sp>
          <p:nvSpPr>
            <p:cNvPr id="80" name="TextBox 80"/>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81" name="TextBox 81"/>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20</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slide(fromBottom)">
                                      <p:cBhvr>
                                        <p:cTn id="7" dur="400"/>
                                        <p:tgtEl>
                                          <p:spTgt spid="26"/>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image">
                                      <p:cBhvr>
                                        <p:cTn id="11" dur="400"/>
                                        <p:tgtEl>
                                          <p:spTgt spid="4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400"/>
                                        <p:tgtEl>
                                          <p:spTgt spid="61"/>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wipe(left)">
                                      <p:cBhvr>
                                        <p:cTn id="19"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2" grpId="0"/>
      <p:bldP spid="61" grpId="0"/>
      <p:bldP spid="7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6068568" cy="970598"/>
            <a:chOff x="542925" y="553402"/>
            <a:chExt cx="6068568" cy="970598"/>
          </a:xfrm>
        </p:grpSpPr>
        <p:sp>
          <p:nvSpPr>
            <p:cNvPr id="5" name="TextBox 5"/>
            <p:cNvSpPr txBox="1"/>
            <p:nvPr/>
          </p:nvSpPr>
          <p:spPr>
            <a:xfrm>
              <a:off x="558165" y="553402"/>
              <a:ext cx="967588"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04 价值与实施</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4294430"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实施路径 — 试点 · 扩展 · 闭环</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6055233"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分三阶段稳步推进:先单场景试点验证价值,再横向扩展四场景,最后打通闭环持续运营</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17" name="Group 17"/>
          <p:cNvGrpSpPr/>
          <p:nvPr/>
        </p:nvGrpSpPr>
        <p:grpSpPr>
          <a:xfrm>
            <a:off x="1143000" y="1952149"/>
            <a:ext cx="10420922" cy="483870"/>
            <a:chOff x="1143000" y="1952149"/>
            <a:chExt cx="10420922" cy="483870"/>
          </a:xfrm>
        </p:grpSpPr>
        <p:sp>
          <p:nvSpPr>
            <p:cNvPr id="9" name="Line 9"/>
            <p:cNvSpPr/>
            <p:nvPr/>
          </p:nvSpPr>
          <p:spPr>
            <a:xfrm>
              <a:off x="1143000" y="2286000"/>
              <a:ext cx="9906000" cy="9525"/>
            </a:xfrm>
            <a:custGeom>
              <a:avLst/>
              <a:gdLst/>
              <a:ahLst/>
              <a:cxnLst/>
              <a:rect l="l" t="t" r="r" b="b"/>
              <a:pathLst>
                <a:path w="9906000" h="9525">
                  <a:moveTo>
                    <a:pt x="0" y="0"/>
                  </a:moveTo>
                  <a:lnTo>
                    <a:pt x="9906000" y="0"/>
                  </a:lnTo>
                </a:path>
              </a:pathLst>
            </a:custGeom>
            <a:noFill/>
            <a:ln w="28575">
              <a:solidFill>
                <a:srgbClr val="E3E9F2"/>
              </a:solidFill>
            </a:ln>
          </p:spPr>
        </p:sp>
        <p:sp>
          <p:nvSpPr>
            <p:cNvPr id="10" name="Ellipse 10"/>
            <p:cNvSpPr/>
            <p:nvPr/>
          </p:nvSpPr>
          <p:spPr>
            <a:xfrm>
              <a:off x="1771650" y="2152650"/>
              <a:ext cx="266700" cy="266700"/>
            </a:xfrm>
            <a:prstGeom prst="ellipse">
              <a:avLst/>
            </a:prstGeom>
            <a:solidFill>
              <a:srgbClr val="246BFE"/>
            </a:solidFill>
            <a:ln>
              <a:noFill/>
            </a:ln>
          </p:spPr>
        </p:sp>
        <p:sp>
          <p:nvSpPr>
            <p:cNvPr id="11" name="Ellipse 11"/>
            <p:cNvSpPr/>
            <p:nvPr/>
          </p:nvSpPr>
          <p:spPr>
            <a:xfrm>
              <a:off x="5962650" y="2152650"/>
              <a:ext cx="266700" cy="266700"/>
            </a:xfrm>
            <a:prstGeom prst="ellipse">
              <a:avLst/>
            </a:prstGeom>
            <a:solidFill>
              <a:srgbClr val="0052A6"/>
            </a:solidFill>
            <a:ln>
              <a:noFill/>
            </a:ln>
          </p:spPr>
        </p:sp>
        <p:sp>
          <p:nvSpPr>
            <p:cNvPr id="12" name="Ellipse 12"/>
            <p:cNvSpPr/>
            <p:nvPr/>
          </p:nvSpPr>
          <p:spPr>
            <a:xfrm>
              <a:off x="10153650" y="2152650"/>
              <a:ext cx="266700" cy="266700"/>
            </a:xfrm>
            <a:prstGeom prst="ellipse">
              <a:avLst/>
            </a:prstGeom>
            <a:solidFill>
              <a:srgbClr val="0E9F6E"/>
            </a:solidFill>
            <a:ln>
              <a:noFill/>
            </a:ln>
          </p:spPr>
        </p:sp>
        <p:sp>
          <p:nvSpPr>
            <p:cNvPr id="13" name="TextBox 13"/>
            <p:cNvSpPr txBox="1"/>
            <p:nvPr/>
          </p:nvSpPr>
          <p:spPr>
            <a:xfrm>
              <a:off x="1855075" y="1952149"/>
              <a:ext cx="99849" cy="198120"/>
            </a:xfrm>
            <a:prstGeom prst="rect">
              <a:avLst/>
            </a:prstGeom>
            <a:noFill/>
            <a:ln>
              <a:noFill/>
            </a:ln>
          </p:spPr>
          <p:txBody>
            <a:bodyPr wrap="none" lIns="0" tIns="0" rIns="0" bIns="0" anchor="t" anchorCtr="0">
              <a:spAutoFit/>
            </a:bodyPr>
            <a:lstStyle/>
            <a:p>
              <a:pPr algn="ctr"/>
              <a:r>
                <a:rPr lang="zh-CN" sz="975" b="1" dirty="0">
                  <a:solidFill>
                    <a:srgbClr val="246BFE"/>
                  </a:solidFill>
                  <a:latin typeface="Arial" panose="020B0604020202020204"/>
                  <a:ea typeface="微软雅黑" panose="020B0503020204020204" charset="-122"/>
                  <a:cs typeface="Arial" panose="020B0604020202020204"/>
                </a:rPr>
                <a:t>0</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6046075" y="1952149"/>
              <a:ext cx="99849" cy="198120"/>
            </a:xfrm>
            <a:prstGeom prst="rect">
              <a:avLst/>
            </a:prstGeom>
            <a:noFill/>
            <a:ln>
              <a:noFill/>
            </a:ln>
          </p:spPr>
          <p:txBody>
            <a:bodyPr wrap="none" lIns="0" tIns="0" rIns="0" bIns="0" anchor="t" anchorCtr="0">
              <a:spAutoFit/>
            </a:bodyPr>
            <a:lstStyle/>
            <a:p>
              <a:pPr algn="ctr"/>
              <a:r>
                <a:rPr lang="zh-CN" sz="975" b="1" dirty="0">
                  <a:solidFill>
                    <a:srgbClr val="0052A6"/>
                  </a:solidFill>
                  <a:latin typeface="Arial" panose="020B0604020202020204"/>
                  <a:ea typeface="微软雅黑" panose="020B0503020204020204" charset="-122"/>
                  <a:cs typeface="Arial" panose="020B0604020202020204"/>
                </a:rPr>
                <a:t>3</a:t>
              </a:r>
              <a:endParaRPr lang="zh-CN" sz="975" b="1" dirty="0">
                <a:solidFill>
                  <a:srgbClr val="0052A6"/>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10237075" y="1952149"/>
              <a:ext cx="99849" cy="198120"/>
            </a:xfrm>
            <a:prstGeom prst="rect">
              <a:avLst/>
            </a:prstGeom>
            <a:noFill/>
            <a:ln>
              <a:noFill/>
            </a:ln>
          </p:spPr>
          <p:txBody>
            <a:bodyPr wrap="none" lIns="0" tIns="0" rIns="0" bIns="0" anchor="t" anchorCtr="0">
              <a:spAutoFit/>
            </a:bodyPr>
            <a:lstStyle/>
            <a:p>
              <a:pPr algn="ctr"/>
              <a:r>
                <a:rPr lang="zh-CN" sz="975" b="1" dirty="0">
                  <a:solidFill>
                    <a:srgbClr val="0E9F6E"/>
                  </a:solidFill>
                  <a:latin typeface="Arial" panose="020B0604020202020204"/>
                  <a:ea typeface="微软雅黑" panose="020B0503020204020204" charset="-122"/>
                  <a:cs typeface="Arial" panose="020B0604020202020204"/>
                </a:rPr>
                <a:t>6</a:t>
              </a:r>
              <a:endParaRPr lang="zh-CN" sz="975" b="1" dirty="0">
                <a:solidFill>
                  <a:srgbClr val="0E9F6E"/>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11227118" y="2237899"/>
              <a:ext cx="336804"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panose="020B0604020202020204"/>
                  <a:ea typeface="微软雅黑" panose="020B0503020204020204" charset="-122"/>
                  <a:cs typeface="Arial" panose="020B0604020202020204"/>
                </a:rPr>
                <a:t>12 月</a:t>
              </a:r>
              <a:endParaRPr lang="zh-CN" sz="975" dirty="0">
                <a:solidFill>
                  <a:srgbClr val="6B7785"/>
                </a:solidFill>
                <a:latin typeface="Arial" panose="020B0604020202020204"/>
                <a:ea typeface="微软雅黑" panose="020B0503020204020204" charset="-122"/>
                <a:cs typeface="Arial" panose="020B0604020202020204"/>
              </a:endParaRPr>
            </a:p>
          </p:txBody>
        </p:sp>
      </p:grpSp>
      <p:grpSp>
        <p:nvGrpSpPr>
          <p:cNvPr id="41" name="Group 41"/>
          <p:cNvGrpSpPr/>
          <p:nvPr/>
        </p:nvGrpSpPr>
        <p:grpSpPr>
          <a:xfrm>
            <a:off x="571500" y="2667000"/>
            <a:ext cx="3524250" cy="3238500"/>
            <a:chOff x="571500" y="2667000"/>
            <a:chExt cx="3524250" cy="3238500"/>
          </a:xfrm>
        </p:grpSpPr>
        <p:sp>
          <p:nvSpPr>
            <p:cNvPr id="18" name="Rectangle 18"/>
            <p:cNvSpPr/>
            <p:nvPr/>
          </p:nvSpPr>
          <p:spPr>
            <a:xfrm>
              <a:off x="571500" y="2667000"/>
              <a:ext cx="3524250" cy="3238500"/>
            </a:xfrm>
            <a:prstGeom prst="roundRect">
              <a:avLst>
                <a:gd name="adj" fmla="val 3529"/>
              </a:avLst>
            </a:prstGeom>
            <a:solidFill>
              <a:srgbClr val="F4F7FC"/>
            </a:solidFill>
            <a:ln>
              <a:noFill/>
            </a:ln>
          </p:spPr>
        </p:sp>
        <p:sp>
          <p:nvSpPr>
            <p:cNvPr id="19" name="Rectangle 19"/>
            <p:cNvSpPr/>
            <p:nvPr/>
          </p:nvSpPr>
          <p:spPr>
            <a:xfrm>
              <a:off x="571500" y="2667000"/>
              <a:ext cx="3524250" cy="571500"/>
            </a:xfrm>
            <a:prstGeom prst="roundRect">
              <a:avLst>
                <a:gd name="adj" fmla="val 20000"/>
              </a:avLst>
            </a:prstGeom>
            <a:solidFill>
              <a:srgbClr val="246BFE"/>
            </a:solidFill>
            <a:ln>
              <a:noFill/>
            </a:ln>
          </p:spPr>
        </p:sp>
        <p:sp>
          <p:nvSpPr>
            <p:cNvPr id="20" name="Rectangle 20"/>
            <p:cNvSpPr/>
            <p:nvPr/>
          </p:nvSpPr>
          <p:spPr>
            <a:xfrm>
              <a:off x="571500" y="3048000"/>
              <a:ext cx="3524250" cy="190500"/>
            </a:xfrm>
            <a:prstGeom prst="rect">
              <a:avLst/>
            </a:prstGeom>
            <a:solidFill>
              <a:srgbClr val="246BFE"/>
            </a:solidFill>
            <a:ln>
              <a:noFill/>
            </a:ln>
          </p:spPr>
        </p:sp>
        <p:sp>
          <p:nvSpPr>
            <p:cNvPr id="21" name="TextBox 21"/>
            <p:cNvSpPr txBox="1"/>
            <p:nvPr/>
          </p:nvSpPr>
          <p:spPr>
            <a:xfrm>
              <a:off x="787718" y="2923699"/>
              <a:ext cx="1151031" cy="198120"/>
            </a:xfrm>
            <a:prstGeom prst="rect">
              <a:avLst/>
            </a:prstGeom>
            <a:noFill/>
            <a:ln>
              <a:noFill/>
            </a:ln>
          </p:spPr>
          <p:txBody>
            <a:bodyPr wrap="none" lIns="0" tIns="0" rIns="0" bIns="0" anchor="t" anchorCtr="0">
              <a:spAutoFit/>
            </a:bodyPr>
            <a:lstStyle/>
            <a:p>
              <a:pPr algn="l"/>
              <a:r>
                <a:rPr lang="zh-CN" sz="975" b="1" dirty="0">
                  <a:solidFill>
                    <a:srgbClr val="DCE6FB"/>
                  </a:solidFill>
                  <a:latin typeface="Arial" panose="020B0604020202020204"/>
                  <a:ea typeface="微软雅黑" panose="020B0503020204020204" charset="-122"/>
                  <a:cs typeface="Arial" panose="020B0604020202020204"/>
                </a:rPr>
                <a:t>PHASE 01 · 0-3 月</a:t>
              </a:r>
              <a:endParaRPr lang="zh-CN" sz="975" b="1" dirty="0">
                <a:solidFill>
                  <a:srgbClr val="DCE6FB"/>
                </a:solidFill>
                <a:latin typeface="Arial" panose="020B0604020202020204"/>
                <a:ea typeface="微软雅黑" panose="020B0503020204020204" charset="-122"/>
                <a:cs typeface="Arial" panose="020B0604020202020204"/>
              </a:endParaRPr>
            </a:p>
          </p:txBody>
        </p:sp>
        <p:grpSp>
          <p:nvGrpSpPr>
            <p:cNvPr id="25" name="Group 25"/>
            <p:cNvGrpSpPr/>
            <p:nvPr/>
          </p:nvGrpSpPr>
          <p:grpSpPr>
            <a:xfrm>
              <a:off x="3090862" y="2824162"/>
              <a:ext cx="257175" cy="257175"/>
              <a:chOff x="3090862" y="2824162"/>
              <a:chExt cx="257175" cy="257175"/>
            </a:xfrm>
          </p:grpSpPr>
          <p:sp>
            <p:nvSpPr>
              <p:cNvPr id="22" name="Freeform 22"/>
              <p:cNvSpPr/>
              <p:nvPr/>
            </p:nvSpPr>
            <p:spPr>
              <a:xfrm>
                <a:off x="3205162" y="293846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FFFFFF"/>
                </a:solidFill>
              </a:ln>
            </p:spPr>
          </p:sp>
          <p:sp>
            <p:nvSpPr>
              <p:cNvPr id="23" name="Freeform 23"/>
              <p:cNvSpPr/>
              <p:nvPr/>
            </p:nvSpPr>
            <p:spPr>
              <a:xfrm>
                <a:off x="3148012" y="288131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FFFFFF"/>
                </a:solidFill>
              </a:ln>
            </p:spPr>
          </p:sp>
          <p:sp>
            <p:nvSpPr>
              <p:cNvPr id="24" name="Freeform 24"/>
              <p:cNvSpPr/>
              <p:nvPr/>
            </p:nvSpPr>
            <p:spPr>
              <a:xfrm>
                <a:off x="3090862" y="282416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FFFFFF"/>
                </a:solidFill>
              </a:ln>
            </p:spPr>
          </p:sp>
        </p:grpSp>
        <p:sp>
          <p:nvSpPr>
            <p:cNvPr id="26" name="TextBox 26"/>
            <p:cNvSpPr txBox="1"/>
            <p:nvPr/>
          </p:nvSpPr>
          <p:spPr>
            <a:xfrm>
              <a:off x="779145" y="3393758"/>
              <a:ext cx="966026"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试点验证</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27" name="TextBox 27"/>
            <p:cNvSpPr txBox="1"/>
            <p:nvPr/>
          </p:nvSpPr>
          <p:spPr>
            <a:xfrm>
              <a:off x="787718" y="3723799"/>
              <a:ext cx="1487448"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选 1-2 个高价值场景试点</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28" name="Ellipse 28"/>
            <p:cNvSpPr/>
            <p:nvPr/>
          </p:nvSpPr>
          <p:spPr>
            <a:xfrm>
              <a:off x="828675" y="4143375"/>
              <a:ext cx="57150" cy="57150"/>
            </a:xfrm>
            <a:prstGeom prst="ellipse">
              <a:avLst/>
            </a:prstGeom>
            <a:solidFill>
              <a:srgbClr val="246BFE"/>
            </a:solidFill>
            <a:ln>
              <a:noFill/>
            </a:ln>
          </p:spPr>
        </p:sp>
        <p:sp>
          <p:nvSpPr>
            <p:cNvPr id="29" name="TextBox 29"/>
            <p:cNvSpPr txBox="1"/>
            <p:nvPr/>
          </p:nvSpPr>
          <p:spPr>
            <a:xfrm>
              <a:off x="977265" y="4096702"/>
              <a:ext cx="16648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建议:智能招聘 + 智能商机</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0" name="Ellipse 30"/>
            <p:cNvSpPr/>
            <p:nvPr/>
          </p:nvSpPr>
          <p:spPr>
            <a:xfrm>
              <a:off x="828675" y="4429125"/>
              <a:ext cx="57150" cy="57150"/>
            </a:xfrm>
            <a:prstGeom prst="ellipse">
              <a:avLst/>
            </a:prstGeom>
            <a:solidFill>
              <a:srgbClr val="246BFE"/>
            </a:solidFill>
            <a:ln>
              <a:noFill/>
            </a:ln>
          </p:spPr>
        </p:sp>
        <p:sp>
          <p:nvSpPr>
            <p:cNvPr id="31" name="TextBox 31"/>
            <p:cNvSpPr txBox="1"/>
            <p:nvPr/>
          </p:nvSpPr>
          <p:spPr>
            <a:xfrm>
              <a:off x="977265" y="4382452"/>
              <a:ext cx="1272826"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验证业务价值与 ROI</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2" name="Ellipse 32"/>
            <p:cNvSpPr/>
            <p:nvPr/>
          </p:nvSpPr>
          <p:spPr>
            <a:xfrm>
              <a:off x="828675" y="4714875"/>
              <a:ext cx="57150" cy="57150"/>
            </a:xfrm>
            <a:prstGeom prst="ellipse">
              <a:avLst/>
            </a:prstGeom>
            <a:solidFill>
              <a:srgbClr val="246BFE"/>
            </a:solidFill>
            <a:ln>
              <a:noFill/>
            </a:ln>
          </p:spPr>
        </p:sp>
        <p:sp>
          <p:nvSpPr>
            <p:cNvPr id="33" name="TextBox 33"/>
            <p:cNvSpPr txBox="1"/>
            <p:nvPr/>
          </p:nvSpPr>
          <p:spPr>
            <a:xfrm>
              <a:off x="977265" y="466820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打通系统集成接口</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4" name="Ellipse 34"/>
            <p:cNvSpPr/>
            <p:nvPr/>
          </p:nvSpPr>
          <p:spPr>
            <a:xfrm>
              <a:off x="828675" y="5000625"/>
              <a:ext cx="57150" cy="57150"/>
            </a:xfrm>
            <a:prstGeom prst="ellipse">
              <a:avLst/>
            </a:prstGeom>
            <a:solidFill>
              <a:srgbClr val="246BFE"/>
            </a:solidFill>
            <a:ln>
              <a:noFill/>
            </a:ln>
          </p:spPr>
        </p:sp>
        <p:sp>
          <p:nvSpPr>
            <p:cNvPr id="35" name="TextBox 35"/>
            <p:cNvSpPr txBox="1"/>
            <p:nvPr/>
          </p:nvSpPr>
          <p:spPr>
            <a:xfrm>
              <a:off x="977265" y="4953952"/>
              <a:ext cx="142684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沉淀首批企业知识资产</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36" name="Rectangle 36"/>
            <p:cNvSpPr/>
            <p:nvPr/>
          </p:nvSpPr>
          <p:spPr>
            <a:xfrm>
              <a:off x="800100" y="5334000"/>
              <a:ext cx="1905000" cy="342900"/>
            </a:xfrm>
            <a:prstGeom prst="roundRect">
              <a:avLst>
                <a:gd name="adj" fmla="val 22222"/>
              </a:avLst>
            </a:prstGeom>
            <a:solidFill>
              <a:srgbClr val="246BFE">
                <a:alpha val="12000"/>
              </a:srgbClr>
            </a:solidFill>
            <a:ln>
              <a:noFill/>
            </a:ln>
          </p:spPr>
        </p:sp>
        <p:grpSp>
          <p:nvGrpSpPr>
            <p:cNvPr id="39" name="Group 39"/>
            <p:cNvGrpSpPr/>
            <p:nvPr/>
          </p:nvGrpSpPr>
          <p:grpSpPr>
            <a:xfrm>
              <a:off x="900112" y="5434012"/>
              <a:ext cx="142875" cy="142875"/>
              <a:chOff x="900112" y="5434012"/>
              <a:chExt cx="142875" cy="142875"/>
            </a:xfrm>
          </p:grpSpPr>
          <p:sp>
            <p:nvSpPr>
              <p:cNvPr id="37" name="Freeform 37"/>
              <p:cNvSpPr/>
              <p:nvPr/>
            </p:nvSpPr>
            <p:spPr>
              <a:xfrm>
                <a:off x="900112" y="543401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246BFE"/>
                </a:solidFill>
              </a:ln>
            </p:spPr>
          </p:sp>
          <p:sp>
            <p:nvSpPr>
              <p:cNvPr id="38" name="Freeform 38"/>
              <p:cNvSpPr/>
              <p:nvPr/>
            </p:nvSpPr>
            <p:spPr>
              <a:xfrm>
                <a:off x="947738" y="5489575"/>
                <a:ext cx="47625" cy="31750"/>
              </a:xfrm>
              <a:custGeom>
                <a:avLst/>
                <a:gdLst/>
                <a:ahLst/>
                <a:cxnLst/>
                <a:rect l="l" t="t" r="r" b="b"/>
                <a:pathLst>
                  <a:path w="47625" h="31750">
                    <a:moveTo>
                      <a:pt x="0" y="15875"/>
                    </a:moveTo>
                    <a:lnTo>
                      <a:pt x="15875" y="31750"/>
                    </a:lnTo>
                    <a:lnTo>
                      <a:pt x="47625" y="0"/>
                    </a:lnTo>
                  </a:path>
                </a:pathLst>
              </a:custGeom>
              <a:noFill/>
              <a:ln w="19050">
                <a:solidFill>
                  <a:srgbClr val="246BFE"/>
                </a:solidFill>
              </a:ln>
            </p:spPr>
          </p:sp>
        </p:grpSp>
        <p:sp>
          <p:nvSpPr>
            <p:cNvPr id="40" name="TextBox 40"/>
            <p:cNvSpPr txBox="1"/>
            <p:nvPr/>
          </p:nvSpPr>
          <p:spPr>
            <a:xfrm>
              <a:off x="1130618" y="5447824"/>
              <a:ext cx="1055469" cy="198120"/>
            </a:xfrm>
            <a:prstGeom prst="rect">
              <a:avLst/>
            </a:prstGeom>
            <a:noFill/>
            <a:ln>
              <a:noFill/>
            </a:ln>
          </p:spPr>
          <p:txBody>
            <a:bodyPr wrap="none" lIns="0" tIns="0" rIns="0" bIns="0" anchor="t" anchorCtr="0">
              <a:spAutoFit/>
            </a:bodyPr>
            <a:lstStyle/>
            <a:p>
              <a:pPr algn="l"/>
              <a:r>
                <a:rPr lang="zh-CN" sz="975" b="1" dirty="0">
                  <a:solidFill>
                    <a:srgbClr val="246BFE"/>
                  </a:solidFill>
                  <a:latin typeface="Arial" panose="020B0604020202020204"/>
                  <a:ea typeface="微软雅黑" panose="020B0503020204020204" charset="-122"/>
                  <a:cs typeface="Arial" panose="020B0604020202020204"/>
                </a:rPr>
                <a:t>里程碑:试点上线</a:t>
              </a:r>
              <a:endParaRPr lang="zh-CN" sz="975" b="1" dirty="0">
                <a:solidFill>
                  <a:srgbClr val="246BFE"/>
                </a:solidFill>
                <a:latin typeface="Arial" panose="020B0604020202020204"/>
                <a:ea typeface="微软雅黑" panose="020B0503020204020204" charset="-122"/>
                <a:cs typeface="Arial" panose="020B0604020202020204"/>
              </a:endParaRPr>
            </a:p>
          </p:txBody>
        </p:sp>
      </p:grpSp>
      <p:grpSp>
        <p:nvGrpSpPr>
          <p:cNvPr id="70" name="Group 70"/>
          <p:cNvGrpSpPr/>
          <p:nvPr/>
        </p:nvGrpSpPr>
        <p:grpSpPr>
          <a:xfrm>
            <a:off x="4333875" y="2667000"/>
            <a:ext cx="3524250" cy="3238500"/>
            <a:chOff x="4333875" y="2667000"/>
            <a:chExt cx="3524250" cy="3238500"/>
          </a:xfrm>
        </p:grpSpPr>
        <p:sp>
          <p:nvSpPr>
            <p:cNvPr id="42" name="Rectangle 42"/>
            <p:cNvSpPr/>
            <p:nvPr/>
          </p:nvSpPr>
          <p:spPr>
            <a:xfrm>
              <a:off x="4333875" y="2667000"/>
              <a:ext cx="3524250" cy="3238500"/>
            </a:xfrm>
            <a:prstGeom prst="roundRect">
              <a:avLst>
                <a:gd name="adj" fmla="val 3529"/>
              </a:avLst>
            </a:prstGeom>
            <a:solidFill>
              <a:srgbClr val="F4F7FC"/>
            </a:solidFill>
            <a:ln>
              <a:noFill/>
            </a:ln>
          </p:spPr>
        </p:sp>
        <p:sp>
          <p:nvSpPr>
            <p:cNvPr id="43" name="Rectangle 43"/>
            <p:cNvSpPr/>
            <p:nvPr/>
          </p:nvSpPr>
          <p:spPr>
            <a:xfrm>
              <a:off x="4333875" y="2667000"/>
              <a:ext cx="3524250" cy="571500"/>
            </a:xfrm>
            <a:prstGeom prst="roundRect">
              <a:avLst>
                <a:gd name="adj" fmla="val 20000"/>
              </a:avLst>
            </a:prstGeom>
            <a:solidFill>
              <a:srgbClr val="0052A6"/>
            </a:solidFill>
            <a:ln>
              <a:noFill/>
            </a:ln>
          </p:spPr>
        </p:sp>
        <p:sp>
          <p:nvSpPr>
            <p:cNvPr id="44" name="Rectangle 44"/>
            <p:cNvSpPr/>
            <p:nvPr/>
          </p:nvSpPr>
          <p:spPr>
            <a:xfrm>
              <a:off x="4333875" y="3048000"/>
              <a:ext cx="3524250" cy="190500"/>
            </a:xfrm>
            <a:prstGeom prst="rect">
              <a:avLst/>
            </a:prstGeom>
            <a:solidFill>
              <a:srgbClr val="0052A6"/>
            </a:solidFill>
            <a:ln>
              <a:noFill/>
            </a:ln>
          </p:spPr>
        </p:sp>
        <p:sp>
          <p:nvSpPr>
            <p:cNvPr id="45" name="TextBox 45"/>
            <p:cNvSpPr txBox="1"/>
            <p:nvPr/>
          </p:nvSpPr>
          <p:spPr>
            <a:xfrm>
              <a:off x="4550092" y="2923699"/>
              <a:ext cx="1151031" cy="198120"/>
            </a:xfrm>
            <a:prstGeom prst="rect">
              <a:avLst/>
            </a:prstGeom>
            <a:noFill/>
            <a:ln>
              <a:noFill/>
            </a:ln>
          </p:spPr>
          <p:txBody>
            <a:bodyPr wrap="none" lIns="0" tIns="0" rIns="0" bIns="0" anchor="t" anchorCtr="0">
              <a:spAutoFit/>
            </a:bodyPr>
            <a:lstStyle/>
            <a:p>
              <a:pPr algn="l"/>
              <a:r>
                <a:rPr lang="zh-CN" sz="975" b="1" dirty="0">
                  <a:solidFill>
                    <a:srgbClr val="DCE6FB"/>
                  </a:solidFill>
                  <a:latin typeface="Arial" panose="020B0604020202020204"/>
                  <a:ea typeface="微软雅黑" panose="020B0503020204020204" charset="-122"/>
                  <a:cs typeface="Arial" panose="020B0604020202020204"/>
                </a:rPr>
                <a:t>PHASE 02 · 3-6 月</a:t>
              </a:r>
              <a:endParaRPr lang="zh-CN" sz="975" b="1" dirty="0">
                <a:solidFill>
                  <a:srgbClr val="DCE6FB"/>
                </a:solidFill>
                <a:latin typeface="Arial" panose="020B0604020202020204"/>
                <a:ea typeface="微软雅黑" panose="020B0503020204020204" charset="-122"/>
                <a:cs typeface="Arial" panose="020B0604020202020204"/>
              </a:endParaRPr>
            </a:p>
          </p:txBody>
        </p:sp>
        <p:grpSp>
          <p:nvGrpSpPr>
            <p:cNvPr id="54" name="Group 54"/>
            <p:cNvGrpSpPr/>
            <p:nvPr/>
          </p:nvGrpSpPr>
          <p:grpSpPr>
            <a:xfrm>
              <a:off x="6853238" y="2824162"/>
              <a:ext cx="257174" cy="271463"/>
              <a:chOff x="6853238" y="2824162"/>
              <a:chExt cx="257174" cy="271463"/>
            </a:xfrm>
          </p:grpSpPr>
          <p:sp>
            <p:nvSpPr>
              <p:cNvPr id="46" name="Freeform 46"/>
              <p:cNvSpPr/>
              <p:nvPr/>
            </p:nvSpPr>
            <p:spPr>
              <a:xfrm>
                <a:off x="6896100" y="2824162"/>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FFFFFF"/>
                </a:solidFill>
              </a:ln>
            </p:spPr>
          </p:sp>
          <p:sp>
            <p:nvSpPr>
              <p:cNvPr id="47" name="Freeform 47"/>
              <p:cNvSpPr/>
              <p:nvPr/>
            </p:nvSpPr>
            <p:spPr>
              <a:xfrm>
                <a:off x="6981825" y="2824162"/>
                <a:ext cx="28575" cy="171450"/>
              </a:xfrm>
              <a:custGeom>
                <a:avLst/>
                <a:gdLst/>
                <a:ahLst/>
                <a:cxnLst/>
                <a:rect l="l" t="t" r="r" b="b"/>
                <a:pathLst>
                  <a:path w="28575" h="171450">
                    <a:moveTo>
                      <a:pt x="0" y="0"/>
                    </a:moveTo>
                    <a:cubicBezTo>
                      <a:pt x="19045" y="4758"/>
                      <a:pt x="28575" y="33333"/>
                      <a:pt x="28575" y="85725"/>
                    </a:cubicBezTo>
                    <a:cubicBezTo>
                      <a:pt x="28575" y="138117"/>
                      <a:pt x="19045" y="166692"/>
                      <a:pt x="0" y="171450"/>
                    </a:cubicBezTo>
                  </a:path>
                </a:pathLst>
              </a:custGeom>
              <a:noFill/>
              <a:ln w="19050">
                <a:solidFill>
                  <a:srgbClr val="FFFFFF"/>
                </a:solidFill>
              </a:ln>
            </p:spPr>
          </p:sp>
          <p:sp>
            <p:nvSpPr>
              <p:cNvPr id="48" name="Freeform 48"/>
              <p:cNvSpPr/>
              <p:nvPr/>
            </p:nvSpPr>
            <p:spPr>
              <a:xfrm>
                <a:off x="6953250" y="2824162"/>
                <a:ext cx="28575" cy="171450"/>
              </a:xfrm>
              <a:custGeom>
                <a:avLst/>
                <a:gdLst/>
                <a:ahLst/>
                <a:cxnLst/>
                <a:rect l="l" t="t" r="r" b="b"/>
                <a:pathLst>
                  <a:path w="28575" h="171450">
                    <a:moveTo>
                      <a:pt x="28575" y="0"/>
                    </a:moveTo>
                    <a:cubicBezTo>
                      <a:pt x="9530" y="4758"/>
                      <a:pt x="0" y="33333"/>
                      <a:pt x="0" y="85725"/>
                    </a:cubicBezTo>
                    <a:cubicBezTo>
                      <a:pt x="0" y="138117"/>
                      <a:pt x="9530" y="166692"/>
                      <a:pt x="28575" y="171450"/>
                    </a:cubicBezTo>
                  </a:path>
                </a:pathLst>
              </a:custGeom>
              <a:noFill/>
              <a:ln w="19050">
                <a:solidFill>
                  <a:srgbClr val="FFFFFF"/>
                </a:solidFill>
              </a:ln>
            </p:spPr>
          </p:sp>
          <p:sp>
            <p:nvSpPr>
              <p:cNvPr id="49" name="Freeform 49"/>
              <p:cNvSpPr/>
              <p:nvPr/>
            </p:nvSpPr>
            <p:spPr>
              <a:xfrm>
                <a:off x="6896100" y="2909888"/>
                <a:ext cx="171450" cy="9525"/>
              </a:xfrm>
              <a:custGeom>
                <a:avLst/>
                <a:gdLst/>
                <a:ahLst/>
                <a:cxnLst/>
                <a:rect l="l" t="t" r="r" b="b"/>
                <a:pathLst>
                  <a:path w="171450" h="9525">
                    <a:moveTo>
                      <a:pt x="0" y="0"/>
                    </a:moveTo>
                    <a:lnTo>
                      <a:pt x="171450" y="0"/>
                    </a:lnTo>
                  </a:path>
                </a:pathLst>
              </a:custGeom>
              <a:noFill/>
              <a:ln w="19050">
                <a:solidFill>
                  <a:srgbClr val="FFFFFF"/>
                </a:solidFill>
              </a:ln>
            </p:spPr>
          </p:sp>
          <p:sp>
            <p:nvSpPr>
              <p:cNvPr id="50" name="Freeform 50"/>
              <p:cNvSpPr/>
              <p:nvPr/>
            </p:nvSpPr>
            <p:spPr>
              <a:xfrm>
                <a:off x="6853238" y="3067050"/>
                <a:ext cx="100012" cy="9525"/>
              </a:xfrm>
              <a:custGeom>
                <a:avLst/>
                <a:gdLst/>
                <a:ahLst/>
                <a:cxnLst/>
                <a:rect l="l" t="t" r="r" b="b"/>
                <a:pathLst>
                  <a:path w="100012" h="9525">
                    <a:moveTo>
                      <a:pt x="0" y="0"/>
                    </a:moveTo>
                    <a:lnTo>
                      <a:pt x="100012" y="0"/>
                    </a:lnTo>
                  </a:path>
                </a:pathLst>
              </a:custGeom>
              <a:noFill/>
              <a:ln w="19050">
                <a:solidFill>
                  <a:srgbClr val="FFFFFF"/>
                </a:solidFill>
              </a:ln>
            </p:spPr>
          </p:sp>
          <p:sp>
            <p:nvSpPr>
              <p:cNvPr id="51" name="Freeform 51"/>
              <p:cNvSpPr/>
              <p:nvPr/>
            </p:nvSpPr>
            <p:spPr>
              <a:xfrm>
                <a:off x="7010400" y="3067050"/>
                <a:ext cx="100012" cy="9525"/>
              </a:xfrm>
              <a:custGeom>
                <a:avLst/>
                <a:gdLst/>
                <a:ahLst/>
                <a:cxnLst/>
                <a:rect l="l" t="t" r="r" b="b"/>
                <a:pathLst>
                  <a:path w="100012" h="9525">
                    <a:moveTo>
                      <a:pt x="0" y="0"/>
                    </a:moveTo>
                    <a:lnTo>
                      <a:pt x="100012" y="0"/>
                    </a:lnTo>
                  </a:path>
                </a:pathLst>
              </a:custGeom>
              <a:noFill/>
              <a:ln w="19050">
                <a:solidFill>
                  <a:srgbClr val="FFFFFF"/>
                </a:solidFill>
              </a:ln>
            </p:spPr>
          </p:sp>
          <p:sp>
            <p:nvSpPr>
              <p:cNvPr id="52" name="Freeform 52"/>
              <p:cNvSpPr/>
              <p:nvPr/>
            </p:nvSpPr>
            <p:spPr>
              <a:xfrm>
                <a:off x="6953250" y="303847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FFFFFF"/>
                </a:solidFill>
              </a:ln>
            </p:spPr>
          </p:sp>
          <p:sp>
            <p:nvSpPr>
              <p:cNvPr id="53" name="Freeform 53"/>
              <p:cNvSpPr/>
              <p:nvPr/>
            </p:nvSpPr>
            <p:spPr>
              <a:xfrm>
                <a:off x="6981825" y="2995612"/>
                <a:ext cx="9525" cy="42862"/>
              </a:xfrm>
              <a:custGeom>
                <a:avLst/>
                <a:gdLst/>
                <a:ahLst/>
                <a:cxnLst/>
                <a:rect l="l" t="t" r="r" b="b"/>
                <a:pathLst>
                  <a:path w="9525" h="42862">
                    <a:moveTo>
                      <a:pt x="0" y="0"/>
                    </a:moveTo>
                    <a:lnTo>
                      <a:pt x="0" y="42862"/>
                    </a:lnTo>
                  </a:path>
                </a:pathLst>
              </a:custGeom>
              <a:noFill/>
              <a:ln w="19050">
                <a:solidFill>
                  <a:srgbClr val="FFFFFF"/>
                </a:solidFill>
              </a:ln>
            </p:spPr>
          </p:sp>
        </p:grpSp>
        <p:sp>
          <p:nvSpPr>
            <p:cNvPr id="55" name="TextBox 55"/>
            <p:cNvSpPr txBox="1"/>
            <p:nvPr/>
          </p:nvSpPr>
          <p:spPr>
            <a:xfrm>
              <a:off x="4541520" y="3393758"/>
              <a:ext cx="966026"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横向扩展</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4550092" y="3723799"/>
              <a:ext cx="1064895"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四大场景全面铺开</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57" name="Ellipse 57"/>
            <p:cNvSpPr/>
            <p:nvPr/>
          </p:nvSpPr>
          <p:spPr>
            <a:xfrm>
              <a:off x="4591050" y="4143375"/>
              <a:ext cx="57150" cy="57150"/>
            </a:xfrm>
            <a:prstGeom prst="ellipse">
              <a:avLst/>
            </a:prstGeom>
            <a:solidFill>
              <a:srgbClr val="0052A6"/>
            </a:solidFill>
            <a:ln>
              <a:noFill/>
            </a:ln>
          </p:spPr>
        </p:sp>
        <p:sp>
          <p:nvSpPr>
            <p:cNvPr id="58" name="TextBox 58"/>
            <p:cNvSpPr txBox="1"/>
            <p:nvPr/>
          </p:nvSpPr>
          <p:spPr>
            <a:xfrm>
              <a:off x="4739640" y="4096702"/>
              <a:ext cx="122382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投标+营销场景上线</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9" name="Ellipse 59"/>
            <p:cNvSpPr/>
            <p:nvPr/>
          </p:nvSpPr>
          <p:spPr>
            <a:xfrm>
              <a:off x="4591050" y="4429125"/>
              <a:ext cx="57150" cy="57150"/>
            </a:xfrm>
            <a:prstGeom prst="ellipse">
              <a:avLst/>
            </a:prstGeom>
            <a:solidFill>
              <a:srgbClr val="0052A6"/>
            </a:solidFill>
            <a:ln>
              <a:noFill/>
            </a:ln>
          </p:spPr>
        </p:sp>
        <p:sp>
          <p:nvSpPr>
            <p:cNvPr id="60" name="TextBox 60"/>
            <p:cNvSpPr txBox="1"/>
            <p:nvPr/>
          </p:nvSpPr>
          <p:spPr>
            <a:xfrm>
              <a:off x="4739640" y="4382452"/>
              <a:ext cx="1167813"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客户归并 + 决策链</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1" name="Ellipse 61"/>
            <p:cNvSpPr/>
            <p:nvPr/>
          </p:nvSpPr>
          <p:spPr>
            <a:xfrm>
              <a:off x="4591050" y="4714875"/>
              <a:ext cx="57150" cy="57150"/>
            </a:xfrm>
            <a:prstGeom prst="ellipse">
              <a:avLst/>
            </a:prstGeom>
            <a:solidFill>
              <a:srgbClr val="0052A6"/>
            </a:solidFill>
            <a:ln>
              <a:noFill/>
            </a:ln>
          </p:spPr>
        </p:sp>
        <p:sp>
          <p:nvSpPr>
            <p:cNvPr id="62" name="TextBox 62"/>
            <p:cNvSpPr txBox="1"/>
            <p:nvPr/>
          </p:nvSpPr>
          <p:spPr>
            <a:xfrm>
              <a:off x="4739640" y="466820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作为核心能力建设</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3" name="Ellipse 63"/>
            <p:cNvSpPr/>
            <p:nvPr/>
          </p:nvSpPr>
          <p:spPr>
            <a:xfrm>
              <a:off x="4591050" y="5000625"/>
              <a:ext cx="57150" cy="57150"/>
            </a:xfrm>
            <a:prstGeom prst="ellipse">
              <a:avLst/>
            </a:prstGeom>
            <a:solidFill>
              <a:srgbClr val="0052A6"/>
            </a:solidFill>
            <a:ln>
              <a:noFill/>
            </a:ln>
          </p:spPr>
        </p:sp>
        <p:sp>
          <p:nvSpPr>
            <p:cNvPr id="64" name="TextBox 64"/>
            <p:cNvSpPr txBox="1"/>
            <p:nvPr/>
          </p:nvSpPr>
          <p:spPr>
            <a:xfrm>
              <a:off x="4739640" y="495395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四场景数据互通</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5" name="Rectangle 65"/>
            <p:cNvSpPr/>
            <p:nvPr/>
          </p:nvSpPr>
          <p:spPr>
            <a:xfrm>
              <a:off x="4562475" y="5334000"/>
              <a:ext cx="1905000" cy="342900"/>
            </a:xfrm>
            <a:prstGeom prst="roundRect">
              <a:avLst>
                <a:gd name="adj" fmla="val 22222"/>
              </a:avLst>
            </a:prstGeom>
            <a:solidFill>
              <a:srgbClr val="0052A6">
                <a:alpha val="12000"/>
              </a:srgbClr>
            </a:solidFill>
            <a:ln>
              <a:noFill/>
            </a:ln>
          </p:spPr>
        </p:sp>
        <p:grpSp>
          <p:nvGrpSpPr>
            <p:cNvPr id="68" name="Group 68"/>
            <p:cNvGrpSpPr/>
            <p:nvPr/>
          </p:nvGrpSpPr>
          <p:grpSpPr>
            <a:xfrm>
              <a:off x="4662488" y="5434012"/>
              <a:ext cx="142875" cy="142875"/>
              <a:chOff x="4662488" y="5434012"/>
              <a:chExt cx="142875" cy="142875"/>
            </a:xfrm>
          </p:grpSpPr>
          <p:sp>
            <p:nvSpPr>
              <p:cNvPr id="66" name="Freeform 66"/>
              <p:cNvSpPr/>
              <p:nvPr/>
            </p:nvSpPr>
            <p:spPr>
              <a:xfrm>
                <a:off x="4662488" y="543401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052A6"/>
                </a:solidFill>
              </a:ln>
            </p:spPr>
          </p:sp>
          <p:sp>
            <p:nvSpPr>
              <p:cNvPr id="67" name="Freeform 67"/>
              <p:cNvSpPr/>
              <p:nvPr/>
            </p:nvSpPr>
            <p:spPr>
              <a:xfrm>
                <a:off x="4710112" y="5489575"/>
                <a:ext cx="47625" cy="31750"/>
              </a:xfrm>
              <a:custGeom>
                <a:avLst/>
                <a:gdLst/>
                <a:ahLst/>
                <a:cxnLst/>
                <a:rect l="l" t="t" r="r" b="b"/>
                <a:pathLst>
                  <a:path w="47625" h="31750">
                    <a:moveTo>
                      <a:pt x="0" y="15875"/>
                    </a:moveTo>
                    <a:lnTo>
                      <a:pt x="15875" y="31750"/>
                    </a:lnTo>
                    <a:lnTo>
                      <a:pt x="47625" y="0"/>
                    </a:lnTo>
                  </a:path>
                </a:pathLst>
              </a:custGeom>
              <a:noFill/>
              <a:ln w="19050">
                <a:solidFill>
                  <a:srgbClr val="0052A6"/>
                </a:solidFill>
              </a:ln>
            </p:spPr>
          </p:sp>
        </p:grpSp>
        <p:sp>
          <p:nvSpPr>
            <p:cNvPr id="69" name="TextBox 69"/>
            <p:cNvSpPr txBox="1"/>
            <p:nvPr/>
          </p:nvSpPr>
          <p:spPr>
            <a:xfrm>
              <a:off x="4892992" y="5447824"/>
              <a:ext cx="1191986" cy="198120"/>
            </a:xfrm>
            <a:prstGeom prst="rect">
              <a:avLst/>
            </a:prstGeom>
            <a:noFill/>
            <a:ln>
              <a:noFill/>
            </a:ln>
          </p:spPr>
          <p:txBody>
            <a:bodyPr wrap="none" lIns="0" tIns="0" rIns="0" bIns="0" anchor="t" anchorCtr="0">
              <a:spAutoFit/>
            </a:bodyPr>
            <a:lstStyle/>
            <a:p>
              <a:pPr algn="l"/>
              <a:r>
                <a:rPr lang="zh-CN" sz="975" b="1" dirty="0">
                  <a:solidFill>
                    <a:srgbClr val="0052A6"/>
                  </a:solidFill>
                  <a:latin typeface="Arial" panose="020B0604020202020204"/>
                  <a:ea typeface="微软雅黑" panose="020B0503020204020204" charset="-122"/>
                  <a:cs typeface="Arial" panose="020B0604020202020204"/>
                </a:rPr>
                <a:t>里程碑:四场景齐备</a:t>
              </a:r>
              <a:endParaRPr lang="zh-CN" sz="975" b="1" dirty="0">
                <a:solidFill>
                  <a:srgbClr val="0052A6"/>
                </a:solidFill>
                <a:latin typeface="Arial" panose="020B0604020202020204"/>
                <a:ea typeface="微软雅黑" panose="020B0503020204020204" charset="-122"/>
                <a:cs typeface="Arial" panose="020B0604020202020204"/>
              </a:endParaRPr>
            </a:p>
          </p:txBody>
        </p:sp>
      </p:grpSp>
      <p:grpSp>
        <p:nvGrpSpPr>
          <p:cNvPr id="93" name="Group 93"/>
          <p:cNvGrpSpPr/>
          <p:nvPr/>
        </p:nvGrpSpPr>
        <p:grpSpPr>
          <a:xfrm>
            <a:off x="8096250" y="2667000"/>
            <a:ext cx="3524250" cy="3238500"/>
            <a:chOff x="8096250" y="2667000"/>
            <a:chExt cx="3524250" cy="3238500"/>
          </a:xfrm>
        </p:grpSpPr>
        <p:sp>
          <p:nvSpPr>
            <p:cNvPr id="71" name="Rectangle 71"/>
            <p:cNvSpPr/>
            <p:nvPr/>
          </p:nvSpPr>
          <p:spPr>
            <a:xfrm>
              <a:off x="8096250" y="2667000"/>
              <a:ext cx="3524250" cy="3238500"/>
            </a:xfrm>
            <a:prstGeom prst="roundRect">
              <a:avLst>
                <a:gd name="adj" fmla="val 3529"/>
              </a:avLst>
            </a:prstGeom>
            <a:solidFill>
              <a:srgbClr val="F4F7FC"/>
            </a:solidFill>
            <a:ln>
              <a:noFill/>
            </a:ln>
          </p:spPr>
        </p:sp>
        <p:sp>
          <p:nvSpPr>
            <p:cNvPr id="72" name="Rectangle 72"/>
            <p:cNvSpPr/>
            <p:nvPr/>
          </p:nvSpPr>
          <p:spPr>
            <a:xfrm>
              <a:off x="8096250" y="2667000"/>
              <a:ext cx="3524250" cy="571500"/>
            </a:xfrm>
            <a:prstGeom prst="roundRect">
              <a:avLst>
                <a:gd name="adj" fmla="val 20000"/>
              </a:avLst>
            </a:prstGeom>
            <a:solidFill>
              <a:srgbClr val="0E9F6E"/>
            </a:solidFill>
            <a:ln>
              <a:noFill/>
            </a:ln>
          </p:spPr>
        </p:sp>
        <p:sp>
          <p:nvSpPr>
            <p:cNvPr id="73" name="Rectangle 73"/>
            <p:cNvSpPr/>
            <p:nvPr/>
          </p:nvSpPr>
          <p:spPr>
            <a:xfrm>
              <a:off x="8096250" y="3048000"/>
              <a:ext cx="3524250" cy="190500"/>
            </a:xfrm>
            <a:prstGeom prst="rect">
              <a:avLst/>
            </a:prstGeom>
            <a:solidFill>
              <a:srgbClr val="0E9F6E"/>
            </a:solidFill>
            <a:ln>
              <a:noFill/>
            </a:ln>
          </p:spPr>
        </p:sp>
        <p:sp>
          <p:nvSpPr>
            <p:cNvPr id="74" name="TextBox 74"/>
            <p:cNvSpPr txBox="1"/>
            <p:nvPr/>
          </p:nvSpPr>
          <p:spPr>
            <a:xfrm>
              <a:off x="8312468" y="2923699"/>
              <a:ext cx="1226115" cy="198120"/>
            </a:xfrm>
            <a:prstGeom prst="rect">
              <a:avLst/>
            </a:prstGeom>
            <a:noFill/>
            <a:ln>
              <a:noFill/>
            </a:ln>
          </p:spPr>
          <p:txBody>
            <a:bodyPr wrap="none" lIns="0" tIns="0" rIns="0" bIns="0" anchor="t" anchorCtr="0">
              <a:spAutoFit/>
            </a:bodyPr>
            <a:lstStyle/>
            <a:p>
              <a:pPr algn="l"/>
              <a:r>
                <a:rPr lang="zh-CN" sz="975" b="1" dirty="0">
                  <a:solidFill>
                    <a:srgbClr val="DCE6FB"/>
                  </a:solidFill>
                  <a:latin typeface="Arial" panose="020B0604020202020204"/>
                  <a:ea typeface="微软雅黑" panose="020B0503020204020204" charset="-122"/>
                  <a:cs typeface="Arial" panose="020B0604020202020204"/>
                </a:rPr>
                <a:t>PHASE 03 · 6-12 月</a:t>
              </a:r>
              <a:endParaRPr lang="zh-CN" sz="975" b="1" dirty="0">
                <a:solidFill>
                  <a:srgbClr val="DCE6FB"/>
                </a:solidFill>
                <a:latin typeface="Arial" panose="020B0604020202020204"/>
                <a:ea typeface="微软雅黑" panose="020B0503020204020204" charset="-122"/>
                <a:cs typeface="Arial" panose="020B0604020202020204"/>
              </a:endParaRPr>
            </a:p>
          </p:txBody>
        </p:sp>
        <p:grpSp>
          <p:nvGrpSpPr>
            <p:cNvPr id="77" name="Group 77"/>
            <p:cNvGrpSpPr/>
            <p:nvPr/>
          </p:nvGrpSpPr>
          <p:grpSpPr>
            <a:xfrm>
              <a:off x="10629900" y="2832937"/>
              <a:ext cx="228600" cy="239626"/>
              <a:chOff x="10629900" y="2832937"/>
              <a:chExt cx="228600" cy="239626"/>
            </a:xfrm>
          </p:grpSpPr>
          <p:sp>
            <p:nvSpPr>
              <p:cNvPr id="75" name="Freeform 75"/>
              <p:cNvSpPr/>
              <p:nvPr/>
            </p:nvSpPr>
            <p:spPr>
              <a:xfrm>
                <a:off x="10629900" y="2832937"/>
                <a:ext cx="228600" cy="105525"/>
              </a:xfrm>
              <a:custGeom>
                <a:avLst/>
                <a:gdLst/>
                <a:ahLst/>
                <a:cxnLst/>
                <a:rect l="l" t="t" r="r" b="b"/>
                <a:pathLst>
                  <a:path w="228600" h="105525">
                    <a:moveTo>
                      <a:pt x="228600" y="105525"/>
                    </a:moveTo>
                    <a:cubicBezTo>
                      <a:pt x="221417" y="53841"/>
                      <a:pt x="180535" y="13355"/>
                      <a:pt x="128783" y="6678"/>
                    </a:cubicBezTo>
                    <a:cubicBezTo>
                      <a:pt x="77031" y="0"/>
                      <a:pt x="27211" y="28782"/>
                      <a:pt x="7144" y="76950"/>
                    </a:cubicBezTo>
                    <a:moveTo>
                      <a:pt x="0" y="19800"/>
                    </a:moveTo>
                    <a:lnTo>
                      <a:pt x="0" y="76950"/>
                    </a:lnTo>
                    <a:lnTo>
                      <a:pt x="57150" y="76950"/>
                    </a:lnTo>
                  </a:path>
                </a:pathLst>
              </a:custGeom>
              <a:noFill/>
              <a:ln w="19050">
                <a:solidFill>
                  <a:srgbClr val="FFFFFF"/>
                </a:solidFill>
              </a:ln>
            </p:spPr>
          </p:sp>
          <p:sp>
            <p:nvSpPr>
              <p:cNvPr id="76" name="Freeform 76"/>
              <p:cNvSpPr/>
              <p:nvPr/>
            </p:nvSpPr>
            <p:spPr>
              <a:xfrm>
                <a:off x="10629900" y="2967038"/>
                <a:ext cx="228600" cy="105525"/>
              </a:xfrm>
              <a:custGeom>
                <a:avLst/>
                <a:gdLst/>
                <a:ahLst/>
                <a:cxnLst/>
                <a:rect l="l" t="t" r="r" b="b"/>
                <a:pathLst>
                  <a:path w="228600" h="105525">
                    <a:moveTo>
                      <a:pt x="0" y="0"/>
                    </a:moveTo>
                    <a:cubicBezTo>
                      <a:pt x="7183" y="51684"/>
                      <a:pt x="48065" y="92170"/>
                      <a:pt x="99817" y="98847"/>
                    </a:cubicBezTo>
                    <a:cubicBezTo>
                      <a:pt x="151569" y="105525"/>
                      <a:pt x="201389" y="76743"/>
                      <a:pt x="221456" y="28575"/>
                    </a:cubicBezTo>
                    <a:moveTo>
                      <a:pt x="228600" y="85725"/>
                    </a:moveTo>
                    <a:lnTo>
                      <a:pt x="228600" y="28575"/>
                    </a:lnTo>
                    <a:lnTo>
                      <a:pt x="171450" y="28575"/>
                    </a:lnTo>
                  </a:path>
                </a:pathLst>
              </a:custGeom>
              <a:noFill/>
              <a:ln w="19050">
                <a:solidFill>
                  <a:srgbClr val="FFFFFF"/>
                </a:solidFill>
              </a:ln>
            </p:spPr>
          </p:sp>
        </p:grpSp>
        <p:sp>
          <p:nvSpPr>
            <p:cNvPr id="78" name="TextBox 78"/>
            <p:cNvSpPr txBox="1"/>
            <p:nvPr/>
          </p:nvSpPr>
          <p:spPr>
            <a:xfrm>
              <a:off x="8303895" y="3393758"/>
              <a:ext cx="966026" cy="335280"/>
            </a:xfrm>
            <a:prstGeom prst="rect">
              <a:avLst/>
            </a:prstGeom>
            <a:noFill/>
            <a:ln>
              <a:noFill/>
            </a:ln>
          </p:spPr>
          <p:txBody>
            <a:bodyPr wrap="none" lIns="0" tIns="0" rIns="0" bIns="0" anchor="t" anchorCtr="0">
              <a:spAutoFit/>
            </a:bodyPr>
            <a:lstStyle/>
            <a:p>
              <a:pPr algn="l"/>
              <a:r>
                <a:rPr lang="zh-CN" sz="1650" b="1" dirty="0">
                  <a:solidFill>
                    <a:srgbClr val="17365D"/>
                  </a:solidFill>
                  <a:latin typeface="Arial" panose="020B0604020202020204"/>
                  <a:ea typeface="微软雅黑" panose="020B0503020204020204" charset="-122"/>
                  <a:cs typeface="Arial" panose="020B0604020202020204"/>
                </a:rPr>
                <a:t>闭环运营</a:t>
              </a:r>
              <a:endParaRPr lang="zh-CN" sz="1650" b="1" dirty="0">
                <a:solidFill>
                  <a:srgbClr val="17365D"/>
                </a:solidFill>
                <a:latin typeface="Arial" panose="020B0604020202020204"/>
                <a:ea typeface="微软雅黑" panose="020B0503020204020204" charset="-122"/>
                <a:cs typeface="Arial" panose="020B0604020202020204"/>
              </a:endParaRPr>
            </a:p>
          </p:txBody>
        </p:sp>
        <p:sp>
          <p:nvSpPr>
            <p:cNvPr id="79" name="TextBox 79"/>
            <p:cNvSpPr txBox="1"/>
            <p:nvPr/>
          </p:nvSpPr>
          <p:spPr>
            <a:xfrm>
              <a:off x="8312468" y="3723799"/>
              <a:ext cx="1194911"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panose="020B0604020202020204"/>
                  <a:ea typeface="微软雅黑" panose="020B0503020204020204" charset="-122"/>
                  <a:cs typeface="Arial" panose="020B0604020202020204"/>
                </a:rPr>
                <a:t>打通端到端业务闭环</a:t>
              </a:r>
              <a:endParaRPr lang="zh-CN" sz="975" dirty="0">
                <a:solidFill>
                  <a:srgbClr val="5E6A78"/>
                </a:solidFill>
                <a:latin typeface="Arial" panose="020B0604020202020204"/>
                <a:ea typeface="微软雅黑" panose="020B0503020204020204" charset="-122"/>
                <a:cs typeface="Arial" panose="020B0604020202020204"/>
              </a:endParaRPr>
            </a:p>
          </p:txBody>
        </p:sp>
        <p:sp>
          <p:nvSpPr>
            <p:cNvPr id="80" name="Ellipse 80"/>
            <p:cNvSpPr/>
            <p:nvPr/>
          </p:nvSpPr>
          <p:spPr>
            <a:xfrm>
              <a:off x="8353425" y="4143375"/>
              <a:ext cx="57150" cy="57150"/>
            </a:xfrm>
            <a:prstGeom prst="ellipse">
              <a:avLst/>
            </a:prstGeom>
            <a:solidFill>
              <a:srgbClr val="0E9F6E"/>
            </a:solidFill>
            <a:ln>
              <a:noFill/>
            </a:ln>
          </p:spPr>
        </p:sp>
        <p:sp>
          <p:nvSpPr>
            <p:cNvPr id="81" name="TextBox 81"/>
            <p:cNvSpPr txBox="1"/>
            <p:nvPr/>
          </p:nvSpPr>
          <p:spPr>
            <a:xfrm>
              <a:off x="8502015" y="4096702"/>
              <a:ext cx="128682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七环闭环全链路打通</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2" name="Ellipse 82"/>
            <p:cNvSpPr/>
            <p:nvPr/>
          </p:nvSpPr>
          <p:spPr>
            <a:xfrm>
              <a:off x="8353425" y="4429125"/>
              <a:ext cx="57150" cy="57150"/>
            </a:xfrm>
            <a:prstGeom prst="ellipse">
              <a:avLst/>
            </a:prstGeom>
            <a:solidFill>
              <a:srgbClr val="0E9F6E"/>
            </a:solidFill>
            <a:ln>
              <a:noFill/>
            </a:ln>
          </p:spPr>
        </p:sp>
        <p:sp>
          <p:nvSpPr>
            <p:cNvPr id="83" name="TextBox 83"/>
            <p:cNvSpPr txBox="1"/>
            <p:nvPr/>
          </p:nvSpPr>
          <p:spPr>
            <a:xfrm>
              <a:off x="8502015" y="438245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复盘回流持续优化</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4" name="Ellipse 84"/>
            <p:cNvSpPr/>
            <p:nvPr/>
          </p:nvSpPr>
          <p:spPr>
            <a:xfrm>
              <a:off x="8353425" y="4714875"/>
              <a:ext cx="57150" cy="57150"/>
            </a:xfrm>
            <a:prstGeom prst="ellipse">
              <a:avLst/>
            </a:prstGeom>
            <a:solidFill>
              <a:srgbClr val="0E9F6E"/>
            </a:solidFill>
            <a:ln>
              <a:noFill/>
            </a:ln>
          </p:spPr>
        </p:sp>
        <p:sp>
          <p:nvSpPr>
            <p:cNvPr id="85" name="TextBox 85"/>
            <p:cNvSpPr txBox="1"/>
            <p:nvPr/>
          </p:nvSpPr>
          <p:spPr>
            <a:xfrm>
              <a:off x="8502015" y="4668202"/>
              <a:ext cx="128682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企业知识资产规模化</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6" name="Ellipse 86"/>
            <p:cNvSpPr/>
            <p:nvPr/>
          </p:nvSpPr>
          <p:spPr>
            <a:xfrm>
              <a:off x="8353425" y="5000625"/>
              <a:ext cx="57150" cy="57150"/>
            </a:xfrm>
            <a:prstGeom prst="ellipse">
              <a:avLst/>
            </a:prstGeom>
            <a:solidFill>
              <a:srgbClr val="0E9F6E"/>
            </a:solidFill>
            <a:ln>
              <a:noFill/>
            </a:ln>
          </p:spPr>
        </p:sp>
        <p:sp>
          <p:nvSpPr>
            <p:cNvPr id="87" name="TextBox 87"/>
            <p:cNvSpPr txBox="1"/>
            <p:nvPr/>
          </p:nvSpPr>
          <p:spPr>
            <a:xfrm>
              <a:off x="8502015" y="4953952"/>
              <a:ext cx="136383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私有化/混合部署落地</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8" name="Rectangle 88"/>
            <p:cNvSpPr/>
            <p:nvPr/>
          </p:nvSpPr>
          <p:spPr>
            <a:xfrm>
              <a:off x="8324850" y="5334000"/>
              <a:ext cx="2095500" cy="342900"/>
            </a:xfrm>
            <a:prstGeom prst="roundRect">
              <a:avLst>
                <a:gd name="adj" fmla="val 22222"/>
              </a:avLst>
            </a:prstGeom>
            <a:solidFill>
              <a:srgbClr val="0E9F6E">
                <a:alpha val="14000"/>
              </a:srgbClr>
            </a:solidFill>
            <a:ln>
              <a:noFill/>
            </a:ln>
          </p:spPr>
        </p:sp>
        <p:grpSp>
          <p:nvGrpSpPr>
            <p:cNvPr id="91" name="Group 91"/>
            <p:cNvGrpSpPr/>
            <p:nvPr/>
          </p:nvGrpSpPr>
          <p:grpSpPr>
            <a:xfrm>
              <a:off x="8424862" y="5434012"/>
              <a:ext cx="142875" cy="142875"/>
              <a:chOff x="8424862" y="5434012"/>
              <a:chExt cx="142875" cy="142875"/>
            </a:xfrm>
          </p:grpSpPr>
          <p:sp>
            <p:nvSpPr>
              <p:cNvPr id="89" name="Freeform 89"/>
              <p:cNvSpPr/>
              <p:nvPr/>
            </p:nvSpPr>
            <p:spPr>
              <a:xfrm>
                <a:off x="8424862" y="543401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E9F6E"/>
                </a:solidFill>
              </a:ln>
            </p:spPr>
          </p:sp>
          <p:sp>
            <p:nvSpPr>
              <p:cNvPr id="90" name="Freeform 90"/>
              <p:cNvSpPr/>
              <p:nvPr/>
            </p:nvSpPr>
            <p:spPr>
              <a:xfrm>
                <a:off x="8472488" y="5489575"/>
                <a:ext cx="47625" cy="31750"/>
              </a:xfrm>
              <a:custGeom>
                <a:avLst/>
                <a:gdLst/>
                <a:ahLst/>
                <a:cxnLst/>
                <a:rect l="l" t="t" r="r" b="b"/>
                <a:pathLst>
                  <a:path w="47625" h="31750">
                    <a:moveTo>
                      <a:pt x="0" y="15875"/>
                    </a:moveTo>
                    <a:lnTo>
                      <a:pt x="15875" y="31750"/>
                    </a:lnTo>
                    <a:lnTo>
                      <a:pt x="47625" y="0"/>
                    </a:lnTo>
                  </a:path>
                </a:pathLst>
              </a:custGeom>
              <a:noFill/>
              <a:ln w="19050">
                <a:solidFill>
                  <a:srgbClr val="0E9F6E"/>
                </a:solidFill>
              </a:ln>
            </p:spPr>
          </p:sp>
        </p:grpSp>
        <p:sp>
          <p:nvSpPr>
            <p:cNvPr id="92" name="TextBox 92"/>
            <p:cNvSpPr txBox="1"/>
            <p:nvPr/>
          </p:nvSpPr>
          <p:spPr>
            <a:xfrm>
              <a:off x="8655368" y="5447824"/>
              <a:ext cx="1328503" cy="198120"/>
            </a:xfrm>
            <a:prstGeom prst="rect">
              <a:avLst/>
            </a:prstGeom>
            <a:noFill/>
            <a:ln>
              <a:noFill/>
            </a:ln>
          </p:spPr>
          <p:txBody>
            <a:bodyPr wrap="none" lIns="0" tIns="0" rIns="0" bIns="0" anchor="t" anchorCtr="0">
              <a:spAutoFit/>
            </a:bodyPr>
            <a:lstStyle/>
            <a:p>
              <a:pPr algn="l"/>
              <a:r>
                <a:rPr lang="zh-CN" sz="975" b="1" dirty="0">
                  <a:solidFill>
                    <a:srgbClr val="0E9F6E"/>
                  </a:solidFill>
                  <a:latin typeface="Arial" panose="020B0604020202020204"/>
                  <a:ea typeface="微软雅黑" panose="020B0503020204020204" charset="-122"/>
                  <a:cs typeface="Arial" panose="020B0604020202020204"/>
                </a:rPr>
                <a:t>里程碑:闭环持续运营</a:t>
              </a:r>
              <a:endParaRPr lang="zh-CN" sz="975" b="1" dirty="0">
                <a:solidFill>
                  <a:srgbClr val="0E9F6E"/>
                </a:solidFill>
                <a:latin typeface="Arial" panose="020B0604020202020204"/>
                <a:ea typeface="微软雅黑" panose="020B0503020204020204" charset="-122"/>
                <a:cs typeface="Arial" panose="020B0604020202020204"/>
              </a:endParaRPr>
            </a:p>
          </p:txBody>
        </p:sp>
      </p:grpSp>
      <p:grpSp>
        <p:nvGrpSpPr>
          <p:cNvPr id="96" name="Group 96"/>
          <p:cNvGrpSpPr/>
          <p:nvPr/>
        </p:nvGrpSpPr>
        <p:grpSpPr>
          <a:xfrm>
            <a:off x="561022" y="6578441"/>
            <a:ext cx="11069955" cy="167640"/>
            <a:chOff x="561022" y="6578441"/>
            <a:chExt cx="11069955" cy="167640"/>
          </a:xfrm>
        </p:grpSpPr>
        <p:sp>
          <p:nvSpPr>
            <p:cNvPr id="94" name="TextBox 94"/>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95" name="TextBox 95"/>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21</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image">
                                      <p:cBhvr>
                                        <p:cTn id="11" dur="400"/>
                                        <p:tgtEl>
                                          <p:spTgt spid="4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fade">
                                      <p:cBhvr>
                                        <p:cTn id="15" dur="400"/>
                                        <p:tgtEl>
                                          <p:spTgt spid="70"/>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wipe(left)">
                                      <p:cBhvr>
                                        <p:cTn id="19" dur="4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41" grpId="0"/>
      <p:bldP spid="70" grpId="0"/>
      <p:bldP spid="9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052A6"/>
            </a:solidFill>
            <a:ln>
              <a:noFill/>
            </a:ln>
          </p:spPr>
        </p:sp>
      </p:grpSp>
      <p:grpSp>
        <p:nvGrpSpPr>
          <p:cNvPr id="8" name="Group 8"/>
          <p:cNvGrpSpPr/>
          <p:nvPr/>
        </p:nvGrpSpPr>
        <p:grpSpPr>
          <a:xfrm>
            <a:off x="542925" y="553402"/>
            <a:ext cx="8437197" cy="970598"/>
            <a:chOff x="542925" y="553402"/>
            <a:chExt cx="8437197" cy="970598"/>
          </a:xfrm>
        </p:grpSpPr>
        <p:sp>
          <p:nvSpPr>
            <p:cNvPr id="5" name="TextBox 5"/>
            <p:cNvSpPr txBox="1"/>
            <p:nvPr/>
          </p:nvSpPr>
          <p:spPr>
            <a:xfrm>
              <a:off x="558165" y="553402"/>
              <a:ext cx="967588" cy="213360"/>
            </a:xfrm>
            <a:prstGeom prst="rect">
              <a:avLst/>
            </a:prstGeom>
            <a:noFill/>
            <a:ln>
              <a:noFill/>
            </a:ln>
          </p:spPr>
          <p:txBody>
            <a:bodyPr wrap="none" lIns="0" tIns="0" rIns="0" bIns="0" anchor="t" anchorCtr="0">
              <a:spAutoFit/>
            </a:bodyPr>
            <a:lstStyle/>
            <a:p>
              <a:pPr algn="l"/>
              <a:r>
                <a:rPr lang="zh-CN" sz="1050" b="1" dirty="0">
                  <a:solidFill>
                    <a:srgbClr val="518FEC"/>
                  </a:solidFill>
                  <a:latin typeface="Arial" panose="020B0604020202020204"/>
                  <a:ea typeface="微软雅黑" panose="020B0503020204020204" charset="-122"/>
                  <a:cs typeface="Arial" panose="020B0604020202020204"/>
                </a:rPr>
                <a:t>04 价值与实施</a:t>
              </a:r>
              <a:endParaRPr lang="zh-CN" sz="1050" b="1" dirty="0">
                <a:solidFill>
                  <a:srgbClr val="518FEC"/>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542925" y="852488"/>
              <a:ext cx="8437197" cy="457200"/>
            </a:xfrm>
            <a:prstGeom prst="rect">
              <a:avLst/>
            </a:prstGeom>
            <a:noFill/>
            <a:ln>
              <a:noFill/>
            </a:ln>
          </p:spPr>
          <p:txBody>
            <a:bodyPr wrap="none" lIns="0" tIns="0" rIns="0" bIns="0" anchor="t" anchorCtr="0">
              <a:spAutoFit/>
            </a:bodyPr>
            <a:lstStyle/>
            <a:p>
              <a:pPr algn="l"/>
              <a:r>
                <a:rPr lang="zh-CN" sz="2250" b="1" dirty="0">
                  <a:solidFill>
                    <a:srgbClr val="17365D"/>
                  </a:solidFill>
                  <a:latin typeface="Arial" panose="020B0604020202020204"/>
                  <a:ea typeface="微软雅黑" panose="020B0503020204020204" charset="-122"/>
                  <a:cs typeface="Arial" panose="020B0604020202020204"/>
                </a:rPr>
                <a:t>为什么是法本 — 能力底座 · 行业交付 · 安全合规 · 生态合作</a:t>
              </a:r>
              <a:endParaRPr lang="zh-CN" sz="2250" b="1" dirty="0">
                <a:solidFill>
                  <a:srgbClr val="17365D"/>
                </a:solidFill>
                <a:latin typeface="Arial" panose="020B0604020202020204"/>
                <a:ea typeface="微软雅黑" panose="020B0503020204020204" charset="-122"/>
                <a:cs typeface="Arial" panose="020B0604020202020204"/>
              </a:endParaRPr>
            </a:p>
          </p:txBody>
        </p:sp>
        <p:sp>
          <p:nvSpPr>
            <p:cNvPr id="7" name="TextBox 7"/>
            <p:cNvSpPr txBox="1"/>
            <p:nvPr/>
          </p:nvSpPr>
          <p:spPr>
            <a:xfrm>
              <a:off x="556260" y="1280160"/>
              <a:ext cx="6575298" cy="243840"/>
            </a:xfrm>
            <a:prstGeom prst="rect">
              <a:avLst/>
            </a:prstGeom>
            <a:noFill/>
            <a:ln>
              <a:noFill/>
            </a:ln>
          </p:spPr>
          <p:txBody>
            <a:bodyPr wrap="none" lIns="0" tIns="0" rIns="0" bIns="0" anchor="t" anchorCtr="0">
              <a:spAutoFit/>
            </a:bodyPr>
            <a:lstStyle/>
            <a:p>
              <a:pPr algn="l"/>
              <a:r>
                <a:rPr lang="zh-CN" sz="1200" dirty="0">
                  <a:solidFill>
                    <a:srgbClr val="5E6A78"/>
                  </a:solidFill>
                  <a:latin typeface="Arial" panose="020B0604020202020204"/>
                  <a:ea typeface="微软雅黑" panose="020B0503020204020204" charset="-122"/>
                  <a:cs typeface="Arial" panose="020B0604020202020204"/>
                </a:rPr>
                <a:t>法本以企业级 Agent 平台、大型客户交付经验、私有化安全能力和强生态合作,保障方案落地</a:t>
              </a:r>
              <a:endParaRPr lang="zh-CN" sz="1200" dirty="0">
                <a:solidFill>
                  <a:srgbClr val="5E6A78"/>
                </a:solidFill>
                <a:latin typeface="Arial" panose="020B0604020202020204"/>
                <a:ea typeface="微软雅黑" panose="020B0503020204020204" charset="-122"/>
                <a:cs typeface="Arial" panose="020B0604020202020204"/>
              </a:endParaRPr>
            </a:p>
          </p:txBody>
        </p:sp>
      </p:grpSp>
      <p:grpSp>
        <p:nvGrpSpPr>
          <p:cNvPr id="32" name="Group 32"/>
          <p:cNvGrpSpPr/>
          <p:nvPr/>
        </p:nvGrpSpPr>
        <p:grpSpPr>
          <a:xfrm>
            <a:off x="571500" y="1762125"/>
            <a:ext cx="2647950" cy="4048125"/>
            <a:chOff x="571500" y="1762125"/>
            <a:chExt cx="2647950" cy="4048125"/>
          </a:xfrm>
        </p:grpSpPr>
        <p:sp>
          <p:nvSpPr>
            <p:cNvPr id="9" name="Rectangle 9"/>
            <p:cNvSpPr/>
            <p:nvPr/>
          </p:nvSpPr>
          <p:spPr>
            <a:xfrm>
              <a:off x="571500" y="1762125"/>
              <a:ext cx="2647950" cy="4048125"/>
            </a:xfrm>
            <a:prstGeom prst="roundRect">
              <a:avLst>
                <a:gd name="adj" fmla="val 4317"/>
              </a:avLst>
            </a:prstGeom>
            <a:solidFill>
              <a:srgbClr val="F4F7FC"/>
            </a:solidFill>
            <a:ln>
              <a:noFill/>
            </a:ln>
          </p:spPr>
        </p:sp>
        <p:sp>
          <p:nvSpPr>
            <p:cNvPr id="10" name="Ellipse 10"/>
            <p:cNvSpPr/>
            <p:nvPr/>
          </p:nvSpPr>
          <p:spPr>
            <a:xfrm>
              <a:off x="1495425" y="1981200"/>
              <a:ext cx="800100" cy="800100"/>
            </a:xfrm>
            <a:prstGeom prst="ellipse">
              <a:avLst/>
            </a:prstGeom>
            <a:solidFill>
              <a:srgbClr val="246BFE"/>
            </a:solidFill>
            <a:ln>
              <a:noFill/>
            </a:ln>
          </p:spPr>
        </p:sp>
        <p:grpSp>
          <p:nvGrpSpPr>
            <p:cNvPr id="17" name="Group 17"/>
            <p:cNvGrpSpPr/>
            <p:nvPr/>
          </p:nvGrpSpPr>
          <p:grpSpPr>
            <a:xfrm>
              <a:off x="1709738" y="2195512"/>
              <a:ext cx="371474" cy="371476"/>
              <a:chOff x="1709738" y="2195512"/>
              <a:chExt cx="371474" cy="371476"/>
            </a:xfrm>
          </p:grpSpPr>
          <p:sp>
            <p:nvSpPr>
              <p:cNvPr id="11" name="Freeform 11"/>
              <p:cNvSpPr/>
              <p:nvPr/>
            </p:nvSpPr>
            <p:spPr>
              <a:xfrm>
                <a:off x="1895475" y="2401888"/>
                <a:ext cx="144462" cy="165100"/>
              </a:xfrm>
              <a:custGeom>
                <a:avLst/>
                <a:gdLst/>
                <a:ahLst/>
                <a:cxnLst/>
                <a:rect l="l" t="t" r="r" b="b"/>
                <a:pathLst>
                  <a:path w="144462" h="165100">
                    <a:moveTo>
                      <a:pt x="72231" y="0"/>
                    </a:moveTo>
                    <a:cubicBezTo>
                      <a:pt x="32339" y="0"/>
                      <a:pt x="0" y="32339"/>
                      <a:pt x="0" y="72231"/>
                    </a:cubicBezTo>
                    <a:lnTo>
                      <a:pt x="0" y="92869"/>
                    </a:lnTo>
                    <a:cubicBezTo>
                      <a:pt x="0" y="132761"/>
                      <a:pt x="32339" y="165100"/>
                      <a:pt x="72231" y="165100"/>
                    </a:cubicBezTo>
                    <a:cubicBezTo>
                      <a:pt x="112123" y="165100"/>
                      <a:pt x="144462" y="132761"/>
                      <a:pt x="144462" y="92869"/>
                    </a:cubicBezTo>
                    <a:lnTo>
                      <a:pt x="144462" y="55721"/>
                    </a:lnTo>
                  </a:path>
                </a:pathLst>
              </a:custGeom>
              <a:noFill/>
              <a:ln w="19050">
                <a:solidFill>
                  <a:srgbClr val="FFFFFF"/>
                </a:solidFill>
              </a:ln>
            </p:spPr>
          </p:sp>
          <p:sp>
            <p:nvSpPr>
              <p:cNvPr id="12" name="Freeform 12"/>
              <p:cNvSpPr/>
              <p:nvPr/>
            </p:nvSpPr>
            <p:spPr>
              <a:xfrm>
                <a:off x="1751012" y="2401888"/>
                <a:ext cx="144462" cy="165100"/>
              </a:xfrm>
              <a:custGeom>
                <a:avLst/>
                <a:gdLst/>
                <a:ahLst/>
                <a:cxnLst/>
                <a:rect l="l" t="t" r="r" b="b"/>
                <a:pathLst>
                  <a:path w="144462" h="165100">
                    <a:moveTo>
                      <a:pt x="72231" y="0"/>
                    </a:moveTo>
                    <a:cubicBezTo>
                      <a:pt x="112123" y="0"/>
                      <a:pt x="144462" y="32339"/>
                      <a:pt x="144462" y="72231"/>
                    </a:cubicBezTo>
                    <a:lnTo>
                      <a:pt x="144462" y="92869"/>
                    </a:lnTo>
                    <a:cubicBezTo>
                      <a:pt x="144462" y="132761"/>
                      <a:pt x="112123" y="165100"/>
                      <a:pt x="72231" y="165100"/>
                    </a:cubicBezTo>
                    <a:cubicBezTo>
                      <a:pt x="32339" y="165100"/>
                      <a:pt x="0" y="132761"/>
                      <a:pt x="0" y="92869"/>
                    </a:cubicBezTo>
                    <a:lnTo>
                      <a:pt x="0" y="55721"/>
                    </a:lnTo>
                  </a:path>
                </a:pathLst>
              </a:custGeom>
              <a:noFill/>
              <a:ln w="19050">
                <a:solidFill>
                  <a:srgbClr val="FFFFFF"/>
                </a:solidFill>
              </a:ln>
            </p:spPr>
          </p:sp>
          <p:sp>
            <p:nvSpPr>
              <p:cNvPr id="13" name="Freeform 13"/>
              <p:cNvSpPr/>
              <p:nvPr/>
            </p:nvSpPr>
            <p:spPr>
              <a:xfrm>
                <a:off x="1998662" y="2319338"/>
                <a:ext cx="82550" cy="144463"/>
              </a:xfrm>
              <a:custGeom>
                <a:avLst/>
                <a:gdLst/>
                <a:ahLst/>
                <a:cxnLst/>
                <a:rect l="l" t="t" r="r" b="b"/>
                <a:pathLst>
                  <a:path w="82550" h="144463">
                    <a:moveTo>
                      <a:pt x="10319" y="144463"/>
                    </a:moveTo>
                    <a:cubicBezTo>
                      <a:pt x="50211" y="144463"/>
                      <a:pt x="82550" y="112123"/>
                      <a:pt x="82550" y="72231"/>
                    </a:cubicBezTo>
                    <a:cubicBezTo>
                      <a:pt x="82550" y="32339"/>
                      <a:pt x="50211" y="0"/>
                      <a:pt x="10319" y="0"/>
                    </a:cubicBezTo>
                    <a:lnTo>
                      <a:pt x="0" y="0"/>
                    </a:lnTo>
                  </a:path>
                </a:pathLst>
              </a:custGeom>
              <a:noFill/>
              <a:ln w="19050">
                <a:solidFill>
                  <a:srgbClr val="FFFFFF"/>
                </a:solidFill>
              </a:ln>
            </p:spPr>
          </p:sp>
          <p:sp>
            <p:nvSpPr>
              <p:cNvPr id="14" name="Freeform 14"/>
              <p:cNvSpPr/>
              <p:nvPr/>
            </p:nvSpPr>
            <p:spPr>
              <a:xfrm>
                <a:off x="1895475" y="2195512"/>
                <a:ext cx="144462" cy="130016"/>
              </a:xfrm>
              <a:custGeom>
                <a:avLst/>
                <a:gdLst/>
                <a:ahLst/>
                <a:cxnLst/>
                <a:rect l="l" t="t" r="r" b="b"/>
                <a:pathLst>
                  <a:path w="144462" h="130016">
                    <a:moveTo>
                      <a:pt x="144462" y="130016"/>
                    </a:moveTo>
                    <a:lnTo>
                      <a:pt x="144462" y="72231"/>
                    </a:lnTo>
                    <a:cubicBezTo>
                      <a:pt x="144462" y="32339"/>
                      <a:pt x="112123" y="0"/>
                      <a:pt x="72231" y="0"/>
                    </a:cubicBezTo>
                    <a:cubicBezTo>
                      <a:pt x="32339" y="0"/>
                      <a:pt x="0" y="32339"/>
                      <a:pt x="0" y="72231"/>
                    </a:cubicBezTo>
                  </a:path>
                </a:pathLst>
              </a:custGeom>
              <a:noFill/>
              <a:ln w="19050">
                <a:solidFill>
                  <a:srgbClr val="FFFFFF"/>
                </a:solidFill>
              </a:ln>
            </p:spPr>
          </p:sp>
          <p:sp>
            <p:nvSpPr>
              <p:cNvPr id="15" name="Freeform 15"/>
              <p:cNvSpPr/>
              <p:nvPr/>
            </p:nvSpPr>
            <p:spPr>
              <a:xfrm>
                <a:off x="1709738" y="2319338"/>
                <a:ext cx="82550" cy="144463"/>
              </a:xfrm>
              <a:custGeom>
                <a:avLst/>
                <a:gdLst/>
                <a:ahLst/>
                <a:cxnLst/>
                <a:rect l="l" t="t" r="r" b="b"/>
                <a:pathLst>
                  <a:path w="82550" h="144463">
                    <a:moveTo>
                      <a:pt x="72231" y="144463"/>
                    </a:moveTo>
                    <a:cubicBezTo>
                      <a:pt x="32339" y="144463"/>
                      <a:pt x="0" y="112123"/>
                      <a:pt x="0" y="72231"/>
                    </a:cubicBezTo>
                    <a:cubicBezTo>
                      <a:pt x="0" y="32339"/>
                      <a:pt x="32339" y="0"/>
                      <a:pt x="72231" y="0"/>
                    </a:cubicBezTo>
                    <a:lnTo>
                      <a:pt x="82550" y="0"/>
                    </a:lnTo>
                  </a:path>
                </a:pathLst>
              </a:custGeom>
              <a:noFill/>
              <a:ln w="19050">
                <a:solidFill>
                  <a:srgbClr val="FFFFFF"/>
                </a:solidFill>
              </a:ln>
            </p:spPr>
          </p:sp>
          <p:sp>
            <p:nvSpPr>
              <p:cNvPr id="16" name="Freeform 16"/>
              <p:cNvSpPr/>
              <p:nvPr/>
            </p:nvSpPr>
            <p:spPr>
              <a:xfrm>
                <a:off x="1751012" y="2195512"/>
                <a:ext cx="144462" cy="278606"/>
              </a:xfrm>
              <a:custGeom>
                <a:avLst/>
                <a:gdLst/>
                <a:ahLst/>
                <a:cxnLst/>
                <a:rect l="l" t="t" r="r" b="b"/>
                <a:pathLst>
                  <a:path w="144462" h="278606">
                    <a:moveTo>
                      <a:pt x="0" y="130016"/>
                    </a:moveTo>
                    <a:lnTo>
                      <a:pt x="0" y="72231"/>
                    </a:lnTo>
                    <a:cubicBezTo>
                      <a:pt x="0" y="32339"/>
                      <a:pt x="32339" y="0"/>
                      <a:pt x="72231" y="0"/>
                    </a:cubicBezTo>
                    <a:cubicBezTo>
                      <a:pt x="112123" y="0"/>
                      <a:pt x="144462" y="32339"/>
                      <a:pt x="144462" y="72231"/>
                    </a:cubicBezTo>
                    <a:lnTo>
                      <a:pt x="144462" y="278606"/>
                    </a:lnTo>
                  </a:path>
                </a:pathLst>
              </a:custGeom>
              <a:noFill/>
              <a:ln w="19050">
                <a:solidFill>
                  <a:srgbClr val="FFFFFF"/>
                </a:solidFill>
              </a:ln>
            </p:spPr>
          </p:sp>
        </p:grpSp>
        <p:sp>
          <p:nvSpPr>
            <p:cNvPr id="18" name="TextBox 18"/>
            <p:cNvSpPr txBox="1"/>
            <p:nvPr/>
          </p:nvSpPr>
          <p:spPr>
            <a:xfrm>
              <a:off x="1610058" y="3018949"/>
              <a:ext cx="570833" cy="198120"/>
            </a:xfrm>
            <a:prstGeom prst="rect">
              <a:avLst/>
            </a:prstGeom>
            <a:noFill/>
            <a:ln>
              <a:noFill/>
            </a:ln>
          </p:spPr>
          <p:txBody>
            <a:bodyPr wrap="none" lIns="0" tIns="0" rIns="0" bIns="0" anchor="t" anchorCtr="0">
              <a:spAutoFit/>
            </a:bodyPr>
            <a:lstStyle/>
            <a:p>
              <a:pPr algn="ctr"/>
              <a:r>
                <a:rPr lang="zh-CN" sz="975" b="1" dirty="0">
                  <a:solidFill>
                    <a:srgbClr val="246BFE"/>
                  </a:solidFill>
                  <a:latin typeface="Arial" panose="020B0604020202020204"/>
                  <a:ea typeface="微软雅黑" panose="020B0503020204020204" charset="-122"/>
                  <a:cs typeface="Arial" panose="020B0604020202020204"/>
                </a:rPr>
                <a:t>能力底座</a:t>
              </a:r>
              <a:endParaRPr lang="zh-CN" sz="975" b="1" dirty="0">
                <a:solidFill>
                  <a:srgbClr val="246BFE"/>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1372362" y="3267075"/>
              <a:ext cx="1046226" cy="304800"/>
            </a:xfrm>
            <a:prstGeom prst="rect">
              <a:avLst/>
            </a:prstGeom>
            <a:noFill/>
            <a:ln>
              <a:noFill/>
            </a:ln>
          </p:spPr>
          <p:txBody>
            <a:bodyPr wrap="none" lIns="0" tIns="0" rIns="0" bIns="0" anchor="t" anchorCtr="0">
              <a:spAutoFit/>
            </a:bodyPr>
            <a:lstStyle/>
            <a:p>
              <a:pPr algn="ctr"/>
              <a:r>
                <a:rPr lang="zh-CN" sz="1500" b="1" dirty="0">
                  <a:solidFill>
                    <a:srgbClr val="17365D"/>
                  </a:solidFill>
                  <a:latin typeface="Arial" panose="020B0604020202020204"/>
                  <a:ea typeface="微软雅黑" panose="020B0503020204020204" charset="-122"/>
                  <a:cs typeface="Arial" panose="020B0604020202020204"/>
                </a:rPr>
                <a:t>FarAI 平台</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20" name="Line 20"/>
            <p:cNvSpPr/>
            <p:nvPr/>
          </p:nvSpPr>
          <p:spPr>
            <a:xfrm>
              <a:off x="1419225" y="3619500"/>
              <a:ext cx="952500" cy="9525"/>
            </a:xfrm>
            <a:custGeom>
              <a:avLst/>
              <a:gdLst/>
              <a:ahLst/>
              <a:cxnLst/>
              <a:rect l="l" t="t" r="r" b="b"/>
              <a:pathLst>
                <a:path w="952500" h="9525">
                  <a:moveTo>
                    <a:pt x="0" y="0"/>
                  </a:moveTo>
                  <a:lnTo>
                    <a:pt x="952500" y="0"/>
                  </a:lnTo>
                </a:path>
              </a:pathLst>
            </a:custGeom>
            <a:noFill/>
            <a:ln w="19050">
              <a:solidFill>
                <a:srgbClr val="246BFE"/>
              </a:solidFill>
            </a:ln>
          </p:spPr>
        </p:sp>
        <p:sp>
          <p:nvSpPr>
            <p:cNvPr id="21" name="Ellipse 21"/>
            <p:cNvSpPr/>
            <p:nvPr/>
          </p:nvSpPr>
          <p:spPr>
            <a:xfrm>
              <a:off x="828675" y="3971925"/>
              <a:ext cx="57150" cy="57150"/>
            </a:xfrm>
            <a:prstGeom prst="ellipse">
              <a:avLst/>
            </a:prstGeom>
            <a:solidFill>
              <a:srgbClr val="246BFE"/>
            </a:solidFill>
            <a:ln>
              <a:noFill/>
            </a:ln>
          </p:spPr>
        </p:sp>
        <p:sp>
          <p:nvSpPr>
            <p:cNvPr id="22" name="TextBox 22"/>
            <p:cNvSpPr txBox="1"/>
            <p:nvPr/>
          </p:nvSpPr>
          <p:spPr>
            <a:xfrm>
              <a:off x="977265" y="3925252"/>
              <a:ext cx="964787"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FarAgent 平台</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979170" y="4131945"/>
              <a:ext cx="1355026"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自主规划·沙盒·分层记忆</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4" name="Ellipse 24"/>
            <p:cNvSpPr/>
            <p:nvPr/>
          </p:nvSpPr>
          <p:spPr>
            <a:xfrm>
              <a:off x="828675" y="4524375"/>
              <a:ext cx="57150" cy="57150"/>
            </a:xfrm>
            <a:prstGeom prst="ellipse">
              <a:avLst/>
            </a:prstGeom>
            <a:solidFill>
              <a:srgbClr val="246BFE"/>
            </a:solidFill>
            <a:ln>
              <a:noFill/>
            </a:ln>
          </p:spPr>
        </p:sp>
        <p:sp>
          <p:nvSpPr>
            <p:cNvPr id="25" name="TextBox 25"/>
            <p:cNvSpPr txBox="1"/>
            <p:nvPr/>
          </p:nvSpPr>
          <p:spPr>
            <a:xfrm>
              <a:off x="977265" y="4477702"/>
              <a:ext cx="1013793"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1+4+X 产品矩阵</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979170" y="4684395"/>
              <a:ext cx="118100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招聘·投标·编码·行业</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27" name="Ellipse 27"/>
            <p:cNvSpPr/>
            <p:nvPr/>
          </p:nvSpPr>
          <p:spPr>
            <a:xfrm>
              <a:off x="828675" y="5076825"/>
              <a:ext cx="57150" cy="57150"/>
            </a:xfrm>
            <a:prstGeom prst="ellipse">
              <a:avLst/>
            </a:prstGeom>
            <a:solidFill>
              <a:srgbClr val="246BFE"/>
            </a:solidFill>
            <a:ln>
              <a:noFill/>
            </a:ln>
          </p:spPr>
        </p:sp>
        <p:sp>
          <p:nvSpPr>
            <p:cNvPr id="28" name="TextBox 28"/>
            <p:cNvSpPr txBox="1"/>
            <p:nvPr/>
          </p:nvSpPr>
          <p:spPr>
            <a:xfrm>
              <a:off x="977265" y="5030152"/>
              <a:ext cx="72675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大模型能力</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979170" y="5236845"/>
              <a:ext cx="874967"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语义·推理·生成</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30" name="Ellipse 30"/>
            <p:cNvSpPr/>
            <p:nvPr/>
          </p:nvSpPr>
          <p:spPr>
            <a:xfrm>
              <a:off x="828675" y="5629275"/>
              <a:ext cx="57150" cy="57150"/>
            </a:xfrm>
            <a:prstGeom prst="ellipse">
              <a:avLst/>
            </a:prstGeom>
            <a:solidFill>
              <a:srgbClr val="246BFE"/>
            </a:solidFill>
            <a:ln>
              <a:noFill/>
            </a:ln>
          </p:spPr>
        </p:sp>
        <p:sp>
          <p:nvSpPr>
            <p:cNvPr id="31" name="TextBox 31"/>
            <p:cNvSpPr txBox="1"/>
            <p:nvPr/>
          </p:nvSpPr>
          <p:spPr>
            <a:xfrm>
              <a:off x="977265" y="5582602"/>
              <a:ext cx="72675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企业知识库</a:t>
              </a:r>
              <a:endParaRPr lang="zh-CN" sz="1050" dirty="0">
                <a:solidFill>
                  <a:srgbClr val="25364A"/>
                </a:solidFill>
                <a:latin typeface="Arial" panose="020B0604020202020204"/>
                <a:ea typeface="微软雅黑" panose="020B0503020204020204" charset="-122"/>
                <a:cs typeface="Arial" panose="020B0604020202020204"/>
              </a:endParaRPr>
            </a:p>
          </p:txBody>
        </p:sp>
      </p:grpSp>
      <p:grpSp>
        <p:nvGrpSpPr>
          <p:cNvPr id="54" name="Group 54"/>
          <p:cNvGrpSpPr/>
          <p:nvPr/>
        </p:nvGrpSpPr>
        <p:grpSpPr>
          <a:xfrm>
            <a:off x="3371850" y="1762125"/>
            <a:ext cx="2647950" cy="4048125"/>
            <a:chOff x="3371850" y="1762125"/>
            <a:chExt cx="2647950" cy="4048125"/>
          </a:xfrm>
        </p:grpSpPr>
        <p:sp>
          <p:nvSpPr>
            <p:cNvPr id="33" name="Rectangle 33"/>
            <p:cNvSpPr/>
            <p:nvPr/>
          </p:nvSpPr>
          <p:spPr>
            <a:xfrm>
              <a:off x="3371850" y="1762125"/>
              <a:ext cx="2647950" cy="4048125"/>
            </a:xfrm>
            <a:prstGeom prst="roundRect">
              <a:avLst>
                <a:gd name="adj" fmla="val 4317"/>
              </a:avLst>
            </a:prstGeom>
            <a:solidFill>
              <a:srgbClr val="F4F7FC"/>
            </a:solidFill>
            <a:ln>
              <a:noFill/>
            </a:ln>
          </p:spPr>
        </p:sp>
        <p:sp>
          <p:nvSpPr>
            <p:cNvPr id="34" name="Ellipse 34"/>
            <p:cNvSpPr/>
            <p:nvPr/>
          </p:nvSpPr>
          <p:spPr>
            <a:xfrm>
              <a:off x="4295775" y="1981200"/>
              <a:ext cx="800100" cy="800100"/>
            </a:xfrm>
            <a:prstGeom prst="ellipse">
              <a:avLst/>
            </a:prstGeom>
            <a:solidFill>
              <a:srgbClr val="0052A6"/>
            </a:solidFill>
            <a:ln>
              <a:noFill/>
            </a:ln>
          </p:spPr>
        </p:sp>
        <p:grpSp>
          <p:nvGrpSpPr>
            <p:cNvPr id="39" name="Group 39"/>
            <p:cNvGrpSpPr/>
            <p:nvPr/>
          </p:nvGrpSpPr>
          <p:grpSpPr>
            <a:xfrm>
              <a:off x="4510088" y="2195512"/>
              <a:ext cx="371475" cy="350837"/>
              <a:chOff x="4510088" y="2195512"/>
              <a:chExt cx="371475" cy="350837"/>
            </a:xfrm>
          </p:grpSpPr>
          <p:sp>
            <p:nvSpPr>
              <p:cNvPr id="35" name="Freeform 35"/>
              <p:cNvSpPr/>
              <p:nvPr/>
            </p:nvSpPr>
            <p:spPr>
              <a:xfrm>
                <a:off x="4510088" y="2278062"/>
                <a:ext cx="371475" cy="268287"/>
              </a:xfrm>
              <a:custGeom>
                <a:avLst/>
                <a:gdLst/>
                <a:ahLst/>
                <a:cxnLst/>
                <a:rect l="l" t="t" r="r" b="b"/>
                <a:pathLst>
                  <a:path w="371475" h="268287">
                    <a:moveTo>
                      <a:pt x="0" y="41275"/>
                    </a:moveTo>
                    <a:cubicBezTo>
                      <a:pt x="0" y="18479"/>
                      <a:pt x="18479" y="0"/>
                      <a:pt x="41275" y="0"/>
                    </a:cubicBezTo>
                    <a:lnTo>
                      <a:pt x="330200" y="0"/>
                    </a:lnTo>
                    <a:cubicBezTo>
                      <a:pt x="352996" y="0"/>
                      <a:pt x="371475" y="18479"/>
                      <a:pt x="371475" y="41275"/>
                    </a:cubicBezTo>
                    <a:lnTo>
                      <a:pt x="371475" y="227013"/>
                    </a:lnTo>
                    <a:cubicBezTo>
                      <a:pt x="371475" y="249808"/>
                      <a:pt x="352996" y="268287"/>
                      <a:pt x="330200" y="268287"/>
                    </a:cubicBezTo>
                    <a:lnTo>
                      <a:pt x="41275" y="268287"/>
                    </a:lnTo>
                    <a:cubicBezTo>
                      <a:pt x="18479" y="268287"/>
                      <a:pt x="0" y="249808"/>
                      <a:pt x="0" y="227013"/>
                    </a:cubicBezTo>
                    <a:lnTo>
                      <a:pt x="0" y="41275"/>
                    </a:lnTo>
                  </a:path>
                </a:pathLst>
              </a:custGeom>
              <a:noFill/>
              <a:ln w="19050">
                <a:solidFill>
                  <a:srgbClr val="FFFFFF"/>
                </a:solidFill>
              </a:ln>
            </p:spPr>
          </p:sp>
          <p:sp>
            <p:nvSpPr>
              <p:cNvPr id="36" name="Freeform 36"/>
              <p:cNvSpPr/>
              <p:nvPr/>
            </p:nvSpPr>
            <p:spPr>
              <a:xfrm>
                <a:off x="4613275" y="2195512"/>
                <a:ext cx="165100" cy="82550"/>
              </a:xfrm>
              <a:custGeom>
                <a:avLst/>
                <a:gdLst/>
                <a:ahLst/>
                <a:cxnLst/>
                <a:rect l="l" t="t" r="r" b="b"/>
                <a:pathLst>
                  <a:path w="165100" h="82550">
                    <a:moveTo>
                      <a:pt x="0" y="82550"/>
                    </a:moveTo>
                    <a:lnTo>
                      <a:pt x="0" y="41275"/>
                    </a:lnTo>
                    <a:cubicBezTo>
                      <a:pt x="0" y="18479"/>
                      <a:pt x="18479" y="0"/>
                      <a:pt x="41275" y="0"/>
                    </a:cubicBezTo>
                    <a:lnTo>
                      <a:pt x="123825" y="0"/>
                    </a:lnTo>
                    <a:cubicBezTo>
                      <a:pt x="146621" y="0"/>
                      <a:pt x="165100" y="18479"/>
                      <a:pt x="165100" y="41275"/>
                    </a:cubicBezTo>
                    <a:lnTo>
                      <a:pt x="165100" y="82550"/>
                    </a:lnTo>
                  </a:path>
                </a:pathLst>
              </a:custGeom>
              <a:noFill/>
              <a:ln w="19050">
                <a:solidFill>
                  <a:srgbClr val="FFFFFF"/>
                </a:solidFill>
              </a:ln>
            </p:spPr>
          </p:sp>
          <p:sp>
            <p:nvSpPr>
              <p:cNvPr id="37" name="Freeform 37"/>
              <p:cNvSpPr/>
              <p:nvPr/>
            </p:nvSpPr>
            <p:spPr>
              <a:xfrm>
                <a:off x="4695825" y="2381250"/>
                <a:ext cx="9525" cy="9525"/>
              </a:xfrm>
              <a:custGeom>
                <a:avLst/>
                <a:gdLst/>
                <a:ahLst/>
                <a:cxnLst/>
                <a:rect l="l" t="t" r="r" b="b"/>
                <a:pathLst>
                  <a:path w="9525" h="9525">
                    <a:moveTo>
                      <a:pt x="0" y="0"/>
                    </a:moveTo>
                    <a:lnTo>
                      <a:pt x="0" y="206"/>
                    </a:lnTo>
                  </a:path>
                </a:pathLst>
              </a:custGeom>
              <a:noFill/>
              <a:ln w="19050">
                <a:solidFill>
                  <a:srgbClr val="FFFFFF"/>
                </a:solidFill>
              </a:ln>
            </p:spPr>
          </p:sp>
          <p:sp>
            <p:nvSpPr>
              <p:cNvPr id="38" name="Freeform 38"/>
              <p:cNvSpPr/>
              <p:nvPr/>
            </p:nvSpPr>
            <p:spPr>
              <a:xfrm>
                <a:off x="4510088" y="2401888"/>
                <a:ext cx="371475" cy="58870"/>
              </a:xfrm>
              <a:custGeom>
                <a:avLst/>
                <a:gdLst/>
                <a:ahLst/>
                <a:cxnLst/>
                <a:rect l="l" t="t" r="r" b="b"/>
                <a:pathLst>
                  <a:path w="371475" h="58870">
                    <a:moveTo>
                      <a:pt x="0" y="0"/>
                    </a:moveTo>
                    <a:cubicBezTo>
                      <a:pt x="116828" y="58870"/>
                      <a:pt x="254647" y="58870"/>
                      <a:pt x="371475" y="0"/>
                    </a:cubicBezTo>
                  </a:path>
                </a:pathLst>
              </a:custGeom>
              <a:noFill/>
              <a:ln w="19050">
                <a:solidFill>
                  <a:srgbClr val="FFFFFF"/>
                </a:solidFill>
              </a:ln>
            </p:spPr>
          </p:sp>
        </p:grpSp>
        <p:sp>
          <p:nvSpPr>
            <p:cNvPr id="40" name="TextBox 40"/>
            <p:cNvSpPr txBox="1"/>
            <p:nvPr/>
          </p:nvSpPr>
          <p:spPr>
            <a:xfrm>
              <a:off x="4410408" y="3018949"/>
              <a:ext cx="570833" cy="198120"/>
            </a:xfrm>
            <a:prstGeom prst="rect">
              <a:avLst/>
            </a:prstGeom>
            <a:noFill/>
            <a:ln>
              <a:noFill/>
            </a:ln>
          </p:spPr>
          <p:txBody>
            <a:bodyPr wrap="none" lIns="0" tIns="0" rIns="0" bIns="0" anchor="t" anchorCtr="0">
              <a:spAutoFit/>
            </a:bodyPr>
            <a:lstStyle/>
            <a:p>
              <a:pPr algn="ctr"/>
              <a:r>
                <a:rPr lang="zh-CN" sz="975" b="1" dirty="0">
                  <a:solidFill>
                    <a:srgbClr val="0052A6"/>
                  </a:solidFill>
                  <a:latin typeface="Arial" panose="020B0604020202020204"/>
                  <a:ea typeface="微软雅黑" panose="020B0503020204020204" charset="-122"/>
                  <a:cs typeface="Arial" panose="020B0604020202020204"/>
                </a:rPr>
                <a:t>交付能力</a:t>
              </a:r>
              <a:endParaRPr lang="zh-CN" sz="975" b="1" dirty="0">
                <a:solidFill>
                  <a:srgbClr val="0052A6"/>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4256722" y="3267075"/>
              <a:ext cx="878205" cy="304800"/>
            </a:xfrm>
            <a:prstGeom prst="rect">
              <a:avLst/>
            </a:prstGeom>
            <a:noFill/>
            <a:ln>
              <a:noFill/>
            </a:ln>
          </p:spPr>
          <p:txBody>
            <a:bodyPr wrap="none" lIns="0" tIns="0" rIns="0" bIns="0" anchor="t" anchorCtr="0">
              <a:spAutoFit/>
            </a:bodyPr>
            <a:lstStyle/>
            <a:p>
              <a:pPr algn="ctr"/>
              <a:r>
                <a:rPr lang="zh-CN" sz="1500" b="1" dirty="0">
                  <a:solidFill>
                    <a:srgbClr val="17365D"/>
                  </a:solidFill>
                  <a:latin typeface="Arial" panose="020B0604020202020204"/>
                  <a:ea typeface="微软雅黑" panose="020B0503020204020204" charset="-122"/>
                  <a:cs typeface="Arial" panose="020B0604020202020204"/>
                </a:rPr>
                <a:t>行业经验</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42" name="Line 42"/>
            <p:cNvSpPr/>
            <p:nvPr/>
          </p:nvSpPr>
          <p:spPr>
            <a:xfrm>
              <a:off x="4219575" y="3619500"/>
              <a:ext cx="952500" cy="9525"/>
            </a:xfrm>
            <a:custGeom>
              <a:avLst/>
              <a:gdLst/>
              <a:ahLst/>
              <a:cxnLst/>
              <a:rect l="l" t="t" r="r" b="b"/>
              <a:pathLst>
                <a:path w="952500" h="9525">
                  <a:moveTo>
                    <a:pt x="0" y="0"/>
                  </a:moveTo>
                  <a:lnTo>
                    <a:pt x="952500" y="0"/>
                  </a:lnTo>
                </a:path>
              </a:pathLst>
            </a:custGeom>
            <a:noFill/>
            <a:ln w="19050">
              <a:solidFill>
                <a:srgbClr val="0052A6"/>
              </a:solidFill>
            </a:ln>
          </p:spPr>
        </p:sp>
        <p:sp>
          <p:nvSpPr>
            <p:cNvPr id="43" name="Ellipse 43"/>
            <p:cNvSpPr/>
            <p:nvPr/>
          </p:nvSpPr>
          <p:spPr>
            <a:xfrm>
              <a:off x="3629025" y="3971925"/>
              <a:ext cx="57150" cy="57150"/>
            </a:xfrm>
            <a:prstGeom prst="ellipse">
              <a:avLst/>
            </a:prstGeom>
            <a:solidFill>
              <a:srgbClr val="0052A6"/>
            </a:solidFill>
            <a:ln>
              <a:noFill/>
            </a:ln>
          </p:spPr>
        </p:sp>
        <p:sp>
          <p:nvSpPr>
            <p:cNvPr id="44" name="TextBox 44"/>
            <p:cNvSpPr txBox="1"/>
            <p:nvPr/>
          </p:nvSpPr>
          <p:spPr>
            <a:xfrm>
              <a:off x="3777615" y="392525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大型客户项目管理</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3779520" y="4131945"/>
              <a:ext cx="1114997"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政企·金融·能源经验</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46" name="Ellipse 46"/>
            <p:cNvSpPr/>
            <p:nvPr/>
          </p:nvSpPr>
          <p:spPr>
            <a:xfrm>
              <a:off x="3629025" y="4524375"/>
              <a:ext cx="57150" cy="57150"/>
            </a:xfrm>
            <a:prstGeom prst="ellipse">
              <a:avLst/>
            </a:prstGeom>
            <a:solidFill>
              <a:srgbClr val="0052A6"/>
            </a:solidFill>
            <a:ln>
              <a:noFill/>
            </a:ln>
          </p:spPr>
        </p:sp>
        <p:sp>
          <p:nvSpPr>
            <p:cNvPr id="47" name="TextBox 47"/>
            <p:cNvSpPr txBox="1"/>
            <p:nvPr/>
          </p:nvSpPr>
          <p:spPr>
            <a:xfrm>
              <a:off x="3777615" y="447770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行业解决方案沉淀</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3779520" y="4684395"/>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多场景可复用</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49" name="Ellipse 49"/>
            <p:cNvSpPr/>
            <p:nvPr/>
          </p:nvSpPr>
          <p:spPr>
            <a:xfrm>
              <a:off x="3629025" y="5076825"/>
              <a:ext cx="57150" cy="57150"/>
            </a:xfrm>
            <a:prstGeom prst="ellipse">
              <a:avLst/>
            </a:prstGeom>
            <a:solidFill>
              <a:srgbClr val="0052A6"/>
            </a:solidFill>
            <a:ln>
              <a:noFill/>
            </a:ln>
          </p:spPr>
        </p:sp>
        <p:sp>
          <p:nvSpPr>
            <p:cNvPr id="50" name="TextBox 50"/>
            <p:cNvSpPr txBox="1"/>
            <p:nvPr/>
          </p:nvSpPr>
          <p:spPr>
            <a:xfrm>
              <a:off x="3777615" y="5030152"/>
              <a:ext cx="8667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企业系统集成</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3779520" y="5236845"/>
              <a:ext cx="1012984"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CRM·OA·业务系统</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52" name="Ellipse 52"/>
            <p:cNvSpPr/>
            <p:nvPr/>
          </p:nvSpPr>
          <p:spPr>
            <a:xfrm>
              <a:off x="3629025" y="5629275"/>
              <a:ext cx="57150" cy="57150"/>
            </a:xfrm>
            <a:prstGeom prst="ellipse">
              <a:avLst/>
            </a:prstGeom>
            <a:solidFill>
              <a:srgbClr val="0052A6"/>
            </a:solidFill>
            <a:ln>
              <a:noFill/>
            </a:ln>
          </p:spPr>
        </p:sp>
        <p:sp>
          <p:nvSpPr>
            <p:cNvPr id="53" name="TextBox 53"/>
            <p:cNvSpPr txBox="1"/>
            <p:nvPr/>
          </p:nvSpPr>
          <p:spPr>
            <a:xfrm>
              <a:off x="3777615" y="558260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端到端交付体系</a:t>
              </a:r>
              <a:endParaRPr lang="zh-CN" sz="1050" dirty="0">
                <a:solidFill>
                  <a:srgbClr val="25364A"/>
                </a:solidFill>
                <a:latin typeface="Arial" panose="020B0604020202020204"/>
                <a:ea typeface="微软雅黑" panose="020B0503020204020204" charset="-122"/>
                <a:cs typeface="Arial" panose="020B0604020202020204"/>
              </a:endParaRPr>
            </a:p>
          </p:txBody>
        </p:sp>
      </p:grpSp>
      <p:grpSp>
        <p:nvGrpSpPr>
          <p:cNvPr id="72" name="Group 72"/>
          <p:cNvGrpSpPr/>
          <p:nvPr/>
        </p:nvGrpSpPr>
        <p:grpSpPr>
          <a:xfrm>
            <a:off x="6172200" y="1762125"/>
            <a:ext cx="2647950" cy="4048125"/>
            <a:chOff x="6172200" y="1762125"/>
            <a:chExt cx="2647950" cy="4048125"/>
          </a:xfrm>
        </p:grpSpPr>
        <p:sp>
          <p:nvSpPr>
            <p:cNvPr id="55" name="Rectangle 55"/>
            <p:cNvSpPr/>
            <p:nvPr/>
          </p:nvSpPr>
          <p:spPr>
            <a:xfrm>
              <a:off x="6172200" y="1762125"/>
              <a:ext cx="2647950" cy="4048125"/>
            </a:xfrm>
            <a:prstGeom prst="roundRect">
              <a:avLst>
                <a:gd name="adj" fmla="val 4317"/>
              </a:avLst>
            </a:prstGeom>
            <a:solidFill>
              <a:srgbClr val="F4F7FC"/>
            </a:solidFill>
            <a:ln>
              <a:noFill/>
            </a:ln>
          </p:spPr>
        </p:sp>
        <p:sp>
          <p:nvSpPr>
            <p:cNvPr id="56" name="Ellipse 56"/>
            <p:cNvSpPr/>
            <p:nvPr/>
          </p:nvSpPr>
          <p:spPr>
            <a:xfrm>
              <a:off x="7096125" y="1981200"/>
              <a:ext cx="800100" cy="800100"/>
            </a:xfrm>
            <a:prstGeom prst="ellipse">
              <a:avLst/>
            </a:prstGeom>
            <a:solidFill>
              <a:srgbClr val="0E9F6E"/>
            </a:solidFill>
            <a:ln>
              <a:noFill/>
            </a:ln>
          </p:spPr>
        </p:sp>
        <p:sp>
          <p:nvSpPr>
            <p:cNvPr id="57" name="Freeform 57"/>
            <p:cNvSpPr/>
            <p:nvPr/>
          </p:nvSpPr>
          <p:spPr>
            <a:xfrm>
              <a:off x="7301843" y="2195512"/>
              <a:ext cx="388664" cy="371475"/>
            </a:xfrm>
            <a:custGeom>
              <a:avLst/>
              <a:gdLst/>
              <a:ahLst/>
              <a:cxnLst/>
              <a:rect l="l" t="t" r="r" b="b"/>
              <a:pathLst>
                <a:path w="388664" h="371475">
                  <a:moveTo>
                    <a:pt x="194332" y="0"/>
                  </a:moveTo>
                  <a:cubicBezTo>
                    <a:pt x="242538" y="42649"/>
                    <a:pt x="305454" y="64855"/>
                    <a:pt x="369751" y="61912"/>
                  </a:cubicBezTo>
                  <a:cubicBezTo>
                    <a:pt x="388664" y="126251"/>
                    <a:pt x="380677" y="195508"/>
                    <a:pt x="347615" y="253852"/>
                  </a:cubicBezTo>
                  <a:cubicBezTo>
                    <a:pt x="314553" y="312196"/>
                    <a:pt x="259244" y="354638"/>
                    <a:pt x="194332" y="371475"/>
                  </a:cubicBezTo>
                  <a:cubicBezTo>
                    <a:pt x="129420" y="354638"/>
                    <a:pt x="74110" y="312196"/>
                    <a:pt x="41049" y="253852"/>
                  </a:cubicBezTo>
                  <a:cubicBezTo>
                    <a:pt x="7987" y="195508"/>
                    <a:pt x="0" y="126251"/>
                    <a:pt x="18913" y="61912"/>
                  </a:cubicBezTo>
                  <a:cubicBezTo>
                    <a:pt x="83210" y="64855"/>
                    <a:pt x="146126" y="42649"/>
                    <a:pt x="194332" y="0"/>
                  </a:cubicBezTo>
                </a:path>
              </a:pathLst>
            </a:custGeom>
            <a:noFill/>
            <a:ln w="19050">
              <a:solidFill>
                <a:srgbClr val="FFFFFF"/>
              </a:solidFill>
            </a:ln>
          </p:spPr>
        </p:sp>
        <p:sp>
          <p:nvSpPr>
            <p:cNvPr id="58" name="TextBox 58"/>
            <p:cNvSpPr txBox="1"/>
            <p:nvPr/>
          </p:nvSpPr>
          <p:spPr>
            <a:xfrm>
              <a:off x="7210758" y="3018949"/>
              <a:ext cx="570833" cy="198120"/>
            </a:xfrm>
            <a:prstGeom prst="rect">
              <a:avLst/>
            </a:prstGeom>
            <a:noFill/>
            <a:ln>
              <a:noFill/>
            </a:ln>
          </p:spPr>
          <p:txBody>
            <a:bodyPr wrap="none" lIns="0" tIns="0" rIns="0" bIns="0" anchor="t" anchorCtr="0">
              <a:spAutoFit/>
            </a:bodyPr>
            <a:lstStyle/>
            <a:p>
              <a:pPr algn="ctr"/>
              <a:r>
                <a:rPr lang="zh-CN" sz="975" b="1" dirty="0">
                  <a:solidFill>
                    <a:srgbClr val="0E9F6E"/>
                  </a:solidFill>
                  <a:latin typeface="Arial" panose="020B0604020202020204"/>
                  <a:ea typeface="微软雅黑" panose="020B0503020204020204" charset="-122"/>
                  <a:cs typeface="Arial" panose="020B0604020202020204"/>
                </a:rPr>
                <a:t>安全合规</a:t>
              </a:r>
              <a:endParaRPr lang="zh-CN" sz="975" b="1" dirty="0">
                <a:solidFill>
                  <a:srgbClr val="0E9F6E"/>
                </a:solidFill>
                <a:latin typeface="Arial" panose="020B0604020202020204"/>
                <a:ea typeface="微软雅黑" panose="020B0503020204020204" charset="-122"/>
                <a:cs typeface="Arial" panose="020B0604020202020204"/>
              </a:endParaRPr>
            </a:p>
          </p:txBody>
        </p:sp>
        <p:sp>
          <p:nvSpPr>
            <p:cNvPr id="59" name="TextBox 59"/>
            <p:cNvSpPr txBox="1"/>
            <p:nvPr/>
          </p:nvSpPr>
          <p:spPr>
            <a:xfrm>
              <a:off x="7057072" y="3267075"/>
              <a:ext cx="878205" cy="304800"/>
            </a:xfrm>
            <a:prstGeom prst="rect">
              <a:avLst/>
            </a:prstGeom>
            <a:noFill/>
            <a:ln>
              <a:noFill/>
            </a:ln>
          </p:spPr>
          <p:txBody>
            <a:bodyPr wrap="none" lIns="0" tIns="0" rIns="0" bIns="0" anchor="t" anchorCtr="0">
              <a:spAutoFit/>
            </a:bodyPr>
            <a:lstStyle/>
            <a:p>
              <a:pPr algn="ctr"/>
              <a:r>
                <a:rPr lang="zh-CN" sz="1500" b="1" dirty="0">
                  <a:solidFill>
                    <a:srgbClr val="17365D"/>
                  </a:solidFill>
                  <a:latin typeface="Arial" panose="020B0604020202020204"/>
                  <a:ea typeface="微软雅黑" panose="020B0503020204020204" charset="-122"/>
                  <a:cs typeface="Arial" panose="020B0604020202020204"/>
                </a:rPr>
                <a:t>可信部署</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60" name="Line 60"/>
            <p:cNvSpPr/>
            <p:nvPr/>
          </p:nvSpPr>
          <p:spPr>
            <a:xfrm>
              <a:off x="7019925" y="3619500"/>
              <a:ext cx="952500" cy="9525"/>
            </a:xfrm>
            <a:custGeom>
              <a:avLst/>
              <a:gdLst/>
              <a:ahLst/>
              <a:cxnLst/>
              <a:rect l="l" t="t" r="r" b="b"/>
              <a:pathLst>
                <a:path w="952500" h="9525">
                  <a:moveTo>
                    <a:pt x="0" y="0"/>
                  </a:moveTo>
                  <a:lnTo>
                    <a:pt x="952500" y="0"/>
                  </a:lnTo>
                </a:path>
              </a:pathLst>
            </a:custGeom>
            <a:noFill/>
            <a:ln w="19050">
              <a:solidFill>
                <a:srgbClr val="0E9F6E"/>
              </a:solidFill>
            </a:ln>
          </p:spPr>
        </p:sp>
        <p:sp>
          <p:nvSpPr>
            <p:cNvPr id="61" name="Ellipse 61"/>
            <p:cNvSpPr/>
            <p:nvPr/>
          </p:nvSpPr>
          <p:spPr>
            <a:xfrm>
              <a:off x="6429375" y="3971925"/>
              <a:ext cx="57150" cy="57150"/>
            </a:xfrm>
            <a:prstGeom prst="ellipse">
              <a:avLst/>
            </a:prstGeom>
            <a:solidFill>
              <a:srgbClr val="0E9F6E"/>
            </a:solidFill>
            <a:ln>
              <a:noFill/>
            </a:ln>
          </p:spPr>
        </p:sp>
        <p:sp>
          <p:nvSpPr>
            <p:cNvPr id="62" name="TextBox 62"/>
            <p:cNvSpPr txBox="1"/>
            <p:nvPr/>
          </p:nvSpPr>
          <p:spPr>
            <a:xfrm>
              <a:off x="6577965" y="3925252"/>
              <a:ext cx="72675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私有化部署</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6579870" y="4131945"/>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数据不出企业</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64" name="Ellipse 64"/>
            <p:cNvSpPr/>
            <p:nvPr/>
          </p:nvSpPr>
          <p:spPr>
            <a:xfrm>
              <a:off x="6429375" y="4524375"/>
              <a:ext cx="57150" cy="57150"/>
            </a:xfrm>
            <a:prstGeom prst="ellipse">
              <a:avLst/>
            </a:prstGeom>
            <a:solidFill>
              <a:srgbClr val="0E9F6E"/>
            </a:solidFill>
            <a:ln>
              <a:noFill/>
            </a:ln>
          </p:spPr>
        </p:sp>
        <p:sp>
          <p:nvSpPr>
            <p:cNvPr id="65" name="TextBox 65"/>
            <p:cNvSpPr txBox="1"/>
            <p:nvPr/>
          </p:nvSpPr>
          <p:spPr>
            <a:xfrm>
              <a:off x="6577965" y="4477702"/>
              <a:ext cx="72675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混合云部署</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6" name="TextBox 66"/>
            <p:cNvSpPr txBox="1"/>
            <p:nvPr/>
          </p:nvSpPr>
          <p:spPr>
            <a:xfrm>
              <a:off x="6579870" y="4684395"/>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灵活架构选择</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67" name="Ellipse 67"/>
            <p:cNvSpPr/>
            <p:nvPr/>
          </p:nvSpPr>
          <p:spPr>
            <a:xfrm>
              <a:off x="6429375" y="5076825"/>
              <a:ext cx="57150" cy="57150"/>
            </a:xfrm>
            <a:prstGeom prst="ellipse">
              <a:avLst/>
            </a:prstGeom>
            <a:solidFill>
              <a:srgbClr val="0E9F6E"/>
            </a:solidFill>
            <a:ln>
              <a:noFill/>
            </a:ln>
          </p:spPr>
        </p:sp>
        <p:sp>
          <p:nvSpPr>
            <p:cNvPr id="68" name="TextBox 68"/>
            <p:cNvSpPr txBox="1"/>
            <p:nvPr/>
          </p:nvSpPr>
          <p:spPr>
            <a:xfrm>
              <a:off x="6577965" y="5030152"/>
              <a:ext cx="58674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权限控制</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69" name="TextBox 69"/>
            <p:cNvSpPr txBox="1"/>
            <p:nvPr/>
          </p:nvSpPr>
          <p:spPr>
            <a:xfrm>
              <a:off x="6579870" y="5236845"/>
              <a:ext cx="922972"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RBAC 细粒度管控</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70" name="Ellipse 70"/>
            <p:cNvSpPr/>
            <p:nvPr/>
          </p:nvSpPr>
          <p:spPr>
            <a:xfrm>
              <a:off x="6429375" y="5629275"/>
              <a:ext cx="57150" cy="57150"/>
            </a:xfrm>
            <a:prstGeom prst="ellipse">
              <a:avLst/>
            </a:prstGeom>
            <a:solidFill>
              <a:srgbClr val="0E9F6E"/>
            </a:solidFill>
            <a:ln>
              <a:noFill/>
            </a:ln>
          </p:spPr>
        </p:sp>
        <p:sp>
          <p:nvSpPr>
            <p:cNvPr id="71" name="TextBox 71"/>
            <p:cNvSpPr txBox="1"/>
            <p:nvPr/>
          </p:nvSpPr>
          <p:spPr>
            <a:xfrm>
              <a:off x="6577965" y="5582602"/>
              <a:ext cx="72675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审计可追溯</a:t>
              </a:r>
              <a:endParaRPr lang="zh-CN" sz="1050" dirty="0">
                <a:solidFill>
                  <a:srgbClr val="25364A"/>
                </a:solidFill>
                <a:latin typeface="Arial" panose="020B0604020202020204"/>
                <a:ea typeface="微软雅黑" panose="020B0503020204020204" charset="-122"/>
                <a:cs typeface="Arial" panose="020B0604020202020204"/>
              </a:endParaRPr>
            </a:p>
          </p:txBody>
        </p:sp>
      </p:grpSp>
      <p:grpSp>
        <p:nvGrpSpPr>
          <p:cNvPr id="98" name="Group 98"/>
          <p:cNvGrpSpPr/>
          <p:nvPr/>
        </p:nvGrpSpPr>
        <p:grpSpPr>
          <a:xfrm>
            <a:off x="8972550" y="1762125"/>
            <a:ext cx="2647950" cy="4048125"/>
            <a:chOff x="8972550" y="1762125"/>
            <a:chExt cx="2647950" cy="4048125"/>
          </a:xfrm>
        </p:grpSpPr>
        <p:sp>
          <p:nvSpPr>
            <p:cNvPr id="73" name="Rectangle 73"/>
            <p:cNvSpPr/>
            <p:nvPr/>
          </p:nvSpPr>
          <p:spPr>
            <a:xfrm>
              <a:off x="8972550" y="1762125"/>
              <a:ext cx="2647950" cy="4048125"/>
            </a:xfrm>
            <a:prstGeom prst="roundRect">
              <a:avLst>
                <a:gd name="adj" fmla="val 4317"/>
              </a:avLst>
            </a:prstGeom>
            <a:solidFill>
              <a:srgbClr val="F4F7FC"/>
            </a:solidFill>
            <a:ln>
              <a:noFill/>
            </a:ln>
          </p:spPr>
        </p:sp>
        <p:sp>
          <p:nvSpPr>
            <p:cNvPr id="74" name="Ellipse 74"/>
            <p:cNvSpPr/>
            <p:nvPr/>
          </p:nvSpPr>
          <p:spPr>
            <a:xfrm>
              <a:off x="9896475" y="1981200"/>
              <a:ext cx="800100" cy="800100"/>
            </a:xfrm>
            <a:prstGeom prst="ellipse">
              <a:avLst/>
            </a:prstGeom>
            <a:solidFill>
              <a:srgbClr val="F59E0B"/>
            </a:solidFill>
            <a:ln>
              <a:noFill/>
            </a:ln>
          </p:spPr>
        </p:sp>
        <p:grpSp>
          <p:nvGrpSpPr>
            <p:cNvPr id="83" name="Group 83"/>
            <p:cNvGrpSpPr/>
            <p:nvPr/>
          </p:nvGrpSpPr>
          <p:grpSpPr>
            <a:xfrm>
              <a:off x="10110788" y="2195512"/>
              <a:ext cx="371475" cy="392113"/>
              <a:chOff x="10110788" y="2195512"/>
              <a:chExt cx="371475" cy="392113"/>
            </a:xfrm>
          </p:grpSpPr>
          <p:sp>
            <p:nvSpPr>
              <p:cNvPr id="75" name="Freeform 75"/>
              <p:cNvSpPr/>
              <p:nvPr/>
            </p:nvSpPr>
            <p:spPr>
              <a:xfrm>
                <a:off x="10172700" y="2195512"/>
                <a:ext cx="247650" cy="247650"/>
              </a:xfrm>
              <a:custGeom>
                <a:avLst/>
                <a:gdLst/>
                <a:ahLst/>
                <a:cxnLst/>
                <a:rect l="l" t="t" r="r" b="b"/>
                <a:pathLst>
                  <a:path w="247650" h="247650">
                    <a:moveTo>
                      <a:pt x="0" y="123825"/>
                    </a:moveTo>
                    <a:cubicBezTo>
                      <a:pt x="0" y="192212"/>
                      <a:pt x="55438" y="247650"/>
                      <a:pt x="123825" y="247650"/>
                    </a:cubicBezTo>
                    <a:cubicBezTo>
                      <a:pt x="192212" y="247650"/>
                      <a:pt x="247650" y="192212"/>
                      <a:pt x="247650" y="123825"/>
                    </a:cubicBezTo>
                    <a:cubicBezTo>
                      <a:pt x="247650" y="55438"/>
                      <a:pt x="192212" y="0"/>
                      <a:pt x="123825" y="0"/>
                    </a:cubicBezTo>
                    <a:cubicBezTo>
                      <a:pt x="55438" y="0"/>
                      <a:pt x="0" y="55438"/>
                      <a:pt x="0" y="123825"/>
                    </a:cubicBezTo>
                  </a:path>
                </a:pathLst>
              </a:custGeom>
              <a:noFill/>
              <a:ln w="19050">
                <a:solidFill>
                  <a:srgbClr val="FFFFFF"/>
                </a:solidFill>
              </a:ln>
            </p:spPr>
          </p:sp>
          <p:sp>
            <p:nvSpPr>
              <p:cNvPr id="76" name="Freeform 76"/>
              <p:cNvSpPr/>
              <p:nvPr/>
            </p:nvSpPr>
            <p:spPr>
              <a:xfrm>
                <a:off x="10296525" y="2195512"/>
                <a:ext cx="41275" cy="247650"/>
              </a:xfrm>
              <a:custGeom>
                <a:avLst/>
                <a:gdLst/>
                <a:ahLst/>
                <a:cxnLst/>
                <a:rect l="l" t="t" r="r" b="b"/>
                <a:pathLst>
                  <a:path w="41275" h="247650">
                    <a:moveTo>
                      <a:pt x="0" y="0"/>
                    </a:moveTo>
                    <a:cubicBezTo>
                      <a:pt x="27510" y="6872"/>
                      <a:pt x="41275" y="48147"/>
                      <a:pt x="41275" y="123825"/>
                    </a:cubicBezTo>
                    <a:cubicBezTo>
                      <a:pt x="41275" y="199503"/>
                      <a:pt x="27510" y="240778"/>
                      <a:pt x="0" y="247650"/>
                    </a:cubicBezTo>
                  </a:path>
                </a:pathLst>
              </a:custGeom>
              <a:noFill/>
              <a:ln w="19050">
                <a:solidFill>
                  <a:srgbClr val="FFFFFF"/>
                </a:solidFill>
              </a:ln>
            </p:spPr>
          </p:sp>
          <p:sp>
            <p:nvSpPr>
              <p:cNvPr id="77" name="Freeform 77"/>
              <p:cNvSpPr/>
              <p:nvPr/>
            </p:nvSpPr>
            <p:spPr>
              <a:xfrm>
                <a:off x="10255250" y="2195512"/>
                <a:ext cx="41275" cy="247650"/>
              </a:xfrm>
              <a:custGeom>
                <a:avLst/>
                <a:gdLst/>
                <a:ahLst/>
                <a:cxnLst/>
                <a:rect l="l" t="t" r="r" b="b"/>
                <a:pathLst>
                  <a:path w="41275" h="247650">
                    <a:moveTo>
                      <a:pt x="41275" y="0"/>
                    </a:moveTo>
                    <a:cubicBezTo>
                      <a:pt x="13765" y="6872"/>
                      <a:pt x="0" y="48147"/>
                      <a:pt x="0" y="123825"/>
                    </a:cubicBezTo>
                    <a:cubicBezTo>
                      <a:pt x="0" y="199503"/>
                      <a:pt x="13765" y="240778"/>
                      <a:pt x="41275" y="247650"/>
                    </a:cubicBezTo>
                  </a:path>
                </a:pathLst>
              </a:custGeom>
              <a:noFill/>
              <a:ln w="19050">
                <a:solidFill>
                  <a:srgbClr val="FFFFFF"/>
                </a:solidFill>
              </a:ln>
            </p:spPr>
          </p:sp>
          <p:sp>
            <p:nvSpPr>
              <p:cNvPr id="78" name="Freeform 78"/>
              <p:cNvSpPr/>
              <p:nvPr/>
            </p:nvSpPr>
            <p:spPr>
              <a:xfrm>
                <a:off x="10172700" y="2319338"/>
                <a:ext cx="247650" cy="9525"/>
              </a:xfrm>
              <a:custGeom>
                <a:avLst/>
                <a:gdLst/>
                <a:ahLst/>
                <a:cxnLst/>
                <a:rect l="l" t="t" r="r" b="b"/>
                <a:pathLst>
                  <a:path w="247650" h="9525">
                    <a:moveTo>
                      <a:pt x="0" y="0"/>
                    </a:moveTo>
                    <a:lnTo>
                      <a:pt x="247650" y="0"/>
                    </a:lnTo>
                  </a:path>
                </a:pathLst>
              </a:custGeom>
              <a:noFill/>
              <a:ln w="19050">
                <a:solidFill>
                  <a:srgbClr val="FFFFFF"/>
                </a:solidFill>
              </a:ln>
            </p:spPr>
          </p:sp>
          <p:sp>
            <p:nvSpPr>
              <p:cNvPr id="79" name="Freeform 79"/>
              <p:cNvSpPr/>
              <p:nvPr/>
            </p:nvSpPr>
            <p:spPr>
              <a:xfrm>
                <a:off x="10110788" y="2546350"/>
                <a:ext cx="144463" cy="9525"/>
              </a:xfrm>
              <a:custGeom>
                <a:avLst/>
                <a:gdLst/>
                <a:ahLst/>
                <a:cxnLst/>
                <a:rect l="l" t="t" r="r" b="b"/>
                <a:pathLst>
                  <a:path w="144463" h="9525">
                    <a:moveTo>
                      <a:pt x="0" y="0"/>
                    </a:moveTo>
                    <a:lnTo>
                      <a:pt x="144463" y="0"/>
                    </a:lnTo>
                  </a:path>
                </a:pathLst>
              </a:custGeom>
              <a:noFill/>
              <a:ln w="19050">
                <a:solidFill>
                  <a:srgbClr val="FFFFFF"/>
                </a:solidFill>
              </a:ln>
            </p:spPr>
          </p:sp>
          <p:sp>
            <p:nvSpPr>
              <p:cNvPr id="80" name="Freeform 80"/>
              <p:cNvSpPr/>
              <p:nvPr/>
            </p:nvSpPr>
            <p:spPr>
              <a:xfrm>
                <a:off x="10337800" y="2546350"/>
                <a:ext cx="144463" cy="9525"/>
              </a:xfrm>
              <a:custGeom>
                <a:avLst/>
                <a:gdLst/>
                <a:ahLst/>
                <a:cxnLst/>
                <a:rect l="l" t="t" r="r" b="b"/>
                <a:pathLst>
                  <a:path w="144463" h="9525">
                    <a:moveTo>
                      <a:pt x="0" y="0"/>
                    </a:moveTo>
                    <a:lnTo>
                      <a:pt x="144463" y="0"/>
                    </a:lnTo>
                  </a:path>
                </a:pathLst>
              </a:custGeom>
              <a:noFill/>
              <a:ln w="19050">
                <a:solidFill>
                  <a:srgbClr val="FFFFFF"/>
                </a:solidFill>
              </a:ln>
            </p:spPr>
          </p:sp>
          <p:sp>
            <p:nvSpPr>
              <p:cNvPr id="81" name="Freeform 81"/>
              <p:cNvSpPr/>
              <p:nvPr/>
            </p:nvSpPr>
            <p:spPr>
              <a:xfrm>
                <a:off x="10255250" y="2505075"/>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19050">
                <a:solidFill>
                  <a:srgbClr val="FFFFFF"/>
                </a:solidFill>
              </a:ln>
            </p:spPr>
          </p:sp>
          <p:sp>
            <p:nvSpPr>
              <p:cNvPr id="82" name="Freeform 82"/>
              <p:cNvSpPr/>
              <p:nvPr/>
            </p:nvSpPr>
            <p:spPr>
              <a:xfrm>
                <a:off x="10296525" y="2443162"/>
                <a:ext cx="9525" cy="61912"/>
              </a:xfrm>
              <a:custGeom>
                <a:avLst/>
                <a:gdLst/>
                <a:ahLst/>
                <a:cxnLst/>
                <a:rect l="l" t="t" r="r" b="b"/>
                <a:pathLst>
                  <a:path w="9525" h="61912">
                    <a:moveTo>
                      <a:pt x="0" y="0"/>
                    </a:moveTo>
                    <a:lnTo>
                      <a:pt x="0" y="61912"/>
                    </a:lnTo>
                  </a:path>
                </a:pathLst>
              </a:custGeom>
              <a:noFill/>
              <a:ln w="19050">
                <a:solidFill>
                  <a:srgbClr val="FFFFFF"/>
                </a:solidFill>
              </a:ln>
            </p:spPr>
          </p:sp>
        </p:grpSp>
        <p:sp>
          <p:nvSpPr>
            <p:cNvPr id="84" name="TextBox 84"/>
            <p:cNvSpPr txBox="1"/>
            <p:nvPr/>
          </p:nvSpPr>
          <p:spPr>
            <a:xfrm>
              <a:off x="10011108" y="3018949"/>
              <a:ext cx="570833"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panose="020B0604020202020204"/>
                  <a:ea typeface="微软雅黑" panose="020B0503020204020204" charset="-122"/>
                  <a:cs typeface="Arial" panose="020B0604020202020204"/>
                </a:rPr>
                <a:t>生态合作</a:t>
              </a:r>
              <a:endParaRPr lang="zh-CN" sz="975" b="1" dirty="0">
                <a:solidFill>
                  <a:srgbClr val="F59E0B"/>
                </a:solidFill>
                <a:latin typeface="Arial" panose="020B0604020202020204"/>
                <a:ea typeface="微软雅黑" panose="020B0503020204020204" charset="-122"/>
                <a:cs typeface="Arial" panose="020B0604020202020204"/>
              </a:endParaRPr>
            </a:p>
          </p:txBody>
        </p:sp>
        <p:sp>
          <p:nvSpPr>
            <p:cNvPr id="85" name="TextBox 85"/>
            <p:cNvSpPr txBox="1"/>
            <p:nvPr/>
          </p:nvSpPr>
          <p:spPr>
            <a:xfrm>
              <a:off x="9857422" y="3267075"/>
              <a:ext cx="878205" cy="304800"/>
            </a:xfrm>
            <a:prstGeom prst="rect">
              <a:avLst/>
            </a:prstGeom>
            <a:noFill/>
            <a:ln>
              <a:noFill/>
            </a:ln>
          </p:spPr>
          <p:txBody>
            <a:bodyPr wrap="none" lIns="0" tIns="0" rIns="0" bIns="0" anchor="t" anchorCtr="0">
              <a:spAutoFit/>
            </a:bodyPr>
            <a:lstStyle/>
            <a:p>
              <a:pPr algn="ctr"/>
              <a:r>
                <a:rPr lang="zh-CN" sz="1500" b="1" dirty="0">
                  <a:solidFill>
                    <a:srgbClr val="17365D"/>
                  </a:solidFill>
                  <a:latin typeface="Arial" panose="020B0604020202020204"/>
                  <a:ea typeface="微软雅黑" panose="020B0503020204020204" charset="-122"/>
                  <a:cs typeface="Arial" panose="020B0604020202020204"/>
                </a:rPr>
                <a:t>强强联合</a:t>
              </a:r>
              <a:endParaRPr lang="zh-CN" sz="1500" b="1" dirty="0">
                <a:solidFill>
                  <a:srgbClr val="17365D"/>
                </a:solidFill>
                <a:latin typeface="Arial" panose="020B0604020202020204"/>
                <a:ea typeface="微软雅黑" panose="020B0503020204020204" charset="-122"/>
                <a:cs typeface="Arial" panose="020B0604020202020204"/>
              </a:endParaRPr>
            </a:p>
          </p:txBody>
        </p:sp>
        <p:sp>
          <p:nvSpPr>
            <p:cNvPr id="86" name="Line 86"/>
            <p:cNvSpPr/>
            <p:nvPr/>
          </p:nvSpPr>
          <p:spPr>
            <a:xfrm>
              <a:off x="9820275" y="3619500"/>
              <a:ext cx="952500" cy="9525"/>
            </a:xfrm>
            <a:custGeom>
              <a:avLst/>
              <a:gdLst/>
              <a:ahLst/>
              <a:cxnLst/>
              <a:rect l="l" t="t" r="r" b="b"/>
              <a:pathLst>
                <a:path w="952500" h="9525">
                  <a:moveTo>
                    <a:pt x="0" y="0"/>
                  </a:moveTo>
                  <a:lnTo>
                    <a:pt x="952500" y="0"/>
                  </a:lnTo>
                </a:path>
              </a:pathLst>
            </a:custGeom>
            <a:noFill/>
            <a:ln w="19050">
              <a:solidFill>
                <a:srgbClr val="F59E0B"/>
              </a:solidFill>
            </a:ln>
          </p:spPr>
        </p:sp>
        <p:sp>
          <p:nvSpPr>
            <p:cNvPr id="87" name="Ellipse 87"/>
            <p:cNvSpPr/>
            <p:nvPr/>
          </p:nvSpPr>
          <p:spPr>
            <a:xfrm>
              <a:off x="9229725" y="3971925"/>
              <a:ext cx="57150" cy="57150"/>
            </a:xfrm>
            <a:prstGeom prst="ellipse">
              <a:avLst/>
            </a:prstGeom>
            <a:solidFill>
              <a:srgbClr val="F59E0B"/>
            </a:solidFill>
            <a:ln>
              <a:noFill/>
            </a:ln>
          </p:spPr>
        </p:sp>
        <p:sp>
          <p:nvSpPr>
            <p:cNvPr id="88" name="TextBox 88"/>
            <p:cNvSpPr txBox="1"/>
            <p:nvPr/>
          </p:nvSpPr>
          <p:spPr>
            <a:xfrm>
              <a:off x="9378315" y="3925252"/>
              <a:ext cx="44672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信通院</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89" name="TextBox 89"/>
            <p:cNvSpPr txBox="1"/>
            <p:nvPr/>
          </p:nvSpPr>
          <p:spPr>
            <a:xfrm>
              <a:off x="9380220" y="4131945"/>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行业标准共建</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90" name="Ellipse 90"/>
            <p:cNvSpPr/>
            <p:nvPr/>
          </p:nvSpPr>
          <p:spPr>
            <a:xfrm>
              <a:off x="9229725" y="4524375"/>
              <a:ext cx="57150" cy="57150"/>
            </a:xfrm>
            <a:prstGeom prst="ellipse">
              <a:avLst/>
            </a:prstGeom>
            <a:solidFill>
              <a:srgbClr val="F59E0B"/>
            </a:solidFill>
            <a:ln>
              <a:noFill/>
            </a:ln>
          </p:spPr>
        </p:sp>
        <p:sp>
          <p:nvSpPr>
            <p:cNvPr id="91" name="TextBox 91"/>
            <p:cNvSpPr txBox="1"/>
            <p:nvPr/>
          </p:nvSpPr>
          <p:spPr>
            <a:xfrm>
              <a:off x="9378315" y="4477702"/>
              <a:ext cx="992791"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智谱 · MiniMax</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92" name="TextBox 92"/>
            <p:cNvSpPr txBox="1"/>
            <p:nvPr/>
          </p:nvSpPr>
          <p:spPr>
            <a:xfrm>
              <a:off x="9380220" y="4684395"/>
              <a:ext cx="86296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头部大模型伙伴</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93" name="Ellipse 93"/>
            <p:cNvSpPr/>
            <p:nvPr/>
          </p:nvSpPr>
          <p:spPr>
            <a:xfrm>
              <a:off x="9229725" y="5076825"/>
              <a:ext cx="57150" cy="57150"/>
            </a:xfrm>
            <a:prstGeom prst="ellipse">
              <a:avLst/>
            </a:prstGeom>
            <a:solidFill>
              <a:srgbClr val="F59E0B"/>
            </a:solidFill>
            <a:ln>
              <a:noFill/>
            </a:ln>
          </p:spPr>
        </p:sp>
        <p:sp>
          <p:nvSpPr>
            <p:cNvPr id="94" name="TextBox 94"/>
            <p:cNvSpPr txBox="1"/>
            <p:nvPr/>
          </p:nvSpPr>
          <p:spPr>
            <a:xfrm>
              <a:off x="9378315" y="5030152"/>
              <a:ext cx="30670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华为</a:t>
              </a:r>
              <a:endParaRPr lang="zh-CN" sz="1050" dirty="0">
                <a:solidFill>
                  <a:srgbClr val="25364A"/>
                </a:solidFill>
                <a:latin typeface="Arial" panose="020B0604020202020204"/>
                <a:ea typeface="微软雅黑" panose="020B0503020204020204" charset="-122"/>
                <a:cs typeface="Arial" panose="020B0604020202020204"/>
              </a:endParaRPr>
            </a:p>
          </p:txBody>
        </p:sp>
        <p:sp>
          <p:nvSpPr>
            <p:cNvPr id="95" name="TextBox 95"/>
            <p:cNvSpPr txBox="1"/>
            <p:nvPr/>
          </p:nvSpPr>
          <p:spPr>
            <a:xfrm>
              <a:off x="9380220" y="5236845"/>
              <a:ext cx="68894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panose="020B0604020202020204"/>
                  <a:ea typeface="微软雅黑" panose="020B0503020204020204" charset="-122"/>
                  <a:cs typeface="Arial" panose="020B0604020202020204"/>
                </a:rPr>
                <a:t>算力·云生态</a:t>
              </a:r>
              <a:endParaRPr lang="zh-CN" sz="900" dirty="0">
                <a:solidFill>
                  <a:srgbClr val="5E6A78"/>
                </a:solidFill>
                <a:latin typeface="Arial" panose="020B0604020202020204"/>
                <a:ea typeface="微软雅黑" panose="020B0503020204020204" charset="-122"/>
                <a:cs typeface="Arial" panose="020B0604020202020204"/>
              </a:endParaRPr>
            </a:p>
          </p:txBody>
        </p:sp>
        <p:sp>
          <p:nvSpPr>
            <p:cNvPr id="96" name="Ellipse 96"/>
            <p:cNvSpPr/>
            <p:nvPr/>
          </p:nvSpPr>
          <p:spPr>
            <a:xfrm>
              <a:off x="9229725" y="5629275"/>
              <a:ext cx="57150" cy="57150"/>
            </a:xfrm>
            <a:prstGeom prst="ellipse">
              <a:avLst/>
            </a:prstGeom>
            <a:solidFill>
              <a:srgbClr val="F59E0B"/>
            </a:solidFill>
            <a:ln>
              <a:noFill/>
            </a:ln>
          </p:spPr>
        </p:sp>
        <p:sp>
          <p:nvSpPr>
            <p:cNvPr id="97" name="TextBox 97"/>
            <p:cNvSpPr txBox="1"/>
            <p:nvPr/>
          </p:nvSpPr>
          <p:spPr>
            <a:xfrm>
              <a:off x="9378315" y="558260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panose="020B0604020202020204"/>
                  <a:ea typeface="微软雅黑" panose="020B0503020204020204" charset="-122"/>
                  <a:cs typeface="Arial" panose="020B0604020202020204"/>
                </a:rPr>
                <a:t>哈工大联合实验室</a:t>
              </a:r>
              <a:endParaRPr lang="zh-CN" sz="1050" dirty="0">
                <a:solidFill>
                  <a:srgbClr val="25364A"/>
                </a:solidFill>
                <a:latin typeface="Arial" panose="020B0604020202020204"/>
                <a:ea typeface="微软雅黑" panose="020B0503020204020204" charset="-122"/>
                <a:cs typeface="Arial" panose="020B0604020202020204"/>
              </a:endParaRPr>
            </a:p>
          </p:txBody>
        </p:sp>
      </p:grpSp>
      <p:grpSp>
        <p:nvGrpSpPr>
          <p:cNvPr id="101" name="Group 101"/>
          <p:cNvGrpSpPr/>
          <p:nvPr/>
        </p:nvGrpSpPr>
        <p:grpSpPr>
          <a:xfrm>
            <a:off x="561022" y="6578441"/>
            <a:ext cx="11069955" cy="167640"/>
            <a:chOff x="561022" y="6578441"/>
            <a:chExt cx="11069955" cy="167640"/>
          </a:xfrm>
        </p:grpSpPr>
        <p:sp>
          <p:nvSpPr>
            <p:cNvPr id="99" name="TextBox 99"/>
            <p:cNvSpPr txBox="1"/>
            <p:nvPr/>
          </p:nvSpPr>
          <p:spPr>
            <a:xfrm>
              <a:off x="561022" y="6578441"/>
              <a:ext cx="9615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panose="020B0604020202020204"/>
                  <a:ea typeface="微软雅黑" panose="020B0503020204020204" charset="-122"/>
                  <a:cs typeface="Arial" panose="020B0604020202020204"/>
                </a:rPr>
                <a:t>©法本信息版权所有</a:t>
              </a:r>
              <a:endParaRPr lang="zh-CN" sz="825" dirty="0">
                <a:solidFill>
                  <a:srgbClr val="6B7785"/>
                </a:solidFill>
                <a:latin typeface="Arial" panose="020B0604020202020204"/>
                <a:ea typeface="微软雅黑" panose="020B0503020204020204" charset="-122"/>
                <a:cs typeface="Arial" panose="020B0604020202020204"/>
              </a:endParaRPr>
            </a:p>
          </p:txBody>
        </p:sp>
        <p:sp>
          <p:nvSpPr>
            <p:cNvPr id="100" name="TextBox 100"/>
            <p:cNvSpPr txBox="1"/>
            <p:nvPr/>
          </p:nvSpPr>
          <p:spPr>
            <a:xfrm>
              <a:off x="11489007" y="6578441"/>
              <a:ext cx="141970"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panose="020B0604020202020204"/>
                  <a:ea typeface="微软雅黑" panose="020B0503020204020204" charset="-122"/>
                  <a:cs typeface="Arial" panose="020B0604020202020204"/>
                </a:rPr>
                <a:t>22</a:t>
              </a:r>
              <a:endParaRPr lang="zh-CN" sz="825"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slide(fromBottom)">
                                      <p:cBhvr>
                                        <p:cTn id="7" dur="400"/>
                                        <p:tgtEl>
                                          <p:spTgt spid="32"/>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image">
                                      <p:cBhvr>
                                        <p:cTn id="11" dur="400"/>
                                        <p:tgtEl>
                                          <p:spTgt spid="5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fade">
                                      <p:cBhvr>
                                        <p:cTn id="15" dur="400"/>
                                        <p:tgtEl>
                                          <p:spTgt spid="72"/>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8"/>
                                        </p:tgtEl>
                                        <p:attrNameLst>
                                          <p:attrName>style.visibility</p:attrName>
                                        </p:attrNameLst>
                                      </p:cBhvr>
                                      <p:to>
                                        <p:strVal val="visible"/>
                                      </p:to>
                                    </p:set>
                                    <p:animEffect transition="in" filter="wipe(left)">
                                      <p:cBhvr>
                                        <p:cTn id="19" dur="4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54" grpId="0"/>
      <p:bldP spid="72" grpId="0"/>
      <p:bldP spid="9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2A5E"/>
                </a:gs>
                <a:gs pos="60000">
                  <a:srgbClr val="0E367A"/>
                </a:gs>
                <a:gs pos="100000">
                  <a:srgbClr val="17365D"/>
                </a:gs>
              </a:gsLst>
              <a:lin ang="2700000" scaled="1"/>
            </a:gradFill>
            <a:ln>
              <a:noFill/>
            </a:ln>
          </p:spPr>
        </p:sp>
        <p:sp>
          <p:nvSpPr>
            <p:cNvPr id="3" name="Rectangle 3"/>
            <p:cNvSpPr/>
            <p:nvPr/>
          </p:nvSpPr>
          <p:spPr>
            <a:xfrm>
              <a:off x="0" y="0"/>
              <a:ext cx="12192000" cy="6858000"/>
            </a:xfrm>
            <a:prstGeom prst="rect">
              <a:avLst/>
            </a:prstGeom>
            <a:gradFill>
              <a:gsLst>
                <a:gs pos="0">
                  <a:srgbClr val="246BFE">
                    <a:alpha val="20000"/>
                  </a:srgbClr>
                </a:gs>
                <a:gs pos="100000">
                  <a:srgbClr val="246BFE">
                    <a:alpha val="0"/>
                  </a:srgbClr>
                </a:gs>
              </a:gsLst>
              <a:path path="circle">
                <a:fillToRect l="50000" t="50000" r="50000" b="50000"/>
              </a:path>
            </a:gradFill>
            <a:ln>
              <a:noFill/>
            </a:ln>
          </p:spPr>
        </p:sp>
      </p:grpSp>
      <p:grpSp>
        <p:nvGrpSpPr>
          <p:cNvPr id="9" name="Group 9"/>
          <p:cNvGrpSpPr/>
          <p:nvPr/>
        </p:nvGrpSpPr>
        <p:grpSpPr>
          <a:xfrm>
            <a:off x="1485900" y="1085850"/>
            <a:ext cx="9782175" cy="4676775"/>
            <a:chOff x="1485900" y="1085850"/>
            <a:chExt cx="9782175" cy="4676775"/>
          </a:xfrm>
        </p:grpSpPr>
        <p:sp>
          <p:nvSpPr>
            <p:cNvPr id="5" name="Ellipse 5"/>
            <p:cNvSpPr/>
            <p:nvPr/>
          </p:nvSpPr>
          <p:spPr>
            <a:xfrm>
              <a:off x="10610850" y="1085850"/>
              <a:ext cx="114300" cy="114300"/>
            </a:xfrm>
            <a:prstGeom prst="ellipse">
              <a:avLst/>
            </a:prstGeom>
            <a:solidFill>
              <a:srgbClr val="518FEC">
                <a:alpha val="50000"/>
              </a:srgbClr>
            </a:solidFill>
            <a:ln>
              <a:noFill/>
            </a:ln>
          </p:spPr>
        </p:sp>
        <p:sp>
          <p:nvSpPr>
            <p:cNvPr id="6" name="Ellipse 6"/>
            <p:cNvSpPr/>
            <p:nvPr/>
          </p:nvSpPr>
          <p:spPr>
            <a:xfrm>
              <a:off x="11210925" y="1685925"/>
              <a:ext cx="57150" cy="57150"/>
            </a:xfrm>
            <a:prstGeom prst="ellipse">
              <a:avLst/>
            </a:prstGeom>
            <a:solidFill>
              <a:srgbClr val="246BFE">
                <a:alpha val="70000"/>
              </a:srgbClr>
            </a:solidFill>
            <a:ln>
              <a:noFill/>
            </a:ln>
          </p:spPr>
        </p:sp>
        <p:sp>
          <p:nvSpPr>
            <p:cNvPr id="7" name="Ellipse 7"/>
            <p:cNvSpPr/>
            <p:nvPr/>
          </p:nvSpPr>
          <p:spPr>
            <a:xfrm>
              <a:off x="1485900" y="5676900"/>
              <a:ext cx="76200" cy="76200"/>
            </a:xfrm>
            <a:prstGeom prst="ellipse">
              <a:avLst/>
            </a:prstGeom>
            <a:solidFill>
              <a:srgbClr val="518FEC">
                <a:alpha val="40000"/>
              </a:srgbClr>
            </a:solidFill>
            <a:ln>
              <a:noFill/>
            </a:ln>
          </p:spPr>
        </p:sp>
        <p:sp>
          <p:nvSpPr>
            <p:cNvPr id="8" name="Ellipse 8"/>
            <p:cNvSpPr/>
            <p:nvPr/>
          </p:nvSpPr>
          <p:spPr>
            <a:xfrm>
              <a:off x="10239375" y="5667375"/>
              <a:ext cx="95250" cy="95250"/>
            </a:xfrm>
            <a:prstGeom prst="ellipse">
              <a:avLst/>
            </a:prstGeom>
            <a:solidFill>
              <a:srgbClr val="518FEC">
                <a:alpha val="35000"/>
              </a:srgbClr>
            </a:solidFill>
            <a:ln>
              <a:noFill/>
            </a:ln>
          </p:spPr>
        </p:sp>
      </p:grpSp>
      <p:grpSp>
        <p:nvGrpSpPr>
          <p:cNvPr id="17" name="Group 17"/>
          <p:cNvGrpSpPr/>
          <p:nvPr/>
        </p:nvGrpSpPr>
        <p:grpSpPr>
          <a:xfrm>
            <a:off x="5845969" y="1797844"/>
            <a:ext cx="500062" cy="500062"/>
            <a:chOff x="5845969" y="1797844"/>
            <a:chExt cx="500062" cy="500062"/>
          </a:xfrm>
        </p:grpSpPr>
        <p:grpSp>
          <p:nvGrpSpPr>
            <p:cNvPr id="16" name="Group 16"/>
            <p:cNvGrpSpPr/>
            <p:nvPr/>
          </p:nvGrpSpPr>
          <p:grpSpPr>
            <a:xfrm>
              <a:off x="5845969" y="1797844"/>
              <a:ext cx="500062" cy="500062"/>
              <a:chOff x="5845969" y="1797844"/>
              <a:chExt cx="500062" cy="500062"/>
            </a:xfrm>
          </p:grpSpPr>
          <p:sp>
            <p:nvSpPr>
              <p:cNvPr id="10" name="Freeform 10"/>
              <p:cNvSpPr/>
              <p:nvPr/>
            </p:nvSpPr>
            <p:spPr>
              <a:xfrm>
                <a:off x="6096000" y="2075656"/>
                <a:ext cx="194469" cy="222250"/>
              </a:xfrm>
              <a:custGeom>
                <a:avLst/>
                <a:gdLst/>
                <a:ahLst/>
                <a:cxnLst/>
                <a:rect l="l" t="t" r="r" b="b"/>
                <a:pathLst>
                  <a:path w="194469" h="222250">
                    <a:moveTo>
                      <a:pt x="97234" y="0"/>
                    </a:moveTo>
                    <a:cubicBezTo>
                      <a:pt x="43533" y="0"/>
                      <a:pt x="0" y="43533"/>
                      <a:pt x="0" y="97234"/>
                    </a:cubicBezTo>
                    <a:lnTo>
                      <a:pt x="0" y="125016"/>
                    </a:lnTo>
                    <a:cubicBezTo>
                      <a:pt x="0" y="178717"/>
                      <a:pt x="43533" y="222250"/>
                      <a:pt x="97234" y="222250"/>
                    </a:cubicBezTo>
                    <a:cubicBezTo>
                      <a:pt x="150935" y="222250"/>
                      <a:pt x="194469" y="178717"/>
                      <a:pt x="194469" y="125016"/>
                    </a:cubicBezTo>
                    <a:lnTo>
                      <a:pt x="194469" y="75009"/>
                    </a:lnTo>
                  </a:path>
                </a:pathLst>
              </a:custGeom>
              <a:noFill/>
              <a:ln w="19050">
                <a:solidFill>
                  <a:srgbClr val="518FEC"/>
                </a:solidFill>
              </a:ln>
            </p:spPr>
          </p:sp>
          <p:sp>
            <p:nvSpPr>
              <p:cNvPr id="11" name="Freeform 11"/>
              <p:cNvSpPr/>
              <p:nvPr/>
            </p:nvSpPr>
            <p:spPr>
              <a:xfrm>
                <a:off x="5901531" y="2075656"/>
                <a:ext cx="194469" cy="222250"/>
              </a:xfrm>
              <a:custGeom>
                <a:avLst/>
                <a:gdLst/>
                <a:ahLst/>
                <a:cxnLst/>
                <a:rect l="l" t="t" r="r" b="b"/>
                <a:pathLst>
                  <a:path w="194469" h="222250">
                    <a:moveTo>
                      <a:pt x="97234" y="0"/>
                    </a:moveTo>
                    <a:cubicBezTo>
                      <a:pt x="150935" y="0"/>
                      <a:pt x="194469" y="43533"/>
                      <a:pt x="194469" y="97234"/>
                    </a:cubicBezTo>
                    <a:lnTo>
                      <a:pt x="194469" y="125016"/>
                    </a:lnTo>
                    <a:cubicBezTo>
                      <a:pt x="194469" y="178717"/>
                      <a:pt x="150935" y="222250"/>
                      <a:pt x="97234" y="222250"/>
                    </a:cubicBezTo>
                    <a:cubicBezTo>
                      <a:pt x="43533" y="222250"/>
                      <a:pt x="0" y="178717"/>
                      <a:pt x="0" y="125016"/>
                    </a:cubicBezTo>
                    <a:lnTo>
                      <a:pt x="0" y="75009"/>
                    </a:lnTo>
                  </a:path>
                </a:pathLst>
              </a:custGeom>
              <a:noFill/>
              <a:ln w="19050">
                <a:solidFill>
                  <a:srgbClr val="518FEC"/>
                </a:solidFill>
              </a:ln>
            </p:spPr>
          </p:sp>
          <p:sp>
            <p:nvSpPr>
              <p:cNvPr id="12" name="Freeform 12"/>
              <p:cNvSpPr/>
              <p:nvPr/>
            </p:nvSpPr>
            <p:spPr>
              <a:xfrm>
                <a:off x="6234906" y="1964531"/>
                <a:ext cx="111125" cy="194469"/>
              </a:xfrm>
              <a:custGeom>
                <a:avLst/>
                <a:gdLst/>
                <a:ahLst/>
                <a:cxnLst/>
                <a:rect l="l" t="t" r="r" b="b"/>
                <a:pathLst>
                  <a:path w="111125" h="194469">
                    <a:moveTo>
                      <a:pt x="13891" y="194469"/>
                    </a:moveTo>
                    <a:cubicBezTo>
                      <a:pt x="67592" y="194469"/>
                      <a:pt x="111125" y="150935"/>
                      <a:pt x="111125" y="97234"/>
                    </a:cubicBezTo>
                    <a:cubicBezTo>
                      <a:pt x="111125" y="43533"/>
                      <a:pt x="67592" y="0"/>
                      <a:pt x="13891" y="0"/>
                    </a:cubicBezTo>
                    <a:lnTo>
                      <a:pt x="0" y="0"/>
                    </a:lnTo>
                  </a:path>
                </a:pathLst>
              </a:custGeom>
              <a:noFill/>
              <a:ln w="19050">
                <a:solidFill>
                  <a:srgbClr val="518FEC"/>
                </a:solidFill>
              </a:ln>
            </p:spPr>
          </p:sp>
          <p:sp>
            <p:nvSpPr>
              <p:cNvPr id="13" name="Freeform 13"/>
              <p:cNvSpPr/>
              <p:nvPr/>
            </p:nvSpPr>
            <p:spPr>
              <a:xfrm>
                <a:off x="6096000" y="1797844"/>
                <a:ext cx="194469" cy="175022"/>
              </a:xfrm>
              <a:custGeom>
                <a:avLst/>
                <a:gdLst/>
                <a:ahLst/>
                <a:cxnLst/>
                <a:rect l="l" t="t" r="r" b="b"/>
                <a:pathLst>
                  <a:path w="194469" h="175022">
                    <a:moveTo>
                      <a:pt x="194469" y="175022"/>
                    </a:moveTo>
                    <a:lnTo>
                      <a:pt x="194469" y="97234"/>
                    </a:lnTo>
                    <a:cubicBezTo>
                      <a:pt x="194469" y="43533"/>
                      <a:pt x="150935" y="0"/>
                      <a:pt x="97234" y="0"/>
                    </a:cubicBezTo>
                    <a:cubicBezTo>
                      <a:pt x="43533" y="0"/>
                      <a:pt x="0" y="43533"/>
                      <a:pt x="0" y="97234"/>
                    </a:cubicBezTo>
                  </a:path>
                </a:pathLst>
              </a:custGeom>
              <a:noFill/>
              <a:ln w="19050">
                <a:solidFill>
                  <a:srgbClr val="518FEC"/>
                </a:solidFill>
              </a:ln>
            </p:spPr>
          </p:sp>
          <p:sp>
            <p:nvSpPr>
              <p:cNvPr id="14" name="Freeform 14"/>
              <p:cNvSpPr/>
              <p:nvPr/>
            </p:nvSpPr>
            <p:spPr>
              <a:xfrm>
                <a:off x="5845969" y="1964531"/>
                <a:ext cx="111125" cy="194469"/>
              </a:xfrm>
              <a:custGeom>
                <a:avLst/>
                <a:gdLst/>
                <a:ahLst/>
                <a:cxnLst/>
                <a:rect l="l" t="t" r="r" b="b"/>
                <a:pathLst>
                  <a:path w="111125" h="194469">
                    <a:moveTo>
                      <a:pt x="97234" y="194469"/>
                    </a:moveTo>
                    <a:cubicBezTo>
                      <a:pt x="43533" y="194469"/>
                      <a:pt x="0" y="150935"/>
                      <a:pt x="0" y="97234"/>
                    </a:cubicBezTo>
                    <a:cubicBezTo>
                      <a:pt x="0" y="43533"/>
                      <a:pt x="43533" y="0"/>
                      <a:pt x="97234" y="0"/>
                    </a:cubicBezTo>
                    <a:lnTo>
                      <a:pt x="111125" y="0"/>
                    </a:lnTo>
                  </a:path>
                </a:pathLst>
              </a:custGeom>
              <a:noFill/>
              <a:ln w="19050">
                <a:solidFill>
                  <a:srgbClr val="518FEC"/>
                </a:solidFill>
              </a:ln>
            </p:spPr>
          </p:sp>
          <p:sp>
            <p:nvSpPr>
              <p:cNvPr id="15" name="Freeform 15"/>
              <p:cNvSpPr/>
              <p:nvPr/>
            </p:nvSpPr>
            <p:spPr>
              <a:xfrm>
                <a:off x="5901531" y="1797844"/>
                <a:ext cx="194469" cy="375047"/>
              </a:xfrm>
              <a:custGeom>
                <a:avLst/>
                <a:gdLst/>
                <a:ahLst/>
                <a:cxnLst/>
                <a:rect l="l" t="t" r="r" b="b"/>
                <a:pathLst>
                  <a:path w="194469" h="375047">
                    <a:moveTo>
                      <a:pt x="0" y="175022"/>
                    </a:moveTo>
                    <a:lnTo>
                      <a:pt x="0" y="97234"/>
                    </a:lnTo>
                    <a:cubicBezTo>
                      <a:pt x="0" y="43533"/>
                      <a:pt x="43533" y="0"/>
                      <a:pt x="97234" y="0"/>
                    </a:cubicBezTo>
                    <a:cubicBezTo>
                      <a:pt x="150935" y="0"/>
                      <a:pt x="194469" y="43533"/>
                      <a:pt x="194469" y="97234"/>
                    </a:cubicBezTo>
                    <a:lnTo>
                      <a:pt x="194469" y="375047"/>
                    </a:lnTo>
                  </a:path>
                </a:pathLst>
              </a:custGeom>
              <a:noFill/>
              <a:ln w="19050">
                <a:solidFill>
                  <a:srgbClr val="518FEC"/>
                </a:solidFill>
              </a:ln>
            </p:spPr>
          </p:sp>
        </p:grpSp>
      </p:grpSp>
      <p:grpSp>
        <p:nvGrpSpPr>
          <p:cNvPr id="23" name="Group 23"/>
          <p:cNvGrpSpPr/>
          <p:nvPr/>
        </p:nvGrpSpPr>
        <p:grpSpPr>
          <a:xfrm>
            <a:off x="2762250" y="2809875"/>
            <a:ext cx="6667500" cy="2495550"/>
            <a:chOff x="2762250" y="2809875"/>
            <a:chExt cx="6667500" cy="2495550"/>
          </a:xfrm>
        </p:grpSpPr>
        <p:sp>
          <p:nvSpPr>
            <p:cNvPr id="18" name="Rectangle 18"/>
            <p:cNvSpPr/>
            <p:nvPr/>
          </p:nvSpPr>
          <p:spPr>
            <a:xfrm>
              <a:off x="2762250" y="2809875"/>
              <a:ext cx="6667500" cy="57150"/>
            </a:xfrm>
            <a:prstGeom prst="roundRect">
              <a:avLst>
                <a:gd name="adj" fmla="val 50000"/>
              </a:avLst>
            </a:prstGeom>
            <a:gradFill>
              <a:gsLst>
                <a:gs pos="0">
                  <a:srgbClr val="246BFE"/>
                </a:gs>
                <a:gs pos="100000">
                  <a:srgbClr val="518FEC"/>
                </a:gs>
              </a:gsLst>
              <a:lin ang="0" scaled="1"/>
            </a:gradFill>
            <a:ln>
              <a:noFill/>
            </a:ln>
          </p:spPr>
        </p:sp>
        <p:sp>
          <p:nvSpPr>
            <p:cNvPr id="19" name="TextBox 19"/>
            <p:cNvSpPr txBox="1"/>
            <p:nvPr/>
          </p:nvSpPr>
          <p:spPr>
            <a:xfrm>
              <a:off x="5562386" y="3362325"/>
              <a:ext cx="1067229" cy="304800"/>
            </a:xfrm>
            <a:prstGeom prst="rect">
              <a:avLst/>
            </a:prstGeom>
            <a:noFill/>
            <a:ln>
              <a:noFill/>
            </a:ln>
          </p:spPr>
          <p:txBody>
            <a:bodyPr wrap="none" lIns="0" tIns="0" rIns="0" bIns="0" anchor="t" anchorCtr="0">
              <a:spAutoFit/>
            </a:bodyPr>
            <a:lstStyle/>
            <a:p>
              <a:pPr algn="ctr"/>
              <a:r>
                <a:rPr lang="zh-CN" sz="1500" b="1" dirty="0">
                  <a:solidFill>
                    <a:srgbClr val="518FEC"/>
                  </a:solidFill>
                  <a:latin typeface="Arial" panose="020B0604020202020204"/>
                  <a:ea typeface="微软雅黑" panose="020B0503020204020204" charset="-122"/>
                  <a:cs typeface="Arial" panose="020B0604020202020204"/>
                </a:rPr>
                <a:t>THANK YOU</a:t>
              </a:r>
              <a:endParaRPr lang="zh-CN" sz="1500" b="1" dirty="0">
                <a:solidFill>
                  <a:srgbClr val="518FEC"/>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4797742" y="3914775"/>
              <a:ext cx="2596515" cy="609600"/>
            </a:xfrm>
            <a:prstGeom prst="rect">
              <a:avLst/>
            </a:prstGeom>
            <a:noFill/>
            <a:ln>
              <a:noFill/>
            </a:ln>
          </p:spPr>
          <p:txBody>
            <a:bodyPr wrap="none" lIns="0" tIns="0" rIns="0" bIns="0" anchor="t" anchorCtr="0">
              <a:spAutoFit/>
            </a:bodyPr>
            <a:lstStyle/>
            <a:p>
              <a:pPr algn="ctr"/>
              <a:r>
                <a:rPr lang="zh-CN" sz="3000" b="1" dirty="0">
                  <a:solidFill>
                    <a:srgbClr val="FFFFFF"/>
                  </a:solidFill>
                  <a:latin typeface="Arial" panose="020B0604020202020204"/>
                  <a:ea typeface="微软雅黑" panose="020B0503020204020204" charset="-122"/>
                  <a:cs typeface="Arial" panose="020B0604020202020204"/>
                </a:rPr>
                <a:t>携手高力国际</a:t>
              </a:r>
              <a:endParaRPr lang="zh-CN" sz="3000" b="1" dirty="0">
                <a:solidFill>
                  <a:srgbClr val="FFFFFF"/>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3233047" y="4467225"/>
              <a:ext cx="5725906" cy="609600"/>
            </a:xfrm>
            <a:prstGeom prst="rect">
              <a:avLst/>
            </a:prstGeom>
            <a:noFill/>
            <a:ln>
              <a:noFill/>
            </a:ln>
          </p:spPr>
          <p:txBody>
            <a:bodyPr wrap="none" lIns="0" tIns="0" rIns="0" bIns="0" anchor="t" anchorCtr="0">
              <a:spAutoFit/>
            </a:bodyPr>
            <a:lstStyle/>
            <a:p>
              <a:pPr algn="ctr"/>
              <a:r>
                <a:rPr lang="zh-CN" sz="3000" b="1" dirty="0">
                  <a:gradFill>
                    <a:gsLst>
                      <a:gs pos="0">
                        <a:srgbClr val="246BFE"/>
                      </a:gs>
                      <a:gs pos="100000">
                        <a:srgbClr val="518FEC"/>
                      </a:gs>
                    </a:gsLst>
                    <a:lin ang="0" scaled="1"/>
                  </a:gradFill>
                  <a:latin typeface="Arial" panose="020B0604020202020204"/>
                  <a:ea typeface="微软雅黑" panose="020B0503020204020204" charset="-122"/>
                  <a:cs typeface="Arial" panose="020B0604020202020204"/>
                </a:rPr>
                <a:t>让 AI 成为商业地产增长新引擎</a:t>
              </a:r>
              <a:endParaRPr lang="zh-CN" sz="3000" b="1" dirty="0">
                <a:gradFill>
                  <a:gsLst>
                    <a:gs pos="0">
                      <a:srgbClr val="246BFE"/>
                    </a:gs>
                    <a:gs pos="100000">
                      <a:srgbClr val="518FEC"/>
                    </a:gs>
                  </a:gsLst>
                  <a:lin ang="0" scaled="1"/>
                </a:gradFill>
                <a:latin typeface="Arial" panose="020B0604020202020204"/>
                <a:ea typeface="微软雅黑" panose="020B0503020204020204" charset="-122"/>
                <a:cs typeface="Arial" panose="020B0604020202020204"/>
              </a:endParaRPr>
            </a:p>
          </p:txBody>
        </p:sp>
        <p:sp>
          <p:nvSpPr>
            <p:cNvPr id="22" name="TextBox 22"/>
            <p:cNvSpPr txBox="1"/>
            <p:nvPr/>
          </p:nvSpPr>
          <p:spPr>
            <a:xfrm>
              <a:off x="4936617" y="5061585"/>
              <a:ext cx="2318766" cy="243840"/>
            </a:xfrm>
            <a:prstGeom prst="rect">
              <a:avLst/>
            </a:prstGeom>
            <a:noFill/>
            <a:ln>
              <a:noFill/>
            </a:ln>
          </p:spPr>
          <p:txBody>
            <a:bodyPr wrap="none" lIns="0" tIns="0" rIns="0" bIns="0" anchor="t" anchorCtr="0">
              <a:spAutoFit/>
            </a:bodyPr>
            <a:lstStyle/>
            <a:p>
              <a:pPr algn="ctr"/>
              <a:r>
                <a:rPr lang="zh-CN" sz="1200" dirty="0">
                  <a:solidFill>
                    <a:srgbClr val="B8C7E0"/>
                  </a:solidFill>
                  <a:latin typeface="Arial" panose="020B0604020202020204"/>
                  <a:ea typeface="微软雅黑" panose="020B0503020204020204" charset="-122"/>
                  <a:cs typeface="Arial" panose="020B0604020202020204"/>
                </a:rPr>
                <a:t>一个平台 · 四大场景 · 一个闭环</a:t>
              </a:r>
              <a:endParaRPr lang="zh-CN" sz="1200" dirty="0">
                <a:solidFill>
                  <a:srgbClr val="B8C7E0"/>
                </a:solidFill>
                <a:latin typeface="Arial" panose="020B0604020202020204"/>
                <a:ea typeface="微软雅黑" panose="020B0503020204020204" charset="-122"/>
                <a:cs typeface="Arial" panose="020B0604020202020204"/>
              </a:endParaRPr>
            </a:p>
          </p:txBody>
        </p:sp>
      </p:grpSp>
      <p:grpSp>
        <p:nvGrpSpPr>
          <p:cNvPr id="28" name="Group 28"/>
          <p:cNvGrpSpPr/>
          <p:nvPr/>
        </p:nvGrpSpPr>
        <p:grpSpPr>
          <a:xfrm>
            <a:off x="4266640" y="5715000"/>
            <a:ext cx="3658719" cy="895350"/>
            <a:chOff x="4266640" y="5715000"/>
            <a:chExt cx="3658719" cy="895350"/>
          </a:xfrm>
        </p:grpSpPr>
        <p:sp>
          <p:nvSpPr>
            <p:cNvPr id="24" name="Line 24"/>
            <p:cNvSpPr/>
            <p:nvPr/>
          </p:nvSpPr>
          <p:spPr>
            <a:xfrm>
              <a:off x="4667250" y="5715000"/>
              <a:ext cx="2857500" cy="9525"/>
            </a:xfrm>
            <a:custGeom>
              <a:avLst/>
              <a:gdLst/>
              <a:ahLst/>
              <a:cxnLst/>
              <a:rect l="l" t="t" r="r" b="b"/>
              <a:pathLst>
                <a:path w="2857500" h="9525">
                  <a:moveTo>
                    <a:pt x="0" y="0"/>
                  </a:moveTo>
                  <a:lnTo>
                    <a:pt x="2857500" y="0"/>
                  </a:lnTo>
                </a:path>
              </a:pathLst>
            </a:custGeom>
            <a:noFill/>
            <a:ln w="9525">
              <a:solidFill>
                <a:srgbClr val="518FEC">
                  <a:alpha val="40000"/>
                </a:srgbClr>
              </a:solidFill>
            </a:ln>
          </p:spPr>
        </p:sp>
        <p:sp>
          <p:nvSpPr>
            <p:cNvPr id="25" name="TextBox 25"/>
            <p:cNvSpPr txBox="1"/>
            <p:nvPr/>
          </p:nvSpPr>
          <p:spPr>
            <a:xfrm>
              <a:off x="4820602" y="5918835"/>
              <a:ext cx="255079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深圳市法本信息技术股份有限公司</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4266640" y="6200299"/>
              <a:ext cx="3658719" cy="198120"/>
            </a:xfrm>
            <a:prstGeom prst="rect">
              <a:avLst/>
            </a:prstGeom>
            <a:noFill/>
            <a:ln>
              <a:noFill/>
            </a:ln>
          </p:spPr>
          <p:txBody>
            <a:bodyPr wrap="none" lIns="0" tIns="0" rIns="0" bIns="0" anchor="t" anchorCtr="0">
              <a:spAutoFit/>
            </a:bodyPr>
            <a:lstStyle/>
            <a:p>
              <a:pPr algn="ctr"/>
              <a:r>
                <a:rPr lang="zh-CN" sz="975" dirty="0">
                  <a:solidFill>
                    <a:srgbClr val="8FA3C4"/>
                  </a:solidFill>
                  <a:latin typeface="Arial" panose="020B0604020202020204"/>
                  <a:ea typeface="微软雅黑" panose="020B0503020204020204" charset="-122"/>
                  <a:cs typeface="Arial" panose="020B0604020202020204"/>
                </a:rPr>
                <a:t>FarAI 人工智能解决方案 · 领先的软硬一体化、解决方案服务商</a:t>
              </a:r>
              <a:endParaRPr lang="zh-CN" sz="975" dirty="0">
                <a:solidFill>
                  <a:srgbClr val="8FA3C4"/>
                </a:solidFill>
                <a:latin typeface="Arial" panose="020B0604020202020204"/>
                <a:ea typeface="微软雅黑" panose="020B0503020204020204" charset="-122"/>
                <a:cs typeface="Arial" panose="020B0604020202020204"/>
              </a:endParaRPr>
            </a:p>
          </p:txBody>
        </p:sp>
        <p:sp>
          <p:nvSpPr>
            <p:cNvPr id="27" name="TextBox 27"/>
            <p:cNvSpPr txBox="1"/>
            <p:nvPr/>
          </p:nvSpPr>
          <p:spPr>
            <a:xfrm>
              <a:off x="5565505" y="6427470"/>
              <a:ext cx="1060990" cy="182880"/>
            </a:xfrm>
            <a:prstGeom prst="rect">
              <a:avLst/>
            </a:prstGeom>
            <a:noFill/>
            <a:ln>
              <a:noFill/>
            </a:ln>
          </p:spPr>
          <p:txBody>
            <a:bodyPr wrap="none" lIns="0" tIns="0" rIns="0" bIns="0" anchor="t" anchorCtr="0">
              <a:spAutoFit/>
            </a:bodyPr>
            <a:lstStyle/>
            <a:p>
              <a:pPr algn="ctr"/>
              <a:r>
                <a:rPr lang="zh-CN" sz="900" dirty="0">
                  <a:solidFill>
                    <a:srgbClr val="6B7785"/>
                  </a:solidFill>
                  <a:latin typeface="Arial" panose="020B0604020202020204"/>
                  <a:ea typeface="微软雅黑" panose="020B0503020204020204" charset="-122"/>
                  <a:cs typeface="Arial" panose="020B0604020202020204"/>
                </a:rPr>
                <a:t>联系方式:(待补充)</a:t>
              </a:r>
              <a:endParaRPr lang="zh-CN" sz="900" dirty="0">
                <a:solidFill>
                  <a:srgbClr val="6B7785"/>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Bottom)">
                                      <p:cBhvr>
                                        <p:cTn id="7" dur="4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4.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6048</Words>
  <Application>WPS 演示</Application>
  <PresentationFormat>On-screen Show (16:9)</PresentationFormat>
  <Paragraphs>1160</Paragraphs>
  <Slides>24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24</vt:i4>
      </vt:variant>
    </vt:vector>
  </HeadingPairs>
  <TitlesOfParts>
    <vt:vector size="40" baseType="lpstr">
      <vt:lpstr>Arial</vt:lpstr>
      <vt:lpstr>宋体</vt:lpstr>
      <vt:lpstr>Wingdings</vt:lpstr>
      <vt:lpstr>Arial</vt:lpstr>
      <vt:lpstr>微软雅黑</vt:lpstr>
      <vt:lpstr>Arial Unicode MS</vt:lpstr>
      <vt:lpstr>Calibri</vt:lpstr>
      <vt:lpstr>Futura LT Medium</vt:lpstr>
      <vt:lpstr>Yu Gothic UI</vt:lpstr>
      <vt:lpstr>微软雅黑 Light</vt:lpstr>
      <vt:lpstr>思源黑体 CN Regular</vt:lpstr>
      <vt:lpstr>黑体</vt:lpstr>
      <vt:lpstr>KSOF28C8607A</vt:lpstr>
      <vt:lpstr>FFont-Family</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Andy</cp:lastModifiedBy>
  <cp:revision>2</cp:revision>
  <dcterms:created xsi:type="dcterms:W3CDTF">2026-08-03T06:16:00Z</dcterms:created>
  <dcterms:modified xsi:type="dcterms:W3CDTF">2026-08-03T06:56:41Z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F59B69A723C24A2DBBA6BB6636E22892_12</vt:lpwstr>
  </property>
</Properties>
</file>