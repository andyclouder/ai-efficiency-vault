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各位领导、各位同事,大家好。今天向大家汇报的是法本信息 FarAI 研发流水线。一句话讲清楚我们要解决的事:让"个人用 AI 变快",真正变成"组织级的系统提速"。这不是又一个 AI 编码工具,而是一套驾驭框架先行、四闭环工艺驱动、组织重塑支撑、先建安全网再放大自主度的人智协同研发平台。</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整个汇报围绕六章展开。第一章讲清楚核心命题,为什么个人提效不等于组织提效。第二章展示产品全景,四层架构。第三章是组织重塑,讲新的角色、新的组织形态 FDE 三层协同、新的流程,这是把个人提效转化为组织系统提效的组织载体。第四章展开四大场景方案。第五章给技术负责人讲工程底座 Harness 驾驭框架。第六章谈价值、实施路径和法本保障。</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我们首先进入第一章,核心命题。一切问题的起点,是一个悖论——AI 工具已经下沉到每个人,但组织为什么没变快?</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过去一年,我们在很多研发组织都能观察到同一个现象。产品经理用 AI 生成原型,工程师用 AI 读码、写码、补测试,测试用 AI 整理用例,架构师用 AI 做影响分析。从个人视角看,变化实实在在,每个人似乎都变快了一些。但回到组织层面,管理者的感受并没有那么强。需求仍然在排队,版本仍然按原节奏推进,跨团队沟通、联调评审仍然反复,测试环境仍然紧张。这就形成了 AI 时代软件工程的一个典型悖论:个人提效已经发生,但组织提效没有自然发生。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为什么会这样?根因有三层。第一,成本结构变了。代码理解、生成、测试补充、缺陷分析的成本正在下降,"写出代码"从最稀缺的能力,变成可被 AI 大幅放大的能力。第二,瓶颈转移了。新瓶颈不在开发产能,而在需求是否清楚、架构边界是否合理、测试能否自动验证、环境数据能否快速准备、知识能否复用。第三,也是最关键的,协作链路没变。软件交付是一条协作链,需求、方案、编码、测试、发布、运营,环环相扣。只给每人加一个 AI 工具,链路不变,个人变快就被链路吃掉,组织自然不变快。所以,真正要解决的不是个人能不能变快,而是组织有没有新的协作方式来承接。</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FarAI 研发流水线,就是为承接这件事而生的。我们的回答是四层。第一,驾驭框架先行,也就是 Harness,让 AI 改完代码即可验证。第二,四闭环工艺,创意、需求、交付、运营持续闭环。第三,知识本体底座,让 Agent 拿到准确上下文。第四,治理与度量,先建安全网再放大自主度。但光有平台还不够,还需要新的生产关系——这就是第三章要讲的组织重塑。</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接下来进入第二章,产品全景。FarAI 研发流水线,一个平台,四层架构,把人、智能体、资产、数据、治理协同起来。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这是 FarAI 研发流水线的四层架构,自下而上。最底层是知识与本体底座,本体网络、语义连接、Agent 记忆、经验进化,让知识可被人和 Agent 共同理解。往上是 Harness 驾驭框架,这是工程底座,包括 CLI 化、fullcheck、CLI E2E、hooks、traceId、Agent OS,是 Agent 可控的前提。再往上是人智协同平台,连接桌面智能体、云端智能体、任务权限审计和 Skill 治理。最上层是治理与度量层,风险分级、Human-in-Loop、AI FinOps、效能度量。向上承载场景,向下沉淀能力,这就是 FarAI 以智能系统为中枢的人智协同平台。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四大场景不是孤立的点,而是覆盖需求、交付、知识、治理的研发全链路。S1 智能需求闭环主要落在人智协同和 Harness 这两层。S2 智能交付闭环主要落在 Harness 驾驭框架。S3 智能知识底座落在知识与本体底座。S4 智能治理与 FinOps 落在治理与度量层。四大场景乘以四层架构,等于端到端的研发流水线。</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下面进入第三章,组织重塑。这一章解决的是:用什么样的新生产关系,来承接 AI 带来的新生产力。三件事:新的角色、新的组织、新的流程。其中 FDE 三层协同是核心——它是把"个人提效"转化为"组织系统提效"的组织载体。</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先看新角色。AI 时代的研发组织,不再只围绕 Developer 分工,而是逐步围绕 Builder 分工。Builder 强调的是,人不再只负责某个狭窄环节,而是要和 AI、Agent、平台、资产一起,把业务问题构建成可运行的系统。至少会出现五类 Builder。Product Builder 来自产品经理,从需求管理者变成产品构建者,借助 AI 快速生成原型,甚至直接改简单前端。Application Builder 来自开发,是 Developer 演进的主方向,从写代码的人变成应用系统构建者,越来越全栈化,守护质量闭环。Agent Builder 不是写 Prompt 的人,而是建设智能体能力的人,设计 Agent 工作流、沉淀 Skill、管理记忆权限版本。Test Builder 从测试执行者变成质量基础设施构建者。Platform Builder 从平台支撑者变成组织能力构建者。需要强调,Builder 化不等于专家消失,架构、性能、安全、UX 这些 Expert 依然重要,只是从审批关口变成能力中心。一句话总结:Builder 负责交付闭环,Expert 负责能力沉淀和复杂性治理。</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角色变了,组织形态也必须变。如果还是传统职能墙,Builder 的能力发挥不出来,个人可以变快但组织仍然慢。未来的研发组织,逐步演进为三层。第一层是 FDE 团队,前置到业务。FDE 是 Fast Delivery Excellence 的缩写,由多个 3 到 5 人的小队组成,围绕需求澄清、快速原型、契约驱动开发、交付验收和价值反馈形成闭环,让业务变化快速变成可运行的软件变化。第二层是产品团队,面向业务应用,负责产品架构、代码复审、重构优化、技术债治理、版本发布,承担产品长期健康的责任——FDE 的快速修改不能停留在局部最优,产品团队负责复审、吸收、重构、熵减,把一线创新沉淀为产品能力。第三层是平台团队,提供底座能力,AI 平台、数据平台、知识平台、应用平台、工程平台,以工具、接口、Skill、规则、服务的方式提供出去,让组织不必在每个产品、每个小队重复建设底层。关键判断是:这三层不是上下级审批关系,而是基于资产和智能体协同的能力流动关系。FDE 是把个人提效转化为组织系统提效的组织载体。</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有了新角色和新组织,还需要新流程。AI 时代的流程,不能简单理解为需求从产品流向开发再流向测试发布。要允许前线更快探索,也要允许后线持续熵减。具体来说,FDE 团队前置到业务,围绕四大闭环快速推进,可以直接修改产品代码,必要时也可以修改平台代码,产品智能体和平台智能体参与评审但不是低风险探索的阻塞点。产品团队接收 FDE 的代码贡献和场景经验,做复审、重构、熵减、测试强化、产品化发布。平台团队接收平台改动和共性需求,复审、重构、优化、平台化发布,把共性能力沉淀成稳定底座,再推回产品团队和 FDE 使用。这就是一种内部开源式的流动机制:谁快速贡献,谁持续熵减,谁负责稳定复用。但这个流程跑得起来有一个前提:自动化测试必须足够强。只有测试、环境、数据、质量门禁可以自动化验证,产品团队和平台团队才敢对前线代码重构,FDE 才敢更快探索。这正是下一章 Harness 驾驭框架要解决的事。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下面进入第四章,四大场景方案。每个场景都是一个完整闭环,解决一个 AI 能切入的高价值环节。</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第一个场景,智能需求闭环。痛点很普遍:产品闭门写 PRD,进开发才发现接口不存在、数据结构不符、边界没想清,于是返工,排期延误。需求阶段的返工,是组织提效最大的隐形漏斗。看现状流程,产品写 PRD、评审、开发、发现问题、返工,问题总是到开发阶段才暴露。FarAI 改变了这个顺序,产品提需求后,编码 Agent 反读代码、接口、数据结构、历史需求和配置,然后反向提问,推动产品澄清边界、异常、权限和状态流。最终输出的是高质量 PRD、澄清问题清单、验收标准和需求契约。需求在进入开发前,就和真实系统发生了碰撞。</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FarAI 在这个场景提供四项能力:编码 Agent 反读代码库、自动识别需求缺陷、生成澄清问题清单、输出可验证的需求契约。价值上,需求返工率预计下降百分之四十到五十,需求一次澄清通过率预计提升两到三倍,更重要的是开发前消缺带来的隐形成本节省。需要说明的是,这些是预估值,可按客户实际业务量校准。</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第二个场景,智能交付闭环。这个痛点大家最有共鸣:工程师用 AI 写代码很快,但代码评审靠人肉,测试靠人工,环境数据靠手动准备,结果就是不敢快速合并、不敢重构、不敢频繁发布。交付闭环的核心是把质量内嵌在每一步。需求转 Spec,设计加编码,AI 加 Agent 协作,fullcheck 全量检查,CLI E2E 自动验证,AI 代码评审,最后是可发布版本。关键判断是,没有自动化安全网,AI 写得再快组织也不敢合并、重构、发布。Harness 先行,才能让组织敢于让 AI 高频自主。</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这个场景的能力都是 Harness 组件:fullcheck 全量检查、CLI E2E 自动化、AI 代码评审、架构规则 as Code、traceId 全链路追踪。价值上,返工和缺陷率预计下降百分之四十到六十,安全合并和重构吞吐预计提升三到五倍,而 AI 能承担的自主执行范围,会随安全网强度持续放大。</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第三个场景,智能知识底座。痛点是 Agent 拿不到准确上下文,老找错代码、误解业务。需求在 Confluence,设计在 Figma,代码在 Git,测试在 TestRail,契约在 Swagger,规则散落在文档里。Agent 检索只能靠关键词或向量相似度去猜,结果就是找错上下文、误解概念、遗漏约束,生成看似合理实则错误的方案。FarAI 的解法是三层资产结构:第一层底层工程资产,第二层用本体网络做语义连接,第三层是 Agent 记忆、Skill、Prompt 这些能力资产。不是堆更多文件,而是用本体网络把资产连起来。</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FarAI 在这个场景提供四项能力:本体网络做语义关联,知识联通底座结合语义检索、向量检索和代码引用,Agent 记忆结构化保存执行过程,经验进化底座让 Prompt、Skill、规则持续改进。价值上,上下文获取时效从分钟级降到秒级,知识资产复用率预计提升百分之五十以上。最关键的是 Agent 越用越准,组织经验持续进化成能力。</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第四个场景,智能治理与 FinOps。这里的痛点是两难加黑箱。两难是:不管,怕 AI 乱跑出事;管太死,每步人工审批,速度优势被抵消。黑箱是 Token 成本、模型调用成本、Agent 执行成本没有度量,"用了多少 AI"清楚,"带来什么收益"说不清。FarAI 的治理五步阶梯是:多层自动化测试作为安全网起点,AI 参与评审做前置发现,规则守护与熵减做技术债持续治理,风险分级加 Human-in-Loop 分级行权,最后是效能度量加 AI FinOps。核心原则是,不是让 AI 慢下来,而是让 AI 在可控边界内跑得更快。</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这个场景的能力包括风险分级行权、AI FinOps、效能度量、能力差异洞察。低风险 Agent 自主,中风险确认,高风险涉及资金、权限、隐私的必须人工把关。价值上,AI 投入产出可度量,高风险变更漏审风险预计下降百分之三十到五十,Token ROI 持续可视化。风险分级决定自主度,效能度量决定投入产出。</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下面进入第五章,工程底座。这一章主要给技术负责人,Harness 是 Agent 可控的前提,也是第三章新流程跑起来的自动化测试保障。</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Harness 一共九大组件,是驾驭 Agent 的工程抓手。第一,CLI Harness,CLI 化是基础,让 Agent 能调用代码。第二,fullcheck 全量检查,AI 改完即验证。第三,CLI E2E 端到端自动化。第四,Agent traceId,执行全链路可追踪。第五,Agent OS,Agent 的操作系统。第六,UI Harness,UI 自动化驾驭。第七,API Harness,接口契约可验证。第八,SOP Harness,高频任务沉淀成标准作业流程。第九,Harness flake,驾驭框架自身的稳定性治理。这九个组件,把"Agent 能跑"升级为"Agent 可控、可验证、可追溯"。</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Harness 先行原则是这一章的核心。正确顺序是三步:Harness 先建,Agent 在 Harness 内跑 Loop 和 Graph,Agent 的 feedback 反哺 Harness 持续强化。这样可控、可验证、可持续放大自主度。反过来,有两种典型反模式。一种是 Loop Engineering,先让 Agent 跑循环再补约束,结果循环失控,事故已经发生,补不回来。另一种是 Graph Engineering,先让 Agent 跑任务图再补治理,治理滞后于破坏。共性是顺序错了,后期补 Harness 成本极高。所以,先建安全网,再放大自主度。</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Harness 先行不是理论。我们看一组行业工程化实践的参考量级:百万行以上的单库规模,Agent 也能协同;代码 CLI 化率可以做到三成以上,意味着超过三分之一的代码 Agent 可直接调用;日均 Agent 协同提交可以做到三十次以上,这是人智协同密度的真实形态;而这一切靠的是九大 Harness 组件构成的驾驭框架。需要强调,这些是行业参考量级,不是对客户的承诺值,实际数值要按代码库和团队规模校准。</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最后进入第六章,价值、实施与保障。从试点到规模化的路径。</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FarAI 研发流水线的商业价值可以拆成四个维度。效率上,需求返工预计下降百分之四十到五十,安全合并吞吐预计提升三到五倍,个人变快升级为组织级系统提速。质量上,缺陷返工率预计下降百分之四十到六十,高风险漏审预计下降百分之三十到五十,Harness 安全网让 AI 改完即可验证。成本上,上下文获取从分钟级降到秒级,Token ROI 持续可视化。进化上,知识资产复用率预计提升百分之五十以上,Agent 越用越准,组织经验持续成能力。这些都是预估值,可按实际业务量校准。</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落地路径我们建议分六阶段。阶段零,启动前两到四周,选产品、建基线、定义风险边界。阶段一,M1 到 M2,工程底座试点,CLI 化、环境自动化、自动化测试补强、资产 Git 化。阶段二,M2 到 M4,产品 AI 小队,跑通 AI 快速原型、契约驱动交付、产品全栈协同,个人提效开始变成小队提效。阶段三,M3 到 M6,数据与知识试点,推进本体网络雏形。阶段四,M6 到 M9,FDE 小队试点,应用、数据、知识融合,人智协同平台开始发挥作用,从产品 AI 小队走向领域 FDE 小队。阶段五,M9 到 M18,组织架构转型,三层组织成型,治理和 ROI 制度化。核心原则是:每阶段沉淀五加二范式的一部分,试点有效再复制,不要先大规模改组织。</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为什么是法本?四重保障托底。能力底座,FarAI 全栈产品矩阵,自研 Agent 和 Skill 框架,本体网络与知识工程能力,Harness 工程方法论。交付经验,多行业研发组织落地,标准化实施方法论,试点到复制的成熟路径。安全合规,企业级数据安全,权限与审计,风险分级行权,支持私有化和国产化部署。生态合作,主流大模型集成,编码工具打通,DevOps 工具链接入,行业标杆客户协同。这四重保障,托底 FarAI 研发流水线的端到端落地。</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最后用一句话收尾:让 AI 在你的研发组织里,可控地跑起来。这就是 FarAI 研发流水线要做的事——个人提效,组织提效。感谢各位的聆听,期待与各位进一步交流。谢谢。</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381000"/>
            <a:ext cx="12382500" cy="7429500"/>
            <a:chOff x="0" y="-381000"/>
            <a:chExt cx="12382500" cy="7429500"/>
          </a:xfrm>
        </p:grpSpPr>
        <p:sp>
          <p:nvSpPr>
            <p:cNvPr id="2" name="Rectangle 2"/>
            <p:cNvSpPr/>
            <p:nvPr/>
          </p:nvSpPr>
          <p:spPr>
            <a:xfrm>
              <a:off x="0" y="0"/>
              <a:ext cx="12192000" cy="6858000"/>
            </a:xfrm>
            <a:prstGeom prst="rect">
              <a:avLst/>
            </a:prstGeom>
            <a:gradFill>
              <a:gsLst>
                <a:gs pos="0">
                  <a:srgbClr val="0A2A5E"/>
                </a:gs>
                <a:gs pos="55000">
                  <a:srgbClr val="0E367A"/>
                </a:gs>
                <a:gs pos="100000">
                  <a:srgbClr val="17365D"/>
                </a:gs>
              </a:gsLst>
              <a:lin ang="2700000" scaled="1"/>
            </a:gradFill>
            <a:ln>
              <a:noFill/>
            </a:ln>
          </p:spPr>
        </p:sp>
        <p:sp>
          <p:nvSpPr>
            <p:cNvPr id="3" name="Ellipse 3"/>
            <p:cNvSpPr/>
            <p:nvPr/>
          </p:nvSpPr>
          <p:spPr>
            <a:xfrm>
              <a:off x="8763000" y="-381000"/>
              <a:ext cx="3429000" cy="3429000"/>
            </a:xfrm>
            <a:prstGeom prst="ellipse">
              <a:avLst/>
            </a:prstGeom>
            <a:solidFill>
              <a:srgbClr val="246BFE">
                <a:alpha val="8000"/>
              </a:srgbClr>
            </a:solidFill>
            <a:ln>
              <a:noFill/>
            </a:ln>
          </p:spPr>
        </p:sp>
        <p:sp>
          <p:nvSpPr>
            <p:cNvPr id="4" name="Ellipse 4"/>
            <p:cNvSpPr/>
            <p:nvPr/>
          </p:nvSpPr>
          <p:spPr>
            <a:xfrm>
              <a:off x="10096500" y="4762500"/>
              <a:ext cx="2286000" cy="2286000"/>
            </a:xfrm>
            <a:prstGeom prst="ellipse">
              <a:avLst/>
            </a:prstGeom>
            <a:solidFill>
              <a:srgbClr val="518FEC">
                <a:alpha val="6000"/>
              </a:srgbClr>
            </a:solidFill>
            <a:ln>
              <a:noFill/>
            </a:ln>
          </p:spPr>
        </p:sp>
      </p:grpSp>
      <p:grpSp>
        <p:nvGrpSpPr>
          <p:cNvPr id="7" name="Group 7"/>
          <p:cNvGrpSpPr/>
          <p:nvPr/>
        </p:nvGrpSpPr>
        <p:grpSpPr>
          <a:xfrm>
            <a:off x="0" y="0"/>
            <a:ext cx="133350" cy="6858000"/>
            <a:chOff x="0" y="0"/>
            <a:chExt cx="133350" cy="6858000"/>
          </a:xfrm>
        </p:grpSpPr>
        <p:sp>
          <p:nvSpPr>
            <p:cNvPr id="6" name="Rectangle 6"/>
            <p:cNvSpPr/>
            <p:nvPr/>
          </p:nvSpPr>
          <p:spPr>
            <a:xfrm>
              <a:off x="0" y="0"/>
              <a:ext cx="133350" cy="6858000"/>
            </a:xfrm>
            <a:prstGeom prst="rect">
              <a:avLst/>
            </a:prstGeom>
            <a:gradFill>
              <a:gsLst>
                <a:gs pos="0">
                  <a:srgbClr val="246BFE"/>
                </a:gs>
                <a:gs pos="100000">
                  <a:srgbClr val="518FEC"/>
                </a:gs>
              </a:gsLst>
              <a:lin ang="0" scaled="1"/>
            </a:gradFill>
            <a:ln>
              <a:noFill/>
            </a:ln>
          </p:spPr>
        </p:sp>
      </p:grpSp>
      <p:grpSp>
        <p:nvGrpSpPr>
          <p:cNvPr id="20" name="Group 20"/>
          <p:cNvGrpSpPr/>
          <p:nvPr/>
        </p:nvGrpSpPr>
        <p:grpSpPr>
          <a:xfrm>
            <a:off x="944562" y="911225"/>
            <a:ext cx="3119803" cy="427037"/>
            <a:chOff x="944562" y="911225"/>
            <a:chExt cx="3119803" cy="427037"/>
          </a:xfrm>
        </p:grpSpPr>
        <p:grpSp>
          <p:nvGrpSpPr>
            <p:cNvPr id="17" name="Group 17"/>
            <p:cNvGrpSpPr/>
            <p:nvPr/>
          </p:nvGrpSpPr>
          <p:grpSpPr>
            <a:xfrm>
              <a:off x="944562" y="911225"/>
              <a:ext cx="244476" cy="331787"/>
              <a:chOff x="944562" y="911225"/>
              <a:chExt cx="244476" cy="331787"/>
            </a:xfrm>
          </p:grpSpPr>
          <p:sp>
            <p:nvSpPr>
              <p:cNvPr id="8" name="Freeform 8"/>
              <p:cNvSpPr/>
              <p:nvPr/>
            </p:nvSpPr>
            <p:spPr>
              <a:xfrm>
                <a:off x="962025" y="946150"/>
                <a:ext cx="209550" cy="139700"/>
              </a:xfrm>
              <a:custGeom>
                <a:avLst/>
                <a:gdLst/>
                <a:ahLst/>
                <a:cxnLst/>
                <a:rect l="l" t="t" r="r" b="b"/>
                <a:pathLst>
                  <a:path w="209550" h="139700">
                    <a:moveTo>
                      <a:pt x="0" y="34925"/>
                    </a:moveTo>
                    <a:cubicBezTo>
                      <a:pt x="0" y="15636"/>
                      <a:pt x="15636" y="0"/>
                      <a:pt x="34925" y="0"/>
                    </a:cubicBezTo>
                    <a:lnTo>
                      <a:pt x="174625" y="0"/>
                    </a:lnTo>
                    <a:cubicBezTo>
                      <a:pt x="193914" y="0"/>
                      <a:pt x="209550" y="15636"/>
                      <a:pt x="209550" y="34925"/>
                    </a:cubicBezTo>
                    <a:lnTo>
                      <a:pt x="209550" y="104775"/>
                    </a:lnTo>
                    <a:cubicBezTo>
                      <a:pt x="209550" y="124064"/>
                      <a:pt x="193914" y="139700"/>
                      <a:pt x="174625" y="139700"/>
                    </a:cubicBezTo>
                    <a:lnTo>
                      <a:pt x="34925" y="139700"/>
                    </a:lnTo>
                    <a:cubicBezTo>
                      <a:pt x="15636" y="139700"/>
                      <a:pt x="0" y="124064"/>
                      <a:pt x="0" y="104775"/>
                    </a:cubicBezTo>
                    <a:lnTo>
                      <a:pt x="0" y="34925"/>
                    </a:lnTo>
                  </a:path>
                </a:pathLst>
              </a:custGeom>
              <a:noFill/>
              <a:ln w="19050">
                <a:solidFill>
                  <a:srgbClr val="246BFE"/>
                </a:solidFill>
              </a:ln>
            </p:spPr>
          </p:sp>
          <p:sp>
            <p:nvSpPr>
              <p:cNvPr id="9" name="Freeform 9"/>
              <p:cNvSpPr/>
              <p:nvPr/>
            </p:nvSpPr>
            <p:spPr>
              <a:xfrm>
                <a:off x="1066800" y="911225"/>
                <a:ext cx="9525" cy="34925"/>
              </a:xfrm>
              <a:custGeom>
                <a:avLst/>
                <a:gdLst/>
                <a:ahLst/>
                <a:cxnLst/>
                <a:rect l="l" t="t" r="r" b="b"/>
                <a:pathLst>
                  <a:path w="9525" h="34925">
                    <a:moveTo>
                      <a:pt x="0" y="0"/>
                    </a:moveTo>
                    <a:lnTo>
                      <a:pt x="0" y="34925"/>
                    </a:lnTo>
                  </a:path>
                </a:pathLst>
              </a:custGeom>
              <a:noFill/>
              <a:ln w="19050">
                <a:solidFill>
                  <a:srgbClr val="246BFE"/>
                </a:solidFill>
              </a:ln>
            </p:spPr>
          </p:sp>
          <p:sp>
            <p:nvSpPr>
              <p:cNvPr id="10" name="Freeform 10"/>
              <p:cNvSpPr/>
              <p:nvPr/>
            </p:nvSpPr>
            <p:spPr>
              <a:xfrm>
                <a:off x="1014412" y="1085850"/>
                <a:ext cx="9525" cy="157162"/>
              </a:xfrm>
              <a:custGeom>
                <a:avLst/>
                <a:gdLst/>
                <a:ahLst/>
                <a:cxnLst/>
                <a:rect l="l" t="t" r="r" b="b"/>
                <a:pathLst>
                  <a:path w="9525" h="157162">
                    <a:moveTo>
                      <a:pt x="0" y="0"/>
                    </a:moveTo>
                    <a:lnTo>
                      <a:pt x="0" y="157162"/>
                    </a:lnTo>
                  </a:path>
                </a:pathLst>
              </a:custGeom>
              <a:noFill/>
              <a:ln w="19050">
                <a:solidFill>
                  <a:srgbClr val="246BFE"/>
                </a:solidFill>
              </a:ln>
            </p:spPr>
          </p:sp>
          <p:sp>
            <p:nvSpPr>
              <p:cNvPr id="11" name="Freeform 11"/>
              <p:cNvSpPr/>
              <p:nvPr/>
            </p:nvSpPr>
            <p:spPr>
              <a:xfrm>
                <a:off x="1119188" y="1085850"/>
                <a:ext cx="9525" cy="157162"/>
              </a:xfrm>
              <a:custGeom>
                <a:avLst/>
                <a:gdLst/>
                <a:ahLst/>
                <a:cxnLst/>
                <a:rect l="l" t="t" r="r" b="b"/>
                <a:pathLst>
                  <a:path w="9525" h="157162">
                    <a:moveTo>
                      <a:pt x="0" y="0"/>
                    </a:moveTo>
                    <a:lnTo>
                      <a:pt x="0" y="157162"/>
                    </a:lnTo>
                  </a:path>
                </a:pathLst>
              </a:custGeom>
              <a:noFill/>
              <a:ln w="19050">
                <a:solidFill>
                  <a:srgbClr val="246BFE"/>
                </a:solidFill>
              </a:ln>
            </p:spPr>
          </p:sp>
          <p:sp>
            <p:nvSpPr>
              <p:cNvPr id="12" name="Freeform 12"/>
              <p:cNvSpPr/>
              <p:nvPr/>
            </p:nvSpPr>
            <p:spPr>
              <a:xfrm>
                <a:off x="944562" y="1120775"/>
                <a:ext cx="69850" cy="34925"/>
              </a:xfrm>
              <a:custGeom>
                <a:avLst/>
                <a:gdLst/>
                <a:ahLst/>
                <a:cxnLst/>
                <a:rect l="l" t="t" r="r" b="b"/>
                <a:pathLst>
                  <a:path w="69850" h="34925">
                    <a:moveTo>
                      <a:pt x="0" y="34925"/>
                    </a:moveTo>
                    <a:lnTo>
                      <a:pt x="69850" y="0"/>
                    </a:lnTo>
                  </a:path>
                </a:pathLst>
              </a:custGeom>
              <a:noFill/>
              <a:ln w="19050">
                <a:solidFill>
                  <a:srgbClr val="246BFE"/>
                </a:solidFill>
              </a:ln>
            </p:spPr>
          </p:sp>
          <p:sp>
            <p:nvSpPr>
              <p:cNvPr id="13" name="Freeform 13"/>
              <p:cNvSpPr/>
              <p:nvPr/>
            </p:nvSpPr>
            <p:spPr>
              <a:xfrm>
                <a:off x="1119188" y="1120775"/>
                <a:ext cx="69850" cy="34925"/>
              </a:xfrm>
              <a:custGeom>
                <a:avLst/>
                <a:gdLst/>
                <a:ahLst/>
                <a:cxnLst/>
                <a:rect l="l" t="t" r="r" b="b"/>
                <a:pathLst>
                  <a:path w="69850" h="34925">
                    <a:moveTo>
                      <a:pt x="0" y="0"/>
                    </a:moveTo>
                    <a:lnTo>
                      <a:pt x="69850" y="34925"/>
                    </a:lnTo>
                  </a:path>
                </a:pathLst>
              </a:custGeom>
              <a:noFill/>
              <a:ln w="19050">
                <a:solidFill>
                  <a:srgbClr val="246BFE"/>
                </a:solidFill>
              </a:ln>
            </p:spPr>
          </p:sp>
          <p:sp>
            <p:nvSpPr>
              <p:cNvPr id="14" name="Freeform 14"/>
              <p:cNvSpPr/>
              <p:nvPr/>
            </p:nvSpPr>
            <p:spPr>
              <a:xfrm>
                <a:off x="1014412" y="1190625"/>
                <a:ext cx="104775" cy="9525"/>
              </a:xfrm>
              <a:custGeom>
                <a:avLst/>
                <a:gdLst/>
                <a:ahLst/>
                <a:cxnLst/>
                <a:rect l="l" t="t" r="r" b="b"/>
                <a:pathLst>
                  <a:path w="104775" h="9525">
                    <a:moveTo>
                      <a:pt x="0" y="0"/>
                    </a:moveTo>
                    <a:lnTo>
                      <a:pt x="104775" y="0"/>
                    </a:lnTo>
                  </a:path>
                </a:pathLst>
              </a:custGeom>
              <a:noFill/>
              <a:ln w="19050">
                <a:solidFill>
                  <a:srgbClr val="246BFE"/>
                </a:solidFill>
              </a:ln>
            </p:spPr>
          </p:sp>
          <p:sp>
            <p:nvSpPr>
              <p:cNvPr id="15" name="Freeform 15"/>
              <p:cNvSpPr/>
              <p:nvPr/>
            </p:nvSpPr>
            <p:spPr>
              <a:xfrm>
                <a:off x="1031875" y="1016000"/>
                <a:ext cx="9525" cy="9525"/>
              </a:xfrm>
              <a:custGeom>
                <a:avLst/>
                <a:gdLst/>
                <a:ahLst/>
                <a:cxnLst/>
                <a:rect l="l" t="t" r="r" b="b"/>
                <a:pathLst>
                  <a:path w="9525" h="9525">
                    <a:moveTo>
                      <a:pt x="0" y="0"/>
                    </a:moveTo>
                    <a:lnTo>
                      <a:pt x="0" y="175"/>
                    </a:lnTo>
                  </a:path>
                </a:pathLst>
              </a:custGeom>
              <a:noFill/>
              <a:ln w="19050">
                <a:solidFill>
                  <a:srgbClr val="246BFE"/>
                </a:solidFill>
              </a:ln>
            </p:spPr>
          </p:sp>
          <p:sp>
            <p:nvSpPr>
              <p:cNvPr id="16" name="Freeform 16"/>
              <p:cNvSpPr/>
              <p:nvPr/>
            </p:nvSpPr>
            <p:spPr>
              <a:xfrm>
                <a:off x="1101725" y="1016000"/>
                <a:ext cx="9525" cy="9525"/>
              </a:xfrm>
              <a:custGeom>
                <a:avLst/>
                <a:gdLst/>
                <a:ahLst/>
                <a:cxnLst/>
                <a:rect l="l" t="t" r="r" b="b"/>
                <a:pathLst>
                  <a:path w="9525" h="9525">
                    <a:moveTo>
                      <a:pt x="0" y="0"/>
                    </a:moveTo>
                    <a:lnTo>
                      <a:pt x="0" y="175"/>
                    </a:lnTo>
                  </a:path>
                </a:pathLst>
              </a:custGeom>
              <a:noFill/>
              <a:ln w="19050">
                <a:solidFill>
                  <a:srgbClr val="246BFE"/>
                </a:solidFill>
              </a:ln>
            </p:spPr>
          </p:sp>
        </p:grpSp>
        <p:sp>
          <p:nvSpPr>
            <p:cNvPr id="18" name="TextBox 18"/>
            <p:cNvSpPr txBox="1"/>
            <p:nvPr/>
          </p:nvSpPr>
          <p:spPr>
            <a:xfrm>
              <a:off x="1369695" y="1002982"/>
              <a:ext cx="619482" cy="335280"/>
            </a:xfrm>
            <a:prstGeom prst="rect">
              <a:avLst/>
            </a:prstGeom>
            <a:noFill/>
            <a:ln>
              <a:noFill/>
            </a:ln>
          </p:spPr>
          <p:txBody>
            <a:bodyPr wrap="none" lIns="0" tIns="0" rIns="0" bIns="0" anchor="t" anchorCtr="0">
              <a:spAutoFit/>
            </a:bodyPr>
            <a:lstStyle/>
            <a:p>
              <a:pPr algn="l"/>
              <a:r>
                <a:rPr lang="zh-CN" sz="1650" b="1" dirty="0">
                  <a:solidFill>
                    <a:srgbClr val="DCE6FB"/>
                  </a:solidFill>
                  <a:latin typeface="Arial"/>
                  <a:ea typeface="Microsoft YaHei"/>
                  <a:cs typeface="Arial"/>
                </a:rPr>
                <a:t>FarAI</a:t>
              </a:r>
            </a:p>
          </p:txBody>
        </p:sp>
        <p:sp>
          <p:nvSpPr>
            <p:cNvPr id="19" name="TextBox 19"/>
            <p:cNvSpPr txBox="1"/>
            <p:nvPr/>
          </p:nvSpPr>
          <p:spPr>
            <a:xfrm>
              <a:off x="2196465" y="1067752"/>
              <a:ext cx="1867900" cy="213360"/>
            </a:xfrm>
            <a:prstGeom prst="rect">
              <a:avLst/>
            </a:prstGeom>
            <a:noFill/>
            <a:ln>
              <a:noFill/>
            </a:ln>
          </p:spPr>
          <p:txBody>
            <a:bodyPr wrap="none" lIns="0" tIns="0" rIns="0" bIns="0" anchor="t" anchorCtr="0">
              <a:spAutoFit/>
            </a:bodyPr>
            <a:lstStyle/>
            <a:p>
              <a:pPr algn="l"/>
              <a:r>
                <a:rPr lang="zh-CN" sz="1050" dirty="0">
                  <a:solidFill>
                    <a:srgbClr val="8FA3C4"/>
                  </a:solidFill>
                  <a:latin typeface="Arial"/>
                  <a:ea typeface="Microsoft YaHei"/>
                  <a:cs typeface="Arial"/>
                </a:rPr>
                <a:t>法本信息 · 人智协同研发平台</a:t>
              </a:r>
            </a:p>
          </p:txBody>
        </p:sp>
      </p:grpSp>
      <p:grpSp>
        <p:nvGrpSpPr>
          <p:cNvPr id="24" name="Group 24"/>
          <p:cNvGrpSpPr/>
          <p:nvPr/>
        </p:nvGrpSpPr>
        <p:grpSpPr>
          <a:xfrm>
            <a:off x="803910" y="2880360"/>
            <a:ext cx="5590794" cy="1386840"/>
            <a:chOff x="803910" y="2880360"/>
            <a:chExt cx="5590794" cy="1386840"/>
          </a:xfrm>
        </p:grpSpPr>
        <p:sp>
          <p:nvSpPr>
            <p:cNvPr id="21" name="TextBox 21"/>
            <p:cNvSpPr txBox="1"/>
            <p:nvPr/>
          </p:nvSpPr>
          <p:spPr>
            <a:xfrm>
              <a:off x="803910" y="2880360"/>
              <a:ext cx="4693653" cy="853440"/>
            </a:xfrm>
            <a:prstGeom prst="rect">
              <a:avLst/>
            </a:prstGeom>
            <a:noFill/>
            <a:ln>
              <a:noFill/>
            </a:ln>
          </p:spPr>
          <p:txBody>
            <a:bodyPr wrap="none" lIns="0" tIns="0" rIns="0" bIns="0" anchor="t" anchorCtr="0">
              <a:spAutoFit/>
            </a:bodyPr>
            <a:lstStyle/>
            <a:p>
              <a:pPr algn="l"/>
              <a:r>
                <a:rPr lang="zh-CN" sz="4200" b="1" dirty="0">
                  <a:solidFill>
                    <a:srgbClr val="FFFFFF"/>
                  </a:solidFill>
                  <a:latin typeface="Arial"/>
                  <a:ea typeface="Microsoft YaHei"/>
                  <a:cs typeface="Arial"/>
                </a:rPr>
                <a:t>FarAI 研发流水线</a:t>
              </a:r>
            </a:p>
          </p:txBody>
        </p:sp>
        <p:sp>
          <p:nvSpPr>
            <p:cNvPr id="22" name="TextBox 22"/>
            <p:cNvSpPr txBox="1"/>
            <p:nvPr/>
          </p:nvSpPr>
          <p:spPr>
            <a:xfrm>
              <a:off x="832485" y="3694748"/>
              <a:ext cx="5562219"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让</a:t>
              </a:r>
              <a:r>
                <a:rPr lang="zh-CN" sz="1950" b="1" dirty="0">
                  <a:solidFill>
                    <a:srgbClr val="FFFFFF"/>
                  </a:solidFill>
                  <a:latin typeface="Arial"/>
                  <a:ea typeface="Microsoft YaHei"/>
                  <a:cs typeface="Arial"/>
                </a:rPr>
                <a:t>"个人用 AI 变快"</a:t>
              </a:r>
              <a:r>
                <a:rPr lang="zh-CN" sz="1950" dirty="0">
                  <a:solidFill>
                    <a:srgbClr val="B8C7E0"/>
                  </a:solidFill>
                  <a:latin typeface="Arial"/>
                  <a:ea typeface="Microsoft YaHei"/>
                  <a:cs typeface="Arial"/>
                </a:rPr>
                <a:t>,真正变成</a:t>
              </a:r>
              <a:r>
                <a:rPr lang="zh-CN" sz="1950" b="1" dirty="0">
                  <a:solidFill>
                    <a:srgbClr val="FFFFFF"/>
                  </a:solidFill>
                  <a:latin typeface="Arial"/>
                  <a:ea typeface="Microsoft YaHei"/>
                  <a:cs typeface="Arial"/>
                </a:rPr>
                <a:t>"组织级系统提速"</a:t>
              </a:r>
            </a:p>
          </p:txBody>
        </p:sp>
        <p:sp>
          <p:nvSpPr>
            <p:cNvPr id="23" name="Rectangle 23"/>
            <p:cNvSpPr/>
            <p:nvPr/>
          </p:nvSpPr>
          <p:spPr>
            <a:xfrm>
              <a:off x="857250" y="4229100"/>
              <a:ext cx="762000" cy="38100"/>
            </a:xfrm>
            <a:prstGeom prst="roundRect">
              <a:avLst>
                <a:gd name="adj" fmla="val 50000"/>
              </a:avLst>
            </a:prstGeom>
            <a:solidFill>
              <a:srgbClr val="246BFE"/>
            </a:solidFill>
            <a:ln>
              <a:noFill/>
            </a:ln>
          </p:spPr>
        </p:sp>
      </p:grpSp>
      <p:grpSp>
        <p:nvGrpSpPr>
          <p:cNvPr id="33" name="Group 33"/>
          <p:cNvGrpSpPr/>
          <p:nvPr/>
        </p:nvGrpSpPr>
        <p:grpSpPr>
          <a:xfrm>
            <a:off x="857250" y="4667250"/>
            <a:ext cx="6438900" cy="381000"/>
            <a:chOff x="857250" y="4667250"/>
            <a:chExt cx="6438900" cy="381000"/>
          </a:xfrm>
        </p:grpSpPr>
        <p:sp>
          <p:nvSpPr>
            <p:cNvPr id="25" name="Rectangle 25"/>
            <p:cNvSpPr/>
            <p:nvPr/>
          </p:nvSpPr>
          <p:spPr>
            <a:xfrm>
              <a:off x="857250" y="4667250"/>
              <a:ext cx="1524000" cy="381000"/>
            </a:xfrm>
            <a:prstGeom prst="roundRect">
              <a:avLst>
                <a:gd name="adj" fmla="val 50000"/>
              </a:avLst>
            </a:prstGeom>
            <a:solidFill>
              <a:srgbClr val="FFFFFF">
                <a:alpha val="8000"/>
              </a:srgbClr>
            </a:solidFill>
            <a:ln>
              <a:noFill/>
            </a:ln>
          </p:spPr>
        </p:sp>
        <p:sp>
          <p:nvSpPr>
            <p:cNvPr id="26" name="TextBox 26"/>
            <p:cNvSpPr txBox="1"/>
            <p:nvPr/>
          </p:nvSpPr>
          <p:spPr>
            <a:xfrm>
              <a:off x="1123950" y="4785360"/>
              <a:ext cx="990600"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驾驭框架先行</a:t>
              </a:r>
            </a:p>
          </p:txBody>
        </p:sp>
        <p:sp>
          <p:nvSpPr>
            <p:cNvPr id="27" name="Rectangle 27"/>
            <p:cNvSpPr/>
            <p:nvPr/>
          </p:nvSpPr>
          <p:spPr>
            <a:xfrm>
              <a:off x="2495550" y="4667250"/>
              <a:ext cx="1524000" cy="381000"/>
            </a:xfrm>
            <a:prstGeom prst="roundRect">
              <a:avLst>
                <a:gd name="adj" fmla="val 50000"/>
              </a:avLst>
            </a:prstGeom>
            <a:solidFill>
              <a:srgbClr val="FFFFFF">
                <a:alpha val="8000"/>
              </a:srgbClr>
            </a:solidFill>
            <a:ln>
              <a:noFill/>
            </a:ln>
          </p:spPr>
        </p:sp>
        <p:sp>
          <p:nvSpPr>
            <p:cNvPr id="28" name="TextBox 28"/>
            <p:cNvSpPr txBox="1"/>
            <p:nvPr/>
          </p:nvSpPr>
          <p:spPr>
            <a:xfrm>
              <a:off x="2842260" y="4785360"/>
              <a:ext cx="830580"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四闭环工艺</a:t>
              </a:r>
            </a:p>
          </p:txBody>
        </p:sp>
        <p:sp>
          <p:nvSpPr>
            <p:cNvPr id="29" name="Rectangle 29"/>
            <p:cNvSpPr/>
            <p:nvPr/>
          </p:nvSpPr>
          <p:spPr>
            <a:xfrm>
              <a:off x="4133850" y="4667250"/>
              <a:ext cx="1524000" cy="381000"/>
            </a:xfrm>
            <a:prstGeom prst="roundRect">
              <a:avLst>
                <a:gd name="adj" fmla="val 50000"/>
              </a:avLst>
            </a:prstGeom>
            <a:solidFill>
              <a:srgbClr val="FFFFFF">
                <a:alpha val="8000"/>
              </a:srgbClr>
            </a:solidFill>
            <a:ln>
              <a:noFill/>
            </a:ln>
          </p:spPr>
        </p:sp>
        <p:sp>
          <p:nvSpPr>
            <p:cNvPr id="30" name="TextBox 30"/>
            <p:cNvSpPr txBox="1"/>
            <p:nvPr/>
          </p:nvSpPr>
          <p:spPr>
            <a:xfrm>
              <a:off x="4480560" y="4785360"/>
              <a:ext cx="830580"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先建安全网</a:t>
              </a:r>
            </a:p>
          </p:txBody>
        </p:sp>
        <p:sp>
          <p:nvSpPr>
            <p:cNvPr id="31" name="Rectangle 31"/>
            <p:cNvSpPr/>
            <p:nvPr/>
          </p:nvSpPr>
          <p:spPr>
            <a:xfrm>
              <a:off x="5772150" y="4667250"/>
              <a:ext cx="1524000" cy="381000"/>
            </a:xfrm>
            <a:prstGeom prst="roundRect">
              <a:avLst>
                <a:gd name="adj" fmla="val 50000"/>
              </a:avLst>
            </a:prstGeom>
            <a:solidFill>
              <a:srgbClr val="FFFFFF">
                <a:alpha val="8000"/>
              </a:srgbClr>
            </a:solidFill>
            <a:ln>
              <a:noFill/>
            </a:ln>
          </p:spPr>
        </p:sp>
        <p:sp>
          <p:nvSpPr>
            <p:cNvPr id="32" name="TextBox 32"/>
            <p:cNvSpPr txBox="1"/>
            <p:nvPr/>
          </p:nvSpPr>
          <p:spPr>
            <a:xfrm>
              <a:off x="6038850" y="4785360"/>
              <a:ext cx="990600"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再放大自主度</a:t>
              </a:r>
            </a:p>
          </p:txBody>
        </p:sp>
      </p:grpSp>
      <p:grpSp>
        <p:nvGrpSpPr>
          <p:cNvPr id="36" name="Group 36"/>
          <p:cNvGrpSpPr/>
          <p:nvPr/>
        </p:nvGrpSpPr>
        <p:grpSpPr>
          <a:xfrm>
            <a:off x="842010" y="6156960"/>
            <a:ext cx="10506075" cy="243840"/>
            <a:chOff x="842010" y="6156960"/>
            <a:chExt cx="10506075" cy="243840"/>
          </a:xfrm>
        </p:grpSpPr>
        <p:sp>
          <p:nvSpPr>
            <p:cNvPr id="34" name="TextBox 34"/>
            <p:cNvSpPr txBox="1"/>
            <p:nvPr/>
          </p:nvSpPr>
          <p:spPr>
            <a:xfrm>
              <a:off x="842010" y="6156960"/>
              <a:ext cx="1782699"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法本信息 Farben · 2026</a:t>
              </a:r>
            </a:p>
          </p:txBody>
        </p:sp>
        <p:sp>
          <p:nvSpPr>
            <p:cNvPr id="35" name="TextBox 35"/>
            <p:cNvSpPr txBox="1"/>
            <p:nvPr/>
          </p:nvSpPr>
          <p:spPr>
            <a:xfrm>
              <a:off x="9760220" y="6173152"/>
              <a:ext cx="1587865" cy="213360"/>
            </a:xfrm>
            <a:prstGeom prst="rect">
              <a:avLst/>
            </a:prstGeom>
            <a:noFill/>
            <a:ln>
              <a:noFill/>
            </a:ln>
          </p:spPr>
          <p:txBody>
            <a:bodyPr wrap="none" lIns="0" tIns="0" rIns="0" bIns="0" anchor="t" anchorCtr="0">
              <a:spAutoFit/>
            </a:bodyPr>
            <a:lstStyle/>
            <a:p>
              <a:pPr algn="r"/>
              <a:r>
                <a:rPr lang="zh-CN" sz="1050" dirty="0">
                  <a:solidFill>
                    <a:srgbClr val="8FA3C4"/>
                  </a:solidFill>
                  <a:latin typeface="Arial"/>
                  <a:ea typeface="Microsoft YaHei"/>
                  <a:cs typeface="Arial"/>
                </a:rPr>
                <a:t>售前方案 · 面向研发组织</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4" grpId="0"/>
      <p:bldP spid="3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3425" y="609600"/>
            <a:ext cx="5129284" cy="838200"/>
            <a:chOff x="733425" y="609600"/>
            <a:chExt cx="5129284" cy="838200"/>
          </a:xfrm>
        </p:grpSpPr>
        <p:sp>
          <p:nvSpPr>
            <p:cNvPr id="3" name="Rectangle 3"/>
            <p:cNvSpPr/>
            <p:nvPr/>
          </p:nvSpPr>
          <p:spPr>
            <a:xfrm>
              <a:off x="762000" y="609600"/>
              <a:ext cx="533400" cy="57150"/>
            </a:xfrm>
            <a:prstGeom prst="roundRect">
              <a:avLst>
                <a:gd name="adj" fmla="val 50000"/>
              </a:avLst>
            </a:prstGeom>
            <a:solidFill>
              <a:srgbClr val="0052A6"/>
            </a:solidFill>
            <a:ln>
              <a:noFill/>
            </a:ln>
          </p:spPr>
        </p:sp>
        <p:sp>
          <p:nvSpPr>
            <p:cNvPr id="4" name="TextBox 4"/>
            <p:cNvSpPr txBox="1"/>
            <p:nvPr/>
          </p:nvSpPr>
          <p:spPr>
            <a:xfrm>
              <a:off x="733425" y="785812"/>
              <a:ext cx="5129284" cy="457200"/>
            </a:xfrm>
            <a:prstGeom prst="rect">
              <a:avLst/>
            </a:prstGeom>
            <a:noFill/>
            <a:ln>
              <a:noFill/>
            </a:ln>
          </p:spPr>
          <p:txBody>
            <a:bodyPr wrap="none" lIns="0" tIns="0" rIns="0" bIns="0" anchor="t" anchorCtr="0">
              <a:spAutoFit/>
            </a:bodyPr>
            <a:lstStyle/>
            <a:p>
              <a:pPr algn="l"/>
              <a:r>
                <a:rPr lang="zh-CN" sz="2250" b="1" dirty="0">
                  <a:solidFill>
                    <a:srgbClr val="25364A"/>
                  </a:solidFill>
                  <a:latin typeface="Arial"/>
                  <a:ea typeface="Microsoft YaHei"/>
                  <a:cs typeface="Arial"/>
                </a:rPr>
                <a:t>六章构成"从悖论到落地"的完整叙事</a:t>
              </a:r>
            </a:p>
          </p:txBody>
        </p:sp>
        <p:sp>
          <p:nvSpPr>
            <p:cNvPr id="5" name="TextBox 5"/>
            <p:cNvSpPr txBox="1"/>
            <p:nvPr/>
          </p:nvSpPr>
          <p:spPr>
            <a:xfrm>
              <a:off x="746760" y="1203960"/>
              <a:ext cx="3510915" cy="243840"/>
            </a:xfrm>
            <a:prstGeom prst="rect">
              <a:avLst/>
            </a:prstGeom>
            <a:noFill/>
            <a:ln>
              <a:noFill/>
            </a:ln>
          </p:spPr>
          <p:txBody>
            <a:bodyPr wrap="none" lIns="0" tIns="0" rIns="0" bIns="0" anchor="t" anchorCtr="0">
              <a:spAutoFit/>
            </a:bodyPr>
            <a:lstStyle/>
            <a:p>
              <a:pPr algn="l"/>
              <a:r>
                <a:rPr lang="zh-CN" sz="1200" dirty="0">
                  <a:solidFill>
                    <a:srgbClr val="6B7785"/>
                  </a:solidFill>
                  <a:latin typeface="Arial"/>
                  <a:ea typeface="Microsoft YaHei"/>
                  <a:cs typeface="Arial"/>
                </a:rPr>
                <a:t>命题 → 平台 → 组织 → 场景 → 工程底座 → 价值实施</a:t>
              </a:r>
            </a:p>
          </p:txBody>
        </p:sp>
      </p:grpSp>
      <p:grpSp>
        <p:nvGrpSpPr>
          <p:cNvPr id="18" name="Group 18"/>
          <p:cNvGrpSpPr/>
          <p:nvPr/>
        </p:nvGrpSpPr>
        <p:grpSpPr>
          <a:xfrm>
            <a:off x="762000" y="1714500"/>
            <a:ext cx="1733550" cy="4381500"/>
            <a:chOff x="762000" y="1714500"/>
            <a:chExt cx="1733550" cy="4381500"/>
          </a:xfrm>
        </p:grpSpPr>
        <p:sp>
          <p:nvSpPr>
            <p:cNvPr id="7" name="Rectangle 7"/>
            <p:cNvSpPr/>
            <p:nvPr/>
          </p:nvSpPr>
          <p:spPr>
            <a:xfrm>
              <a:off x="762000" y="1714500"/>
              <a:ext cx="1733550" cy="4381500"/>
            </a:xfrm>
            <a:prstGeom prst="roundRect">
              <a:avLst>
                <a:gd name="adj" fmla="val 7692"/>
              </a:avLst>
            </a:prstGeom>
            <a:solidFill>
              <a:srgbClr val="F4F7FC"/>
            </a:solidFill>
            <a:ln>
              <a:noFill/>
            </a:ln>
          </p:spPr>
        </p:sp>
        <p:sp>
          <p:nvSpPr>
            <p:cNvPr id="8" name="Rectangle 8"/>
            <p:cNvSpPr/>
            <p:nvPr/>
          </p:nvSpPr>
          <p:spPr>
            <a:xfrm>
              <a:off x="762000" y="1714500"/>
              <a:ext cx="1733550" cy="533400"/>
            </a:xfrm>
            <a:prstGeom prst="roundRect">
              <a:avLst>
                <a:gd name="adj" fmla="val 25000"/>
              </a:avLst>
            </a:prstGeom>
            <a:solidFill>
              <a:srgbClr val="0052A6"/>
            </a:solidFill>
            <a:ln>
              <a:noFill/>
            </a:ln>
          </p:spPr>
        </p:sp>
        <p:sp>
          <p:nvSpPr>
            <p:cNvPr id="9" name="Rectangle 9"/>
            <p:cNvSpPr/>
            <p:nvPr/>
          </p:nvSpPr>
          <p:spPr>
            <a:xfrm>
              <a:off x="762000" y="1981200"/>
              <a:ext cx="1733550" cy="266700"/>
            </a:xfrm>
            <a:prstGeom prst="rect">
              <a:avLst/>
            </a:prstGeom>
            <a:solidFill>
              <a:srgbClr val="0052A6"/>
            </a:solidFill>
            <a:ln>
              <a:noFill/>
            </a:ln>
          </p:spPr>
        </p:sp>
        <p:sp>
          <p:nvSpPr>
            <p:cNvPr id="10" name="TextBox 10"/>
            <p:cNvSpPr txBox="1"/>
            <p:nvPr/>
          </p:nvSpPr>
          <p:spPr>
            <a:xfrm>
              <a:off x="920115" y="1782128"/>
              <a:ext cx="457519" cy="518160"/>
            </a:xfrm>
            <a:prstGeom prst="rect">
              <a:avLst/>
            </a:prstGeom>
            <a:noFill/>
            <a:ln>
              <a:noFill/>
            </a:ln>
          </p:spPr>
          <p:txBody>
            <a:bodyPr wrap="none" lIns="0" tIns="0" rIns="0" bIns="0" anchor="t" anchorCtr="0">
              <a:spAutoFit/>
            </a:bodyPr>
            <a:lstStyle/>
            <a:p>
              <a:pPr algn="l"/>
              <a:r>
                <a:rPr lang="zh-CN" sz="2550" b="1" dirty="0">
                  <a:solidFill>
                    <a:srgbClr val="FFFFFF"/>
                  </a:solidFill>
                  <a:latin typeface="Arial"/>
                  <a:ea typeface="Microsoft YaHei"/>
                  <a:cs typeface="Arial"/>
                </a:rPr>
                <a:t>01</a:t>
              </a:r>
            </a:p>
          </p:txBody>
        </p:sp>
        <p:sp>
          <p:nvSpPr>
            <p:cNvPr id="11" name="TextBox 11"/>
            <p:cNvSpPr txBox="1"/>
            <p:nvPr/>
          </p:nvSpPr>
          <p:spPr>
            <a:xfrm>
              <a:off x="935355" y="2502218"/>
              <a:ext cx="790384" cy="274320"/>
            </a:xfrm>
            <a:prstGeom prst="rect">
              <a:avLst/>
            </a:prstGeom>
            <a:noFill/>
            <a:ln>
              <a:noFill/>
            </a:ln>
          </p:spPr>
          <p:txBody>
            <a:bodyPr wrap="none" lIns="0" tIns="0" rIns="0" bIns="0" anchor="t" anchorCtr="0">
              <a:spAutoFit/>
            </a:bodyPr>
            <a:lstStyle/>
            <a:p>
              <a:pPr algn="l"/>
              <a:r>
                <a:rPr lang="zh-CN" sz="1350" b="1" dirty="0">
                  <a:solidFill>
                    <a:srgbClr val="0052A6"/>
                  </a:solidFill>
                  <a:latin typeface="Arial"/>
                  <a:ea typeface="Microsoft YaHei"/>
                  <a:cs typeface="Arial"/>
                </a:rPr>
                <a:t>核心命题</a:t>
              </a:r>
            </a:p>
          </p:txBody>
        </p:sp>
        <p:sp>
          <p:nvSpPr>
            <p:cNvPr id="12" name="TextBox 12"/>
            <p:cNvSpPr txBox="1"/>
            <p:nvPr/>
          </p:nvSpPr>
          <p:spPr>
            <a:xfrm>
              <a:off x="940118" y="2828449"/>
              <a:ext cx="1136404"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个人提效≠组织提效</a:t>
              </a:r>
            </a:p>
          </p:txBody>
        </p:sp>
        <p:sp>
          <p:nvSpPr>
            <p:cNvPr id="13" name="Line 13"/>
            <p:cNvSpPr/>
            <p:nvPr/>
          </p:nvSpPr>
          <p:spPr>
            <a:xfrm>
              <a:off x="952500" y="3124200"/>
              <a:ext cx="1352550" cy="9525"/>
            </a:xfrm>
            <a:custGeom>
              <a:avLst/>
              <a:gdLst/>
              <a:ahLst/>
              <a:cxnLst/>
              <a:rect l="l" t="t" r="r" b="b"/>
              <a:pathLst>
                <a:path w="1352550" h="9525">
                  <a:moveTo>
                    <a:pt x="0" y="0"/>
                  </a:moveTo>
                  <a:lnTo>
                    <a:pt x="1352550" y="0"/>
                  </a:lnTo>
                </a:path>
              </a:pathLst>
            </a:custGeom>
            <a:noFill/>
            <a:ln w="9525">
              <a:solidFill>
                <a:srgbClr val="E3E9F2"/>
              </a:solidFill>
            </a:ln>
          </p:spPr>
        </p:sp>
        <p:sp>
          <p:nvSpPr>
            <p:cNvPr id="14" name="TextBox 14"/>
            <p:cNvSpPr txBox="1"/>
            <p:nvPr/>
          </p:nvSpPr>
          <p:spPr>
            <a:xfrm>
              <a:off x="941070" y="335089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核心悖论</a:t>
              </a:r>
            </a:p>
          </p:txBody>
        </p:sp>
        <p:sp>
          <p:nvSpPr>
            <p:cNvPr id="15" name="TextBox 15"/>
            <p:cNvSpPr txBox="1"/>
            <p:nvPr/>
          </p:nvSpPr>
          <p:spPr>
            <a:xfrm>
              <a:off x="941070" y="356044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根因剖析</a:t>
              </a:r>
            </a:p>
          </p:txBody>
        </p:sp>
        <p:sp>
          <p:nvSpPr>
            <p:cNvPr id="16" name="TextBox 16"/>
            <p:cNvSpPr txBox="1"/>
            <p:nvPr/>
          </p:nvSpPr>
          <p:spPr>
            <a:xfrm>
              <a:off x="941070" y="3769995"/>
              <a:ext cx="700945"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FarAI 回答</a:t>
              </a:r>
            </a:p>
          </p:txBody>
        </p:sp>
        <p:sp>
          <p:nvSpPr>
            <p:cNvPr id="17" name="TextBox 17"/>
            <p:cNvSpPr txBox="1"/>
            <p:nvPr/>
          </p:nvSpPr>
          <p:spPr>
            <a:xfrm>
              <a:off x="941070" y="5732145"/>
              <a:ext cx="55692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P03 — P06</a:t>
              </a:r>
            </a:p>
          </p:txBody>
        </p:sp>
      </p:grpSp>
      <p:grpSp>
        <p:nvGrpSpPr>
          <p:cNvPr id="29" name="Group 29"/>
          <p:cNvGrpSpPr/>
          <p:nvPr/>
        </p:nvGrpSpPr>
        <p:grpSpPr>
          <a:xfrm>
            <a:off x="2647950" y="1714500"/>
            <a:ext cx="1733550" cy="4381500"/>
            <a:chOff x="2647950" y="1714500"/>
            <a:chExt cx="1733550" cy="4381500"/>
          </a:xfrm>
        </p:grpSpPr>
        <p:sp>
          <p:nvSpPr>
            <p:cNvPr id="19" name="Rectangle 19"/>
            <p:cNvSpPr/>
            <p:nvPr/>
          </p:nvSpPr>
          <p:spPr>
            <a:xfrm>
              <a:off x="2647950" y="1714500"/>
              <a:ext cx="1733550" cy="4381500"/>
            </a:xfrm>
            <a:prstGeom prst="roundRect">
              <a:avLst>
                <a:gd name="adj" fmla="val 7692"/>
              </a:avLst>
            </a:prstGeom>
            <a:solidFill>
              <a:srgbClr val="F4F7FC"/>
            </a:solidFill>
            <a:ln>
              <a:noFill/>
            </a:ln>
          </p:spPr>
        </p:sp>
        <p:sp>
          <p:nvSpPr>
            <p:cNvPr id="20" name="Rectangle 20"/>
            <p:cNvSpPr/>
            <p:nvPr/>
          </p:nvSpPr>
          <p:spPr>
            <a:xfrm>
              <a:off x="2647950" y="1714500"/>
              <a:ext cx="1733550" cy="533400"/>
            </a:xfrm>
            <a:prstGeom prst="roundRect">
              <a:avLst>
                <a:gd name="adj" fmla="val 25000"/>
              </a:avLst>
            </a:prstGeom>
            <a:solidFill>
              <a:srgbClr val="246BFE"/>
            </a:solidFill>
            <a:ln>
              <a:noFill/>
            </a:ln>
          </p:spPr>
        </p:sp>
        <p:sp>
          <p:nvSpPr>
            <p:cNvPr id="21" name="Rectangle 21"/>
            <p:cNvSpPr/>
            <p:nvPr/>
          </p:nvSpPr>
          <p:spPr>
            <a:xfrm>
              <a:off x="2647950" y="1981200"/>
              <a:ext cx="1733550" cy="266700"/>
            </a:xfrm>
            <a:prstGeom prst="rect">
              <a:avLst/>
            </a:prstGeom>
            <a:solidFill>
              <a:srgbClr val="246BFE"/>
            </a:solidFill>
            <a:ln>
              <a:noFill/>
            </a:ln>
          </p:spPr>
        </p:sp>
        <p:sp>
          <p:nvSpPr>
            <p:cNvPr id="22" name="TextBox 22"/>
            <p:cNvSpPr txBox="1"/>
            <p:nvPr/>
          </p:nvSpPr>
          <p:spPr>
            <a:xfrm>
              <a:off x="2806065" y="1782128"/>
              <a:ext cx="457519" cy="518160"/>
            </a:xfrm>
            <a:prstGeom prst="rect">
              <a:avLst/>
            </a:prstGeom>
            <a:noFill/>
            <a:ln>
              <a:noFill/>
            </a:ln>
          </p:spPr>
          <p:txBody>
            <a:bodyPr wrap="none" lIns="0" tIns="0" rIns="0" bIns="0" anchor="t" anchorCtr="0">
              <a:spAutoFit/>
            </a:bodyPr>
            <a:lstStyle/>
            <a:p>
              <a:pPr algn="l"/>
              <a:r>
                <a:rPr lang="zh-CN" sz="2550" b="1" dirty="0">
                  <a:solidFill>
                    <a:srgbClr val="FFFFFF"/>
                  </a:solidFill>
                  <a:latin typeface="Arial"/>
                  <a:ea typeface="Microsoft YaHei"/>
                  <a:cs typeface="Arial"/>
                </a:rPr>
                <a:t>02</a:t>
              </a:r>
            </a:p>
          </p:txBody>
        </p:sp>
        <p:sp>
          <p:nvSpPr>
            <p:cNvPr id="23" name="TextBox 23"/>
            <p:cNvSpPr txBox="1"/>
            <p:nvPr/>
          </p:nvSpPr>
          <p:spPr>
            <a:xfrm>
              <a:off x="2821305" y="2502218"/>
              <a:ext cx="790384" cy="274320"/>
            </a:xfrm>
            <a:prstGeom prst="rect">
              <a:avLst/>
            </a:prstGeom>
            <a:noFill/>
            <a:ln>
              <a:noFill/>
            </a:ln>
          </p:spPr>
          <p:txBody>
            <a:bodyPr wrap="none" lIns="0" tIns="0" rIns="0" bIns="0" anchor="t" anchorCtr="0">
              <a:spAutoFit/>
            </a:bodyPr>
            <a:lstStyle/>
            <a:p>
              <a:pPr algn="l"/>
              <a:r>
                <a:rPr lang="zh-CN" sz="1350" b="1" dirty="0">
                  <a:solidFill>
                    <a:srgbClr val="246BFE"/>
                  </a:solidFill>
                  <a:latin typeface="Arial"/>
                  <a:ea typeface="Microsoft YaHei"/>
                  <a:cs typeface="Arial"/>
                </a:rPr>
                <a:t>产品全景</a:t>
              </a:r>
            </a:p>
          </p:txBody>
        </p:sp>
        <p:sp>
          <p:nvSpPr>
            <p:cNvPr id="24" name="TextBox 24"/>
            <p:cNvSpPr txBox="1"/>
            <p:nvPr/>
          </p:nvSpPr>
          <p:spPr>
            <a:xfrm>
              <a:off x="2826068" y="2828449"/>
              <a:ext cx="103889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FarAI 研发流水线</a:t>
              </a:r>
            </a:p>
          </p:txBody>
        </p:sp>
        <p:sp>
          <p:nvSpPr>
            <p:cNvPr id="25" name="Line 25"/>
            <p:cNvSpPr/>
            <p:nvPr/>
          </p:nvSpPr>
          <p:spPr>
            <a:xfrm>
              <a:off x="2838450" y="3124200"/>
              <a:ext cx="1352550" cy="9525"/>
            </a:xfrm>
            <a:custGeom>
              <a:avLst/>
              <a:gdLst/>
              <a:ahLst/>
              <a:cxnLst/>
              <a:rect l="l" t="t" r="r" b="b"/>
              <a:pathLst>
                <a:path w="1352550" h="9525">
                  <a:moveTo>
                    <a:pt x="0" y="0"/>
                  </a:moveTo>
                  <a:lnTo>
                    <a:pt x="1352550" y="0"/>
                  </a:lnTo>
                </a:path>
              </a:pathLst>
            </a:custGeom>
            <a:noFill/>
            <a:ln w="9525">
              <a:solidFill>
                <a:srgbClr val="E3E9F2"/>
              </a:solidFill>
            </a:ln>
          </p:spPr>
        </p:sp>
        <p:sp>
          <p:nvSpPr>
            <p:cNvPr id="26" name="TextBox 26"/>
            <p:cNvSpPr txBox="1"/>
            <p:nvPr/>
          </p:nvSpPr>
          <p:spPr>
            <a:xfrm>
              <a:off x="2827020" y="335089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四层架构</a:t>
              </a:r>
            </a:p>
          </p:txBody>
        </p:sp>
        <p:sp>
          <p:nvSpPr>
            <p:cNvPr id="27" name="TextBox 27"/>
            <p:cNvSpPr txBox="1"/>
            <p:nvPr/>
          </p:nvSpPr>
          <p:spPr>
            <a:xfrm>
              <a:off x="2827020" y="356044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场景映射</a:t>
              </a:r>
            </a:p>
          </p:txBody>
        </p:sp>
        <p:sp>
          <p:nvSpPr>
            <p:cNvPr id="28" name="TextBox 28"/>
            <p:cNvSpPr txBox="1"/>
            <p:nvPr/>
          </p:nvSpPr>
          <p:spPr>
            <a:xfrm>
              <a:off x="2827020" y="5732145"/>
              <a:ext cx="55692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P07 — P09</a:t>
              </a:r>
            </a:p>
          </p:txBody>
        </p:sp>
      </p:grpSp>
      <p:grpSp>
        <p:nvGrpSpPr>
          <p:cNvPr id="41" name="Group 41"/>
          <p:cNvGrpSpPr/>
          <p:nvPr/>
        </p:nvGrpSpPr>
        <p:grpSpPr>
          <a:xfrm>
            <a:off x="4533900" y="1714500"/>
            <a:ext cx="1733550" cy="4381500"/>
            <a:chOff x="4533900" y="1714500"/>
            <a:chExt cx="1733550" cy="4381500"/>
          </a:xfrm>
        </p:grpSpPr>
        <p:sp>
          <p:nvSpPr>
            <p:cNvPr id="30" name="Rectangle 30"/>
            <p:cNvSpPr/>
            <p:nvPr/>
          </p:nvSpPr>
          <p:spPr>
            <a:xfrm>
              <a:off x="4533900" y="1714500"/>
              <a:ext cx="1733550" cy="4381500"/>
            </a:xfrm>
            <a:prstGeom prst="roundRect">
              <a:avLst>
                <a:gd name="adj" fmla="val 7692"/>
              </a:avLst>
            </a:prstGeom>
            <a:solidFill>
              <a:srgbClr val="F4F7FC"/>
            </a:solidFill>
            <a:ln>
              <a:noFill/>
            </a:ln>
          </p:spPr>
        </p:sp>
        <p:sp>
          <p:nvSpPr>
            <p:cNvPr id="31" name="Rectangle 31"/>
            <p:cNvSpPr/>
            <p:nvPr/>
          </p:nvSpPr>
          <p:spPr>
            <a:xfrm>
              <a:off x="4533900" y="1714500"/>
              <a:ext cx="1733550" cy="533400"/>
            </a:xfrm>
            <a:prstGeom prst="roundRect">
              <a:avLst>
                <a:gd name="adj" fmla="val 25000"/>
              </a:avLst>
            </a:prstGeom>
            <a:solidFill>
              <a:srgbClr val="518FEC"/>
            </a:solidFill>
            <a:ln>
              <a:noFill/>
            </a:ln>
          </p:spPr>
        </p:sp>
        <p:sp>
          <p:nvSpPr>
            <p:cNvPr id="32" name="Rectangle 32"/>
            <p:cNvSpPr/>
            <p:nvPr/>
          </p:nvSpPr>
          <p:spPr>
            <a:xfrm>
              <a:off x="4533900" y="1981200"/>
              <a:ext cx="1733550" cy="266700"/>
            </a:xfrm>
            <a:prstGeom prst="rect">
              <a:avLst/>
            </a:prstGeom>
            <a:solidFill>
              <a:srgbClr val="518FEC"/>
            </a:solidFill>
            <a:ln>
              <a:noFill/>
            </a:ln>
          </p:spPr>
        </p:sp>
        <p:sp>
          <p:nvSpPr>
            <p:cNvPr id="33" name="TextBox 33"/>
            <p:cNvSpPr txBox="1"/>
            <p:nvPr/>
          </p:nvSpPr>
          <p:spPr>
            <a:xfrm>
              <a:off x="4692015" y="1782128"/>
              <a:ext cx="457519" cy="518160"/>
            </a:xfrm>
            <a:prstGeom prst="rect">
              <a:avLst/>
            </a:prstGeom>
            <a:noFill/>
            <a:ln>
              <a:noFill/>
            </a:ln>
          </p:spPr>
          <p:txBody>
            <a:bodyPr wrap="none" lIns="0" tIns="0" rIns="0" bIns="0" anchor="t" anchorCtr="0">
              <a:spAutoFit/>
            </a:bodyPr>
            <a:lstStyle/>
            <a:p>
              <a:pPr algn="l"/>
              <a:r>
                <a:rPr lang="zh-CN" sz="2550" b="1" dirty="0">
                  <a:solidFill>
                    <a:srgbClr val="FFFFFF"/>
                  </a:solidFill>
                  <a:latin typeface="Arial"/>
                  <a:ea typeface="Microsoft YaHei"/>
                  <a:cs typeface="Arial"/>
                </a:rPr>
                <a:t>03</a:t>
              </a:r>
            </a:p>
          </p:txBody>
        </p:sp>
        <p:sp>
          <p:nvSpPr>
            <p:cNvPr id="34" name="TextBox 34"/>
            <p:cNvSpPr txBox="1"/>
            <p:nvPr/>
          </p:nvSpPr>
          <p:spPr>
            <a:xfrm>
              <a:off x="4707255" y="2502218"/>
              <a:ext cx="790384" cy="274320"/>
            </a:xfrm>
            <a:prstGeom prst="rect">
              <a:avLst/>
            </a:prstGeom>
            <a:noFill/>
            <a:ln>
              <a:noFill/>
            </a:ln>
          </p:spPr>
          <p:txBody>
            <a:bodyPr wrap="none" lIns="0" tIns="0" rIns="0" bIns="0" anchor="t" anchorCtr="0">
              <a:spAutoFit/>
            </a:bodyPr>
            <a:lstStyle/>
            <a:p>
              <a:pPr algn="l"/>
              <a:r>
                <a:rPr lang="zh-CN" sz="1350" b="1" dirty="0">
                  <a:solidFill>
                    <a:srgbClr val="518FEC"/>
                  </a:solidFill>
                  <a:latin typeface="Arial"/>
                  <a:ea typeface="Microsoft YaHei"/>
                  <a:cs typeface="Arial"/>
                </a:rPr>
                <a:t>组织重塑</a:t>
              </a:r>
            </a:p>
          </p:txBody>
        </p:sp>
        <p:sp>
          <p:nvSpPr>
            <p:cNvPr id="35" name="TextBox 35"/>
            <p:cNvSpPr txBox="1"/>
            <p:nvPr/>
          </p:nvSpPr>
          <p:spPr>
            <a:xfrm>
              <a:off x="4712018" y="2828449"/>
              <a:ext cx="674846"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新生产关系</a:t>
              </a:r>
            </a:p>
          </p:txBody>
        </p:sp>
        <p:sp>
          <p:nvSpPr>
            <p:cNvPr id="36" name="Line 36"/>
            <p:cNvSpPr/>
            <p:nvPr/>
          </p:nvSpPr>
          <p:spPr>
            <a:xfrm>
              <a:off x="4724400" y="3124200"/>
              <a:ext cx="1352550" cy="9525"/>
            </a:xfrm>
            <a:custGeom>
              <a:avLst/>
              <a:gdLst/>
              <a:ahLst/>
              <a:cxnLst/>
              <a:rect l="l" t="t" r="r" b="b"/>
              <a:pathLst>
                <a:path w="1352550" h="9525">
                  <a:moveTo>
                    <a:pt x="0" y="0"/>
                  </a:moveTo>
                  <a:lnTo>
                    <a:pt x="1352550" y="0"/>
                  </a:lnTo>
                </a:path>
              </a:pathLst>
            </a:custGeom>
            <a:noFill/>
            <a:ln w="9525">
              <a:solidFill>
                <a:srgbClr val="E3E9F2"/>
              </a:solidFill>
            </a:ln>
          </p:spPr>
        </p:sp>
        <p:sp>
          <p:nvSpPr>
            <p:cNvPr id="37" name="TextBox 37"/>
            <p:cNvSpPr txBox="1"/>
            <p:nvPr/>
          </p:nvSpPr>
          <p:spPr>
            <a:xfrm>
              <a:off x="4712970" y="3350895"/>
              <a:ext cx="922972"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新角色 Builder</a:t>
              </a:r>
            </a:p>
          </p:txBody>
        </p:sp>
        <p:sp>
          <p:nvSpPr>
            <p:cNvPr id="38" name="TextBox 38"/>
            <p:cNvSpPr txBox="1"/>
            <p:nvPr/>
          </p:nvSpPr>
          <p:spPr>
            <a:xfrm>
              <a:off x="4712970" y="3560445"/>
              <a:ext cx="838962"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FDE 三层协同</a:t>
              </a:r>
            </a:p>
          </p:txBody>
        </p:sp>
        <p:sp>
          <p:nvSpPr>
            <p:cNvPr id="39" name="TextBox 39"/>
            <p:cNvSpPr txBox="1"/>
            <p:nvPr/>
          </p:nvSpPr>
          <p:spPr>
            <a:xfrm>
              <a:off x="4712970" y="376999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三层流动机制</a:t>
              </a:r>
            </a:p>
          </p:txBody>
        </p:sp>
        <p:sp>
          <p:nvSpPr>
            <p:cNvPr id="40" name="TextBox 40"/>
            <p:cNvSpPr txBox="1"/>
            <p:nvPr/>
          </p:nvSpPr>
          <p:spPr>
            <a:xfrm>
              <a:off x="4712970" y="5732145"/>
              <a:ext cx="55692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P10 — P13</a:t>
              </a:r>
            </a:p>
          </p:txBody>
        </p:sp>
      </p:grpSp>
      <p:grpSp>
        <p:nvGrpSpPr>
          <p:cNvPr id="53" name="Group 53"/>
          <p:cNvGrpSpPr/>
          <p:nvPr/>
        </p:nvGrpSpPr>
        <p:grpSpPr>
          <a:xfrm>
            <a:off x="6419850" y="1714500"/>
            <a:ext cx="1733550" cy="4381500"/>
            <a:chOff x="6419850" y="1714500"/>
            <a:chExt cx="1733550" cy="4381500"/>
          </a:xfrm>
        </p:grpSpPr>
        <p:sp>
          <p:nvSpPr>
            <p:cNvPr id="42" name="Rectangle 42"/>
            <p:cNvSpPr/>
            <p:nvPr/>
          </p:nvSpPr>
          <p:spPr>
            <a:xfrm>
              <a:off x="6419850" y="1714500"/>
              <a:ext cx="1733550" cy="4381500"/>
            </a:xfrm>
            <a:prstGeom prst="roundRect">
              <a:avLst>
                <a:gd name="adj" fmla="val 7692"/>
              </a:avLst>
            </a:prstGeom>
            <a:solidFill>
              <a:srgbClr val="F4F7FC"/>
            </a:solidFill>
            <a:ln>
              <a:noFill/>
            </a:ln>
          </p:spPr>
        </p:sp>
        <p:sp>
          <p:nvSpPr>
            <p:cNvPr id="43" name="Rectangle 43"/>
            <p:cNvSpPr/>
            <p:nvPr/>
          </p:nvSpPr>
          <p:spPr>
            <a:xfrm>
              <a:off x="6419850" y="1714500"/>
              <a:ext cx="1733550" cy="533400"/>
            </a:xfrm>
            <a:prstGeom prst="roundRect">
              <a:avLst>
                <a:gd name="adj" fmla="val 25000"/>
              </a:avLst>
            </a:prstGeom>
            <a:solidFill>
              <a:srgbClr val="0052A6"/>
            </a:solidFill>
            <a:ln>
              <a:noFill/>
            </a:ln>
          </p:spPr>
        </p:sp>
        <p:sp>
          <p:nvSpPr>
            <p:cNvPr id="44" name="Rectangle 44"/>
            <p:cNvSpPr/>
            <p:nvPr/>
          </p:nvSpPr>
          <p:spPr>
            <a:xfrm>
              <a:off x="6419850" y="1981200"/>
              <a:ext cx="1733550" cy="266700"/>
            </a:xfrm>
            <a:prstGeom prst="rect">
              <a:avLst/>
            </a:prstGeom>
            <a:solidFill>
              <a:srgbClr val="0052A6"/>
            </a:solidFill>
            <a:ln>
              <a:noFill/>
            </a:ln>
          </p:spPr>
        </p:sp>
        <p:sp>
          <p:nvSpPr>
            <p:cNvPr id="45" name="TextBox 45"/>
            <p:cNvSpPr txBox="1"/>
            <p:nvPr/>
          </p:nvSpPr>
          <p:spPr>
            <a:xfrm>
              <a:off x="6577965" y="1782128"/>
              <a:ext cx="457519" cy="518160"/>
            </a:xfrm>
            <a:prstGeom prst="rect">
              <a:avLst/>
            </a:prstGeom>
            <a:noFill/>
            <a:ln>
              <a:noFill/>
            </a:ln>
          </p:spPr>
          <p:txBody>
            <a:bodyPr wrap="none" lIns="0" tIns="0" rIns="0" bIns="0" anchor="t" anchorCtr="0">
              <a:spAutoFit/>
            </a:bodyPr>
            <a:lstStyle/>
            <a:p>
              <a:pPr algn="l"/>
              <a:r>
                <a:rPr lang="zh-CN" sz="2550" b="1" dirty="0">
                  <a:solidFill>
                    <a:srgbClr val="FFFFFF"/>
                  </a:solidFill>
                  <a:latin typeface="Arial"/>
                  <a:ea typeface="Microsoft YaHei"/>
                  <a:cs typeface="Arial"/>
                </a:rPr>
                <a:t>04</a:t>
              </a:r>
            </a:p>
          </p:txBody>
        </p:sp>
        <p:sp>
          <p:nvSpPr>
            <p:cNvPr id="46" name="TextBox 46"/>
            <p:cNvSpPr txBox="1"/>
            <p:nvPr/>
          </p:nvSpPr>
          <p:spPr>
            <a:xfrm>
              <a:off x="6593205" y="2502218"/>
              <a:ext cx="790384" cy="274320"/>
            </a:xfrm>
            <a:prstGeom prst="rect">
              <a:avLst/>
            </a:prstGeom>
            <a:noFill/>
            <a:ln>
              <a:noFill/>
            </a:ln>
          </p:spPr>
          <p:txBody>
            <a:bodyPr wrap="none" lIns="0" tIns="0" rIns="0" bIns="0" anchor="t" anchorCtr="0">
              <a:spAutoFit/>
            </a:bodyPr>
            <a:lstStyle/>
            <a:p>
              <a:pPr algn="l"/>
              <a:r>
                <a:rPr lang="zh-CN" sz="1350" b="1" dirty="0">
                  <a:solidFill>
                    <a:srgbClr val="0052A6"/>
                  </a:solidFill>
                  <a:latin typeface="Arial"/>
                  <a:ea typeface="Microsoft YaHei"/>
                  <a:cs typeface="Arial"/>
                </a:rPr>
                <a:t>四大场景</a:t>
              </a:r>
            </a:p>
          </p:txBody>
        </p:sp>
        <p:sp>
          <p:nvSpPr>
            <p:cNvPr id="47" name="TextBox 47"/>
            <p:cNvSpPr txBox="1"/>
            <p:nvPr/>
          </p:nvSpPr>
          <p:spPr>
            <a:xfrm>
              <a:off x="6597968" y="2828449"/>
              <a:ext cx="93487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每场景一个闭环</a:t>
              </a:r>
            </a:p>
          </p:txBody>
        </p:sp>
        <p:sp>
          <p:nvSpPr>
            <p:cNvPr id="48" name="Line 48"/>
            <p:cNvSpPr/>
            <p:nvPr/>
          </p:nvSpPr>
          <p:spPr>
            <a:xfrm>
              <a:off x="6610350" y="3124200"/>
              <a:ext cx="1352550" cy="9525"/>
            </a:xfrm>
            <a:custGeom>
              <a:avLst/>
              <a:gdLst/>
              <a:ahLst/>
              <a:cxnLst/>
              <a:rect l="l" t="t" r="r" b="b"/>
              <a:pathLst>
                <a:path w="1352550" h="9525">
                  <a:moveTo>
                    <a:pt x="0" y="0"/>
                  </a:moveTo>
                  <a:lnTo>
                    <a:pt x="1352550" y="0"/>
                  </a:lnTo>
                </a:path>
              </a:pathLst>
            </a:custGeom>
            <a:noFill/>
            <a:ln w="9525">
              <a:solidFill>
                <a:srgbClr val="E3E9F2"/>
              </a:solidFill>
            </a:ln>
          </p:spPr>
        </p:sp>
        <p:sp>
          <p:nvSpPr>
            <p:cNvPr id="49" name="TextBox 49"/>
            <p:cNvSpPr txBox="1"/>
            <p:nvPr/>
          </p:nvSpPr>
          <p:spPr>
            <a:xfrm>
              <a:off x="6598920" y="3350895"/>
              <a:ext cx="910971"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需求/交付闭环</a:t>
              </a:r>
            </a:p>
          </p:txBody>
        </p:sp>
        <p:sp>
          <p:nvSpPr>
            <p:cNvPr id="50" name="TextBox 50"/>
            <p:cNvSpPr txBox="1"/>
            <p:nvPr/>
          </p:nvSpPr>
          <p:spPr>
            <a:xfrm>
              <a:off x="6598920" y="356044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知识底座</a:t>
              </a:r>
            </a:p>
          </p:txBody>
        </p:sp>
        <p:sp>
          <p:nvSpPr>
            <p:cNvPr id="51" name="TextBox 51"/>
            <p:cNvSpPr txBox="1"/>
            <p:nvPr/>
          </p:nvSpPr>
          <p:spPr>
            <a:xfrm>
              <a:off x="6598920" y="3769995"/>
              <a:ext cx="790956"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治理 FinOps</a:t>
              </a:r>
            </a:p>
          </p:txBody>
        </p:sp>
        <p:sp>
          <p:nvSpPr>
            <p:cNvPr id="52" name="TextBox 52"/>
            <p:cNvSpPr txBox="1"/>
            <p:nvPr/>
          </p:nvSpPr>
          <p:spPr>
            <a:xfrm>
              <a:off x="6598920" y="5732145"/>
              <a:ext cx="55692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P14 — P22</a:t>
              </a:r>
            </a:p>
          </p:txBody>
        </p:sp>
      </p:grpSp>
      <p:grpSp>
        <p:nvGrpSpPr>
          <p:cNvPr id="65" name="Group 65"/>
          <p:cNvGrpSpPr/>
          <p:nvPr/>
        </p:nvGrpSpPr>
        <p:grpSpPr>
          <a:xfrm>
            <a:off x="8305800" y="1714500"/>
            <a:ext cx="1733550" cy="4381500"/>
            <a:chOff x="8305800" y="1714500"/>
            <a:chExt cx="1733550" cy="4381500"/>
          </a:xfrm>
        </p:grpSpPr>
        <p:sp>
          <p:nvSpPr>
            <p:cNvPr id="54" name="Rectangle 54"/>
            <p:cNvSpPr/>
            <p:nvPr/>
          </p:nvSpPr>
          <p:spPr>
            <a:xfrm>
              <a:off x="8305800" y="1714500"/>
              <a:ext cx="1733550" cy="4381500"/>
            </a:xfrm>
            <a:prstGeom prst="roundRect">
              <a:avLst>
                <a:gd name="adj" fmla="val 7692"/>
              </a:avLst>
            </a:prstGeom>
            <a:solidFill>
              <a:srgbClr val="F4F7FC"/>
            </a:solidFill>
            <a:ln>
              <a:noFill/>
            </a:ln>
          </p:spPr>
        </p:sp>
        <p:sp>
          <p:nvSpPr>
            <p:cNvPr id="55" name="Rectangle 55"/>
            <p:cNvSpPr/>
            <p:nvPr/>
          </p:nvSpPr>
          <p:spPr>
            <a:xfrm>
              <a:off x="8305800" y="1714500"/>
              <a:ext cx="1733550" cy="533400"/>
            </a:xfrm>
            <a:prstGeom prst="roundRect">
              <a:avLst>
                <a:gd name="adj" fmla="val 25000"/>
              </a:avLst>
            </a:prstGeom>
            <a:solidFill>
              <a:srgbClr val="246BFE"/>
            </a:solidFill>
            <a:ln>
              <a:noFill/>
            </a:ln>
          </p:spPr>
        </p:sp>
        <p:sp>
          <p:nvSpPr>
            <p:cNvPr id="56" name="Rectangle 56"/>
            <p:cNvSpPr/>
            <p:nvPr/>
          </p:nvSpPr>
          <p:spPr>
            <a:xfrm>
              <a:off x="8305800" y="1981200"/>
              <a:ext cx="1733550" cy="266700"/>
            </a:xfrm>
            <a:prstGeom prst="rect">
              <a:avLst/>
            </a:prstGeom>
            <a:solidFill>
              <a:srgbClr val="246BFE"/>
            </a:solidFill>
            <a:ln>
              <a:noFill/>
            </a:ln>
          </p:spPr>
        </p:sp>
        <p:sp>
          <p:nvSpPr>
            <p:cNvPr id="57" name="TextBox 57"/>
            <p:cNvSpPr txBox="1"/>
            <p:nvPr/>
          </p:nvSpPr>
          <p:spPr>
            <a:xfrm>
              <a:off x="8463915" y="1782128"/>
              <a:ext cx="457519" cy="518160"/>
            </a:xfrm>
            <a:prstGeom prst="rect">
              <a:avLst/>
            </a:prstGeom>
            <a:noFill/>
            <a:ln>
              <a:noFill/>
            </a:ln>
          </p:spPr>
          <p:txBody>
            <a:bodyPr wrap="none" lIns="0" tIns="0" rIns="0" bIns="0" anchor="t" anchorCtr="0">
              <a:spAutoFit/>
            </a:bodyPr>
            <a:lstStyle/>
            <a:p>
              <a:pPr algn="l"/>
              <a:r>
                <a:rPr lang="zh-CN" sz="2550" b="1" dirty="0">
                  <a:solidFill>
                    <a:srgbClr val="FFFFFF"/>
                  </a:solidFill>
                  <a:latin typeface="Arial"/>
                  <a:ea typeface="Microsoft YaHei"/>
                  <a:cs typeface="Arial"/>
                </a:rPr>
                <a:t>05</a:t>
              </a:r>
            </a:p>
          </p:txBody>
        </p:sp>
        <p:sp>
          <p:nvSpPr>
            <p:cNvPr id="58" name="TextBox 58"/>
            <p:cNvSpPr txBox="1"/>
            <p:nvPr/>
          </p:nvSpPr>
          <p:spPr>
            <a:xfrm>
              <a:off x="8479155" y="2502218"/>
              <a:ext cx="790384" cy="274320"/>
            </a:xfrm>
            <a:prstGeom prst="rect">
              <a:avLst/>
            </a:prstGeom>
            <a:noFill/>
            <a:ln>
              <a:noFill/>
            </a:ln>
          </p:spPr>
          <p:txBody>
            <a:bodyPr wrap="none" lIns="0" tIns="0" rIns="0" bIns="0" anchor="t" anchorCtr="0">
              <a:spAutoFit/>
            </a:bodyPr>
            <a:lstStyle/>
            <a:p>
              <a:pPr algn="l"/>
              <a:r>
                <a:rPr lang="zh-CN" sz="1350" b="1" dirty="0">
                  <a:solidFill>
                    <a:srgbClr val="246BFE"/>
                  </a:solidFill>
                  <a:latin typeface="Arial"/>
                  <a:ea typeface="Microsoft YaHei"/>
                  <a:cs typeface="Arial"/>
                </a:rPr>
                <a:t>工程底座</a:t>
              </a:r>
            </a:p>
          </p:txBody>
        </p:sp>
        <p:sp>
          <p:nvSpPr>
            <p:cNvPr id="59" name="TextBox 59"/>
            <p:cNvSpPr txBox="1"/>
            <p:nvPr/>
          </p:nvSpPr>
          <p:spPr>
            <a:xfrm>
              <a:off x="8483918" y="2828449"/>
              <a:ext cx="1084397"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Harness 驾驭框架</a:t>
              </a:r>
            </a:p>
          </p:txBody>
        </p:sp>
        <p:sp>
          <p:nvSpPr>
            <p:cNvPr id="60" name="Line 60"/>
            <p:cNvSpPr/>
            <p:nvPr/>
          </p:nvSpPr>
          <p:spPr>
            <a:xfrm>
              <a:off x="8496300" y="3124200"/>
              <a:ext cx="1352550" cy="9525"/>
            </a:xfrm>
            <a:custGeom>
              <a:avLst/>
              <a:gdLst/>
              <a:ahLst/>
              <a:cxnLst/>
              <a:rect l="l" t="t" r="r" b="b"/>
              <a:pathLst>
                <a:path w="1352550" h="9525">
                  <a:moveTo>
                    <a:pt x="0" y="0"/>
                  </a:moveTo>
                  <a:lnTo>
                    <a:pt x="1352550" y="0"/>
                  </a:lnTo>
                </a:path>
              </a:pathLst>
            </a:custGeom>
            <a:noFill/>
            <a:ln w="9525">
              <a:solidFill>
                <a:srgbClr val="E3E9F2"/>
              </a:solidFill>
            </a:ln>
          </p:spPr>
        </p:sp>
        <p:sp>
          <p:nvSpPr>
            <p:cNvPr id="61" name="TextBox 61"/>
            <p:cNvSpPr txBox="1"/>
            <p:nvPr/>
          </p:nvSpPr>
          <p:spPr>
            <a:xfrm>
              <a:off x="8484870" y="3350895"/>
              <a:ext cx="58693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9 大组件</a:t>
              </a:r>
            </a:p>
          </p:txBody>
        </p:sp>
        <p:sp>
          <p:nvSpPr>
            <p:cNvPr id="62" name="TextBox 62"/>
            <p:cNvSpPr txBox="1"/>
            <p:nvPr/>
          </p:nvSpPr>
          <p:spPr>
            <a:xfrm>
              <a:off x="8484870" y="356044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先行原则</a:t>
              </a:r>
            </a:p>
          </p:txBody>
        </p:sp>
        <p:sp>
          <p:nvSpPr>
            <p:cNvPr id="63" name="TextBox 63"/>
            <p:cNvSpPr txBox="1"/>
            <p:nvPr/>
          </p:nvSpPr>
          <p:spPr>
            <a:xfrm>
              <a:off x="8484870" y="376999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实战度量</a:t>
              </a:r>
            </a:p>
          </p:txBody>
        </p:sp>
        <p:sp>
          <p:nvSpPr>
            <p:cNvPr id="64" name="TextBox 64"/>
            <p:cNvSpPr txBox="1"/>
            <p:nvPr/>
          </p:nvSpPr>
          <p:spPr>
            <a:xfrm>
              <a:off x="8484870" y="5732145"/>
              <a:ext cx="55692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P23 — P26</a:t>
              </a:r>
            </a:p>
          </p:txBody>
        </p:sp>
      </p:grpSp>
      <p:grpSp>
        <p:nvGrpSpPr>
          <p:cNvPr id="77" name="Group 77"/>
          <p:cNvGrpSpPr/>
          <p:nvPr/>
        </p:nvGrpSpPr>
        <p:grpSpPr>
          <a:xfrm>
            <a:off x="10191750" y="1714500"/>
            <a:ext cx="1238250" cy="4381500"/>
            <a:chOff x="10191750" y="1714500"/>
            <a:chExt cx="1238250" cy="4381500"/>
          </a:xfrm>
        </p:grpSpPr>
        <p:sp>
          <p:nvSpPr>
            <p:cNvPr id="66" name="Rectangle 66"/>
            <p:cNvSpPr/>
            <p:nvPr/>
          </p:nvSpPr>
          <p:spPr>
            <a:xfrm>
              <a:off x="10191750" y="1714500"/>
              <a:ext cx="1238250" cy="4381500"/>
            </a:xfrm>
            <a:prstGeom prst="roundRect">
              <a:avLst>
                <a:gd name="adj" fmla="val 10769"/>
              </a:avLst>
            </a:prstGeom>
            <a:solidFill>
              <a:srgbClr val="F4F7FC"/>
            </a:solidFill>
            <a:ln>
              <a:noFill/>
            </a:ln>
          </p:spPr>
        </p:sp>
        <p:sp>
          <p:nvSpPr>
            <p:cNvPr id="67" name="Rectangle 67"/>
            <p:cNvSpPr/>
            <p:nvPr/>
          </p:nvSpPr>
          <p:spPr>
            <a:xfrm>
              <a:off x="10191750" y="1714500"/>
              <a:ext cx="1238250" cy="533400"/>
            </a:xfrm>
            <a:prstGeom prst="roundRect">
              <a:avLst>
                <a:gd name="adj" fmla="val 25000"/>
              </a:avLst>
            </a:prstGeom>
            <a:solidFill>
              <a:srgbClr val="518FEC"/>
            </a:solidFill>
            <a:ln>
              <a:noFill/>
            </a:ln>
          </p:spPr>
        </p:sp>
        <p:sp>
          <p:nvSpPr>
            <p:cNvPr id="68" name="Rectangle 68"/>
            <p:cNvSpPr/>
            <p:nvPr/>
          </p:nvSpPr>
          <p:spPr>
            <a:xfrm>
              <a:off x="10191750" y="1981200"/>
              <a:ext cx="1238250" cy="266700"/>
            </a:xfrm>
            <a:prstGeom prst="rect">
              <a:avLst/>
            </a:prstGeom>
            <a:solidFill>
              <a:srgbClr val="518FEC"/>
            </a:solidFill>
            <a:ln>
              <a:noFill/>
            </a:ln>
          </p:spPr>
        </p:sp>
        <p:sp>
          <p:nvSpPr>
            <p:cNvPr id="69" name="TextBox 69"/>
            <p:cNvSpPr txBox="1"/>
            <p:nvPr/>
          </p:nvSpPr>
          <p:spPr>
            <a:xfrm>
              <a:off x="10349865" y="1782128"/>
              <a:ext cx="457519" cy="518160"/>
            </a:xfrm>
            <a:prstGeom prst="rect">
              <a:avLst/>
            </a:prstGeom>
            <a:noFill/>
            <a:ln>
              <a:noFill/>
            </a:ln>
          </p:spPr>
          <p:txBody>
            <a:bodyPr wrap="none" lIns="0" tIns="0" rIns="0" bIns="0" anchor="t" anchorCtr="0">
              <a:spAutoFit/>
            </a:bodyPr>
            <a:lstStyle/>
            <a:p>
              <a:pPr algn="l"/>
              <a:r>
                <a:rPr lang="zh-CN" sz="2550" b="1" dirty="0">
                  <a:solidFill>
                    <a:srgbClr val="FFFFFF"/>
                  </a:solidFill>
                  <a:latin typeface="Arial"/>
                  <a:ea typeface="Microsoft YaHei"/>
                  <a:cs typeface="Arial"/>
                </a:rPr>
                <a:t>06</a:t>
              </a:r>
            </a:p>
          </p:txBody>
        </p:sp>
        <p:sp>
          <p:nvSpPr>
            <p:cNvPr id="70" name="TextBox 70"/>
            <p:cNvSpPr txBox="1"/>
            <p:nvPr/>
          </p:nvSpPr>
          <p:spPr>
            <a:xfrm>
              <a:off x="10365105" y="2502218"/>
              <a:ext cx="790384" cy="274320"/>
            </a:xfrm>
            <a:prstGeom prst="rect">
              <a:avLst/>
            </a:prstGeom>
            <a:noFill/>
            <a:ln>
              <a:noFill/>
            </a:ln>
          </p:spPr>
          <p:txBody>
            <a:bodyPr wrap="none" lIns="0" tIns="0" rIns="0" bIns="0" anchor="t" anchorCtr="0">
              <a:spAutoFit/>
            </a:bodyPr>
            <a:lstStyle/>
            <a:p>
              <a:pPr algn="l"/>
              <a:r>
                <a:rPr lang="zh-CN" sz="1350" b="1" dirty="0">
                  <a:solidFill>
                    <a:srgbClr val="518FEC"/>
                  </a:solidFill>
                  <a:latin typeface="Arial"/>
                  <a:ea typeface="Microsoft YaHei"/>
                  <a:cs typeface="Arial"/>
                </a:rPr>
                <a:t>价值实施</a:t>
              </a:r>
            </a:p>
          </p:txBody>
        </p:sp>
        <p:sp>
          <p:nvSpPr>
            <p:cNvPr id="71" name="TextBox 71"/>
            <p:cNvSpPr txBox="1"/>
            <p:nvPr/>
          </p:nvSpPr>
          <p:spPr>
            <a:xfrm>
              <a:off x="10369868" y="2828449"/>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试点到规模化</a:t>
              </a:r>
            </a:p>
          </p:txBody>
        </p:sp>
        <p:sp>
          <p:nvSpPr>
            <p:cNvPr id="72" name="Line 72"/>
            <p:cNvSpPr/>
            <p:nvPr/>
          </p:nvSpPr>
          <p:spPr>
            <a:xfrm>
              <a:off x="10382250" y="3124200"/>
              <a:ext cx="952500" cy="9525"/>
            </a:xfrm>
            <a:custGeom>
              <a:avLst/>
              <a:gdLst/>
              <a:ahLst/>
              <a:cxnLst/>
              <a:rect l="l" t="t" r="r" b="b"/>
              <a:pathLst>
                <a:path w="952500" h="9525">
                  <a:moveTo>
                    <a:pt x="0" y="0"/>
                  </a:moveTo>
                  <a:lnTo>
                    <a:pt x="952500" y="0"/>
                  </a:lnTo>
                </a:path>
              </a:pathLst>
            </a:custGeom>
            <a:noFill/>
            <a:ln w="9525">
              <a:solidFill>
                <a:srgbClr val="E3E9F2"/>
              </a:solidFill>
            </a:ln>
          </p:spPr>
        </p:sp>
        <p:sp>
          <p:nvSpPr>
            <p:cNvPr id="73" name="TextBox 73"/>
            <p:cNvSpPr txBox="1"/>
            <p:nvPr/>
          </p:nvSpPr>
          <p:spPr>
            <a:xfrm>
              <a:off x="10370820" y="335089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价值矩阵</a:t>
              </a:r>
            </a:p>
          </p:txBody>
        </p:sp>
        <p:sp>
          <p:nvSpPr>
            <p:cNvPr id="74" name="TextBox 74"/>
            <p:cNvSpPr txBox="1"/>
            <p:nvPr/>
          </p:nvSpPr>
          <p:spPr>
            <a:xfrm>
              <a:off x="10370820" y="356044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实施路径</a:t>
              </a:r>
            </a:p>
          </p:txBody>
        </p:sp>
        <p:sp>
          <p:nvSpPr>
            <p:cNvPr id="75" name="TextBox 75"/>
            <p:cNvSpPr txBox="1"/>
            <p:nvPr/>
          </p:nvSpPr>
          <p:spPr>
            <a:xfrm>
              <a:off x="10370820" y="376999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法本保障</a:t>
              </a:r>
            </a:p>
          </p:txBody>
        </p:sp>
        <p:sp>
          <p:nvSpPr>
            <p:cNvPr id="76" name="TextBox 76"/>
            <p:cNvSpPr txBox="1"/>
            <p:nvPr/>
          </p:nvSpPr>
          <p:spPr>
            <a:xfrm>
              <a:off x="10370820" y="5732145"/>
              <a:ext cx="55692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P27 — P30</a:t>
              </a:r>
            </a:p>
          </p:txBody>
        </p:sp>
      </p:grpSp>
      <p:sp>
        <p:nvSpPr>
          <p:cNvPr id="78" name="TextBox 78"/>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02 / 30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Bottom)">
                                      <p:cBhvr>
                                        <p:cTn id="7" dur="400"/>
                                        <p:tgtEl>
                                          <p:spTgt spid="1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Bottom)">
                                      <p:cBhvr>
                                        <p:cTn id="11" dur="400"/>
                                        <p:tgtEl>
                                          <p:spTgt spid="2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slide(fromBottom)">
                                      <p:cBhvr>
                                        <p:cTn id="15" dur="400"/>
                                        <p:tgtEl>
                                          <p:spTgt spid="4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slide(fromBottom)">
                                      <p:cBhvr>
                                        <p:cTn id="19" dur="400"/>
                                        <p:tgtEl>
                                          <p:spTgt spid="5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slide(fromBottom)">
                                      <p:cBhvr>
                                        <p:cTn id="23" dur="400"/>
                                        <p:tgtEl>
                                          <p:spTgt spid="65"/>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slide(fromBottom)">
                                      <p:cBhvr>
                                        <p:cTn id="27"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P spid="41" grpId="0"/>
      <p:bldP spid="53" grpId="0"/>
      <p:bldP spid="65" grpId="0"/>
      <p:bldP spid="7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7048500"/>
            <a:chOff x="0" y="0"/>
            <a:chExt cx="12192000" cy="70485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Ellipse 3"/>
            <p:cNvSpPr/>
            <p:nvPr/>
          </p:nvSpPr>
          <p:spPr>
            <a:xfrm>
              <a:off x="8096250" y="0"/>
              <a:ext cx="3810000" cy="3810000"/>
            </a:xfrm>
            <a:prstGeom prst="ellipse">
              <a:avLst/>
            </a:prstGeom>
            <a:solidFill>
              <a:srgbClr val="246BFE">
                <a:alpha val="6000"/>
              </a:srgbClr>
            </a:solidFill>
            <a:ln>
              <a:noFill/>
            </a:ln>
          </p:spPr>
        </p:sp>
        <p:sp>
          <p:nvSpPr>
            <p:cNvPr id="4" name="Ellipse 4"/>
            <p:cNvSpPr/>
            <p:nvPr/>
          </p:nvSpPr>
          <p:spPr>
            <a:xfrm>
              <a:off x="571500" y="4381500"/>
              <a:ext cx="2667000" cy="2667000"/>
            </a:xfrm>
            <a:prstGeom prst="ellipse">
              <a:avLst/>
            </a:prstGeom>
            <a:solidFill>
              <a:srgbClr val="518FEC">
                <a:alpha val="5000"/>
              </a:srgbClr>
            </a:solidFill>
            <a:ln>
              <a:noFill/>
            </a:ln>
          </p:spPr>
        </p:sp>
      </p:grpSp>
      <p:grpSp>
        <p:nvGrpSpPr>
          <p:cNvPr id="7" name="Group 7"/>
          <p:cNvGrpSpPr/>
          <p:nvPr/>
        </p:nvGrpSpPr>
        <p:grpSpPr>
          <a:xfrm>
            <a:off x="552450" y="2981325"/>
            <a:ext cx="2960418" cy="3352800"/>
            <a:chOff x="552450" y="2981325"/>
            <a:chExt cx="2960418" cy="3352800"/>
          </a:xfrm>
        </p:grpSpPr>
        <p:sp>
          <p:nvSpPr>
            <p:cNvPr id="6" name="TextBox 6"/>
            <p:cNvSpPr txBox="1"/>
            <p:nvPr/>
          </p:nvSpPr>
          <p:spPr>
            <a:xfrm>
              <a:off x="552450" y="2981325"/>
              <a:ext cx="2960418" cy="3352800"/>
            </a:xfrm>
            <a:prstGeom prst="rect">
              <a:avLst/>
            </a:prstGeom>
            <a:noFill/>
            <a:ln>
              <a:noFill/>
            </a:ln>
          </p:spPr>
          <p:txBody>
            <a:bodyPr wrap="none" lIns="0" tIns="0" rIns="0" bIns="0" anchor="t" anchorCtr="0">
              <a:spAutoFit/>
            </a:bodyPr>
            <a:lstStyle/>
            <a:p>
              <a:pPr algn="l"/>
              <a:r>
                <a:rPr lang="zh-CN" sz="16500" b="1" dirty="0">
                  <a:solidFill>
                    <a:srgbClr val="FFFFFF">
                      <a:alphaMod val="10000"/>
                    </a:srgbClr>
                  </a:solidFill>
                  <a:latin typeface="Arial"/>
                  <a:ea typeface="Microsoft YaHei"/>
                  <a:cs typeface="Arial"/>
                </a:rPr>
                <a:t>01</a:t>
              </a:r>
            </a:p>
          </p:txBody>
        </p:sp>
      </p:grpSp>
      <p:grpSp>
        <p:nvGrpSpPr>
          <p:cNvPr id="10" name="Group 10"/>
          <p:cNvGrpSpPr/>
          <p:nvPr/>
        </p:nvGrpSpPr>
        <p:grpSpPr>
          <a:xfrm>
            <a:off x="840105" y="2209800"/>
            <a:ext cx="1160145" cy="547688"/>
            <a:chOff x="840105" y="2209800"/>
            <a:chExt cx="1160145" cy="547688"/>
          </a:xfrm>
        </p:grpSpPr>
        <p:sp>
          <p:nvSpPr>
            <p:cNvPr id="8" name="Rectangle 8"/>
            <p:cNvSpPr/>
            <p:nvPr/>
          </p:nvSpPr>
          <p:spPr>
            <a:xfrm>
              <a:off x="857250" y="2209800"/>
              <a:ext cx="1143000" cy="38100"/>
            </a:xfrm>
            <a:prstGeom prst="roundRect">
              <a:avLst>
                <a:gd name="adj" fmla="val 50000"/>
              </a:avLst>
            </a:prstGeom>
            <a:solidFill>
              <a:srgbClr val="246BFE"/>
            </a:solidFill>
            <a:ln>
              <a:noFill/>
            </a:ln>
          </p:spPr>
        </p:sp>
        <p:sp>
          <p:nvSpPr>
            <p:cNvPr id="9" name="TextBox 9"/>
            <p:cNvSpPr txBox="1"/>
            <p:nvPr/>
          </p:nvSpPr>
          <p:spPr>
            <a:xfrm>
              <a:off x="840105" y="2483168"/>
              <a:ext cx="979408" cy="274320"/>
            </a:xfrm>
            <a:prstGeom prst="rect">
              <a:avLst/>
            </a:prstGeom>
            <a:noFill/>
            <a:ln>
              <a:noFill/>
            </a:ln>
          </p:spPr>
          <p:txBody>
            <a:bodyPr wrap="none" lIns="0" tIns="0" rIns="0" bIns="0" anchor="t" anchorCtr="0">
              <a:spAutoFit/>
            </a:bodyPr>
            <a:lstStyle/>
            <a:p>
              <a:pPr algn="l"/>
              <a:r>
                <a:rPr lang="zh-CN" sz="1350" dirty="0">
                  <a:solidFill>
                    <a:srgbClr val="518FEC"/>
                  </a:solidFill>
                  <a:latin typeface="Arial"/>
                  <a:ea typeface="Microsoft YaHei"/>
                  <a:cs typeface="Arial"/>
                </a:rPr>
                <a:t>CHAPTER 01</a:t>
              </a:r>
            </a:p>
          </p:txBody>
        </p:sp>
      </p:grpSp>
      <p:grpSp>
        <p:nvGrpSpPr>
          <p:cNvPr id="14" name="Group 14"/>
          <p:cNvGrpSpPr/>
          <p:nvPr/>
        </p:nvGrpSpPr>
        <p:grpSpPr>
          <a:xfrm>
            <a:off x="819150" y="3067050"/>
            <a:ext cx="4277868" cy="1428750"/>
            <a:chOff x="819150" y="3067050"/>
            <a:chExt cx="4277868" cy="1428750"/>
          </a:xfrm>
        </p:grpSpPr>
        <p:sp>
          <p:nvSpPr>
            <p:cNvPr id="11" name="TextBox 11"/>
            <p:cNvSpPr txBox="1"/>
            <p:nvPr/>
          </p:nvSpPr>
          <p:spPr>
            <a:xfrm>
              <a:off x="819150" y="3067050"/>
              <a:ext cx="175641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核心命题</a:t>
              </a:r>
            </a:p>
          </p:txBody>
        </p:sp>
        <p:sp>
          <p:nvSpPr>
            <p:cNvPr id="12" name="TextBox 12"/>
            <p:cNvSpPr txBox="1"/>
            <p:nvPr/>
          </p:nvSpPr>
          <p:spPr>
            <a:xfrm>
              <a:off x="832485" y="3694748"/>
              <a:ext cx="2428827"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个人提效 ≠ 组织提效</a:t>
              </a:r>
            </a:p>
          </p:txBody>
        </p:sp>
        <p:sp>
          <p:nvSpPr>
            <p:cNvPr id="13" name="TextBox 13"/>
            <p:cNvSpPr txBox="1"/>
            <p:nvPr/>
          </p:nvSpPr>
          <p:spPr>
            <a:xfrm>
              <a:off x="842010" y="4251960"/>
              <a:ext cx="4255008"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一切问题的起点 —— AI 工具下沉到个人后,组织为什么没变快</a:t>
              </a:r>
            </a:p>
          </p:txBody>
        </p:sp>
      </p:grpSp>
      <p:sp>
        <p:nvSpPr>
          <p:cNvPr id="15" name="TextBox 15"/>
          <p:cNvSpPr txBox="1"/>
          <p:nvPr/>
        </p:nvSpPr>
        <p:spPr>
          <a:xfrm>
            <a:off x="10594419" y="6464141"/>
            <a:ext cx="846058" cy="167640"/>
          </a:xfrm>
          <a:prstGeom prst="rect">
            <a:avLst/>
          </a:prstGeom>
          <a:noFill/>
          <a:ln>
            <a:noFill/>
          </a:ln>
        </p:spPr>
        <p:txBody>
          <a:bodyPr wrap="none" lIns="0" tIns="0" rIns="0" bIns="0" anchor="t" anchorCtr="0">
            <a:spAutoFit/>
          </a:bodyPr>
          <a:lstStyle/>
          <a:p>
            <a:pPr algn="r"/>
            <a:r>
              <a:rPr lang="zh-CN" sz="825" dirty="0">
                <a:solidFill>
                  <a:srgbClr val="8FA3C4"/>
                </a:solidFill>
                <a:latin typeface="Arial"/>
                <a:ea typeface="Microsoft YaHei"/>
                <a:cs typeface="Arial"/>
              </a:rPr>
              <a:t>03 / 30 · 第一章</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33425" y="647700"/>
            <a:ext cx="5003268" cy="633412"/>
            <a:chOff x="733425" y="647700"/>
            <a:chExt cx="5003268" cy="633412"/>
          </a:xfrm>
        </p:grpSpPr>
        <p:sp>
          <p:nvSpPr>
            <p:cNvPr id="3" name="Rectangle 3"/>
            <p:cNvSpPr/>
            <p:nvPr/>
          </p:nvSpPr>
          <p:spPr>
            <a:xfrm>
              <a:off x="762000" y="647700"/>
              <a:ext cx="533400" cy="57150"/>
            </a:xfrm>
            <a:prstGeom prst="roundRect">
              <a:avLst>
                <a:gd name="adj" fmla="val 50000"/>
              </a:avLst>
            </a:prstGeom>
            <a:solidFill>
              <a:srgbClr val="0052A6"/>
            </a:solidFill>
            <a:ln>
              <a:noFill/>
            </a:ln>
          </p:spPr>
        </p:sp>
        <p:sp>
          <p:nvSpPr>
            <p:cNvPr id="4" name="TextBox 4"/>
            <p:cNvSpPr txBox="1"/>
            <p:nvPr/>
          </p:nvSpPr>
          <p:spPr>
            <a:xfrm>
              <a:off x="733425" y="823912"/>
              <a:ext cx="5003268" cy="457200"/>
            </a:xfrm>
            <a:prstGeom prst="rect">
              <a:avLst/>
            </a:prstGeom>
            <a:noFill/>
            <a:ln>
              <a:noFill/>
            </a:ln>
          </p:spPr>
          <p:txBody>
            <a:bodyPr wrap="none" lIns="0" tIns="0" rIns="0" bIns="0" anchor="t" anchorCtr="0">
              <a:spAutoFit/>
            </a:bodyPr>
            <a:lstStyle/>
            <a:p>
              <a:pPr algn="l"/>
              <a:r>
                <a:rPr lang="zh-CN" sz="2250" b="1" dirty="0">
                  <a:solidFill>
                    <a:srgbClr val="25364A"/>
                  </a:solidFill>
                  <a:latin typeface="Arial"/>
                  <a:ea typeface="Microsoft YaHei"/>
                  <a:cs typeface="Arial"/>
                </a:rPr>
                <a:t>个人都在用 AI,版本还是按原节奏发</a:t>
              </a:r>
            </a:p>
          </p:txBody>
        </p:sp>
      </p:grpSp>
      <p:grpSp>
        <p:nvGrpSpPr>
          <p:cNvPr id="18" name="Group 18"/>
          <p:cNvGrpSpPr/>
          <p:nvPr/>
        </p:nvGrpSpPr>
        <p:grpSpPr>
          <a:xfrm>
            <a:off x="762000" y="1524000"/>
            <a:ext cx="5143500" cy="3238500"/>
            <a:chOff x="762000" y="1524000"/>
            <a:chExt cx="5143500" cy="3238500"/>
          </a:xfrm>
        </p:grpSpPr>
        <p:sp>
          <p:nvSpPr>
            <p:cNvPr id="6" name="Rectangle 6"/>
            <p:cNvSpPr/>
            <p:nvPr/>
          </p:nvSpPr>
          <p:spPr>
            <a:xfrm>
              <a:off x="762000" y="1524000"/>
              <a:ext cx="5143500" cy="3238500"/>
            </a:xfrm>
            <a:prstGeom prst="roundRect">
              <a:avLst>
                <a:gd name="adj" fmla="val 4706"/>
              </a:avLst>
            </a:prstGeom>
            <a:solidFill>
              <a:srgbClr val="F4F7FC"/>
            </a:solidFill>
            <a:ln>
              <a:noFill/>
            </a:ln>
          </p:spPr>
        </p:sp>
        <p:sp>
          <p:nvSpPr>
            <p:cNvPr id="7" name="Rectangle 7"/>
            <p:cNvSpPr/>
            <p:nvPr/>
          </p:nvSpPr>
          <p:spPr>
            <a:xfrm>
              <a:off x="762000" y="1524000"/>
              <a:ext cx="57150" cy="3238500"/>
            </a:xfrm>
            <a:prstGeom prst="roundRect">
              <a:avLst>
                <a:gd name="adj" fmla="val 50000"/>
              </a:avLst>
            </a:prstGeom>
            <a:solidFill>
              <a:srgbClr val="0E9F6E"/>
            </a:solidFill>
            <a:ln>
              <a:noFill/>
            </a:ln>
          </p:spPr>
        </p:sp>
        <p:grpSp>
          <p:nvGrpSpPr>
            <p:cNvPr id="10" name="Group 10"/>
            <p:cNvGrpSpPr/>
            <p:nvPr/>
          </p:nvGrpSpPr>
          <p:grpSpPr>
            <a:xfrm>
              <a:off x="1152525" y="1795462"/>
              <a:ext cx="171450" cy="257175"/>
              <a:chOff x="1152525" y="1795462"/>
              <a:chExt cx="171450" cy="257175"/>
            </a:xfrm>
          </p:grpSpPr>
          <p:sp>
            <p:nvSpPr>
              <p:cNvPr id="8" name="Freeform 8"/>
              <p:cNvSpPr/>
              <p:nvPr/>
            </p:nvSpPr>
            <p:spPr>
              <a:xfrm>
                <a:off x="1181100" y="179546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0E9F6E"/>
                </a:solidFill>
              </a:ln>
            </p:spPr>
          </p:sp>
          <p:sp>
            <p:nvSpPr>
              <p:cNvPr id="9" name="Freeform 9"/>
              <p:cNvSpPr/>
              <p:nvPr/>
            </p:nvSpPr>
            <p:spPr>
              <a:xfrm>
                <a:off x="1152525" y="196691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0E9F6E"/>
                </a:solidFill>
              </a:ln>
            </p:spPr>
          </p:sp>
        </p:grpSp>
        <p:sp>
          <p:nvSpPr>
            <p:cNvPr id="11" name="TextBox 11"/>
            <p:cNvSpPr txBox="1"/>
            <p:nvPr/>
          </p:nvSpPr>
          <p:spPr>
            <a:xfrm>
              <a:off x="1504950" y="1857375"/>
              <a:ext cx="2043851" cy="304800"/>
            </a:xfrm>
            <a:prstGeom prst="rect">
              <a:avLst/>
            </a:prstGeom>
            <a:noFill/>
            <a:ln>
              <a:noFill/>
            </a:ln>
          </p:spPr>
          <p:txBody>
            <a:bodyPr wrap="none" lIns="0" tIns="0" rIns="0" bIns="0" anchor="t" anchorCtr="0">
              <a:spAutoFit/>
            </a:bodyPr>
            <a:lstStyle/>
            <a:p>
              <a:pPr algn="l"/>
              <a:r>
                <a:rPr lang="zh-CN" sz="1500" b="1" dirty="0">
                  <a:solidFill>
                    <a:srgbClr val="25364A"/>
                  </a:solidFill>
                  <a:latin typeface="Arial"/>
                  <a:ea typeface="Microsoft YaHei"/>
                  <a:cs typeface="Arial"/>
                </a:rPr>
                <a:t>个人层面:已经变快了</a:t>
              </a:r>
            </a:p>
          </p:txBody>
        </p:sp>
        <p:sp>
          <p:nvSpPr>
            <p:cNvPr id="12" name="Line 12"/>
            <p:cNvSpPr/>
            <p:nvPr/>
          </p:nvSpPr>
          <p:spPr>
            <a:xfrm>
              <a:off x="1066800" y="2286000"/>
              <a:ext cx="4648200" cy="9525"/>
            </a:xfrm>
            <a:custGeom>
              <a:avLst/>
              <a:gdLst/>
              <a:ahLst/>
              <a:cxnLst/>
              <a:rect l="l" t="t" r="r" b="b"/>
              <a:pathLst>
                <a:path w="4648200" h="9525">
                  <a:moveTo>
                    <a:pt x="0" y="0"/>
                  </a:moveTo>
                  <a:lnTo>
                    <a:pt x="4648200" y="0"/>
                  </a:lnTo>
                </a:path>
              </a:pathLst>
            </a:custGeom>
            <a:noFill/>
            <a:ln w="9525">
              <a:solidFill>
                <a:srgbClr val="E3E9F2"/>
              </a:solidFill>
            </a:ln>
          </p:spPr>
        </p:sp>
        <p:sp>
          <p:nvSpPr>
            <p:cNvPr id="13" name="TextBox 13"/>
            <p:cNvSpPr txBox="1"/>
            <p:nvPr/>
          </p:nvSpPr>
          <p:spPr>
            <a:xfrm>
              <a:off x="1051560" y="2575560"/>
              <a:ext cx="1702689"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产品经理用 AI 生成原型</a:t>
              </a:r>
            </a:p>
          </p:txBody>
        </p:sp>
        <p:sp>
          <p:nvSpPr>
            <p:cNvPr id="14" name="TextBox 14"/>
            <p:cNvSpPr txBox="1"/>
            <p:nvPr/>
          </p:nvSpPr>
          <p:spPr>
            <a:xfrm>
              <a:off x="1051560" y="2956560"/>
              <a:ext cx="2342769"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工程师用 AI 读码、写码、补测试</a:t>
              </a:r>
            </a:p>
          </p:txBody>
        </p:sp>
        <p:sp>
          <p:nvSpPr>
            <p:cNvPr id="15" name="TextBox 15"/>
            <p:cNvSpPr txBox="1"/>
            <p:nvPr/>
          </p:nvSpPr>
          <p:spPr>
            <a:xfrm>
              <a:off x="1051560" y="3337560"/>
              <a:ext cx="2182749"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测试用 AI 整理用例、分析缺陷</a:t>
              </a:r>
            </a:p>
          </p:txBody>
        </p:sp>
        <p:sp>
          <p:nvSpPr>
            <p:cNvPr id="16" name="TextBox 16"/>
            <p:cNvSpPr txBox="1"/>
            <p:nvPr/>
          </p:nvSpPr>
          <p:spPr>
            <a:xfrm>
              <a:off x="1051560" y="3718560"/>
              <a:ext cx="1702689"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架构师用 AI 做影响分析</a:t>
              </a:r>
            </a:p>
          </p:txBody>
        </p:sp>
        <p:sp>
          <p:nvSpPr>
            <p:cNvPr id="17" name="TextBox 17"/>
            <p:cNvSpPr txBox="1"/>
            <p:nvPr/>
          </p:nvSpPr>
          <p:spPr>
            <a:xfrm>
              <a:off x="1049655" y="4273868"/>
              <a:ext cx="2113550" cy="274320"/>
            </a:xfrm>
            <a:prstGeom prst="rect">
              <a:avLst/>
            </a:prstGeom>
            <a:noFill/>
            <a:ln>
              <a:noFill/>
            </a:ln>
          </p:spPr>
          <p:txBody>
            <a:bodyPr wrap="none" lIns="0" tIns="0" rIns="0" bIns="0" anchor="t" anchorCtr="0">
              <a:spAutoFit/>
            </a:bodyPr>
            <a:lstStyle/>
            <a:p>
              <a:pPr algn="l"/>
              <a:r>
                <a:rPr lang="zh-CN" sz="1350" b="1" dirty="0">
                  <a:solidFill>
                    <a:srgbClr val="0E9F6E"/>
                  </a:solidFill>
                  <a:latin typeface="Arial"/>
                  <a:ea typeface="Microsoft YaHei"/>
                  <a:cs typeface="Arial"/>
                </a:rPr>
                <a:t>每个人似乎都变快了一些</a:t>
              </a:r>
            </a:p>
          </p:txBody>
        </p:sp>
      </p:grpSp>
      <p:grpSp>
        <p:nvGrpSpPr>
          <p:cNvPr id="32" name="Group 32"/>
          <p:cNvGrpSpPr/>
          <p:nvPr/>
        </p:nvGrpSpPr>
        <p:grpSpPr>
          <a:xfrm>
            <a:off x="6286500" y="1524000"/>
            <a:ext cx="5143500" cy="3238500"/>
            <a:chOff x="6286500" y="1524000"/>
            <a:chExt cx="5143500" cy="3238500"/>
          </a:xfrm>
        </p:grpSpPr>
        <p:sp>
          <p:nvSpPr>
            <p:cNvPr id="19" name="Rectangle 19"/>
            <p:cNvSpPr/>
            <p:nvPr/>
          </p:nvSpPr>
          <p:spPr>
            <a:xfrm>
              <a:off x="6286500" y="1524000"/>
              <a:ext cx="5143500" cy="3238500"/>
            </a:xfrm>
            <a:prstGeom prst="roundRect">
              <a:avLst>
                <a:gd name="adj" fmla="val 4706"/>
              </a:avLst>
            </a:prstGeom>
            <a:solidFill>
              <a:srgbClr val="F4F7FC"/>
            </a:solidFill>
            <a:ln>
              <a:noFill/>
            </a:ln>
          </p:spPr>
        </p:sp>
        <p:sp>
          <p:nvSpPr>
            <p:cNvPr id="20" name="Rectangle 20"/>
            <p:cNvSpPr/>
            <p:nvPr/>
          </p:nvSpPr>
          <p:spPr>
            <a:xfrm>
              <a:off x="6286500" y="1524000"/>
              <a:ext cx="57150" cy="3238500"/>
            </a:xfrm>
            <a:prstGeom prst="roundRect">
              <a:avLst>
                <a:gd name="adj" fmla="val 50000"/>
              </a:avLst>
            </a:prstGeom>
            <a:solidFill>
              <a:srgbClr val="F59E0B"/>
            </a:solidFill>
            <a:ln>
              <a:noFill/>
            </a:ln>
          </p:spPr>
        </p:sp>
        <p:grpSp>
          <p:nvGrpSpPr>
            <p:cNvPr id="24" name="Group 24"/>
            <p:cNvGrpSpPr/>
            <p:nvPr/>
          </p:nvGrpSpPr>
          <p:grpSpPr>
            <a:xfrm>
              <a:off x="6618659" y="1790716"/>
              <a:ext cx="288171" cy="247577"/>
              <a:chOff x="6618659" y="1790716"/>
              <a:chExt cx="288171" cy="247577"/>
            </a:xfrm>
          </p:grpSpPr>
          <p:sp>
            <p:nvSpPr>
              <p:cNvPr id="21" name="Freeform 21"/>
              <p:cNvSpPr/>
              <p:nvPr/>
            </p:nvSpPr>
            <p:spPr>
              <a:xfrm>
                <a:off x="6762750" y="1881188"/>
                <a:ext cx="9525" cy="57150"/>
              </a:xfrm>
              <a:custGeom>
                <a:avLst/>
                <a:gdLst/>
                <a:ahLst/>
                <a:cxnLst/>
                <a:rect l="l" t="t" r="r" b="b"/>
                <a:pathLst>
                  <a:path w="9525" h="57150">
                    <a:moveTo>
                      <a:pt x="0" y="0"/>
                    </a:moveTo>
                    <a:lnTo>
                      <a:pt x="0" y="57150"/>
                    </a:lnTo>
                  </a:path>
                </a:pathLst>
              </a:custGeom>
              <a:noFill/>
              <a:ln w="19050">
                <a:solidFill>
                  <a:srgbClr val="F59E0B"/>
                </a:solidFill>
              </a:ln>
            </p:spPr>
          </p:sp>
          <p:sp>
            <p:nvSpPr>
              <p:cNvPr id="22" name="Freeform 22"/>
              <p:cNvSpPr/>
              <p:nvPr/>
            </p:nvSpPr>
            <p:spPr>
              <a:xfrm>
                <a:off x="6618659" y="1790716"/>
                <a:ext cx="288171" cy="247577"/>
              </a:xfrm>
              <a:custGeom>
                <a:avLst/>
                <a:gdLst/>
                <a:ahLst/>
                <a:cxnLst/>
                <a:rect l="l" t="t" r="r" b="b"/>
                <a:pathLst>
                  <a:path w="288171" h="247577">
                    <a:moveTo>
                      <a:pt x="120702" y="13191"/>
                    </a:moveTo>
                    <a:lnTo>
                      <a:pt x="4888" y="206558"/>
                    </a:lnTo>
                    <a:cubicBezTo>
                      <a:pt x="30" y="214971"/>
                      <a:pt x="0" y="225330"/>
                      <a:pt x="4810" y="233771"/>
                    </a:cubicBezTo>
                    <a:cubicBezTo>
                      <a:pt x="9620" y="242213"/>
                      <a:pt x="18548" y="247468"/>
                      <a:pt x="28262" y="247577"/>
                    </a:cubicBezTo>
                    <a:lnTo>
                      <a:pt x="259920" y="247577"/>
                    </a:lnTo>
                    <a:cubicBezTo>
                      <a:pt x="269630" y="247465"/>
                      <a:pt x="278553" y="242212"/>
                      <a:pt x="283362" y="233775"/>
                    </a:cubicBezTo>
                    <a:cubicBezTo>
                      <a:pt x="288171" y="225339"/>
                      <a:pt x="288145" y="214984"/>
                      <a:pt x="283294" y="206572"/>
                    </a:cubicBezTo>
                    <a:lnTo>
                      <a:pt x="167480" y="13176"/>
                    </a:lnTo>
                    <a:cubicBezTo>
                      <a:pt x="162524" y="4996"/>
                      <a:pt x="153655" y="0"/>
                      <a:pt x="144091" y="0"/>
                    </a:cubicBezTo>
                    <a:cubicBezTo>
                      <a:pt x="134527" y="0"/>
                      <a:pt x="125658" y="4996"/>
                      <a:pt x="120702" y="13176"/>
                    </a:cubicBezTo>
                  </a:path>
                </a:pathLst>
              </a:custGeom>
              <a:noFill/>
              <a:ln w="19050">
                <a:solidFill>
                  <a:srgbClr val="F59E0B"/>
                </a:solidFill>
              </a:ln>
            </p:spPr>
          </p:sp>
          <p:sp>
            <p:nvSpPr>
              <p:cNvPr id="23" name="Freeform 23"/>
              <p:cNvSpPr/>
              <p:nvPr/>
            </p:nvSpPr>
            <p:spPr>
              <a:xfrm>
                <a:off x="6762750" y="1981200"/>
                <a:ext cx="9525" cy="9525"/>
              </a:xfrm>
              <a:custGeom>
                <a:avLst/>
                <a:gdLst/>
                <a:ahLst/>
                <a:cxnLst/>
                <a:rect l="l" t="t" r="r" b="b"/>
                <a:pathLst>
                  <a:path w="9525" h="9525">
                    <a:moveTo>
                      <a:pt x="0" y="0"/>
                    </a:moveTo>
                    <a:lnTo>
                      <a:pt x="143" y="0"/>
                    </a:lnTo>
                  </a:path>
                </a:pathLst>
              </a:custGeom>
              <a:noFill/>
              <a:ln w="19050">
                <a:solidFill>
                  <a:srgbClr val="F59E0B"/>
                </a:solidFill>
              </a:ln>
            </p:spPr>
          </p:sp>
        </p:grpSp>
        <p:sp>
          <p:nvSpPr>
            <p:cNvPr id="25" name="TextBox 25"/>
            <p:cNvSpPr txBox="1"/>
            <p:nvPr/>
          </p:nvSpPr>
          <p:spPr>
            <a:xfrm>
              <a:off x="7029450" y="1857375"/>
              <a:ext cx="2253877" cy="304800"/>
            </a:xfrm>
            <a:prstGeom prst="rect">
              <a:avLst/>
            </a:prstGeom>
            <a:noFill/>
            <a:ln>
              <a:noFill/>
            </a:ln>
          </p:spPr>
          <p:txBody>
            <a:bodyPr wrap="none" lIns="0" tIns="0" rIns="0" bIns="0" anchor="t" anchorCtr="0">
              <a:spAutoFit/>
            </a:bodyPr>
            <a:lstStyle/>
            <a:p>
              <a:pPr algn="l"/>
              <a:r>
                <a:rPr lang="zh-CN" sz="1500" b="1" dirty="0">
                  <a:solidFill>
                    <a:srgbClr val="25364A"/>
                  </a:solidFill>
                  <a:latin typeface="Arial"/>
                  <a:ea typeface="Microsoft YaHei"/>
                  <a:cs typeface="Arial"/>
                </a:rPr>
                <a:t>组织层面:感受不到提速</a:t>
              </a:r>
            </a:p>
          </p:txBody>
        </p:sp>
        <p:sp>
          <p:nvSpPr>
            <p:cNvPr id="26" name="Line 26"/>
            <p:cNvSpPr/>
            <p:nvPr/>
          </p:nvSpPr>
          <p:spPr>
            <a:xfrm>
              <a:off x="6591300" y="2286000"/>
              <a:ext cx="4648200" cy="9525"/>
            </a:xfrm>
            <a:custGeom>
              <a:avLst/>
              <a:gdLst/>
              <a:ahLst/>
              <a:cxnLst/>
              <a:rect l="l" t="t" r="r" b="b"/>
              <a:pathLst>
                <a:path w="4648200" h="9525">
                  <a:moveTo>
                    <a:pt x="0" y="0"/>
                  </a:moveTo>
                  <a:lnTo>
                    <a:pt x="4648200" y="0"/>
                  </a:lnTo>
                </a:path>
              </a:pathLst>
            </a:custGeom>
            <a:noFill/>
            <a:ln w="9525">
              <a:solidFill>
                <a:srgbClr val="E3E9F2"/>
              </a:solidFill>
            </a:ln>
          </p:spPr>
        </p:sp>
        <p:sp>
          <p:nvSpPr>
            <p:cNvPr id="27" name="TextBox 27"/>
            <p:cNvSpPr txBox="1"/>
            <p:nvPr/>
          </p:nvSpPr>
          <p:spPr>
            <a:xfrm>
              <a:off x="6576060" y="2575560"/>
              <a:ext cx="1150620"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需求仍然在排队</a:t>
              </a:r>
            </a:p>
          </p:txBody>
        </p:sp>
        <p:sp>
          <p:nvSpPr>
            <p:cNvPr id="28" name="TextBox 28"/>
            <p:cNvSpPr txBox="1"/>
            <p:nvPr/>
          </p:nvSpPr>
          <p:spPr>
            <a:xfrm>
              <a:off x="6576060" y="2956560"/>
              <a:ext cx="1470660"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版本仍按原节奏推进</a:t>
              </a:r>
            </a:p>
          </p:txBody>
        </p:sp>
        <p:sp>
          <p:nvSpPr>
            <p:cNvPr id="29" name="TextBox 29"/>
            <p:cNvSpPr txBox="1"/>
            <p:nvPr/>
          </p:nvSpPr>
          <p:spPr>
            <a:xfrm>
              <a:off x="6576060" y="3337560"/>
              <a:ext cx="2110740"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跨团队沟通、联调评审仍反复</a:t>
              </a:r>
            </a:p>
          </p:txBody>
        </p:sp>
        <p:sp>
          <p:nvSpPr>
            <p:cNvPr id="30" name="TextBox 30"/>
            <p:cNvSpPr txBox="1"/>
            <p:nvPr/>
          </p:nvSpPr>
          <p:spPr>
            <a:xfrm>
              <a:off x="6576060" y="3718560"/>
              <a:ext cx="1310640"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测试环境仍然紧张</a:t>
              </a:r>
            </a:p>
          </p:txBody>
        </p:sp>
        <p:sp>
          <p:nvSpPr>
            <p:cNvPr id="31" name="TextBox 31"/>
            <p:cNvSpPr txBox="1"/>
            <p:nvPr/>
          </p:nvSpPr>
          <p:spPr>
            <a:xfrm>
              <a:off x="6574155" y="4273868"/>
              <a:ext cx="2113550"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组织整体并没有同步变快</a:t>
              </a:r>
            </a:p>
          </p:txBody>
        </p:sp>
      </p:grpSp>
      <p:grpSp>
        <p:nvGrpSpPr>
          <p:cNvPr id="36" name="Group 36"/>
          <p:cNvGrpSpPr/>
          <p:nvPr/>
        </p:nvGrpSpPr>
        <p:grpSpPr>
          <a:xfrm>
            <a:off x="762000" y="5219700"/>
            <a:ext cx="10668000" cy="952500"/>
            <a:chOff x="762000" y="5219700"/>
            <a:chExt cx="10668000" cy="952500"/>
          </a:xfrm>
        </p:grpSpPr>
        <p:sp>
          <p:nvSpPr>
            <p:cNvPr id="33" name="Rectangle 33"/>
            <p:cNvSpPr/>
            <p:nvPr/>
          </p:nvSpPr>
          <p:spPr>
            <a:xfrm>
              <a:off x="762000" y="5219700"/>
              <a:ext cx="10668000" cy="952500"/>
            </a:xfrm>
            <a:prstGeom prst="roundRect">
              <a:avLst>
                <a:gd name="adj" fmla="val 16000"/>
              </a:avLst>
            </a:prstGeom>
            <a:solidFill>
              <a:srgbClr val="0052A6"/>
            </a:solidFill>
            <a:ln>
              <a:noFill/>
            </a:ln>
          </p:spPr>
        </p:sp>
        <p:sp>
          <p:nvSpPr>
            <p:cNvPr id="34" name="TextBox 34"/>
            <p:cNvSpPr txBox="1"/>
            <p:nvPr/>
          </p:nvSpPr>
          <p:spPr>
            <a:xfrm>
              <a:off x="4528128" y="5360670"/>
              <a:ext cx="3135744" cy="487680"/>
            </a:xfrm>
            <a:prstGeom prst="rect">
              <a:avLst/>
            </a:prstGeom>
            <a:noFill/>
            <a:ln>
              <a:noFill/>
            </a:ln>
          </p:spPr>
          <p:txBody>
            <a:bodyPr wrap="none" lIns="0" tIns="0" rIns="0" bIns="0" anchor="t" anchorCtr="0">
              <a:spAutoFit/>
            </a:bodyPr>
            <a:lstStyle/>
            <a:p>
              <a:pPr algn="ctr"/>
              <a:r>
                <a:rPr lang="zh-CN" sz="2400" b="1" dirty="0">
                  <a:solidFill>
                    <a:srgbClr val="FFFFFF"/>
                  </a:solidFill>
                  <a:latin typeface="Arial"/>
                  <a:ea typeface="Microsoft YaHei"/>
                  <a:cs typeface="Arial"/>
                </a:rPr>
                <a:t>个人提效 ≠ 组织提效</a:t>
              </a:r>
            </a:p>
          </p:txBody>
        </p:sp>
        <p:sp>
          <p:nvSpPr>
            <p:cNvPr id="35" name="TextBox 35"/>
            <p:cNvSpPr txBox="1"/>
            <p:nvPr/>
          </p:nvSpPr>
          <p:spPr>
            <a:xfrm>
              <a:off x="4596574" y="5814060"/>
              <a:ext cx="2998851"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个人提效已经发生,组织提效没有自然发生</a:t>
              </a:r>
            </a:p>
          </p:txBody>
        </p:sp>
      </p:grpSp>
      <p:grpSp>
        <p:nvGrpSpPr>
          <p:cNvPr id="39" name="Group 39"/>
          <p:cNvGrpSpPr/>
          <p:nvPr/>
        </p:nvGrpSpPr>
        <p:grpSpPr>
          <a:xfrm>
            <a:off x="750570" y="6456045"/>
            <a:ext cx="10689907" cy="182880"/>
            <a:chOff x="750570" y="6456045"/>
            <a:chExt cx="10689907" cy="182880"/>
          </a:xfrm>
        </p:grpSpPr>
        <p:sp>
          <p:nvSpPr>
            <p:cNvPr id="37" name="TextBox 37"/>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第一章 · 核心命题</a:t>
              </a:r>
            </a:p>
          </p:txBody>
        </p:sp>
        <p:sp>
          <p:nvSpPr>
            <p:cNvPr id="38" name="TextBox 38"/>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04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Bottom)">
                                      <p:cBhvr>
                                        <p:cTn id="11" dur="400"/>
                                        <p:tgtEl>
                                          <p:spTgt spid="1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image">
                                      <p:cBhvr>
                                        <p:cTn id="15" dur="400"/>
                                        <p:tgtEl>
                                          <p:spTgt spid="3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P spid="32"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3425" y="609600"/>
            <a:ext cx="4325934" cy="819150"/>
            <a:chOff x="733425" y="609600"/>
            <a:chExt cx="4325934" cy="819150"/>
          </a:xfrm>
        </p:grpSpPr>
        <p:sp>
          <p:nvSpPr>
            <p:cNvPr id="3" name="Rectangle 3"/>
            <p:cNvSpPr/>
            <p:nvPr/>
          </p:nvSpPr>
          <p:spPr>
            <a:xfrm>
              <a:off x="762000" y="609600"/>
              <a:ext cx="533400" cy="57150"/>
            </a:xfrm>
            <a:prstGeom prst="roundRect">
              <a:avLst>
                <a:gd name="adj" fmla="val 50000"/>
              </a:avLst>
            </a:prstGeom>
            <a:solidFill>
              <a:srgbClr val="0052A6"/>
            </a:solidFill>
            <a:ln>
              <a:noFill/>
            </a:ln>
          </p:spPr>
        </p:sp>
        <p:sp>
          <p:nvSpPr>
            <p:cNvPr id="4" name="TextBox 4"/>
            <p:cNvSpPr txBox="1"/>
            <p:nvPr/>
          </p:nvSpPr>
          <p:spPr>
            <a:xfrm>
              <a:off x="733425" y="785812"/>
              <a:ext cx="4325934" cy="457200"/>
            </a:xfrm>
            <a:prstGeom prst="rect">
              <a:avLst/>
            </a:prstGeom>
            <a:noFill/>
            <a:ln>
              <a:noFill/>
            </a:ln>
          </p:spPr>
          <p:txBody>
            <a:bodyPr wrap="none" lIns="0" tIns="0" rIns="0" bIns="0" anchor="t" anchorCtr="0">
              <a:spAutoFit/>
            </a:bodyPr>
            <a:lstStyle/>
            <a:p>
              <a:pPr algn="l"/>
              <a:r>
                <a:rPr lang="zh-CN" sz="2250" b="1" dirty="0">
                  <a:solidFill>
                    <a:srgbClr val="25364A"/>
                  </a:solidFill>
                  <a:latin typeface="Arial"/>
                  <a:ea typeface="Microsoft YaHei"/>
                  <a:cs typeface="Arial"/>
                </a:rPr>
                <a:t>成本结构变了,但协作链路没变</a:t>
              </a:r>
            </a:p>
          </p:txBody>
        </p:sp>
        <p:sp>
          <p:nvSpPr>
            <p:cNvPr id="5" name="TextBox 5"/>
            <p:cNvSpPr txBox="1"/>
            <p:nvPr/>
          </p:nvSpPr>
          <p:spPr>
            <a:xfrm>
              <a:off x="746760" y="1184910"/>
              <a:ext cx="4311015" cy="243840"/>
            </a:xfrm>
            <a:prstGeom prst="rect">
              <a:avLst/>
            </a:prstGeom>
            <a:noFill/>
            <a:ln>
              <a:noFill/>
            </a:ln>
          </p:spPr>
          <p:txBody>
            <a:bodyPr wrap="none" lIns="0" tIns="0" rIns="0" bIns="0" anchor="t" anchorCtr="0">
              <a:spAutoFit/>
            </a:bodyPr>
            <a:lstStyle/>
            <a:p>
              <a:pPr algn="l"/>
              <a:r>
                <a:rPr lang="zh-CN" sz="1200" dirty="0">
                  <a:solidFill>
                    <a:srgbClr val="6B7785"/>
                  </a:solidFill>
                  <a:latin typeface="Arial"/>
                  <a:ea typeface="Microsoft YaHei"/>
                  <a:cs typeface="Arial"/>
                </a:rPr>
                <a:t>瓶颈从"开发产能"转移到"协作链路",链路不变则组织不变快</a:t>
              </a:r>
            </a:p>
          </p:txBody>
        </p:sp>
      </p:grpSp>
      <p:grpSp>
        <p:nvGrpSpPr>
          <p:cNvPr id="14" name="Group 14"/>
          <p:cNvGrpSpPr/>
          <p:nvPr/>
        </p:nvGrpSpPr>
        <p:grpSpPr>
          <a:xfrm>
            <a:off x="762000" y="1638300"/>
            <a:ext cx="7429500" cy="1104900"/>
            <a:chOff x="762000" y="1638300"/>
            <a:chExt cx="7429500" cy="1104900"/>
          </a:xfrm>
        </p:grpSpPr>
        <p:sp>
          <p:nvSpPr>
            <p:cNvPr id="7" name="Rectangle 7"/>
            <p:cNvSpPr/>
            <p:nvPr/>
          </p:nvSpPr>
          <p:spPr>
            <a:xfrm>
              <a:off x="762000" y="1638300"/>
              <a:ext cx="7429500" cy="1104900"/>
            </a:xfrm>
            <a:prstGeom prst="roundRect">
              <a:avLst>
                <a:gd name="adj" fmla="val 12069"/>
              </a:avLst>
            </a:prstGeom>
            <a:solidFill>
              <a:srgbClr val="F4F7FC"/>
            </a:solidFill>
            <a:ln>
              <a:noFill/>
            </a:ln>
          </p:spPr>
        </p:sp>
        <p:sp>
          <p:nvSpPr>
            <p:cNvPr id="8" name="Ellipse 8"/>
            <p:cNvSpPr/>
            <p:nvPr/>
          </p:nvSpPr>
          <p:spPr>
            <a:xfrm>
              <a:off x="971550" y="1771650"/>
              <a:ext cx="419100" cy="419100"/>
            </a:xfrm>
            <a:prstGeom prst="ellipse">
              <a:avLst/>
            </a:prstGeom>
            <a:solidFill>
              <a:srgbClr val="0052A6"/>
            </a:solidFill>
            <a:ln>
              <a:noFill/>
            </a:ln>
          </p:spPr>
        </p:sp>
        <p:sp>
          <p:nvSpPr>
            <p:cNvPr id="9" name="TextBox 9"/>
            <p:cNvSpPr txBox="1"/>
            <p:nvPr/>
          </p:nvSpPr>
          <p:spPr>
            <a:xfrm>
              <a:off x="1111974" y="19116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Freeform 10"/>
            <p:cNvSpPr/>
            <p:nvPr/>
          </p:nvSpPr>
          <p:spPr>
            <a:xfrm>
              <a:off x="1587500" y="1828800"/>
              <a:ext cx="177800" cy="228600"/>
            </a:xfrm>
            <a:custGeom>
              <a:avLst/>
              <a:gdLst/>
              <a:ahLst/>
              <a:cxnLst/>
              <a:rect l="l" t="t" r="r" b="b"/>
              <a:pathLst>
                <a:path w="177800" h="228600">
                  <a:moveTo>
                    <a:pt x="101600" y="0"/>
                  </a:moveTo>
                  <a:lnTo>
                    <a:pt x="101600" y="88900"/>
                  </a:lnTo>
                  <a:lnTo>
                    <a:pt x="177800" y="88900"/>
                  </a:lnTo>
                  <a:lnTo>
                    <a:pt x="76200" y="228600"/>
                  </a:lnTo>
                  <a:lnTo>
                    <a:pt x="76200" y="139700"/>
                  </a:lnTo>
                  <a:lnTo>
                    <a:pt x="0" y="139700"/>
                  </a:lnTo>
                  <a:lnTo>
                    <a:pt x="101600" y="0"/>
                  </a:lnTo>
                </a:path>
              </a:pathLst>
            </a:custGeom>
            <a:noFill/>
            <a:ln w="19050">
              <a:solidFill>
                <a:srgbClr val="0052A6"/>
              </a:solidFill>
            </a:ln>
          </p:spPr>
        </p:sp>
        <p:sp>
          <p:nvSpPr>
            <p:cNvPr id="11" name="TextBox 11"/>
            <p:cNvSpPr txBox="1"/>
            <p:nvPr/>
          </p:nvSpPr>
          <p:spPr>
            <a:xfrm>
              <a:off x="1962150" y="1819275"/>
              <a:ext cx="1298258" cy="304800"/>
            </a:xfrm>
            <a:prstGeom prst="rect">
              <a:avLst/>
            </a:prstGeom>
            <a:noFill/>
            <a:ln>
              <a:noFill/>
            </a:ln>
          </p:spPr>
          <p:txBody>
            <a:bodyPr wrap="none" lIns="0" tIns="0" rIns="0" bIns="0" anchor="t" anchorCtr="0">
              <a:spAutoFit/>
            </a:bodyPr>
            <a:lstStyle/>
            <a:p>
              <a:pPr algn="l"/>
              <a:r>
                <a:rPr lang="zh-CN" sz="1500" b="1" dirty="0">
                  <a:solidFill>
                    <a:srgbClr val="0052A6"/>
                  </a:solidFill>
                  <a:latin typeface="Arial"/>
                  <a:ea typeface="Microsoft YaHei"/>
                  <a:cs typeface="Arial"/>
                </a:rPr>
                <a:t>成本结构变了</a:t>
              </a:r>
            </a:p>
          </p:txBody>
        </p:sp>
        <p:sp>
          <p:nvSpPr>
            <p:cNvPr id="12" name="TextBox 12"/>
            <p:cNvSpPr txBox="1"/>
            <p:nvPr/>
          </p:nvSpPr>
          <p:spPr>
            <a:xfrm>
              <a:off x="1966912" y="2164556"/>
              <a:ext cx="3561517" cy="228600"/>
            </a:xfrm>
            <a:prstGeom prst="rect">
              <a:avLst/>
            </a:prstGeom>
            <a:noFill/>
            <a:ln>
              <a:noFill/>
            </a:ln>
          </p:spPr>
          <p:txBody>
            <a:bodyPr wrap="none" lIns="0" tIns="0" rIns="0" bIns="0" anchor="t" anchorCtr="0">
              <a:spAutoFit/>
            </a:bodyPr>
            <a:lstStyle/>
            <a:p>
              <a:pPr algn="l"/>
              <a:r>
                <a:rPr lang="zh-CN" sz="1125" dirty="0">
                  <a:solidFill>
                    <a:srgbClr val="5E6A78"/>
                  </a:solidFill>
                  <a:latin typeface="Arial"/>
                  <a:ea typeface="Microsoft YaHei"/>
                  <a:cs typeface="Arial"/>
                </a:rPr>
                <a:t>代码理解/生成、测试补充、缺陷分析的成本正在下降</a:t>
              </a:r>
            </a:p>
          </p:txBody>
        </p:sp>
        <p:sp>
          <p:nvSpPr>
            <p:cNvPr id="13" name="TextBox 13"/>
            <p:cNvSpPr txBox="1"/>
            <p:nvPr/>
          </p:nvSpPr>
          <p:spPr>
            <a:xfrm>
              <a:off x="1966912" y="2412206"/>
              <a:ext cx="3794046" cy="228600"/>
            </a:xfrm>
            <a:prstGeom prst="rect">
              <a:avLst/>
            </a:prstGeom>
            <a:noFill/>
            <a:ln>
              <a:noFill/>
            </a:ln>
          </p:spPr>
          <p:txBody>
            <a:bodyPr wrap="none" lIns="0" tIns="0" rIns="0" bIns="0" anchor="t" anchorCtr="0">
              <a:spAutoFit/>
            </a:bodyPr>
            <a:lstStyle/>
            <a:p>
              <a:pPr algn="l"/>
              <a:r>
                <a:rPr lang="zh-CN" sz="1125" dirty="0">
                  <a:solidFill>
                    <a:srgbClr val="5E6A78"/>
                  </a:solidFill>
                  <a:latin typeface="Arial"/>
                  <a:ea typeface="Microsoft YaHei"/>
                  <a:cs typeface="Arial"/>
                </a:rPr>
                <a:t>"写出代码"从最稀缺的能力,变成可被 AI 大幅放大的能力</a:t>
              </a:r>
            </a:p>
          </p:txBody>
        </p:sp>
      </p:grpSp>
      <p:grpSp>
        <p:nvGrpSpPr>
          <p:cNvPr id="25" name="Group 25"/>
          <p:cNvGrpSpPr/>
          <p:nvPr/>
        </p:nvGrpSpPr>
        <p:grpSpPr>
          <a:xfrm>
            <a:off x="762000" y="2857500"/>
            <a:ext cx="7429500" cy="1104900"/>
            <a:chOff x="762000" y="2857500"/>
            <a:chExt cx="7429500" cy="1104900"/>
          </a:xfrm>
        </p:grpSpPr>
        <p:sp>
          <p:nvSpPr>
            <p:cNvPr id="15" name="Rectangle 15"/>
            <p:cNvSpPr/>
            <p:nvPr/>
          </p:nvSpPr>
          <p:spPr>
            <a:xfrm>
              <a:off x="762000" y="2857500"/>
              <a:ext cx="7429500" cy="1104900"/>
            </a:xfrm>
            <a:prstGeom prst="roundRect">
              <a:avLst>
                <a:gd name="adj" fmla="val 12069"/>
              </a:avLst>
            </a:prstGeom>
            <a:solidFill>
              <a:srgbClr val="F4F7FC"/>
            </a:solidFill>
            <a:ln>
              <a:noFill/>
            </a:ln>
          </p:spPr>
        </p:sp>
        <p:sp>
          <p:nvSpPr>
            <p:cNvPr id="16" name="Ellipse 16"/>
            <p:cNvSpPr/>
            <p:nvPr/>
          </p:nvSpPr>
          <p:spPr>
            <a:xfrm>
              <a:off x="971550" y="2990850"/>
              <a:ext cx="419100" cy="419100"/>
            </a:xfrm>
            <a:prstGeom prst="ellipse">
              <a:avLst/>
            </a:prstGeom>
            <a:solidFill>
              <a:srgbClr val="246BFE"/>
            </a:solidFill>
            <a:ln>
              <a:noFill/>
            </a:ln>
          </p:spPr>
        </p:sp>
        <p:sp>
          <p:nvSpPr>
            <p:cNvPr id="17" name="TextBox 17"/>
            <p:cNvSpPr txBox="1"/>
            <p:nvPr/>
          </p:nvSpPr>
          <p:spPr>
            <a:xfrm>
              <a:off x="1111974" y="31308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grpSp>
          <p:nvGrpSpPr>
            <p:cNvPr id="21" name="Group 21"/>
            <p:cNvGrpSpPr/>
            <p:nvPr/>
          </p:nvGrpSpPr>
          <p:grpSpPr>
            <a:xfrm>
              <a:off x="1562100" y="3048000"/>
              <a:ext cx="228600" cy="228600"/>
              <a:chOff x="1562100" y="3048000"/>
              <a:chExt cx="228600" cy="228600"/>
            </a:xfrm>
          </p:grpSpPr>
          <p:sp>
            <p:nvSpPr>
              <p:cNvPr id="18" name="Freeform 18"/>
              <p:cNvSpPr/>
              <p:nvPr/>
            </p:nvSpPr>
            <p:spPr>
              <a:xfrm>
                <a:off x="1663700" y="314960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246BFE"/>
                </a:solidFill>
              </a:ln>
            </p:spPr>
          </p:sp>
          <p:sp>
            <p:nvSpPr>
              <p:cNvPr id="19" name="Freeform 19"/>
              <p:cNvSpPr/>
              <p:nvPr/>
            </p:nvSpPr>
            <p:spPr>
              <a:xfrm>
                <a:off x="1612900" y="309880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246BFE"/>
                </a:solidFill>
              </a:ln>
            </p:spPr>
          </p:sp>
          <p:sp>
            <p:nvSpPr>
              <p:cNvPr id="20" name="Freeform 20"/>
              <p:cNvSpPr/>
              <p:nvPr/>
            </p:nvSpPr>
            <p:spPr>
              <a:xfrm>
                <a:off x="1562100" y="304800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246BFE"/>
                </a:solidFill>
              </a:ln>
            </p:spPr>
          </p:sp>
        </p:grpSp>
        <p:sp>
          <p:nvSpPr>
            <p:cNvPr id="22" name="TextBox 22"/>
            <p:cNvSpPr txBox="1"/>
            <p:nvPr/>
          </p:nvSpPr>
          <p:spPr>
            <a:xfrm>
              <a:off x="1962150" y="3038475"/>
              <a:ext cx="1088231" cy="304800"/>
            </a:xfrm>
            <a:prstGeom prst="rect">
              <a:avLst/>
            </a:prstGeom>
            <a:noFill/>
            <a:ln>
              <a:noFill/>
            </a:ln>
          </p:spPr>
          <p:txBody>
            <a:bodyPr wrap="none" lIns="0" tIns="0" rIns="0" bIns="0" anchor="t" anchorCtr="0">
              <a:spAutoFit/>
            </a:bodyPr>
            <a:lstStyle/>
            <a:p>
              <a:pPr algn="l"/>
              <a:r>
                <a:rPr lang="zh-CN" sz="1500" b="1" dirty="0">
                  <a:solidFill>
                    <a:srgbClr val="246BFE"/>
                  </a:solidFill>
                  <a:latin typeface="Arial"/>
                  <a:ea typeface="Microsoft YaHei"/>
                  <a:cs typeface="Arial"/>
                </a:rPr>
                <a:t>瓶颈转移了</a:t>
              </a:r>
            </a:p>
          </p:txBody>
        </p:sp>
        <p:sp>
          <p:nvSpPr>
            <p:cNvPr id="23" name="TextBox 23"/>
            <p:cNvSpPr txBox="1"/>
            <p:nvPr/>
          </p:nvSpPr>
          <p:spPr>
            <a:xfrm>
              <a:off x="1966912" y="3383756"/>
              <a:ext cx="2983944" cy="228600"/>
            </a:xfrm>
            <a:prstGeom prst="rect">
              <a:avLst/>
            </a:prstGeom>
            <a:noFill/>
            <a:ln>
              <a:noFill/>
            </a:ln>
          </p:spPr>
          <p:txBody>
            <a:bodyPr wrap="none" lIns="0" tIns="0" rIns="0" bIns="0" anchor="t" anchorCtr="0">
              <a:spAutoFit/>
            </a:bodyPr>
            <a:lstStyle/>
            <a:p>
              <a:pPr algn="l"/>
              <a:r>
                <a:rPr lang="zh-CN" sz="1125" dirty="0">
                  <a:solidFill>
                    <a:srgbClr val="5E6A78"/>
                  </a:solidFill>
                  <a:latin typeface="Arial"/>
                  <a:ea typeface="Microsoft YaHei"/>
                  <a:cs typeface="Arial"/>
                </a:rPr>
                <a:t>新瓶颈在:需求是否清楚 · 架构边界是否合理</a:t>
              </a:r>
            </a:p>
          </p:txBody>
        </p:sp>
        <p:sp>
          <p:nvSpPr>
            <p:cNvPr id="24" name="TextBox 24"/>
            <p:cNvSpPr txBox="1"/>
            <p:nvPr/>
          </p:nvSpPr>
          <p:spPr>
            <a:xfrm>
              <a:off x="1966912" y="3631406"/>
              <a:ext cx="4056578" cy="228600"/>
            </a:xfrm>
            <a:prstGeom prst="rect">
              <a:avLst/>
            </a:prstGeom>
            <a:noFill/>
            <a:ln>
              <a:noFill/>
            </a:ln>
          </p:spPr>
          <p:txBody>
            <a:bodyPr wrap="none" lIns="0" tIns="0" rIns="0" bIns="0" anchor="t" anchorCtr="0">
              <a:spAutoFit/>
            </a:bodyPr>
            <a:lstStyle/>
            <a:p>
              <a:pPr algn="l"/>
              <a:r>
                <a:rPr lang="zh-CN" sz="1125" dirty="0">
                  <a:solidFill>
                    <a:srgbClr val="5E6A78"/>
                  </a:solidFill>
                  <a:latin typeface="Arial"/>
                  <a:ea typeface="Microsoft YaHei"/>
                  <a:cs typeface="Arial"/>
                </a:rPr>
                <a:t>测试能否自动验证 · 环境/数据能否快速准备 · 知识能否复用</a:t>
              </a:r>
            </a:p>
          </p:txBody>
        </p:sp>
      </p:grpSp>
      <p:grpSp>
        <p:nvGrpSpPr>
          <p:cNvPr id="40" name="Group 40"/>
          <p:cNvGrpSpPr/>
          <p:nvPr/>
        </p:nvGrpSpPr>
        <p:grpSpPr>
          <a:xfrm>
            <a:off x="762000" y="4076700"/>
            <a:ext cx="7429500" cy="1104900"/>
            <a:chOff x="762000" y="4076700"/>
            <a:chExt cx="7429500" cy="1104900"/>
          </a:xfrm>
        </p:grpSpPr>
        <p:sp>
          <p:nvSpPr>
            <p:cNvPr id="26" name="Rectangle 26"/>
            <p:cNvSpPr/>
            <p:nvPr/>
          </p:nvSpPr>
          <p:spPr>
            <a:xfrm>
              <a:off x="762000" y="4076700"/>
              <a:ext cx="7429500" cy="1104900"/>
            </a:xfrm>
            <a:prstGeom prst="roundRect">
              <a:avLst>
                <a:gd name="adj" fmla="val 12069"/>
              </a:avLst>
            </a:prstGeom>
            <a:solidFill>
              <a:srgbClr val="F4F7FC"/>
            </a:solidFill>
            <a:ln>
              <a:noFill/>
            </a:ln>
          </p:spPr>
        </p:sp>
        <p:sp>
          <p:nvSpPr>
            <p:cNvPr id="27" name="Rectangle 27"/>
            <p:cNvSpPr/>
            <p:nvPr/>
          </p:nvSpPr>
          <p:spPr>
            <a:xfrm>
              <a:off x="762000" y="4076700"/>
              <a:ext cx="57150" cy="1104900"/>
            </a:xfrm>
            <a:prstGeom prst="roundRect">
              <a:avLst>
                <a:gd name="adj" fmla="val 50000"/>
              </a:avLst>
            </a:prstGeom>
            <a:solidFill>
              <a:srgbClr val="F59E0B"/>
            </a:solidFill>
            <a:ln>
              <a:noFill/>
            </a:ln>
          </p:spPr>
        </p:sp>
        <p:sp>
          <p:nvSpPr>
            <p:cNvPr id="28" name="Ellipse 28"/>
            <p:cNvSpPr/>
            <p:nvPr/>
          </p:nvSpPr>
          <p:spPr>
            <a:xfrm>
              <a:off x="971550" y="4210050"/>
              <a:ext cx="419100" cy="419100"/>
            </a:xfrm>
            <a:prstGeom prst="ellipse">
              <a:avLst/>
            </a:prstGeom>
            <a:solidFill>
              <a:srgbClr val="F59E0B"/>
            </a:solidFill>
            <a:ln>
              <a:noFill/>
            </a:ln>
          </p:spPr>
        </p:sp>
        <p:sp>
          <p:nvSpPr>
            <p:cNvPr id="29" name="TextBox 29"/>
            <p:cNvSpPr txBox="1"/>
            <p:nvPr/>
          </p:nvSpPr>
          <p:spPr>
            <a:xfrm>
              <a:off x="1111974" y="43500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grpSp>
          <p:nvGrpSpPr>
            <p:cNvPr id="36" name="Group 36"/>
            <p:cNvGrpSpPr/>
            <p:nvPr/>
          </p:nvGrpSpPr>
          <p:grpSpPr>
            <a:xfrm>
              <a:off x="1587500" y="4279900"/>
              <a:ext cx="190500" cy="203200"/>
              <a:chOff x="1587500" y="4279900"/>
              <a:chExt cx="190500" cy="203200"/>
            </a:xfrm>
          </p:grpSpPr>
          <p:sp>
            <p:nvSpPr>
              <p:cNvPr id="30" name="Freeform 30"/>
              <p:cNvSpPr/>
              <p:nvPr/>
            </p:nvSpPr>
            <p:spPr>
              <a:xfrm>
                <a:off x="1587500" y="44323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59E0B"/>
                </a:solidFill>
              </a:ln>
            </p:spPr>
          </p:sp>
          <p:sp>
            <p:nvSpPr>
              <p:cNvPr id="31" name="Freeform 31"/>
              <p:cNvSpPr/>
              <p:nvPr/>
            </p:nvSpPr>
            <p:spPr>
              <a:xfrm>
                <a:off x="1587500" y="42799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59E0B"/>
                </a:solidFill>
              </a:ln>
            </p:spPr>
          </p:sp>
          <p:sp>
            <p:nvSpPr>
              <p:cNvPr id="32" name="Freeform 32"/>
              <p:cNvSpPr/>
              <p:nvPr/>
            </p:nvSpPr>
            <p:spPr>
              <a:xfrm>
                <a:off x="1714500" y="42799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59E0B"/>
                </a:solidFill>
              </a:ln>
            </p:spPr>
          </p:sp>
          <p:sp>
            <p:nvSpPr>
              <p:cNvPr id="33" name="Freeform 33"/>
              <p:cNvSpPr/>
              <p:nvPr/>
            </p:nvSpPr>
            <p:spPr>
              <a:xfrm>
                <a:off x="1612900" y="4330700"/>
                <a:ext cx="9525" cy="101600"/>
              </a:xfrm>
              <a:custGeom>
                <a:avLst/>
                <a:gdLst/>
                <a:ahLst/>
                <a:cxnLst/>
                <a:rect l="l" t="t" r="r" b="b"/>
                <a:pathLst>
                  <a:path w="9525" h="101600">
                    <a:moveTo>
                      <a:pt x="0" y="0"/>
                    </a:moveTo>
                    <a:lnTo>
                      <a:pt x="0" y="101600"/>
                    </a:lnTo>
                  </a:path>
                </a:pathLst>
              </a:custGeom>
              <a:noFill/>
              <a:ln w="19050">
                <a:solidFill>
                  <a:srgbClr val="F59E0B"/>
                </a:solidFill>
              </a:ln>
            </p:spPr>
          </p:sp>
          <p:sp>
            <p:nvSpPr>
              <p:cNvPr id="34" name="Freeform 34"/>
              <p:cNvSpPr/>
              <p:nvPr/>
            </p:nvSpPr>
            <p:spPr>
              <a:xfrm>
                <a:off x="1638300" y="4368800"/>
                <a:ext cx="101600" cy="88900"/>
              </a:xfrm>
              <a:custGeom>
                <a:avLst/>
                <a:gdLst/>
                <a:ahLst/>
                <a:cxnLst/>
                <a:rect l="l" t="t" r="r" b="b"/>
                <a:pathLst>
                  <a:path w="101600" h="88900">
                    <a:moveTo>
                      <a:pt x="0" y="88900"/>
                    </a:moveTo>
                    <a:lnTo>
                      <a:pt x="76200" y="88900"/>
                    </a:lnTo>
                    <a:cubicBezTo>
                      <a:pt x="90228" y="88900"/>
                      <a:pt x="101600" y="77528"/>
                      <a:pt x="101600" y="63500"/>
                    </a:cubicBezTo>
                    <a:lnTo>
                      <a:pt x="101600" y="0"/>
                    </a:lnTo>
                  </a:path>
                </a:pathLst>
              </a:custGeom>
              <a:noFill/>
              <a:ln w="19050">
                <a:solidFill>
                  <a:srgbClr val="F59E0B"/>
                </a:solidFill>
              </a:ln>
            </p:spPr>
          </p:sp>
          <p:sp>
            <p:nvSpPr>
              <p:cNvPr id="35" name="Freeform 35"/>
              <p:cNvSpPr/>
              <p:nvPr/>
            </p:nvSpPr>
            <p:spPr>
              <a:xfrm>
                <a:off x="1701800" y="4368800"/>
                <a:ext cx="76200" cy="38100"/>
              </a:xfrm>
              <a:custGeom>
                <a:avLst/>
                <a:gdLst/>
                <a:ahLst/>
                <a:cxnLst/>
                <a:rect l="l" t="t" r="r" b="b"/>
                <a:pathLst>
                  <a:path w="76200" h="38100">
                    <a:moveTo>
                      <a:pt x="0" y="38100"/>
                    </a:moveTo>
                    <a:lnTo>
                      <a:pt x="38100" y="0"/>
                    </a:lnTo>
                    <a:lnTo>
                      <a:pt x="76200" y="38100"/>
                    </a:lnTo>
                  </a:path>
                </a:pathLst>
              </a:custGeom>
              <a:noFill/>
              <a:ln w="19050">
                <a:solidFill>
                  <a:srgbClr val="F59E0B"/>
                </a:solidFill>
              </a:ln>
            </p:spPr>
          </p:sp>
        </p:grpSp>
        <p:sp>
          <p:nvSpPr>
            <p:cNvPr id="37" name="TextBox 37"/>
            <p:cNvSpPr txBox="1"/>
            <p:nvPr/>
          </p:nvSpPr>
          <p:spPr>
            <a:xfrm>
              <a:off x="1962150" y="4257675"/>
              <a:ext cx="2589919" cy="304800"/>
            </a:xfrm>
            <a:prstGeom prst="rect">
              <a:avLst/>
            </a:prstGeom>
            <a:noFill/>
            <a:ln>
              <a:noFill/>
            </a:ln>
          </p:spPr>
          <p:txBody>
            <a:bodyPr wrap="none" lIns="0" tIns="0" rIns="0" bIns="0" anchor="t" anchorCtr="0">
              <a:spAutoFit/>
            </a:bodyPr>
            <a:lstStyle/>
            <a:p>
              <a:pPr algn="l"/>
              <a:r>
                <a:rPr lang="zh-CN" sz="1500" b="1" dirty="0">
                  <a:solidFill>
                    <a:srgbClr val="F59E0B"/>
                  </a:solidFill>
                  <a:latin typeface="Arial"/>
                  <a:ea typeface="Microsoft YaHei"/>
                  <a:cs typeface="Arial"/>
                </a:rPr>
                <a:t>协作链路没变 → 组织不变快</a:t>
              </a:r>
            </a:p>
          </p:txBody>
        </p:sp>
        <p:sp>
          <p:nvSpPr>
            <p:cNvPr id="38" name="TextBox 38"/>
            <p:cNvSpPr txBox="1"/>
            <p:nvPr/>
          </p:nvSpPr>
          <p:spPr>
            <a:xfrm>
              <a:off x="1966912" y="4602956"/>
              <a:ext cx="4274106" cy="228600"/>
            </a:xfrm>
            <a:prstGeom prst="rect">
              <a:avLst/>
            </a:prstGeom>
            <a:noFill/>
            <a:ln>
              <a:noFill/>
            </a:ln>
          </p:spPr>
          <p:txBody>
            <a:bodyPr wrap="none" lIns="0" tIns="0" rIns="0" bIns="0" anchor="t" anchorCtr="0">
              <a:spAutoFit/>
            </a:bodyPr>
            <a:lstStyle/>
            <a:p>
              <a:pPr algn="l"/>
              <a:r>
                <a:rPr lang="zh-CN" sz="1125" dirty="0">
                  <a:solidFill>
                    <a:srgbClr val="5E6A78"/>
                  </a:solidFill>
                  <a:latin typeface="Arial"/>
                  <a:ea typeface="Microsoft YaHei"/>
                  <a:cs typeface="Arial"/>
                </a:rPr>
                <a:t>软件交付是一条协作链:需求 → 评审 → 合入 → 验证 → 发布 → 运营</a:t>
              </a:r>
            </a:p>
          </p:txBody>
        </p:sp>
        <p:sp>
          <p:nvSpPr>
            <p:cNvPr id="39" name="TextBox 39"/>
            <p:cNvSpPr txBox="1"/>
            <p:nvPr/>
          </p:nvSpPr>
          <p:spPr>
            <a:xfrm>
              <a:off x="1966912" y="4850606"/>
              <a:ext cx="4274106" cy="228600"/>
            </a:xfrm>
            <a:prstGeom prst="rect">
              <a:avLst/>
            </a:prstGeom>
            <a:noFill/>
            <a:ln>
              <a:noFill/>
            </a:ln>
          </p:spPr>
          <p:txBody>
            <a:bodyPr wrap="none" lIns="0" tIns="0" rIns="0" bIns="0" anchor="t" anchorCtr="0">
              <a:spAutoFit/>
            </a:bodyPr>
            <a:lstStyle/>
            <a:p>
              <a:pPr algn="l"/>
              <a:r>
                <a:rPr lang="zh-CN" sz="1125" dirty="0">
                  <a:solidFill>
                    <a:srgbClr val="5E6A78"/>
                  </a:solidFill>
                  <a:latin typeface="Arial"/>
                  <a:ea typeface="Microsoft YaHei"/>
                  <a:cs typeface="Arial"/>
                </a:rPr>
                <a:t>只给每人加 AI 工具,链路不变 → 协作链路仍是瓶颈 → 组织不变快</a:t>
              </a:r>
            </a:p>
          </p:txBody>
        </p:sp>
      </p:grpSp>
      <p:grpSp>
        <p:nvGrpSpPr>
          <p:cNvPr id="59" name="Group 59"/>
          <p:cNvGrpSpPr/>
          <p:nvPr/>
        </p:nvGrpSpPr>
        <p:grpSpPr>
          <a:xfrm>
            <a:off x="8477250" y="1638300"/>
            <a:ext cx="2952750" cy="3543300"/>
            <a:chOff x="8477250" y="1638300"/>
            <a:chExt cx="2952750" cy="3543300"/>
          </a:xfrm>
        </p:grpSpPr>
        <p:sp>
          <p:nvSpPr>
            <p:cNvPr id="41" name="Rectangle 41"/>
            <p:cNvSpPr/>
            <p:nvPr/>
          </p:nvSpPr>
          <p:spPr>
            <a:xfrm>
              <a:off x="8477250" y="1638300"/>
              <a:ext cx="2952750" cy="3543300"/>
            </a:xfrm>
            <a:prstGeom prst="roundRect">
              <a:avLst>
                <a:gd name="adj" fmla="val 4516"/>
              </a:avLst>
            </a:prstGeom>
            <a:solidFill>
              <a:srgbClr val="0E367A"/>
            </a:solidFill>
            <a:ln>
              <a:noFill/>
            </a:ln>
          </p:spPr>
        </p:sp>
        <p:sp>
          <p:nvSpPr>
            <p:cNvPr id="42" name="TextBox 42"/>
            <p:cNvSpPr txBox="1"/>
            <p:nvPr/>
          </p:nvSpPr>
          <p:spPr>
            <a:xfrm>
              <a:off x="9350312" y="1870710"/>
              <a:ext cx="120662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软件交付协作链</a:t>
              </a:r>
            </a:p>
          </p:txBody>
        </p:sp>
        <p:sp>
          <p:nvSpPr>
            <p:cNvPr id="43" name="Line 43"/>
            <p:cNvSpPr/>
            <p:nvPr/>
          </p:nvSpPr>
          <p:spPr>
            <a:xfrm>
              <a:off x="8763000" y="2190750"/>
              <a:ext cx="2381250" cy="9525"/>
            </a:xfrm>
            <a:custGeom>
              <a:avLst/>
              <a:gdLst/>
              <a:ahLst/>
              <a:cxnLst/>
              <a:rect l="l" t="t" r="r" b="b"/>
              <a:pathLst>
                <a:path w="2381250" h="9525">
                  <a:moveTo>
                    <a:pt x="0" y="0"/>
                  </a:moveTo>
                  <a:lnTo>
                    <a:pt x="2381250" y="0"/>
                  </a:lnTo>
                </a:path>
              </a:pathLst>
            </a:custGeom>
            <a:noFill/>
            <a:ln w="9525">
              <a:solidFill>
                <a:srgbClr val="246BFE">
                  <a:alpha val="50000"/>
                </a:srgbClr>
              </a:solidFill>
            </a:ln>
          </p:spPr>
        </p:sp>
        <p:sp>
          <p:nvSpPr>
            <p:cNvPr id="44" name="Rectangle 44"/>
            <p:cNvSpPr/>
            <p:nvPr/>
          </p:nvSpPr>
          <p:spPr>
            <a:xfrm>
              <a:off x="8686800" y="2400300"/>
              <a:ext cx="1143000" cy="381000"/>
            </a:xfrm>
            <a:prstGeom prst="roundRect">
              <a:avLst>
                <a:gd name="adj" fmla="val 50000"/>
              </a:avLst>
            </a:prstGeom>
            <a:solidFill>
              <a:srgbClr val="FFFFFF">
                <a:alpha val="10000"/>
              </a:srgbClr>
            </a:solidFill>
            <a:ln>
              <a:noFill/>
            </a:ln>
          </p:spPr>
        </p:sp>
        <p:sp>
          <p:nvSpPr>
            <p:cNvPr id="45" name="TextBox 45"/>
            <p:cNvSpPr txBox="1"/>
            <p:nvPr/>
          </p:nvSpPr>
          <p:spPr>
            <a:xfrm>
              <a:off x="9104948" y="2534602"/>
              <a:ext cx="30670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需求</a:t>
              </a:r>
            </a:p>
          </p:txBody>
        </p:sp>
        <p:sp>
          <p:nvSpPr>
            <p:cNvPr id="46" name="Rectangle 46"/>
            <p:cNvSpPr/>
            <p:nvPr/>
          </p:nvSpPr>
          <p:spPr>
            <a:xfrm>
              <a:off x="10077450" y="2400300"/>
              <a:ext cx="1143000" cy="381000"/>
            </a:xfrm>
            <a:prstGeom prst="roundRect">
              <a:avLst>
                <a:gd name="adj" fmla="val 50000"/>
              </a:avLst>
            </a:prstGeom>
            <a:solidFill>
              <a:srgbClr val="FFFFFF">
                <a:alpha val="10000"/>
              </a:srgbClr>
            </a:solidFill>
            <a:ln>
              <a:noFill/>
            </a:ln>
          </p:spPr>
        </p:sp>
        <p:sp>
          <p:nvSpPr>
            <p:cNvPr id="47" name="TextBox 47"/>
            <p:cNvSpPr txBox="1"/>
            <p:nvPr/>
          </p:nvSpPr>
          <p:spPr>
            <a:xfrm>
              <a:off x="10495597" y="2534602"/>
              <a:ext cx="30670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方案</a:t>
              </a:r>
            </a:p>
          </p:txBody>
        </p:sp>
        <p:sp>
          <p:nvSpPr>
            <p:cNvPr id="48" name="Rectangle 48"/>
            <p:cNvSpPr/>
            <p:nvPr/>
          </p:nvSpPr>
          <p:spPr>
            <a:xfrm>
              <a:off x="8686800" y="3048000"/>
              <a:ext cx="1143000" cy="381000"/>
            </a:xfrm>
            <a:prstGeom prst="roundRect">
              <a:avLst>
                <a:gd name="adj" fmla="val 50000"/>
              </a:avLst>
            </a:prstGeom>
            <a:solidFill>
              <a:srgbClr val="FFFFFF">
                <a:alpha val="10000"/>
              </a:srgbClr>
            </a:solidFill>
            <a:ln>
              <a:noFill/>
            </a:ln>
          </p:spPr>
        </p:sp>
        <p:sp>
          <p:nvSpPr>
            <p:cNvPr id="49" name="TextBox 49"/>
            <p:cNvSpPr txBox="1"/>
            <p:nvPr/>
          </p:nvSpPr>
          <p:spPr>
            <a:xfrm>
              <a:off x="9104948" y="3182302"/>
              <a:ext cx="30670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编码</a:t>
              </a:r>
            </a:p>
          </p:txBody>
        </p:sp>
        <p:sp>
          <p:nvSpPr>
            <p:cNvPr id="50" name="Rectangle 50"/>
            <p:cNvSpPr/>
            <p:nvPr/>
          </p:nvSpPr>
          <p:spPr>
            <a:xfrm>
              <a:off x="10077450" y="3048000"/>
              <a:ext cx="1143000" cy="381000"/>
            </a:xfrm>
            <a:prstGeom prst="roundRect">
              <a:avLst>
                <a:gd name="adj" fmla="val 50000"/>
              </a:avLst>
            </a:prstGeom>
            <a:solidFill>
              <a:srgbClr val="FFFFFF">
                <a:alpha val="10000"/>
              </a:srgbClr>
            </a:solidFill>
            <a:ln>
              <a:noFill/>
            </a:ln>
          </p:spPr>
        </p:sp>
        <p:sp>
          <p:nvSpPr>
            <p:cNvPr id="51" name="TextBox 51"/>
            <p:cNvSpPr txBox="1"/>
            <p:nvPr/>
          </p:nvSpPr>
          <p:spPr>
            <a:xfrm>
              <a:off x="10495597" y="3182302"/>
              <a:ext cx="30670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测试</a:t>
              </a:r>
            </a:p>
          </p:txBody>
        </p:sp>
        <p:sp>
          <p:nvSpPr>
            <p:cNvPr id="52" name="Rectangle 52"/>
            <p:cNvSpPr/>
            <p:nvPr/>
          </p:nvSpPr>
          <p:spPr>
            <a:xfrm>
              <a:off x="8686800" y="3695700"/>
              <a:ext cx="1143000" cy="381000"/>
            </a:xfrm>
            <a:prstGeom prst="roundRect">
              <a:avLst>
                <a:gd name="adj" fmla="val 50000"/>
              </a:avLst>
            </a:prstGeom>
            <a:solidFill>
              <a:srgbClr val="FFFFFF">
                <a:alpha val="10000"/>
              </a:srgbClr>
            </a:solidFill>
            <a:ln>
              <a:noFill/>
            </a:ln>
          </p:spPr>
        </p:sp>
        <p:sp>
          <p:nvSpPr>
            <p:cNvPr id="53" name="TextBox 53"/>
            <p:cNvSpPr txBox="1"/>
            <p:nvPr/>
          </p:nvSpPr>
          <p:spPr>
            <a:xfrm>
              <a:off x="9104948" y="3830002"/>
              <a:ext cx="30670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发布</a:t>
              </a:r>
            </a:p>
          </p:txBody>
        </p:sp>
        <p:sp>
          <p:nvSpPr>
            <p:cNvPr id="54" name="Rectangle 54"/>
            <p:cNvSpPr/>
            <p:nvPr/>
          </p:nvSpPr>
          <p:spPr>
            <a:xfrm>
              <a:off x="10077450" y="3695700"/>
              <a:ext cx="1143000" cy="381000"/>
            </a:xfrm>
            <a:prstGeom prst="roundRect">
              <a:avLst>
                <a:gd name="adj" fmla="val 50000"/>
              </a:avLst>
            </a:prstGeom>
            <a:solidFill>
              <a:srgbClr val="246BFE"/>
            </a:solidFill>
            <a:ln>
              <a:noFill/>
            </a:ln>
          </p:spPr>
        </p:sp>
        <p:sp>
          <p:nvSpPr>
            <p:cNvPr id="55" name="TextBox 55"/>
            <p:cNvSpPr txBox="1"/>
            <p:nvPr/>
          </p:nvSpPr>
          <p:spPr>
            <a:xfrm>
              <a:off x="10488597" y="38300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运营</a:t>
              </a:r>
            </a:p>
          </p:txBody>
        </p:sp>
        <p:sp>
          <p:nvSpPr>
            <p:cNvPr id="56" name="TextBox 56"/>
            <p:cNvSpPr txBox="1"/>
            <p:nvPr/>
          </p:nvSpPr>
          <p:spPr>
            <a:xfrm>
              <a:off x="9616202" y="4447699"/>
              <a:ext cx="674846" cy="198120"/>
            </a:xfrm>
            <a:prstGeom prst="rect">
              <a:avLst/>
            </a:prstGeom>
            <a:noFill/>
            <a:ln>
              <a:noFill/>
            </a:ln>
          </p:spPr>
          <p:txBody>
            <a:bodyPr wrap="none" lIns="0" tIns="0" rIns="0" bIns="0" anchor="t" anchorCtr="0">
              <a:spAutoFit/>
            </a:bodyPr>
            <a:lstStyle/>
            <a:p>
              <a:pPr algn="ctr"/>
              <a:r>
                <a:rPr lang="zh-CN" sz="975" dirty="0">
                  <a:solidFill>
                    <a:srgbClr val="B8C7E0"/>
                  </a:solidFill>
                  <a:latin typeface="Arial"/>
                  <a:ea typeface="Microsoft YaHei"/>
                  <a:cs typeface="Arial"/>
                </a:rPr>
                <a:t>协作链不变</a:t>
              </a:r>
            </a:p>
          </p:txBody>
        </p:sp>
        <p:sp>
          <p:nvSpPr>
            <p:cNvPr id="57" name="TextBox 57"/>
            <p:cNvSpPr txBox="1"/>
            <p:nvPr/>
          </p:nvSpPr>
          <p:spPr>
            <a:xfrm>
              <a:off x="9356169" y="4657249"/>
              <a:ext cx="1194911" cy="198120"/>
            </a:xfrm>
            <a:prstGeom prst="rect">
              <a:avLst/>
            </a:prstGeom>
            <a:noFill/>
            <a:ln>
              <a:noFill/>
            </a:ln>
          </p:spPr>
          <p:txBody>
            <a:bodyPr wrap="none" lIns="0" tIns="0" rIns="0" bIns="0" anchor="t" anchorCtr="0">
              <a:spAutoFit/>
            </a:bodyPr>
            <a:lstStyle/>
            <a:p>
              <a:pPr algn="ctr"/>
              <a:r>
                <a:rPr lang="zh-CN" sz="975" dirty="0">
                  <a:solidFill>
                    <a:srgbClr val="B8C7E0"/>
                  </a:solidFill>
                  <a:latin typeface="Arial"/>
                  <a:ea typeface="Microsoft YaHei"/>
                  <a:cs typeface="Arial"/>
                </a:rPr>
                <a:t>个人变快被链路吃掉</a:t>
              </a:r>
            </a:p>
          </p:txBody>
        </p:sp>
        <p:sp>
          <p:nvSpPr>
            <p:cNvPr id="58" name="TextBox 58"/>
            <p:cNvSpPr txBox="1"/>
            <p:nvPr/>
          </p:nvSpPr>
          <p:spPr>
            <a:xfrm>
              <a:off x="9289734" y="4877752"/>
              <a:ext cx="1327783" cy="213360"/>
            </a:xfrm>
            <a:prstGeom prst="rect">
              <a:avLst/>
            </a:prstGeom>
            <a:noFill/>
            <a:ln>
              <a:noFill/>
            </a:ln>
          </p:spPr>
          <p:txBody>
            <a:bodyPr wrap="none" lIns="0" tIns="0" rIns="0" bIns="0" anchor="t" anchorCtr="0">
              <a:spAutoFit/>
            </a:bodyPr>
            <a:lstStyle/>
            <a:p>
              <a:pPr algn="ctr"/>
              <a:r>
                <a:rPr lang="zh-CN" sz="1050" b="1" dirty="0">
                  <a:solidFill>
                    <a:srgbClr val="518FEC"/>
                  </a:solidFill>
                  <a:latin typeface="Arial"/>
                  <a:ea typeface="Microsoft YaHei"/>
                  <a:cs typeface="Arial"/>
                </a:rPr>
                <a:t>→ 必须重构生产关系</a:t>
              </a:r>
            </a:p>
          </p:txBody>
        </p:sp>
      </p:grpSp>
      <p:grpSp>
        <p:nvGrpSpPr>
          <p:cNvPr id="62" name="Group 62"/>
          <p:cNvGrpSpPr/>
          <p:nvPr/>
        </p:nvGrpSpPr>
        <p:grpSpPr>
          <a:xfrm>
            <a:off x="750570" y="6456045"/>
            <a:ext cx="10689907" cy="182880"/>
            <a:chOff x="750570" y="6456045"/>
            <a:chExt cx="10689907" cy="182880"/>
          </a:xfrm>
        </p:grpSpPr>
        <p:sp>
          <p:nvSpPr>
            <p:cNvPr id="60" name="TextBox 60"/>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第一章 · 核心命题</a:t>
              </a:r>
            </a:p>
          </p:txBody>
        </p:sp>
        <p:sp>
          <p:nvSpPr>
            <p:cNvPr id="61" name="TextBox 61"/>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05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lide(fromBottom)">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slide(fromBottom)">
                                      <p:cBhvr>
                                        <p:cTn id="15" dur="400"/>
                                        <p:tgtEl>
                                          <p:spTgt spid="2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slide(fromBottom)">
                                      <p:cBhvr>
                                        <p:cTn id="19" dur="400"/>
                                        <p:tgtEl>
                                          <p:spTgt spid="40"/>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left)">
                                      <p:cBhvr>
                                        <p:cTn id="23"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25" grpId="0"/>
      <p:bldP spid="40"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3425" y="609600"/>
            <a:ext cx="6531209" cy="819150"/>
            <a:chOff x="733425" y="609600"/>
            <a:chExt cx="6531209" cy="819150"/>
          </a:xfrm>
        </p:grpSpPr>
        <p:sp>
          <p:nvSpPr>
            <p:cNvPr id="3" name="Rectangle 3"/>
            <p:cNvSpPr/>
            <p:nvPr/>
          </p:nvSpPr>
          <p:spPr>
            <a:xfrm>
              <a:off x="762000" y="609600"/>
              <a:ext cx="533400" cy="57150"/>
            </a:xfrm>
            <a:prstGeom prst="roundRect">
              <a:avLst>
                <a:gd name="adj" fmla="val 50000"/>
              </a:avLst>
            </a:prstGeom>
            <a:solidFill>
              <a:srgbClr val="0052A6"/>
            </a:solidFill>
            <a:ln>
              <a:noFill/>
            </a:ln>
          </p:spPr>
        </p:sp>
        <p:sp>
          <p:nvSpPr>
            <p:cNvPr id="4" name="TextBox 4"/>
            <p:cNvSpPr txBox="1"/>
            <p:nvPr/>
          </p:nvSpPr>
          <p:spPr>
            <a:xfrm>
              <a:off x="733425" y="785812"/>
              <a:ext cx="6531209" cy="457200"/>
            </a:xfrm>
            <a:prstGeom prst="rect">
              <a:avLst/>
            </a:prstGeom>
            <a:noFill/>
            <a:ln>
              <a:noFill/>
            </a:ln>
          </p:spPr>
          <p:txBody>
            <a:bodyPr wrap="none" lIns="0" tIns="0" rIns="0" bIns="0" anchor="t" anchorCtr="0">
              <a:spAutoFit/>
            </a:bodyPr>
            <a:lstStyle/>
            <a:p>
              <a:pPr algn="l"/>
              <a:r>
                <a:rPr lang="zh-CN" sz="2250" b="1" dirty="0">
                  <a:solidFill>
                    <a:srgbClr val="25364A"/>
                  </a:solidFill>
                  <a:latin typeface="Arial"/>
                  <a:ea typeface="Microsoft YaHei"/>
                  <a:cs typeface="Arial"/>
                </a:rPr>
                <a:t>先建驾驭框架,把个人变快转化为组织系统提速</a:t>
              </a:r>
            </a:p>
          </p:txBody>
        </p:sp>
        <p:sp>
          <p:nvSpPr>
            <p:cNvPr id="5" name="TextBox 5"/>
            <p:cNvSpPr txBox="1"/>
            <p:nvPr/>
          </p:nvSpPr>
          <p:spPr>
            <a:xfrm>
              <a:off x="746760" y="1184910"/>
              <a:ext cx="3942969" cy="243840"/>
            </a:xfrm>
            <a:prstGeom prst="rect">
              <a:avLst/>
            </a:prstGeom>
            <a:noFill/>
            <a:ln>
              <a:noFill/>
            </a:ln>
          </p:spPr>
          <p:txBody>
            <a:bodyPr wrap="none" lIns="0" tIns="0" rIns="0" bIns="0" anchor="t" anchorCtr="0">
              <a:spAutoFit/>
            </a:bodyPr>
            <a:lstStyle/>
            <a:p>
              <a:pPr algn="l"/>
              <a:r>
                <a:rPr lang="zh-CN" sz="1200" dirty="0">
                  <a:solidFill>
                    <a:srgbClr val="6B7785"/>
                  </a:solidFill>
                  <a:latin typeface="Arial"/>
                  <a:ea typeface="Microsoft YaHei"/>
                  <a:cs typeface="Arial"/>
                </a:rPr>
                <a:t>不是再卖一个 AI 工具,而是让 AI 在组织里可控地跑起来</a:t>
              </a:r>
            </a:p>
          </p:txBody>
        </p:sp>
      </p:grpSp>
      <p:grpSp>
        <p:nvGrpSpPr>
          <p:cNvPr id="22" name="Group 22"/>
          <p:cNvGrpSpPr/>
          <p:nvPr/>
        </p:nvGrpSpPr>
        <p:grpSpPr>
          <a:xfrm>
            <a:off x="4381500" y="2095500"/>
            <a:ext cx="3429000" cy="3429000"/>
            <a:chOff x="4381500" y="2095500"/>
            <a:chExt cx="3429000" cy="3429000"/>
          </a:xfrm>
        </p:grpSpPr>
        <p:sp>
          <p:nvSpPr>
            <p:cNvPr id="7" name="Ellipse 7"/>
            <p:cNvSpPr/>
            <p:nvPr/>
          </p:nvSpPr>
          <p:spPr>
            <a:xfrm>
              <a:off x="4381500" y="2095500"/>
              <a:ext cx="3429000" cy="3429000"/>
            </a:xfrm>
            <a:prstGeom prst="ellipse">
              <a:avLst/>
            </a:prstGeom>
            <a:gradFill>
              <a:gsLst>
                <a:gs pos="0">
                  <a:srgbClr val="246BFE">
                    <a:alpha val="18000"/>
                  </a:srgbClr>
                </a:gs>
                <a:gs pos="100000">
                  <a:srgbClr val="246BFE">
                    <a:alpha val="0"/>
                  </a:srgbClr>
                </a:gs>
              </a:gsLst>
              <a:path path="circle">
                <a:fillToRect l="50000" t="50000" r="50000" b="50000"/>
              </a:path>
            </a:gradFill>
            <a:ln>
              <a:noFill/>
            </a:ln>
          </p:spPr>
        </p:sp>
        <p:sp>
          <p:nvSpPr>
            <p:cNvPr id="8" name="Ellipse 8"/>
            <p:cNvSpPr/>
            <p:nvPr/>
          </p:nvSpPr>
          <p:spPr>
            <a:xfrm>
              <a:off x="4953000" y="2667000"/>
              <a:ext cx="2286000" cy="2286000"/>
            </a:xfrm>
            <a:prstGeom prst="ellipse">
              <a:avLst/>
            </a:prstGeom>
            <a:solidFill>
              <a:srgbClr val="0052A6"/>
            </a:solidFill>
            <a:ln>
              <a:noFill/>
            </a:ln>
          </p:spPr>
        </p:sp>
        <p:sp>
          <p:nvSpPr>
            <p:cNvPr id="9" name="Ellipse 9"/>
            <p:cNvSpPr/>
            <p:nvPr/>
          </p:nvSpPr>
          <p:spPr>
            <a:xfrm>
              <a:off x="4953000" y="2667000"/>
              <a:ext cx="2286000" cy="2286000"/>
            </a:xfrm>
            <a:prstGeom prst="ellipse">
              <a:avLst/>
            </a:prstGeom>
            <a:noFill/>
            <a:ln w="19050">
              <a:solidFill>
                <a:srgbClr val="246BFE">
                  <a:alpha val="40000"/>
                </a:srgbClr>
              </a:solidFill>
            </a:ln>
          </p:spPr>
        </p:sp>
        <p:grpSp>
          <p:nvGrpSpPr>
            <p:cNvPr id="19" name="Group 19"/>
            <p:cNvGrpSpPr/>
            <p:nvPr/>
          </p:nvGrpSpPr>
          <p:grpSpPr>
            <a:xfrm>
              <a:off x="5929312" y="3286125"/>
              <a:ext cx="333376" cy="452437"/>
              <a:chOff x="5929312" y="3286125"/>
              <a:chExt cx="333376" cy="452437"/>
            </a:xfrm>
          </p:grpSpPr>
          <p:sp>
            <p:nvSpPr>
              <p:cNvPr id="10" name="Freeform 10"/>
              <p:cNvSpPr/>
              <p:nvPr/>
            </p:nvSpPr>
            <p:spPr>
              <a:xfrm>
                <a:off x="5953125" y="3333750"/>
                <a:ext cx="285750" cy="190500"/>
              </a:xfrm>
              <a:custGeom>
                <a:avLst/>
                <a:gdLst/>
                <a:ahLst/>
                <a:cxnLst/>
                <a:rect l="l" t="t" r="r" b="b"/>
                <a:pathLst>
                  <a:path w="285750" h="190500">
                    <a:moveTo>
                      <a:pt x="0" y="47625"/>
                    </a:moveTo>
                    <a:cubicBezTo>
                      <a:pt x="0" y="21322"/>
                      <a:pt x="21322" y="0"/>
                      <a:pt x="47625" y="0"/>
                    </a:cubicBezTo>
                    <a:lnTo>
                      <a:pt x="238125" y="0"/>
                    </a:lnTo>
                    <a:cubicBezTo>
                      <a:pt x="264428" y="0"/>
                      <a:pt x="285750" y="21322"/>
                      <a:pt x="285750" y="47625"/>
                    </a:cubicBezTo>
                    <a:lnTo>
                      <a:pt x="285750" y="142875"/>
                    </a:lnTo>
                    <a:cubicBezTo>
                      <a:pt x="285750" y="169178"/>
                      <a:pt x="264428" y="190500"/>
                      <a:pt x="238125" y="190500"/>
                    </a:cubicBezTo>
                    <a:lnTo>
                      <a:pt x="47625" y="190500"/>
                    </a:lnTo>
                    <a:cubicBezTo>
                      <a:pt x="21322" y="190500"/>
                      <a:pt x="0" y="169178"/>
                      <a:pt x="0" y="142875"/>
                    </a:cubicBezTo>
                    <a:lnTo>
                      <a:pt x="0" y="47625"/>
                    </a:lnTo>
                  </a:path>
                </a:pathLst>
              </a:custGeom>
              <a:noFill/>
              <a:ln w="19050">
                <a:solidFill>
                  <a:srgbClr val="FFFFFF"/>
                </a:solidFill>
              </a:ln>
            </p:spPr>
          </p:sp>
          <p:sp>
            <p:nvSpPr>
              <p:cNvPr id="11" name="Freeform 11"/>
              <p:cNvSpPr/>
              <p:nvPr/>
            </p:nvSpPr>
            <p:spPr>
              <a:xfrm>
                <a:off x="6096000" y="3286125"/>
                <a:ext cx="9525" cy="47625"/>
              </a:xfrm>
              <a:custGeom>
                <a:avLst/>
                <a:gdLst/>
                <a:ahLst/>
                <a:cxnLst/>
                <a:rect l="l" t="t" r="r" b="b"/>
                <a:pathLst>
                  <a:path w="9525" h="47625">
                    <a:moveTo>
                      <a:pt x="0" y="0"/>
                    </a:moveTo>
                    <a:lnTo>
                      <a:pt x="0" y="47625"/>
                    </a:lnTo>
                  </a:path>
                </a:pathLst>
              </a:custGeom>
              <a:noFill/>
              <a:ln w="19050">
                <a:solidFill>
                  <a:srgbClr val="FFFFFF"/>
                </a:solidFill>
              </a:ln>
            </p:spPr>
          </p:sp>
          <p:sp>
            <p:nvSpPr>
              <p:cNvPr id="12" name="Freeform 12"/>
              <p:cNvSpPr/>
              <p:nvPr/>
            </p:nvSpPr>
            <p:spPr>
              <a:xfrm>
                <a:off x="6024562" y="3524250"/>
                <a:ext cx="9525" cy="214312"/>
              </a:xfrm>
              <a:custGeom>
                <a:avLst/>
                <a:gdLst/>
                <a:ahLst/>
                <a:cxnLst/>
                <a:rect l="l" t="t" r="r" b="b"/>
                <a:pathLst>
                  <a:path w="9525" h="214312">
                    <a:moveTo>
                      <a:pt x="0" y="0"/>
                    </a:moveTo>
                    <a:lnTo>
                      <a:pt x="0" y="214312"/>
                    </a:lnTo>
                  </a:path>
                </a:pathLst>
              </a:custGeom>
              <a:noFill/>
              <a:ln w="19050">
                <a:solidFill>
                  <a:srgbClr val="FFFFFF"/>
                </a:solidFill>
              </a:ln>
            </p:spPr>
          </p:sp>
          <p:sp>
            <p:nvSpPr>
              <p:cNvPr id="13" name="Freeform 13"/>
              <p:cNvSpPr/>
              <p:nvPr/>
            </p:nvSpPr>
            <p:spPr>
              <a:xfrm>
                <a:off x="6167438" y="3524250"/>
                <a:ext cx="9525" cy="214312"/>
              </a:xfrm>
              <a:custGeom>
                <a:avLst/>
                <a:gdLst/>
                <a:ahLst/>
                <a:cxnLst/>
                <a:rect l="l" t="t" r="r" b="b"/>
                <a:pathLst>
                  <a:path w="9525" h="214312">
                    <a:moveTo>
                      <a:pt x="0" y="0"/>
                    </a:moveTo>
                    <a:lnTo>
                      <a:pt x="0" y="214312"/>
                    </a:lnTo>
                  </a:path>
                </a:pathLst>
              </a:custGeom>
              <a:noFill/>
              <a:ln w="19050">
                <a:solidFill>
                  <a:srgbClr val="FFFFFF"/>
                </a:solidFill>
              </a:ln>
            </p:spPr>
          </p:sp>
          <p:sp>
            <p:nvSpPr>
              <p:cNvPr id="14" name="Freeform 14"/>
              <p:cNvSpPr/>
              <p:nvPr/>
            </p:nvSpPr>
            <p:spPr>
              <a:xfrm>
                <a:off x="5929312" y="3571875"/>
                <a:ext cx="95250" cy="47625"/>
              </a:xfrm>
              <a:custGeom>
                <a:avLst/>
                <a:gdLst/>
                <a:ahLst/>
                <a:cxnLst/>
                <a:rect l="l" t="t" r="r" b="b"/>
                <a:pathLst>
                  <a:path w="95250" h="47625">
                    <a:moveTo>
                      <a:pt x="0" y="47625"/>
                    </a:moveTo>
                    <a:lnTo>
                      <a:pt x="95250" y="0"/>
                    </a:lnTo>
                  </a:path>
                </a:pathLst>
              </a:custGeom>
              <a:noFill/>
              <a:ln w="19050">
                <a:solidFill>
                  <a:srgbClr val="FFFFFF"/>
                </a:solidFill>
              </a:ln>
            </p:spPr>
          </p:sp>
          <p:sp>
            <p:nvSpPr>
              <p:cNvPr id="15" name="Freeform 15"/>
              <p:cNvSpPr/>
              <p:nvPr/>
            </p:nvSpPr>
            <p:spPr>
              <a:xfrm>
                <a:off x="6167438" y="3571875"/>
                <a:ext cx="95250" cy="47625"/>
              </a:xfrm>
              <a:custGeom>
                <a:avLst/>
                <a:gdLst/>
                <a:ahLst/>
                <a:cxnLst/>
                <a:rect l="l" t="t" r="r" b="b"/>
                <a:pathLst>
                  <a:path w="95250" h="47625">
                    <a:moveTo>
                      <a:pt x="0" y="0"/>
                    </a:moveTo>
                    <a:lnTo>
                      <a:pt x="95250" y="47625"/>
                    </a:lnTo>
                  </a:path>
                </a:pathLst>
              </a:custGeom>
              <a:noFill/>
              <a:ln w="19050">
                <a:solidFill>
                  <a:srgbClr val="FFFFFF"/>
                </a:solidFill>
              </a:ln>
            </p:spPr>
          </p:sp>
          <p:sp>
            <p:nvSpPr>
              <p:cNvPr id="16" name="Freeform 16"/>
              <p:cNvSpPr/>
              <p:nvPr/>
            </p:nvSpPr>
            <p:spPr>
              <a:xfrm>
                <a:off x="6024562" y="3667125"/>
                <a:ext cx="142875" cy="9525"/>
              </a:xfrm>
              <a:custGeom>
                <a:avLst/>
                <a:gdLst/>
                <a:ahLst/>
                <a:cxnLst/>
                <a:rect l="l" t="t" r="r" b="b"/>
                <a:pathLst>
                  <a:path w="142875" h="9525">
                    <a:moveTo>
                      <a:pt x="0" y="0"/>
                    </a:moveTo>
                    <a:lnTo>
                      <a:pt x="142875" y="0"/>
                    </a:lnTo>
                  </a:path>
                </a:pathLst>
              </a:custGeom>
              <a:noFill/>
              <a:ln w="19050">
                <a:solidFill>
                  <a:srgbClr val="FFFFFF"/>
                </a:solidFill>
              </a:ln>
            </p:spPr>
          </p:sp>
          <p:sp>
            <p:nvSpPr>
              <p:cNvPr id="17" name="Freeform 17"/>
              <p:cNvSpPr/>
              <p:nvPr/>
            </p:nvSpPr>
            <p:spPr>
              <a:xfrm>
                <a:off x="6048375" y="3429000"/>
                <a:ext cx="9525" cy="9525"/>
              </a:xfrm>
              <a:custGeom>
                <a:avLst/>
                <a:gdLst/>
                <a:ahLst/>
                <a:cxnLst/>
                <a:rect l="l" t="t" r="r" b="b"/>
                <a:pathLst>
                  <a:path w="9525" h="9525">
                    <a:moveTo>
                      <a:pt x="0" y="0"/>
                    </a:moveTo>
                    <a:lnTo>
                      <a:pt x="0" y="238"/>
                    </a:lnTo>
                  </a:path>
                </a:pathLst>
              </a:custGeom>
              <a:noFill/>
              <a:ln w="19050">
                <a:solidFill>
                  <a:srgbClr val="FFFFFF"/>
                </a:solidFill>
              </a:ln>
            </p:spPr>
          </p:sp>
          <p:sp>
            <p:nvSpPr>
              <p:cNvPr id="18" name="Freeform 18"/>
              <p:cNvSpPr/>
              <p:nvPr/>
            </p:nvSpPr>
            <p:spPr>
              <a:xfrm>
                <a:off x="6143625" y="3429000"/>
                <a:ext cx="9525" cy="9525"/>
              </a:xfrm>
              <a:custGeom>
                <a:avLst/>
                <a:gdLst/>
                <a:ahLst/>
                <a:cxnLst/>
                <a:rect l="l" t="t" r="r" b="b"/>
                <a:pathLst>
                  <a:path w="9525" h="9525">
                    <a:moveTo>
                      <a:pt x="0" y="0"/>
                    </a:moveTo>
                    <a:lnTo>
                      <a:pt x="0" y="238"/>
                    </a:lnTo>
                  </a:path>
                </a:pathLst>
              </a:custGeom>
              <a:noFill/>
              <a:ln w="19050">
                <a:solidFill>
                  <a:srgbClr val="FFFFFF"/>
                </a:solidFill>
              </a:ln>
            </p:spPr>
          </p:sp>
        </p:grpSp>
        <p:sp>
          <p:nvSpPr>
            <p:cNvPr id="20" name="TextBox 20"/>
            <p:cNvSpPr txBox="1"/>
            <p:nvPr/>
          </p:nvSpPr>
          <p:spPr>
            <a:xfrm>
              <a:off x="5174032" y="3917632"/>
              <a:ext cx="184393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FarAI 研发流水线</a:t>
              </a:r>
            </a:p>
          </p:txBody>
        </p:sp>
        <p:sp>
          <p:nvSpPr>
            <p:cNvPr id="21" name="TextBox 21"/>
            <p:cNvSpPr txBox="1"/>
            <p:nvPr/>
          </p:nvSpPr>
          <p:spPr>
            <a:xfrm>
              <a:off x="5563552" y="4257199"/>
              <a:ext cx="1064895" cy="198120"/>
            </a:xfrm>
            <a:prstGeom prst="rect">
              <a:avLst/>
            </a:prstGeom>
            <a:noFill/>
            <a:ln>
              <a:noFill/>
            </a:ln>
          </p:spPr>
          <p:txBody>
            <a:bodyPr wrap="none" lIns="0" tIns="0" rIns="0" bIns="0" anchor="t" anchorCtr="0">
              <a:spAutoFit/>
            </a:bodyPr>
            <a:lstStyle/>
            <a:p>
              <a:pPr algn="ctr"/>
              <a:r>
                <a:rPr lang="zh-CN" sz="975" dirty="0">
                  <a:solidFill>
                    <a:srgbClr val="DCE6FB"/>
                  </a:solidFill>
                  <a:latin typeface="Arial"/>
                  <a:ea typeface="Microsoft YaHei"/>
                  <a:cs typeface="Arial"/>
                </a:rPr>
                <a:t>人智协同研发平台</a:t>
              </a:r>
            </a:p>
          </p:txBody>
        </p:sp>
      </p:grpSp>
      <p:grpSp>
        <p:nvGrpSpPr>
          <p:cNvPr id="29" name="Group 29"/>
          <p:cNvGrpSpPr/>
          <p:nvPr/>
        </p:nvGrpSpPr>
        <p:grpSpPr>
          <a:xfrm>
            <a:off x="4667250" y="1485900"/>
            <a:ext cx="2857500" cy="1181100"/>
            <a:chOff x="4667250" y="1485900"/>
            <a:chExt cx="2857500" cy="1181100"/>
          </a:xfrm>
        </p:grpSpPr>
        <p:sp>
          <p:nvSpPr>
            <p:cNvPr id="23" name="Line 23"/>
            <p:cNvSpPr/>
            <p:nvPr/>
          </p:nvSpPr>
          <p:spPr>
            <a:xfrm>
              <a:off x="6096000" y="1905000"/>
              <a:ext cx="9525" cy="762000"/>
            </a:xfrm>
            <a:custGeom>
              <a:avLst/>
              <a:gdLst/>
              <a:ahLst/>
              <a:cxnLst/>
              <a:rect l="l" t="t" r="r" b="b"/>
              <a:pathLst>
                <a:path w="9525" h="762000">
                  <a:moveTo>
                    <a:pt x="0" y="762000"/>
                  </a:moveTo>
                  <a:lnTo>
                    <a:pt x="0" y="0"/>
                  </a:lnTo>
                </a:path>
              </a:pathLst>
            </a:custGeom>
            <a:noFill/>
            <a:ln w="19050">
              <a:solidFill>
                <a:srgbClr val="0052A6"/>
              </a:solidFill>
            </a:ln>
          </p:spPr>
        </p:sp>
        <p:sp>
          <p:nvSpPr>
            <p:cNvPr id="24" name="Polygon 24"/>
            <p:cNvSpPr/>
            <p:nvPr/>
          </p:nvSpPr>
          <p:spPr>
            <a:xfrm>
              <a:off x="6038850" y="1905000"/>
              <a:ext cx="114300" cy="114300"/>
            </a:xfrm>
            <a:custGeom>
              <a:avLst/>
              <a:gdLst/>
              <a:ahLst/>
              <a:cxnLst/>
              <a:rect l="l" t="t" r="r" b="b"/>
              <a:pathLst>
                <a:path w="114300" h="114300">
                  <a:moveTo>
                    <a:pt x="57150" y="0"/>
                  </a:moveTo>
                  <a:lnTo>
                    <a:pt x="0" y="114300"/>
                  </a:lnTo>
                  <a:lnTo>
                    <a:pt x="114300" y="114300"/>
                  </a:lnTo>
                  <a:close/>
                </a:path>
              </a:pathLst>
            </a:custGeom>
            <a:solidFill>
              <a:srgbClr val="0052A6"/>
            </a:solidFill>
            <a:ln>
              <a:noFill/>
            </a:ln>
          </p:spPr>
        </p:sp>
        <p:sp>
          <p:nvSpPr>
            <p:cNvPr id="25" name="Rectangle 25"/>
            <p:cNvSpPr/>
            <p:nvPr/>
          </p:nvSpPr>
          <p:spPr>
            <a:xfrm>
              <a:off x="4667250" y="1485900"/>
              <a:ext cx="2857500" cy="762000"/>
            </a:xfrm>
            <a:prstGeom prst="roundRect">
              <a:avLst>
                <a:gd name="adj" fmla="val 17500"/>
              </a:avLst>
            </a:prstGeom>
            <a:solidFill>
              <a:srgbClr val="0052A6"/>
            </a:solidFill>
            <a:ln>
              <a:noFill/>
            </a:ln>
          </p:spPr>
        </p:sp>
        <p:sp>
          <p:nvSpPr>
            <p:cNvPr id="26" name="Freeform 26"/>
            <p:cNvSpPr/>
            <p:nvPr/>
          </p:nvSpPr>
          <p:spPr>
            <a:xfrm>
              <a:off x="4890561" y="1752600"/>
              <a:ext cx="239178" cy="228600"/>
            </a:xfrm>
            <a:custGeom>
              <a:avLst/>
              <a:gdLst/>
              <a:ahLst/>
              <a:cxnLst/>
              <a:rect l="l" t="t" r="r" b="b"/>
              <a:pathLst>
                <a:path w="239178" h="228600">
                  <a:moveTo>
                    <a:pt x="119589" y="0"/>
                  </a:moveTo>
                  <a:cubicBezTo>
                    <a:pt x="149254" y="26246"/>
                    <a:pt x="187972" y="39911"/>
                    <a:pt x="227539" y="38100"/>
                  </a:cubicBezTo>
                  <a:cubicBezTo>
                    <a:pt x="239178" y="77693"/>
                    <a:pt x="234262" y="120313"/>
                    <a:pt x="213917" y="156217"/>
                  </a:cubicBezTo>
                  <a:cubicBezTo>
                    <a:pt x="193571" y="192121"/>
                    <a:pt x="159535" y="218239"/>
                    <a:pt x="119589" y="228600"/>
                  </a:cubicBezTo>
                  <a:cubicBezTo>
                    <a:pt x="79643" y="218239"/>
                    <a:pt x="45606" y="192121"/>
                    <a:pt x="25261" y="156217"/>
                  </a:cubicBezTo>
                  <a:cubicBezTo>
                    <a:pt x="4915" y="120313"/>
                    <a:pt x="0" y="77693"/>
                    <a:pt x="11639" y="38100"/>
                  </a:cubicBezTo>
                  <a:cubicBezTo>
                    <a:pt x="51206" y="39911"/>
                    <a:pt x="89924" y="26246"/>
                    <a:pt x="119589" y="0"/>
                  </a:cubicBezTo>
                </a:path>
              </a:pathLst>
            </a:custGeom>
            <a:noFill/>
            <a:ln w="19050">
              <a:solidFill>
                <a:srgbClr val="FFFFFF"/>
              </a:solidFill>
            </a:ln>
          </p:spPr>
        </p:sp>
        <p:sp>
          <p:nvSpPr>
            <p:cNvPr id="27" name="TextBox 27"/>
            <p:cNvSpPr txBox="1"/>
            <p:nvPr/>
          </p:nvSpPr>
          <p:spPr>
            <a:xfrm>
              <a:off x="5240655" y="1664018"/>
              <a:ext cx="1168432"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驾驭框架先行</a:t>
              </a:r>
            </a:p>
          </p:txBody>
        </p:sp>
        <p:sp>
          <p:nvSpPr>
            <p:cNvPr id="28" name="TextBox 28"/>
            <p:cNvSpPr txBox="1"/>
            <p:nvPr/>
          </p:nvSpPr>
          <p:spPr>
            <a:xfrm>
              <a:off x="5245418" y="1952149"/>
              <a:ext cx="1844993"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Harness —— 让 AI 改完即可验证</a:t>
              </a:r>
            </a:p>
          </p:txBody>
        </p:sp>
      </p:grpSp>
      <p:grpSp>
        <p:nvGrpSpPr>
          <p:cNvPr id="38" name="Group 38"/>
          <p:cNvGrpSpPr/>
          <p:nvPr/>
        </p:nvGrpSpPr>
        <p:grpSpPr>
          <a:xfrm>
            <a:off x="7239000" y="3429000"/>
            <a:ext cx="3714750" cy="762000"/>
            <a:chOff x="7239000" y="3429000"/>
            <a:chExt cx="3714750" cy="762000"/>
          </a:xfrm>
        </p:grpSpPr>
        <p:sp>
          <p:nvSpPr>
            <p:cNvPr id="30" name="Line 30"/>
            <p:cNvSpPr/>
            <p:nvPr/>
          </p:nvSpPr>
          <p:spPr>
            <a:xfrm>
              <a:off x="7239000" y="3810000"/>
              <a:ext cx="857250" cy="9525"/>
            </a:xfrm>
            <a:custGeom>
              <a:avLst/>
              <a:gdLst/>
              <a:ahLst/>
              <a:cxnLst/>
              <a:rect l="l" t="t" r="r" b="b"/>
              <a:pathLst>
                <a:path w="857250" h="9525">
                  <a:moveTo>
                    <a:pt x="0" y="0"/>
                  </a:moveTo>
                  <a:lnTo>
                    <a:pt x="857250" y="0"/>
                  </a:lnTo>
                </a:path>
              </a:pathLst>
            </a:custGeom>
            <a:noFill/>
            <a:ln w="19050">
              <a:solidFill>
                <a:srgbClr val="246BFE"/>
              </a:solidFill>
            </a:ln>
          </p:spPr>
        </p:sp>
        <p:sp>
          <p:nvSpPr>
            <p:cNvPr id="31" name="Polygon 31"/>
            <p:cNvSpPr/>
            <p:nvPr/>
          </p:nvSpPr>
          <p:spPr>
            <a:xfrm>
              <a:off x="7981950" y="3752850"/>
              <a:ext cx="114300" cy="114300"/>
            </a:xfrm>
            <a:custGeom>
              <a:avLst/>
              <a:gdLst/>
              <a:ahLst/>
              <a:cxnLst/>
              <a:rect l="l" t="t" r="r" b="b"/>
              <a:pathLst>
                <a:path w="114300" h="114300">
                  <a:moveTo>
                    <a:pt x="114300" y="57150"/>
                  </a:moveTo>
                  <a:lnTo>
                    <a:pt x="0" y="0"/>
                  </a:lnTo>
                  <a:lnTo>
                    <a:pt x="0" y="114300"/>
                  </a:lnTo>
                  <a:close/>
                </a:path>
              </a:pathLst>
            </a:custGeom>
            <a:solidFill>
              <a:srgbClr val="246BFE"/>
            </a:solidFill>
            <a:ln>
              <a:noFill/>
            </a:ln>
          </p:spPr>
        </p:sp>
        <p:sp>
          <p:nvSpPr>
            <p:cNvPr id="32" name="Rectangle 32"/>
            <p:cNvSpPr/>
            <p:nvPr/>
          </p:nvSpPr>
          <p:spPr>
            <a:xfrm>
              <a:off x="8096250" y="3429000"/>
              <a:ext cx="2857500" cy="762000"/>
            </a:xfrm>
            <a:prstGeom prst="roundRect">
              <a:avLst>
                <a:gd name="adj" fmla="val 17500"/>
              </a:avLst>
            </a:prstGeom>
            <a:solidFill>
              <a:srgbClr val="246BFE"/>
            </a:solidFill>
            <a:ln>
              <a:noFill/>
            </a:ln>
          </p:spPr>
        </p:sp>
        <p:grpSp>
          <p:nvGrpSpPr>
            <p:cNvPr id="35" name="Group 35"/>
            <p:cNvGrpSpPr/>
            <p:nvPr/>
          </p:nvGrpSpPr>
          <p:grpSpPr>
            <a:xfrm>
              <a:off x="8337550" y="3703500"/>
              <a:ext cx="203200" cy="213000"/>
              <a:chOff x="8337550" y="3703500"/>
              <a:chExt cx="203200" cy="213000"/>
            </a:xfrm>
          </p:grpSpPr>
          <p:sp>
            <p:nvSpPr>
              <p:cNvPr id="33" name="Freeform 33"/>
              <p:cNvSpPr/>
              <p:nvPr/>
            </p:nvSpPr>
            <p:spPr>
              <a:xfrm>
                <a:off x="8337550" y="3703500"/>
                <a:ext cx="203200" cy="93800"/>
              </a:xfrm>
              <a:custGeom>
                <a:avLst/>
                <a:gdLst/>
                <a:ahLst/>
                <a:cxnLst/>
                <a:rect l="l" t="t" r="r" b="b"/>
                <a:pathLst>
                  <a:path w="203200" h="93800">
                    <a:moveTo>
                      <a:pt x="203200" y="93800"/>
                    </a:moveTo>
                    <a:cubicBezTo>
                      <a:pt x="196815" y="47858"/>
                      <a:pt x="160476" y="11871"/>
                      <a:pt x="114474" y="5936"/>
                    </a:cubicBezTo>
                    <a:cubicBezTo>
                      <a:pt x="68472" y="0"/>
                      <a:pt x="24187" y="25584"/>
                      <a:pt x="6350" y="68400"/>
                    </a:cubicBezTo>
                    <a:moveTo>
                      <a:pt x="0" y="17600"/>
                    </a:moveTo>
                    <a:lnTo>
                      <a:pt x="0" y="68400"/>
                    </a:lnTo>
                    <a:lnTo>
                      <a:pt x="50800" y="68400"/>
                    </a:lnTo>
                  </a:path>
                </a:pathLst>
              </a:custGeom>
              <a:noFill/>
              <a:ln w="19050">
                <a:solidFill>
                  <a:srgbClr val="FFFFFF"/>
                </a:solidFill>
              </a:ln>
            </p:spPr>
          </p:sp>
          <p:sp>
            <p:nvSpPr>
              <p:cNvPr id="34" name="Freeform 34"/>
              <p:cNvSpPr/>
              <p:nvPr/>
            </p:nvSpPr>
            <p:spPr>
              <a:xfrm>
                <a:off x="8337550" y="3822700"/>
                <a:ext cx="203200" cy="93800"/>
              </a:xfrm>
              <a:custGeom>
                <a:avLst/>
                <a:gdLst/>
                <a:ahLst/>
                <a:cxnLst/>
                <a:rect l="l" t="t" r="r" b="b"/>
                <a:pathLst>
                  <a:path w="203200" h="93800">
                    <a:moveTo>
                      <a:pt x="0" y="0"/>
                    </a:moveTo>
                    <a:cubicBezTo>
                      <a:pt x="6385" y="45942"/>
                      <a:pt x="42724" y="81929"/>
                      <a:pt x="88726" y="87864"/>
                    </a:cubicBezTo>
                    <a:cubicBezTo>
                      <a:pt x="134728" y="93800"/>
                      <a:pt x="179013" y="68216"/>
                      <a:pt x="196850" y="25400"/>
                    </a:cubicBezTo>
                    <a:moveTo>
                      <a:pt x="203200" y="76200"/>
                    </a:moveTo>
                    <a:lnTo>
                      <a:pt x="203200" y="25400"/>
                    </a:lnTo>
                    <a:lnTo>
                      <a:pt x="152400" y="25400"/>
                    </a:lnTo>
                  </a:path>
                </a:pathLst>
              </a:custGeom>
              <a:noFill/>
              <a:ln w="19050">
                <a:solidFill>
                  <a:srgbClr val="FFFFFF"/>
                </a:solidFill>
              </a:ln>
            </p:spPr>
          </p:sp>
        </p:grpSp>
        <p:sp>
          <p:nvSpPr>
            <p:cNvPr id="36" name="TextBox 36"/>
            <p:cNvSpPr txBox="1"/>
            <p:nvPr/>
          </p:nvSpPr>
          <p:spPr>
            <a:xfrm>
              <a:off x="8669655" y="3607118"/>
              <a:ext cx="97940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四闭环工艺</a:t>
              </a:r>
            </a:p>
          </p:txBody>
        </p:sp>
        <p:sp>
          <p:nvSpPr>
            <p:cNvPr id="37" name="TextBox 37"/>
            <p:cNvSpPr txBox="1"/>
            <p:nvPr/>
          </p:nvSpPr>
          <p:spPr>
            <a:xfrm>
              <a:off x="8674418" y="3895249"/>
              <a:ext cx="2033516"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创意 · 需求 · 交付 · 运营持续闭环</a:t>
              </a:r>
            </a:p>
          </p:txBody>
        </p:sp>
      </p:grpSp>
      <p:grpSp>
        <p:nvGrpSpPr>
          <p:cNvPr id="53" name="Group 53"/>
          <p:cNvGrpSpPr/>
          <p:nvPr/>
        </p:nvGrpSpPr>
        <p:grpSpPr>
          <a:xfrm>
            <a:off x="4667250" y="4953000"/>
            <a:ext cx="2857500" cy="1524000"/>
            <a:chOff x="4667250" y="4953000"/>
            <a:chExt cx="2857500" cy="1524000"/>
          </a:xfrm>
        </p:grpSpPr>
        <p:sp>
          <p:nvSpPr>
            <p:cNvPr id="39" name="Line 39"/>
            <p:cNvSpPr/>
            <p:nvPr/>
          </p:nvSpPr>
          <p:spPr>
            <a:xfrm>
              <a:off x="6096000" y="4953000"/>
              <a:ext cx="9525" cy="762000"/>
            </a:xfrm>
            <a:custGeom>
              <a:avLst/>
              <a:gdLst/>
              <a:ahLst/>
              <a:cxnLst/>
              <a:rect l="l" t="t" r="r" b="b"/>
              <a:pathLst>
                <a:path w="9525" h="762000">
                  <a:moveTo>
                    <a:pt x="0" y="0"/>
                  </a:moveTo>
                  <a:lnTo>
                    <a:pt x="0" y="762000"/>
                  </a:lnTo>
                </a:path>
              </a:pathLst>
            </a:custGeom>
            <a:noFill/>
            <a:ln w="19050">
              <a:solidFill>
                <a:srgbClr val="518FEC"/>
              </a:solidFill>
            </a:ln>
          </p:spPr>
        </p:sp>
        <p:sp>
          <p:nvSpPr>
            <p:cNvPr id="40" name="Polygon 40"/>
            <p:cNvSpPr/>
            <p:nvPr/>
          </p:nvSpPr>
          <p:spPr>
            <a:xfrm>
              <a:off x="6038850" y="5600700"/>
              <a:ext cx="114300" cy="114300"/>
            </a:xfrm>
            <a:custGeom>
              <a:avLst/>
              <a:gdLst/>
              <a:ahLst/>
              <a:cxnLst/>
              <a:rect l="l" t="t" r="r" b="b"/>
              <a:pathLst>
                <a:path w="114300" h="114300">
                  <a:moveTo>
                    <a:pt x="57150" y="114300"/>
                  </a:moveTo>
                  <a:lnTo>
                    <a:pt x="0" y="0"/>
                  </a:lnTo>
                  <a:lnTo>
                    <a:pt x="114300" y="0"/>
                  </a:lnTo>
                  <a:close/>
                </a:path>
              </a:pathLst>
            </a:custGeom>
            <a:solidFill>
              <a:srgbClr val="518FEC"/>
            </a:solidFill>
            <a:ln>
              <a:noFill/>
            </a:ln>
          </p:spPr>
        </p:sp>
        <p:sp>
          <p:nvSpPr>
            <p:cNvPr id="41" name="Rectangle 41"/>
            <p:cNvSpPr/>
            <p:nvPr/>
          </p:nvSpPr>
          <p:spPr>
            <a:xfrm>
              <a:off x="4667250" y="5715000"/>
              <a:ext cx="2857500" cy="762000"/>
            </a:xfrm>
            <a:prstGeom prst="roundRect">
              <a:avLst>
                <a:gd name="adj" fmla="val 17500"/>
              </a:avLst>
            </a:prstGeom>
            <a:solidFill>
              <a:srgbClr val="518FEC"/>
            </a:solidFill>
            <a:ln>
              <a:noFill/>
            </a:ln>
          </p:spPr>
        </p:sp>
        <p:grpSp>
          <p:nvGrpSpPr>
            <p:cNvPr id="50" name="Group 50"/>
            <p:cNvGrpSpPr/>
            <p:nvPr/>
          </p:nvGrpSpPr>
          <p:grpSpPr>
            <a:xfrm>
              <a:off x="4895850" y="5981700"/>
              <a:ext cx="228600" cy="241300"/>
              <a:chOff x="4895850" y="5981700"/>
              <a:chExt cx="228600" cy="241300"/>
            </a:xfrm>
          </p:grpSpPr>
          <p:sp>
            <p:nvSpPr>
              <p:cNvPr id="42" name="Freeform 42"/>
              <p:cNvSpPr/>
              <p:nvPr/>
            </p:nvSpPr>
            <p:spPr>
              <a:xfrm>
                <a:off x="4933950" y="598170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19050">
                <a:solidFill>
                  <a:srgbClr val="FFFFFF"/>
                </a:solidFill>
              </a:ln>
            </p:spPr>
          </p:sp>
          <p:sp>
            <p:nvSpPr>
              <p:cNvPr id="43" name="Freeform 43"/>
              <p:cNvSpPr/>
              <p:nvPr/>
            </p:nvSpPr>
            <p:spPr>
              <a:xfrm>
                <a:off x="5010150" y="5981700"/>
                <a:ext cx="25400" cy="152400"/>
              </a:xfrm>
              <a:custGeom>
                <a:avLst/>
                <a:gdLst/>
                <a:ahLst/>
                <a:cxnLst/>
                <a:rect l="l" t="t" r="r" b="b"/>
                <a:pathLst>
                  <a:path w="25400" h="152400">
                    <a:moveTo>
                      <a:pt x="0" y="0"/>
                    </a:moveTo>
                    <a:cubicBezTo>
                      <a:pt x="16929" y="4229"/>
                      <a:pt x="25400" y="29629"/>
                      <a:pt x="25400" y="76200"/>
                    </a:cubicBezTo>
                    <a:cubicBezTo>
                      <a:pt x="25400" y="122771"/>
                      <a:pt x="16929" y="148171"/>
                      <a:pt x="0" y="152400"/>
                    </a:cubicBezTo>
                  </a:path>
                </a:pathLst>
              </a:custGeom>
              <a:noFill/>
              <a:ln w="19050">
                <a:solidFill>
                  <a:srgbClr val="FFFFFF"/>
                </a:solidFill>
              </a:ln>
            </p:spPr>
          </p:sp>
          <p:sp>
            <p:nvSpPr>
              <p:cNvPr id="44" name="Freeform 44"/>
              <p:cNvSpPr/>
              <p:nvPr/>
            </p:nvSpPr>
            <p:spPr>
              <a:xfrm>
                <a:off x="4984750" y="5981700"/>
                <a:ext cx="25400" cy="152400"/>
              </a:xfrm>
              <a:custGeom>
                <a:avLst/>
                <a:gdLst/>
                <a:ahLst/>
                <a:cxnLst/>
                <a:rect l="l" t="t" r="r" b="b"/>
                <a:pathLst>
                  <a:path w="25400" h="152400">
                    <a:moveTo>
                      <a:pt x="25400" y="0"/>
                    </a:moveTo>
                    <a:cubicBezTo>
                      <a:pt x="8471" y="4229"/>
                      <a:pt x="0" y="29629"/>
                      <a:pt x="0" y="76200"/>
                    </a:cubicBezTo>
                    <a:cubicBezTo>
                      <a:pt x="0" y="122771"/>
                      <a:pt x="8471" y="148171"/>
                      <a:pt x="25400" y="152400"/>
                    </a:cubicBezTo>
                  </a:path>
                </a:pathLst>
              </a:custGeom>
              <a:noFill/>
              <a:ln w="19050">
                <a:solidFill>
                  <a:srgbClr val="FFFFFF"/>
                </a:solidFill>
              </a:ln>
            </p:spPr>
          </p:sp>
          <p:sp>
            <p:nvSpPr>
              <p:cNvPr id="45" name="Freeform 45"/>
              <p:cNvSpPr/>
              <p:nvPr/>
            </p:nvSpPr>
            <p:spPr>
              <a:xfrm>
                <a:off x="4933950" y="6057900"/>
                <a:ext cx="152400" cy="9525"/>
              </a:xfrm>
              <a:custGeom>
                <a:avLst/>
                <a:gdLst/>
                <a:ahLst/>
                <a:cxnLst/>
                <a:rect l="l" t="t" r="r" b="b"/>
                <a:pathLst>
                  <a:path w="152400" h="9525">
                    <a:moveTo>
                      <a:pt x="0" y="0"/>
                    </a:moveTo>
                    <a:lnTo>
                      <a:pt x="152400" y="0"/>
                    </a:lnTo>
                  </a:path>
                </a:pathLst>
              </a:custGeom>
              <a:noFill/>
              <a:ln w="19050">
                <a:solidFill>
                  <a:srgbClr val="FFFFFF"/>
                </a:solidFill>
              </a:ln>
            </p:spPr>
          </p:sp>
          <p:sp>
            <p:nvSpPr>
              <p:cNvPr id="46" name="Freeform 46"/>
              <p:cNvSpPr/>
              <p:nvPr/>
            </p:nvSpPr>
            <p:spPr>
              <a:xfrm>
                <a:off x="4895850" y="6197600"/>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47" name="Freeform 47"/>
              <p:cNvSpPr/>
              <p:nvPr/>
            </p:nvSpPr>
            <p:spPr>
              <a:xfrm>
                <a:off x="5035550" y="6197600"/>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48" name="Freeform 48"/>
              <p:cNvSpPr/>
              <p:nvPr/>
            </p:nvSpPr>
            <p:spPr>
              <a:xfrm>
                <a:off x="4984750" y="61722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sp>
          <p:sp>
            <p:nvSpPr>
              <p:cNvPr id="49" name="Freeform 49"/>
              <p:cNvSpPr/>
              <p:nvPr/>
            </p:nvSpPr>
            <p:spPr>
              <a:xfrm>
                <a:off x="5010150" y="6134100"/>
                <a:ext cx="9525" cy="38100"/>
              </a:xfrm>
              <a:custGeom>
                <a:avLst/>
                <a:gdLst/>
                <a:ahLst/>
                <a:cxnLst/>
                <a:rect l="l" t="t" r="r" b="b"/>
                <a:pathLst>
                  <a:path w="9525" h="38100">
                    <a:moveTo>
                      <a:pt x="0" y="0"/>
                    </a:moveTo>
                    <a:lnTo>
                      <a:pt x="0" y="38100"/>
                    </a:lnTo>
                  </a:path>
                </a:pathLst>
              </a:custGeom>
              <a:noFill/>
              <a:ln w="19050">
                <a:solidFill>
                  <a:srgbClr val="FFFFFF"/>
                </a:solidFill>
              </a:ln>
            </p:spPr>
          </p:sp>
        </p:grpSp>
        <p:sp>
          <p:nvSpPr>
            <p:cNvPr id="51" name="TextBox 51"/>
            <p:cNvSpPr txBox="1"/>
            <p:nvPr/>
          </p:nvSpPr>
          <p:spPr>
            <a:xfrm>
              <a:off x="5240655" y="5893118"/>
              <a:ext cx="1168432"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知识本体底座</a:t>
              </a:r>
            </a:p>
          </p:txBody>
        </p:sp>
        <p:sp>
          <p:nvSpPr>
            <p:cNvPr id="52" name="TextBox 52"/>
            <p:cNvSpPr txBox="1"/>
            <p:nvPr/>
          </p:nvSpPr>
          <p:spPr>
            <a:xfrm>
              <a:off x="5245418" y="6181249"/>
              <a:ext cx="1500449"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让 Agent 拿到准确上下文</a:t>
              </a:r>
            </a:p>
          </p:txBody>
        </p:sp>
      </p:grpSp>
      <p:grpSp>
        <p:nvGrpSpPr>
          <p:cNvPr id="64" name="Group 64"/>
          <p:cNvGrpSpPr/>
          <p:nvPr/>
        </p:nvGrpSpPr>
        <p:grpSpPr>
          <a:xfrm>
            <a:off x="1238250" y="3429000"/>
            <a:ext cx="3714750" cy="762000"/>
            <a:chOff x="1238250" y="3429000"/>
            <a:chExt cx="3714750" cy="762000"/>
          </a:xfrm>
        </p:grpSpPr>
        <p:sp>
          <p:nvSpPr>
            <p:cNvPr id="54" name="Line 54"/>
            <p:cNvSpPr/>
            <p:nvPr/>
          </p:nvSpPr>
          <p:spPr>
            <a:xfrm>
              <a:off x="4095750" y="3810000"/>
              <a:ext cx="857250" cy="9525"/>
            </a:xfrm>
            <a:custGeom>
              <a:avLst/>
              <a:gdLst/>
              <a:ahLst/>
              <a:cxnLst/>
              <a:rect l="l" t="t" r="r" b="b"/>
              <a:pathLst>
                <a:path w="857250" h="9525">
                  <a:moveTo>
                    <a:pt x="857250" y="0"/>
                  </a:moveTo>
                  <a:lnTo>
                    <a:pt x="0" y="0"/>
                  </a:lnTo>
                </a:path>
              </a:pathLst>
            </a:custGeom>
            <a:noFill/>
            <a:ln w="19050">
              <a:solidFill>
                <a:srgbClr val="0052A6"/>
              </a:solidFill>
            </a:ln>
          </p:spPr>
        </p:sp>
        <p:sp>
          <p:nvSpPr>
            <p:cNvPr id="55" name="Polygon 55"/>
            <p:cNvSpPr/>
            <p:nvPr/>
          </p:nvSpPr>
          <p:spPr>
            <a:xfrm>
              <a:off x="4095750" y="3752850"/>
              <a:ext cx="114300" cy="114300"/>
            </a:xfrm>
            <a:custGeom>
              <a:avLst/>
              <a:gdLst/>
              <a:ahLst/>
              <a:cxnLst/>
              <a:rect l="l" t="t" r="r" b="b"/>
              <a:pathLst>
                <a:path w="114300" h="114300">
                  <a:moveTo>
                    <a:pt x="0" y="57150"/>
                  </a:moveTo>
                  <a:lnTo>
                    <a:pt x="114300" y="0"/>
                  </a:lnTo>
                  <a:lnTo>
                    <a:pt x="114300" y="114300"/>
                  </a:lnTo>
                  <a:close/>
                </a:path>
              </a:pathLst>
            </a:custGeom>
            <a:solidFill>
              <a:srgbClr val="0052A6"/>
            </a:solidFill>
            <a:ln>
              <a:noFill/>
            </a:ln>
          </p:spPr>
        </p:sp>
        <p:sp>
          <p:nvSpPr>
            <p:cNvPr id="56" name="Rectangle 56"/>
            <p:cNvSpPr/>
            <p:nvPr/>
          </p:nvSpPr>
          <p:spPr>
            <a:xfrm>
              <a:off x="1238250" y="3429000"/>
              <a:ext cx="2857500" cy="762000"/>
            </a:xfrm>
            <a:prstGeom prst="roundRect">
              <a:avLst>
                <a:gd name="adj" fmla="val 17500"/>
              </a:avLst>
            </a:prstGeom>
            <a:solidFill>
              <a:srgbClr val="0052A6"/>
            </a:solidFill>
            <a:ln>
              <a:noFill/>
            </a:ln>
          </p:spPr>
        </p:sp>
        <p:grpSp>
          <p:nvGrpSpPr>
            <p:cNvPr id="61" name="Group 61"/>
            <p:cNvGrpSpPr/>
            <p:nvPr/>
          </p:nvGrpSpPr>
          <p:grpSpPr>
            <a:xfrm>
              <a:off x="1466850" y="3708400"/>
              <a:ext cx="228600" cy="212725"/>
              <a:chOff x="1466850" y="3708400"/>
              <a:chExt cx="228600" cy="212725"/>
            </a:xfrm>
          </p:grpSpPr>
          <p:sp>
            <p:nvSpPr>
              <p:cNvPr id="57" name="Freeform 57"/>
              <p:cNvSpPr/>
              <p:nvPr/>
            </p:nvSpPr>
            <p:spPr>
              <a:xfrm>
                <a:off x="1466850" y="3810000"/>
                <a:ext cx="76200" cy="101600"/>
              </a:xfrm>
              <a:custGeom>
                <a:avLst/>
                <a:gdLst/>
                <a:ahLst/>
                <a:cxnLst/>
                <a:rect l="l" t="t" r="r" b="b"/>
                <a:pathLst>
                  <a:path w="76200" h="101600">
                    <a:moveTo>
                      <a:pt x="0" y="12700"/>
                    </a:moveTo>
                    <a:cubicBezTo>
                      <a:pt x="0" y="5686"/>
                      <a:pt x="5686" y="0"/>
                      <a:pt x="12700" y="0"/>
                    </a:cubicBezTo>
                    <a:lnTo>
                      <a:pt x="63500" y="0"/>
                    </a:lnTo>
                    <a:cubicBezTo>
                      <a:pt x="70514" y="0"/>
                      <a:pt x="76200" y="5686"/>
                      <a:pt x="76200" y="12700"/>
                    </a:cubicBezTo>
                    <a:lnTo>
                      <a:pt x="76200" y="88900"/>
                    </a:lnTo>
                    <a:cubicBezTo>
                      <a:pt x="76200" y="95914"/>
                      <a:pt x="70514" y="101600"/>
                      <a:pt x="63500" y="101600"/>
                    </a:cubicBezTo>
                    <a:lnTo>
                      <a:pt x="12700" y="101600"/>
                    </a:lnTo>
                    <a:cubicBezTo>
                      <a:pt x="5686" y="101600"/>
                      <a:pt x="0" y="95914"/>
                      <a:pt x="0" y="88900"/>
                    </a:cubicBezTo>
                    <a:lnTo>
                      <a:pt x="0" y="12700"/>
                    </a:lnTo>
                  </a:path>
                </a:pathLst>
              </a:custGeom>
              <a:noFill/>
              <a:ln w="19050">
                <a:solidFill>
                  <a:srgbClr val="FFFFFF"/>
                </a:solidFill>
              </a:ln>
            </p:spPr>
          </p:sp>
          <p:sp>
            <p:nvSpPr>
              <p:cNvPr id="58" name="Freeform 58"/>
              <p:cNvSpPr/>
              <p:nvPr/>
            </p:nvSpPr>
            <p:spPr>
              <a:xfrm>
                <a:off x="1619250" y="3759200"/>
                <a:ext cx="76200" cy="152400"/>
              </a:xfrm>
              <a:custGeom>
                <a:avLst/>
                <a:gdLst/>
                <a:ahLst/>
                <a:cxnLst/>
                <a:rect l="l" t="t" r="r" b="b"/>
                <a:pathLst>
                  <a:path w="76200" h="152400">
                    <a:moveTo>
                      <a:pt x="0" y="12700"/>
                    </a:moveTo>
                    <a:cubicBezTo>
                      <a:pt x="0" y="5686"/>
                      <a:pt x="5686" y="0"/>
                      <a:pt x="12700" y="0"/>
                    </a:cubicBezTo>
                    <a:lnTo>
                      <a:pt x="63500" y="0"/>
                    </a:lnTo>
                    <a:cubicBezTo>
                      <a:pt x="70514" y="0"/>
                      <a:pt x="76200" y="5686"/>
                      <a:pt x="76200" y="12700"/>
                    </a:cubicBezTo>
                    <a:lnTo>
                      <a:pt x="76200" y="139700"/>
                    </a:lnTo>
                    <a:cubicBezTo>
                      <a:pt x="76200" y="146714"/>
                      <a:pt x="70514" y="152400"/>
                      <a:pt x="63500" y="152400"/>
                    </a:cubicBezTo>
                    <a:lnTo>
                      <a:pt x="12700" y="152400"/>
                    </a:lnTo>
                    <a:cubicBezTo>
                      <a:pt x="5686" y="152400"/>
                      <a:pt x="0" y="146714"/>
                      <a:pt x="0" y="139700"/>
                    </a:cubicBezTo>
                    <a:lnTo>
                      <a:pt x="0" y="12700"/>
                    </a:lnTo>
                  </a:path>
                </a:pathLst>
              </a:custGeom>
              <a:noFill/>
              <a:ln w="19050">
                <a:solidFill>
                  <a:srgbClr val="FFFFFF"/>
                </a:solidFill>
              </a:ln>
            </p:spPr>
          </p:sp>
          <p:sp>
            <p:nvSpPr>
              <p:cNvPr id="59" name="Freeform 59"/>
              <p:cNvSpPr/>
              <p:nvPr/>
            </p:nvSpPr>
            <p:spPr>
              <a:xfrm>
                <a:off x="1543050" y="3708400"/>
                <a:ext cx="76200" cy="203200"/>
              </a:xfrm>
              <a:custGeom>
                <a:avLst/>
                <a:gdLst/>
                <a:ahLst/>
                <a:cxnLst/>
                <a:rect l="l" t="t" r="r" b="b"/>
                <a:pathLst>
                  <a:path w="76200" h="203200">
                    <a:moveTo>
                      <a:pt x="0" y="12700"/>
                    </a:moveTo>
                    <a:cubicBezTo>
                      <a:pt x="0" y="5686"/>
                      <a:pt x="5686" y="0"/>
                      <a:pt x="12700" y="0"/>
                    </a:cubicBezTo>
                    <a:lnTo>
                      <a:pt x="63500" y="0"/>
                    </a:lnTo>
                    <a:cubicBezTo>
                      <a:pt x="70514" y="0"/>
                      <a:pt x="76200" y="5686"/>
                      <a:pt x="76200" y="12700"/>
                    </a:cubicBezTo>
                    <a:lnTo>
                      <a:pt x="76200" y="190500"/>
                    </a:lnTo>
                    <a:cubicBezTo>
                      <a:pt x="76200" y="197514"/>
                      <a:pt x="70514" y="203200"/>
                      <a:pt x="63500" y="203200"/>
                    </a:cubicBezTo>
                    <a:lnTo>
                      <a:pt x="12700" y="203200"/>
                    </a:lnTo>
                    <a:cubicBezTo>
                      <a:pt x="5686" y="203200"/>
                      <a:pt x="0" y="197514"/>
                      <a:pt x="0" y="190500"/>
                    </a:cubicBezTo>
                    <a:lnTo>
                      <a:pt x="0" y="12700"/>
                    </a:lnTo>
                  </a:path>
                </a:pathLst>
              </a:custGeom>
              <a:noFill/>
              <a:ln w="19050">
                <a:solidFill>
                  <a:srgbClr val="FFFFFF"/>
                </a:solidFill>
              </a:ln>
            </p:spPr>
          </p:sp>
          <p:sp>
            <p:nvSpPr>
              <p:cNvPr id="60" name="Freeform 60"/>
              <p:cNvSpPr/>
              <p:nvPr/>
            </p:nvSpPr>
            <p:spPr>
              <a:xfrm>
                <a:off x="1479550" y="3911600"/>
                <a:ext cx="177800" cy="9525"/>
              </a:xfrm>
              <a:custGeom>
                <a:avLst/>
                <a:gdLst/>
                <a:ahLst/>
                <a:cxnLst/>
                <a:rect l="l" t="t" r="r" b="b"/>
                <a:pathLst>
                  <a:path w="177800" h="9525">
                    <a:moveTo>
                      <a:pt x="0" y="0"/>
                    </a:moveTo>
                    <a:lnTo>
                      <a:pt x="177800" y="0"/>
                    </a:lnTo>
                  </a:path>
                </a:pathLst>
              </a:custGeom>
              <a:noFill/>
              <a:ln w="19050">
                <a:solidFill>
                  <a:srgbClr val="FFFFFF"/>
                </a:solidFill>
              </a:ln>
            </p:spPr>
          </p:sp>
        </p:grpSp>
        <p:sp>
          <p:nvSpPr>
            <p:cNvPr id="62" name="TextBox 62"/>
            <p:cNvSpPr txBox="1"/>
            <p:nvPr/>
          </p:nvSpPr>
          <p:spPr>
            <a:xfrm>
              <a:off x="1811655" y="3607118"/>
              <a:ext cx="97940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治理与度量</a:t>
              </a:r>
            </a:p>
          </p:txBody>
        </p:sp>
        <p:sp>
          <p:nvSpPr>
            <p:cNvPr id="63" name="TextBox 63"/>
            <p:cNvSpPr txBox="1"/>
            <p:nvPr/>
          </p:nvSpPr>
          <p:spPr>
            <a:xfrm>
              <a:off x="1816418" y="3895249"/>
              <a:ext cx="1526453"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先建安全网,再放大自主度</a:t>
              </a:r>
            </a:p>
          </p:txBody>
        </p:sp>
      </p:grpSp>
      <p:sp>
        <p:nvSpPr>
          <p:cNvPr id="65" name="TextBox 65"/>
          <p:cNvSpPr txBox="1"/>
          <p:nvPr/>
        </p:nvSpPr>
        <p:spPr>
          <a:xfrm>
            <a:off x="4671289" y="6630352"/>
            <a:ext cx="2849423" cy="213360"/>
          </a:xfrm>
          <a:prstGeom prst="rect">
            <a:avLst/>
          </a:prstGeom>
          <a:noFill/>
          <a:ln>
            <a:noFill/>
          </a:ln>
        </p:spPr>
        <p:txBody>
          <a:bodyPr wrap="none" lIns="0" tIns="0" rIns="0" bIns="0" anchor="t" anchorCtr="0">
            <a:spAutoFit/>
          </a:bodyPr>
          <a:lstStyle/>
          <a:p>
            <a:pPr algn="ctr"/>
            <a:r>
              <a:rPr lang="zh-CN" sz="1050" b="1" dirty="0">
                <a:solidFill>
                  <a:srgbClr val="0052A6"/>
                </a:solidFill>
                <a:latin typeface="Arial"/>
                <a:ea typeface="Microsoft YaHei"/>
                <a:cs typeface="Arial"/>
              </a:rPr>
              <a:t>让"个人用 AI 变快",变成"组织级系统提速"</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image">
                                      <p:cBhvr>
                                        <p:cTn id="11" dur="400"/>
                                        <p:tgtEl>
                                          <p:spTgt spid="2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left)">
                                      <p:cBhvr>
                                        <p:cTn id="19" dur="400"/>
                                        <p:tgtEl>
                                          <p:spTgt spid="38"/>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slide(fromBottom)">
                                      <p:cBhvr>
                                        <p:cTn id="23" dur="400"/>
                                        <p:tgtEl>
                                          <p:spTgt spid="53"/>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image">
                                      <p:cBhvr>
                                        <p:cTn id="27"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2" grpId="0"/>
      <p:bldP spid="29" grpId="0"/>
      <p:bldP spid="38" grpId="0"/>
      <p:bldP spid="53" grpId="0"/>
      <p:bldP spid="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7048500"/>
            <a:chOff x="0" y="0"/>
            <a:chExt cx="12192000" cy="70485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Ellipse 3"/>
            <p:cNvSpPr/>
            <p:nvPr/>
          </p:nvSpPr>
          <p:spPr>
            <a:xfrm>
              <a:off x="8096250" y="0"/>
              <a:ext cx="3810000" cy="3810000"/>
            </a:xfrm>
            <a:prstGeom prst="ellipse">
              <a:avLst/>
            </a:prstGeom>
            <a:solidFill>
              <a:srgbClr val="246BFE">
                <a:alpha val="6000"/>
              </a:srgbClr>
            </a:solidFill>
            <a:ln>
              <a:noFill/>
            </a:ln>
          </p:spPr>
        </p:sp>
        <p:sp>
          <p:nvSpPr>
            <p:cNvPr id="4" name="Ellipse 4"/>
            <p:cNvSpPr/>
            <p:nvPr/>
          </p:nvSpPr>
          <p:spPr>
            <a:xfrm>
              <a:off x="571500" y="4381500"/>
              <a:ext cx="2667000" cy="2667000"/>
            </a:xfrm>
            <a:prstGeom prst="ellipse">
              <a:avLst/>
            </a:prstGeom>
            <a:solidFill>
              <a:srgbClr val="518FEC">
                <a:alpha val="5000"/>
              </a:srgbClr>
            </a:solidFill>
            <a:ln>
              <a:noFill/>
            </a:ln>
          </p:spPr>
        </p:sp>
      </p:grpSp>
      <p:grpSp>
        <p:nvGrpSpPr>
          <p:cNvPr id="7" name="Group 7"/>
          <p:cNvGrpSpPr/>
          <p:nvPr/>
        </p:nvGrpSpPr>
        <p:grpSpPr>
          <a:xfrm>
            <a:off x="552450" y="2981325"/>
            <a:ext cx="2960418" cy="3352800"/>
            <a:chOff x="552450" y="2981325"/>
            <a:chExt cx="2960418" cy="3352800"/>
          </a:xfrm>
        </p:grpSpPr>
        <p:sp>
          <p:nvSpPr>
            <p:cNvPr id="6" name="TextBox 6"/>
            <p:cNvSpPr txBox="1"/>
            <p:nvPr/>
          </p:nvSpPr>
          <p:spPr>
            <a:xfrm>
              <a:off x="552450" y="2981325"/>
              <a:ext cx="2960418" cy="3352800"/>
            </a:xfrm>
            <a:prstGeom prst="rect">
              <a:avLst/>
            </a:prstGeom>
            <a:noFill/>
            <a:ln>
              <a:noFill/>
            </a:ln>
          </p:spPr>
          <p:txBody>
            <a:bodyPr wrap="none" lIns="0" tIns="0" rIns="0" bIns="0" anchor="t" anchorCtr="0">
              <a:spAutoFit/>
            </a:bodyPr>
            <a:lstStyle/>
            <a:p>
              <a:pPr algn="l"/>
              <a:r>
                <a:rPr lang="zh-CN" sz="16500" b="1" dirty="0">
                  <a:solidFill>
                    <a:srgbClr val="FFFFFF">
                      <a:alphaMod val="10000"/>
                    </a:srgbClr>
                  </a:solidFill>
                  <a:latin typeface="Arial"/>
                  <a:ea typeface="Microsoft YaHei"/>
                  <a:cs typeface="Arial"/>
                </a:rPr>
                <a:t>02</a:t>
              </a:r>
            </a:p>
          </p:txBody>
        </p:sp>
      </p:grpSp>
      <p:grpSp>
        <p:nvGrpSpPr>
          <p:cNvPr id="10" name="Group 10"/>
          <p:cNvGrpSpPr/>
          <p:nvPr/>
        </p:nvGrpSpPr>
        <p:grpSpPr>
          <a:xfrm>
            <a:off x="840105" y="2209800"/>
            <a:ext cx="1160145" cy="547688"/>
            <a:chOff x="840105" y="2209800"/>
            <a:chExt cx="1160145" cy="547688"/>
          </a:xfrm>
        </p:grpSpPr>
        <p:sp>
          <p:nvSpPr>
            <p:cNvPr id="8" name="Rectangle 8"/>
            <p:cNvSpPr/>
            <p:nvPr/>
          </p:nvSpPr>
          <p:spPr>
            <a:xfrm>
              <a:off x="857250" y="2209800"/>
              <a:ext cx="1143000" cy="38100"/>
            </a:xfrm>
            <a:prstGeom prst="roundRect">
              <a:avLst>
                <a:gd name="adj" fmla="val 50000"/>
              </a:avLst>
            </a:prstGeom>
            <a:solidFill>
              <a:srgbClr val="246BFE"/>
            </a:solidFill>
            <a:ln>
              <a:noFill/>
            </a:ln>
          </p:spPr>
        </p:sp>
        <p:sp>
          <p:nvSpPr>
            <p:cNvPr id="9" name="TextBox 9"/>
            <p:cNvSpPr txBox="1"/>
            <p:nvPr/>
          </p:nvSpPr>
          <p:spPr>
            <a:xfrm>
              <a:off x="840105" y="2483168"/>
              <a:ext cx="979408" cy="274320"/>
            </a:xfrm>
            <a:prstGeom prst="rect">
              <a:avLst/>
            </a:prstGeom>
            <a:noFill/>
            <a:ln>
              <a:noFill/>
            </a:ln>
          </p:spPr>
          <p:txBody>
            <a:bodyPr wrap="none" lIns="0" tIns="0" rIns="0" bIns="0" anchor="t" anchorCtr="0">
              <a:spAutoFit/>
            </a:bodyPr>
            <a:lstStyle/>
            <a:p>
              <a:pPr algn="l"/>
              <a:r>
                <a:rPr lang="zh-CN" sz="1350" dirty="0">
                  <a:solidFill>
                    <a:srgbClr val="518FEC"/>
                  </a:solidFill>
                  <a:latin typeface="Arial"/>
                  <a:ea typeface="Microsoft YaHei"/>
                  <a:cs typeface="Arial"/>
                </a:rPr>
                <a:t>CHAPTER 02</a:t>
              </a:r>
            </a:p>
          </p:txBody>
        </p:sp>
      </p:grpSp>
      <p:grpSp>
        <p:nvGrpSpPr>
          <p:cNvPr id="14" name="Group 14"/>
          <p:cNvGrpSpPr/>
          <p:nvPr/>
        </p:nvGrpSpPr>
        <p:grpSpPr>
          <a:xfrm>
            <a:off x="819150" y="3067050"/>
            <a:ext cx="4549902" cy="1428750"/>
            <a:chOff x="819150" y="3067050"/>
            <a:chExt cx="4549902" cy="1428750"/>
          </a:xfrm>
        </p:grpSpPr>
        <p:sp>
          <p:nvSpPr>
            <p:cNvPr id="11" name="TextBox 11"/>
            <p:cNvSpPr txBox="1"/>
            <p:nvPr/>
          </p:nvSpPr>
          <p:spPr>
            <a:xfrm>
              <a:off x="819150" y="3067050"/>
              <a:ext cx="175641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产品全景</a:t>
              </a:r>
            </a:p>
          </p:txBody>
        </p:sp>
        <p:sp>
          <p:nvSpPr>
            <p:cNvPr id="12" name="TextBox 12"/>
            <p:cNvSpPr txBox="1"/>
            <p:nvPr/>
          </p:nvSpPr>
          <p:spPr>
            <a:xfrm>
              <a:off x="832485" y="3694748"/>
              <a:ext cx="2077784"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FarAI 研发流水线</a:t>
              </a:r>
            </a:p>
          </p:txBody>
        </p:sp>
        <p:sp>
          <p:nvSpPr>
            <p:cNvPr id="13" name="TextBox 13"/>
            <p:cNvSpPr txBox="1"/>
            <p:nvPr/>
          </p:nvSpPr>
          <p:spPr>
            <a:xfrm>
              <a:off x="842010" y="4251960"/>
              <a:ext cx="4527042"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一个平台,四层架构,把人、智能体、资产、数据、治理协同起来</a:t>
              </a:r>
            </a:p>
          </p:txBody>
        </p:sp>
      </p:grpSp>
      <p:sp>
        <p:nvSpPr>
          <p:cNvPr id="15" name="TextBox 15"/>
          <p:cNvSpPr txBox="1"/>
          <p:nvPr/>
        </p:nvSpPr>
        <p:spPr>
          <a:xfrm>
            <a:off x="10594419" y="6464141"/>
            <a:ext cx="846058" cy="167640"/>
          </a:xfrm>
          <a:prstGeom prst="rect">
            <a:avLst/>
          </a:prstGeom>
          <a:noFill/>
          <a:ln>
            <a:noFill/>
          </a:ln>
        </p:spPr>
        <p:txBody>
          <a:bodyPr wrap="none" lIns="0" tIns="0" rIns="0" bIns="0" anchor="t" anchorCtr="0">
            <a:spAutoFit/>
          </a:bodyPr>
          <a:lstStyle/>
          <a:p>
            <a:pPr algn="r"/>
            <a:r>
              <a:rPr lang="zh-CN" sz="825" dirty="0">
                <a:solidFill>
                  <a:srgbClr val="8FA3C4"/>
                </a:solidFill>
                <a:latin typeface="Arial"/>
                <a:ea typeface="Microsoft YaHei"/>
                <a:cs typeface="Arial"/>
              </a:rPr>
              <a:t>07 / 30 · 第二章</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5551827" cy="792956"/>
            <a:chOff x="735330" y="533400"/>
            <a:chExt cx="5551827"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5551827"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四层架构 —— 从底座到治理的人智协同平台</a:t>
              </a:r>
            </a:p>
          </p:txBody>
        </p:sp>
        <p:sp>
          <p:nvSpPr>
            <p:cNvPr id="5" name="TextBox 5"/>
            <p:cNvSpPr txBox="1"/>
            <p:nvPr/>
          </p:nvSpPr>
          <p:spPr>
            <a:xfrm>
              <a:off x="747712" y="1097756"/>
              <a:ext cx="5331738"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FarAI 以智能系统为中枢,让研发组织的人、智能体、资产、数据和治理协同运转</a:t>
              </a:r>
            </a:p>
          </p:txBody>
        </p:sp>
      </p:grpSp>
      <p:grpSp>
        <p:nvGrpSpPr>
          <p:cNvPr id="13" name="Group 13"/>
          <p:cNvGrpSpPr/>
          <p:nvPr/>
        </p:nvGrpSpPr>
        <p:grpSpPr>
          <a:xfrm>
            <a:off x="762000" y="1485900"/>
            <a:ext cx="9525000" cy="952500"/>
            <a:chOff x="762000" y="1485900"/>
            <a:chExt cx="9525000" cy="952500"/>
          </a:xfrm>
        </p:grpSpPr>
        <p:sp>
          <p:nvSpPr>
            <p:cNvPr id="7" name="Rectangle 7"/>
            <p:cNvSpPr/>
            <p:nvPr/>
          </p:nvSpPr>
          <p:spPr>
            <a:xfrm>
              <a:off x="762000" y="1485900"/>
              <a:ext cx="9525000" cy="952500"/>
            </a:xfrm>
            <a:prstGeom prst="roundRect">
              <a:avLst>
                <a:gd name="adj" fmla="val 14000"/>
              </a:avLst>
            </a:prstGeom>
            <a:solidFill>
              <a:srgbClr val="0052A6"/>
            </a:solidFill>
            <a:ln>
              <a:noFill/>
            </a:ln>
          </p:spPr>
        </p:sp>
        <p:sp>
          <p:nvSpPr>
            <p:cNvPr id="8" name="Rectangle 8"/>
            <p:cNvSpPr/>
            <p:nvPr/>
          </p:nvSpPr>
          <p:spPr>
            <a:xfrm>
              <a:off x="762000" y="1485900"/>
              <a:ext cx="76200" cy="952500"/>
            </a:xfrm>
            <a:prstGeom prst="roundRect">
              <a:avLst>
                <a:gd name="adj" fmla="val 50000"/>
              </a:avLst>
            </a:prstGeom>
            <a:solidFill>
              <a:srgbClr val="DCE6FB"/>
            </a:solidFill>
            <a:ln>
              <a:noFill/>
            </a:ln>
          </p:spPr>
        </p:sp>
        <p:sp>
          <p:nvSpPr>
            <p:cNvPr id="9" name="Freeform 9"/>
            <p:cNvSpPr/>
            <p:nvPr/>
          </p:nvSpPr>
          <p:spPr>
            <a:xfrm>
              <a:off x="1065613" y="1757362"/>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19050">
              <a:solidFill>
                <a:srgbClr val="FFFFFF"/>
              </a:solidFill>
            </a:ln>
          </p:spPr>
        </p:sp>
        <p:sp>
          <p:nvSpPr>
            <p:cNvPr id="10" name="TextBox 10"/>
            <p:cNvSpPr txBox="1"/>
            <p:nvPr/>
          </p:nvSpPr>
          <p:spPr>
            <a:xfrm>
              <a:off x="1472565" y="1715452"/>
              <a:ext cx="985790"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④ 治理与度量层</a:t>
              </a:r>
            </a:p>
          </p:txBody>
        </p:sp>
        <p:sp>
          <p:nvSpPr>
            <p:cNvPr id="11" name="TextBox 11"/>
            <p:cNvSpPr txBox="1"/>
            <p:nvPr/>
          </p:nvSpPr>
          <p:spPr>
            <a:xfrm>
              <a:off x="1466850" y="1933575"/>
              <a:ext cx="485820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风险分级 · Human-in-Loop · AI FinOps · 效能度量</a:t>
              </a:r>
            </a:p>
          </p:txBody>
        </p:sp>
        <p:sp>
          <p:nvSpPr>
            <p:cNvPr id="12" name="TextBox 12"/>
            <p:cNvSpPr txBox="1"/>
            <p:nvPr/>
          </p:nvSpPr>
          <p:spPr>
            <a:xfrm>
              <a:off x="1473518" y="2199799"/>
              <a:ext cx="1526453"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先建安全网,再放大自主度</a:t>
              </a:r>
            </a:p>
          </p:txBody>
        </p:sp>
      </p:grpSp>
      <p:grpSp>
        <p:nvGrpSpPr>
          <p:cNvPr id="24" name="Group 24"/>
          <p:cNvGrpSpPr/>
          <p:nvPr/>
        </p:nvGrpSpPr>
        <p:grpSpPr>
          <a:xfrm>
            <a:off x="762000" y="2571750"/>
            <a:ext cx="9525000" cy="952500"/>
            <a:chOff x="762000" y="2571750"/>
            <a:chExt cx="9525000" cy="952500"/>
          </a:xfrm>
        </p:grpSpPr>
        <p:sp>
          <p:nvSpPr>
            <p:cNvPr id="14" name="Rectangle 14"/>
            <p:cNvSpPr/>
            <p:nvPr/>
          </p:nvSpPr>
          <p:spPr>
            <a:xfrm>
              <a:off x="762000" y="2571750"/>
              <a:ext cx="9525000" cy="952500"/>
            </a:xfrm>
            <a:prstGeom prst="roundRect">
              <a:avLst>
                <a:gd name="adj" fmla="val 14000"/>
              </a:avLst>
            </a:prstGeom>
            <a:solidFill>
              <a:srgbClr val="246BFE"/>
            </a:solidFill>
            <a:ln>
              <a:noFill/>
            </a:ln>
          </p:spPr>
        </p:sp>
        <p:sp>
          <p:nvSpPr>
            <p:cNvPr id="15" name="Rectangle 15"/>
            <p:cNvSpPr/>
            <p:nvPr/>
          </p:nvSpPr>
          <p:spPr>
            <a:xfrm>
              <a:off x="762000" y="2571750"/>
              <a:ext cx="76200" cy="952500"/>
            </a:xfrm>
            <a:prstGeom prst="roundRect">
              <a:avLst>
                <a:gd name="adj" fmla="val 50000"/>
              </a:avLst>
            </a:prstGeom>
            <a:solidFill>
              <a:srgbClr val="DCE6FB"/>
            </a:solidFill>
            <a:ln>
              <a:noFill/>
            </a:ln>
          </p:spPr>
        </p:sp>
        <p:grpSp>
          <p:nvGrpSpPr>
            <p:cNvPr id="20" name="Group 20"/>
            <p:cNvGrpSpPr/>
            <p:nvPr/>
          </p:nvGrpSpPr>
          <p:grpSpPr>
            <a:xfrm>
              <a:off x="1071562" y="2843212"/>
              <a:ext cx="257175" cy="257176"/>
              <a:chOff x="1071562" y="2843212"/>
              <a:chExt cx="257175" cy="257176"/>
            </a:xfrm>
          </p:grpSpPr>
          <p:sp>
            <p:nvSpPr>
              <p:cNvPr id="16" name="Freeform 16"/>
              <p:cNvSpPr/>
              <p:nvPr/>
            </p:nvSpPr>
            <p:spPr>
              <a:xfrm>
                <a:off x="1100138" y="28432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17" name="Freeform 17"/>
              <p:cNvSpPr/>
              <p:nvPr/>
            </p:nvSpPr>
            <p:spPr>
              <a:xfrm>
                <a:off x="1071562" y="30146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18" name="Freeform 18"/>
              <p:cNvSpPr/>
              <p:nvPr/>
            </p:nvSpPr>
            <p:spPr>
              <a:xfrm>
                <a:off x="1257300" y="28450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19" name="Freeform 19"/>
              <p:cNvSpPr/>
              <p:nvPr/>
            </p:nvSpPr>
            <p:spPr>
              <a:xfrm>
                <a:off x="1285875" y="30168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21" name="TextBox 21"/>
            <p:cNvSpPr txBox="1"/>
            <p:nvPr/>
          </p:nvSpPr>
          <p:spPr>
            <a:xfrm>
              <a:off x="1472565" y="2801302"/>
              <a:ext cx="2490978"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③ 人智协同平台 (Delivery Workbench)</a:t>
              </a:r>
            </a:p>
          </p:txBody>
        </p:sp>
        <p:sp>
          <p:nvSpPr>
            <p:cNvPr id="22" name="TextBox 22"/>
            <p:cNvSpPr txBox="1"/>
            <p:nvPr/>
          </p:nvSpPr>
          <p:spPr>
            <a:xfrm>
              <a:off x="1466850" y="3019425"/>
              <a:ext cx="525725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桌面智能体 · 云端智能体 · 任务/权限/审计 · Skill 治理</a:t>
              </a:r>
            </a:p>
          </p:txBody>
        </p:sp>
        <p:sp>
          <p:nvSpPr>
            <p:cNvPr id="23" name="TextBox 23"/>
            <p:cNvSpPr txBox="1"/>
            <p:nvPr/>
          </p:nvSpPr>
          <p:spPr>
            <a:xfrm>
              <a:off x="1473518" y="3285649"/>
              <a:ext cx="1714976"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连接人、任务、代码、智能体</a:t>
              </a:r>
            </a:p>
          </p:txBody>
        </p:sp>
      </p:grpSp>
      <p:grpSp>
        <p:nvGrpSpPr>
          <p:cNvPr id="33" name="Group 33"/>
          <p:cNvGrpSpPr/>
          <p:nvPr/>
        </p:nvGrpSpPr>
        <p:grpSpPr>
          <a:xfrm>
            <a:off x="762000" y="3657600"/>
            <a:ext cx="9525000" cy="952500"/>
            <a:chOff x="762000" y="3657600"/>
            <a:chExt cx="9525000" cy="952500"/>
          </a:xfrm>
        </p:grpSpPr>
        <p:sp>
          <p:nvSpPr>
            <p:cNvPr id="25" name="Rectangle 25"/>
            <p:cNvSpPr/>
            <p:nvPr/>
          </p:nvSpPr>
          <p:spPr>
            <a:xfrm>
              <a:off x="762000" y="3657600"/>
              <a:ext cx="9525000" cy="952500"/>
            </a:xfrm>
            <a:prstGeom prst="roundRect">
              <a:avLst>
                <a:gd name="adj" fmla="val 14000"/>
              </a:avLst>
            </a:prstGeom>
            <a:solidFill>
              <a:srgbClr val="518FEC"/>
            </a:solidFill>
            <a:ln>
              <a:noFill/>
            </a:ln>
          </p:spPr>
        </p:sp>
        <p:sp>
          <p:nvSpPr>
            <p:cNvPr id="26" name="Rectangle 26"/>
            <p:cNvSpPr/>
            <p:nvPr/>
          </p:nvSpPr>
          <p:spPr>
            <a:xfrm>
              <a:off x="762000" y="3657600"/>
              <a:ext cx="76200" cy="952500"/>
            </a:xfrm>
            <a:prstGeom prst="roundRect">
              <a:avLst>
                <a:gd name="adj" fmla="val 50000"/>
              </a:avLst>
            </a:prstGeom>
            <a:solidFill>
              <a:srgbClr val="FFFFFF"/>
            </a:solidFill>
            <a:ln>
              <a:noFill/>
            </a:ln>
          </p:spPr>
        </p:sp>
        <p:grpSp>
          <p:nvGrpSpPr>
            <p:cNvPr id="29" name="Group 29"/>
            <p:cNvGrpSpPr/>
            <p:nvPr/>
          </p:nvGrpSpPr>
          <p:grpSpPr>
            <a:xfrm>
              <a:off x="1065290" y="3922790"/>
              <a:ext cx="269719" cy="269719"/>
              <a:chOff x="1065290" y="3922790"/>
              <a:chExt cx="269719" cy="269719"/>
            </a:xfrm>
          </p:grpSpPr>
          <p:sp>
            <p:nvSpPr>
              <p:cNvPr id="27" name="Freeform 27"/>
              <p:cNvSpPr/>
              <p:nvPr/>
            </p:nvSpPr>
            <p:spPr>
              <a:xfrm>
                <a:off x="1065290" y="3922790"/>
                <a:ext cx="269719" cy="269719"/>
              </a:xfrm>
              <a:custGeom>
                <a:avLst/>
                <a:gdLst/>
                <a:ahLst/>
                <a:cxnLst/>
                <a:rect l="l" t="t" r="r" b="b"/>
                <a:pathLst>
                  <a:path w="269719" h="269719">
                    <a:moveTo>
                      <a:pt x="110928" y="25089"/>
                    </a:moveTo>
                    <a:cubicBezTo>
                      <a:pt x="117015" y="0"/>
                      <a:pt x="152705" y="0"/>
                      <a:pt x="158791" y="25089"/>
                    </a:cubicBezTo>
                    <a:cubicBezTo>
                      <a:pt x="160644" y="32734"/>
                      <a:pt x="166036" y="39034"/>
                      <a:pt x="173302" y="42044"/>
                    </a:cubicBezTo>
                    <a:cubicBezTo>
                      <a:pt x="180569" y="45055"/>
                      <a:pt x="188837" y="44414"/>
                      <a:pt x="195553" y="40319"/>
                    </a:cubicBezTo>
                    <a:cubicBezTo>
                      <a:pt x="217599" y="26889"/>
                      <a:pt x="242845" y="52121"/>
                      <a:pt x="229414" y="74181"/>
                    </a:cubicBezTo>
                    <a:cubicBezTo>
                      <a:pt x="225325" y="80894"/>
                      <a:pt x="224686" y="89155"/>
                      <a:pt x="227693" y="96417"/>
                    </a:cubicBezTo>
                    <a:cubicBezTo>
                      <a:pt x="230700" y="103680"/>
                      <a:pt x="236993" y="109071"/>
                      <a:pt x="244631" y="110928"/>
                    </a:cubicBezTo>
                    <a:cubicBezTo>
                      <a:pt x="269719" y="117015"/>
                      <a:pt x="269719" y="152705"/>
                      <a:pt x="244631" y="158791"/>
                    </a:cubicBezTo>
                    <a:cubicBezTo>
                      <a:pt x="236986" y="160644"/>
                      <a:pt x="230686" y="166036"/>
                      <a:pt x="227675" y="173302"/>
                    </a:cubicBezTo>
                    <a:cubicBezTo>
                      <a:pt x="224664" y="180569"/>
                      <a:pt x="225305" y="188837"/>
                      <a:pt x="229400" y="195553"/>
                    </a:cubicBezTo>
                    <a:cubicBezTo>
                      <a:pt x="242830" y="217599"/>
                      <a:pt x="217599" y="242845"/>
                      <a:pt x="195539" y="229414"/>
                    </a:cubicBezTo>
                    <a:cubicBezTo>
                      <a:pt x="188826" y="225325"/>
                      <a:pt x="180564" y="224686"/>
                      <a:pt x="173302" y="227693"/>
                    </a:cubicBezTo>
                    <a:cubicBezTo>
                      <a:pt x="166040" y="230700"/>
                      <a:pt x="160649" y="236993"/>
                      <a:pt x="158791" y="244631"/>
                    </a:cubicBezTo>
                    <a:cubicBezTo>
                      <a:pt x="152705" y="269719"/>
                      <a:pt x="117015" y="269719"/>
                      <a:pt x="110928" y="244631"/>
                    </a:cubicBezTo>
                    <a:cubicBezTo>
                      <a:pt x="109076" y="236986"/>
                      <a:pt x="103684" y="230686"/>
                      <a:pt x="96417" y="227675"/>
                    </a:cubicBezTo>
                    <a:cubicBezTo>
                      <a:pt x="89150" y="224664"/>
                      <a:pt x="80882" y="225305"/>
                      <a:pt x="74166" y="229400"/>
                    </a:cubicBezTo>
                    <a:cubicBezTo>
                      <a:pt x="52121" y="242830"/>
                      <a:pt x="26875" y="217599"/>
                      <a:pt x="40305" y="195539"/>
                    </a:cubicBezTo>
                    <a:cubicBezTo>
                      <a:pt x="44394" y="188826"/>
                      <a:pt x="45033" y="180564"/>
                      <a:pt x="42026" y="173302"/>
                    </a:cubicBezTo>
                    <a:cubicBezTo>
                      <a:pt x="39019" y="166040"/>
                      <a:pt x="32727" y="160649"/>
                      <a:pt x="25089" y="158791"/>
                    </a:cubicBezTo>
                    <a:cubicBezTo>
                      <a:pt x="0" y="152705"/>
                      <a:pt x="0" y="117015"/>
                      <a:pt x="25089" y="110928"/>
                    </a:cubicBezTo>
                    <a:cubicBezTo>
                      <a:pt x="32734" y="109076"/>
                      <a:pt x="39034" y="103684"/>
                      <a:pt x="42044" y="96417"/>
                    </a:cubicBezTo>
                    <a:cubicBezTo>
                      <a:pt x="45055" y="89150"/>
                      <a:pt x="44414" y="80882"/>
                      <a:pt x="40319" y="74166"/>
                    </a:cubicBezTo>
                    <a:cubicBezTo>
                      <a:pt x="26889" y="52121"/>
                      <a:pt x="52121" y="26875"/>
                      <a:pt x="74181" y="40305"/>
                    </a:cubicBezTo>
                    <a:cubicBezTo>
                      <a:pt x="88468" y="48992"/>
                      <a:pt x="106985" y="41305"/>
                      <a:pt x="110928" y="25089"/>
                    </a:cubicBezTo>
                  </a:path>
                </a:pathLst>
              </a:custGeom>
              <a:noFill/>
              <a:ln w="19050">
                <a:solidFill>
                  <a:srgbClr val="FFFFFF"/>
                </a:solidFill>
              </a:ln>
            </p:spPr>
          </p:sp>
          <p:sp>
            <p:nvSpPr>
              <p:cNvPr id="28" name="Freeform 28"/>
              <p:cNvSpPr/>
              <p:nvPr/>
            </p:nvSpPr>
            <p:spPr>
              <a:xfrm>
                <a:off x="1157288" y="4014788"/>
                <a:ext cx="85725" cy="85725"/>
              </a:xfrm>
              <a:custGeom>
                <a:avLst/>
                <a:gdLst/>
                <a:ahLst/>
                <a:cxnLst/>
                <a:rect l="l" t="t" r="r" b="b"/>
                <a:pathLst>
                  <a:path w="85725" h="85725">
                    <a:moveTo>
                      <a:pt x="0" y="42862"/>
                    </a:moveTo>
                    <a:cubicBezTo>
                      <a:pt x="0" y="66535"/>
                      <a:pt x="19190" y="85725"/>
                      <a:pt x="42862" y="85725"/>
                    </a:cubicBezTo>
                    <a:cubicBezTo>
                      <a:pt x="66535" y="85725"/>
                      <a:pt x="85725" y="66535"/>
                      <a:pt x="85725" y="42862"/>
                    </a:cubicBezTo>
                    <a:cubicBezTo>
                      <a:pt x="85725" y="19190"/>
                      <a:pt x="66535" y="0"/>
                      <a:pt x="42862" y="0"/>
                    </a:cubicBezTo>
                    <a:cubicBezTo>
                      <a:pt x="19190" y="0"/>
                      <a:pt x="0" y="19190"/>
                      <a:pt x="0" y="42862"/>
                    </a:cubicBezTo>
                  </a:path>
                </a:pathLst>
              </a:custGeom>
              <a:noFill/>
              <a:ln w="19050">
                <a:solidFill>
                  <a:srgbClr val="FFFFFF"/>
                </a:solidFill>
              </a:ln>
            </p:spPr>
          </p:sp>
        </p:grpSp>
        <p:sp>
          <p:nvSpPr>
            <p:cNvPr id="30" name="TextBox 30"/>
            <p:cNvSpPr txBox="1"/>
            <p:nvPr/>
          </p:nvSpPr>
          <p:spPr>
            <a:xfrm>
              <a:off x="1472565" y="3887152"/>
              <a:ext cx="2000917"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② Harness 驾驭框架(工程底座)</a:t>
              </a:r>
            </a:p>
          </p:txBody>
        </p:sp>
        <p:sp>
          <p:nvSpPr>
            <p:cNvPr id="31" name="TextBox 31"/>
            <p:cNvSpPr txBox="1"/>
            <p:nvPr/>
          </p:nvSpPr>
          <p:spPr>
            <a:xfrm>
              <a:off x="1466850" y="4105275"/>
              <a:ext cx="5698307"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CLI 化 · fullcheck · CLI E2E · hooks · traceId · Agent OS</a:t>
              </a:r>
            </a:p>
          </p:txBody>
        </p:sp>
        <p:sp>
          <p:nvSpPr>
            <p:cNvPr id="32" name="TextBox 32"/>
            <p:cNvSpPr txBox="1"/>
            <p:nvPr/>
          </p:nvSpPr>
          <p:spPr>
            <a:xfrm>
              <a:off x="1473518" y="4371499"/>
              <a:ext cx="1071396"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Agent 可控的前提</a:t>
              </a:r>
            </a:p>
          </p:txBody>
        </p:sp>
      </p:grpSp>
      <p:grpSp>
        <p:nvGrpSpPr>
          <p:cNvPr id="43" name="Group 43"/>
          <p:cNvGrpSpPr/>
          <p:nvPr/>
        </p:nvGrpSpPr>
        <p:grpSpPr>
          <a:xfrm>
            <a:off x="762000" y="4743450"/>
            <a:ext cx="9525000" cy="952500"/>
            <a:chOff x="762000" y="4743450"/>
            <a:chExt cx="9525000" cy="952500"/>
          </a:xfrm>
        </p:grpSpPr>
        <p:sp>
          <p:nvSpPr>
            <p:cNvPr id="34" name="Rectangle 34"/>
            <p:cNvSpPr/>
            <p:nvPr/>
          </p:nvSpPr>
          <p:spPr>
            <a:xfrm>
              <a:off x="762000" y="4743450"/>
              <a:ext cx="9525000" cy="952500"/>
            </a:xfrm>
            <a:prstGeom prst="roundRect">
              <a:avLst>
                <a:gd name="adj" fmla="val 14000"/>
              </a:avLst>
            </a:prstGeom>
            <a:solidFill>
              <a:srgbClr val="0A2A5E"/>
            </a:solidFill>
            <a:ln>
              <a:noFill/>
            </a:ln>
          </p:spPr>
        </p:sp>
        <p:sp>
          <p:nvSpPr>
            <p:cNvPr id="35" name="Rectangle 35"/>
            <p:cNvSpPr/>
            <p:nvPr/>
          </p:nvSpPr>
          <p:spPr>
            <a:xfrm>
              <a:off x="762000" y="4743450"/>
              <a:ext cx="76200" cy="952500"/>
            </a:xfrm>
            <a:prstGeom prst="roundRect">
              <a:avLst>
                <a:gd name="adj" fmla="val 50000"/>
              </a:avLst>
            </a:prstGeom>
            <a:solidFill>
              <a:srgbClr val="246BFE"/>
            </a:solidFill>
            <a:ln>
              <a:noFill/>
            </a:ln>
          </p:spPr>
        </p:sp>
        <p:grpSp>
          <p:nvGrpSpPr>
            <p:cNvPr id="39" name="Group 39"/>
            <p:cNvGrpSpPr/>
            <p:nvPr/>
          </p:nvGrpSpPr>
          <p:grpSpPr>
            <a:xfrm>
              <a:off x="1085850" y="5014912"/>
              <a:ext cx="228600" cy="257176"/>
              <a:chOff x="1085850" y="5014912"/>
              <a:chExt cx="228600" cy="257176"/>
            </a:xfrm>
          </p:grpSpPr>
          <p:sp>
            <p:nvSpPr>
              <p:cNvPr id="36" name="Freeform 36"/>
              <p:cNvSpPr/>
              <p:nvPr/>
            </p:nvSpPr>
            <p:spPr>
              <a:xfrm>
                <a:off x="1085850" y="501491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sp>
          <p:sp>
            <p:nvSpPr>
              <p:cNvPr id="37" name="Freeform 37"/>
              <p:cNvSpPr/>
              <p:nvPr/>
            </p:nvSpPr>
            <p:spPr>
              <a:xfrm>
                <a:off x="1085850" y="50577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sp>
            <p:nvSpPr>
              <p:cNvPr id="38" name="Freeform 38"/>
              <p:cNvSpPr/>
              <p:nvPr/>
            </p:nvSpPr>
            <p:spPr>
              <a:xfrm>
                <a:off x="1085850" y="514350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grpSp>
        <p:sp>
          <p:nvSpPr>
            <p:cNvPr id="40" name="TextBox 40"/>
            <p:cNvSpPr txBox="1"/>
            <p:nvPr/>
          </p:nvSpPr>
          <p:spPr>
            <a:xfrm>
              <a:off x="1472565" y="4973002"/>
              <a:ext cx="1125807" cy="213360"/>
            </a:xfrm>
            <a:prstGeom prst="rect">
              <a:avLst/>
            </a:prstGeom>
            <a:noFill/>
            <a:ln>
              <a:noFill/>
            </a:ln>
          </p:spPr>
          <p:txBody>
            <a:bodyPr wrap="none" lIns="0" tIns="0" rIns="0" bIns="0" anchor="t" anchorCtr="0">
              <a:spAutoFit/>
            </a:bodyPr>
            <a:lstStyle/>
            <a:p>
              <a:pPr algn="l"/>
              <a:r>
                <a:rPr lang="zh-CN" sz="1050" dirty="0">
                  <a:solidFill>
                    <a:srgbClr val="8FA3C4"/>
                  </a:solidFill>
                  <a:latin typeface="Arial"/>
                  <a:ea typeface="Microsoft YaHei"/>
                  <a:cs typeface="Arial"/>
                </a:rPr>
                <a:t>① 知识与本体底座</a:t>
              </a:r>
            </a:p>
          </p:txBody>
        </p:sp>
        <p:sp>
          <p:nvSpPr>
            <p:cNvPr id="41" name="TextBox 41"/>
            <p:cNvSpPr txBox="1"/>
            <p:nvPr/>
          </p:nvSpPr>
          <p:spPr>
            <a:xfrm>
              <a:off x="1466850" y="5191125"/>
              <a:ext cx="4343638"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本体网络 · 语义连接 · Agent 记忆 · 经验进化</a:t>
              </a:r>
            </a:p>
          </p:txBody>
        </p:sp>
        <p:sp>
          <p:nvSpPr>
            <p:cNvPr id="42" name="TextBox 42"/>
            <p:cNvSpPr txBox="1"/>
            <p:nvPr/>
          </p:nvSpPr>
          <p:spPr>
            <a:xfrm>
              <a:off x="1473518" y="5457349"/>
              <a:ext cx="1890498" cy="198120"/>
            </a:xfrm>
            <a:prstGeom prst="rect">
              <a:avLst/>
            </a:prstGeom>
            <a:noFill/>
            <a:ln>
              <a:noFill/>
            </a:ln>
          </p:spPr>
          <p:txBody>
            <a:bodyPr wrap="none" lIns="0" tIns="0" rIns="0" bIns="0" anchor="t" anchorCtr="0">
              <a:spAutoFit/>
            </a:bodyPr>
            <a:lstStyle/>
            <a:p>
              <a:pPr algn="l"/>
              <a:r>
                <a:rPr lang="zh-CN" sz="975" dirty="0">
                  <a:solidFill>
                    <a:srgbClr val="8FA3C4"/>
                  </a:solidFill>
                  <a:latin typeface="Arial"/>
                  <a:ea typeface="Microsoft YaHei"/>
                  <a:cs typeface="Arial"/>
                </a:rPr>
                <a:t>让知识可被人和 Agent 共同理解</a:t>
              </a:r>
            </a:p>
          </p:txBody>
        </p:sp>
      </p:grpSp>
      <p:grpSp>
        <p:nvGrpSpPr>
          <p:cNvPr id="50" name="Group 50"/>
          <p:cNvGrpSpPr/>
          <p:nvPr/>
        </p:nvGrpSpPr>
        <p:grpSpPr>
          <a:xfrm>
            <a:off x="10477500" y="1485900"/>
            <a:ext cx="952500" cy="4210050"/>
            <a:chOff x="10477500" y="1485900"/>
            <a:chExt cx="952500" cy="4210050"/>
          </a:xfrm>
        </p:grpSpPr>
        <p:sp>
          <p:nvSpPr>
            <p:cNvPr id="44" name="Rectangle 44"/>
            <p:cNvSpPr/>
            <p:nvPr/>
          </p:nvSpPr>
          <p:spPr>
            <a:xfrm>
              <a:off x="10477500" y="1485900"/>
              <a:ext cx="952500" cy="4210050"/>
            </a:xfrm>
            <a:prstGeom prst="roundRect">
              <a:avLst>
                <a:gd name="adj" fmla="val 14000"/>
              </a:avLst>
            </a:prstGeom>
            <a:solidFill>
              <a:srgbClr val="F4F7FC"/>
            </a:solidFill>
            <a:ln>
              <a:noFill/>
            </a:ln>
          </p:spPr>
        </p:sp>
        <p:sp>
          <p:nvSpPr>
            <p:cNvPr id="45" name="TextBox 45"/>
            <p:cNvSpPr txBox="1"/>
            <p:nvPr/>
          </p:nvSpPr>
          <p:spPr>
            <a:xfrm>
              <a:off x="10804850" y="1990249"/>
              <a:ext cx="297799" cy="198120"/>
            </a:xfrm>
            <a:prstGeom prst="rect">
              <a:avLst/>
            </a:prstGeom>
            <a:noFill/>
            <a:ln>
              <a:noFill/>
            </a:ln>
          </p:spPr>
          <p:txBody>
            <a:bodyPr wrap="none" lIns="0" tIns="0" rIns="0" bIns="0" anchor="t" anchorCtr="0">
              <a:spAutoFit/>
            </a:bodyPr>
            <a:lstStyle/>
            <a:p>
              <a:pPr algn="ctr"/>
              <a:r>
                <a:rPr lang="zh-CN" sz="975" b="1" dirty="0">
                  <a:solidFill>
                    <a:srgbClr val="0052A6"/>
                  </a:solidFill>
                  <a:latin typeface="Arial"/>
                  <a:ea typeface="Microsoft YaHei"/>
                  <a:cs typeface="Arial"/>
                </a:rPr>
                <a:t>向上</a:t>
              </a:r>
            </a:p>
          </p:txBody>
        </p:sp>
        <p:sp>
          <p:nvSpPr>
            <p:cNvPr id="46" name="TextBox 46"/>
            <p:cNvSpPr txBox="1"/>
            <p:nvPr/>
          </p:nvSpPr>
          <p:spPr>
            <a:xfrm>
              <a:off x="10723245" y="2196941"/>
              <a:ext cx="461010" cy="167640"/>
            </a:xfrm>
            <a:prstGeom prst="rect">
              <a:avLst/>
            </a:prstGeom>
            <a:noFill/>
            <a:ln>
              <a:noFill/>
            </a:ln>
          </p:spPr>
          <p:txBody>
            <a:bodyPr wrap="none" lIns="0" tIns="0" rIns="0" bIns="0" anchor="t" anchorCtr="0">
              <a:spAutoFit/>
            </a:bodyPr>
            <a:lstStyle/>
            <a:p>
              <a:pPr algn="ctr"/>
              <a:r>
                <a:rPr lang="zh-CN" sz="825" dirty="0">
                  <a:solidFill>
                    <a:srgbClr val="5E6A78"/>
                  </a:solidFill>
                  <a:latin typeface="Arial"/>
                  <a:ea typeface="Microsoft YaHei"/>
                  <a:cs typeface="Arial"/>
                </a:rPr>
                <a:t>承载场景</a:t>
              </a:r>
            </a:p>
          </p:txBody>
        </p:sp>
        <p:sp>
          <p:nvSpPr>
            <p:cNvPr id="47" name="Line 47"/>
            <p:cNvSpPr/>
            <p:nvPr/>
          </p:nvSpPr>
          <p:spPr>
            <a:xfrm>
              <a:off x="10858500" y="3524250"/>
              <a:ext cx="190500" cy="9525"/>
            </a:xfrm>
            <a:custGeom>
              <a:avLst/>
              <a:gdLst/>
              <a:ahLst/>
              <a:cxnLst/>
              <a:rect l="l" t="t" r="r" b="b"/>
              <a:pathLst>
                <a:path w="190500" h="9525">
                  <a:moveTo>
                    <a:pt x="0" y="0"/>
                  </a:moveTo>
                  <a:lnTo>
                    <a:pt x="190500" y="0"/>
                  </a:lnTo>
                </a:path>
              </a:pathLst>
            </a:custGeom>
            <a:noFill/>
            <a:ln w="9525">
              <a:solidFill>
                <a:srgbClr val="E3E9F2"/>
              </a:solidFill>
            </a:ln>
          </p:spPr>
        </p:sp>
        <p:sp>
          <p:nvSpPr>
            <p:cNvPr id="48" name="TextBox 48"/>
            <p:cNvSpPr txBox="1"/>
            <p:nvPr/>
          </p:nvSpPr>
          <p:spPr>
            <a:xfrm>
              <a:off x="10804850" y="4657249"/>
              <a:ext cx="297799" cy="198120"/>
            </a:xfrm>
            <a:prstGeom prst="rect">
              <a:avLst/>
            </a:prstGeom>
            <a:noFill/>
            <a:ln>
              <a:noFill/>
            </a:ln>
          </p:spPr>
          <p:txBody>
            <a:bodyPr wrap="none" lIns="0" tIns="0" rIns="0" bIns="0" anchor="t" anchorCtr="0">
              <a:spAutoFit/>
            </a:bodyPr>
            <a:lstStyle/>
            <a:p>
              <a:pPr algn="ctr"/>
              <a:r>
                <a:rPr lang="zh-CN" sz="975" b="1" dirty="0">
                  <a:solidFill>
                    <a:srgbClr val="0052A6"/>
                  </a:solidFill>
                  <a:latin typeface="Arial"/>
                  <a:ea typeface="Microsoft YaHei"/>
                  <a:cs typeface="Arial"/>
                </a:rPr>
                <a:t>向下</a:t>
              </a:r>
            </a:p>
          </p:txBody>
        </p:sp>
        <p:sp>
          <p:nvSpPr>
            <p:cNvPr id="49" name="TextBox 49"/>
            <p:cNvSpPr txBox="1"/>
            <p:nvPr/>
          </p:nvSpPr>
          <p:spPr>
            <a:xfrm>
              <a:off x="10723245" y="4863941"/>
              <a:ext cx="461010" cy="167640"/>
            </a:xfrm>
            <a:prstGeom prst="rect">
              <a:avLst/>
            </a:prstGeom>
            <a:noFill/>
            <a:ln>
              <a:noFill/>
            </a:ln>
          </p:spPr>
          <p:txBody>
            <a:bodyPr wrap="none" lIns="0" tIns="0" rIns="0" bIns="0" anchor="t" anchorCtr="0">
              <a:spAutoFit/>
            </a:bodyPr>
            <a:lstStyle/>
            <a:p>
              <a:pPr algn="ctr"/>
              <a:r>
                <a:rPr lang="zh-CN" sz="825" dirty="0">
                  <a:solidFill>
                    <a:srgbClr val="5E6A78"/>
                  </a:solidFill>
                  <a:latin typeface="Arial"/>
                  <a:ea typeface="Microsoft YaHei"/>
                  <a:cs typeface="Arial"/>
                </a:rPr>
                <a:t>沉淀能力</a:t>
              </a:r>
            </a:p>
          </p:txBody>
        </p:sp>
      </p:grpSp>
      <p:grpSp>
        <p:nvGrpSpPr>
          <p:cNvPr id="53" name="Group 53"/>
          <p:cNvGrpSpPr/>
          <p:nvPr/>
        </p:nvGrpSpPr>
        <p:grpSpPr>
          <a:xfrm>
            <a:off x="750570" y="6456045"/>
            <a:ext cx="10689907" cy="182880"/>
            <a:chOff x="750570" y="6456045"/>
            <a:chExt cx="10689907" cy="182880"/>
          </a:xfrm>
        </p:grpSpPr>
        <p:sp>
          <p:nvSpPr>
            <p:cNvPr id="51" name="TextBox 51"/>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第二章 · 产品全景</a:t>
              </a:r>
            </a:p>
          </p:txBody>
        </p:sp>
        <p:sp>
          <p:nvSpPr>
            <p:cNvPr id="52" name="TextBox 52"/>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08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slide(fromBottom)">
                                      <p:cBhvr>
                                        <p:cTn id="19" dur="400"/>
                                        <p:tgtEl>
                                          <p:spTgt spid="33"/>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image">
                                      <p:cBhvr>
                                        <p:cTn id="23" dur="400"/>
                                        <p:tgtEl>
                                          <p:spTgt spid="43"/>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24" grpId="0"/>
      <p:bldP spid="33" grpId="0"/>
      <p:bldP spid="43" grpId="0"/>
      <p:bldP spid="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6389832" cy="792956"/>
            <a:chOff x="735330" y="533400"/>
            <a:chExt cx="6389832"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6389832"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四大场景串联成完整研发闭环,四层架构逐层支撑</a:t>
              </a:r>
            </a:p>
          </p:txBody>
        </p:sp>
        <p:sp>
          <p:nvSpPr>
            <p:cNvPr id="5" name="TextBox 5"/>
            <p:cNvSpPr txBox="1"/>
            <p:nvPr/>
          </p:nvSpPr>
          <p:spPr>
            <a:xfrm>
              <a:off x="747712" y="1097756"/>
              <a:ext cx="4829175"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四个场景不是孤立的点,而是覆盖需求 → 交付 → 知识 → 治理的研发全链路</a:t>
              </a:r>
            </a:p>
          </p:txBody>
        </p:sp>
      </p:grpSp>
      <p:grpSp>
        <p:nvGrpSpPr>
          <p:cNvPr id="9" name="Group 9"/>
          <p:cNvGrpSpPr/>
          <p:nvPr/>
        </p:nvGrpSpPr>
        <p:grpSpPr>
          <a:xfrm>
            <a:off x="1553718" y="1565910"/>
            <a:ext cx="6753606" cy="243840"/>
            <a:chOff x="1553718" y="1565910"/>
            <a:chExt cx="6753606" cy="243840"/>
          </a:xfrm>
        </p:grpSpPr>
        <p:sp>
          <p:nvSpPr>
            <p:cNvPr id="7" name="TextBox 7"/>
            <p:cNvSpPr txBox="1"/>
            <p:nvPr/>
          </p:nvSpPr>
          <p:spPr>
            <a:xfrm>
              <a:off x="1553718" y="1565910"/>
              <a:ext cx="702564" cy="243840"/>
            </a:xfrm>
            <a:prstGeom prst="rect">
              <a:avLst/>
            </a:prstGeom>
            <a:noFill/>
            <a:ln>
              <a:noFill/>
            </a:ln>
          </p:spPr>
          <p:txBody>
            <a:bodyPr wrap="none" lIns="0" tIns="0" rIns="0" bIns="0" anchor="t" anchorCtr="0">
              <a:spAutoFit/>
            </a:bodyPr>
            <a:lstStyle/>
            <a:p>
              <a:pPr algn="ctr"/>
              <a:r>
                <a:rPr lang="zh-CN" sz="1200" b="1" dirty="0">
                  <a:solidFill>
                    <a:srgbClr val="0052A6"/>
                  </a:solidFill>
                  <a:latin typeface="Arial"/>
                  <a:ea typeface="Microsoft YaHei"/>
                  <a:cs typeface="Arial"/>
                </a:rPr>
                <a:t>四大场景</a:t>
              </a:r>
            </a:p>
          </p:txBody>
        </p:sp>
        <p:sp>
          <p:nvSpPr>
            <p:cNvPr id="8" name="TextBox 8"/>
            <p:cNvSpPr txBox="1"/>
            <p:nvPr/>
          </p:nvSpPr>
          <p:spPr>
            <a:xfrm>
              <a:off x="6932676" y="1565910"/>
              <a:ext cx="1374648" cy="243840"/>
            </a:xfrm>
            <a:prstGeom prst="rect">
              <a:avLst/>
            </a:prstGeom>
            <a:noFill/>
            <a:ln>
              <a:noFill/>
            </a:ln>
          </p:spPr>
          <p:txBody>
            <a:bodyPr wrap="none" lIns="0" tIns="0" rIns="0" bIns="0" anchor="t" anchorCtr="0">
              <a:spAutoFit/>
            </a:bodyPr>
            <a:lstStyle/>
            <a:p>
              <a:pPr algn="ctr"/>
              <a:r>
                <a:rPr lang="zh-CN" sz="1200" b="1" dirty="0">
                  <a:solidFill>
                    <a:srgbClr val="0052A6"/>
                  </a:solidFill>
                  <a:latin typeface="Arial"/>
                  <a:ea typeface="Microsoft YaHei"/>
                  <a:cs typeface="Arial"/>
                </a:rPr>
                <a:t>主要落在哪层架构</a:t>
              </a:r>
            </a:p>
          </p:txBody>
        </p:sp>
      </p:grpSp>
      <p:grpSp>
        <p:nvGrpSpPr>
          <p:cNvPr id="17" name="Group 17"/>
          <p:cNvGrpSpPr/>
          <p:nvPr/>
        </p:nvGrpSpPr>
        <p:grpSpPr>
          <a:xfrm>
            <a:off x="762000" y="1905000"/>
            <a:ext cx="4000500" cy="876300"/>
            <a:chOff x="762000" y="1905000"/>
            <a:chExt cx="4000500" cy="876300"/>
          </a:xfrm>
        </p:grpSpPr>
        <p:sp>
          <p:nvSpPr>
            <p:cNvPr id="10" name="Rectangle 10"/>
            <p:cNvSpPr/>
            <p:nvPr/>
          </p:nvSpPr>
          <p:spPr>
            <a:xfrm>
              <a:off x="762000" y="1905000"/>
              <a:ext cx="4000500" cy="876300"/>
            </a:xfrm>
            <a:prstGeom prst="roundRect">
              <a:avLst>
                <a:gd name="adj" fmla="val 15217"/>
              </a:avLst>
            </a:prstGeom>
            <a:solidFill>
              <a:srgbClr val="F4F7FC"/>
            </a:solidFill>
            <a:ln>
              <a:noFill/>
            </a:ln>
          </p:spPr>
        </p:sp>
        <p:sp>
          <p:nvSpPr>
            <p:cNvPr id="11" name="Rectangle 11"/>
            <p:cNvSpPr/>
            <p:nvPr/>
          </p:nvSpPr>
          <p:spPr>
            <a:xfrm>
              <a:off x="762000" y="1905000"/>
              <a:ext cx="57150" cy="876300"/>
            </a:xfrm>
            <a:prstGeom prst="roundRect">
              <a:avLst>
                <a:gd name="adj" fmla="val 50000"/>
              </a:avLst>
            </a:prstGeom>
            <a:solidFill>
              <a:srgbClr val="0052A6"/>
            </a:solidFill>
            <a:ln>
              <a:noFill/>
            </a:ln>
          </p:spPr>
        </p:sp>
        <p:sp>
          <p:nvSpPr>
            <p:cNvPr id="12" name="Ellipse 12"/>
            <p:cNvSpPr/>
            <p:nvPr/>
          </p:nvSpPr>
          <p:spPr>
            <a:xfrm>
              <a:off x="1028700" y="2000250"/>
              <a:ext cx="304800" cy="304800"/>
            </a:xfrm>
            <a:prstGeom prst="ellipse">
              <a:avLst/>
            </a:prstGeom>
            <a:solidFill>
              <a:srgbClr val="0052A6"/>
            </a:solidFill>
            <a:ln>
              <a:noFill/>
            </a:ln>
          </p:spPr>
        </p:sp>
        <p:sp>
          <p:nvSpPr>
            <p:cNvPr id="13" name="TextBox 13"/>
            <p:cNvSpPr txBox="1"/>
            <p:nvPr/>
          </p:nvSpPr>
          <p:spPr>
            <a:xfrm>
              <a:off x="1093633" y="2104549"/>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S1</a:t>
              </a:r>
            </a:p>
          </p:txBody>
        </p:sp>
        <p:sp>
          <p:nvSpPr>
            <p:cNvPr id="14" name="TextBox 14"/>
            <p:cNvSpPr txBox="1"/>
            <p:nvPr/>
          </p:nvSpPr>
          <p:spPr>
            <a:xfrm>
              <a:off x="1431608" y="2072164"/>
              <a:ext cx="1103519"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智能需求闭环</a:t>
              </a:r>
            </a:p>
          </p:txBody>
        </p:sp>
        <p:sp>
          <p:nvSpPr>
            <p:cNvPr id="15" name="TextBox 15"/>
            <p:cNvSpPr txBox="1"/>
            <p:nvPr/>
          </p:nvSpPr>
          <p:spPr>
            <a:xfrm>
              <a:off x="1435418" y="2390299"/>
              <a:ext cx="184499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需求进入开发前与真实系统碰撞</a:t>
              </a:r>
            </a:p>
          </p:txBody>
        </p:sp>
        <p:sp>
          <p:nvSpPr>
            <p:cNvPr id="16" name="TextBox 16"/>
            <p:cNvSpPr txBox="1"/>
            <p:nvPr/>
          </p:nvSpPr>
          <p:spPr>
            <a:xfrm>
              <a:off x="1436370" y="2588895"/>
              <a:ext cx="1625060"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编码 Agent 反读代码反向提问</a:t>
              </a:r>
            </a:p>
          </p:txBody>
        </p:sp>
      </p:grpSp>
      <p:grpSp>
        <p:nvGrpSpPr>
          <p:cNvPr id="19" name="Group 19"/>
          <p:cNvGrpSpPr/>
          <p:nvPr/>
        </p:nvGrpSpPr>
        <p:grpSpPr>
          <a:xfrm>
            <a:off x="4857750" y="2343150"/>
            <a:ext cx="952500" cy="1"/>
            <a:chOff x="4857750" y="2343150"/>
            <a:chExt cx="952500" cy="1"/>
          </a:xfrm>
        </p:grpSpPr>
        <p:sp>
          <p:nvSpPr>
            <p:cNvPr id="18" name="Line 18"/>
            <p:cNvSpPr/>
            <p:nvPr/>
          </p:nvSpPr>
          <p:spPr>
            <a:xfrm>
              <a:off x="4857750" y="2343150"/>
              <a:ext cx="952500" cy="1"/>
            </a:xfrm>
            <a:prstGeom prst="line">
              <a:avLst/>
            </a:prstGeom>
            <a:noFill/>
            <a:ln w="19050">
              <a:solidFill>
                <a:srgbClr val="0052A6"/>
              </a:solidFill>
              <a:tailEnd type="triangle" w="lg" len="lg"/>
            </a:ln>
          </p:spPr>
        </p:sp>
      </p:grpSp>
      <p:grpSp>
        <p:nvGrpSpPr>
          <p:cNvPr id="23" name="Group 23"/>
          <p:cNvGrpSpPr/>
          <p:nvPr/>
        </p:nvGrpSpPr>
        <p:grpSpPr>
          <a:xfrm>
            <a:off x="5905500" y="2000250"/>
            <a:ext cx="3048000" cy="685800"/>
            <a:chOff x="5905500" y="2000250"/>
            <a:chExt cx="3048000" cy="685800"/>
          </a:xfrm>
        </p:grpSpPr>
        <p:sp>
          <p:nvSpPr>
            <p:cNvPr id="20" name="Rectangle 20"/>
            <p:cNvSpPr/>
            <p:nvPr/>
          </p:nvSpPr>
          <p:spPr>
            <a:xfrm>
              <a:off x="5905500" y="2000250"/>
              <a:ext cx="3048000" cy="685800"/>
            </a:xfrm>
            <a:prstGeom prst="roundRect">
              <a:avLst>
                <a:gd name="adj" fmla="val 13889"/>
              </a:avLst>
            </a:prstGeom>
            <a:solidFill>
              <a:srgbClr val="0052A6"/>
            </a:solidFill>
            <a:ln>
              <a:noFill/>
            </a:ln>
          </p:spPr>
        </p:sp>
        <p:sp>
          <p:nvSpPr>
            <p:cNvPr id="21" name="TextBox 21"/>
            <p:cNvSpPr txBox="1"/>
            <p:nvPr/>
          </p:nvSpPr>
          <p:spPr>
            <a:xfrm>
              <a:off x="6667071" y="2153602"/>
              <a:ext cx="1524857"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③ 人智协同 + ② Harness</a:t>
              </a:r>
            </a:p>
          </p:txBody>
        </p:sp>
        <p:sp>
          <p:nvSpPr>
            <p:cNvPr id="22" name="TextBox 22"/>
            <p:cNvSpPr txBox="1"/>
            <p:nvPr/>
          </p:nvSpPr>
          <p:spPr>
            <a:xfrm>
              <a:off x="6604516" y="2428399"/>
              <a:ext cx="1649968"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编码 Agent 反读 + 反向提问</a:t>
              </a:r>
            </a:p>
          </p:txBody>
        </p:sp>
      </p:grpSp>
      <p:grpSp>
        <p:nvGrpSpPr>
          <p:cNvPr id="31" name="Group 31"/>
          <p:cNvGrpSpPr/>
          <p:nvPr/>
        </p:nvGrpSpPr>
        <p:grpSpPr>
          <a:xfrm>
            <a:off x="762000" y="2895600"/>
            <a:ext cx="4000500" cy="876300"/>
            <a:chOff x="762000" y="2895600"/>
            <a:chExt cx="4000500" cy="876300"/>
          </a:xfrm>
        </p:grpSpPr>
        <p:sp>
          <p:nvSpPr>
            <p:cNvPr id="24" name="Rectangle 24"/>
            <p:cNvSpPr/>
            <p:nvPr/>
          </p:nvSpPr>
          <p:spPr>
            <a:xfrm>
              <a:off x="762000" y="2895600"/>
              <a:ext cx="4000500" cy="876300"/>
            </a:xfrm>
            <a:prstGeom prst="roundRect">
              <a:avLst>
                <a:gd name="adj" fmla="val 15217"/>
              </a:avLst>
            </a:prstGeom>
            <a:solidFill>
              <a:srgbClr val="F4F7FC"/>
            </a:solidFill>
            <a:ln>
              <a:noFill/>
            </a:ln>
          </p:spPr>
        </p:sp>
        <p:sp>
          <p:nvSpPr>
            <p:cNvPr id="25" name="Rectangle 25"/>
            <p:cNvSpPr/>
            <p:nvPr/>
          </p:nvSpPr>
          <p:spPr>
            <a:xfrm>
              <a:off x="762000" y="2895600"/>
              <a:ext cx="57150" cy="876300"/>
            </a:xfrm>
            <a:prstGeom prst="roundRect">
              <a:avLst>
                <a:gd name="adj" fmla="val 50000"/>
              </a:avLst>
            </a:prstGeom>
            <a:solidFill>
              <a:srgbClr val="246BFE"/>
            </a:solidFill>
            <a:ln>
              <a:noFill/>
            </a:ln>
          </p:spPr>
        </p:sp>
        <p:sp>
          <p:nvSpPr>
            <p:cNvPr id="26" name="Ellipse 26"/>
            <p:cNvSpPr/>
            <p:nvPr/>
          </p:nvSpPr>
          <p:spPr>
            <a:xfrm>
              <a:off x="1028700" y="2990850"/>
              <a:ext cx="304800" cy="304800"/>
            </a:xfrm>
            <a:prstGeom prst="ellipse">
              <a:avLst/>
            </a:prstGeom>
            <a:solidFill>
              <a:srgbClr val="246BFE"/>
            </a:solidFill>
            <a:ln>
              <a:noFill/>
            </a:ln>
          </p:spPr>
        </p:sp>
        <p:sp>
          <p:nvSpPr>
            <p:cNvPr id="27" name="TextBox 27"/>
            <p:cNvSpPr txBox="1"/>
            <p:nvPr/>
          </p:nvSpPr>
          <p:spPr>
            <a:xfrm>
              <a:off x="1093633" y="3095149"/>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S2</a:t>
              </a:r>
            </a:p>
          </p:txBody>
        </p:sp>
        <p:sp>
          <p:nvSpPr>
            <p:cNvPr id="28" name="TextBox 28"/>
            <p:cNvSpPr txBox="1"/>
            <p:nvPr/>
          </p:nvSpPr>
          <p:spPr>
            <a:xfrm>
              <a:off x="1431608" y="3062764"/>
              <a:ext cx="1103519"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智能交付闭环</a:t>
              </a:r>
            </a:p>
          </p:txBody>
        </p:sp>
        <p:sp>
          <p:nvSpPr>
            <p:cNvPr id="29" name="TextBox 29"/>
            <p:cNvSpPr txBox="1"/>
            <p:nvPr/>
          </p:nvSpPr>
          <p:spPr>
            <a:xfrm>
              <a:off x="1435418" y="3380899"/>
              <a:ext cx="1344430"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AI 改完即可验证可发布</a:t>
              </a:r>
            </a:p>
          </p:txBody>
        </p:sp>
        <p:sp>
          <p:nvSpPr>
            <p:cNvPr id="30" name="TextBox 30"/>
            <p:cNvSpPr txBox="1"/>
            <p:nvPr/>
          </p:nvSpPr>
          <p:spPr>
            <a:xfrm>
              <a:off x="1436370" y="3579495"/>
              <a:ext cx="1895094"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Harness + fullcheck + 自动化测试</a:t>
              </a:r>
            </a:p>
          </p:txBody>
        </p:sp>
      </p:grpSp>
      <p:grpSp>
        <p:nvGrpSpPr>
          <p:cNvPr id="33" name="Group 33"/>
          <p:cNvGrpSpPr/>
          <p:nvPr/>
        </p:nvGrpSpPr>
        <p:grpSpPr>
          <a:xfrm>
            <a:off x="4857750" y="3333750"/>
            <a:ext cx="952500" cy="1"/>
            <a:chOff x="4857750" y="3333750"/>
            <a:chExt cx="952500" cy="1"/>
          </a:xfrm>
        </p:grpSpPr>
        <p:sp>
          <p:nvSpPr>
            <p:cNvPr id="32" name="Line 32"/>
            <p:cNvSpPr/>
            <p:nvPr/>
          </p:nvSpPr>
          <p:spPr>
            <a:xfrm>
              <a:off x="4857750" y="3333750"/>
              <a:ext cx="952500" cy="1"/>
            </a:xfrm>
            <a:prstGeom prst="line">
              <a:avLst/>
            </a:prstGeom>
            <a:noFill/>
            <a:ln w="19050">
              <a:solidFill>
                <a:srgbClr val="246BFE"/>
              </a:solidFill>
              <a:tailEnd type="triangle" w="lg" len="lg"/>
            </a:ln>
          </p:spPr>
        </p:sp>
      </p:grpSp>
      <p:grpSp>
        <p:nvGrpSpPr>
          <p:cNvPr id="37" name="Group 37"/>
          <p:cNvGrpSpPr/>
          <p:nvPr/>
        </p:nvGrpSpPr>
        <p:grpSpPr>
          <a:xfrm>
            <a:off x="5905500" y="2990850"/>
            <a:ext cx="3048000" cy="685800"/>
            <a:chOff x="5905500" y="2990850"/>
            <a:chExt cx="3048000" cy="685800"/>
          </a:xfrm>
        </p:grpSpPr>
        <p:sp>
          <p:nvSpPr>
            <p:cNvPr id="34" name="Rectangle 34"/>
            <p:cNvSpPr/>
            <p:nvPr/>
          </p:nvSpPr>
          <p:spPr>
            <a:xfrm>
              <a:off x="5905500" y="2990850"/>
              <a:ext cx="3048000" cy="685800"/>
            </a:xfrm>
            <a:prstGeom prst="roundRect">
              <a:avLst>
                <a:gd name="adj" fmla="val 13889"/>
              </a:avLst>
            </a:prstGeom>
            <a:solidFill>
              <a:srgbClr val="246BFE"/>
            </a:solidFill>
            <a:ln>
              <a:noFill/>
            </a:ln>
          </p:spPr>
        </p:sp>
        <p:sp>
          <p:nvSpPr>
            <p:cNvPr id="35" name="TextBox 35"/>
            <p:cNvSpPr txBox="1"/>
            <p:nvPr/>
          </p:nvSpPr>
          <p:spPr>
            <a:xfrm>
              <a:off x="6786086" y="3144202"/>
              <a:ext cx="1286828"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② Harness 驾驭框架</a:t>
              </a:r>
            </a:p>
          </p:txBody>
        </p:sp>
        <p:sp>
          <p:nvSpPr>
            <p:cNvPr id="36" name="TextBox 36"/>
            <p:cNvSpPr txBox="1"/>
            <p:nvPr/>
          </p:nvSpPr>
          <p:spPr>
            <a:xfrm>
              <a:off x="6546009" y="3418999"/>
              <a:ext cx="176698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fullcheck / E2E / 自动化测试</a:t>
              </a:r>
            </a:p>
          </p:txBody>
        </p:sp>
      </p:grpSp>
      <p:grpSp>
        <p:nvGrpSpPr>
          <p:cNvPr id="45" name="Group 45"/>
          <p:cNvGrpSpPr/>
          <p:nvPr/>
        </p:nvGrpSpPr>
        <p:grpSpPr>
          <a:xfrm>
            <a:off x="762000" y="3886200"/>
            <a:ext cx="4000500" cy="876300"/>
            <a:chOff x="762000" y="3886200"/>
            <a:chExt cx="4000500" cy="876300"/>
          </a:xfrm>
        </p:grpSpPr>
        <p:sp>
          <p:nvSpPr>
            <p:cNvPr id="38" name="Rectangle 38"/>
            <p:cNvSpPr/>
            <p:nvPr/>
          </p:nvSpPr>
          <p:spPr>
            <a:xfrm>
              <a:off x="762000" y="3886200"/>
              <a:ext cx="4000500" cy="876300"/>
            </a:xfrm>
            <a:prstGeom prst="roundRect">
              <a:avLst>
                <a:gd name="adj" fmla="val 15217"/>
              </a:avLst>
            </a:prstGeom>
            <a:solidFill>
              <a:srgbClr val="F4F7FC"/>
            </a:solidFill>
            <a:ln>
              <a:noFill/>
            </a:ln>
          </p:spPr>
        </p:sp>
        <p:sp>
          <p:nvSpPr>
            <p:cNvPr id="39" name="Rectangle 39"/>
            <p:cNvSpPr/>
            <p:nvPr/>
          </p:nvSpPr>
          <p:spPr>
            <a:xfrm>
              <a:off x="762000" y="3886200"/>
              <a:ext cx="57150" cy="876300"/>
            </a:xfrm>
            <a:prstGeom prst="roundRect">
              <a:avLst>
                <a:gd name="adj" fmla="val 50000"/>
              </a:avLst>
            </a:prstGeom>
            <a:solidFill>
              <a:srgbClr val="518FEC"/>
            </a:solidFill>
            <a:ln>
              <a:noFill/>
            </a:ln>
          </p:spPr>
        </p:sp>
        <p:sp>
          <p:nvSpPr>
            <p:cNvPr id="40" name="Ellipse 40"/>
            <p:cNvSpPr/>
            <p:nvPr/>
          </p:nvSpPr>
          <p:spPr>
            <a:xfrm>
              <a:off x="1028700" y="3981450"/>
              <a:ext cx="304800" cy="304800"/>
            </a:xfrm>
            <a:prstGeom prst="ellipse">
              <a:avLst/>
            </a:prstGeom>
            <a:solidFill>
              <a:srgbClr val="518FEC"/>
            </a:solidFill>
            <a:ln>
              <a:noFill/>
            </a:ln>
          </p:spPr>
        </p:sp>
        <p:sp>
          <p:nvSpPr>
            <p:cNvPr id="41" name="TextBox 41"/>
            <p:cNvSpPr txBox="1"/>
            <p:nvPr/>
          </p:nvSpPr>
          <p:spPr>
            <a:xfrm>
              <a:off x="1093633" y="4085749"/>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S3</a:t>
              </a:r>
            </a:p>
          </p:txBody>
        </p:sp>
        <p:sp>
          <p:nvSpPr>
            <p:cNvPr id="42" name="TextBox 42"/>
            <p:cNvSpPr txBox="1"/>
            <p:nvPr/>
          </p:nvSpPr>
          <p:spPr>
            <a:xfrm>
              <a:off x="1431608" y="4053364"/>
              <a:ext cx="1103519"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智能知识底座</a:t>
              </a:r>
            </a:p>
          </p:txBody>
        </p:sp>
        <p:sp>
          <p:nvSpPr>
            <p:cNvPr id="43" name="TextBox 43"/>
            <p:cNvSpPr txBox="1"/>
            <p:nvPr/>
          </p:nvSpPr>
          <p:spPr>
            <a:xfrm>
              <a:off x="1435418" y="4371499"/>
              <a:ext cx="159146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Agent 沿语义找准确上下文</a:t>
              </a:r>
            </a:p>
          </p:txBody>
        </p:sp>
        <p:sp>
          <p:nvSpPr>
            <p:cNvPr id="44" name="TextBox 44"/>
            <p:cNvSpPr txBox="1"/>
            <p:nvPr/>
          </p:nvSpPr>
          <p:spPr>
            <a:xfrm>
              <a:off x="1436370" y="4570095"/>
              <a:ext cx="1120997"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本体网络 + 知识联通</a:t>
              </a:r>
            </a:p>
          </p:txBody>
        </p:sp>
      </p:grpSp>
      <p:grpSp>
        <p:nvGrpSpPr>
          <p:cNvPr id="47" name="Group 47"/>
          <p:cNvGrpSpPr/>
          <p:nvPr/>
        </p:nvGrpSpPr>
        <p:grpSpPr>
          <a:xfrm>
            <a:off x="4857750" y="4324350"/>
            <a:ext cx="952500" cy="1"/>
            <a:chOff x="4857750" y="4324350"/>
            <a:chExt cx="952500" cy="1"/>
          </a:xfrm>
        </p:grpSpPr>
        <p:sp>
          <p:nvSpPr>
            <p:cNvPr id="46" name="Line 46"/>
            <p:cNvSpPr/>
            <p:nvPr/>
          </p:nvSpPr>
          <p:spPr>
            <a:xfrm>
              <a:off x="4857750" y="4324350"/>
              <a:ext cx="952500" cy="1"/>
            </a:xfrm>
            <a:prstGeom prst="line">
              <a:avLst/>
            </a:prstGeom>
            <a:noFill/>
            <a:ln w="19050">
              <a:solidFill>
                <a:srgbClr val="518FEC"/>
              </a:solidFill>
              <a:tailEnd type="triangle" w="lg" len="lg"/>
            </a:ln>
          </p:spPr>
        </p:sp>
      </p:grpSp>
      <p:grpSp>
        <p:nvGrpSpPr>
          <p:cNvPr id="51" name="Group 51"/>
          <p:cNvGrpSpPr/>
          <p:nvPr/>
        </p:nvGrpSpPr>
        <p:grpSpPr>
          <a:xfrm>
            <a:off x="5905500" y="3981450"/>
            <a:ext cx="3048000" cy="685800"/>
            <a:chOff x="5905500" y="3981450"/>
            <a:chExt cx="3048000" cy="685800"/>
          </a:xfrm>
        </p:grpSpPr>
        <p:sp>
          <p:nvSpPr>
            <p:cNvPr id="48" name="Rectangle 48"/>
            <p:cNvSpPr/>
            <p:nvPr/>
          </p:nvSpPr>
          <p:spPr>
            <a:xfrm>
              <a:off x="5905500" y="3981450"/>
              <a:ext cx="3048000" cy="685800"/>
            </a:xfrm>
            <a:prstGeom prst="roundRect">
              <a:avLst>
                <a:gd name="adj" fmla="val 13889"/>
              </a:avLst>
            </a:prstGeom>
            <a:solidFill>
              <a:srgbClr val="518FEC"/>
            </a:solidFill>
            <a:ln>
              <a:noFill/>
            </a:ln>
          </p:spPr>
        </p:sp>
        <p:sp>
          <p:nvSpPr>
            <p:cNvPr id="49" name="TextBox 49"/>
            <p:cNvSpPr txBox="1"/>
            <p:nvPr/>
          </p:nvSpPr>
          <p:spPr>
            <a:xfrm>
              <a:off x="6866596" y="4134802"/>
              <a:ext cx="1125807"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① 知识与本体底座</a:t>
              </a:r>
            </a:p>
          </p:txBody>
        </p:sp>
        <p:sp>
          <p:nvSpPr>
            <p:cNvPr id="50" name="TextBox 50"/>
            <p:cNvSpPr txBox="1"/>
            <p:nvPr/>
          </p:nvSpPr>
          <p:spPr>
            <a:xfrm>
              <a:off x="6822293" y="4409599"/>
              <a:ext cx="121441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本体网络 · 语义连接</a:t>
              </a:r>
            </a:p>
          </p:txBody>
        </p:sp>
      </p:grpSp>
      <p:grpSp>
        <p:nvGrpSpPr>
          <p:cNvPr id="59" name="Group 59"/>
          <p:cNvGrpSpPr/>
          <p:nvPr/>
        </p:nvGrpSpPr>
        <p:grpSpPr>
          <a:xfrm>
            <a:off x="762000" y="4876800"/>
            <a:ext cx="4000500" cy="876300"/>
            <a:chOff x="762000" y="4876800"/>
            <a:chExt cx="4000500" cy="876300"/>
          </a:xfrm>
        </p:grpSpPr>
        <p:sp>
          <p:nvSpPr>
            <p:cNvPr id="52" name="Rectangle 52"/>
            <p:cNvSpPr/>
            <p:nvPr/>
          </p:nvSpPr>
          <p:spPr>
            <a:xfrm>
              <a:off x="762000" y="4876800"/>
              <a:ext cx="4000500" cy="876300"/>
            </a:xfrm>
            <a:prstGeom prst="roundRect">
              <a:avLst>
                <a:gd name="adj" fmla="val 15217"/>
              </a:avLst>
            </a:prstGeom>
            <a:solidFill>
              <a:srgbClr val="F4F7FC"/>
            </a:solidFill>
            <a:ln>
              <a:noFill/>
            </a:ln>
          </p:spPr>
        </p:sp>
        <p:sp>
          <p:nvSpPr>
            <p:cNvPr id="53" name="Rectangle 53"/>
            <p:cNvSpPr/>
            <p:nvPr/>
          </p:nvSpPr>
          <p:spPr>
            <a:xfrm>
              <a:off x="762000" y="4876800"/>
              <a:ext cx="57150" cy="876300"/>
            </a:xfrm>
            <a:prstGeom prst="roundRect">
              <a:avLst>
                <a:gd name="adj" fmla="val 50000"/>
              </a:avLst>
            </a:prstGeom>
            <a:solidFill>
              <a:srgbClr val="0A2A5E"/>
            </a:solidFill>
            <a:ln>
              <a:noFill/>
            </a:ln>
          </p:spPr>
        </p:sp>
        <p:sp>
          <p:nvSpPr>
            <p:cNvPr id="54" name="Ellipse 54"/>
            <p:cNvSpPr/>
            <p:nvPr/>
          </p:nvSpPr>
          <p:spPr>
            <a:xfrm>
              <a:off x="1028700" y="4972050"/>
              <a:ext cx="304800" cy="304800"/>
            </a:xfrm>
            <a:prstGeom prst="ellipse">
              <a:avLst/>
            </a:prstGeom>
            <a:solidFill>
              <a:srgbClr val="0A2A5E"/>
            </a:solidFill>
            <a:ln>
              <a:noFill/>
            </a:ln>
          </p:spPr>
        </p:sp>
        <p:sp>
          <p:nvSpPr>
            <p:cNvPr id="55" name="TextBox 55"/>
            <p:cNvSpPr txBox="1"/>
            <p:nvPr/>
          </p:nvSpPr>
          <p:spPr>
            <a:xfrm>
              <a:off x="1093633" y="5076349"/>
              <a:ext cx="17493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S4</a:t>
              </a:r>
            </a:p>
          </p:txBody>
        </p:sp>
        <p:sp>
          <p:nvSpPr>
            <p:cNvPr id="56" name="TextBox 56"/>
            <p:cNvSpPr txBox="1"/>
            <p:nvPr/>
          </p:nvSpPr>
          <p:spPr>
            <a:xfrm>
              <a:off x="1431608" y="5043964"/>
              <a:ext cx="1558751"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智能治理与 FinOps</a:t>
              </a:r>
            </a:p>
          </p:txBody>
        </p:sp>
        <p:sp>
          <p:nvSpPr>
            <p:cNvPr id="57" name="TextBox 57"/>
            <p:cNvSpPr txBox="1"/>
            <p:nvPr/>
          </p:nvSpPr>
          <p:spPr>
            <a:xfrm>
              <a:off x="1435418" y="5362099"/>
              <a:ext cx="1084397"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AI 投入产出可度量</a:t>
              </a:r>
            </a:p>
          </p:txBody>
        </p:sp>
        <p:sp>
          <p:nvSpPr>
            <p:cNvPr id="58" name="TextBox 58"/>
            <p:cNvSpPr txBox="1"/>
            <p:nvPr/>
          </p:nvSpPr>
          <p:spPr>
            <a:xfrm>
              <a:off x="1436370" y="5560695"/>
              <a:ext cx="1817084"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风险分级 + 效能度量 + Token ROI</a:t>
              </a:r>
            </a:p>
          </p:txBody>
        </p:sp>
      </p:grpSp>
      <p:grpSp>
        <p:nvGrpSpPr>
          <p:cNvPr id="61" name="Group 61"/>
          <p:cNvGrpSpPr/>
          <p:nvPr/>
        </p:nvGrpSpPr>
        <p:grpSpPr>
          <a:xfrm>
            <a:off x="4857750" y="5314950"/>
            <a:ext cx="952500" cy="1"/>
            <a:chOff x="4857750" y="5314950"/>
            <a:chExt cx="952500" cy="1"/>
          </a:xfrm>
        </p:grpSpPr>
        <p:sp>
          <p:nvSpPr>
            <p:cNvPr id="60" name="Line 60"/>
            <p:cNvSpPr/>
            <p:nvPr/>
          </p:nvSpPr>
          <p:spPr>
            <a:xfrm>
              <a:off x="4857750" y="5314950"/>
              <a:ext cx="952500" cy="1"/>
            </a:xfrm>
            <a:prstGeom prst="line">
              <a:avLst/>
            </a:prstGeom>
            <a:noFill/>
            <a:ln w="19050">
              <a:solidFill>
                <a:srgbClr val="0A2A5E"/>
              </a:solidFill>
              <a:tailEnd type="triangle" w="lg" len="lg"/>
            </a:ln>
          </p:spPr>
        </p:sp>
      </p:grpSp>
      <p:grpSp>
        <p:nvGrpSpPr>
          <p:cNvPr id="65" name="Group 65"/>
          <p:cNvGrpSpPr/>
          <p:nvPr/>
        </p:nvGrpSpPr>
        <p:grpSpPr>
          <a:xfrm>
            <a:off x="5905500" y="4972050"/>
            <a:ext cx="3048000" cy="685800"/>
            <a:chOff x="5905500" y="4972050"/>
            <a:chExt cx="3048000" cy="685800"/>
          </a:xfrm>
        </p:grpSpPr>
        <p:sp>
          <p:nvSpPr>
            <p:cNvPr id="62" name="Rectangle 62"/>
            <p:cNvSpPr/>
            <p:nvPr/>
          </p:nvSpPr>
          <p:spPr>
            <a:xfrm>
              <a:off x="5905500" y="4972050"/>
              <a:ext cx="3048000" cy="685800"/>
            </a:xfrm>
            <a:prstGeom prst="roundRect">
              <a:avLst>
                <a:gd name="adj" fmla="val 13889"/>
              </a:avLst>
            </a:prstGeom>
            <a:solidFill>
              <a:srgbClr val="0A2A5E"/>
            </a:solidFill>
            <a:ln>
              <a:noFill/>
            </a:ln>
          </p:spPr>
        </p:sp>
        <p:sp>
          <p:nvSpPr>
            <p:cNvPr id="63" name="TextBox 63"/>
            <p:cNvSpPr txBox="1"/>
            <p:nvPr/>
          </p:nvSpPr>
          <p:spPr>
            <a:xfrm>
              <a:off x="6936605" y="5125402"/>
              <a:ext cx="985790" cy="213360"/>
            </a:xfrm>
            <a:prstGeom prst="rect">
              <a:avLst/>
            </a:prstGeom>
            <a:noFill/>
            <a:ln>
              <a:noFill/>
            </a:ln>
          </p:spPr>
          <p:txBody>
            <a:bodyPr wrap="none" lIns="0" tIns="0" rIns="0" bIns="0" anchor="t" anchorCtr="0">
              <a:spAutoFit/>
            </a:bodyPr>
            <a:lstStyle/>
            <a:p>
              <a:pPr algn="ctr"/>
              <a:r>
                <a:rPr lang="zh-CN" sz="1050" dirty="0">
                  <a:solidFill>
                    <a:srgbClr val="B8C7E0"/>
                  </a:solidFill>
                  <a:latin typeface="Arial"/>
                  <a:ea typeface="Microsoft YaHei"/>
                  <a:cs typeface="Arial"/>
                </a:rPr>
                <a:t>④ 治理与度量层</a:t>
              </a:r>
            </a:p>
          </p:txBody>
        </p:sp>
        <p:sp>
          <p:nvSpPr>
            <p:cNvPr id="64" name="TextBox 64"/>
            <p:cNvSpPr txBox="1"/>
            <p:nvPr/>
          </p:nvSpPr>
          <p:spPr>
            <a:xfrm>
              <a:off x="6666274" y="5400199"/>
              <a:ext cx="15264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风险分级 · FinOps · 度量</a:t>
              </a:r>
            </a:p>
          </p:txBody>
        </p:sp>
      </p:grpSp>
      <p:grpSp>
        <p:nvGrpSpPr>
          <p:cNvPr id="75" name="Group 75"/>
          <p:cNvGrpSpPr/>
          <p:nvPr/>
        </p:nvGrpSpPr>
        <p:grpSpPr>
          <a:xfrm>
            <a:off x="9239250" y="1905000"/>
            <a:ext cx="2190750" cy="3848100"/>
            <a:chOff x="9239250" y="1905000"/>
            <a:chExt cx="2190750" cy="3848100"/>
          </a:xfrm>
        </p:grpSpPr>
        <p:sp>
          <p:nvSpPr>
            <p:cNvPr id="66" name="Rectangle 66"/>
            <p:cNvSpPr/>
            <p:nvPr/>
          </p:nvSpPr>
          <p:spPr>
            <a:xfrm>
              <a:off x="9239250" y="1905000"/>
              <a:ext cx="2190750" cy="3848100"/>
            </a:xfrm>
            <a:prstGeom prst="roundRect">
              <a:avLst>
                <a:gd name="adj" fmla="val 6087"/>
              </a:avLst>
            </a:prstGeom>
            <a:solidFill>
              <a:srgbClr val="0052A6"/>
            </a:solidFill>
            <a:ln>
              <a:noFill/>
            </a:ln>
          </p:spPr>
        </p:sp>
        <p:sp>
          <p:nvSpPr>
            <p:cNvPr id="67" name="TextBox 67"/>
            <p:cNvSpPr txBox="1"/>
            <p:nvPr/>
          </p:nvSpPr>
          <p:spPr>
            <a:xfrm>
              <a:off x="9721834" y="2011680"/>
              <a:ext cx="1225582"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4 × 4</a:t>
              </a:r>
            </a:p>
          </p:txBody>
        </p:sp>
        <p:sp>
          <p:nvSpPr>
            <p:cNvPr id="68" name="Line 68"/>
            <p:cNvSpPr/>
            <p:nvPr/>
          </p:nvSpPr>
          <p:spPr>
            <a:xfrm>
              <a:off x="9620250" y="2686050"/>
              <a:ext cx="1428750" cy="9525"/>
            </a:xfrm>
            <a:custGeom>
              <a:avLst/>
              <a:gdLst/>
              <a:ahLst/>
              <a:cxnLst/>
              <a:rect l="l" t="t" r="r" b="b"/>
              <a:pathLst>
                <a:path w="1428750" h="9525">
                  <a:moveTo>
                    <a:pt x="0" y="0"/>
                  </a:moveTo>
                  <a:lnTo>
                    <a:pt x="1428750" y="0"/>
                  </a:lnTo>
                </a:path>
              </a:pathLst>
            </a:custGeom>
            <a:noFill/>
            <a:ln w="9525">
              <a:solidFill>
                <a:srgbClr val="246BFE"/>
              </a:solidFill>
            </a:ln>
          </p:spPr>
        </p:sp>
        <p:sp>
          <p:nvSpPr>
            <p:cNvPr id="69" name="TextBox 69"/>
            <p:cNvSpPr txBox="1"/>
            <p:nvPr/>
          </p:nvSpPr>
          <p:spPr>
            <a:xfrm>
              <a:off x="10005298" y="2964656"/>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四大场景</a:t>
              </a:r>
            </a:p>
          </p:txBody>
        </p:sp>
        <p:sp>
          <p:nvSpPr>
            <p:cNvPr id="70" name="TextBox 70"/>
            <p:cNvSpPr txBox="1"/>
            <p:nvPr/>
          </p:nvSpPr>
          <p:spPr>
            <a:xfrm>
              <a:off x="10006953" y="3228499"/>
              <a:ext cx="655344" cy="198120"/>
            </a:xfrm>
            <a:prstGeom prst="rect">
              <a:avLst/>
            </a:prstGeom>
            <a:noFill/>
            <a:ln>
              <a:noFill/>
            </a:ln>
          </p:spPr>
          <p:txBody>
            <a:bodyPr wrap="none" lIns="0" tIns="0" rIns="0" bIns="0" anchor="t" anchorCtr="0">
              <a:spAutoFit/>
            </a:bodyPr>
            <a:lstStyle/>
            <a:p>
              <a:pPr algn="ctr"/>
              <a:r>
                <a:rPr lang="zh-CN" sz="975" dirty="0">
                  <a:solidFill>
                    <a:srgbClr val="DCE6FB"/>
                  </a:solidFill>
                  <a:latin typeface="Arial"/>
                  <a:ea typeface="Microsoft YaHei"/>
                  <a:cs typeface="Arial"/>
                </a:rPr>
                <a:t>× 四层架构</a:t>
              </a:r>
            </a:p>
          </p:txBody>
        </p:sp>
        <p:sp>
          <p:nvSpPr>
            <p:cNvPr id="71" name="TextBox 71"/>
            <p:cNvSpPr txBox="1"/>
            <p:nvPr/>
          </p:nvSpPr>
          <p:spPr>
            <a:xfrm>
              <a:off x="9995945" y="3870960"/>
              <a:ext cx="67736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 端到端</a:t>
              </a:r>
            </a:p>
          </p:txBody>
        </p:sp>
        <p:sp>
          <p:nvSpPr>
            <p:cNvPr id="72" name="TextBox 72"/>
            <p:cNvSpPr txBox="1"/>
            <p:nvPr/>
          </p:nvSpPr>
          <p:spPr>
            <a:xfrm>
              <a:off x="9899333" y="4137660"/>
              <a:ext cx="87058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研发流水线</a:t>
              </a:r>
            </a:p>
          </p:txBody>
        </p:sp>
        <p:sp>
          <p:nvSpPr>
            <p:cNvPr id="73" name="TextBox 73"/>
            <p:cNvSpPr txBox="1"/>
            <p:nvPr/>
          </p:nvSpPr>
          <p:spPr>
            <a:xfrm>
              <a:off x="10014156" y="5236845"/>
              <a:ext cx="640937" cy="182880"/>
            </a:xfrm>
            <a:prstGeom prst="rect">
              <a:avLst/>
            </a:prstGeom>
            <a:noFill/>
            <a:ln>
              <a:noFill/>
            </a:ln>
          </p:spPr>
          <p:txBody>
            <a:bodyPr wrap="none" lIns="0" tIns="0" rIns="0" bIns="0" anchor="t" anchorCtr="0">
              <a:spAutoFit/>
            </a:bodyPr>
            <a:lstStyle/>
            <a:p>
              <a:pPr algn="ctr"/>
              <a:r>
                <a:rPr lang="zh-CN" sz="900" dirty="0">
                  <a:solidFill>
                    <a:srgbClr val="B8C7E0"/>
                  </a:solidFill>
                  <a:latin typeface="Arial"/>
                  <a:ea typeface="Microsoft YaHei"/>
                  <a:cs typeface="Arial"/>
                </a:rPr>
                <a:t>需求 → 交付</a:t>
              </a:r>
            </a:p>
          </p:txBody>
        </p:sp>
        <p:sp>
          <p:nvSpPr>
            <p:cNvPr id="74" name="TextBox 74"/>
            <p:cNvSpPr txBox="1"/>
            <p:nvPr/>
          </p:nvSpPr>
          <p:spPr>
            <a:xfrm>
              <a:off x="10014156" y="5427345"/>
              <a:ext cx="640937" cy="182880"/>
            </a:xfrm>
            <a:prstGeom prst="rect">
              <a:avLst/>
            </a:prstGeom>
            <a:noFill/>
            <a:ln>
              <a:noFill/>
            </a:ln>
          </p:spPr>
          <p:txBody>
            <a:bodyPr wrap="none" lIns="0" tIns="0" rIns="0" bIns="0" anchor="t" anchorCtr="0">
              <a:spAutoFit/>
            </a:bodyPr>
            <a:lstStyle/>
            <a:p>
              <a:pPr algn="ctr"/>
              <a:r>
                <a:rPr lang="zh-CN" sz="900" dirty="0">
                  <a:solidFill>
                    <a:srgbClr val="B8C7E0"/>
                  </a:solidFill>
                  <a:latin typeface="Arial"/>
                  <a:ea typeface="Microsoft YaHei"/>
                  <a:cs typeface="Arial"/>
                </a:rPr>
                <a:t>知识 → 治理</a:t>
              </a:r>
            </a:p>
          </p:txBody>
        </p:sp>
      </p:grpSp>
      <p:grpSp>
        <p:nvGrpSpPr>
          <p:cNvPr id="78" name="Group 78"/>
          <p:cNvGrpSpPr/>
          <p:nvPr/>
        </p:nvGrpSpPr>
        <p:grpSpPr>
          <a:xfrm>
            <a:off x="750570" y="6456045"/>
            <a:ext cx="10689907" cy="182880"/>
            <a:chOff x="750570" y="6456045"/>
            <a:chExt cx="10689907" cy="182880"/>
          </a:xfrm>
        </p:grpSpPr>
        <p:sp>
          <p:nvSpPr>
            <p:cNvPr id="76" name="TextBox 76"/>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第二章 · 产品全景</a:t>
              </a:r>
            </a:p>
          </p:txBody>
        </p:sp>
        <p:sp>
          <p:nvSpPr>
            <p:cNvPr id="77" name="TextBox 77"/>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09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400"/>
                                        <p:tgtEl>
                                          <p:spTgt spid="1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image">
                                      <p:cBhvr>
                                        <p:cTn id="15" dur="400"/>
                                        <p:tgtEl>
                                          <p:spTgt spid="1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left)">
                                      <p:cBhvr>
                                        <p:cTn id="23" dur="400"/>
                                        <p:tgtEl>
                                          <p:spTgt spid="31"/>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slide(fromBottom)">
                                      <p:cBhvr>
                                        <p:cTn id="27" dur="400"/>
                                        <p:tgtEl>
                                          <p:spTgt spid="33"/>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image">
                                      <p:cBhvr>
                                        <p:cTn id="31" dur="400"/>
                                        <p:tgtEl>
                                          <p:spTgt spid="37"/>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childTnLst>
                          </p:cTn>
                        </p:par>
                        <p:par>
                          <p:cTn id="36" fill="hold">
                            <p:stCondLst>
                              <p:cond delay="7200"/>
                            </p:stCondLst>
                            <p:childTnLst>
                              <p:par>
                                <p:cTn id="37" presetID="22" presetClass="entr" presetSubtype="1" fill="hold" nodeType="after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wipe(left)">
                                      <p:cBhvr>
                                        <p:cTn id="39" dur="400"/>
                                        <p:tgtEl>
                                          <p:spTgt spid="47"/>
                                        </p:tgtEl>
                                      </p:cBhvr>
                                    </p:animEffect>
                                  </p:childTnLst>
                                </p:cTn>
                              </p:par>
                            </p:childTnLst>
                          </p:cTn>
                        </p:par>
                        <p:par>
                          <p:cTn id="40" fill="hold">
                            <p:stCondLst>
                              <p:cond delay="8100"/>
                            </p:stCondLst>
                            <p:childTnLst>
                              <p:par>
                                <p:cTn id="41" presetID="2" presetClass="entr" presetSubtype="4" fill="hold" nodeType="after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slide(fromBottom)">
                                      <p:cBhvr>
                                        <p:cTn id="43" dur="400"/>
                                        <p:tgtEl>
                                          <p:spTgt spid="51"/>
                                        </p:tgtEl>
                                      </p:cBhvr>
                                    </p:animEffect>
                                  </p:childTnLst>
                                </p:cTn>
                              </p:par>
                            </p:childTnLst>
                          </p:cTn>
                        </p:par>
                        <p:par>
                          <p:cTn id="44" fill="hold">
                            <p:stCondLst>
                              <p:cond delay="9000"/>
                            </p:stCondLst>
                            <p:childTnLst>
                              <p:par>
                                <p:cTn id="45" presetID="23" presetClass="entr" presetSubtype="0" fill="hold" nodeType="after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image">
                                      <p:cBhvr>
                                        <p:cTn id="47" dur="400"/>
                                        <p:tgtEl>
                                          <p:spTgt spid="59"/>
                                        </p:tgtEl>
                                      </p:cBhvr>
                                    </p:animEffect>
                                  </p:childTnLst>
                                </p:cTn>
                              </p:par>
                            </p:childTnLst>
                          </p:cTn>
                        </p:par>
                        <p:par>
                          <p:cTn id="48" fill="hold">
                            <p:stCondLst>
                              <p:cond delay="9900"/>
                            </p:stCondLst>
                            <p:childTnLst>
                              <p:par>
                                <p:cTn id="49" presetID="10" presetClass="entr" presetSubtype="0" fill="hold" nodeType="after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fade">
                                      <p:cBhvr>
                                        <p:cTn id="51" dur="400"/>
                                        <p:tgtEl>
                                          <p:spTgt spid="61"/>
                                        </p:tgtEl>
                                      </p:cBhvr>
                                    </p:animEffect>
                                  </p:childTnLst>
                                </p:cTn>
                              </p:par>
                            </p:childTnLst>
                          </p:cTn>
                        </p:par>
                        <p:par>
                          <p:cTn id="52" fill="hold">
                            <p:stCondLst>
                              <p:cond delay="10800"/>
                            </p:stCondLst>
                            <p:childTnLst>
                              <p:par>
                                <p:cTn id="53" presetID="22" presetClass="entr" presetSubtype="1" fill="hold" nodeType="afterEffect">
                                  <p:stCondLst>
                                    <p:cond delay="0"/>
                                  </p:stCondLst>
                                  <p:childTnLst>
                                    <p:set>
                                      <p:cBhvr>
                                        <p:cTn id="54" dur="1" fill="hold">
                                          <p:stCondLst>
                                            <p:cond delay="0"/>
                                          </p:stCondLst>
                                        </p:cTn>
                                        <p:tgtEl>
                                          <p:spTgt spid="65"/>
                                        </p:tgtEl>
                                        <p:attrNameLst>
                                          <p:attrName>style.visibility</p:attrName>
                                        </p:attrNameLst>
                                      </p:cBhvr>
                                      <p:to>
                                        <p:strVal val="visible"/>
                                      </p:to>
                                    </p:set>
                                    <p:animEffect transition="in" filter="wipe(left)">
                                      <p:cBhvr>
                                        <p:cTn id="55" dur="400"/>
                                        <p:tgtEl>
                                          <p:spTgt spid="65"/>
                                        </p:tgtEl>
                                      </p:cBhvr>
                                    </p:animEffect>
                                  </p:childTnLst>
                                </p:cTn>
                              </p:par>
                            </p:childTnLst>
                          </p:cTn>
                        </p:par>
                        <p:par>
                          <p:cTn id="56" fill="hold">
                            <p:stCondLst>
                              <p:cond delay="11700"/>
                            </p:stCondLst>
                            <p:childTnLst>
                              <p:par>
                                <p:cTn id="57" presetID="10" presetClass="entr" presetSubtype="0" fill="hold" nodeType="afterEffect">
                                  <p:stCondLst>
                                    <p:cond delay="0"/>
                                  </p:stCondLst>
                                  <p:childTnLst>
                                    <p:set>
                                      <p:cBhvr>
                                        <p:cTn id="58" dur="1" fill="hold">
                                          <p:stCondLst>
                                            <p:cond delay="0"/>
                                          </p:stCondLst>
                                        </p:cTn>
                                        <p:tgtEl>
                                          <p:spTgt spid="75"/>
                                        </p:tgtEl>
                                        <p:attrNameLst>
                                          <p:attrName>style.visibility</p:attrName>
                                        </p:attrNameLst>
                                      </p:cBhvr>
                                      <p:to>
                                        <p:strVal val="visible"/>
                                      </p:to>
                                    </p:set>
                                    <p:animEffect transition="in" filter="fade">
                                      <p:cBhvr>
                                        <p:cTn id="59"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9" grpId="0"/>
      <p:bldP spid="23" grpId="0"/>
      <p:bldP spid="31" grpId="0"/>
      <p:bldP spid="33" grpId="0"/>
      <p:bldP spid="37" grpId="0"/>
      <p:bldP spid="45" grpId="0"/>
      <p:bldP spid="47" grpId="0"/>
      <p:bldP spid="51" grpId="0"/>
      <p:bldP spid="59" grpId="0"/>
      <p:bldP spid="61" grpId="0"/>
      <p:bldP spid="65" grpId="0"/>
      <p:bldP spid="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7048500"/>
            <a:chOff x="0" y="0"/>
            <a:chExt cx="12192000" cy="70485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Ellipse 3"/>
            <p:cNvSpPr/>
            <p:nvPr/>
          </p:nvSpPr>
          <p:spPr>
            <a:xfrm>
              <a:off x="8096250" y="0"/>
              <a:ext cx="3810000" cy="3810000"/>
            </a:xfrm>
            <a:prstGeom prst="ellipse">
              <a:avLst/>
            </a:prstGeom>
            <a:solidFill>
              <a:srgbClr val="246BFE">
                <a:alpha val="6000"/>
              </a:srgbClr>
            </a:solidFill>
            <a:ln>
              <a:noFill/>
            </a:ln>
          </p:spPr>
        </p:sp>
        <p:sp>
          <p:nvSpPr>
            <p:cNvPr id="4" name="Ellipse 4"/>
            <p:cNvSpPr/>
            <p:nvPr/>
          </p:nvSpPr>
          <p:spPr>
            <a:xfrm>
              <a:off x="571500" y="4381500"/>
              <a:ext cx="2667000" cy="2667000"/>
            </a:xfrm>
            <a:prstGeom prst="ellipse">
              <a:avLst/>
            </a:prstGeom>
            <a:solidFill>
              <a:srgbClr val="518FEC">
                <a:alpha val="5000"/>
              </a:srgbClr>
            </a:solidFill>
            <a:ln>
              <a:noFill/>
            </a:ln>
          </p:spPr>
        </p:sp>
      </p:grpSp>
      <p:grpSp>
        <p:nvGrpSpPr>
          <p:cNvPr id="7" name="Group 7"/>
          <p:cNvGrpSpPr/>
          <p:nvPr/>
        </p:nvGrpSpPr>
        <p:grpSpPr>
          <a:xfrm>
            <a:off x="552450" y="2981325"/>
            <a:ext cx="2960418" cy="3352800"/>
            <a:chOff x="552450" y="2981325"/>
            <a:chExt cx="2960418" cy="3352800"/>
          </a:xfrm>
        </p:grpSpPr>
        <p:sp>
          <p:nvSpPr>
            <p:cNvPr id="6" name="TextBox 6"/>
            <p:cNvSpPr txBox="1"/>
            <p:nvPr/>
          </p:nvSpPr>
          <p:spPr>
            <a:xfrm>
              <a:off x="552450" y="2981325"/>
              <a:ext cx="2960418" cy="3352800"/>
            </a:xfrm>
            <a:prstGeom prst="rect">
              <a:avLst/>
            </a:prstGeom>
            <a:noFill/>
            <a:ln>
              <a:noFill/>
            </a:ln>
          </p:spPr>
          <p:txBody>
            <a:bodyPr wrap="none" lIns="0" tIns="0" rIns="0" bIns="0" anchor="t" anchorCtr="0">
              <a:spAutoFit/>
            </a:bodyPr>
            <a:lstStyle/>
            <a:p>
              <a:pPr algn="l"/>
              <a:r>
                <a:rPr lang="zh-CN" sz="16500" b="1" dirty="0">
                  <a:solidFill>
                    <a:srgbClr val="FFFFFF">
                      <a:alphaMod val="10000"/>
                    </a:srgbClr>
                  </a:solidFill>
                  <a:latin typeface="Arial"/>
                  <a:ea typeface="Microsoft YaHei"/>
                  <a:cs typeface="Arial"/>
                </a:rPr>
                <a:t>03</a:t>
              </a:r>
            </a:p>
          </p:txBody>
        </p:sp>
      </p:grpSp>
      <p:grpSp>
        <p:nvGrpSpPr>
          <p:cNvPr id="10" name="Group 10"/>
          <p:cNvGrpSpPr/>
          <p:nvPr/>
        </p:nvGrpSpPr>
        <p:grpSpPr>
          <a:xfrm>
            <a:off x="840105" y="2209800"/>
            <a:ext cx="1160145" cy="547688"/>
            <a:chOff x="840105" y="2209800"/>
            <a:chExt cx="1160145" cy="547688"/>
          </a:xfrm>
        </p:grpSpPr>
        <p:sp>
          <p:nvSpPr>
            <p:cNvPr id="8" name="Rectangle 8"/>
            <p:cNvSpPr/>
            <p:nvPr/>
          </p:nvSpPr>
          <p:spPr>
            <a:xfrm>
              <a:off x="857250" y="2209800"/>
              <a:ext cx="1143000" cy="38100"/>
            </a:xfrm>
            <a:prstGeom prst="roundRect">
              <a:avLst>
                <a:gd name="adj" fmla="val 50000"/>
              </a:avLst>
            </a:prstGeom>
            <a:solidFill>
              <a:srgbClr val="246BFE"/>
            </a:solidFill>
            <a:ln>
              <a:noFill/>
            </a:ln>
          </p:spPr>
        </p:sp>
        <p:sp>
          <p:nvSpPr>
            <p:cNvPr id="9" name="TextBox 9"/>
            <p:cNvSpPr txBox="1"/>
            <p:nvPr/>
          </p:nvSpPr>
          <p:spPr>
            <a:xfrm>
              <a:off x="840105" y="2483168"/>
              <a:ext cx="979408" cy="274320"/>
            </a:xfrm>
            <a:prstGeom prst="rect">
              <a:avLst/>
            </a:prstGeom>
            <a:noFill/>
            <a:ln>
              <a:noFill/>
            </a:ln>
          </p:spPr>
          <p:txBody>
            <a:bodyPr wrap="none" lIns="0" tIns="0" rIns="0" bIns="0" anchor="t" anchorCtr="0">
              <a:spAutoFit/>
            </a:bodyPr>
            <a:lstStyle/>
            <a:p>
              <a:pPr algn="l"/>
              <a:r>
                <a:rPr lang="zh-CN" sz="1350" dirty="0">
                  <a:solidFill>
                    <a:srgbClr val="518FEC"/>
                  </a:solidFill>
                  <a:latin typeface="Arial"/>
                  <a:ea typeface="Microsoft YaHei"/>
                  <a:cs typeface="Arial"/>
                </a:rPr>
                <a:t>CHAPTER 03</a:t>
              </a:r>
            </a:p>
          </p:txBody>
        </p:sp>
      </p:grpSp>
      <p:grpSp>
        <p:nvGrpSpPr>
          <p:cNvPr id="14" name="Group 14"/>
          <p:cNvGrpSpPr/>
          <p:nvPr/>
        </p:nvGrpSpPr>
        <p:grpSpPr>
          <a:xfrm>
            <a:off x="819150" y="3067050"/>
            <a:ext cx="5446014" cy="1428750"/>
            <a:chOff x="819150" y="3067050"/>
            <a:chExt cx="5446014" cy="1428750"/>
          </a:xfrm>
        </p:grpSpPr>
        <p:sp>
          <p:nvSpPr>
            <p:cNvPr id="11" name="TextBox 11"/>
            <p:cNvSpPr txBox="1"/>
            <p:nvPr/>
          </p:nvSpPr>
          <p:spPr>
            <a:xfrm>
              <a:off x="819150" y="3067050"/>
              <a:ext cx="175641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组织重塑</a:t>
              </a:r>
            </a:p>
          </p:txBody>
        </p:sp>
        <p:sp>
          <p:nvSpPr>
            <p:cNvPr id="12" name="TextBox 12"/>
            <p:cNvSpPr txBox="1"/>
            <p:nvPr/>
          </p:nvSpPr>
          <p:spPr>
            <a:xfrm>
              <a:off x="832485" y="3694748"/>
              <a:ext cx="2987897"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新角色 · 新组织 · 新流程</a:t>
              </a:r>
            </a:p>
          </p:txBody>
        </p:sp>
        <p:sp>
          <p:nvSpPr>
            <p:cNvPr id="13" name="TextBox 13"/>
            <p:cNvSpPr txBox="1"/>
            <p:nvPr/>
          </p:nvSpPr>
          <p:spPr>
            <a:xfrm>
              <a:off x="842010" y="4251960"/>
              <a:ext cx="5423154"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用新的生产关系承接新的生产力 —— 个人提效转化为组织系统提效的组织载体</a:t>
              </a:r>
            </a:p>
          </p:txBody>
        </p:sp>
      </p:grpSp>
      <p:grpSp>
        <p:nvGrpSpPr>
          <p:cNvPr id="21" name="Group 21"/>
          <p:cNvGrpSpPr/>
          <p:nvPr/>
        </p:nvGrpSpPr>
        <p:grpSpPr>
          <a:xfrm>
            <a:off x="857250" y="4857750"/>
            <a:ext cx="5372100" cy="381000"/>
            <a:chOff x="857250" y="4857750"/>
            <a:chExt cx="5372100" cy="381000"/>
          </a:xfrm>
        </p:grpSpPr>
        <p:sp>
          <p:nvSpPr>
            <p:cNvPr id="15" name="Rectangle 15"/>
            <p:cNvSpPr/>
            <p:nvPr/>
          </p:nvSpPr>
          <p:spPr>
            <a:xfrm>
              <a:off x="857250" y="4857750"/>
              <a:ext cx="1714500" cy="381000"/>
            </a:xfrm>
            <a:prstGeom prst="roundRect">
              <a:avLst>
                <a:gd name="adj" fmla="val 50000"/>
              </a:avLst>
            </a:prstGeom>
            <a:solidFill>
              <a:srgbClr val="FFFFFF">
                <a:alpha val="8000"/>
              </a:srgbClr>
            </a:solidFill>
            <a:ln>
              <a:noFill/>
            </a:ln>
          </p:spPr>
        </p:sp>
        <p:sp>
          <p:nvSpPr>
            <p:cNvPr id="16" name="TextBox 16"/>
            <p:cNvSpPr txBox="1"/>
            <p:nvPr/>
          </p:nvSpPr>
          <p:spPr>
            <a:xfrm>
              <a:off x="1057084" y="4992052"/>
              <a:ext cx="1314831"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Developer → Builder</a:t>
              </a:r>
            </a:p>
          </p:txBody>
        </p:sp>
        <p:sp>
          <p:nvSpPr>
            <p:cNvPr id="17" name="Rectangle 17"/>
            <p:cNvSpPr/>
            <p:nvPr/>
          </p:nvSpPr>
          <p:spPr>
            <a:xfrm>
              <a:off x="2686050" y="4857750"/>
              <a:ext cx="1714500" cy="381000"/>
            </a:xfrm>
            <a:prstGeom prst="roundRect">
              <a:avLst>
                <a:gd name="adj" fmla="val 50000"/>
              </a:avLst>
            </a:prstGeom>
            <a:solidFill>
              <a:srgbClr val="FFFFFF">
                <a:alpha val="8000"/>
              </a:srgbClr>
            </a:solidFill>
            <a:ln>
              <a:noFill/>
            </a:ln>
          </p:spPr>
        </p:sp>
        <p:sp>
          <p:nvSpPr>
            <p:cNvPr id="18" name="TextBox 18"/>
            <p:cNvSpPr txBox="1"/>
            <p:nvPr/>
          </p:nvSpPr>
          <p:spPr>
            <a:xfrm>
              <a:off x="3113413" y="4992052"/>
              <a:ext cx="859774"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FDE 三层协同</a:t>
              </a:r>
            </a:p>
          </p:txBody>
        </p:sp>
        <p:sp>
          <p:nvSpPr>
            <p:cNvPr id="19" name="Rectangle 19"/>
            <p:cNvSpPr/>
            <p:nvPr/>
          </p:nvSpPr>
          <p:spPr>
            <a:xfrm>
              <a:off x="4514850" y="4857750"/>
              <a:ext cx="1714500" cy="381000"/>
            </a:xfrm>
            <a:prstGeom prst="roundRect">
              <a:avLst>
                <a:gd name="adj" fmla="val 50000"/>
              </a:avLst>
            </a:prstGeom>
            <a:solidFill>
              <a:srgbClr val="FFFFFF">
                <a:alpha val="8000"/>
              </a:srgbClr>
            </a:solidFill>
            <a:ln>
              <a:noFill/>
            </a:ln>
          </p:spPr>
        </p:sp>
        <p:sp>
          <p:nvSpPr>
            <p:cNvPr id="20" name="TextBox 20"/>
            <p:cNvSpPr txBox="1"/>
            <p:nvPr/>
          </p:nvSpPr>
          <p:spPr>
            <a:xfrm>
              <a:off x="4868704" y="4992052"/>
              <a:ext cx="1006792"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内部开源式流动</a:t>
              </a:r>
            </a:p>
          </p:txBody>
        </p:sp>
      </p:grpSp>
      <p:sp>
        <p:nvSpPr>
          <p:cNvPr id="22" name="TextBox 22"/>
          <p:cNvSpPr txBox="1"/>
          <p:nvPr/>
        </p:nvSpPr>
        <p:spPr>
          <a:xfrm>
            <a:off x="10594419" y="6464141"/>
            <a:ext cx="846058" cy="167640"/>
          </a:xfrm>
          <a:prstGeom prst="rect">
            <a:avLst/>
          </a:prstGeom>
          <a:noFill/>
          <a:ln>
            <a:noFill/>
          </a:ln>
        </p:spPr>
        <p:txBody>
          <a:bodyPr wrap="none" lIns="0" tIns="0" rIns="0" bIns="0" anchor="t" anchorCtr="0">
            <a:spAutoFit/>
          </a:bodyPr>
          <a:lstStyle/>
          <a:p>
            <a:pPr algn="r"/>
            <a:r>
              <a:rPr lang="zh-CN" sz="825" dirty="0">
                <a:solidFill>
                  <a:srgbClr val="8FA3C4"/>
                </a:solidFill>
                <a:latin typeface="Arial"/>
                <a:ea typeface="Microsoft YaHei"/>
                <a:cs typeface="Arial"/>
              </a:rPr>
              <a:t>10 / 30 · 第三章</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slide(fromBottom)">
                                      <p:cBhvr>
                                        <p:cTn id="19"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4"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7654190" cy="792956"/>
            <a:chOff x="735330" y="533400"/>
            <a:chExt cx="7654190"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7654190"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新角色 —— 从 Developer 到 Builder,Builder 负责交付闭环</a:t>
              </a:r>
            </a:p>
          </p:txBody>
        </p:sp>
        <p:sp>
          <p:nvSpPr>
            <p:cNvPr id="5" name="TextBox 5"/>
            <p:cNvSpPr txBox="1"/>
            <p:nvPr/>
          </p:nvSpPr>
          <p:spPr>
            <a:xfrm>
              <a:off x="747712" y="1097756"/>
              <a:ext cx="6396871"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人不再只负责某个狭窄环节,而是和 AI、Agent、平台、资产一起把业务问题构建成可运行的系统</a:t>
              </a:r>
            </a:p>
          </p:txBody>
        </p:sp>
      </p:grpSp>
      <p:grpSp>
        <p:nvGrpSpPr>
          <p:cNvPr id="19" name="Group 19"/>
          <p:cNvGrpSpPr/>
          <p:nvPr/>
        </p:nvGrpSpPr>
        <p:grpSpPr>
          <a:xfrm>
            <a:off x="762000" y="1485900"/>
            <a:ext cx="10668000" cy="609600"/>
            <a:chOff x="762000" y="1485900"/>
            <a:chExt cx="10668000" cy="609600"/>
          </a:xfrm>
        </p:grpSpPr>
        <p:sp>
          <p:nvSpPr>
            <p:cNvPr id="7" name="Rectangle 7"/>
            <p:cNvSpPr/>
            <p:nvPr/>
          </p:nvSpPr>
          <p:spPr>
            <a:xfrm>
              <a:off x="762000" y="1485900"/>
              <a:ext cx="10668000" cy="609600"/>
            </a:xfrm>
            <a:prstGeom prst="roundRect">
              <a:avLst>
                <a:gd name="adj" fmla="val 18750"/>
              </a:avLst>
            </a:prstGeom>
            <a:solidFill>
              <a:srgbClr val="F4F7FC"/>
            </a:solidFill>
            <a:ln>
              <a:noFill/>
            </a:ln>
          </p:spPr>
        </p:sp>
        <p:sp>
          <p:nvSpPr>
            <p:cNvPr id="8" name="TextBox 8"/>
            <p:cNvSpPr txBox="1"/>
            <p:nvPr/>
          </p:nvSpPr>
          <p:spPr>
            <a:xfrm>
              <a:off x="1887855" y="1702118"/>
              <a:ext cx="880396" cy="274320"/>
            </a:xfrm>
            <a:prstGeom prst="rect">
              <a:avLst/>
            </a:prstGeom>
            <a:noFill/>
            <a:ln>
              <a:noFill/>
            </a:ln>
          </p:spPr>
          <p:txBody>
            <a:bodyPr wrap="none" lIns="0" tIns="0" rIns="0" bIns="0" anchor="t" anchorCtr="0">
              <a:spAutoFit/>
            </a:bodyPr>
            <a:lstStyle/>
            <a:p>
              <a:pPr algn="l"/>
              <a:r>
                <a:rPr lang="zh-CN" sz="1350" dirty="0">
                  <a:solidFill>
                    <a:srgbClr val="6B7785"/>
                  </a:solidFill>
                  <a:latin typeface="Arial"/>
                  <a:ea typeface="Microsoft YaHei"/>
                  <a:cs typeface="Arial"/>
                </a:rPr>
                <a:t>Developer</a:t>
              </a:r>
            </a:p>
          </p:txBody>
        </p:sp>
        <p:grpSp>
          <p:nvGrpSpPr>
            <p:cNvPr id="12" name="Group 12"/>
            <p:cNvGrpSpPr/>
            <p:nvPr/>
          </p:nvGrpSpPr>
          <p:grpSpPr>
            <a:xfrm>
              <a:off x="2825750" y="1714500"/>
              <a:ext cx="177800" cy="152400"/>
              <a:chOff x="2825750" y="1714500"/>
              <a:chExt cx="177800" cy="152400"/>
            </a:xfrm>
          </p:grpSpPr>
          <p:sp>
            <p:nvSpPr>
              <p:cNvPr id="9" name="Freeform 9"/>
              <p:cNvSpPr/>
              <p:nvPr/>
            </p:nvSpPr>
            <p:spPr>
              <a:xfrm>
                <a:off x="2825750" y="1790700"/>
                <a:ext cx="177800" cy="9525"/>
              </a:xfrm>
              <a:custGeom>
                <a:avLst/>
                <a:gdLst/>
                <a:ahLst/>
                <a:cxnLst/>
                <a:rect l="l" t="t" r="r" b="b"/>
                <a:pathLst>
                  <a:path w="177800" h="9525">
                    <a:moveTo>
                      <a:pt x="0" y="0"/>
                    </a:moveTo>
                    <a:lnTo>
                      <a:pt x="177800" y="0"/>
                    </a:lnTo>
                  </a:path>
                </a:pathLst>
              </a:custGeom>
              <a:noFill/>
              <a:ln w="19050">
                <a:solidFill>
                  <a:srgbClr val="0052A6"/>
                </a:solidFill>
              </a:ln>
            </p:spPr>
          </p:sp>
          <p:sp>
            <p:nvSpPr>
              <p:cNvPr id="10" name="Freeform 10"/>
              <p:cNvSpPr/>
              <p:nvPr/>
            </p:nvSpPr>
            <p:spPr>
              <a:xfrm>
                <a:off x="2927350" y="1790700"/>
                <a:ext cx="76200" cy="76200"/>
              </a:xfrm>
              <a:custGeom>
                <a:avLst/>
                <a:gdLst/>
                <a:ahLst/>
                <a:cxnLst/>
                <a:rect l="l" t="t" r="r" b="b"/>
                <a:pathLst>
                  <a:path w="76200" h="76200">
                    <a:moveTo>
                      <a:pt x="0" y="76200"/>
                    </a:moveTo>
                    <a:lnTo>
                      <a:pt x="76200" y="0"/>
                    </a:lnTo>
                  </a:path>
                </a:pathLst>
              </a:custGeom>
              <a:noFill/>
              <a:ln w="19050">
                <a:solidFill>
                  <a:srgbClr val="0052A6"/>
                </a:solidFill>
              </a:ln>
            </p:spPr>
          </p:sp>
          <p:sp>
            <p:nvSpPr>
              <p:cNvPr id="11" name="Freeform 11"/>
              <p:cNvSpPr/>
              <p:nvPr/>
            </p:nvSpPr>
            <p:spPr>
              <a:xfrm>
                <a:off x="2927350" y="1714500"/>
                <a:ext cx="76200" cy="76200"/>
              </a:xfrm>
              <a:custGeom>
                <a:avLst/>
                <a:gdLst/>
                <a:ahLst/>
                <a:cxnLst/>
                <a:rect l="l" t="t" r="r" b="b"/>
                <a:pathLst>
                  <a:path w="76200" h="76200">
                    <a:moveTo>
                      <a:pt x="0" y="0"/>
                    </a:moveTo>
                    <a:lnTo>
                      <a:pt x="76200" y="76200"/>
                    </a:lnTo>
                  </a:path>
                </a:pathLst>
              </a:custGeom>
              <a:noFill/>
              <a:ln w="19050">
                <a:solidFill>
                  <a:srgbClr val="0052A6"/>
                </a:solidFill>
              </a:ln>
            </p:spPr>
          </p:sp>
        </p:grpSp>
        <p:sp>
          <p:nvSpPr>
            <p:cNvPr id="13" name="TextBox 13"/>
            <p:cNvSpPr txBox="1"/>
            <p:nvPr/>
          </p:nvSpPr>
          <p:spPr>
            <a:xfrm>
              <a:off x="3447092" y="1688782"/>
              <a:ext cx="5297817" cy="335280"/>
            </a:xfrm>
            <a:prstGeom prst="rect">
              <a:avLst/>
            </a:prstGeom>
            <a:noFill/>
            <a:ln>
              <a:noFill/>
            </a:ln>
          </p:spPr>
          <p:txBody>
            <a:bodyPr wrap="none" lIns="0" tIns="0" rIns="0" bIns="0" anchor="t" anchorCtr="0">
              <a:spAutoFit/>
            </a:bodyPr>
            <a:lstStyle/>
            <a:p>
              <a:pPr algn="ctr"/>
              <a:r>
                <a:rPr lang="zh-CN" sz="1650" b="1" dirty="0">
                  <a:solidFill>
                    <a:srgbClr val="0052A6"/>
                  </a:solidFill>
                  <a:latin typeface="Arial"/>
                  <a:ea typeface="Microsoft YaHei"/>
                  <a:cs typeface="Arial"/>
                </a:rPr>
                <a:t>Builder(产品构建者 · 应用构建者 · 智能体构建者)</a:t>
              </a:r>
            </a:p>
          </p:txBody>
        </p:sp>
        <p:grpSp>
          <p:nvGrpSpPr>
            <p:cNvPr id="17" name="Group 17"/>
            <p:cNvGrpSpPr/>
            <p:nvPr/>
          </p:nvGrpSpPr>
          <p:grpSpPr>
            <a:xfrm>
              <a:off x="9207500" y="1714500"/>
              <a:ext cx="177800" cy="152400"/>
              <a:chOff x="9207500" y="1714500"/>
              <a:chExt cx="177800" cy="152400"/>
            </a:xfrm>
          </p:grpSpPr>
          <p:sp>
            <p:nvSpPr>
              <p:cNvPr id="14" name="Freeform 14"/>
              <p:cNvSpPr/>
              <p:nvPr/>
            </p:nvSpPr>
            <p:spPr>
              <a:xfrm>
                <a:off x="9207500" y="1790700"/>
                <a:ext cx="177800" cy="9525"/>
              </a:xfrm>
              <a:custGeom>
                <a:avLst/>
                <a:gdLst/>
                <a:ahLst/>
                <a:cxnLst/>
                <a:rect l="l" t="t" r="r" b="b"/>
                <a:pathLst>
                  <a:path w="177800" h="9525">
                    <a:moveTo>
                      <a:pt x="0" y="0"/>
                    </a:moveTo>
                    <a:lnTo>
                      <a:pt x="177800" y="0"/>
                    </a:lnTo>
                  </a:path>
                </a:pathLst>
              </a:custGeom>
              <a:noFill/>
              <a:ln w="19050">
                <a:solidFill>
                  <a:srgbClr val="0052A6"/>
                </a:solidFill>
              </a:ln>
            </p:spPr>
          </p:sp>
          <p:sp>
            <p:nvSpPr>
              <p:cNvPr id="15" name="Freeform 15"/>
              <p:cNvSpPr/>
              <p:nvPr/>
            </p:nvSpPr>
            <p:spPr>
              <a:xfrm>
                <a:off x="9309100" y="1790700"/>
                <a:ext cx="76200" cy="76200"/>
              </a:xfrm>
              <a:custGeom>
                <a:avLst/>
                <a:gdLst/>
                <a:ahLst/>
                <a:cxnLst/>
                <a:rect l="l" t="t" r="r" b="b"/>
                <a:pathLst>
                  <a:path w="76200" h="76200">
                    <a:moveTo>
                      <a:pt x="0" y="76200"/>
                    </a:moveTo>
                    <a:lnTo>
                      <a:pt x="76200" y="0"/>
                    </a:lnTo>
                  </a:path>
                </a:pathLst>
              </a:custGeom>
              <a:noFill/>
              <a:ln w="19050">
                <a:solidFill>
                  <a:srgbClr val="0052A6"/>
                </a:solidFill>
              </a:ln>
            </p:spPr>
          </p:sp>
          <p:sp>
            <p:nvSpPr>
              <p:cNvPr id="16" name="Freeform 16"/>
              <p:cNvSpPr/>
              <p:nvPr/>
            </p:nvSpPr>
            <p:spPr>
              <a:xfrm>
                <a:off x="9309100" y="1714500"/>
                <a:ext cx="76200" cy="76200"/>
              </a:xfrm>
              <a:custGeom>
                <a:avLst/>
                <a:gdLst/>
                <a:ahLst/>
                <a:cxnLst/>
                <a:rect l="l" t="t" r="r" b="b"/>
                <a:pathLst>
                  <a:path w="76200" h="76200">
                    <a:moveTo>
                      <a:pt x="0" y="0"/>
                    </a:moveTo>
                    <a:lnTo>
                      <a:pt x="76200" y="76200"/>
                    </a:lnTo>
                  </a:path>
                </a:pathLst>
              </a:custGeom>
              <a:noFill/>
              <a:ln w="19050">
                <a:solidFill>
                  <a:srgbClr val="0052A6"/>
                </a:solidFill>
              </a:ln>
            </p:spPr>
          </p:sp>
        </p:grpSp>
        <p:sp>
          <p:nvSpPr>
            <p:cNvPr id="18" name="TextBox 18"/>
            <p:cNvSpPr txBox="1"/>
            <p:nvPr/>
          </p:nvSpPr>
          <p:spPr>
            <a:xfrm>
              <a:off x="10086808" y="1702118"/>
              <a:ext cx="781383" cy="274320"/>
            </a:xfrm>
            <a:prstGeom prst="rect">
              <a:avLst/>
            </a:prstGeom>
            <a:noFill/>
            <a:ln>
              <a:noFill/>
            </a:ln>
          </p:spPr>
          <p:txBody>
            <a:bodyPr wrap="none" lIns="0" tIns="0" rIns="0" bIns="0" anchor="t" anchorCtr="0">
              <a:spAutoFit/>
            </a:bodyPr>
            <a:lstStyle/>
            <a:p>
              <a:pPr algn="ctr"/>
              <a:r>
                <a:rPr lang="zh-CN" sz="1350" dirty="0">
                  <a:solidFill>
                    <a:srgbClr val="6B7785"/>
                  </a:solidFill>
                  <a:latin typeface="Arial"/>
                  <a:ea typeface="Microsoft YaHei"/>
                  <a:cs typeface="Arial"/>
                </a:rPr>
                <a:t>+ Expert</a:t>
              </a:r>
            </a:p>
          </p:txBody>
        </p:sp>
      </p:grpSp>
      <p:grpSp>
        <p:nvGrpSpPr>
          <p:cNvPr id="37" name="Group 37"/>
          <p:cNvGrpSpPr/>
          <p:nvPr/>
        </p:nvGrpSpPr>
        <p:grpSpPr>
          <a:xfrm>
            <a:off x="762000" y="2247900"/>
            <a:ext cx="2057400" cy="3048000"/>
            <a:chOff x="762000" y="2247900"/>
            <a:chExt cx="2057400" cy="3048000"/>
          </a:xfrm>
        </p:grpSpPr>
        <p:sp>
          <p:nvSpPr>
            <p:cNvPr id="20" name="Rectangle 20"/>
            <p:cNvSpPr/>
            <p:nvPr/>
          </p:nvSpPr>
          <p:spPr>
            <a:xfrm>
              <a:off x="762000" y="2247900"/>
              <a:ext cx="2057400" cy="3048000"/>
            </a:xfrm>
            <a:prstGeom prst="roundRect">
              <a:avLst>
                <a:gd name="adj" fmla="val 6481"/>
              </a:avLst>
            </a:prstGeom>
            <a:solidFill>
              <a:srgbClr val="F4F7FC"/>
            </a:solidFill>
            <a:ln>
              <a:noFill/>
            </a:ln>
          </p:spPr>
        </p:sp>
        <p:sp>
          <p:nvSpPr>
            <p:cNvPr id="21" name="Rectangle 21"/>
            <p:cNvSpPr/>
            <p:nvPr/>
          </p:nvSpPr>
          <p:spPr>
            <a:xfrm>
              <a:off x="762000" y="2247900"/>
              <a:ext cx="2057400" cy="57150"/>
            </a:xfrm>
            <a:prstGeom prst="roundRect">
              <a:avLst>
                <a:gd name="adj" fmla="val 50000"/>
              </a:avLst>
            </a:prstGeom>
            <a:solidFill>
              <a:srgbClr val="0052A6"/>
            </a:solidFill>
            <a:ln>
              <a:noFill/>
            </a:ln>
          </p:spPr>
        </p:sp>
        <p:grpSp>
          <p:nvGrpSpPr>
            <p:cNvPr id="25" name="Group 25"/>
            <p:cNvGrpSpPr/>
            <p:nvPr/>
          </p:nvGrpSpPr>
          <p:grpSpPr>
            <a:xfrm>
              <a:off x="990600" y="2495550"/>
              <a:ext cx="228600" cy="228600"/>
              <a:chOff x="990600" y="2495550"/>
              <a:chExt cx="228600" cy="228600"/>
            </a:xfrm>
          </p:grpSpPr>
          <p:sp>
            <p:nvSpPr>
              <p:cNvPr id="22" name="Freeform 22"/>
              <p:cNvSpPr/>
              <p:nvPr/>
            </p:nvSpPr>
            <p:spPr>
              <a:xfrm>
                <a:off x="1092200" y="25971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0052A6"/>
                </a:solidFill>
              </a:ln>
            </p:spPr>
          </p:sp>
          <p:sp>
            <p:nvSpPr>
              <p:cNvPr id="23" name="Freeform 23"/>
              <p:cNvSpPr/>
              <p:nvPr/>
            </p:nvSpPr>
            <p:spPr>
              <a:xfrm>
                <a:off x="1041400" y="254635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0052A6"/>
                </a:solidFill>
              </a:ln>
            </p:spPr>
          </p:sp>
          <p:sp>
            <p:nvSpPr>
              <p:cNvPr id="24" name="Freeform 24"/>
              <p:cNvSpPr/>
              <p:nvPr/>
            </p:nvSpPr>
            <p:spPr>
              <a:xfrm>
                <a:off x="990600" y="24955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0052A6"/>
                </a:solidFill>
              </a:ln>
            </p:spPr>
          </p:sp>
        </p:grpSp>
        <p:sp>
          <p:nvSpPr>
            <p:cNvPr id="26" name="TextBox 26"/>
            <p:cNvSpPr txBox="1"/>
            <p:nvPr/>
          </p:nvSpPr>
          <p:spPr>
            <a:xfrm>
              <a:off x="1145381" y="2575560"/>
              <a:ext cx="1290637" cy="243840"/>
            </a:xfrm>
            <a:prstGeom prst="rect">
              <a:avLst/>
            </a:prstGeom>
            <a:noFill/>
            <a:ln>
              <a:noFill/>
            </a:ln>
          </p:spPr>
          <p:txBody>
            <a:bodyPr wrap="none" lIns="0" tIns="0" rIns="0" bIns="0" anchor="t" anchorCtr="0">
              <a:spAutoFit/>
            </a:bodyPr>
            <a:lstStyle/>
            <a:p>
              <a:pPr algn="ctr"/>
              <a:r>
                <a:rPr lang="zh-CN" sz="1200" b="1" dirty="0">
                  <a:solidFill>
                    <a:srgbClr val="0052A6"/>
                  </a:solidFill>
                  <a:latin typeface="Arial"/>
                  <a:ea typeface="Microsoft YaHei"/>
                  <a:cs typeface="Arial"/>
                </a:rPr>
                <a:t>Product Builder</a:t>
              </a:r>
            </a:p>
          </p:txBody>
        </p:sp>
        <p:sp>
          <p:nvSpPr>
            <p:cNvPr id="27" name="TextBox 27"/>
            <p:cNvSpPr txBox="1"/>
            <p:nvPr/>
          </p:nvSpPr>
          <p:spPr>
            <a:xfrm>
              <a:off x="1479232" y="2817495"/>
              <a:ext cx="622935" cy="182880"/>
            </a:xfrm>
            <a:prstGeom prst="rect">
              <a:avLst/>
            </a:prstGeom>
            <a:noFill/>
            <a:ln>
              <a:noFill/>
            </a:ln>
          </p:spPr>
          <p:txBody>
            <a:bodyPr wrap="none" lIns="0" tIns="0" rIns="0" bIns="0" anchor="t" anchorCtr="0">
              <a:spAutoFit/>
            </a:bodyPr>
            <a:lstStyle/>
            <a:p>
              <a:pPr algn="ctr"/>
              <a:r>
                <a:rPr lang="zh-CN" sz="900" dirty="0">
                  <a:solidFill>
                    <a:srgbClr val="6B7785"/>
                  </a:solidFill>
                  <a:latin typeface="Arial"/>
                  <a:ea typeface="Microsoft YaHei"/>
                  <a:cs typeface="Arial"/>
                </a:rPr>
                <a:t>产品构建者</a:t>
              </a:r>
            </a:p>
          </p:txBody>
        </p:sp>
        <p:sp>
          <p:nvSpPr>
            <p:cNvPr id="28" name="Line 28"/>
            <p:cNvSpPr/>
            <p:nvPr/>
          </p:nvSpPr>
          <p:spPr>
            <a:xfrm>
              <a:off x="952500" y="3086100"/>
              <a:ext cx="1676400" cy="9525"/>
            </a:xfrm>
            <a:custGeom>
              <a:avLst/>
              <a:gdLst/>
              <a:ahLst/>
              <a:cxnLst/>
              <a:rect l="l" t="t" r="r" b="b"/>
              <a:pathLst>
                <a:path w="1676400" h="9525">
                  <a:moveTo>
                    <a:pt x="0" y="0"/>
                  </a:moveTo>
                  <a:lnTo>
                    <a:pt x="1676400" y="0"/>
                  </a:lnTo>
                </a:path>
              </a:pathLst>
            </a:custGeom>
            <a:noFill/>
            <a:ln w="9525">
              <a:solidFill>
                <a:srgbClr val="E3E9F2"/>
              </a:solidFill>
            </a:ln>
          </p:spPr>
        </p:sp>
        <p:sp>
          <p:nvSpPr>
            <p:cNvPr id="29" name="TextBox 29"/>
            <p:cNvSpPr txBox="1"/>
            <p:nvPr/>
          </p:nvSpPr>
          <p:spPr>
            <a:xfrm>
              <a:off x="940118" y="3266599"/>
              <a:ext cx="804862"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a:ea typeface="Microsoft YaHei"/>
                  <a:cs typeface="Arial"/>
                </a:rPr>
                <a:t>来自产品经理</a:t>
              </a:r>
            </a:p>
          </p:txBody>
        </p:sp>
        <p:sp>
          <p:nvSpPr>
            <p:cNvPr id="30" name="TextBox 30"/>
            <p:cNvSpPr txBox="1"/>
            <p:nvPr/>
          </p:nvSpPr>
          <p:spPr>
            <a:xfrm>
              <a:off x="941070" y="3617595"/>
              <a:ext cx="98298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AI 快速生成原型</a:t>
              </a:r>
            </a:p>
          </p:txBody>
        </p:sp>
        <p:sp>
          <p:nvSpPr>
            <p:cNvPr id="31" name="TextBox 31"/>
            <p:cNvSpPr txBox="1"/>
            <p:nvPr/>
          </p:nvSpPr>
          <p:spPr>
            <a:xfrm>
              <a:off x="941070" y="3827145"/>
              <a:ext cx="96497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与业务讨论需求</a:t>
              </a:r>
            </a:p>
          </p:txBody>
        </p:sp>
        <p:sp>
          <p:nvSpPr>
            <p:cNvPr id="32" name="TextBox 32"/>
            <p:cNvSpPr txBox="1"/>
            <p:nvPr/>
          </p:nvSpPr>
          <p:spPr>
            <a:xfrm>
              <a:off x="941070" y="4036695"/>
              <a:ext cx="96497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简单前端直接改</a:t>
              </a:r>
            </a:p>
          </p:txBody>
        </p:sp>
        <p:sp>
          <p:nvSpPr>
            <p:cNvPr id="33" name="Line 33"/>
            <p:cNvSpPr/>
            <p:nvPr/>
          </p:nvSpPr>
          <p:spPr>
            <a:xfrm>
              <a:off x="952500" y="4381500"/>
              <a:ext cx="1676400" cy="9525"/>
            </a:xfrm>
            <a:custGeom>
              <a:avLst/>
              <a:gdLst/>
              <a:ahLst/>
              <a:cxnLst/>
              <a:rect l="l" t="t" r="r" b="b"/>
              <a:pathLst>
                <a:path w="1676400" h="9525">
                  <a:moveTo>
                    <a:pt x="0" y="0"/>
                  </a:moveTo>
                  <a:lnTo>
                    <a:pt x="1676400" y="0"/>
                  </a:lnTo>
                </a:path>
              </a:pathLst>
            </a:custGeom>
            <a:noFill/>
            <a:ln w="9525">
              <a:solidFill>
                <a:srgbClr val="E3E9F2"/>
              </a:solidFill>
              <a:prstDash val="sysDot"/>
            </a:ln>
          </p:spPr>
        </p:sp>
        <p:sp>
          <p:nvSpPr>
            <p:cNvPr id="34" name="TextBox 34"/>
            <p:cNvSpPr txBox="1"/>
            <p:nvPr/>
          </p:nvSpPr>
          <p:spPr>
            <a:xfrm>
              <a:off x="941070" y="4570095"/>
              <a:ext cx="652939" cy="182880"/>
            </a:xfrm>
            <a:prstGeom prst="rect">
              <a:avLst/>
            </a:prstGeom>
            <a:noFill/>
            <a:ln>
              <a:noFill/>
            </a:ln>
          </p:spPr>
          <p:txBody>
            <a:bodyPr wrap="none" lIns="0" tIns="0" rIns="0" bIns="0" anchor="t" anchorCtr="0">
              <a:spAutoFit/>
            </a:bodyPr>
            <a:lstStyle/>
            <a:p>
              <a:pPr algn="l"/>
              <a:r>
                <a:rPr lang="zh-CN" sz="900" b="1" dirty="0">
                  <a:solidFill>
                    <a:srgbClr val="0052A6"/>
                  </a:solidFill>
                  <a:latin typeface="Arial"/>
                  <a:ea typeface="Microsoft YaHei"/>
                  <a:cs typeface="Arial"/>
                </a:rPr>
                <a:t>需求管理者</a:t>
              </a:r>
            </a:p>
          </p:txBody>
        </p:sp>
        <p:sp>
          <p:nvSpPr>
            <p:cNvPr id="35" name="TextBox 35"/>
            <p:cNvSpPr txBox="1"/>
            <p:nvPr/>
          </p:nvSpPr>
          <p:spPr>
            <a:xfrm>
              <a:off x="941070" y="4760595"/>
              <a:ext cx="724948"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产品构建者</a:t>
              </a:r>
            </a:p>
          </p:txBody>
        </p:sp>
        <p:sp>
          <p:nvSpPr>
            <p:cNvPr id="36" name="TextBox 36"/>
            <p:cNvSpPr txBox="1"/>
            <p:nvPr/>
          </p:nvSpPr>
          <p:spPr>
            <a:xfrm>
              <a:off x="942022" y="5054441"/>
              <a:ext cx="80755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判断 + 快速原型</a:t>
              </a:r>
            </a:p>
          </p:txBody>
        </p:sp>
      </p:grpSp>
      <p:grpSp>
        <p:nvGrpSpPr>
          <p:cNvPr id="55" name="Group 55"/>
          <p:cNvGrpSpPr/>
          <p:nvPr/>
        </p:nvGrpSpPr>
        <p:grpSpPr>
          <a:xfrm>
            <a:off x="2971800" y="2247900"/>
            <a:ext cx="2057400" cy="3048000"/>
            <a:chOff x="2971800" y="2247900"/>
            <a:chExt cx="2057400" cy="3048000"/>
          </a:xfrm>
        </p:grpSpPr>
        <p:sp>
          <p:nvSpPr>
            <p:cNvPr id="38" name="Rectangle 38"/>
            <p:cNvSpPr/>
            <p:nvPr/>
          </p:nvSpPr>
          <p:spPr>
            <a:xfrm>
              <a:off x="2971800" y="2247900"/>
              <a:ext cx="2057400" cy="3048000"/>
            </a:xfrm>
            <a:prstGeom prst="roundRect">
              <a:avLst>
                <a:gd name="adj" fmla="val 6481"/>
              </a:avLst>
            </a:prstGeom>
            <a:solidFill>
              <a:srgbClr val="F4F7FC"/>
            </a:solidFill>
            <a:ln>
              <a:noFill/>
            </a:ln>
          </p:spPr>
        </p:sp>
        <p:sp>
          <p:nvSpPr>
            <p:cNvPr id="39" name="Rectangle 39"/>
            <p:cNvSpPr/>
            <p:nvPr/>
          </p:nvSpPr>
          <p:spPr>
            <a:xfrm>
              <a:off x="2971800" y="2247900"/>
              <a:ext cx="2057400" cy="57150"/>
            </a:xfrm>
            <a:prstGeom prst="roundRect">
              <a:avLst>
                <a:gd name="adj" fmla="val 50000"/>
              </a:avLst>
            </a:prstGeom>
            <a:solidFill>
              <a:srgbClr val="246BFE"/>
            </a:solidFill>
            <a:ln>
              <a:noFill/>
            </a:ln>
          </p:spPr>
        </p:sp>
        <p:grpSp>
          <p:nvGrpSpPr>
            <p:cNvPr id="43" name="Group 43"/>
            <p:cNvGrpSpPr/>
            <p:nvPr/>
          </p:nvGrpSpPr>
          <p:grpSpPr>
            <a:xfrm>
              <a:off x="3200400" y="2508250"/>
              <a:ext cx="228600" cy="203200"/>
              <a:chOff x="3200400" y="2508250"/>
              <a:chExt cx="228600" cy="203200"/>
            </a:xfrm>
          </p:grpSpPr>
          <p:sp>
            <p:nvSpPr>
              <p:cNvPr id="40" name="Freeform 40"/>
              <p:cNvSpPr/>
              <p:nvPr/>
            </p:nvSpPr>
            <p:spPr>
              <a:xfrm>
                <a:off x="3200400" y="2559050"/>
                <a:ext cx="50800" cy="101600"/>
              </a:xfrm>
              <a:custGeom>
                <a:avLst/>
                <a:gdLst/>
                <a:ahLst/>
                <a:cxnLst/>
                <a:rect l="l" t="t" r="r" b="b"/>
                <a:pathLst>
                  <a:path w="50800" h="101600">
                    <a:moveTo>
                      <a:pt x="50800" y="0"/>
                    </a:moveTo>
                    <a:lnTo>
                      <a:pt x="0" y="50800"/>
                    </a:lnTo>
                    <a:lnTo>
                      <a:pt x="50800" y="101600"/>
                    </a:lnTo>
                  </a:path>
                </a:pathLst>
              </a:custGeom>
              <a:noFill/>
              <a:ln w="19050">
                <a:solidFill>
                  <a:srgbClr val="246BFE"/>
                </a:solidFill>
              </a:ln>
            </p:spPr>
          </p:sp>
          <p:sp>
            <p:nvSpPr>
              <p:cNvPr id="41" name="Freeform 41"/>
              <p:cNvSpPr/>
              <p:nvPr/>
            </p:nvSpPr>
            <p:spPr>
              <a:xfrm>
                <a:off x="3378200" y="2559050"/>
                <a:ext cx="50800" cy="101600"/>
              </a:xfrm>
              <a:custGeom>
                <a:avLst/>
                <a:gdLst/>
                <a:ahLst/>
                <a:cxnLst/>
                <a:rect l="l" t="t" r="r" b="b"/>
                <a:pathLst>
                  <a:path w="50800" h="101600">
                    <a:moveTo>
                      <a:pt x="0" y="0"/>
                    </a:moveTo>
                    <a:lnTo>
                      <a:pt x="50800" y="50800"/>
                    </a:lnTo>
                    <a:lnTo>
                      <a:pt x="0" y="101600"/>
                    </a:lnTo>
                  </a:path>
                </a:pathLst>
              </a:custGeom>
              <a:noFill/>
              <a:ln w="19050">
                <a:solidFill>
                  <a:srgbClr val="246BFE"/>
                </a:solidFill>
              </a:ln>
            </p:spPr>
          </p:sp>
          <p:sp>
            <p:nvSpPr>
              <p:cNvPr id="42" name="Freeform 42"/>
              <p:cNvSpPr/>
              <p:nvPr/>
            </p:nvSpPr>
            <p:spPr>
              <a:xfrm>
                <a:off x="3289300" y="2508250"/>
                <a:ext cx="50800" cy="203200"/>
              </a:xfrm>
              <a:custGeom>
                <a:avLst/>
                <a:gdLst/>
                <a:ahLst/>
                <a:cxnLst/>
                <a:rect l="l" t="t" r="r" b="b"/>
                <a:pathLst>
                  <a:path w="50800" h="203200">
                    <a:moveTo>
                      <a:pt x="50800" y="0"/>
                    </a:moveTo>
                    <a:lnTo>
                      <a:pt x="0" y="203200"/>
                    </a:lnTo>
                  </a:path>
                </a:pathLst>
              </a:custGeom>
              <a:noFill/>
              <a:ln w="19050">
                <a:solidFill>
                  <a:srgbClr val="246BFE"/>
                </a:solidFill>
              </a:ln>
            </p:spPr>
          </p:sp>
        </p:grpSp>
        <p:sp>
          <p:nvSpPr>
            <p:cNvPr id="44" name="TextBox 44"/>
            <p:cNvSpPr txBox="1"/>
            <p:nvPr/>
          </p:nvSpPr>
          <p:spPr>
            <a:xfrm>
              <a:off x="3233366" y="2575560"/>
              <a:ext cx="1534268" cy="243840"/>
            </a:xfrm>
            <a:prstGeom prst="rect">
              <a:avLst/>
            </a:prstGeom>
            <a:noFill/>
            <a:ln>
              <a:noFill/>
            </a:ln>
          </p:spPr>
          <p:txBody>
            <a:bodyPr wrap="none" lIns="0" tIns="0" rIns="0" bIns="0" anchor="t" anchorCtr="0">
              <a:spAutoFit/>
            </a:bodyPr>
            <a:lstStyle/>
            <a:p>
              <a:pPr algn="ctr"/>
              <a:r>
                <a:rPr lang="zh-CN" sz="1200" b="1" dirty="0">
                  <a:solidFill>
                    <a:srgbClr val="246BFE"/>
                  </a:solidFill>
                  <a:latin typeface="Arial"/>
                  <a:ea typeface="Microsoft YaHei"/>
                  <a:cs typeface="Arial"/>
                </a:rPr>
                <a:t>Application Builder</a:t>
              </a:r>
            </a:p>
          </p:txBody>
        </p:sp>
        <p:sp>
          <p:nvSpPr>
            <p:cNvPr id="45" name="TextBox 45"/>
            <p:cNvSpPr txBox="1"/>
            <p:nvPr/>
          </p:nvSpPr>
          <p:spPr>
            <a:xfrm>
              <a:off x="3689032" y="2817495"/>
              <a:ext cx="622935" cy="182880"/>
            </a:xfrm>
            <a:prstGeom prst="rect">
              <a:avLst/>
            </a:prstGeom>
            <a:noFill/>
            <a:ln>
              <a:noFill/>
            </a:ln>
          </p:spPr>
          <p:txBody>
            <a:bodyPr wrap="none" lIns="0" tIns="0" rIns="0" bIns="0" anchor="t" anchorCtr="0">
              <a:spAutoFit/>
            </a:bodyPr>
            <a:lstStyle/>
            <a:p>
              <a:pPr algn="ctr"/>
              <a:r>
                <a:rPr lang="zh-CN" sz="900" dirty="0">
                  <a:solidFill>
                    <a:srgbClr val="6B7785"/>
                  </a:solidFill>
                  <a:latin typeface="Arial"/>
                  <a:ea typeface="Microsoft YaHei"/>
                  <a:cs typeface="Arial"/>
                </a:rPr>
                <a:t>应用构建者</a:t>
              </a:r>
            </a:p>
          </p:txBody>
        </p:sp>
        <p:sp>
          <p:nvSpPr>
            <p:cNvPr id="46" name="Line 46"/>
            <p:cNvSpPr/>
            <p:nvPr/>
          </p:nvSpPr>
          <p:spPr>
            <a:xfrm>
              <a:off x="3162300" y="3086100"/>
              <a:ext cx="1676400" cy="9525"/>
            </a:xfrm>
            <a:custGeom>
              <a:avLst/>
              <a:gdLst/>
              <a:ahLst/>
              <a:cxnLst/>
              <a:rect l="l" t="t" r="r" b="b"/>
              <a:pathLst>
                <a:path w="1676400" h="9525">
                  <a:moveTo>
                    <a:pt x="0" y="0"/>
                  </a:moveTo>
                  <a:lnTo>
                    <a:pt x="1676400" y="0"/>
                  </a:lnTo>
                </a:path>
              </a:pathLst>
            </a:custGeom>
            <a:noFill/>
            <a:ln w="9525">
              <a:solidFill>
                <a:srgbClr val="E3E9F2"/>
              </a:solidFill>
            </a:ln>
          </p:spPr>
        </p:sp>
        <p:sp>
          <p:nvSpPr>
            <p:cNvPr id="47" name="TextBox 47"/>
            <p:cNvSpPr txBox="1"/>
            <p:nvPr/>
          </p:nvSpPr>
          <p:spPr>
            <a:xfrm>
              <a:off x="3149918" y="3266599"/>
              <a:ext cx="1064895"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a:ea typeface="Microsoft YaHei"/>
                  <a:cs typeface="Arial"/>
                </a:rPr>
                <a:t>Developer 主方向</a:t>
              </a:r>
            </a:p>
          </p:txBody>
        </p:sp>
        <p:sp>
          <p:nvSpPr>
            <p:cNvPr id="48" name="TextBox 48"/>
            <p:cNvSpPr txBox="1"/>
            <p:nvPr/>
          </p:nvSpPr>
          <p:spPr>
            <a:xfrm>
              <a:off x="3150870" y="3617595"/>
              <a:ext cx="976979"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全栈化(前后端+</a:t>
              </a:r>
            </a:p>
          </p:txBody>
        </p:sp>
        <p:sp>
          <p:nvSpPr>
            <p:cNvPr id="49" name="TextBox 49"/>
            <p:cNvSpPr txBox="1"/>
            <p:nvPr/>
          </p:nvSpPr>
          <p:spPr>
            <a:xfrm>
              <a:off x="3150870" y="3789045"/>
              <a:ext cx="874966"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数据+算法一体)</a:t>
              </a:r>
            </a:p>
          </p:txBody>
        </p:sp>
        <p:sp>
          <p:nvSpPr>
            <p:cNvPr id="50" name="TextBox 50"/>
            <p:cNvSpPr txBox="1"/>
            <p:nvPr/>
          </p:nvSpPr>
          <p:spPr>
            <a:xfrm>
              <a:off x="3150870" y="4036695"/>
              <a:ext cx="108499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守护代码质量闭环</a:t>
              </a:r>
            </a:p>
          </p:txBody>
        </p:sp>
        <p:sp>
          <p:nvSpPr>
            <p:cNvPr id="51" name="Line 51"/>
            <p:cNvSpPr/>
            <p:nvPr/>
          </p:nvSpPr>
          <p:spPr>
            <a:xfrm>
              <a:off x="3162300" y="4381500"/>
              <a:ext cx="1676400" cy="9525"/>
            </a:xfrm>
            <a:custGeom>
              <a:avLst/>
              <a:gdLst/>
              <a:ahLst/>
              <a:cxnLst/>
              <a:rect l="l" t="t" r="r" b="b"/>
              <a:pathLst>
                <a:path w="1676400" h="9525">
                  <a:moveTo>
                    <a:pt x="0" y="0"/>
                  </a:moveTo>
                  <a:lnTo>
                    <a:pt x="1676400" y="0"/>
                  </a:lnTo>
                </a:path>
              </a:pathLst>
            </a:custGeom>
            <a:noFill/>
            <a:ln w="9525">
              <a:solidFill>
                <a:srgbClr val="E3E9F2"/>
              </a:solidFill>
              <a:prstDash val="sysDot"/>
            </a:ln>
          </p:spPr>
        </p:sp>
        <p:sp>
          <p:nvSpPr>
            <p:cNvPr id="52" name="TextBox 52"/>
            <p:cNvSpPr txBox="1"/>
            <p:nvPr/>
          </p:nvSpPr>
          <p:spPr>
            <a:xfrm>
              <a:off x="3150870" y="4570095"/>
              <a:ext cx="652939" cy="182880"/>
            </a:xfrm>
            <a:prstGeom prst="rect">
              <a:avLst/>
            </a:prstGeom>
            <a:noFill/>
            <a:ln>
              <a:noFill/>
            </a:ln>
          </p:spPr>
          <p:txBody>
            <a:bodyPr wrap="none" lIns="0" tIns="0" rIns="0" bIns="0" anchor="t" anchorCtr="0">
              <a:spAutoFit/>
            </a:bodyPr>
            <a:lstStyle/>
            <a:p>
              <a:pPr algn="l"/>
              <a:r>
                <a:rPr lang="zh-CN" sz="900" b="1" dirty="0">
                  <a:solidFill>
                    <a:srgbClr val="246BFE"/>
                  </a:solidFill>
                  <a:latin typeface="Arial"/>
                  <a:ea typeface="Microsoft YaHei"/>
                  <a:cs typeface="Arial"/>
                </a:rPr>
                <a:t>写代码的人</a:t>
              </a:r>
            </a:p>
          </p:txBody>
        </p:sp>
        <p:sp>
          <p:nvSpPr>
            <p:cNvPr id="53" name="TextBox 53"/>
            <p:cNvSpPr txBox="1"/>
            <p:nvPr/>
          </p:nvSpPr>
          <p:spPr>
            <a:xfrm>
              <a:off x="3150870" y="4760595"/>
              <a:ext cx="964978"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应用系统构建者</a:t>
              </a:r>
            </a:p>
          </p:txBody>
        </p:sp>
        <p:sp>
          <p:nvSpPr>
            <p:cNvPr id="54" name="TextBox 54"/>
            <p:cNvSpPr txBox="1"/>
            <p:nvPr/>
          </p:nvSpPr>
          <p:spPr>
            <a:xfrm>
              <a:off x="3151822" y="5054441"/>
              <a:ext cx="934069"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应用 + 质量 + 反馈</a:t>
              </a:r>
            </a:p>
          </p:txBody>
        </p:sp>
      </p:grpSp>
      <p:grpSp>
        <p:nvGrpSpPr>
          <p:cNvPr id="79" name="Group 79"/>
          <p:cNvGrpSpPr/>
          <p:nvPr/>
        </p:nvGrpSpPr>
        <p:grpSpPr>
          <a:xfrm>
            <a:off x="5181600" y="2247900"/>
            <a:ext cx="2057400" cy="3048000"/>
            <a:chOff x="5181600" y="2247900"/>
            <a:chExt cx="2057400" cy="3048000"/>
          </a:xfrm>
        </p:grpSpPr>
        <p:sp>
          <p:nvSpPr>
            <p:cNvPr id="56" name="Rectangle 56"/>
            <p:cNvSpPr/>
            <p:nvPr/>
          </p:nvSpPr>
          <p:spPr>
            <a:xfrm>
              <a:off x="5181600" y="2247900"/>
              <a:ext cx="2057400" cy="3048000"/>
            </a:xfrm>
            <a:prstGeom prst="roundRect">
              <a:avLst>
                <a:gd name="adj" fmla="val 6481"/>
              </a:avLst>
            </a:prstGeom>
            <a:solidFill>
              <a:srgbClr val="F4F7FC"/>
            </a:solidFill>
            <a:ln>
              <a:noFill/>
            </a:ln>
          </p:spPr>
        </p:sp>
        <p:sp>
          <p:nvSpPr>
            <p:cNvPr id="57" name="Rectangle 57"/>
            <p:cNvSpPr/>
            <p:nvPr/>
          </p:nvSpPr>
          <p:spPr>
            <a:xfrm>
              <a:off x="5181600" y="2247900"/>
              <a:ext cx="2057400" cy="57150"/>
            </a:xfrm>
            <a:prstGeom prst="roundRect">
              <a:avLst>
                <a:gd name="adj" fmla="val 50000"/>
              </a:avLst>
            </a:prstGeom>
            <a:solidFill>
              <a:srgbClr val="518FEC"/>
            </a:solidFill>
            <a:ln>
              <a:noFill/>
            </a:ln>
          </p:spPr>
        </p:sp>
        <p:grpSp>
          <p:nvGrpSpPr>
            <p:cNvPr id="67" name="Group 67"/>
            <p:cNvGrpSpPr/>
            <p:nvPr/>
          </p:nvGrpSpPr>
          <p:grpSpPr>
            <a:xfrm>
              <a:off x="5435600" y="2482850"/>
              <a:ext cx="177800" cy="241300"/>
              <a:chOff x="5435600" y="2482850"/>
              <a:chExt cx="177800" cy="241300"/>
            </a:xfrm>
          </p:grpSpPr>
          <p:sp>
            <p:nvSpPr>
              <p:cNvPr id="58" name="Freeform 58"/>
              <p:cNvSpPr/>
              <p:nvPr/>
            </p:nvSpPr>
            <p:spPr>
              <a:xfrm>
                <a:off x="5448300" y="25082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19050">
                <a:solidFill>
                  <a:srgbClr val="518FEC"/>
                </a:solidFill>
              </a:ln>
            </p:spPr>
          </p:sp>
          <p:sp>
            <p:nvSpPr>
              <p:cNvPr id="59" name="Freeform 59"/>
              <p:cNvSpPr/>
              <p:nvPr/>
            </p:nvSpPr>
            <p:spPr>
              <a:xfrm>
                <a:off x="5524500" y="2482850"/>
                <a:ext cx="9525" cy="25400"/>
              </a:xfrm>
              <a:custGeom>
                <a:avLst/>
                <a:gdLst/>
                <a:ahLst/>
                <a:cxnLst/>
                <a:rect l="l" t="t" r="r" b="b"/>
                <a:pathLst>
                  <a:path w="9525" h="25400">
                    <a:moveTo>
                      <a:pt x="0" y="0"/>
                    </a:moveTo>
                    <a:lnTo>
                      <a:pt x="0" y="25400"/>
                    </a:lnTo>
                  </a:path>
                </a:pathLst>
              </a:custGeom>
              <a:noFill/>
              <a:ln w="19050">
                <a:solidFill>
                  <a:srgbClr val="518FEC"/>
                </a:solidFill>
              </a:ln>
            </p:spPr>
          </p:sp>
          <p:sp>
            <p:nvSpPr>
              <p:cNvPr id="60" name="Freeform 60"/>
              <p:cNvSpPr/>
              <p:nvPr/>
            </p:nvSpPr>
            <p:spPr>
              <a:xfrm>
                <a:off x="5486400" y="2609850"/>
                <a:ext cx="9525" cy="114300"/>
              </a:xfrm>
              <a:custGeom>
                <a:avLst/>
                <a:gdLst/>
                <a:ahLst/>
                <a:cxnLst/>
                <a:rect l="l" t="t" r="r" b="b"/>
                <a:pathLst>
                  <a:path w="9525" h="114300">
                    <a:moveTo>
                      <a:pt x="0" y="0"/>
                    </a:moveTo>
                    <a:lnTo>
                      <a:pt x="0" y="114300"/>
                    </a:lnTo>
                  </a:path>
                </a:pathLst>
              </a:custGeom>
              <a:noFill/>
              <a:ln w="19050">
                <a:solidFill>
                  <a:srgbClr val="518FEC"/>
                </a:solidFill>
              </a:ln>
            </p:spPr>
          </p:sp>
          <p:sp>
            <p:nvSpPr>
              <p:cNvPr id="61" name="Freeform 61"/>
              <p:cNvSpPr/>
              <p:nvPr/>
            </p:nvSpPr>
            <p:spPr>
              <a:xfrm>
                <a:off x="5562600" y="2609850"/>
                <a:ext cx="9525" cy="114300"/>
              </a:xfrm>
              <a:custGeom>
                <a:avLst/>
                <a:gdLst/>
                <a:ahLst/>
                <a:cxnLst/>
                <a:rect l="l" t="t" r="r" b="b"/>
                <a:pathLst>
                  <a:path w="9525" h="114300">
                    <a:moveTo>
                      <a:pt x="0" y="0"/>
                    </a:moveTo>
                    <a:lnTo>
                      <a:pt x="0" y="114300"/>
                    </a:lnTo>
                  </a:path>
                </a:pathLst>
              </a:custGeom>
              <a:noFill/>
              <a:ln w="19050">
                <a:solidFill>
                  <a:srgbClr val="518FEC"/>
                </a:solidFill>
              </a:ln>
            </p:spPr>
          </p:sp>
          <p:sp>
            <p:nvSpPr>
              <p:cNvPr id="62" name="Freeform 62"/>
              <p:cNvSpPr/>
              <p:nvPr/>
            </p:nvSpPr>
            <p:spPr>
              <a:xfrm>
                <a:off x="5435600" y="2635250"/>
                <a:ext cx="50800" cy="25400"/>
              </a:xfrm>
              <a:custGeom>
                <a:avLst/>
                <a:gdLst/>
                <a:ahLst/>
                <a:cxnLst/>
                <a:rect l="l" t="t" r="r" b="b"/>
                <a:pathLst>
                  <a:path w="50800" h="25400">
                    <a:moveTo>
                      <a:pt x="0" y="25400"/>
                    </a:moveTo>
                    <a:lnTo>
                      <a:pt x="50800" y="0"/>
                    </a:lnTo>
                  </a:path>
                </a:pathLst>
              </a:custGeom>
              <a:noFill/>
              <a:ln w="19050">
                <a:solidFill>
                  <a:srgbClr val="518FEC"/>
                </a:solidFill>
              </a:ln>
            </p:spPr>
          </p:sp>
          <p:sp>
            <p:nvSpPr>
              <p:cNvPr id="63" name="Freeform 63"/>
              <p:cNvSpPr/>
              <p:nvPr/>
            </p:nvSpPr>
            <p:spPr>
              <a:xfrm>
                <a:off x="5562600" y="2635250"/>
                <a:ext cx="50800" cy="25400"/>
              </a:xfrm>
              <a:custGeom>
                <a:avLst/>
                <a:gdLst/>
                <a:ahLst/>
                <a:cxnLst/>
                <a:rect l="l" t="t" r="r" b="b"/>
                <a:pathLst>
                  <a:path w="50800" h="25400">
                    <a:moveTo>
                      <a:pt x="0" y="0"/>
                    </a:moveTo>
                    <a:lnTo>
                      <a:pt x="50800" y="25400"/>
                    </a:lnTo>
                  </a:path>
                </a:pathLst>
              </a:custGeom>
              <a:noFill/>
              <a:ln w="19050">
                <a:solidFill>
                  <a:srgbClr val="518FEC"/>
                </a:solidFill>
              </a:ln>
            </p:spPr>
          </p:sp>
          <p:sp>
            <p:nvSpPr>
              <p:cNvPr id="64" name="Freeform 64"/>
              <p:cNvSpPr/>
              <p:nvPr/>
            </p:nvSpPr>
            <p:spPr>
              <a:xfrm>
                <a:off x="5486400" y="2686050"/>
                <a:ext cx="76200" cy="9525"/>
              </a:xfrm>
              <a:custGeom>
                <a:avLst/>
                <a:gdLst/>
                <a:ahLst/>
                <a:cxnLst/>
                <a:rect l="l" t="t" r="r" b="b"/>
                <a:pathLst>
                  <a:path w="76200" h="9525">
                    <a:moveTo>
                      <a:pt x="0" y="0"/>
                    </a:moveTo>
                    <a:lnTo>
                      <a:pt x="76200" y="0"/>
                    </a:lnTo>
                  </a:path>
                </a:pathLst>
              </a:custGeom>
              <a:noFill/>
              <a:ln w="19050">
                <a:solidFill>
                  <a:srgbClr val="518FEC"/>
                </a:solidFill>
              </a:ln>
            </p:spPr>
          </p:sp>
          <p:sp>
            <p:nvSpPr>
              <p:cNvPr id="65" name="Freeform 65"/>
              <p:cNvSpPr/>
              <p:nvPr/>
            </p:nvSpPr>
            <p:spPr>
              <a:xfrm>
                <a:off x="5499100" y="2559050"/>
                <a:ext cx="9525" cy="9525"/>
              </a:xfrm>
              <a:custGeom>
                <a:avLst/>
                <a:gdLst/>
                <a:ahLst/>
                <a:cxnLst/>
                <a:rect l="l" t="t" r="r" b="b"/>
                <a:pathLst>
                  <a:path w="9525" h="9525">
                    <a:moveTo>
                      <a:pt x="0" y="0"/>
                    </a:moveTo>
                    <a:lnTo>
                      <a:pt x="0" y="127"/>
                    </a:lnTo>
                  </a:path>
                </a:pathLst>
              </a:custGeom>
              <a:noFill/>
              <a:ln w="19050">
                <a:solidFill>
                  <a:srgbClr val="518FEC"/>
                </a:solidFill>
              </a:ln>
            </p:spPr>
          </p:sp>
          <p:sp>
            <p:nvSpPr>
              <p:cNvPr id="66" name="Freeform 66"/>
              <p:cNvSpPr/>
              <p:nvPr/>
            </p:nvSpPr>
            <p:spPr>
              <a:xfrm>
                <a:off x="5549900" y="2559050"/>
                <a:ext cx="9525" cy="9525"/>
              </a:xfrm>
              <a:custGeom>
                <a:avLst/>
                <a:gdLst/>
                <a:ahLst/>
                <a:cxnLst/>
                <a:rect l="l" t="t" r="r" b="b"/>
                <a:pathLst>
                  <a:path w="9525" h="9525">
                    <a:moveTo>
                      <a:pt x="0" y="0"/>
                    </a:moveTo>
                    <a:lnTo>
                      <a:pt x="0" y="127"/>
                    </a:lnTo>
                  </a:path>
                </a:pathLst>
              </a:custGeom>
              <a:noFill/>
              <a:ln w="19050">
                <a:solidFill>
                  <a:srgbClr val="518FEC"/>
                </a:solidFill>
              </a:ln>
            </p:spPr>
          </p:sp>
        </p:grpSp>
        <p:sp>
          <p:nvSpPr>
            <p:cNvPr id="68" name="TextBox 68"/>
            <p:cNvSpPr txBox="1"/>
            <p:nvPr/>
          </p:nvSpPr>
          <p:spPr>
            <a:xfrm>
              <a:off x="5657393" y="2575560"/>
              <a:ext cx="1105814" cy="243840"/>
            </a:xfrm>
            <a:prstGeom prst="rect">
              <a:avLst/>
            </a:prstGeom>
            <a:noFill/>
            <a:ln>
              <a:noFill/>
            </a:ln>
          </p:spPr>
          <p:txBody>
            <a:bodyPr wrap="none" lIns="0" tIns="0" rIns="0" bIns="0" anchor="t" anchorCtr="0">
              <a:spAutoFit/>
            </a:bodyPr>
            <a:lstStyle/>
            <a:p>
              <a:pPr algn="ctr"/>
              <a:r>
                <a:rPr lang="zh-CN" sz="1200" b="1" dirty="0">
                  <a:solidFill>
                    <a:srgbClr val="518FEC"/>
                  </a:solidFill>
                  <a:latin typeface="Arial"/>
                  <a:ea typeface="Microsoft YaHei"/>
                  <a:cs typeface="Arial"/>
                </a:rPr>
                <a:t>Agent Builder</a:t>
              </a:r>
            </a:p>
          </p:txBody>
        </p:sp>
        <p:sp>
          <p:nvSpPr>
            <p:cNvPr id="69" name="TextBox 69"/>
            <p:cNvSpPr txBox="1"/>
            <p:nvPr/>
          </p:nvSpPr>
          <p:spPr>
            <a:xfrm>
              <a:off x="5838825" y="2817495"/>
              <a:ext cx="742950" cy="182880"/>
            </a:xfrm>
            <a:prstGeom prst="rect">
              <a:avLst/>
            </a:prstGeom>
            <a:noFill/>
            <a:ln>
              <a:noFill/>
            </a:ln>
          </p:spPr>
          <p:txBody>
            <a:bodyPr wrap="none" lIns="0" tIns="0" rIns="0" bIns="0" anchor="t" anchorCtr="0">
              <a:spAutoFit/>
            </a:bodyPr>
            <a:lstStyle/>
            <a:p>
              <a:pPr algn="ctr"/>
              <a:r>
                <a:rPr lang="zh-CN" sz="900" dirty="0">
                  <a:solidFill>
                    <a:srgbClr val="6B7785"/>
                  </a:solidFill>
                  <a:latin typeface="Arial"/>
                  <a:ea typeface="Microsoft YaHei"/>
                  <a:cs typeface="Arial"/>
                </a:rPr>
                <a:t>智能体构建者</a:t>
              </a:r>
            </a:p>
          </p:txBody>
        </p:sp>
        <p:sp>
          <p:nvSpPr>
            <p:cNvPr id="70" name="Line 70"/>
            <p:cNvSpPr/>
            <p:nvPr/>
          </p:nvSpPr>
          <p:spPr>
            <a:xfrm>
              <a:off x="5372100" y="3086100"/>
              <a:ext cx="1676400" cy="9525"/>
            </a:xfrm>
            <a:custGeom>
              <a:avLst/>
              <a:gdLst/>
              <a:ahLst/>
              <a:cxnLst/>
              <a:rect l="l" t="t" r="r" b="b"/>
              <a:pathLst>
                <a:path w="1676400" h="9525">
                  <a:moveTo>
                    <a:pt x="0" y="0"/>
                  </a:moveTo>
                  <a:lnTo>
                    <a:pt x="1676400" y="0"/>
                  </a:lnTo>
                </a:path>
              </a:pathLst>
            </a:custGeom>
            <a:noFill/>
            <a:ln w="9525">
              <a:solidFill>
                <a:srgbClr val="E3E9F2"/>
              </a:solidFill>
            </a:ln>
          </p:spPr>
        </p:sp>
        <p:sp>
          <p:nvSpPr>
            <p:cNvPr id="71" name="TextBox 71"/>
            <p:cNvSpPr txBox="1"/>
            <p:nvPr/>
          </p:nvSpPr>
          <p:spPr>
            <a:xfrm>
              <a:off x="5359718" y="3266599"/>
              <a:ext cx="1207913"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a:ea typeface="Microsoft YaHei"/>
                  <a:cs typeface="Arial"/>
                </a:rPr>
                <a:t>不是写 Prompt 的人</a:t>
              </a:r>
            </a:p>
          </p:txBody>
        </p:sp>
        <p:sp>
          <p:nvSpPr>
            <p:cNvPr id="72" name="TextBox 72"/>
            <p:cNvSpPr txBox="1"/>
            <p:nvPr/>
          </p:nvSpPr>
          <p:spPr>
            <a:xfrm>
              <a:off x="5360670" y="3617595"/>
              <a:ext cx="112699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设计 Agent 工作流</a:t>
              </a:r>
            </a:p>
          </p:txBody>
        </p:sp>
        <p:sp>
          <p:nvSpPr>
            <p:cNvPr id="73" name="TextBox 73"/>
            <p:cNvSpPr txBox="1"/>
            <p:nvPr/>
          </p:nvSpPr>
          <p:spPr>
            <a:xfrm>
              <a:off x="5360670" y="3827145"/>
              <a:ext cx="916972"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沉淀 Skill 资产</a:t>
              </a:r>
            </a:p>
          </p:txBody>
        </p:sp>
        <p:sp>
          <p:nvSpPr>
            <p:cNvPr id="74" name="TextBox 74"/>
            <p:cNvSpPr txBox="1"/>
            <p:nvPr/>
          </p:nvSpPr>
          <p:spPr>
            <a:xfrm>
              <a:off x="5360670" y="4036695"/>
              <a:ext cx="1096994"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管记忆/权限/版本</a:t>
              </a:r>
            </a:p>
          </p:txBody>
        </p:sp>
        <p:sp>
          <p:nvSpPr>
            <p:cNvPr id="75" name="Line 75"/>
            <p:cNvSpPr/>
            <p:nvPr/>
          </p:nvSpPr>
          <p:spPr>
            <a:xfrm>
              <a:off x="5372100" y="4381500"/>
              <a:ext cx="1676400" cy="9525"/>
            </a:xfrm>
            <a:custGeom>
              <a:avLst/>
              <a:gdLst/>
              <a:ahLst/>
              <a:cxnLst/>
              <a:rect l="l" t="t" r="r" b="b"/>
              <a:pathLst>
                <a:path w="1676400" h="9525">
                  <a:moveTo>
                    <a:pt x="0" y="0"/>
                  </a:moveTo>
                  <a:lnTo>
                    <a:pt x="1676400" y="0"/>
                  </a:lnTo>
                </a:path>
              </a:pathLst>
            </a:custGeom>
            <a:noFill/>
            <a:ln w="9525">
              <a:solidFill>
                <a:srgbClr val="E3E9F2"/>
              </a:solidFill>
              <a:prstDash val="sysDot"/>
            </a:ln>
          </p:spPr>
        </p:sp>
        <p:sp>
          <p:nvSpPr>
            <p:cNvPr id="76" name="TextBox 76"/>
            <p:cNvSpPr txBox="1"/>
            <p:nvPr/>
          </p:nvSpPr>
          <p:spPr>
            <a:xfrm>
              <a:off x="5360670" y="4570095"/>
              <a:ext cx="419810" cy="182880"/>
            </a:xfrm>
            <a:prstGeom prst="rect">
              <a:avLst/>
            </a:prstGeom>
            <a:noFill/>
            <a:ln>
              <a:noFill/>
            </a:ln>
          </p:spPr>
          <p:txBody>
            <a:bodyPr wrap="none" lIns="0" tIns="0" rIns="0" bIns="0" anchor="t" anchorCtr="0">
              <a:spAutoFit/>
            </a:bodyPr>
            <a:lstStyle/>
            <a:p>
              <a:pPr algn="l"/>
              <a:r>
                <a:rPr lang="zh-CN" sz="900" b="1" dirty="0">
                  <a:solidFill>
                    <a:srgbClr val="518FEC"/>
                  </a:solidFill>
                  <a:latin typeface="Arial"/>
                  <a:ea typeface="Microsoft YaHei"/>
                  <a:cs typeface="Arial"/>
                </a:rPr>
                <a:t>使用 AI</a:t>
              </a:r>
            </a:p>
          </p:txBody>
        </p:sp>
        <p:sp>
          <p:nvSpPr>
            <p:cNvPr id="77" name="TextBox 77"/>
            <p:cNvSpPr txBox="1"/>
            <p:nvPr/>
          </p:nvSpPr>
          <p:spPr>
            <a:xfrm>
              <a:off x="5360670" y="4760595"/>
              <a:ext cx="778955"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构建 AI 能力</a:t>
              </a:r>
            </a:p>
          </p:txBody>
        </p:sp>
        <p:sp>
          <p:nvSpPr>
            <p:cNvPr id="78" name="TextBox 78"/>
            <p:cNvSpPr txBox="1"/>
            <p:nvPr/>
          </p:nvSpPr>
          <p:spPr>
            <a:xfrm>
              <a:off x="5361622" y="5054441"/>
              <a:ext cx="890064"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Agent = 执行主体</a:t>
              </a:r>
            </a:p>
          </p:txBody>
        </p:sp>
      </p:grpSp>
      <p:grpSp>
        <p:nvGrpSpPr>
          <p:cNvPr id="96" name="Group 96"/>
          <p:cNvGrpSpPr/>
          <p:nvPr/>
        </p:nvGrpSpPr>
        <p:grpSpPr>
          <a:xfrm>
            <a:off x="7391400" y="2247900"/>
            <a:ext cx="2057400" cy="3048000"/>
            <a:chOff x="7391400" y="2247900"/>
            <a:chExt cx="2057400" cy="3048000"/>
          </a:xfrm>
        </p:grpSpPr>
        <p:sp>
          <p:nvSpPr>
            <p:cNvPr id="80" name="Rectangle 80"/>
            <p:cNvSpPr/>
            <p:nvPr/>
          </p:nvSpPr>
          <p:spPr>
            <a:xfrm>
              <a:off x="7391400" y="2247900"/>
              <a:ext cx="2057400" cy="3048000"/>
            </a:xfrm>
            <a:prstGeom prst="roundRect">
              <a:avLst>
                <a:gd name="adj" fmla="val 6481"/>
              </a:avLst>
            </a:prstGeom>
            <a:solidFill>
              <a:srgbClr val="F4F7FC"/>
            </a:solidFill>
            <a:ln>
              <a:noFill/>
            </a:ln>
          </p:spPr>
        </p:sp>
        <p:sp>
          <p:nvSpPr>
            <p:cNvPr id="81" name="Rectangle 81"/>
            <p:cNvSpPr/>
            <p:nvPr/>
          </p:nvSpPr>
          <p:spPr>
            <a:xfrm>
              <a:off x="7391400" y="2247900"/>
              <a:ext cx="2057400" cy="57150"/>
            </a:xfrm>
            <a:prstGeom prst="roundRect">
              <a:avLst>
                <a:gd name="adj" fmla="val 50000"/>
              </a:avLst>
            </a:prstGeom>
            <a:solidFill>
              <a:srgbClr val="0052A6"/>
            </a:solidFill>
            <a:ln>
              <a:noFill/>
            </a:ln>
          </p:spPr>
        </p:sp>
        <p:grpSp>
          <p:nvGrpSpPr>
            <p:cNvPr id="84" name="Group 84"/>
            <p:cNvGrpSpPr/>
            <p:nvPr/>
          </p:nvGrpSpPr>
          <p:grpSpPr>
            <a:xfrm>
              <a:off x="7620000" y="2495550"/>
              <a:ext cx="228600" cy="228600"/>
              <a:chOff x="7620000" y="2495550"/>
              <a:chExt cx="228600" cy="228600"/>
            </a:xfrm>
          </p:grpSpPr>
          <p:sp>
            <p:nvSpPr>
              <p:cNvPr id="82" name="Freeform 82"/>
              <p:cNvSpPr/>
              <p:nvPr/>
            </p:nvSpPr>
            <p:spPr>
              <a:xfrm>
                <a:off x="7620000" y="24955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0052A6"/>
                </a:solidFill>
              </a:ln>
            </p:spPr>
          </p:sp>
          <p:sp>
            <p:nvSpPr>
              <p:cNvPr id="83" name="Freeform 83"/>
              <p:cNvSpPr/>
              <p:nvPr/>
            </p:nvSpPr>
            <p:spPr>
              <a:xfrm>
                <a:off x="7696200" y="2584450"/>
                <a:ext cx="76200" cy="50800"/>
              </a:xfrm>
              <a:custGeom>
                <a:avLst/>
                <a:gdLst/>
                <a:ahLst/>
                <a:cxnLst/>
                <a:rect l="l" t="t" r="r" b="b"/>
                <a:pathLst>
                  <a:path w="76200" h="50800">
                    <a:moveTo>
                      <a:pt x="0" y="25400"/>
                    </a:moveTo>
                    <a:lnTo>
                      <a:pt x="25400" y="50800"/>
                    </a:lnTo>
                    <a:lnTo>
                      <a:pt x="76200" y="0"/>
                    </a:lnTo>
                  </a:path>
                </a:pathLst>
              </a:custGeom>
              <a:noFill/>
              <a:ln w="19050">
                <a:solidFill>
                  <a:srgbClr val="0052A6"/>
                </a:solidFill>
              </a:ln>
            </p:spPr>
          </p:sp>
        </p:grpSp>
        <p:sp>
          <p:nvSpPr>
            <p:cNvPr id="85" name="TextBox 85"/>
            <p:cNvSpPr txBox="1"/>
            <p:nvPr/>
          </p:nvSpPr>
          <p:spPr>
            <a:xfrm>
              <a:off x="7913399" y="2575560"/>
              <a:ext cx="1013403" cy="243840"/>
            </a:xfrm>
            <a:prstGeom prst="rect">
              <a:avLst/>
            </a:prstGeom>
            <a:noFill/>
            <a:ln>
              <a:noFill/>
            </a:ln>
          </p:spPr>
          <p:txBody>
            <a:bodyPr wrap="none" lIns="0" tIns="0" rIns="0" bIns="0" anchor="t" anchorCtr="0">
              <a:spAutoFit/>
            </a:bodyPr>
            <a:lstStyle/>
            <a:p>
              <a:pPr algn="ctr"/>
              <a:r>
                <a:rPr lang="zh-CN" sz="1200" b="1" dirty="0">
                  <a:solidFill>
                    <a:srgbClr val="0052A6"/>
                  </a:solidFill>
                  <a:latin typeface="Arial"/>
                  <a:ea typeface="Microsoft YaHei"/>
                  <a:cs typeface="Arial"/>
                </a:rPr>
                <a:t>Test Builder</a:t>
              </a:r>
            </a:p>
          </p:txBody>
        </p:sp>
        <p:sp>
          <p:nvSpPr>
            <p:cNvPr id="86" name="TextBox 86"/>
            <p:cNvSpPr txBox="1"/>
            <p:nvPr/>
          </p:nvSpPr>
          <p:spPr>
            <a:xfrm>
              <a:off x="7868602" y="2817495"/>
              <a:ext cx="1102995" cy="182880"/>
            </a:xfrm>
            <a:prstGeom prst="rect">
              <a:avLst/>
            </a:prstGeom>
            <a:noFill/>
            <a:ln>
              <a:noFill/>
            </a:ln>
          </p:spPr>
          <p:txBody>
            <a:bodyPr wrap="none" lIns="0" tIns="0" rIns="0" bIns="0" anchor="t" anchorCtr="0">
              <a:spAutoFit/>
            </a:bodyPr>
            <a:lstStyle/>
            <a:p>
              <a:pPr algn="ctr"/>
              <a:r>
                <a:rPr lang="zh-CN" sz="900" dirty="0">
                  <a:solidFill>
                    <a:srgbClr val="6B7785"/>
                  </a:solidFill>
                  <a:latin typeface="Arial"/>
                  <a:ea typeface="Microsoft YaHei"/>
                  <a:cs typeface="Arial"/>
                </a:rPr>
                <a:t>质量基础设施构建者</a:t>
              </a:r>
            </a:p>
          </p:txBody>
        </p:sp>
        <p:sp>
          <p:nvSpPr>
            <p:cNvPr id="87" name="Line 87"/>
            <p:cNvSpPr/>
            <p:nvPr/>
          </p:nvSpPr>
          <p:spPr>
            <a:xfrm>
              <a:off x="7581900" y="3086100"/>
              <a:ext cx="1676400" cy="9525"/>
            </a:xfrm>
            <a:custGeom>
              <a:avLst/>
              <a:gdLst/>
              <a:ahLst/>
              <a:cxnLst/>
              <a:rect l="l" t="t" r="r" b="b"/>
              <a:pathLst>
                <a:path w="1676400" h="9525">
                  <a:moveTo>
                    <a:pt x="0" y="0"/>
                  </a:moveTo>
                  <a:lnTo>
                    <a:pt x="1676400" y="0"/>
                  </a:lnTo>
                </a:path>
              </a:pathLst>
            </a:custGeom>
            <a:noFill/>
            <a:ln w="9525">
              <a:solidFill>
                <a:srgbClr val="E3E9F2"/>
              </a:solidFill>
            </a:ln>
          </p:spPr>
        </p:sp>
        <p:sp>
          <p:nvSpPr>
            <p:cNvPr id="88" name="TextBox 88"/>
            <p:cNvSpPr txBox="1"/>
            <p:nvPr/>
          </p:nvSpPr>
          <p:spPr>
            <a:xfrm>
              <a:off x="7569518" y="3266599"/>
              <a:ext cx="1194911"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a:ea typeface="Microsoft YaHei"/>
                  <a:cs typeface="Arial"/>
                </a:rPr>
                <a:t>测试不消失但重心变</a:t>
              </a:r>
            </a:p>
          </p:txBody>
        </p:sp>
        <p:sp>
          <p:nvSpPr>
            <p:cNvPr id="89" name="TextBox 89"/>
            <p:cNvSpPr txBox="1"/>
            <p:nvPr/>
          </p:nvSpPr>
          <p:spPr>
            <a:xfrm>
              <a:off x="7570470" y="361759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测试基础设施</a:t>
              </a:r>
            </a:p>
          </p:txBody>
        </p:sp>
        <p:sp>
          <p:nvSpPr>
            <p:cNvPr id="90" name="TextBox 90"/>
            <p:cNvSpPr txBox="1"/>
            <p:nvPr/>
          </p:nvSpPr>
          <p:spPr>
            <a:xfrm>
              <a:off x="7570470" y="3827145"/>
              <a:ext cx="60493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质量门禁</a:t>
              </a:r>
            </a:p>
          </p:txBody>
        </p:sp>
        <p:sp>
          <p:nvSpPr>
            <p:cNvPr id="91" name="TextBox 91"/>
            <p:cNvSpPr txBox="1"/>
            <p:nvPr/>
          </p:nvSpPr>
          <p:spPr>
            <a:xfrm>
              <a:off x="7570470" y="4036695"/>
              <a:ext cx="96497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自动化策略设计</a:t>
              </a:r>
            </a:p>
          </p:txBody>
        </p:sp>
        <p:sp>
          <p:nvSpPr>
            <p:cNvPr id="92" name="Line 92"/>
            <p:cNvSpPr/>
            <p:nvPr/>
          </p:nvSpPr>
          <p:spPr>
            <a:xfrm>
              <a:off x="7581900" y="4381500"/>
              <a:ext cx="1676400" cy="9525"/>
            </a:xfrm>
            <a:custGeom>
              <a:avLst/>
              <a:gdLst/>
              <a:ahLst/>
              <a:cxnLst/>
              <a:rect l="l" t="t" r="r" b="b"/>
              <a:pathLst>
                <a:path w="1676400" h="9525">
                  <a:moveTo>
                    <a:pt x="0" y="0"/>
                  </a:moveTo>
                  <a:lnTo>
                    <a:pt x="1676400" y="0"/>
                  </a:lnTo>
                </a:path>
              </a:pathLst>
            </a:custGeom>
            <a:noFill/>
            <a:ln w="9525">
              <a:solidFill>
                <a:srgbClr val="E3E9F2"/>
              </a:solidFill>
              <a:prstDash val="sysDot"/>
            </a:ln>
          </p:spPr>
        </p:sp>
        <p:sp>
          <p:nvSpPr>
            <p:cNvPr id="93" name="TextBox 93"/>
            <p:cNvSpPr txBox="1"/>
            <p:nvPr/>
          </p:nvSpPr>
          <p:spPr>
            <a:xfrm>
              <a:off x="7570470" y="4570095"/>
              <a:ext cx="652939" cy="182880"/>
            </a:xfrm>
            <a:prstGeom prst="rect">
              <a:avLst/>
            </a:prstGeom>
            <a:noFill/>
            <a:ln>
              <a:noFill/>
            </a:ln>
          </p:spPr>
          <p:txBody>
            <a:bodyPr wrap="none" lIns="0" tIns="0" rIns="0" bIns="0" anchor="t" anchorCtr="0">
              <a:spAutoFit/>
            </a:bodyPr>
            <a:lstStyle/>
            <a:p>
              <a:pPr algn="l"/>
              <a:r>
                <a:rPr lang="zh-CN" sz="900" b="1" dirty="0">
                  <a:solidFill>
                    <a:srgbClr val="0052A6"/>
                  </a:solidFill>
                  <a:latin typeface="Arial"/>
                  <a:ea typeface="Microsoft YaHei"/>
                  <a:cs typeface="Arial"/>
                </a:rPr>
                <a:t>测试执行者</a:t>
              </a:r>
            </a:p>
          </p:txBody>
        </p:sp>
        <p:sp>
          <p:nvSpPr>
            <p:cNvPr id="94" name="TextBox 94"/>
            <p:cNvSpPr txBox="1"/>
            <p:nvPr/>
          </p:nvSpPr>
          <p:spPr>
            <a:xfrm>
              <a:off x="7570470" y="4760595"/>
              <a:ext cx="84496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质量基础设施</a:t>
              </a:r>
            </a:p>
          </p:txBody>
        </p:sp>
        <p:sp>
          <p:nvSpPr>
            <p:cNvPr id="95" name="TextBox 95"/>
            <p:cNvSpPr txBox="1"/>
            <p:nvPr/>
          </p:nvSpPr>
          <p:spPr>
            <a:xfrm>
              <a:off x="7571422" y="5054441"/>
              <a:ext cx="350996"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构建者</a:t>
              </a:r>
            </a:p>
          </p:txBody>
        </p:sp>
      </p:grpSp>
      <p:grpSp>
        <p:nvGrpSpPr>
          <p:cNvPr id="115" name="Group 115"/>
          <p:cNvGrpSpPr/>
          <p:nvPr/>
        </p:nvGrpSpPr>
        <p:grpSpPr>
          <a:xfrm>
            <a:off x="9601200" y="2247900"/>
            <a:ext cx="1828800" cy="3048000"/>
            <a:chOff x="9601200" y="2247900"/>
            <a:chExt cx="1828800" cy="3048000"/>
          </a:xfrm>
        </p:grpSpPr>
        <p:sp>
          <p:nvSpPr>
            <p:cNvPr id="97" name="Rectangle 97"/>
            <p:cNvSpPr/>
            <p:nvPr/>
          </p:nvSpPr>
          <p:spPr>
            <a:xfrm>
              <a:off x="9601200" y="2247900"/>
              <a:ext cx="1828800" cy="3048000"/>
            </a:xfrm>
            <a:prstGeom prst="roundRect">
              <a:avLst>
                <a:gd name="adj" fmla="val 7292"/>
              </a:avLst>
            </a:prstGeom>
            <a:solidFill>
              <a:srgbClr val="F4F7FC"/>
            </a:solidFill>
            <a:ln>
              <a:noFill/>
            </a:ln>
          </p:spPr>
        </p:sp>
        <p:sp>
          <p:nvSpPr>
            <p:cNvPr id="98" name="Rectangle 98"/>
            <p:cNvSpPr/>
            <p:nvPr/>
          </p:nvSpPr>
          <p:spPr>
            <a:xfrm>
              <a:off x="9601200" y="2247900"/>
              <a:ext cx="1828800" cy="57150"/>
            </a:xfrm>
            <a:prstGeom prst="roundRect">
              <a:avLst>
                <a:gd name="adj" fmla="val 50000"/>
              </a:avLst>
            </a:prstGeom>
            <a:solidFill>
              <a:srgbClr val="246BFE"/>
            </a:solidFill>
            <a:ln>
              <a:noFill/>
            </a:ln>
          </p:spPr>
        </p:sp>
        <p:grpSp>
          <p:nvGrpSpPr>
            <p:cNvPr id="103" name="Group 103"/>
            <p:cNvGrpSpPr/>
            <p:nvPr/>
          </p:nvGrpSpPr>
          <p:grpSpPr>
            <a:xfrm>
              <a:off x="9829800" y="2508250"/>
              <a:ext cx="228600" cy="203200"/>
              <a:chOff x="9829800" y="2508250"/>
              <a:chExt cx="228600" cy="203200"/>
            </a:xfrm>
          </p:grpSpPr>
          <p:sp>
            <p:nvSpPr>
              <p:cNvPr id="99" name="Freeform 99"/>
              <p:cNvSpPr/>
              <p:nvPr/>
            </p:nvSpPr>
            <p:spPr>
              <a:xfrm>
                <a:off x="9829800" y="2508250"/>
                <a:ext cx="228600" cy="101600"/>
              </a:xfrm>
              <a:custGeom>
                <a:avLst/>
                <a:gdLst/>
                <a:ahLst/>
                <a:cxnLst/>
                <a:rect l="l" t="t" r="r" b="b"/>
                <a:pathLst>
                  <a:path w="228600" h="101600">
                    <a:moveTo>
                      <a:pt x="0" y="38100"/>
                    </a:moveTo>
                    <a:cubicBezTo>
                      <a:pt x="0" y="17058"/>
                      <a:pt x="17058" y="0"/>
                      <a:pt x="38100" y="0"/>
                    </a:cubicBezTo>
                    <a:lnTo>
                      <a:pt x="190500" y="0"/>
                    </a:lnTo>
                    <a:cubicBezTo>
                      <a:pt x="211542" y="0"/>
                      <a:pt x="228600" y="17058"/>
                      <a:pt x="228600" y="38100"/>
                    </a:cubicBezTo>
                    <a:lnTo>
                      <a:pt x="228600" y="63500"/>
                    </a:lnTo>
                    <a:cubicBezTo>
                      <a:pt x="228600" y="84542"/>
                      <a:pt x="211542" y="101600"/>
                      <a:pt x="190500" y="101600"/>
                    </a:cubicBezTo>
                    <a:lnTo>
                      <a:pt x="38100" y="101600"/>
                    </a:lnTo>
                    <a:cubicBezTo>
                      <a:pt x="17058" y="101600"/>
                      <a:pt x="0" y="84542"/>
                      <a:pt x="0" y="63500"/>
                    </a:cubicBezTo>
                  </a:path>
                </a:pathLst>
              </a:custGeom>
              <a:noFill/>
              <a:ln w="19050">
                <a:solidFill>
                  <a:srgbClr val="246BFE"/>
                </a:solidFill>
              </a:ln>
            </p:spPr>
          </p:sp>
          <p:sp>
            <p:nvSpPr>
              <p:cNvPr id="100" name="Freeform 100"/>
              <p:cNvSpPr/>
              <p:nvPr/>
            </p:nvSpPr>
            <p:spPr>
              <a:xfrm>
                <a:off x="9829800" y="2609850"/>
                <a:ext cx="228600" cy="101600"/>
              </a:xfrm>
              <a:custGeom>
                <a:avLst/>
                <a:gdLst/>
                <a:ahLst/>
                <a:cxnLst/>
                <a:rect l="l" t="t" r="r" b="b"/>
                <a:pathLst>
                  <a:path w="228600" h="101600">
                    <a:moveTo>
                      <a:pt x="0" y="38100"/>
                    </a:moveTo>
                    <a:cubicBezTo>
                      <a:pt x="0" y="17058"/>
                      <a:pt x="17058" y="0"/>
                      <a:pt x="38100" y="0"/>
                    </a:cubicBezTo>
                    <a:lnTo>
                      <a:pt x="190500" y="0"/>
                    </a:lnTo>
                    <a:cubicBezTo>
                      <a:pt x="211542" y="0"/>
                      <a:pt x="228600" y="17058"/>
                      <a:pt x="228600" y="38100"/>
                    </a:cubicBezTo>
                    <a:lnTo>
                      <a:pt x="228600" y="63500"/>
                    </a:lnTo>
                    <a:cubicBezTo>
                      <a:pt x="228600" y="84542"/>
                      <a:pt x="211542" y="101600"/>
                      <a:pt x="190500" y="101600"/>
                    </a:cubicBezTo>
                    <a:lnTo>
                      <a:pt x="38100" y="101600"/>
                    </a:lnTo>
                    <a:cubicBezTo>
                      <a:pt x="17058" y="101600"/>
                      <a:pt x="0" y="84542"/>
                      <a:pt x="0" y="63500"/>
                    </a:cubicBezTo>
                    <a:lnTo>
                      <a:pt x="0" y="38100"/>
                    </a:lnTo>
                  </a:path>
                </a:pathLst>
              </a:custGeom>
              <a:noFill/>
              <a:ln w="19050">
                <a:solidFill>
                  <a:srgbClr val="246BFE"/>
                </a:solidFill>
              </a:ln>
            </p:spPr>
          </p:sp>
          <p:sp>
            <p:nvSpPr>
              <p:cNvPr id="101" name="Freeform 101"/>
              <p:cNvSpPr/>
              <p:nvPr/>
            </p:nvSpPr>
            <p:spPr>
              <a:xfrm>
                <a:off x="9880600" y="2559050"/>
                <a:ext cx="9525" cy="9525"/>
              </a:xfrm>
              <a:custGeom>
                <a:avLst/>
                <a:gdLst/>
                <a:ahLst/>
                <a:cxnLst/>
                <a:rect l="l" t="t" r="r" b="b"/>
                <a:pathLst>
                  <a:path w="9525" h="9525">
                    <a:moveTo>
                      <a:pt x="0" y="0"/>
                    </a:moveTo>
                    <a:lnTo>
                      <a:pt x="0" y="127"/>
                    </a:lnTo>
                  </a:path>
                </a:pathLst>
              </a:custGeom>
              <a:noFill/>
              <a:ln w="19050">
                <a:solidFill>
                  <a:srgbClr val="246BFE"/>
                </a:solidFill>
              </a:ln>
            </p:spPr>
          </p:sp>
          <p:sp>
            <p:nvSpPr>
              <p:cNvPr id="102" name="Freeform 102"/>
              <p:cNvSpPr/>
              <p:nvPr/>
            </p:nvSpPr>
            <p:spPr>
              <a:xfrm>
                <a:off x="9880600" y="2660650"/>
                <a:ext cx="9525" cy="9525"/>
              </a:xfrm>
              <a:custGeom>
                <a:avLst/>
                <a:gdLst/>
                <a:ahLst/>
                <a:cxnLst/>
                <a:rect l="l" t="t" r="r" b="b"/>
                <a:pathLst>
                  <a:path w="9525" h="9525">
                    <a:moveTo>
                      <a:pt x="0" y="0"/>
                    </a:moveTo>
                    <a:lnTo>
                      <a:pt x="0" y="127"/>
                    </a:lnTo>
                  </a:path>
                </a:pathLst>
              </a:custGeom>
              <a:noFill/>
              <a:ln w="19050">
                <a:solidFill>
                  <a:srgbClr val="246BFE"/>
                </a:solidFill>
              </a:ln>
            </p:spPr>
          </p:sp>
        </p:grpSp>
        <p:sp>
          <p:nvSpPr>
            <p:cNvPr id="104" name="TextBox 104"/>
            <p:cNvSpPr txBox="1"/>
            <p:nvPr/>
          </p:nvSpPr>
          <p:spPr>
            <a:xfrm>
              <a:off x="9828276" y="2575560"/>
              <a:ext cx="1374648" cy="243840"/>
            </a:xfrm>
            <a:prstGeom prst="rect">
              <a:avLst/>
            </a:prstGeom>
            <a:noFill/>
            <a:ln>
              <a:noFill/>
            </a:ln>
          </p:spPr>
          <p:txBody>
            <a:bodyPr wrap="none" lIns="0" tIns="0" rIns="0" bIns="0" anchor="t" anchorCtr="0">
              <a:spAutoFit/>
            </a:bodyPr>
            <a:lstStyle/>
            <a:p>
              <a:pPr algn="ctr"/>
              <a:r>
                <a:rPr lang="zh-CN" sz="1200" b="1" dirty="0">
                  <a:solidFill>
                    <a:srgbClr val="246BFE"/>
                  </a:solidFill>
                  <a:latin typeface="Arial"/>
                  <a:ea typeface="Microsoft YaHei"/>
                  <a:cs typeface="Arial"/>
                </a:rPr>
                <a:t>Platform Builder</a:t>
              </a:r>
            </a:p>
          </p:txBody>
        </p:sp>
        <p:sp>
          <p:nvSpPr>
            <p:cNvPr id="105" name="TextBox 105"/>
            <p:cNvSpPr txBox="1"/>
            <p:nvPr/>
          </p:nvSpPr>
          <p:spPr>
            <a:xfrm>
              <a:off x="10084118" y="2817495"/>
              <a:ext cx="862965" cy="182880"/>
            </a:xfrm>
            <a:prstGeom prst="rect">
              <a:avLst/>
            </a:prstGeom>
            <a:noFill/>
            <a:ln>
              <a:noFill/>
            </a:ln>
          </p:spPr>
          <p:txBody>
            <a:bodyPr wrap="none" lIns="0" tIns="0" rIns="0" bIns="0" anchor="t" anchorCtr="0">
              <a:spAutoFit/>
            </a:bodyPr>
            <a:lstStyle/>
            <a:p>
              <a:pPr algn="ctr"/>
              <a:r>
                <a:rPr lang="zh-CN" sz="900" dirty="0">
                  <a:solidFill>
                    <a:srgbClr val="6B7785"/>
                  </a:solidFill>
                  <a:latin typeface="Arial"/>
                  <a:ea typeface="Microsoft YaHei"/>
                  <a:cs typeface="Arial"/>
                </a:rPr>
                <a:t>组织能力构建者</a:t>
              </a:r>
            </a:p>
          </p:txBody>
        </p:sp>
        <p:sp>
          <p:nvSpPr>
            <p:cNvPr id="106" name="Line 106"/>
            <p:cNvSpPr/>
            <p:nvPr/>
          </p:nvSpPr>
          <p:spPr>
            <a:xfrm>
              <a:off x="9791700" y="3086100"/>
              <a:ext cx="1447800" cy="9525"/>
            </a:xfrm>
            <a:custGeom>
              <a:avLst/>
              <a:gdLst/>
              <a:ahLst/>
              <a:cxnLst/>
              <a:rect l="l" t="t" r="r" b="b"/>
              <a:pathLst>
                <a:path w="1447800" h="9525">
                  <a:moveTo>
                    <a:pt x="0" y="0"/>
                  </a:moveTo>
                  <a:lnTo>
                    <a:pt x="1447800" y="0"/>
                  </a:lnTo>
                </a:path>
              </a:pathLst>
            </a:custGeom>
            <a:noFill/>
            <a:ln w="9525">
              <a:solidFill>
                <a:srgbClr val="E3E9F2"/>
              </a:solidFill>
            </a:ln>
          </p:spPr>
        </p:sp>
        <p:sp>
          <p:nvSpPr>
            <p:cNvPr id="107" name="TextBox 107"/>
            <p:cNvSpPr txBox="1"/>
            <p:nvPr/>
          </p:nvSpPr>
          <p:spPr>
            <a:xfrm>
              <a:off x="9779318" y="3266599"/>
              <a:ext cx="1136404" cy="198120"/>
            </a:xfrm>
            <a:prstGeom prst="rect">
              <a:avLst/>
            </a:prstGeom>
            <a:noFill/>
            <a:ln>
              <a:noFill/>
            </a:ln>
          </p:spPr>
          <p:txBody>
            <a:bodyPr wrap="none" lIns="0" tIns="0" rIns="0" bIns="0" anchor="t" anchorCtr="0">
              <a:spAutoFit/>
            </a:bodyPr>
            <a:lstStyle/>
            <a:p>
              <a:pPr algn="l"/>
              <a:r>
                <a:rPr lang="zh-CN" sz="975" dirty="0">
                  <a:solidFill>
                    <a:srgbClr val="25364A"/>
                  </a:solidFill>
                  <a:latin typeface="Arial"/>
                  <a:ea typeface="Microsoft YaHei"/>
                  <a:cs typeface="Arial"/>
                </a:rPr>
                <a:t>来自平台/架构团队</a:t>
              </a:r>
            </a:p>
          </p:txBody>
        </p:sp>
        <p:sp>
          <p:nvSpPr>
            <p:cNvPr id="108" name="TextBox 108"/>
            <p:cNvSpPr txBox="1"/>
            <p:nvPr/>
          </p:nvSpPr>
          <p:spPr>
            <a:xfrm>
              <a:off x="9780270" y="3617595"/>
              <a:ext cx="96497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沉淀组织级能力</a:t>
              </a:r>
            </a:p>
          </p:txBody>
        </p:sp>
        <p:sp>
          <p:nvSpPr>
            <p:cNvPr id="109" name="TextBox 109"/>
            <p:cNvSpPr txBox="1"/>
            <p:nvPr/>
          </p:nvSpPr>
          <p:spPr>
            <a:xfrm>
              <a:off x="9780270" y="3827145"/>
              <a:ext cx="114500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AI/数据/知识/工程</a:t>
              </a:r>
            </a:p>
          </p:txBody>
        </p:sp>
        <p:sp>
          <p:nvSpPr>
            <p:cNvPr id="110" name="TextBox 110"/>
            <p:cNvSpPr txBox="1"/>
            <p:nvPr/>
          </p:nvSpPr>
          <p:spPr>
            <a:xfrm>
              <a:off x="9780270" y="4036695"/>
              <a:ext cx="50292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平台底座</a:t>
              </a:r>
            </a:p>
          </p:txBody>
        </p:sp>
        <p:sp>
          <p:nvSpPr>
            <p:cNvPr id="111" name="Line 111"/>
            <p:cNvSpPr/>
            <p:nvPr/>
          </p:nvSpPr>
          <p:spPr>
            <a:xfrm>
              <a:off x="9791700" y="4381500"/>
              <a:ext cx="1447800" cy="9525"/>
            </a:xfrm>
            <a:custGeom>
              <a:avLst/>
              <a:gdLst/>
              <a:ahLst/>
              <a:cxnLst/>
              <a:rect l="l" t="t" r="r" b="b"/>
              <a:pathLst>
                <a:path w="1447800" h="9525">
                  <a:moveTo>
                    <a:pt x="0" y="0"/>
                  </a:moveTo>
                  <a:lnTo>
                    <a:pt x="1447800" y="0"/>
                  </a:lnTo>
                </a:path>
              </a:pathLst>
            </a:custGeom>
            <a:noFill/>
            <a:ln w="9525">
              <a:solidFill>
                <a:srgbClr val="E3E9F2"/>
              </a:solidFill>
              <a:prstDash val="sysDot"/>
            </a:ln>
          </p:spPr>
        </p:sp>
        <p:sp>
          <p:nvSpPr>
            <p:cNvPr id="112" name="TextBox 112"/>
            <p:cNvSpPr txBox="1"/>
            <p:nvPr/>
          </p:nvSpPr>
          <p:spPr>
            <a:xfrm>
              <a:off x="9780270" y="4570095"/>
              <a:ext cx="652939" cy="182880"/>
            </a:xfrm>
            <a:prstGeom prst="rect">
              <a:avLst/>
            </a:prstGeom>
            <a:noFill/>
            <a:ln>
              <a:noFill/>
            </a:ln>
          </p:spPr>
          <p:txBody>
            <a:bodyPr wrap="none" lIns="0" tIns="0" rIns="0" bIns="0" anchor="t" anchorCtr="0">
              <a:spAutoFit/>
            </a:bodyPr>
            <a:lstStyle/>
            <a:p>
              <a:pPr algn="l"/>
              <a:r>
                <a:rPr lang="zh-CN" sz="900" b="1" dirty="0">
                  <a:solidFill>
                    <a:srgbClr val="246BFE"/>
                  </a:solidFill>
                  <a:latin typeface="Arial"/>
                  <a:ea typeface="Microsoft YaHei"/>
                  <a:cs typeface="Arial"/>
                </a:rPr>
                <a:t>平台支撑者</a:t>
              </a:r>
            </a:p>
          </p:txBody>
        </p:sp>
        <p:sp>
          <p:nvSpPr>
            <p:cNvPr id="113" name="TextBox 113"/>
            <p:cNvSpPr txBox="1"/>
            <p:nvPr/>
          </p:nvSpPr>
          <p:spPr>
            <a:xfrm>
              <a:off x="9780270" y="4760595"/>
              <a:ext cx="964978"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组织能力构建者</a:t>
              </a:r>
            </a:p>
          </p:txBody>
        </p:sp>
        <p:sp>
          <p:nvSpPr>
            <p:cNvPr id="114" name="TextBox 114"/>
            <p:cNvSpPr txBox="1"/>
            <p:nvPr/>
          </p:nvSpPr>
          <p:spPr>
            <a:xfrm>
              <a:off x="9781222" y="5054441"/>
              <a:ext cx="1148596"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让 FDE 小队低成本复用</a:t>
              </a:r>
            </a:p>
          </p:txBody>
        </p:sp>
      </p:grpSp>
      <p:grpSp>
        <p:nvGrpSpPr>
          <p:cNvPr id="124" name="Group 124"/>
          <p:cNvGrpSpPr/>
          <p:nvPr/>
        </p:nvGrpSpPr>
        <p:grpSpPr>
          <a:xfrm>
            <a:off x="762000" y="5486400"/>
            <a:ext cx="10668000" cy="685800"/>
            <a:chOff x="762000" y="5486400"/>
            <a:chExt cx="10668000" cy="685800"/>
          </a:xfrm>
        </p:grpSpPr>
        <p:sp>
          <p:nvSpPr>
            <p:cNvPr id="116" name="Rectangle 116"/>
            <p:cNvSpPr/>
            <p:nvPr/>
          </p:nvSpPr>
          <p:spPr>
            <a:xfrm>
              <a:off x="762000" y="5486400"/>
              <a:ext cx="10668000" cy="685800"/>
            </a:xfrm>
            <a:prstGeom prst="roundRect">
              <a:avLst>
                <a:gd name="adj" fmla="val 19444"/>
              </a:avLst>
            </a:prstGeom>
            <a:solidFill>
              <a:srgbClr val="0052A6"/>
            </a:solidFill>
            <a:ln>
              <a:noFill/>
            </a:ln>
          </p:spPr>
        </p:sp>
        <p:grpSp>
          <p:nvGrpSpPr>
            <p:cNvPr id="120" name="Group 120"/>
            <p:cNvGrpSpPr/>
            <p:nvPr/>
          </p:nvGrpSpPr>
          <p:grpSpPr>
            <a:xfrm>
              <a:off x="1028700" y="5715000"/>
              <a:ext cx="228600" cy="228600"/>
              <a:chOff x="1028700" y="5715000"/>
              <a:chExt cx="228600" cy="228600"/>
            </a:xfrm>
          </p:grpSpPr>
          <p:sp>
            <p:nvSpPr>
              <p:cNvPr id="117" name="Freeform 117"/>
              <p:cNvSpPr/>
              <p:nvPr/>
            </p:nvSpPr>
            <p:spPr>
              <a:xfrm>
                <a:off x="1028700" y="5715000"/>
                <a:ext cx="228600" cy="114300"/>
              </a:xfrm>
              <a:custGeom>
                <a:avLst/>
                <a:gdLst/>
                <a:ahLst/>
                <a:cxnLst/>
                <a:rect l="l" t="t" r="r" b="b"/>
                <a:pathLst>
                  <a:path w="228600" h="114300">
                    <a:moveTo>
                      <a:pt x="0" y="114300"/>
                    </a:moveTo>
                    <a:lnTo>
                      <a:pt x="12700" y="114300"/>
                    </a:lnTo>
                    <a:moveTo>
                      <a:pt x="114300" y="0"/>
                    </a:moveTo>
                    <a:lnTo>
                      <a:pt x="114300" y="12700"/>
                    </a:lnTo>
                    <a:moveTo>
                      <a:pt x="215900" y="114300"/>
                    </a:moveTo>
                    <a:lnTo>
                      <a:pt x="228600" y="114300"/>
                    </a:lnTo>
                    <a:moveTo>
                      <a:pt x="33020" y="33020"/>
                    </a:moveTo>
                    <a:lnTo>
                      <a:pt x="41910" y="41910"/>
                    </a:lnTo>
                    <a:moveTo>
                      <a:pt x="195580" y="33020"/>
                    </a:moveTo>
                    <a:lnTo>
                      <a:pt x="186690" y="41910"/>
                    </a:lnTo>
                  </a:path>
                </a:pathLst>
              </a:custGeom>
              <a:noFill/>
              <a:ln w="19050">
                <a:solidFill>
                  <a:srgbClr val="FFFFFF"/>
                </a:solidFill>
              </a:ln>
            </p:spPr>
          </p:sp>
          <p:sp>
            <p:nvSpPr>
              <p:cNvPr id="118" name="Freeform 118"/>
              <p:cNvSpPr/>
              <p:nvPr/>
            </p:nvSpPr>
            <p:spPr>
              <a:xfrm>
                <a:off x="1074115" y="5765800"/>
                <a:ext cx="137769" cy="177800"/>
              </a:xfrm>
              <a:custGeom>
                <a:avLst/>
                <a:gdLst/>
                <a:ahLst/>
                <a:cxnLst/>
                <a:rect l="l" t="t" r="r" b="b"/>
                <a:pathLst>
                  <a:path w="137769" h="177800">
                    <a:moveTo>
                      <a:pt x="30785" y="114300"/>
                    </a:moveTo>
                    <a:cubicBezTo>
                      <a:pt x="8919" y="97901"/>
                      <a:pt x="0" y="69349"/>
                      <a:pt x="8643" y="43420"/>
                    </a:cubicBezTo>
                    <a:cubicBezTo>
                      <a:pt x="17286" y="17490"/>
                      <a:pt x="41552" y="0"/>
                      <a:pt x="68885" y="0"/>
                    </a:cubicBezTo>
                    <a:cubicBezTo>
                      <a:pt x="96217" y="0"/>
                      <a:pt x="120483" y="17490"/>
                      <a:pt x="129126" y="43420"/>
                    </a:cubicBezTo>
                    <a:cubicBezTo>
                      <a:pt x="137769" y="69349"/>
                      <a:pt x="128850" y="97901"/>
                      <a:pt x="106985" y="114300"/>
                    </a:cubicBezTo>
                    <a:cubicBezTo>
                      <a:pt x="96928" y="124255"/>
                      <a:pt x="92212" y="138402"/>
                      <a:pt x="94285" y="152400"/>
                    </a:cubicBezTo>
                    <a:cubicBezTo>
                      <a:pt x="94285" y="166428"/>
                      <a:pt x="82913" y="177800"/>
                      <a:pt x="68885" y="177800"/>
                    </a:cubicBezTo>
                    <a:cubicBezTo>
                      <a:pt x="54857" y="177800"/>
                      <a:pt x="43485" y="166428"/>
                      <a:pt x="43485" y="152400"/>
                    </a:cubicBezTo>
                    <a:cubicBezTo>
                      <a:pt x="45557" y="138402"/>
                      <a:pt x="40841" y="124255"/>
                      <a:pt x="30785" y="114300"/>
                    </a:cubicBezTo>
                  </a:path>
                </a:pathLst>
              </a:custGeom>
              <a:noFill/>
              <a:ln w="19050">
                <a:solidFill>
                  <a:srgbClr val="FFFFFF"/>
                </a:solidFill>
              </a:ln>
            </p:spPr>
          </p:sp>
          <p:sp>
            <p:nvSpPr>
              <p:cNvPr id="119" name="Freeform 119"/>
              <p:cNvSpPr/>
              <p:nvPr/>
            </p:nvSpPr>
            <p:spPr>
              <a:xfrm>
                <a:off x="1113790" y="5892800"/>
                <a:ext cx="58420" cy="9525"/>
              </a:xfrm>
              <a:custGeom>
                <a:avLst/>
                <a:gdLst/>
                <a:ahLst/>
                <a:cxnLst/>
                <a:rect l="l" t="t" r="r" b="b"/>
                <a:pathLst>
                  <a:path w="58420" h="9525">
                    <a:moveTo>
                      <a:pt x="0" y="0"/>
                    </a:moveTo>
                    <a:lnTo>
                      <a:pt x="58420" y="0"/>
                    </a:lnTo>
                  </a:path>
                </a:pathLst>
              </a:custGeom>
              <a:noFill/>
              <a:ln w="19050">
                <a:solidFill>
                  <a:srgbClr val="FFFFFF"/>
                </a:solidFill>
              </a:ln>
            </p:spPr>
          </p:sp>
        </p:grpSp>
        <p:sp>
          <p:nvSpPr>
            <p:cNvPr id="121" name="TextBox 121"/>
            <p:cNvSpPr txBox="1"/>
            <p:nvPr/>
          </p:nvSpPr>
          <p:spPr>
            <a:xfrm>
              <a:off x="1394460" y="5699760"/>
              <a:ext cx="167708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Builder 化 ≠ 专家消失</a:t>
              </a:r>
            </a:p>
          </p:txBody>
        </p:sp>
        <p:sp>
          <p:nvSpPr>
            <p:cNvPr id="122" name="TextBox 122"/>
            <p:cNvSpPr txBox="1"/>
            <p:nvPr/>
          </p:nvSpPr>
          <p:spPr>
            <a:xfrm>
              <a:off x="1396365" y="5944552"/>
              <a:ext cx="8588740"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架构/性能/安全/UX/前端/后端/测试/数据 Expert 仍在,从"审批关口"变成"能力中心",负责定义标准、沉淀资产、建设工具链和质量门禁</a:t>
              </a:r>
            </a:p>
          </p:txBody>
        </p:sp>
        <p:sp>
          <p:nvSpPr>
            <p:cNvPr id="123" name="TextBox 123"/>
            <p:cNvSpPr txBox="1"/>
            <p:nvPr/>
          </p:nvSpPr>
          <p:spPr>
            <a:xfrm>
              <a:off x="8719814" y="5830252"/>
              <a:ext cx="2437771" cy="213360"/>
            </a:xfrm>
            <a:prstGeom prst="rect">
              <a:avLst/>
            </a:prstGeom>
            <a:noFill/>
            <a:ln>
              <a:noFill/>
            </a:ln>
          </p:spPr>
          <p:txBody>
            <a:bodyPr wrap="none" lIns="0" tIns="0" rIns="0" bIns="0" anchor="t" anchorCtr="0">
              <a:spAutoFit/>
            </a:bodyPr>
            <a:lstStyle/>
            <a:p>
              <a:pPr algn="r"/>
              <a:r>
                <a:rPr lang="zh-CN" sz="1050" b="1" dirty="0">
                  <a:solidFill>
                    <a:srgbClr val="FFFFFF"/>
                  </a:solidFill>
                  <a:latin typeface="Arial"/>
                  <a:ea typeface="Microsoft YaHei"/>
                  <a:cs typeface="Arial"/>
                </a:rPr>
                <a:t>Builder 交付闭环 · Expert 能力沉淀</a:t>
              </a:r>
            </a:p>
          </p:txBody>
        </p:sp>
      </p:grpSp>
      <p:grpSp>
        <p:nvGrpSpPr>
          <p:cNvPr id="127" name="Group 127"/>
          <p:cNvGrpSpPr/>
          <p:nvPr/>
        </p:nvGrpSpPr>
        <p:grpSpPr>
          <a:xfrm>
            <a:off x="750570" y="6456045"/>
            <a:ext cx="10689907" cy="182880"/>
            <a:chOff x="750570" y="6456045"/>
            <a:chExt cx="10689907" cy="182880"/>
          </a:xfrm>
        </p:grpSpPr>
        <p:sp>
          <p:nvSpPr>
            <p:cNvPr id="125" name="TextBox 125"/>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第三章 · 组织重塑</a:t>
              </a:r>
            </a:p>
          </p:txBody>
        </p:sp>
        <p:sp>
          <p:nvSpPr>
            <p:cNvPr id="126" name="TextBox 126"/>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11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400"/>
                                        <p:tgtEl>
                                          <p:spTgt spid="3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Bottom)">
                                      <p:cBhvr>
                                        <p:cTn id="19" dur="400"/>
                                        <p:tgtEl>
                                          <p:spTgt spid="55"/>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79"/>
                                        </p:tgtEl>
                                        <p:attrNameLst>
                                          <p:attrName>style.visibility</p:attrName>
                                        </p:attrNameLst>
                                      </p:cBhvr>
                                      <p:to>
                                        <p:strVal val="visible"/>
                                      </p:to>
                                    </p:set>
                                    <p:animEffect transition="in" filter="image">
                                      <p:cBhvr>
                                        <p:cTn id="23" dur="400"/>
                                        <p:tgtEl>
                                          <p:spTgt spid="79"/>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fade">
                                      <p:cBhvr>
                                        <p:cTn id="27" dur="400"/>
                                        <p:tgtEl>
                                          <p:spTgt spid="96"/>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115"/>
                                        </p:tgtEl>
                                        <p:attrNameLst>
                                          <p:attrName>style.visibility</p:attrName>
                                        </p:attrNameLst>
                                      </p:cBhvr>
                                      <p:to>
                                        <p:strVal val="visible"/>
                                      </p:to>
                                    </p:set>
                                    <p:animEffect transition="in" filter="wipe(left)">
                                      <p:cBhvr>
                                        <p:cTn id="31" dur="400"/>
                                        <p:tgtEl>
                                          <p:spTgt spid="115"/>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124"/>
                                        </p:tgtEl>
                                        <p:attrNameLst>
                                          <p:attrName>style.visibility</p:attrName>
                                        </p:attrNameLst>
                                      </p:cBhvr>
                                      <p:to>
                                        <p:strVal val="visible"/>
                                      </p:to>
                                    </p:set>
                                    <p:animEffect transition="in" filter="slide(fromBottom)">
                                      <p:cBhvr>
                                        <p:cTn id="35" dur="4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9" grpId="0"/>
      <p:bldP spid="37" grpId="0"/>
      <p:bldP spid="55" grpId="0"/>
      <p:bldP spid="79" grpId="0"/>
      <p:bldP spid="96" grpId="0"/>
      <p:bldP spid="115" grpId="0"/>
      <p:bldP spid="1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6713272" cy="792956"/>
            <a:chOff x="735330" y="533400"/>
            <a:chExt cx="6713272"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6713272"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新组织 —— FDE 团队、产品团队、平台团队三层协同</a:t>
              </a:r>
            </a:p>
          </p:txBody>
        </p:sp>
        <p:sp>
          <p:nvSpPr>
            <p:cNvPr id="5" name="TextBox 5"/>
            <p:cNvSpPr txBox="1"/>
            <p:nvPr/>
          </p:nvSpPr>
          <p:spPr>
            <a:xfrm>
              <a:off x="747712" y="1097756"/>
              <a:ext cx="4611648"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三层不是上下级审批关系,而是基于资产和智能体协同的能力流动关系</a:t>
              </a:r>
            </a:p>
          </p:txBody>
        </p:sp>
      </p:grpSp>
      <p:grpSp>
        <p:nvGrpSpPr>
          <p:cNvPr id="17" name="Group 17"/>
          <p:cNvGrpSpPr/>
          <p:nvPr/>
        </p:nvGrpSpPr>
        <p:grpSpPr>
          <a:xfrm>
            <a:off x="762000" y="1524000"/>
            <a:ext cx="9525000" cy="1219200"/>
            <a:chOff x="762000" y="1524000"/>
            <a:chExt cx="9525000" cy="1219200"/>
          </a:xfrm>
        </p:grpSpPr>
        <p:sp>
          <p:nvSpPr>
            <p:cNvPr id="7" name="Rectangle 7"/>
            <p:cNvSpPr/>
            <p:nvPr/>
          </p:nvSpPr>
          <p:spPr>
            <a:xfrm>
              <a:off x="762000" y="1524000"/>
              <a:ext cx="9525000" cy="1219200"/>
            </a:xfrm>
            <a:prstGeom prst="roundRect">
              <a:avLst>
                <a:gd name="adj" fmla="val 10938"/>
              </a:avLst>
            </a:prstGeom>
            <a:solidFill>
              <a:srgbClr val="0052A6"/>
            </a:solidFill>
            <a:ln>
              <a:noFill/>
            </a:ln>
          </p:spPr>
        </p:sp>
        <p:sp>
          <p:nvSpPr>
            <p:cNvPr id="8" name="Rectangle 8"/>
            <p:cNvSpPr/>
            <p:nvPr/>
          </p:nvSpPr>
          <p:spPr>
            <a:xfrm>
              <a:off x="762000" y="1524000"/>
              <a:ext cx="57150" cy="1219200"/>
            </a:xfrm>
            <a:prstGeom prst="roundRect">
              <a:avLst>
                <a:gd name="adj" fmla="val 50000"/>
              </a:avLst>
            </a:prstGeom>
            <a:solidFill>
              <a:srgbClr val="DCE6FB"/>
            </a:solidFill>
            <a:ln>
              <a:noFill/>
            </a:ln>
          </p:spPr>
        </p:sp>
        <p:sp>
          <p:nvSpPr>
            <p:cNvPr id="9" name="Freeform 9"/>
            <p:cNvSpPr/>
            <p:nvPr/>
          </p:nvSpPr>
          <p:spPr>
            <a:xfrm>
              <a:off x="1100138" y="1776412"/>
              <a:ext cx="200025" cy="257175"/>
            </a:xfrm>
            <a:custGeom>
              <a:avLst/>
              <a:gdLst/>
              <a:ahLst/>
              <a:cxnLst/>
              <a:rect l="l" t="t" r="r" b="b"/>
              <a:pathLst>
                <a:path w="200025" h="257175">
                  <a:moveTo>
                    <a:pt x="114300" y="0"/>
                  </a:moveTo>
                  <a:lnTo>
                    <a:pt x="114300" y="100012"/>
                  </a:lnTo>
                  <a:lnTo>
                    <a:pt x="200025" y="100012"/>
                  </a:lnTo>
                  <a:lnTo>
                    <a:pt x="85725" y="257175"/>
                  </a:lnTo>
                  <a:lnTo>
                    <a:pt x="85725" y="157162"/>
                  </a:lnTo>
                  <a:lnTo>
                    <a:pt x="0" y="157162"/>
                  </a:lnTo>
                  <a:lnTo>
                    <a:pt x="114300" y="0"/>
                  </a:lnTo>
                </a:path>
              </a:pathLst>
            </a:custGeom>
            <a:noFill/>
            <a:ln w="19050">
              <a:solidFill>
                <a:srgbClr val="FFFFFF"/>
              </a:solidFill>
            </a:ln>
          </p:spPr>
        </p:sp>
        <p:sp>
          <p:nvSpPr>
            <p:cNvPr id="10" name="TextBox 10"/>
            <p:cNvSpPr txBox="1"/>
            <p:nvPr/>
          </p:nvSpPr>
          <p:spPr>
            <a:xfrm>
              <a:off x="1472565" y="1734502"/>
              <a:ext cx="1307830"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第一层 · 前置到业务</a:t>
              </a:r>
            </a:p>
          </p:txBody>
        </p:sp>
        <p:sp>
          <p:nvSpPr>
            <p:cNvPr id="11" name="TextBox 11"/>
            <p:cNvSpPr txBox="1"/>
            <p:nvPr/>
          </p:nvSpPr>
          <p:spPr>
            <a:xfrm>
              <a:off x="1464945" y="1974532"/>
              <a:ext cx="2594779"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FDE 团队(快速交付探索)</a:t>
              </a:r>
            </a:p>
          </p:txBody>
        </p:sp>
        <p:sp>
          <p:nvSpPr>
            <p:cNvPr id="12" name="TextBox 12"/>
            <p:cNvSpPr txBox="1"/>
            <p:nvPr/>
          </p:nvSpPr>
          <p:spPr>
            <a:xfrm>
              <a:off x="1472565" y="2325052"/>
              <a:ext cx="6418469"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3-5 人小队,前置到业务场景,围绕需求澄清 · 快速原型 · 契约驱动开发 · 交付验收 · 价值反馈形成闭环</a:t>
              </a:r>
            </a:p>
          </p:txBody>
        </p:sp>
        <p:sp>
          <p:nvSpPr>
            <p:cNvPr id="13" name="TextBox 13"/>
            <p:cNvSpPr txBox="1"/>
            <p:nvPr/>
          </p:nvSpPr>
          <p:spPr>
            <a:xfrm>
              <a:off x="1473518" y="2542699"/>
              <a:ext cx="5953506"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含 Product/Application/Agent Builder,临时引入 Test/Platform 支持 · 多个小队组成 FDE 领域团队</a:t>
              </a:r>
            </a:p>
          </p:txBody>
        </p:sp>
        <p:grpSp>
          <p:nvGrpSpPr>
            <p:cNvPr id="16" name="Group 16"/>
            <p:cNvGrpSpPr/>
            <p:nvPr/>
          </p:nvGrpSpPr>
          <p:grpSpPr>
            <a:xfrm>
              <a:off x="8572500" y="1752600"/>
              <a:ext cx="1524000" cy="304800"/>
              <a:chOff x="8572500" y="1752600"/>
              <a:chExt cx="1524000" cy="304800"/>
            </a:xfrm>
          </p:grpSpPr>
          <p:sp>
            <p:nvSpPr>
              <p:cNvPr id="14" name="Rectangle 14"/>
              <p:cNvSpPr/>
              <p:nvPr/>
            </p:nvSpPr>
            <p:spPr>
              <a:xfrm>
                <a:off x="8572500" y="1752600"/>
                <a:ext cx="1524000" cy="304800"/>
              </a:xfrm>
              <a:prstGeom prst="roundRect">
                <a:avLst>
                  <a:gd name="adj" fmla="val 50000"/>
                </a:avLst>
              </a:prstGeom>
              <a:solidFill>
                <a:srgbClr val="FFFFFF">
                  <a:alpha val="15000"/>
                </a:srgbClr>
              </a:solidFill>
              <a:ln>
                <a:noFill/>
              </a:ln>
            </p:spPr>
          </p:sp>
          <p:sp>
            <p:nvSpPr>
              <p:cNvPr id="15" name="TextBox 15"/>
              <p:cNvSpPr txBox="1"/>
              <p:nvPr/>
            </p:nvSpPr>
            <p:spPr>
              <a:xfrm>
                <a:off x="8672036" y="1856899"/>
                <a:ext cx="1324928"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让业务变化快速变软件</a:t>
                </a:r>
              </a:p>
            </p:txBody>
          </p:sp>
        </p:grpSp>
      </p:grpSp>
      <p:grpSp>
        <p:nvGrpSpPr>
          <p:cNvPr id="20" name="Group 20"/>
          <p:cNvGrpSpPr/>
          <p:nvPr/>
        </p:nvGrpSpPr>
        <p:grpSpPr>
          <a:xfrm>
            <a:off x="5524500" y="2781300"/>
            <a:ext cx="1207603" cy="230981"/>
            <a:chOff x="5524500" y="2781300"/>
            <a:chExt cx="1207603" cy="230981"/>
          </a:xfrm>
        </p:grpSpPr>
        <p:sp>
          <p:nvSpPr>
            <p:cNvPr id="18" name="Line 18"/>
            <p:cNvSpPr/>
            <p:nvPr/>
          </p:nvSpPr>
          <p:spPr>
            <a:xfrm>
              <a:off x="5524500" y="2781300"/>
              <a:ext cx="1" cy="228600"/>
            </a:xfrm>
            <a:prstGeom prst="line">
              <a:avLst/>
            </a:prstGeom>
            <a:noFill/>
            <a:ln w="19050">
              <a:solidFill>
                <a:srgbClr val="246BFE"/>
              </a:solidFill>
              <a:tailEnd type="triangle" w="lg" len="lg"/>
            </a:ln>
          </p:spPr>
        </p:sp>
        <p:sp>
          <p:nvSpPr>
            <p:cNvPr id="19" name="TextBox 19"/>
            <p:cNvSpPr txBox="1"/>
            <p:nvPr/>
          </p:nvSpPr>
          <p:spPr>
            <a:xfrm>
              <a:off x="5704522" y="2844641"/>
              <a:ext cx="1027581" cy="167640"/>
            </a:xfrm>
            <a:prstGeom prst="rect">
              <a:avLst/>
            </a:prstGeom>
            <a:noFill/>
            <a:ln>
              <a:noFill/>
            </a:ln>
          </p:spPr>
          <p:txBody>
            <a:bodyPr wrap="none" lIns="0" tIns="0" rIns="0" bIns="0" anchor="t" anchorCtr="0">
              <a:spAutoFit/>
            </a:bodyPr>
            <a:lstStyle/>
            <a:p>
              <a:pPr algn="l"/>
              <a:r>
                <a:rPr lang="zh-CN" sz="825" dirty="0">
                  <a:solidFill>
                    <a:srgbClr val="246BFE"/>
                  </a:solidFill>
                  <a:latin typeface="Arial"/>
                  <a:ea typeface="Microsoft YaHei"/>
                  <a:cs typeface="Arial"/>
                </a:rPr>
                <a:t>代码贡献 + 场景经验</a:t>
              </a:r>
            </a:p>
          </p:txBody>
        </p:sp>
      </p:grpSp>
      <p:grpSp>
        <p:nvGrpSpPr>
          <p:cNvPr id="35" name="Group 35"/>
          <p:cNvGrpSpPr/>
          <p:nvPr/>
        </p:nvGrpSpPr>
        <p:grpSpPr>
          <a:xfrm>
            <a:off x="762000" y="3048000"/>
            <a:ext cx="9525000" cy="1219200"/>
            <a:chOff x="762000" y="3048000"/>
            <a:chExt cx="9525000" cy="1219200"/>
          </a:xfrm>
        </p:grpSpPr>
        <p:sp>
          <p:nvSpPr>
            <p:cNvPr id="21" name="Rectangle 21"/>
            <p:cNvSpPr/>
            <p:nvPr/>
          </p:nvSpPr>
          <p:spPr>
            <a:xfrm>
              <a:off x="762000" y="3048000"/>
              <a:ext cx="9525000" cy="1219200"/>
            </a:xfrm>
            <a:prstGeom prst="roundRect">
              <a:avLst>
                <a:gd name="adj" fmla="val 10938"/>
              </a:avLst>
            </a:prstGeom>
            <a:solidFill>
              <a:srgbClr val="246BFE"/>
            </a:solidFill>
            <a:ln>
              <a:noFill/>
            </a:ln>
          </p:spPr>
        </p:sp>
        <p:sp>
          <p:nvSpPr>
            <p:cNvPr id="22" name="Rectangle 22"/>
            <p:cNvSpPr/>
            <p:nvPr/>
          </p:nvSpPr>
          <p:spPr>
            <a:xfrm>
              <a:off x="762000" y="3048000"/>
              <a:ext cx="57150" cy="1219200"/>
            </a:xfrm>
            <a:prstGeom prst="roundRect">
              <a:avLst>
                <a:gd name="adj" fmla="val 50000"/>
              </a:avLst>
            </a:prstGeom>
            <a:solidFill>
              <a:srgbClr val="FFFFFF"/>
            </a:solidFill>
            <a:ln>
              <a:noFill/>
            </a:ln>
          </p:spPr>
        </p:sp>
        <p:grpSp>
          <p:nvGrpSpPr>
            <p:cNvPr id="27" name="Group 27"/>
            <p:cNvGrpSpPr/>
            <p:nvPr/>
          </p:nvGrpSpPr>
          <p:grpSpPr>
            <a:xfrm>
              <a:off x="1085850" y="3314700"/>
              <a:ext cx="228600" cy="228600"/>
              <a:chOff x="1085850" y="3314700"/>
              <a:chExt cx="228600" cy="228600"/>
            </a:xfrm>
          </p:grpSpPr>
          <p:sp>
            <p:nvSpPr>
              <p:cNvPr id="23" name="Freeform 23"/>
              <p:cNvSpPr/>
              <p:nvPr/>
            </p:nvSpPr>
            <p:spPr>
              <a:xfrm>
                <a:off x="1085850" y="3314700"/>
                <a:ext cx="85725" cy="71438"/>
              </a:xfrm>
              <a:custGeom>
                <a:avLst/>
                <a:gdLst/>
                <a:ahLst/>
                <a:cxnLst/>
                <a:rect l="l" t="t" r="r" b="b"/>
                <a:pathLst>
                  <a:path w="85725" h="71438">
                    <a:moveTo>
                      <a:pt x="0" y="28575"/>
                    </a:moveTo>
                    <a:cubicBezTo>
                      <a:pt x="0" y="12793"/>
                      <a:pt x="12793" y="0"/>
                      <a:pt x="28575" y="0"/>
                    </a:cubicBezTo>
                    <a:lnTo>
                      <a:pt x="57150" y="0"/>
                    </a:lnTo>
                    <a:cubicBezTo>
                      <a:pt x="72932" y="0"/>
                      <a:pt x="85725" y="12793"/>
                      <a:pt x="85725" y="28575"/>
                    </a:cubicBezTo>
                    <a:lnTo>
                      <a:pt x="85725" y="42862"/>
                    </a:lnTo>
                    <a:cubicBezTo>
                      <a:pt x="85725" y="58644"/>
                      <a:pt x="72932" y="71438"/>
                      <a:pt x="57150" y="71438"/>
                    </a:cubicBezTo>
                    <a:lnTo>
                      <a:pt x="28575" y="71438"/>
                    </a:lnTo>
                    <a:cubicBezTo>
                      <a:pt x="12793" y="71438"/>
                      <a:pt x="0" y="58644"/>
                      <a:pt x="0" y="42862"/>
                    </a:cubicBezTo>
                    <a:lnTo>
                      <a:pt x="0" y="28575"/>
                    </a:lnTo>
                  </a:path>
                </a:pathLst>
              </a:custGeom>
              <a:noFill/>
              <a:ln w="19050">
                <a:solidFill>
                  <a:srgbClr val="FFFFFF"/>
                </a:solidFill>
              </a:ln>
            </p:spPr>
          </p:sp>
          <p:sp>
            <p:nvSpPr>
              <p:cNvPr id="24" name="Freeform 24"/>
              <p:cNvSpPr/>
              <p:nvPr/>
            </p:nvSpPr>
            <p:spPr>
              <a:xfrm>
                <a:off x="1085850" y="3443288"/>
                <a:ext cx="85725" cy="100012"/>
              </a:xfrm>
              <a:custGeom>
                <a:avLst/>
                <a:gdLst/>
                <a:ahLst/>
                <a:cxnLst/>
                <a:rect l="l" t="t" r="r" b="b"/>
                <a:pathLst>
                  <a:path w="85725" h="100012">
                    <a:moveTo>
                      <a:pt x="0" y="28575"/>
                    </a:moveTo>
                    <a:cubicBezTo>
                      <a:pt x="0" y="12793"/>
                      <a:pt x="12793" y="0"/>
                      <a:pt x="28575" y="0"/>
                    </a:cubicBezTo>
                    <a:lnTo>
                      <a:pt x="57150" y="0"/>
                    </a:lnTo>
                    <a:cubicBezTo>
                      <a:pt x="72932" y="0"/>
                      <a:pt x="85725" y="12793"/>
                      <a:pt x="85725" y="28575"/>
                    </a:cubicBezTo>
                    <a:lnTo>
                      <a:pt x="85725" y="71438"/>
                    </a:lnTo>
                    <a:cubicBezTo>
                      <a:pt x="85725" y="87219"/>
                      <a:pt x="72932" y="100012"/>
                      <a:pt x="57150" y="100012"/>
                    </a:cubicBezTo>
                    <a:lnTo>
                      <a:pt x="28575" y="100012"/>
                    </a:lnTo>
                    <a:cubicBezTo>
                      <a:pt x="12793" y="100012"/>
                      <a:pt x="0" y="87219"/>
                      <a:pt x="0" y="71438"/>
                    </a:cubicBezTo>
                    <a:lnTo>
                      <a:pt x="0" y="28575"/>
                    </a:lnTo>
                  </a:path>
                </a:pathLst>
              </a:custGeom>
              <a:noFill/>
              <a:ln w="19050">
                <a:solidFill>
                  <a:srgbClr val="FFFFFF"/>
                </a:solidFill>
              </a:ln>
            </p:spPr>
          </p:sp>
          <p:sp>
            <p:nvSpPr>
              <p:cNvPr id="25" name="Freeform 25"/>
              <p:cNvSpPr/>
              <p:nvPr/>
            </p:nvSpPr>
            <p:spPr>
              <a:xfrm>
                <a:off x="1228725" y="3314700"/>
                <a:ext cx="85725" cy="100012"/>
              </a:xfrm>
              <a:custGeom>
                <a:avLst/>
                <a:gdLst/>
                <a:ahLst/>
                <a:cxnLst/>
                <a:rect l="l" t="t" r="r" b="b"/>
                <a:pathLst>
                  <a:path w="85725" h="100012">
                    <a:moveTo>
                      <a:pt x="0" y="28575"/>
                    </a:moveTo>
                    <a:cubicBezTo>
                      <a:pt x="0" y="12793"/>
                      <a:pt x="12793" y="0"/>
                      <a:pt x="28575" y="0"/>
                    </a:cubicBezTo>
                    <a:lnTo>
                      <a:pt x="57150" y="0"/>
                    </a:lnTo>
                    <a:cubicBezTo>
                      <a:pt x="72932" y="0"/>
                      <a:pt x="85725" y="12793"/>
                      <a:pt x="85725" y="28575"/>
                    </a:cubicBezTo>
                    <a:lnTo>
                      <a:pt x="85725" y="71438"/>
                    </a:lnTo>
                    <a:cubicBezTo>
                      <a:pt x="85725" y="87219"/>
                      <a:pt x="72932" y="100012"/>
                      <a:pt x="57150" y="100012"/>
                    </a:cubicBezTo>
                    <a:lnTo>
                      <a:pt x="28575" y="100012"/>
                    </a:lnTo>
                    <a:cubicBezTo>
                      <a:pt x="12793" y="100012"/>
                      <a:pt x="0" y="87219"/>
                      <a:pt x="0" y="71438"/>
                    </a:cubicBezTo>
                    <a:lnTo>
                      <a:pt x="0" y="28575"/>
                    </a:lnTo>
                  </a:path>
                </a:pathLst>
              </a:custGeom>
              <a:noFill/>
              <a:ln w="19050">
                <a:solidFill>
                  <a:srgbClr val="FFFFFF"/>
                </a:solidFill>
              </a:ln>
            </p:spPr>
          </p:sp>
          <p:sp>
            <p:nvSpPr>
              <p:cNvPr id="26" name="Freeform 26"/>
              <p:cNvSpPr/>
              <p:nvPr/>
            </p:nvSpPr>
            <p:spPr>
              <a:xfrm>
                <a:off x="1228725" y="3471862"/>
                <a:ext cx="85725" cy="71438"/>
              </a:xfrm>
              <a:custGeom>
                <a:avLst/>
                <a:gdLst/>
                <a:ahLst/>
                <a:cxnLst/>
                <a:rect l="l" t="t" r="r" b="b"/>
                <a:pathLst>
                  <a:path w="85725" h="71438">
                    <a:moveTo>
                      <a:pt x="0" y="28575"/>
                    </a:moveTo>
                    <a:cubicBezTo>
                      <a:pt x="0" y="12793"/>
                      <a:pt x="12793" y="0"/>
                      <a:pt x="28575" y="0"/>
                    </a:cubicBezTo>
                    <a:lnTo>
                      <a:pt x="57150" y="0"/>
                    </a:lnTo>
                    <a:cubicBezTo>
                      <a:pt x="72932" y="0"/>
                      <a:pt x="85725" y="12793"/>
                      <a:pt x="85725" y="28575"/>
                    </a:cubicBezTo>
                    <a:lnTo>
                      <a:pt x="85725" y="42862"/>
                    </a:lnTo>
                    <a:cubicBezTo>
                      <a:pt x="85725" y="58644"/>
                      <a:pt x="72932" y="71438"/>
                      <a:pt x="57150" y="71438"/>
                    </a:cubicBezTo>
                    <a:lnTo>
                      <a:pt x="28575" y="71438"/>
                    </a:lnTo>
                    <a:cubicBezTo>
                      <a:pt x="12793" y="71438"/>
                      <a:pt x="0" y="58644"/>
                      <a:pt x="0" y="42862"/>
                    </a:cubicBezTo>
                    <a:lnTo>
                      <a:pt x="0" y="28575"/>
                    </a:lnTo>
                  </a:path>
                </a:pathLst>
              </a:custGeom>
              <a:noFill/>
              <a:ln w="19050">
                <a:solidFill>
                  <a:srgbClr val="FFFFFF"/>
                </a:solidFill>
              </a:ln>
            </p:spPr>
          </p:sp>
        </p:grpSp>
        <p:sp>
          <p:nvSpPr>
            <p:cNvPr id="28" name="TextBox 28"/>
            <p:cNvSpPr txBox="1"/>
            <p:nvPr/>
          </p:nvSpPr>
          <p:spPr>
            <a:xfrm>
              <a:off x="1472565" y="3258502"/>
              <a:ext cx="1447848"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第二层 · 面向业务应用</a:t>
              </a:r>
            </a:p>
          </p:txBody>
        </p:sp>
        <p:sp>
          <p:nvSpPr>
            <p:cNvPr id="29" name="TextBox 29"/>
            <p:cNvSpPr txBox="1"/>
            <p:nvPr/>
          </p:nvSpPr>
          <p:spPr>
            <a:xfrm>
              <a:off x="1464945" y="3498532"/>
              <a:ext cx="3565100"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产品团队(产品化沉淀 · 复审熵减)</a:t>
              </a:r>
            </a:p>
          </p:txBody>
        </p:sp>
        <p:sp>
          <p:nvSpPr>
            <p:cNvPr id="30" name="TextBox 30"/>
            <p:cNvSpPr txBox="1"/>
            <p:nvPr/>
          </p:nvSpPr>
          <p:spPr>
            <a:xfrm>
              <a:off x="1472565" y="3849052"/>
              <a:ext cx="5613368"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负责产品架构 · 复杂共性需求 · 代码复审 · 重构优化 · 技术债治理 · 测试强化 · 版本发布</a:t>
              </a:r>
            </a:p>
          </p:txBody>
        </p:sp>
        <p:sp>
          <p:nvSpPr>
            <p:cNvPr id="31" name="TextBox 31"/>
            <p:cNvSpPr txBox="1"/>
            <p:nvPr/>
          </p:nvSpPr>
          <p:spPr>
            <a:xfrm>
              <a:off x="1473518" y="4066699"/>
              <a:ext cx="5829991"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FDE 的快速修改不能停留在局部最优 → 产品团队复审、吸收、重构、熵减,把一线创新沉淀为产品能力</a:t>
              </a:r>
            </a:p>
          </p:txBody>
        </p:sp>
        <p:grpSp>
          <p:nvGrpSpPr>
            <p:cNvPr id="34" name="Group 34"/>
            <p:cNvGrpSpPr/>
            <p:nvPr/>
          </p:nvGrpSpPr>
          <p:grpSpPr>
            <a:xfrm>
              <a:off x="8572500" y="3276600"/>
              <a:ext cx="1524000" cy="304800"/>
              <a:chOff x="8572500" y="3276600"/>
              <a:chExt cx="1524000" cy="304800"/>
            </a:xfrm>
          </p:grpSpPr>
          <p:sp>
            <p:nvSpPr>
              <p:cNvPr id="32" name="Rectangle 32"/>
              <p:cNvSpPr/>
              <p:nvPr/>
            </p:nvSpPr>
            <p:spPr>
              <a:xfrm>
                <a:off x="8572500" y="3276600"/>
                <a:ext cx="1524000" cy="304800"/>
              </a:xfrm>
              <a:prstGeom prst="roundRect">
                <a:avLst>
                  <a:gd name="adj" fmla="val 50000"/>
                </a:avLst>
              </a:prstGeom>
              <a:solidFill>
                <a:srgbClr val="FFFFFF">
                  <a:alpha val="15000"/>
                </a:srgbClr>
              </a:solidFill>
              <a:ln>
                <a:noFill/>
              </a:ln>
            </p:spPr>
          </p:sp>
          <p:sp>
            <p:nvSpPr>
              <p:cNvPr id="33" name="TextBox 33"/>
              <p:cNvSpPr txBox="1"/>
              <p:nvPr/>
            </p:nvSpPr>
            <p:spPr>
              <a:xfrm>
                <a:off x="8802052" y="3380899"/>
                <a:ext cx="1064895"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承担产品长期健康</a:t>
                </a:r>
              </a:p>
            </p:txBody>
          </p:sp>
        </p:grpSp>
      </p:grpSp>
      <p:grpSp>
        <p:nvGrpSpPr>
          <p:cNvPr id="38" name="Group 38"/>
          <p:cNvGrpSpPr/>
          <p:nvPr/>
        </p:nvGrpSpPr>
        <p:grpSpPr>
          <a:xfrm>
            <a:off x="5524500" y="4305300"/>
            <a:ext cx="1207603" cy="230981"/>
            <a:chOff x="5524500" y="4305300"/>
            <a:chExt cx="1207603" cy="230981"/>
          </a:xfrm>
        </p:grpSpPr>
        <p:sp>
          <p:nvSpPr>
            <p:cNvPr id="36" name="Line 36"/>
            <p:cNvSpPr/>
            <p:nvPr/>
          </p:nvSpPr>
          <p:spPr>
            <a:xfrm>
              <a:off x="5524500" y="4305300"/>
              <a:ext cx="1" cy="228600"/>
            </a:xfrm>
            <a:prstGeom prst="line">
              <a:avLst/>
            </a:prstGeom>
            <a:noFill/>
            <a:ln w="19050">
              <a:solidFill>
                <a:srgbClr val="246BFE"/>
              </a:solidFill>
              <a:tailEnd type="triangle" w="lg" len="lg"/>
            </a:ln>
          </p:spPr>
        </p:sp>
        <p:sp>
          <p:nvSpPr>
            <p:cNvPr id="37" name="TextBox 37"/>
            <p:cNvSpPr txBox="1"/>
            <p:nvPr/>
          </p:nvSpPr>
          <p:spPr>
            <a:xfrm>
              <a:off x="5704522" y="4368641"/>
              <a:ext cx="1027581" cy="167640"/>
            </a:xfrm>
            <a:prstGeom prst="rect">
              <a:avLst/>
            </a:prstGeom>
            <a:noFill/>
            <a:ln>
              <a:noFill/>
            </a:ln>
          </p:spPr>
          <p:txBody>
            <a:bodyPr wrap="none" lIns="0" tIns="0" rIns="0" bIns="0" anchor="t" anchorCtr="0">
              <a:spAutoFit/>
            </a:bodyPr>
            <a:lstStyle/>
            <a:p>
              <a:pPr algn="l"/>
              <a:r>
                <a:rPr lang="zh-CN" sz="825" dirty="0">
                  <a:solidFill>
                    <a:srgbClr val="246BFE"/>
                  </a:solidFill>
                  <a:latin typeface="Arial"/>
                  <a:ea typeface="Microsoft YaHei"/>
                  <a:cs typeface="Arial"/>
                </a:rPr>
                <a:t>共性能力 + 平台改动</a:t>
              </a:r>
            </a:p>
          </p:txBody>
        </p:sp>
      </p:grpSp>
      <p:grpSp>
        <p:nvGrpSpPr>
          <p:cNvPr id="53" name="Group 53"/>
          <p:cNvGrpSpPr/>
          <p:nvPr/>
        </p:nvGrpSpPr>
        <p:grpSpPr>
          <a:xfrm>
            <a:off x="762000" y="4572000"/>
            <a:ext cx="9525000" cy="1219200"/>
            <a:chOff x="762000" y="4572000"/>
            <a:chExt cx="9525000" cy="1219200"/>
          </a:xfrm>
        </p:grpSpPr>
        <p:sp>
          <p:nvSpPr>
            <p:cNvPr id="39" name="Rectangle 39"/>
            <p:cNvSpPr/>
            <p:nvPr/>
          </p:nvSpPr>
          <p:spPr>
            <a:xfrm>
              <a:off x="762000" y="4572000"/>
              <a:ext cx="9525000" cy="1219200"/>
            </a:xfrm>
            <a:prstGeom prst="roundRect">
              <a:avLst>
                <a:gd name="adj" fmla="val 10938"/>
              </a:avLst>
            </a:prstGeom>
            <a:solidFill>
              <a:srgbClr val="518FEC"/>
            </a:solidFill>
            <a:ln>
              <a:noFill/>
            </a:ln>
          </p:spPr>
        </p:sp>
        <p:sp>
          <p:nvSpPr>
            <p:cNvPr id="40" name="Rectangle 40"/>
            <p:cNvSpPr/>
            <p:nvPr/>
          </p:nvSpPr>
          <p:spPr>
            <a:xfrm>
              <a:off x="762000" y="4572000"/>
              <a:ext cx="57150" cy="1219200"/>
            </a:xfrm>
            <a:prstGeom prst="roundRect">
              <a:avLst>
                <a:gd name="adj" fmla="val 50000"/>
              </a:avLst>
            </a:prstGeom>
            <a:solidFill>
              <a:srgbClr val="FFFFFF"/>
            </a:solidFill>
            <a:ln>
              <a:noFill/>
            </a:ln>
          </p:spPr>
        </p:sp>
        <p:grpSp>
          <p:nvGrpSpPr>
            <p:cNvPr id="45" name="Group 45"/>
            <p:cNvGrpSpPr/>
            <p:nvPr/>
          </p:nvGrpSpPr>
          <p:grpSpPr>
            <a:xfrm>
              <a:off x="1071562" y="4838700"/>
              <a:ext cx="257175" cy="228600"/>
              <a:chOff x="1071562" y="4838700"/>
              <a:chExt cx="257175" cy="228600"/>
            </a:xfrm>
          </p:grpSpPr>
          <p:sp>
            <p:nvSpPr>
              <p:cNvPr id="41" name="Freeform 41"/>
              <p:cNvSpPr/>
              <p:nvPr/>
            </p:nvSpPr>
            <p:spPr>
              <a:xfrm>
                <a:off x="1071562" y="4838700"/>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path>
                </a:pathLst>
              </a:custGeom>
              <a:noFill/>
              <a:ln w="19050">
                <a:solidFill>
                  <a:srgbClr val="FFFFFF"/>
                </a:solidFill>
              </a:ln>
            </p:spPr>
          </p:sp>
          <p:sp>
            <p:nvSpPr>
              <p:cNvPr id="42" name="Freeform 42"/>
              <p:cNvSpPr/>
              <p:nvPr/>
            </p:nvSpPr>
            <p:spPr>
              <a:xfrm>
                <a:off x="1071562" y="4953000"/>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lnTo>
                      <a:pt x="0" y="42862"/>
                    </a:lnTo>
                  </a:path>
                </a:pathLst>
              </a:custGeom>
              <a:noFill/>
              <a:ln w="19050">
                <a:solidFill>
                  <a:srgbClr val="FFFFFF"/>
                </a:solidFill>
              </a:ln>
            </p:spPr>
          </p:sp>
          <p:sp>
            <p:nvSpPr>
              <p:cNvPr id="43" name="Freeform 43"/>
              <p:cNvSpPr/>
              <p:nvPr/>
            </p:nvSpPr>
            <p:spPr>
              <a:xfrm>
                <a:off x="1128712" y="4895850"/>
                <a:ext cx="9525" cy="9525"/>
              </a:xfrm>
              <a:custGeom>
                <a:avLst/>
                <a:gdLst/>
                <a:ahLst/>
                <a:cxnLst/>
                <a:rect l="l" t="t" r="r" b="b"/>
                <a:pathLst>
                  <a:path w="9525" h="9525">
                    <a:moveTo>
                      <a:pt x="0" y="0"/>
                    </a:moveTo>
                    <a:lnTo>
                      <a:pt x="0" y="143"/>
                    </a:lnTo>
                  </a:path>
                </a:pathLst>
              </a:custGeom>
              <a:noFill/>
              <a:ln w="19050">
                <a:solidFill>
                  <a:srgbClr val="FFFFFF"/>
                </a:solidFill>
              </a:ln>
            </p:spPr>
          </p:sp>
          <p:sp>
            <p:nvSpPr>
              <p:cNvPr id="44" name="Freeform 44"/>
              <p:cNvSpPr/>
              <p:nvPr/>
            </p:nvSpPr>
            <p:spPr>
              <a:xfrm>
                <a:off x="1128712" y="5010150"/>
                <a:ext cx="9525" cy="9525"/>
              </a:xfrm>
              <a:custGeom>
                <a:avLst/>
                <a:gdLst/>
                <a:ahLst/>
                <a:cxnLst/>
                <a:rect l="l" t="t" r="r" b="b"/>
                <a:pathLst>
                  <a:path w="9525" h="9525">
                    <a:moveTo>
                      <a:pt x="0" y="0"/>
                    </a:moveTo>
                    <a:lnTo>
                      <a:pt x="0" y="143"/>
                    </a:lnTo>
                  </a:path>
                </a:pathLst>
              </a:custGeom>
              <a:noFill/>
              <a:ln w="19050">
                <a:solidFill>
                  <a:srgbClr val="FFFFFF"/>
                </a:solidFill>
              </a:ln>
            </p:spPr>
          </p:sp>
        </p:grpSp>
        <p:sp>
          <p:nvSpPr>
            <p:cNvPr id="46" name="TextBox 46"/>
            <p:cNvSpPr txBox="1"/>
            <p:nvPr/>
          </p:nvSpPr>
          <p:spPr>
            <a:xfrm>
              <a:off x="1472565" y="4782502"/>
              <a:ext cx="1447848"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第三层 · 提供底座能力</a:t>
              </a:r>
            </a:p>
          </p:txBody>
        </p:sp>
        <p:sp>
          <p:nvSpPr>
            <p:cNvPr id="47" name="TextBox 47"/>
            <p:cNvSpPr txBox="1"/>
            <p:nvPr/>
          </p:nvSpPr>
          <p:spPr>
            <a:xfrm>
              <a:off x="1464945" y="5022532"/>
              <a:ext cx="3796129"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平台团队(底座化沉淀 · 组织级复用)</a:t>
              </a:r>
            </a:p>
          </p:txBody>
        </p:sp>
        <p:sp>
          <p:nvSpPr>
            <p:cNvPr id="48" name="TextBox 48"/>
            <p:cNvSpPr txBox="1"/>
            <p:nvPr/>
          </p:nvSpPr>
          <p:spPr>
            <a:xfrm>
              <a:off x="1472565" y="5373052"/>
              <a:ext cx="6089428"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AI 平台 · 数据平台 · 知识平台 · 应用平台 · 工程平台,以工具、接口、Skill、规则、服务方式提供</a:t>
              </a:r>
            </a:p>
          </p:txBody>
        </p:sp>
        <p:sp>
          <p:nvSpPr>
            <p:cNvPr id="49" name="TextBox 49"/>
            <p:cNvSpPr txBox="1"/>
            <p:nvPr/>
          </p:nvSpPr>
          <p:spPr>
            <a:xfrm>
              <a:off x="1473518" y="5590699"/>
              <a:ext cx="5316426"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多个小队组成,围绕一类平台能力持续演进 · 让组织不必在每个产品、每个小队重复建设底层</a:t>
              </a:r>
            </a:p>
          </p:txBody>
        </p:sp>
        <p:grpSp>
          <p:nvGrpSpPr>
            <p:cNvPr id="52" name="Group 52"/>
            <p:cNvGrpSpPr/>
            <p:nvPr/>
          </p:nvGrpSpPr>
          <p:grpSpPr>
            <a:xfrm>
              <a:off x="8572500" y="4800600"/>
              <a:ext cx="1524000" cy="304800"/>
              <a:chOff x="8572500" y="4800600"/>
              <a:chExt cx="1524000" cy="304800"/>
            </a:xfrm>
          </p:grpSpPr>
          <p:sp>
            <p:nvSpPr>
              <p:cNvPr id="50" name="Rectangle 50"/>
              <p:cNvSpPr/>
              <p:nvPr/>
            </p:nvSpPr>
            <p:spPr>
              <a:xfrm>
                <a:off x="8572500" y="4800600"/>
                <a:ext cx="1524000" cy="304800"/>
              </a:xfrm>
              <a:prstGeom prst="roundRect">
                <a:avLst>
                  <a:gd name="adj" fmla="val 50000"/>
                </a:avLst>
              </a:prstGeom>
              <a:solidFill>
                <a:srgbClr val="FFFFFF">
                  <a:alpha val="20000"/>
                </a:srgbClr>
              </a:solidFill>
              <a:ln>
                <a:noFill/>
              </a:ln>
            </p:spPr>
          </p:sp>
          <p:sp>
            <p:nvSpPr>
              <p:cNvPr id="51" name="TextBox 51"/>
              <p:cNvSpPr txBox="1"/>
              <p:nvPr/>
            </p:nvSpPr>
            <p:spPr>
              <a:xfrm>
                <a:off x="8867061" y="4904899"/>
                <a:ext cx="934879"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组织级能力复用</a:t>
                </a:r>
              </a:p>
            </p:txBody>
          </p:sp>
        </p:grpSp>
      </p:grpSp>
      <p:grpSp>
        <p:nvGrpSpPr>
          <p:cNvPr id="64" name="Group 64"/>
          <p:cNvGrpSpPr/>
          <p:nvPr/>
        </p:nvGrpSpPr>
        <p:grpSpPr>
          <a:xfrm>
            <a:off x="10477500" y="1524000"/>
            <a:ext cx="952500" cy="4267200"/>
            <a:chOff x="10477500" y="1524000"/>
            <a:chExt cx="952500" cy="4267200"/>
          </a:xfrm>
        </p:grpSpPr>
        <p:sp>
          <p:nvSpPr>
            <p:cNvPr id="54" name="Rectangle 54"/>
            <p:cNvSpPr/>
            <p:nvPr/>
          </p:nvSpPr>
          <p:spPr>
            <a:xfrm>
              <a:off x="10477500" y="1524000"/>
              <a:ext cx="952500" cy="4267200"/>
            </a:xfrm>
            <a:prstGeom prst="roundRect">
              <a:avLst>
                <a:gd name="adj" fmla="val 14000"/>
              </a:avLst>
            </a:prstGeom>
            <a:solidFill>
              <a:srgbClr val="F4F7FC"/>
            </a:solidFill>
            <a:ln>
              <a:noFill/>
            </a:ln>
          </p:spPr>
        </p:sp>
        <p:sp>
          <p:nvSpPr>
            <p:cNvPr id="55" name="TextBox 55"/>
            <p:cNvSpPr txBox="1"/>
            <p:nvPr/>
          </p:nvSpPr>
          <p:spPr>
            <a:xfrm>
              <a:off x="10746831" y="1799749"/>
              <a:ext cx="413839" cy="198120"/>
            </a:xfrm>
            <a:prstGeom prst="rect">
              <a:avLst/>
            </a:prstGeom>
            <a:noFill/>
            <a:ln>
              <a:noFill/>
            </a:ln>
          </p:spPr>
          <p:txBody>
            <a:bodyPr wrap="none" lIns="0" tIns="0" rIns="0" bIns="0" anchor="t" anchorCtr="0">
              <a:spAutoFit/>
            </a:bodyPr>
            <a:lstStyle/>
            <a:p>
              <a:pPr algn="ctr"/>
              <a:r>
                <a:rPr lang="zh-CN" sz="975" b="1" dirty="0">
                  <a:solidFill>
                    <a:srgbClr val="246BFE"/>
                  </a:solidFill>
                  <a:latin typeface="Arial"/>
                  <a:ea typeface="Microsoft YaHei"/>
                  <a:cs typeface="Arial"/>
                </a:rPr>
                <a:t>↓ 沉淀</a:t>
              </a:r>
            </a:p>
          </p:txBody>
        </p:sp>
        <p:sp>
          <p:nvSpPr>
            <p:cNvPr id="56" name="Line 56"/>
            <p:cNvSpPr/>
            <p:nvPr/>
          </p:nvSpPr>
          <p:spPr>
            <a:xfrm>
              <a:off x="10858500" y="3524250"/>
              <a:ext cx="190500" cy="9525"/>
            </a:xfrm>
            <a:custGeom>
              <a:avLst/>
              <a:gdLst/>
              <a:ahLst/>
              <a:cxnLst/>
              <a:rect l="l" t="t" r="r" b="b"/>
              <a:pathLst>
                <a:path w="190500" h="9525">
                  <a:moveTo>
                    <a:pt x="0" y="0"/>
                  </a:moveTo>
                  <a:lnTo>
                    <a:pt x="190500" y="0"/>
                  </a:lnTo>
                </a:path>
              </a:pathLst>
            </a:custGeom>
            <a:noFill/>
            <a:ln w="9525">
              <a:solidFill>
                <a:srgbClr val="E3E9F2"/>
              </a:solidFill>
            </a:ln>
          </p:spPr>
        </p:sp>
        <p:sp>
          <p:nvSpPr>
            <p:cNvPr id="57" name="TextBox 57"/>
            <p:cNvSpPr txBox="1"/>
            <p:nvPr/>
          </p:nvSpPr>
          <p:spPr>
            <a:xfrm>
              <a:off x="10723245" y="3682841"/>
              <a:ext cx="461010"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一线变化</a:t>
              </a:r>
            </a:p>
          </p:txBody>
        </p:sp>
        <p:sp>
          <p:nvSpPr>
            <p:cNvPr id="58" name="TextBox 58"/>
            <p:cNvSpPr txBox="1"/>
            <p:nvPr/>
          </p:nvSpPr>
          <p:spPr>
            <a:xfrm>
              <a:off x="10676489" y="3854291"/>
              <a:ext cx="554522"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 产品能力</a:t>
              </a:r>
            </a:p>
          </p:txBody>
        </p:sp>
        <p:sp>
          <p:nvSpPr>
            <p:cNvPr id="59" name="TextBox 59"/>
            <p:cNvSpPr txBox="1"/>
            <p:nvPr/>
          </p:nvSpPr>
          <p:spPr>
            <a:xfrm>
              <a:off x="10676489" y="4025741"/>
              <a:ext cx="554522"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 平台能力</a:t>
              </a:r>
            </a:p>
          </p:txBody>
        </p:sp>
        <p:sp>
          <p:nvSpPr>
            <p:cNvPr id="60" name="Line 60"/>
            <p:cNvSpPr/>
            <p:nvPr/>
          </p:nvSpPr>
          <p:spPr>
            <a:xfrm>
              <a:off x="10858500" y="4476750"/>
              <a:ext cx="190500" cy="9525"/>
            </a:xfrm>
            <a:custGeom>
              <a:avLst/>
              <a:gdLst/>
              <a:ahLst/>
              <a:cxnLst/>
              <a:rect l="l" t="t" r="r" b="b"/>
              <a:pathLst>
                <a:path w="190500" h="9525">
                  <a:moveTo>
                    <a:pt x="0" y="0"/>
                  </a:moveTo>
                  <a:lnTo>
                    <a:pt x="190500" y="0"/>
                  </a:lnTo>
                </a:path>
              </a:pathLst>
            </a:custGeom>
            <a:noFill/>
            <a:ln w="9525">
              <a:solidFill>
                <a:srgbClr val="E3E9F2"/>
              </a:solidFill>
            </a:ln>
          </p:spPr>
        </p:sp>
        <p:sp>
          <p:nvSpPr>
            <p:cNvPr id="61" name="TextBox 61"/>
            <p:cNvSpPr txBox="1"/>
            <p:nvPr/>
          </p:nvSpPr>
          <p:spPr>
            <a:xfrm>
              <a:off x="10746831" y="5038249"/>
              <a:ext cx="413839" cy="198120"/>
            </a:xfrm>
            <a:prstGeom prst="rect">
              <a:avLst/>
            </a:prstGeom>
            <a:noFill/>
            <a:ln>
              <a:noFill/>
            </a:ln>
          </p:spPr>
          <p:txBody>
            <a:bodyPr wrap="none" lIns="0" tIns="0" rIns="0" bIns="0" anchor="t" anchorCtr="0">
              <a:spAutoFit/>
            </a:bodyPr>
            <a:lstStyle/>
            <a:p>
              <a:pPr algn="ctr"/>
              <a:r>
                <a:rPr lang="zh-CN" sz="975" b="1" dirty="0">
                  <a:solidFill>
                    <a:srgbClr val="0E9F6E"/>
                  </a:solidFill>
                  <a:latin typeface="Arial"/>
                  <a:ea typeface="Microsoft YaHei"/>
                  <a:cs typeface="Arial"/>
                </a:rPr>
                <a:t>↑ 反哺</a:t>
              </a:r>
            </a:p>
          </p:txBody>
        </p:sp>
        <p:sp>
          <p:nvSpPr>
            <p:cNvPr id="62" name="TextBox 62"/>
            <p:cNvSpPr txBox="1"/>
            <p:nvPr/>
          </p:nvSpPr>
          <p:spPr>
            <a:xfrm>
              <a:off x="10613231" y="5302091"/>
              <a:ext cx="681038"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平台推回产品</a:t>
              </a:r>
            </a:p>
          </p:txBody>
        </p:sp>
        <p:sp>
          <p:nvSpPr>
            <p:cNvPr id="63" name="TextBox 63"/>
            <p:cNvSpPr txBox="1"/>
            <p:nvPr/>
          </p:nvSpPr>
          <p:spPr>
            <a:xfrm>
              <a:off x="10613231" y="5473541"/>
              <a:ext cx="681038"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产品推回一线</a:t>
              </a:r>
            </a:p>
          </p:txBody>
        </p:sp>
      </p:grpSp>
      <p:grpSp>
        <p:nvGrpSpPr>
          <p:cNvPr id="67" name="Group 67"/>
          <p:cNvGrpSpPr/>
          <p:nvPr/>
        </p:nvGrpSpPr>
        <p:grpSpPr>
          <a:xfrm>
            <a:off x="750570" y="6456045"/>
            <a:ext cx="10689907" cy="182880"/>
            <a:chOff x="750570" y="6456045"/>
            <a:chExt cx="10689907" cy="182880"/>
          </a:xfrm>
        </p:grpSpPr>
        <p:sp>
          <p:nvSpPr>
            <p:cNvPr id="65" name="TextBox 65"/>
            <p:cNvSpPr txBox="1"/>
            <p:nvPr/>
          </p:nvSpPr>
          <p:spPr>
            <a:xfrm>
              <a:off x="750570" y="6456045"/>
              <a:ext cx="403736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第三章 · 组织重塑 · FDE 是把"个人提效"转化为"组织系统提效"的组织载体</a:t>
              </a:r>
            </a:p>
          </p:txBody>
        </p:sp>
        <p:sp>
          <p:nvSpPr>
            <p:cNvPr id="66" name="TextBox 66"/>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12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400"/>
                                        <p:tgtEl>
                                          <p:spTgt spid="2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slide(fromBottom)">
                                      <p:cBhvr>
                                        <p:cTn id="19" dur="400"/>
                                        <p:tgtEl>
                                          <p:spTgt spid="35"/>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image">
                                      <p:cBhvr>
                                        <p:cTn id="23" dur="400"/>
                                        <p:tgtEl>
                                          <p:spTgt spid="38"/>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400"/>
                                        <p:tgtEl>
                                          <p:spTgt spid="53"/>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wipe(left)">
                                      <p:cBhvr>
                                        <p:cTn id="31"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20" grpId="0"/>
      <p:bldP spid="35" grpId="0"/>
      <p:bldP spid="38" grpId="0"/>
      <p:bldP spid="53" grpId="0"/>
      <p:bldP spid="6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6595658" cy="792956"/>
            <a:chOff x="735330" y="533400"/>
            <a:chExt cx="6595658"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6595658"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新流程 —— 代码和能力在三层间流动,内部开源机制</a:t>
              </a:r>
            </a:p>
          </p:txBody>
        </p:sp>
        <p:sp>
          <p:nvSpPr>
            <p:cNvPr id="5" name="TextBox 5"/>
            <p:cNvSpPr txBox="1"/>
            <p:nvPr/>
          </p:nvSpPr>
          <p:spPr>
            <a:xfrm>
              <a:off x="747712" y="1097756"/>
              <a:ext cx="5406747"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流程的关键不是"谁先批准",而是"谁能快速贡献,谁来持续熵减,谁负责稳定复用"</a:t>
              </a:r>
            </a:p>
          </p:txBody>
        </p:sp>
      </p:grpSp>
      <p:grpSp>
        <p:nvGrpSpPr>
          <p:cNvPr id="13" name="Group 13"/>
          <p:cNvGrpSpPr/>
          <p:nvPr/>
        </p:nvGrpSpPr>
        <p:grpSpPr>
          <a:xfrm>
            <a:off x="762000" y="1524000"/>
            <a:ext cx="9525000" cy="952500"/>
            <a:chOff x="762000" y="1524000"/>
            <a:chExt cx="9525000" cy="952500"/>
          </a:xfrm>
        </p:grpSpPr>
        <p:sp>
          <p:nvSpPr>
            <p:cNvPr id="7" name="Rectangle 7"/>
            <p:cNvSpPr/>
            <p:nvPr/>
          </p:nvSpPr>
          <p:spPr>
            <a:xfrm>
              <a:off x="762000" y="1524000"/>
              <a:ext cx="9525000" cy="952500"/>
            </a:xfrm>
            <a:prstGeom prst="roundRect">
              <a:avLst>
                <a:gd name="adj" fmla="val 14000"/>
              </a:avLst>
            </a:prstGeom>
            <a:solidFill>
              <a:srgbClr val="F4F7FC"/>
            </a:solidFill>
            <a:ln>
              <a:noFill/>
            </a:ln>
          </p:spPr>
        </p:sp>
        <p:sp>
          <p:nvSpPr>
            <p:cNvPr id="8" name="Rectangle 8"/>
            <p:cNvSpPr/>
            <p:nvPr/>
          </p:nvSpPr>
          <p:spPr>
            <a:xfrm>
              <a:off x="762000" y="1524000"/>
              <a:ext cx="57150" cy="952500"/>
            </a:xfrm>
            <a:prstGeom prst="roundRect">
              <a:avLst>
                <a:gd name="adj" fmla="val 50000"/>
              </a:avLst>
            </a:prstGeom>
            <a:solidFill>
              <a:srgbClr val="0052A6"/>
            </a:solidFill>
            <a:ln>
              <a:noFill/>
            </a:ln>
          </p:spPr>
        </p:sp>
        <p:sp>
          <p:nvSpPr>
            <p:cNvPr id="9" name="Freeform 9"/>
            <p:cNvSpPr/>
            <p:nvPr/>
          </p:nvSpPr>
          <p:spPr>
            <a:xfrm>
              <a:off x="1069181" y="1750219"/>
              <a:ext cx="166688" cy="214312"/>
            </a:xfrm>
            <a:custGeom>
              <a:avLst/>
              <a:gdLst/>
              <a:ahLst/>
              <a:cxnLst/>
              <a:rect l="l" t="t" r="r" b="b"/>
              <a:pathLst>
                <a:path w="166688" h="214312">
                  <a:moveTo>
                    <a:pt x="95250" y="0"/>
                  </a:moveTo>
                  <a:lnTo>
                    <a:pt x="95250" y="83344"/>
                  </a:lnTo>
                  <a:lnTo>
                    <a:pt x="166688" y="83344"/>
                  </a:lnTo>
                  <a:lnTo>
                    <a:pt x="71438" y="214312"/>
                  </a:lnTo>
                  <a:lnTo>
                    <a:pt x="71438" y="130969"/>
                  </a:lnTo>
                  <a:lnTo>
                    <a:pt x="0" y="130969"/>
                  </a:lnTo>
                  <a:lnTo>
                    <a:pt x="95250" y="0"/>
                  </a:lnTo>
                </a:path>
              </a:pathLst>
            </a:custGeom>
            <a:noFill/>
            <a:ln w="19050">
              <a:solidFill>
                <a:srgbClr val="0052A6"/>
              </a:solidFill>
            </a:ln>
          </p:spPr>
        </p:sp>
        <p:sp>
          <p:nvSpPr>
            <p:cNvPr id="10" name="TextBox 10"/>
            <p:cNvSpPr txBox="1"/>
            <p:nvPr/>
          </p:nvSpPr>
          <p:spPr>
            <a:xfrm>
              <a:off x="1377315" y="1715452"/>
              <a:ext cx="579739" cy="213360"/>
            </a:xfrm>
            <a:prstGeom prst="rect">
              <a:avLst/>
            </a:prstGeom>
            <a:noFill/>
            <a:ln>
              <a:noFill/>
            </a:ln>
          </p:spPr>
          <p:txBody>
            <a:bodyPr wrap="none" lIns="0" tIns="0" rIns="0" bIns="0" anchor="t" anchorCtr="0">
              <a:spAutoFit/>
            </a:bodyPr>
            <a:lstStyle/>
            <a:p>
              <a:pPr algn="l"/>
              <a:r>
                <a:rPr lang="zh-CN" sz="1050" dirty="0">
                  <a:solidFill>
                    <a:srgbClr val="6B7785"/>
                  </a:solidFill>
                  <a:latin typeface="Arial"/>
                  <a:ea typeface="Microsoft YaHei"/>
                  <a:cs typeface="Arial"/>
                </a:rPr>
                <a:t>FDE 团队</a:t>
              </a:r>
            </a:p>
          </p:txBody>
        </p:sp>
        <p:sp>
          <p:nvSpPr>
            <p:cNvPr id="11" name="TextBox 11"/>
            <p:cNvSpPr txBox="1"/>
            <p:nvPr/>
          </p:nvSpPr>
          <p:spPr>
            <a:xfrm>
              <a:off x="1373505" y="1949768"/>
              <a:ext cx="3947079" cy="274320"/>
            </a:xfrm>
            <a:prstGeom prst="rect">
              <a:avLst/>
            </a:prstGeom>
            <a:noFill/>
            <a:ln>
              <a:noFill/>
            </a:ln>
          </p:spPr>
          <p:txBody>
            <a:bodyPr wrap="none" lIns="0" tIns="0" rIns="0" bIns="0" anchor="t" anchorCtr="0">
              <a:spAutoFit/>
            </a:bodyPr>
            <a:lstStyle/>
            <a:p>
              <a:pPr algn="l"/>
              <a:r>
                <a:rPr lang="zh-CN" sz="1350" b="1" dirty="0">
                  <a:solidFill>
                    <a:srgbClr val="0052A6"/>
                  </a:solidFill>
                  <a:latin typeface="Arial"/>
                  <a:ea typeface="Microsoft YaHei"/>
                  <a:cs typeface="Arial"/>
                </a:rPr>
                <a:t>快速探索 · 直接改产品代码,必要时改平台代码</a:t>
              </a:r>
            </a:p>
          </p:txBody>
        </p:sp>
        <p:sp>
          <p:nvSpPr>
            <p:cNvPr id="12" name="TextBox 12"/>
            <p:cNvSpPr txBox="1"/>
            <p:nvPr/>
          </p:nvSpPr>
          <p:spPr>
            <a:xfrm>
              <a:off x="1378268" y="2218849"/>
              <a:ext cx="3938254"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围绕四大闭环快速推进,产品/平台智能体参与评审但非低风险阻塞点</a:t>
              </a:r>
            </a:p>
          </p:txBody>
        </p:sp>
      </p:grpSp>
      <p:grpSp>
        <p:nvGrpSpPr>
          <p:cNvPr id="16" name="Group 16"/>
          <p:cNvGrpSpPr/>
          <p:nvPr/>
        </p:nvGrpSpPr>
        <p:grpSpPr>
          <a:xfrm>
            <a:off x="5524500" y="2514600"/>
            <a:ext cx="1354974" cy="257175"/>
            <a:chOff x="5524500" y="2514600"/>
            <a:chExt cx="1354974" cy="257175"/>
          </a:xfrm>
        </p:grpSpPr>
        <p:sp>
          <p:nvSpPr>
            <p:cNvPr id="14" name="Line 14"/>
            <p:cNvSpPr/>
            <p:nvPr/>
          </p:nvSpPr>
          <p:spPr>
            <a:xfrm>
              <a:off x="5524500" y="2514600"/>
              <a:ext cx="1" cy="228600"/>
            </a:xfrm>
            <a:prstGeom prst="line">
              <a:avLst/>
            </a:prstGeom>
            <a:noFill/>
            <a:ln w="19050">
              <a:solidFill>
                <a:srgbClr val="0052A6"/>
              </a:solidFill>
              <a:tailEnd type="triangle" w="lg" len="lg"/>
            </a:ln>
          </p:spPr>
        </p:sp>
        <p:sp>
          <p:nvSpPr>
            <p:cNvPr id="15" name="TextBox 15"/>
            <p:cNvSpPr txBox="1"/>
            <p:nvPr/>
          </p:nvSpPr>
          <p:spPr>
            <a:xfrm>
              <a:off x="5703570" y="2588895"/>
              <a:ext cx="1175904" cy="182880"/>
            </a:xfrm>
            <a:prstGeom prst="rect">
              <a:avLst/>
            </a:prstGeom>
            <a:noFill/>
            <a:ln>
              <a:noFill/>
            </a:ln>
          </p:spPr>
          <p:txBody>
            <a:bodyPr wrap="none" lIns="0" tIns="0" rIns="0" bIns="0" anchor="t" anchorCtr="0">
              <a:spAutoFit/>
            </a:bodyPr>
            <a:lstStyle/>
            <a:p>
              <a:pPr algn="l"/>
              <a:r>
                <a:rPr lang="zh-CN" sz="900" b="1" dirty="0">
                  <a:solidFill>
                    <a:srgbClr val="0052A6"/>
                  </a:solidFill>
                  <a:latin typeface="Arial"/>
                  <a:ea typeface="Microsoft YaHei"/>
                  <a:cs typeface="Arial"/>
                </a:rPr>
                <a:t>代码贡献 + 场景经验</a:t>
              </a:r>
            </a:p>
          </p:txBody>
        </p:sp>
      </p:grpSp>
      <p:grpSp>
        <p:nvGrpSpPr>
          <p:cNvPr id="27" name="Group 27"/>
          <p:cNvGrpSpPr/>
          <p:nvPr/>
        </p:nvGrpSpPr>
        <p:grpSpPr>
          <a:xfrm>
            <a:off x="762000" y="2781300"/>
            <a:ext cx="9525000" cy="952500"/>
            <a:chOff x="762000" y="2781300"/>
            <a:chExt cx="9525000" cy="952500"/>
          </a:xfrm>
        </p:grpSpPr>
        <p:sp>
          <p:nvSpPr>
            <p:cNvPr id="17" name="Rectangle 17"/>
            <p:cNvSpPr/>
            <p:nvPr/>
          </p:nvSpPr>
          <p:spPr>
            <a:xfrm>
              <a:off x="762000" y="2781300"/>
              <a:ext cx="9525000" cy="952500"/>
            </a:xfrm>
            <a:prstGeom prst="roundRect">
              <a:avLst>
                <a:gd name="adj" fmla="val 14000"/>
              </a:avLst>
            </a:prstGeom>
            <a:solidFill>
              <a:srgbClr val="F4F7FC"/>
            </a:solidFill>
            <a:ln>
              <a:noFill/>
            </a:ln>
          </p:spPr>
        </p:sp>
        <p:sp>
          <p:nvSpPr>
            <p:cNvPr id="18" name="Rectangle 18"/>
            <p:cNvSpPr/>
            <p:nvPr/>
          </p:nvSpPr>
          <p:spPr>
            <a:xfrm>
              <a:off x="762000" y="2781300"/>
              <a:ext cx="57150" cy="952500"/>
            </a:xfrm>
            <a:prstGeom prst="roundRect">
              <a:avLst>
                <a:gd name="adj" fmla="val 50000"/>
              </a:avLst>
            </a:prstGeom>
            <a:solidFill>
              <a:srgbClr val="246BFE"/>
            </a:solidFill>
            <a:ln>
              <a:noFill/>
            </a:ln>
          </p:spPr>
        </p:sp>
        <p:grpSp>
          <p:nvGrpSpPr>
            <p:cNvPr id="23" name="Group 23"/>
            <p:cNvGrpSpPr/>
            <p:nvPr/>
          </p:nvGrpSpPr>
          <p:grpSpPr>
            <a:xfrm>
              <a:off x="1057275" y="3019425"/>
              <a:ext cx="190501" cy="190500"/>
              <a:chOff x="1057275" y="3019425"/>
              <a:chExt cx="190501" cy="190500"/>
            </a:xfrm>
          </p:grpSpPr>
          <p:sp>
            <p:nvSpPr>
              <p:cNvPr id="19" name="Freeform 19"/>
              <p:cNvSpPr/>
              <p:nvPr/>
            </p:nvSpPr>
            <p:spPr>
              <a:xfrm>
                <a:off x="1057275" y="3019425"/>
                <a:ext cx="71438" cy="59531"/>
              </a:xfrm>
              <a:custGeom>
                <a:avLst/>
                <a:gdLst/>
                <a:ahLst/>
                <a:cxnLst/>
                <a:rect l="l" t="t" r="r" b="b"/>
                <a:pathLst>
                  <a:path w="71438" h="59531">
                    <a:moveTo>
                      <a:pt x="0" y="23812"/>
                    </a:moveTo>
                    <a:cubicBezTo>
                      <a:pt x="0" y="10661"/>
                      <a:pt x="10661" y="0"/>
                      <a:pt x="23812" y="0"/>
                    </a:cubicBezTo>
                    <a:lnTo>
                      <a:pt x="47625" y="0"/>
                    </a:lnTo>
                    <a:cubicBezTo>
                      <a:pt x="60776" y="0"/>
                      <a:pt x="71438" y="10661"/>
                      <a:pt x="71438" y="23812"/>
                    </a:cubicBezTo>
                    <a:lnTo>
                      <a:pt x="71438" y="35719"/>
                    </a:lnTo>
                    <a:cubicBezTo>
                      <a:pt x="71438" y="48870"/>
                      <a:pt x="60776" y="59531"/>
                      <a:pt x="47625" y="59531"/>
                    </a:cubicBezTo>
                    <a:lnTo>
                      <a:pt x="23812" y="59531"/>
                    </a:lnTo>
                    <a:cubicBezTo>
                      <a:pt x="10661" y="59531"/>
                      <a:pt x="0" y="48870"/>
                      <a:pt x="0" y="35719"/>
                    </a:cubicBezTo>
                    <a:lnTo>
                      <a:pt x="0" y="23812"/>
                    </a:lnTo>
                  </a:path>
                </a:pathLst>
              </a:custGeom>
              <a:noFill/>
              <a:ln w="19050">
                <a:solidFill>
                  <a:srgbClr val="246BFE"/>
                </a:solidFill>
              </a:ln>
            </p:spPr>
          </p:sp>
          <p:sp>
            <p:nvSpPr>
              <p:cNvPr id="20" name="Freeform 20"/>
              <p:cNvSpPr/>
              <p:nvPr/>
            </p:nvSpPr>
            <p:spPr>
              <a:xfrm>
                <a:off x="1057275" y="3126581"/>
                <a:ext cx="71438" cy="83344"/>
              </a:xfrm>
              <a:custGeom>
                <a:avLst/>
                <a:gdLst/>
                <a:ahLst/>
                <a:cxnLst/>
                <a:rect l="l" t="t" r="r" b="b"/>
                <a:pathLst>
                  <a:path w="71438" h="83344">
                    <a:moveTo>
                      <a:pt x="0" y="23812"/>
                    </a:moveTo>
                    <a:cubicBezTo>
                      <a:pt x="0" y="10661"/>
                      <a:pt x="10661" y="0"/>
                      <a:pt x="23812" y="0"/>
                    </a:cubicBezTo>
                    <a:lnTo>
                      <a:pt x="47625" y="0"/>
                    </a:lnTo>
                    <a:cubicBezTo>
                      <a:pt x="60776" y="0"/>
                      <a:pt x="71438" y="10661"/>
                      <a:pt x="71438" y="23812"/>
                    </a:cubicBezTo>
                    <a:lnTo>
                      <a:pt x="71438" y="59531"/>
                    </a:lnTo>
                    <a:cubicBezTo>
                      <a:pt x="71438" y="72683"/>
                      <a:pt x="60776" y="83344"/>
                      <a:pt x="47625" y="83344"/>
                    </a:cubicBezTo>
                    <a:lnTo>
                      <a:pt x="23812" y="83344"/>
                    </a:lnTo>
                    <a:cubicBezTo>
                      <a:pt x="10661" y="83344"/>
                      <a:pt x="0" y="72683"/>
                      <a:pt x="0" y="59531"/>
                    </a:cubicBezTo>
                    <a:lnTo>
                      <a:pt x="0" y="23812"/>
                    </a:lnTo>
                  </a:path>
                </a:pathLst>
              </a:custGeom>
              <a:noFill/>
              <a:ln w="19050">
                <a:solidFill>
                  <a:srgbClr val="246BFE"/>
                </a:solidFill>
              </a:ln>
            </p:spPr>
          </p:sp>
          <p:sp>
            <p:nvSpPr>
              <p:cNvPr id="21" name="Freeform 21"/>
              <p:cNvSpPr/>
              <p:nvPr/>
            </p:nvSpPr>
            <p:spPr>
              <a:xfrm>
                <a:off x="1176338" y="3019425"/>
                <a:ext cx="71438" cy="83344"/>
              </a:xfrm>
              <a:custGeom>
                <a:avLst/>
                <a:gdLst/>
                <a:ahLst/>
                <a:cxnLst/>
                <a:rect l="l" t="t" r="r" b="b"/>
                <a:pathLst>
                  <a:path w="71438" h="83344">
                    <a:moveTo>
                      <a:pt x="0" y="23812"/>
                    </a:moveTo>
                    <a:cubicBezTo>
                      <a:pt x="0" y="10661"/>
                      <a:pt x="10661" y="0"/>
                      <a:pt x="23812" y="0"/>
                    </a:cubicBezTo>
                    <a:lnTo>
                      <a:pt x="47625" y="0"/>
                    </a:lnTo>
                    <a:cubicBezTo>
                      <a:pt x="60776" y="0"/>
                      <a:pt x="71438" y="10661"/>
                      <a:pt x="71438" y="23812"/>
                    </a:cubicBezTo>
                    <a:lnTo>
                      <a:pt x="71438" y="59531"/>
                    </a:lnTo>
                    <a:cubicBezTo>
                      <a:pt x="71438" y="72683"/>
                      <a:pt x="60776" y="83344"/>
                      <a:pt x="47625" y="83344"/>
                    </a:cubicBezTo>
                    <a:lnTo>
                      <a:pt x="23812" y="83344"/>
                    </a:lnTo>
                    <a:cubicBezTo>
                      <a:pt x="10661" y="83344"/>
                      <a:pt x="0" y="72683"/>
                      <a:pt x="0" y="59531"/>
                    </a:cubicBezTo>
                    <a:lnTo>
                      <a:pt x="0" y="23812"/>
                    </a:lnTo>
                  </a:path>
                </a:pathLst>
              </a:custGeom>
              <a:noFill/>
              <a:ln w="19050">
                <a:solidFill>
                  <a:srgbClr val="246BFE"/>
                </a:solidFill>
              </a:ln>
            </p:spPr>
          </p:sp>
          <p:sp>
            <p:nvSpPr>
              <p:cNvPr id="22" name="Freeform 22"/>
              <p:cNvSpPr/>
              <p:nvPr/>
            </p:nvSpPr>
            <p:spPr>
              <a:xfrm>
                <a:off x="1176338" y="3150394"/>
                <a:ext cx="71438" cy="59531"/>
              </a:xfrm>
              <a:custGeom>
                <a:avLst/>
                <a:gdLst/>
                <a:ahLst/>
                <a:cxnLst/>
                <a:rect l="l" t="t" r="r" b="b"/>
                <a:pathLst>
                  <a:path w="71438" h="59531">
                    <a:moveTo>
                      <a:pt x="0" y="23812"/>
                    </a:moveTo>
                    <a:cubicBezTo>
                      <a:pt x="0" y="10661"/>
                      <a:pt x="10661" y="0"/>
                      <a:pt x="23812" y="0"/>
                    </a:cubicBezTo>
                    <a:lnTo>
                      <a:pt x="47625" y="0"/>
                    </a:lnTo>
                    <a:cubicBezTo>
                      <a:pt x="60776" y="0"/>
                      <a:pt x="71438" y="10661"/>
                      <a:pt x="71438" y="23812"/>
                    </a:cubicBezTo>
                    <a:lnTo>
                      <a:pt x="71438" y="35719"/>
                    </a:lnTo>
                    <a:cubicBezTo>
                      <a:pt x="71438" y="48870"/>
                      <a:pt x="60776" y="59531"/>
                      <a:pt x="47625" y="59531"/>
                    </a:cubicBezTo>
                    <a:lnTo>
                      <a:pt x="23812" y="59531"/>
                    </a:lnTo>
                    <a:cubicBezTo>
                      <a:pt x="10661" y="59531"/>
                      <a:pt x="0" y="48870"/>
                      <a:pt x="0" y="35719"/>
                    </a:cubicBezTo>
                    <a:lnTo>
                      <a:pt x="0" y="23812"/>
                    </a:lnTo>
                  </a:path>
                </a:pathLst>
              </a:custGeom>
              <a:noFill/>
              <a:ln w="19050">
                <a:solidFill>
                  <a:srgbClr val="246BFE"/>
                </a:solidFill>
              </a:ln>
            </p:spPr>
          </p:sp>
        </p:grpSp>
        <p:sp>
          <p:nvSpPr>
            <p:cNvPr id="24" name="TextBox 24"/>
            <p:cNvSpPr txBox="1"/>
            <p:nvPr/>
          </p:nvSpPr>
          <p:spPr>
            <a:xfrm>
              <a:off x="1377315" y="2972752"/>
              <a:ext cx="586740" cy="213360"/>
            </a:xfrm>
            <a:prstGeom prst="rect">
              <a:avLst/>
            </a:prstGeom>
            <a:noFill/>
            <a:ln>
              <a:noFill/>
            </a:ln>
          </p:spPr>
          <p:txBody>
            <a:bodyPr wrap="none" lIns="0" tIns="0" rIns="0" bIns="0" anchor="t" anchorCtr="0">
              <a:spAutoFit/>
            </a:bodyPr>
            <a:lstStyle/>
            <a:p>
              <a:pPr algn="l"/>
              <a:r>
                <a:rPr lang="zh-CN" sz="1050" dirty="0">
                  <a:solidFill>
                    <a:srgbClr val="6B7785"/>
                  </a:solidFill>
                  <a:latin typeface="Arial"/>
                  <a:ea typeface="Microsoft YaHei"/>
                  <a:cs typeface="Arial"/>
                </a:rPr>
                <a:t>产品团队</a:t>
              </a:r>
            </a:p>
          </p:txBody>
        </p:sp>
        <p:sp>
          <p:nvSpPr>
            <p:cNvPr id="25" name="TextBox 25"/>
            <p:cNvSpPr txBox="1"/>
            <p:nvPr/>
          </p:nvSpPr>
          <p:spPr>
            <a:xfrm>
              <a:off x="1373505" y="3207068"/>
              <a:ext cx="4788234" cy="274320"/>
            </a:xfrm>
            <a:prstGeom prst="rect">
              <a:avLst/>
            </a:prstGeom>
            <a:noFill/>
            <a:ln>
              <a:noFill/>
            </a:ln>
          </p:spPr>
          <p:txBody>
            <a:bodyPr wrap="none" lIns="0" tIns="0" rIns="0" bIns="0" anchor="t" anchorCtr="0">
              <a:spAutoFit/>
            </a:bodyPr>
            <a:lstStyle/>
            <a:p>
              <a:pPr algn="l"/>
              <a:r>
                <a:rPr lang="zh-CN" sz="1350" b="1" dirty="0">
                  <a:solidFill>
                    <a:srgbClr val="246BFE"/>
                  </a:solidFill>
                  <a:latin typeface="Arial"/>
                  <a:ea typeface="Microsoft YaHei"/>
                  <a:cs typeface="Arial"/>
                </a:rPr>
                <a:t>产品化沉淀 · 复审、重构、熵减、测试强化、产品化发布</a:t>
              </a:r>
            </a:p>
          </p:txBody>
        </p:sp>
        <p:sp>
          <p:nvSpPr>
            <p:cNvPr id="26" name="TextBox 26"/>
            <p:cNvSpPr txBox="1"/>
            <p:nvPr/>
          </p:nvSpPr>
          <p:spPr>
            <a:xfrm>
              <a:off x="1378268" y="3476149"/>
              <a:ext cx="3808238"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前线代码不一定一开始最优,但只要验证业务价值,就应被吸收沉淀</a:t>
              </a:r>
            </a:p>
          </p:txBody>
        </p:sp>
      </p:grpSp>
      <p:grpSp>
        <p:nvGrpSpPr>
          <p:cNvPr id="30" name="Group 30"/>
          <p:cNvGrpSpPr/>
          <p:nvPr/>
        </p:nvGrpSpPr>
        <p:grpSpPr>
          <a:xfrm>
            <a:off x="5524500" y="3771900"/>
            <a:ext cx="1354974" cy="257175"/>
            <a:chOff x="5524500" y="3771900"/>
            <a:chExt cx="1354974" cy="257175"/>
          </a:xfrm>
        </p:grpSpPr>
        <p:sp>
          <p:nvSpPr>
            <p:cNvPr id="28" name="Line 28"/>
            <p:cNvSpPr/>
            <p:nvPr/>
          </p:nvSpPr>
          <p:spPr>
            <a:xfrm>
              <a:off x="5524500" y="3771900"/>
              <a:ext cx="1" cy="228600"/>
            </a:xfrm>
            <a:prstGeom prst="line">
              <a:avLst/>
            </a:prstGeom>
            <a:noFill/>
            <a:ln w="19050">
              <a:solidFill>
                <a:srgbClr val="0052A6"/>
              </a:solidFill>
              <a:tailEnd type="triangle" w="lg" len="lg"/>
            </a:ln>
          </p:spPr>
        </p:sp>
        <p:sp>
          <p:nvSpPr>
            <p:cNvPr id="29" name="TextBox 29"/>
            <p:cNvSpPr txBox="1"/>
            <p:nvPr/>
          </p:nvSpPr>
          <p:spPr>
            <a:xfrm>
              <a:off x="5703570" y="3846195"/>
              <a:ext cx="1175904" cy="182880"/>
            </a:xfrm>
            <a:prstGeom prst="rect">
              <a:avLst/>
            </a:prstGeom>
            <a:noFill/>
            <a:ln>
              <a:noFill/>
            </a:ln>
          </p:spPr>
          <p:txBody>
            <a:bodyPr wrap="none" lIns="0" tIns="0" rIns="0" bIns="0" anchor="t" anchorCtr="0">
              <a:spAutoFit/>
            </a:bodyPr>
            <a:lstStyle/>
            <a:p>
              <a:pPr algn="l"/>
              <a:r>
                <a:rPr lang="zh-CN" sz="900" b="1" dirty="0">
                  <a:solidFill>
                    <a:srgbClr val="0052A6"/>
                  </a:solidFill>
                  <a:latin typeface="Arial"/>
                  <a:ea typeface="Microsoft YaHei"/>
                  <a:cs typeface="Arial"/>
                </a:rPr>
                <a:t>平台改动 + 共性需求</a:t>
              </a:r>
            </a:p>
          </p:txBody>
        </p:sp>
      </p:grpSp>
      <p:grpSp>
        <p:nvGrpSpPr>
          <p:cNvPr id="41" name="Group 41"/>
          <p:cNvGrpSpPr/>
          <p:nvPr/>
        </p:nvGrpSpPr>
        <p:grpSpPr>
          <a:xfrm>
            <a:off x="762000" y="4038600"/>
            <a:ext cx="9525000" cy="952500"/>
            <a:chOff x="762000" y="4038600"/>
            <a:chExt cx="9525000" cy="952500"/>
          </a:xfrm>
        </p:grpSpPr>
        <p:sp>
          <p:nvSpPr>
            <p:cNvPr id="31" name="Rectangle 31"/>
            <p:cNvSpPr/>
            <p:nvPr/>
          </p:nvSpPr>
          <p:spPr>
            <a:xfrm>
              <a:off x="762000" y="4038600"/>
              <a:ext cx="9525000" cy="952500"/>
            </a:xfrm>
            <a:prstGeom prst="roundRect">
              <a:avLst>
                <a:gd name="adj" fmla="val 14000"/>
              </a:avLst>
            </a:prstGeom>
            <a:solidFill>
              <a:srgbClr val="F4F7FC"/>
            </a:solidFill>
            <a:ln>
              <a:noFill/>
            </a:ln>
          </p:spPr>
        </p:sp>
        <p:sp>
          <p:nvSpPr>
            <p:cNvPr id="32" name="Rectangle 32"/>
            <p:cNvSpPr/>
            <p:nvPr/>
          </p:nvSpPr>
          <p:spPr>
            <a:xfrm>
              <a:off x="762000" y="4038600"/>
              <a:ext cx="57150" cy="952500"/>
            </a:xfrm>
            <a:prstGeom prst="roundRect">
              <a:avLst>
                <a:gd name="adj" fmla="val 50000"/>
              </a:avLst>
            </a:prstGeom>
            <a:solidFill>
              <a:srgbClr val="518FEC"/>
            </a:solidFill>
            <a:ln>
              <a:noFill/>
            </a:ln>
          </p:spPr>
        </p:sp>
        <p:grpSp>
          <p:nvGrpSpPr>
            <p:cNvPr id="37" name="Group 37"/>
            <p:cNvGrpSpPr/>
            <p:nvPr/>
          </p:nvGrpSpPr>
          <p:grpSpPr>
            <a:xfrm>
              <a:off x="1045369" y="4276725"/>
              <a:ext cx="214312" cy="190500"/>
              <a:chOff x="1045369" y="4276725"/>
              <a:chExt cx="214312" cy="190500"/>
            </a:xfrm>
          </p:grpSpPr>
          <p:sp>
            <p:nvSpPr>
              <p:cNvPr id="33" name="Freeform 33"/>
              <p:cNvSpPr/>
              <p:nvPr/>
            </p:nvSpPr>
            <p:spPr>
              <a:xfrm>
                <a:off x="1045369" y="427672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path>
                </a:pathLst>
              </a:custGeom>
              <a:noFill/>
              <a:ln w="19050">
                <a:solidFill>
                  <a:srgbClr val="518FEC"/>
                </a:solidFill>
              </a:ln>
            </p:spPr>
          </p:sp>
          <p:sp>
            <p:nvSpPr>
              <p:cNvPr id="34" name="Freeform 34"/>
              <p:cNvSpPr/>
              <p:nvPr/>
            </p:nvSpPr>
            <p:spPr>
              <a:xfrm>
                <a:off x="1045369" y="437197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19050">
                <a:solidFill>
                  <a:srgbClr val="518FEC"/>
                </a:solidFill>
              </a:ln>
            </p:spPr>
          </p:sp>
          <p:sp>
            <p:nvSpPr>
              <p:cNvPr id="35" name="Freeform 35"/>
              <p:cNvSpPr/>
              <p:nvPr/>
            </p:nvSpPr>
            <p:spPr>
              <a:xfrm>
                <a:off x="1092994" y="4324350"/>
                <a:ext cx="9525" cy="9525"/>
              </a:xfrm>
              <a:custGeom>
                <a:avLst/>
                <a:gdLst/>
                <a:ahLst/>
                <a:cxnLst/>
                <a:rect l="l" t="t" r="r" b="b"/>
                <a:pathLst>
                  <a:path w="9525" h="9525">
                    <a:moveTo>
                      <a:pt x="0" y="0"/>
                    </a:moveTo>
                    <a:lnTo>
                      <a:pt x="0" y="119"/>
                    </a:lnTo>
                  </a:path>
                </a:pathLst>
              </a:custGeom>
              <a:noFill/>
              <a:ln w="19050">
                <a:solidFill>
                  <a:srgbClr val="518FEC"/>
                </a:solidFill>
              </a:ln>
            </p:spPr>
          </p:sp>
          <p:sp>
            <p:nvSpPr>
              <p:cNvPr id="36" name="Freeform 36"/>
              <p:cNvSpPr/>
              <p:nvPr/>
            </p:nvSpPr>
            <p:spPr>
              <a:xfrm>
                <a:off x="1092994" y="4419600"/>
                <a:ext cx="9525" cy="9525"/>
              </a:xfrm>
              <a:custGeom>
                <a:avLst/>
                <a:gdLst/>
                <a:ahLst/>
                <a:cxnLst/>
                <a:rect l="l" t="t" r="r" b="b"/>
                <a:pathLst>
                  <a:path w="9525" h="9525">
                    <a:moveTo>
                      <a:pt x="0" y="0"/>
                    </a:moveTo>
                    <a:lnTo>
                      <a:pt x="0" y="119"/>
                    </a:lnTo>
                  </a:path>
                </a:pathLst>
              </a:custGeom>
              <a:noFill/>
              <a:ln w="19050">
                <a:solidFill>
                  <a:srgbClr val="518FEC"/>
                </a:solidFill>
              </a:ln>
            </p:spPr>
          </p:sp>
        </p:grpSp>
        <p:sp>
          <p:nvSpPr>
            <p:cNvPr id="38" name="TextBox 38"/>
            <p:cNvSpPr txBox="1"/>
            <p:nvPr/>
          </p:nvSpPr>
          <p:spPr>
            <a:xfrm>
              <a:off x="1377315" y="4230052"/>
              <a:ext cx="586740" cy="213360"/>
            </a:xfrm>
            <a:prstGeom prst="rect">
              <a:avLst/>
            </a:prstGeom>
            <a:noFill/>
            <a:ln>
              <a:noFill/>
            </a:ln>
          </p:spPr>
          <p:txBody>
            <a:bodyPr wrap="none" lIns="0" tIns="0" rIns="0" bIns="0" anchor="t" anchorCtr="0">
              <a:spAutoFit/>
            </a:bodyPr>
            <a:lstStyle/>
            <a:p>
              <a:pPr algn="l"/>
              <a:r>
                <a:rPr lang="zh-CN" sz="1050" dirty="0">
                  <a:solidFill>
                    <a:srgbClr val="6B7785"/>
                  </a:solidFill>
                  <a:latin typeface="Arial"/>
                  <a:ea typeface="Microsoft YaHei"/>
                  <a:cs typeface="Arial"/>
                </a:rPr>
                <a:t>平台团队</a:t>
              </a:r>
            </a:p>
          </p:txBody>
        </p:sp>
        <p:sp>
          <p:nvSpPr>
            <p:cNvPr id="39" name="TextBox 39"/>
            <p:cNvSpPr txBox="1"/>
            <p:nvPr/>
          </p:nvSpPr>
          <p:spPr>
            <a:xfrm>
              <a:off x="1373505" y="4464368"/>
              <a:ext cx="4788234" cy="274320"/>
            </a:xfrm>
            <a:prstGeom prst="rect">
              <a:avLst/>
            </a:prstGeom>
            <a:noFill/>
            <a:ln>
              <a:noFill/>
            </a:ln>
          </p:spPr>
          <p:txBody>
            <a:bodyPr wrap="none" lIns="0" tIns="0" rIns="0" bIns="0" anchor="t" anchorCtr="0">
              <a:spAutoFit/>
            </a:bodyPr>
            <a:lstStyle/>
            <a:p>
              <a:pPr algn="l"/>
              <a:r>
                <a:rPr lang="zh-CN" sz="1350" b="1" dirty="0">
                  <a:solidFill>
                    <a:srgbClr val="518FEC"/>
                  </a:solidFill>
                  <a:latin typeface="Arial"/>
                  <a:ea typeface="Microsoft YaHei"/>
                  <a:cs typeface="Arial"/>
                </a:rPr>
                <a:t>底座化沉淀 · 复审、重构、优化、强化测试、平台化发布</a:t>
              </a:r>
            </a:p>
          </p:txBody>
        </p:sp>
        <p:sp>
          <p:nvSpPr>
            <p:cNvPr id="40" name="TextBox 40"/>
            <p:cNvSpPr txBox="1"/>
            <p:nvPr/>
          </p:nvSpPr>
          <p:spPr>
            <a:xfrm>
              <a:off x="1378268" y="4733449"/>
              <a:ext cx="3249168"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把共性能力沉淀成稳定底座,再推回产品团队和 FDE 使用</a:t>
              </a:r>
            </a:p>
          </p:txBody>
        </p:sp>
      </p:grpSp>
      <p:grpSp>
        <p:nvGrpSpPr>
          <p:cNvPr id="47" name="Group 47"/>
          <p:cNvGrpSpPr/>
          <p:nvPr/>
        </p:nvGrpSpPr>
        <p:grpSpPr>
          <a:xfrm>
            <a:off x="10477500" y="1714500"/>
            <a:ext cx="895516" cy="3276600"/>
            <a:chOff x="10477500" y="1714500"/>
            <a:chExt cx="895516" cy="3276600"/>
          </a:xfrm>
        </p:grpSpPr>
        <p:sp>
          <p:nvSpPr>
            <p:cNvPr id="42" name="Freeform 42"/>
            <p:cNvSpPr/>
            <p:nvPr/>
          </p:nvSpPr>
          <p:spPr>
            <a:xfrm>
              <a:off x="10477500" y="1714500"/>
              <a:ext cx="381000" cy="3276600"/>
            </a:xfrm>
            <a:custGeom>
              <a:avLst/>
              <a:gdLst/>
              <a:ahLst/>
              <a:cxnLst/>
              <a:rect l="l" t="t" r="r" b="b"/>
              <a:pathLst>
                <a:path w="381000" h="3276600">
                  <a:moveTo>
                    <a:pt x="0" y="3276600"/>
                  </a:moveTo>
                  <a:cubicBezTo>
                    <a:pt x="254000" y="3276600"/>
                    <a:pt x="381000" y="3149600"/>
                    <a:pt x="381000" y="2895600"/>
                  </a:cubicBezTo>
                  <a:lnTo>
                    <a:pt x="381000" y="190500"/>
                  </a:lnTo>
                  <a:cubicBezTo>
                    <a:pt x="381000" y="63500"/>
                    <a:pt x="254000" y="0"/>
                    <a:pt x="0" y="0"/>
                  </a:cubicBezTo>
                </a:path>
              </a:pathLst>
            </a:custGeom>
            <a:noFill/>
            <a:ln w="19050">
              <a:solidFill>
                <a:srgbClr val="0E9F6E"/>
              </a:solidFill>
              <a:custDash>
                <a:ds d="300000" sp="200000"/>
              </a:custDash>
              <a:tailEnd type="triangle" w="lg" len="lg"/>
            </a:ln>
          </p:spPr>
        </p:sp>
        <p:sp>
          <p:nvSpPr>
            <p:cNvPr id="43" name="TextBox 43"/>
            <p:cNvSpPr txBox="1"/>
            <p:nvPr/>
          </p:nvSpPr>
          <p:spPr>
            <a:xfrm>
              <a:off x="11037570" y="3331845"/>
              <a:ext cx="274892" cy="182880"/>
            </a:xfrm>
            <a:prstGeom prst="rect">
              <a:avLst/>
            </a:prstGeom>
            <a:noFill/>
            <a:ln>
              <a:noFill/>
            </a:ln>
          </p:spPr>
          <p:txBody>
            <a:bodyPr wrap="none" lIns="0" tIns="0" rIns="0" bIns="0" anchor="t" anchorCtr="0">
              <a:spAutoFit/>
            </a:bodyPr>
            <a:lstStyle/>
            <a:p>
              <a:pPr algn="l"/>
              <a:r>
                <a:rPr lang="zh-CN" sz="900" b="1" dirty="0">
                  <a:solidFill>
                    <a:srgbClr val="0E9F6E"/>
                  </a:solidFill>
                  <a:latin typeface="Arial"/>
                  <a:ea typeface="Microsoft YaHei"/>
                  <a:cs typeface="Arial"/>
                </a:rPr>
                <a:t>反哺</a:t>
              </a:r>
            </a:p>
          </p:txBody>
        </p:sp>
        <p:sp>
          <p:nvSpPr>
            <p:cNvPr id="44" name="TextBox 44"/>
            <p:cNvSpPr txBox="1"/>
            <p:nvPr/>
          </p:nvSpPr>
          <p:spPr>
            <a:xfrm>
              <a:off x="11038522" y="3530441"/>
              <a:ext cx="334494" cy="167640"/>
            </a:xfrm>
            <a:prstGeom prst="rect">
              <a:avLst/>
            </a:prstGeom>
            <a:noFill/>
            <a:ln>
              <a:noFill/>
            </a:ln>
          </p:spPr>
          <p:txBody>
            <a:bodyPr wrap="none" lIns="0" tIns="0" rIns="0" bIns="0" anchor="t" anchorCtr="0">
              <a:spAutoFit/>
            </a:bodyPr>
            <a:lstStyle/>
            <a:p>
              <a:pPr algn="l"/>
              <a:r>
                <a:rPr lang="zh-CN" sz="825" dirty="0">
                  <a:solidFill>
                    <a:srgbClr val="0E9F6E"/>
                  </a:solidFill>
                  <a:latin typeface="Arial"/>
                  <a:ea typeface="Microsoft YaHei"/>
                  <a:cs typeface="Arial"/>
                </a:rPr>
                <a:t>平台 →</a:t>
              </a:r>
            </a:p>
          </p:txBody>
        </p:sp>
        <p:sp>
          <p:nvSpPr>
            <p:cNvPr id="45" name="TextBox 45"/>
            <p:cNvSpPr txBox="1"/>
            <p:nvPr/>
          </p:nvSpPr>
          <p:spPr>
            <a:xfrm>
              <a:off x="11038522" y="3682841"/>
              <a:ext cx="334494" cy="167640"/>
            </a:xfrm>
            <a:prstGeom prst="rect">
              <a:avLst/>
            </a:prstGeom>
            <a:noFill/>
            <a:ln>
              <a:noFill/>
            </a:ln>
          </p:spPr>
          <p:txBody>
            <a:bodyPr wrap="none" lIns="0" tIns="0" rIns="0" bIns="0" anchor="t" anchorCtr="0">
              <a:spAutoFit/>
            </a:bodyPr>
            <a:lstStyle/>
            <a:p>
              <a:pPr algn="l"/>
              <a:r>
                <a:rPr lang="zh-CN" sz="825" dirty="0">
                  <a:solidFill>
                    <a:srgbClr val="0E9F6E"/>
                  </a:solidFill>
                  <a:latin typeface="Arial"/>
                  <a:ea typeface="Microsoft YaHei"/>
                  <a:cs typeface="Arial"/>
                </a:rPr>
                <a:t>产品 →</a:t>
              </a:r>
            </a:p>
          </p:txBody>
        </p:sp>
        <p:sp>
          <p:nvSpPr>
            <p:cNvPr id="46" name="TextBox 46"/>
            <p:cNvSpPr txBox="1"/>
            <p:nvPr/>
          </p:nvSpPr>
          <p:spPr>
            <a:xfrm>
              <a:off x="11038522" y="3835241"/>
              <a:ext cx="202478" cy="167640"/>
            </a:xfrm>
            <a:prstGeom prst="rect">
              <a:avLst/>
            </a:prstGeom>
            <a:noFill/>
            <a:ln>
              <a:noFill/>
            </a:ln>
          </p:spPr>
          <p:txBody>
            <a:bodyPr wrap="none" lIns="0" tIns="0" rIns="0" bIns="0" anchor="t" anchorCtr="0">
              <a:spAutoFit/>
            </a:bodyPr>
            <a:lstStyle/>
            <a:p>
              <a:pPr algn="l"/>
              <a:r>
                <a:rPr lang="zh-CN" sz="825" dirty="0">
                  <a:solidFill>
                    <a:srgbClr val="0E9F6E"/>
                  </a:solidFill>
                  <a:latin typeface="Arial"/>
                  <a:ea typeface="Microsoft YaHei"/>
                  <a:cs typeface="Arial"/>
                </a:rPr>
                <a:t>FDE</a:t>
              </a:r>
            </a:p>
          </p:txBody>
        </p:sp>
      </p:grpSp>
      <p:grpSp>
        <p:nvGrpSpPr>
          <p:cNvPr id="57" name="Group 57"/>
          <p:cNvGrpSpPr/>
          <p:nvPr/>
        </p:nvGrpSpPr>
        <p:grpSpPr>
          <a:xfrm>
            <a:off x="762000" y="5219700"/>
            <a:ext cx="10395585" cy="990600"/>
            <a:chOff x="762000" y="5219700"/>
            <a:chExt cx="10395585" cy="990600"/>
          </a:xfrm>
        </p:grpSpPr>
        <p:sp>
          <p:nvSpPr>
            <p:cNvPr id="48" name="Rectangle 48"/>
            <p:cNvSpPr/>
            <p:nvPr/>
          </p:nvSpPr>
          <p:spPr>
            <a:xfrm>
              <a:off x="762000" y="5219700"/>
              <a:ext cx="9525000" cy="990600"/>
            </a:xfrm>
            <a:prstGeom prst="roundRect">
              <a:avLst>
                <a:gd name="adj" fmla="val 13462"/>
              </a:avLst>
            </a:prstGeom>
            <a:solidFill>
              <a:srgbClr val="0052A6"/>
            </a:solidFill>
            <a:ln>
              <a:noFill/>
            </a:ln>
          </p:spPr>
        </p:sp>
        <p:grpSp>
          <p:nvGrpSpPr>
            <p:cNvPr id="51" name="Group 51"/>
            <p:cNvGrpSpPr/>
            <p:nvPr/>
          </p:nvGrpSpPr>
          <p:grpSpPr>
            <a:xfrm>
              <a:off x="1028700" y="5486400"/>
              <a:ext cx="228600" cy="228600"/>
              <a:chOff x="1028700" y="5486400"/>
              <a:chExt cx="228600" cy="228600"/>
            </a:xfrm>
          </p:grpSpPr>
          <p:sp>
            <p:nvSpPr>
              <p:cNvPr id="49" name="Freeform 49"/>
              <p:cNvSpPr/>
              <p:nvPr/>
            </p:nvSpPr>
            <p:spPr>
              <a:xfrm>
                <a:off x="1028700" y="548640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FFFFF"/>
                </a:solidFill>
              </a:ln>
            </p:spPr>
          </p:sp>
          <p:sp>
            <p:nvSpPr>
              <p:cNvPr id="50" name="Freeform 50"/>
              <p:cNvSpPr/>
              <p:nvPr/>
            </p:nvSpPr>
            <p:spPr>
              <a:xfrm>
                <a:off x="1104900" y="5575300"/>
                <a:ext cx="76200" cy="50800"/>
              </a:xfrm>
              <a:custGeom>
                <a:avLst/>
                <a:gdLst/>
                <a:ahLst/>
                <a:cxnLst/>
                <a:rect l="l" t="t" r="r" b="b"/>
                <a:pathLst>
                  <a:path w="76200" h="50800">
                    <a:moveTo>
                      <a:pt x="0" y="25400"/>
                    </a:moveTo>
                    <a:lnTo>
                      <a:pt x="25400" y="50800"/>
                    </a:lnTo>
                    <a:lnTo>
                      <a:pt x="76200" y="0"/>
                    </a:lnTo>
                  </a:path>
                </a:pathLst>
              </a:custGeom>
              <a:noFill/>
              <a:ln w="19050">
                <a:solidFill>
                  <a:srgbClr val="FFFFFF"/>
                </a:solidFill>
              </a:ln>
            </p:spPr>
          </p:sp>
        </p:grpSp>
        <p:sp>
          <p:nvSpPr>
            <p:cNvPr id="52" name="TextBox 52"/>
            <p:cNvSpPr txBox="1"/>
            <p:nvPr/>
          </p:nvSpPr>
          <p:spPr>
            <a:xfrm>
              <a:off x="1392555" y="5454968"/>
              <a:ext cx="4107749"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这个流程跑得起来的前提:自动化测试必须足够强</a:t>
              </a:r>
            </a:p>
          </p:txBody>
        </p:sp>
        <p:sp>
          <p:nvSpPr>
            <p:cNvPr id="53" name="TextBox 53"/>
            <p:cNvSpPr txBox="1"/>
            <p:nvPr/>
          </p:nvSpPr>
          <p:spPr>
            <a:xfrm>
              <a:off x="1396365" y="5754052"/>
              <a:ext cx="6411468"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只有测试、环境、数据、质量门禁可自动化验证,产品/平台团队才敢对前线代码重构,FDE 才敢更快探索</a:t>
              </a:r>
            </a:p>
          </p:txBody>
        </p:sp>
        <p:sp>
          <p:nvSpPr>
            <p:cNvPr id="54" name="TextBox 54"/>
            <p:cNvSpPr txBox="1"/>
            <p:nvPr/>
          </p:nvSpPr>
          <p:spPr>
            <a:xfrm>
              <a:off x="1397318" y="5971699"/>
              <a:ext cx="2664095"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 这正是第四章 Harness 驾驭框架要解决的事</a:t>
              </a:r>
            </a:p>
          </p:txBody>
        </p:sp>
        <p:sp>
          <p:nvSpPr>
            <p:cNvPr id="55" name="TextBox 55"/>
            <p:cNvSpPr txBox="1"/>
            <p:nvPr/>
          </p:nvSpPr>
          <p:spPr>
            <a:xfrm>
              <a:off x="10395823" y="5601652"/>
              <a:ext cx="761762" cy="213360"/>
            </a:xfrm>
            <a:prstGeom prst="rect">
              <a:avLst/>
            </a:prstGeom>
            <a:noFill/>
            <a:ln>
              <a:noFill/>
            </a:ln>
          </p:spPr>
          <p:txBody>
            <a:bodyPr wrap="none" lIns="0" tIns="0" rIns="0" bIns="0" anchor="t" anchorCtr="0">
              <a:spAutoFit/>
            </a:bodyPr>
            <a:lstStyle/>
            <a:p>
              <a:pPr algn="r"/>
              <a:r>
                <a:rPr lang="zh-CN" sz="1050" b="1" dirty="0">
                  <a:solidFill>
                    <a:srgbClr val="FFFFFF"/>
                  </a:solidFill>
                  <a:latin typeface="Arial"/>
                  <a:ea typeface="Microsoft YaHei"/>
                  <a:cs typeface="Arial"/>
                </a:rPr>
                <a:t>内部开源式</a:t>
              </a:r>
            </a:p>
          </p:txBody>
        </p:sp>
        <p:sp>
          <p:nvSpPr>
            <p:cNvPr id="56" name="TextBox 56"/>
            <p:cNvSpPr txBox="1"/>
            <p:nvPr/>
          </p:nvSpPr>
          <p:spPr>
            <a:xfrm>
              <a:off x="10542841" y="5830252"/>
              <a:ext cx="614744" cy="213360"/>
            </a:xfrm>
            <a:prstGeom prst="rect">
              <a:avLst/>
            </a:prstGeom>
            <a:noFill/>
            <a:ln>
              <a:noFill/>
            </a:ln>
          </p:spPr>
          <p:txBody>
            <a:bodyPr wrap="none" lIns="0" tIns="0" rIns="0" bIns="0" anchor="t" anchorCtr="0">
              <a:spAutoFit/>
            </a:bodyPr>
            <a:lstStyle/>
            <a:p>
              <a:pPr algn="r"/>
              <a:r>
                <a:rPr lang="zh-CN" sz="1050" b="1" dirty="0">
                  <a:solidFill>
                    <a:srgbClr val="FFFFFF"/>
                  </a:solidFill>
                  <a:latin typeface="Arial"/>
                  <a:ea typeface="Microsoft YaHei"/>
                  <a:cs typeface="Arial"/>
                </a:rPr>
                <a:t>流动机制</a:t>
              </a:r>
            </a:p>
          </p:txBody>
        </p:sp>
      </p:grpSp>
      <p:grpSp>
        <p:nvGrpSpPr>
          <p:cNvPr id="60" name="Group 60"/>
          <p:cNvGrpSpPr/>
          <p:nvPr/>
        </p:nvGrpSpPr>
        <p:grpSpPr>
          <a:xfrm>
            <a:off x="750570" y="6456045"/>
            <a:ext cx="10689907" cy="182880"/>
            <a:chOff x="750570" y="6456045"/>
            <a:chExt cx="10689907" cy="182880"/>
          </a:xfrm>
        </p:grpSpPr>
        <p:sp>
          <p:nvSpPr>
            <p:cNvPr id="58" name="TextBox 58"/>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第三章 · 组织重塑</a:t>
              </a:r>
            </a:p>
          </p:txBody>
        </p:sp>
        <p:sp>
          <p:nvSpPr>
            <p:cNvPr id="59" name="TextBox 59"/>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13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image">
                                      <p:cBhvr>
                                        <p:cTn id="11" dur="400"/>
                                        <p:tgtEl>
                                          <p:spTgt spid="1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400"/>
                                        <p:tgtEl>
                                          <p:spTgt spid="27"/>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slide(fromBottom)">
                                      <p:cBhvr>
                                        <p:cTn id="23" dur="400"/>
                                        <p:tgtEl>
                                          <p:spTgt spid="30"/>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image">
                                      <p:cBhvr>
                                        <p:cTn id="27" dur="400"/>
                                        <p:tgtEl>
                                          <p:spTgt spid="41"/>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400"/>
                                        <p:tgtEl>
                                          <p:spTgt spid="47"/>
                                        </p:tgtEl>
                                      </p:cBhvr>
                                    </p:animEffect>
                                  </p:childTnLst>
                                </p:cTn>
                              </p:par>
                            </p:childTnLst>
                          </p:cTn>
                        </p:par>
                        <p:par>
                          <p:cTn id="32" fill="hold">
                            <p:stCondLst>
                              <p:cond delay="6300"/>
                            </p:stCondLst>
                            <p:childTnLst>
                              <p:par>
                                <p:cTn id="33" presetID="22" presetClass="entr" presetSubtype="1" fill="hold" nodeType="after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wipe(left)">
                                      <p:cBhvr>
                                        <p:cTn id="35"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6" grpId="0"/>
      <p:bldP spid="27" grpId="0"/>
      <p:bldP spid="30" grpId="0"/>
      <p:bldP spid="41" grpId="0"/>
      <p:bldP spid="47" grpId="0"/>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7048500"/>
            <a:chOff x="0" y="0"/>
            <a:chExt cx="12192000" cy="70485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Ellipse 3"/>
            <p:cNvSpPr/>
            <p:nvPr/>
          </p:nvSpPr>
          <p:spPr>
            <a:xfrm>
              <a:off x="8096250" y="0"/>
              <a:ext cx="3810000" cy="3810000"/>
            </a:xfrm>
            <a:prstGeom prst="ellipse">
              <a:avLst/>
            </a:prstGeom>
            <a:solidFill>
              <a:srgbClr val="246BFE">
                <a:alpha val="6000"/>
              </a:srgbClr>
            </a:solidFill>
            <a:ln>
              <a:noFill/>
            </a:ln>
          </p:spPr>
        </p:sp>
        <p:sp>
          <p:nvSpPr>
            <p:cNvPr id="4" name="Ellipse 4"/>
            <p:cNvSpPr/>
            <p:nvPr/>
          </p:nvSpPr>
          <p:spPr>
            <a:xfrm>
              <a:off x="571500" y="4381500"/>
              <a:ext cx="2667000" cy="2667000"/>
            </a:xfrm>
            <a:prstGeom prst="ellipse">
              <a:avLst/>
            </a:prstGeom>
            <a:solidFill>
              <a:srgbClr val="518FEC">
                <a:alpha val="5000"/>
              </a:srgbClr>
            </a:solidFill>
            <a:ln>
              <a:noFill/>
            </a:ln>
          </p:spPr>
        </p:sp>
      </p:grpSp>
      <p:grpSp>
        <p:nvGrpSpPr>
          <p:cNvPr id="7" name="Group 7"/>
          <p:cNvGrpSpPr/>
          <p:nvPr/>
        </p:nvGrpSpPr>
        <p:grpSpPr>
          <a:xfrm>
            <a:off x="552450" y="2981325"/>
            <a:ext cx="2960418" cy="3352800"/>
            <a:chOff x="552450" y="2981325"/>
            <a:chExt cx="2960418" cy="3352800"/>
          </a:xfrm>
        </p:grpSpPr>
        <p:sp>
          <p:nvSpPr>
            <p:cNvPr id="6" name="TextBox 6"/>
            <p:cNvSpPr txBox="1"/>
            <p:nvPr/>
          </p:nvSpPr>
          <p:spPr>
            <a:xfrm>
              <a:off x="552450" y="2981325"/>
              <a:ext cx="2960418" cy="3352800"/>
            </a:xfrm>
            <a:prstGeom prst="rect">
              <a:avLst/>
            </a:prstGeom>
            <a:noFill/>
            <a:ln>
              <a:noFill/>
            </a:ln>
          </p:spPr>
          <p:txBody>
            <a:bodyPr wrap="none" lIns="0" tIns="0" rIns="0" bIns="0" anchor="t" anchorCtr="0">
              <a:spAutoFit/>
            </a:bodyPr>
            <a:lstStyle/>
            <a:p>
              <a:pPr algn="l"/>
              <a:r>
                <a:rPr lang="zh-CN" sz="16500" b="1" dirty="0">
                  <a:solidFill>
                    <a:srgbClr val="FFFFFF">
                      <a:alphaMod val="10000"/>
                    </a:srgbClr>
                  </a:solidFill>
                  <a:latin typeface="Arial"/>
                  <a:ea typeface="Microsoft YaHei"/>
                  <a:cs typeface="Arial"/>
                </a:rPr>
                <a:t>04</a:t>
              </a:r>
            </a:p>
          </p:txBody>
        </p:sp>
      </p:grpSp>
      <p:grpSp>
        <p:nvGrpSpPr>
          <p:cNvPr id="10" name="Group 10"/>
          <p:cNvGrpSpPr/>
          <p:nvPr/>
        </p:nvGrpSpPr>
        <p:grpSpPr>
          <a:xfrm>
            <a:off x="840105" y="2209800"/>
            <a:ext cx="1160145" cy="547688"/>
            <a:chOff x="840105" y="2209800"/>
            <a:chExt cx="1160145" cy="547688"/>
          </a:xfrm>
        </p:grpSpPr>
        <p:sp>
          <p:nvSpPr>
            <p:cNvPr id="8" name="Rectangle 8"/>
            <p:cNvSpPr/>
            <p:nvPr/>
          </p:nvSpPr>
          <p:spPr>
            <a:xfrm>
              <a:off x="857250" y="2209800"/>
              <a:ext cx="1143000" cy="38100"/>
            </a:xfrm>
            <a:prstGeom prst="roundRect">
              <a:avLst>
                <a:gd name="adj" fmla="val 50000"/>
              </a:avLst>
            </a:prstGeom>
            <a:solidFill>
              <a:srgbClr val="246BFE"/>
            </a:solidFill>
            <a:ln>
              <a:noFill/>
            </a:ln>
          </p:spPr>
        </p:sp>
        <p:sp>
          <p:nvSpPr>
            <p:cNvPr id="9" name="TextBox 9"/>
            <p:cNvSpPr txBox="1"/>
            <p:nvPr/>
          </p:nvSpPr>
          <p:spPr>
            <a:xfrm>
              <a:off x="840105" y="2483168"/>
              <a:ext cx="979408" cy="274320"/>
            </a:xfrm>
            <a:prstGeom prst="rect">
              <a:avLst/>
            </a:prstGeom>
            <a:noFill/>
            <a:ln>
              <a:noFill/>
            </a:ln>
          </p:spPr>
          <p:txBody>
            <a:bodyPr wrap="none" lIns="0" tIns="0" rIns="0" bIns="0" anchor="t" anchorCtr="0">
              <a:spAutoFit/>
            </a:bodyPr>
            <a:lstStyle/>
            <a:p>
              <a:pPr algn="l"/>
              <a:r>
                <a:rPr lang="zh-CN" sz="1350" dirty="0">
                  <a:solidFill>
                    <a:srgbClr val="518FEC"/>
                  </a:solidFill>
                  <a:latin typeface="Arial"/>
                  <a:ea typeface="Microsoft YaHei"/>
                  <a:cs typeface="Arial"/>
                </a:rPr>
                <a:t>CHAPTER 04</a:t>
              </a:r>
            </a:p>
          </p:txBody>
        </p:sp>
      </p:grpSp>
      <p:grpSp>
        <p:nvGrpSpPr>
          <p:cNvPr id="14" name="Group 14"/>
          <p:cNvGrpSpPr/>
          <p:nvPr/>
        </p:nvGrpSpPr>
        <p:grpSpPr>
          <a:xfrm>
            <a:off x="819150" y="3067050"/>
            <a:ext cx="3541776" cy="1428750"/>
            <a:chOff x="819150" y="3067050"/>
            <a:chExt cx="3541776" cy="1428750"/>
          </a:xfrm>
        </p:grpSpPr>
        <p:sp>
          <p:nvSpPr>
            <p:cNvPr id="11" name="TextBox 11"/>
            <p:cNvSpPr txBox="1"/>
            <p:nvPr/>
          </p:nvSpPr>
          <p:spPr>
            <a:xfrm>
              <a:off x="819150" y="3067050"/>
              <a:ext cx="2596515"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四大场景方案</a:t>
              </a:r>
            </a:p>
          </p:txBody>
        </p:sp>
        <p:sp>
          <p:nvSpPr>
            <p:cNvPr id="12" name="TextBox 12"/>
            <p:cNvSpPr txBox="1"/>
            <p:nvPr/>
          </p:nvSpPr>
          <p:spPr>
            <a:xfrm>
              <a:off x="832485" y="3694748"/>
              <a:ext cx="2649855"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每个场景一个完整闭环</a:t>
              </a:r>
            </a:p>
          </p:txBody>
        </p:sp>
        <p:sp>
          <p:nvSpPr>
            <p:cNvPr id="13" name="TextBox 13"/>
            <p:cNvSpPr txBox="1"/>
            <p:nvPr/>
          </p:nvSpPr>
          <p:spPr>
            <a:xfrm>
              <a:off x="842010" y="4251960"/>
              <a:ext cx="3518916"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四个场景,每个解决一个"AI 能切入的高价值环节"</a:t>
              </a:r>
            </a:p>
          </p:txBody>
        </p:sp>
      </p:grpSp>
      <p:grpSp>
        <p:nvGrpSpPr>
          <p:cNvPr id="23" name="Group 23"/>
          <p:cNvGrpSpPr/>
          <p:nvPr/>
        </p:nvGrpSpPr>
        <p:grpSpPr>
          <a:xfrm>
            <a:off x="857250" y="4857750"/>
            <a:ext cx="6057900" cy="381000"/>
            <a:chOff x="857250" y="4857750"/>
            <a:chExt cx="6057900" cy="381000"/>
          </a:xfrm>
        </p:grpSpPr>
        <p:sp>
          <p:nvSpPr>
            <p:cNvPr id="15" name="Rectangle 15"/>
            <p:cNvSpPr/>
            <p:nvPr/>
          </p:nvSpPr>
          <p:spPr>
            <a:xfrm>
              <a:off x="857250" y="4857750"/>
              <a:ext cx="1428750" cy="381000"/>
            </a:xfrm>
            <a:prstGeom prst="roundRect">
              <a:avLst>
                <a:gd name="adj" fmla="val 50000"/>
              </a:avLst>
            </a:prstGeom>
            <a:solidFill>
              <a:srgbClr val="FFFFFF">
                <a:alpha val="8000"/>
              </a:srgbClr>
            </a:solidFill>
            <a:ln>
              <a:noFill/>
            </a:ln>
          </p:spPr>
        </p:sp>
        <p:sp>
          <p:nvSpPr>
            <p:cNvPr id="16" name="TextBox 16"/>
            <p:cNvSpPr txBox="1"/>
            <p:nvPr/>
          </p:nvSpPr>
          <p:spPr>
            <a:xfrm>
              <a:off x="1180243" y="4992052"/>
              <a:ext cx="782764"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S1 需求闭环</a:t>
              </a:r>
            </a:p>
          </p:txBody>
        </p:sp>
        <p:sp>
          <p:nvSpPr>
            <p:cNvPr id="17" name="Rectangle 17"/>
            <p:cNvSpPr/>
            <p:nvPr/>
          </p:nvSpPr>
          <p:spPr>
            <a:xfrm>
              <a:off x="2400300" y="4857750"/>
              <a:ext cx="1428750" cy="381000"/>
            </a:xfrm>
            <a:prstGeom prst="roundRect">
              <a:avLst>
                <a:gd name="adj" fmla="val 50000"/>
              </a:avLst>
            </a:prstGeom>
            <a:solidFill>
              <a:srgbClr val="FFFFFF">
                <a:alpha val="8000"/>
              </a:srgbClr>
            </a:solidFill>
            <a:ln>
              <a:noFill/>
            </a:ln>
          </p:spPr>
        </p:sp>
        <p:sp>
          <p:nvSpPr>
            <p:cNvPr id="18" name="TextBox 18"/>
            <p:cNvSpPr txBox="1"/>
            <p:nvPr/>
          </p:nvSpPr>
          <p:spPr>
            <a:xfrm>
              <a:off x="2723293" y="4992052"/>
              <a:ext cx="782764"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S2 交付闭环</a:t>
              </a:r>
            </a:p>
          </p:txBody>
        </p:sp>
        <p:sp>
          <p:nvSpPr>
            <p:cNvPr id="19" name="Rectangle 19"/>
            <p:cNvSpPr/>
            <p:nvPr/>
          </p:nvSpPr>
          <p:spPr>
            <a:xfrm>
              <a:off x="3943350" y="4857750"/>
              <a:ext cx="1428750" cy="381000"/>
            </a:xfrm>
            <a:prstGeom prst="roundRect">
              <a:avLst>
                <a:gd name="adj" fmla="val 50000"/>
              </a:avLst>
            </a:prstGeom>
            <a:solidFill>
              <a:srgbClr val="FFFFFF">
                <a:alpha val="8000"/>
              </a:srgbClr>
            </a:solidFill>
            <a:ln>
              <a:noFill/>
            </a:ln>
          </p:spPr>
        </p:sp>
        <p:sp>
          <p:nvSpPr>
            <p:cNvPr id="20" name="TextBox 20"/>
            <p:cNvSpPr txBox="1"/>
            <p:nvPr/>
          </p:nvSpPr>
          <p:spPr>
            <a:xfrm>
              <a:off x="4266343" y="4992052"/>
              <a:ext cx="782764"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S3 知识底座</a:t>
              </a:r>
            </a:p>
          </p:txBody>
        </p:sp>
        <p:sp>
          <p:nvSpPr>
            <p:cNvPr id="21" name="Rectangle 21"/>
            <p:cNvSpPr/>
            <p:nvPr/>
          </p:nvSpPr>
          <p:spPr>
            <a:xfrm>
              <a:off x="5486400" y="4857750"/>
              <a:ext cx="1428750" cy="381000"/>
            </a:xfrm>
            <a:prstGeom prst="roundRect">
              <a:avLst>
                <a:gd name="adj" fmla="val 50000"/>
              </a:avLst>
            </a:prstGeom>
            <a:solidFill>
              <a:srgbClr val="FFFFFF">
                <a:alpha val="8000"/>
              </a:srgbClr>
            </a:solidFill>
            <a:ln>
              <a:noFill/>
            </a:ln>
          </p:spPr>
        </p:sp>
        <p:sp>
          <p:nvSpPr>
            <p:cNvPr id="22" name="TextBox 22"/>
            <p:cNvSpPr txBox="1"/>
            <p:nvPr/>
          </p:nvSpPr>
          <p:spPr>
            <a:xfrm>
              <a:off x="5700879" y="4992052"/>
              <a:ext cx="999792" cy="213360"/>
            </a:xfrm>
            <a:prstGeom prst="rect">
              <a:avLst/>
            </a:prstGeom>
            <a:noFill/>
            <a:ln>
              <a:noFill/>
            </a:ln>
          </p:spPr>
          <p:txBody>
            <a:bodyPr wrap="none" lIns="0" tIns="0" rIns="0" bIns="0" anchor="t" anchorCtr="0">
              <a:spAutoFit/>
            </a:bodyPr>
            <a:lstStyle/>
            <a:p>
              <a:pPr algn="ctr"/>
              <a:r>
                <a:rPr lang="zh-CN" sz="1050" dirty="0">
                  <a:solidFill>
                    <a:srgbClr val="DCE6FB"/>
                  </a:solidFill>
                  <a:latin typeface="Arial"/>
                  <a:ea typeface="Microsoft YaHei"/>
                  <a:cs typeface="Arial"/>
                </a:rPr>
                <a:t>S4 治理 FinOps</a:t>
              </a:r>
            </a:p>
          </p:txBody>
        </p:sp>
      </p:grpSp>
      <p:sp>
        <p:nvSpPr>
          <p:cNvPr id="24" name="TextBox 24"/>
          <p:cNvSpPr txBox="1"/>
          <p:nvPr/>
        </p:nvSpPr>
        <p:spPr>
          <a:xfrm>
            <a:off x="10594419" y="6464141"/>
            <a:ext cx="846058" cy="167640"/>
          </a:xfrm>
          <a:prstGeom prst="rect">
            <a:avLst/>
          </a:prstGeom>
          <a:noFill/>
          <a:ln>
            <a:noFill/>
          </a:ln>
        </p:spPr>
        <p:txBody>
          <a:bodyPr wrap="none" lIns="0" tIns="0" rIns="0" bIns="0" anchor="t" anchorCtr="0">
            <a:spAutoFit/>
          </a:bodyPr>
          <a:lstStyle/>
          <a:p>
            <a:pPr algn="r"/>
            <a:r>
              <a:rPr lang="zh-CN" sz="825" dirty="0">
                <a:solidFill>
                  <a:srgbClr val="8FA3C4"/>
                </a:solidFill>
                <a:latin typeface="Arial"/>
                <a:ea typeface="Microsoft YaHei"/>
                <a:cs typeface="Arial"/>
              </a:rPr>
              <a:t>14 / 30 · 第三章</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left)">
                                      <p:cBhvr>
                                        <p:cTn id="1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4"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762000" y="533400"/>
            <a:ext cx="7271147" cy="619125"/>
            <a:chOff x="762000" y="533400"/>
            <a:chExt cx="7271147" cy="619125"/>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0052A6"/>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S1</a:t>
              </a:r>
            </a:p>
          </p:txBody>
        </p:sp>
        <p:sp>
          <p:nvSpPr>
            <p:cNvPr id="6" name="TextBox 6"/>
            <p:cNvSpPr txBox="1"/>
            <p:nvPr/>
          </p:nvSpPr>
          <p:spPr>
            <a:xfrm>
              <a:off x="1363980" y="725805"/>
              <a:ext cx="6669167"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需求不清反复返工,PRD 进开发前没和真实系统碰撞</a:t>
              </a:r>
            </a:p>
          </p:txBody>
        </p:sp>
      </p:grpSp>
      <p:grpSp>
        <p:nvGrpSpPr>
          <p:cNvPr id="17" name="Group 17"/>
          <p:cNvGrpSpPr/>
          <p:nvPr/>
        </p:nvGrpSpPr>
        <p:grpSpPr>
          <a:xfrm>
            <a:off x="762000" y="1295400"/>
            <a:ext cx="10668000" cy="1104900"/>
            <a:chOff x="762000" y="1295400"/>
            <a:chExt cx="10668000" cy="1104900"/>
          </a:xfrm>
        </p:grpSpPr>
        <p:sp>
          <p:nvSpPr>
            <p:cNvPr id="8" name="Rectangle 8"/>
            <p:cNvSpPr/>
            <p:nvPr/>
          </p:nvSpPr>
          <p:spPr>
            <a:xfrm>
              <a:off x="762000" y="1295400"/>
              <a:ext cx="10668000" cy="1104900"/>
            </a:xfrm>
            <a:prstGeom prst="roundRect">
              <a:avLst>
                <a:gd name="adj" fmla="val 12069"/>
              </a:avLst>
            </a:prstGeom>
            <a:solidFill>
              <a:srgbClr val="F4F7FC"/>
            </a:solidFill>
            <a:ln>
              <a:noFill/>
            </a:ln>
          </p:spPr>
        </p:sp>
        <p:sp>
          <p:nvSpPr>
            <p:cNvPr id="9" name="Rectangle 9"/>
            <p:cNvSpPr/>
            <p:nvPr/>
          </p:nvSpPr>
          <p:spPr>
            <a:xfrm>
              <a:off x="762000" y="1295400"/>
              <a:ext cx="57150" cy="1104900"/>
            </a:xfrm>
            <a:prstGeom prst="roundRect">
              <a:avLst>
                <a:gd name="adj" fmla="val 50000"/>
              </a:avLst>
            </a:prstGeom>
            <a:solidFill>
              <a:srgbClr val="F59E0B"/>
            </a:solidFill>
            <a:ln>
              <a:noFill/>
            </a:ln>
          </p:spPr>
        </p:sp>
        <p:grpSp>
          <p:nvGrpSpPr>
            <p:cNvPr id="13" name="Group 13"/>
            <p:cNvGrpSpPr/>
            <p:nvPr/>
          </p:nvGrpSpPr>
          <p:grpSpPr>
            <a:xfrm>
              <a:off x="1070549" y="1517663"/>
              <a:ext cx="240143" cy="206314"/>
              <a:chOff x="1070549" y="1517663"/>
              <a:chExt cx="240143" cy="206314"/>
            </a:xfrm>
          </p:grpSpPr>
          <p:sp>
            <p:nvSpPr>
              <p:cNvPr id="10" name="Freeform 10"/>
              <p:cNvSpPr/>
              <p:nvPr/>
            </p:nvSpPr>
            <p:spPr>
              <a:xfrm>
                <a:off x="1190625" y="1593056"/>
                <a:ext cx="9525" cy="47625"/>
              </a:xfrm>
              <a:custGeom>
                <a:avLst/>
                <a:gdLst/>
                <a:ahLst/>
                <a:cxnLst/>
                <a:rect l="l" t="t" r="r" b="b"/>
                <a:pathLst>
                  <a:path w="9525" h="47625">
                    <a:moveTo>
                      <a:pt x="0" y="0"/>
                    </a:moveTo>
                    <a:lnTo>
                      <a:pt x="0" y="47625"/>
                    </a:lnTo>
                  </a:path>
                </a:pathLst>
              </a:custGeom>
              <a:noFill/>
              <a:ln w="19050">
                <a:solidFill>
                  <a:srgbClr val="F59E0B"/>
                </a:solidFill>
              </a:ln>
            </p:spPr>
          </p:sp>
          <p:sp>
            <p:nvSpPr>
              <p:cNvPr id="11" name="Freeform 11"/>
              <p:cNvSpPr/>
              <p:nvPr/>
            </p:nvSpPr>
            <p:spPr>
              <a:xfrm>
                <a:off x="1070549" y="151766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F59E0B"/>
                </a:solidFill>
              </a:ln>
            </p:spPr>
          </p:sp>
          <p:sp>
            <p:nvSpPr>
              <p:cNvPr id="12" name="Freeform 12"/>
              <p:cNvSpPr/>
              <p:nvPr/>
            </p:nvSpPr>
            <p:spPr>
              <a:xfrm>
                <a:off x="1190625" y="1676400"/>
                <a:ext cx="9525" cy="9525"/>
              </a:xfrm>
              <a:custGeom>
                <a:avLst/>
                <a:gdLst/>
                <a:ahLst/>
                <a:cxnLst/>
                <a:rect l="l" t="t" r="r" b="b"/>
                <a:pathLst>
                  <a:path w="9525" h="9525">
                    <a:moveTo>
                      <a:pt x="0" y="0"/>
                    </a:moveTo>
                    <a:lnTo>
                      <a:pt x="119" y="0"/>
                    </a:lnTo>
                  </a:path>
                </a:pathLst>
              </a:custGeom>
              <a:noFill/>
              <a:ln w="19050">
                <a:solidFill>
                  <a:srgbClr val="F59E0B"/>
                </a:solidFill>
              </a:ln>
            </p:spPr>
          </p:sp>
        </p:grpSp>
        <p:sp>
          <p:nvSpPr>
            <p:cNvPr id="14" name="TextBox 14"/>
            <p:cNvSpPr txBox="1"/>
            <p:nvPr/>
          </p:nvSpPr>
          <p:spPr>
            <a:xfrm>
              <a:off x="1411605" y="1549718"/>
              <a:ext cx="412337"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痛点</a:t>
              </a:r>
            </a:p>
          </p:txBody>
        </p:sp>
        <p:sp>
          <p:nvSpPr>
            <p:cNvPr id="15" name="TextBox 15"/>
            <p:cNvSpPr txBox="1"/>
            <p:nvPr/>
          </p:nvSpPr>
          <p:spPr>
            <a:xfrm>
              <a:off x="1414462" y="1878806"/>
              <a:ext cx="6134338"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产品闭门写 PRD → 进开发才发现接口不存在 / 数据结构不符 / 边界没想清 → 返工 → 排期延误</a:t>
              </a:r>
            </a:p>
          </p:txBody>
        </p:sp>
        <p:sp>
          <p:nvSpPr>
            <p:cNvPr id="16" name="TextBox 16"/>
            <p:cNvSpPr txBox="1"/>
            <p:nvPr/>
          </p:nvSpPr>
          <p:spPr>
            <a:xfrm>
              <a:off x="1416368" y="2142649"/>
              <a:ext cx="2566583"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需求阶段的返工,是组织提效最大的隐形漏斗</a:t>
              </a:r>
            </a:p>
          </p:txBody>
        </p:sp>
      </p:grpSp>
      <p:grpSp>
        <p:nvGrpSpPr>
          <p:cNvPr id="19" name="Group 19"/>
          <p:cNvGrpSpPr/>
          <p:nvPr/>
        </p:nvGrpSpPr>
        <p:grpSpPr>
          <a:xfrm>
            <a:off x="746760" y="2651760"/>
            <a:ext cx="1794701" cy="243840"/>
            <a:chOff x="746760" y="2651760"/>
            <a:chExt cx="1794701" cy="243840"/>
          </a:xfrm>
        </p:grpSpPr>
        <p:sp>
          <p:nvSpPr>
            <p:cNvPr id="18" name="TextBox 18"/>
            <p:cNvSpPr txBox="1"/>
            <p:nvPr/>
          </p:nvSpPr>
          <p:spPr>
            <a:xfrm>
              <a:off x="746760" y="2651760"/>
              <a:ext cx="1794701" cy="243840"/>
            </a:xfrm>
            <a:prstGeom prst="rect">
              <a:avLst/>
            </a:prstGeom>
            <a:noFill/>
            <a:ln>
              <a:noFill/>
            </a:ln>
          </p:spPr>
          <p:txBody>
            <a:bodyPr wrap="none" lIns="0" tIns="0" rIns="0" bIns="0" anchor="t" anchorCtr="0">
              <a:spAutoFit/>
            </a:bodyPr>
            <a:lstStyle/>
            <a:p>
              <a:pPr algn="l"/>
              <a:r>
                <a:rPr lang="zh-CN" sz="1200" b="1" dirty="0">
                  <a:solidFill>
                    <a:srgbClr val="0052A6"/>
                  </a:solidFill>
                  <a:latin typeface="Arial"/>
                  <a:ea typeface="Microsoft YaHei"/>
                  <a:cs typeface="Arial"/>
                </a:rPr>
                <a:t>现状流程 vs FarAI 流程</a:t>
              </a:r>
            </a:p>
          </p:txBody>
        </p:sp>
      </p:grpSp>
      <p:grpSp>
        <p:nvGrpSpPr>
          <p:cNvPr id="35" name="Group 35"/>
          <p:cNvGrpSpPr/>
          <p:nvPr/>
        </p:nvGrpSpPr>
        <p:grpSpPr>
          <a:xfrm>
            <a:off x="748665" y="2971800"/>
            <a:ext cx="6280785" cy="342900"/>
            <a:chOff x="748665" y="2971800"/>
            <a:chExt cx="6280785" cy="342900"/>
          </a:xfrm>
        </p:grpSpPr>
        <p:sp>
          <p:nvSpPr>
            <p:cNvPr id="20" name="TextBox 20"/>
            <p:cNvSpPr txBox="1"/>
            <p:nvPr/>
          </p:nvSpPr>
          <p:spPr>
            <a:xfrm>
              <a:off x="748665" y="3010852"/>
              <a:ext cx="306705" cy="213360"/>
            </a:xfrm>
            <a:prstGeom prst="rect">
              <a:avLst/>
            </a:prstGeom>
            <a:noFill/>
            <a:ln>
              <a:noFill/>
            </a:ln>
          </p:spPr>
          <p:txBody>
            <a:bodyPr wrap="none" lIns="0" tIns="0" rIns="0" bIns="0" anchor="t" anchorCtr="0">
              <a:spAutoFit/>
            </a:bodyPr>
            <a:lstStyle/>
            <a:p>
              <a:pPr algn="l"/>
              <a:r>
                <a:rPr lang="zh-CN" sz="1050" dirty="0">
                  <a:solidFill>
                    <a:srgbClr val="6B7785"/>
                  </a:solidFill>
                  <a:latin typeface="Arial"/>
                  <a:ea typeface="Microsoft YaHei"/>
                  <a:cs typeface="Arial"/>
                </a:rPr>
                <a:t>现状</a:t>
              </a:r>
            </a:p>
          </p:txBody>
        </p:sp>
        <p:sp>
          <p:nvSpPr>
            <p:cNvPr id="21" name="Rectangle 21"/>
            <p:cNvSpPr/>
            <p:nvPr/>
          </p:nvSpPr>
          <p:spPr>
            <a:xfrm>
              <a:off x="1238250" y="2971800"/>
              <a:ext cx="952500" cy="342900"/>
            </a:xfrm>
            <a:prstGeom prst="roundRect">
              <a:avLst>
                <a:gd name="adj" fmla="val 16667"/>
              </a:avLst>
            </a:prstGeom>
            <a:solidFill>
              <a:srgbClr val="FFFFFF"/>
            </a:solidFill>
            <a:ln w="9525">
              <a:solidFill>
                <a:srgbClr val="E3E9F2"/>
              </a:solidFill>
            </a:ln>
          </p:spPr>
        </p:sp>
        <p:sp>
          <p:nvSpPr>
            <p:cNvPr id="22" name="TextBox 22"/>
            <p:cNvSpPr txBox="1"/>
            <p:nvPr/>
          </p:nvSpPr>
          <p:spPr>
            <a:xfrm>
              <a:off x="1399830" y="3095149"/>
              <a:ext cx="629341" cy="198120"/>
            </a:xfrm>
            <a:prstGeom prst="rect">
              <a:avLst/>
            </a:prstGeom>
            <a:noFill/>
            <a:ln>
              <a:noFill/>
            </a:ln>
          </p:spPr>
          <p:txBody>
            <a:bodyPr wrap="none" lIns="0" tIns="0" rIns="0" bIns="0" anchor="t" anchorCtr="0">
              <a:spAutoFit/>
            </a:bodyPr>
            <a:lstStyle/>
            <a:p>
              <a:pPr algn="ctr"/>
              <a:r>
                <a:rPr lang="zh-CN" sz="975" dirty="0">
                  <a:solidFill>
                    <a:srgbClr val="5E6A78"/>
                  </a:solidFill>
                  <a:latin typeface="Arial"/>
                  <a:ea typeface="Microsoft YaHei"/>
                  <a:cs typeface="Arial"/>
                </a:rPr>
                <a:t>产品写PRD</a:t>
              </a:r>
            </a:p>
          </p:txBody>
        </p:sp>
        <p:sp>
          <p:nvSpPr>
            <p:cNvPr id="23" name="Line 23"/>
            <p:cNvSpPr/>
            <p:nvPr/>
          </p:nvSpPr>
          <p:spPr>
            <a:xfrm>
              <a:off x="2209800" y="3143250"/>
              <a:ext cx="190500" cy="1"/>
            </a:xfrm>
            <a:prstGeom prst="line">
              <a:avLst/>
            </a:prstGeom>
            <a:noFill/>
            <a:ln w="19050">
              <a:solidFill>
                <a:srgbClr val="F59E0B"/>
              </a:solidFill>
              <a:tailEnd type="triangle" w="lg" len="lg"/>
            </a:ln>
          </p:spPr>
        </p:sp>
        <p:sp>
          <p:nvSpPr>
            <p:cNvPr id="24" name="Rectangle 24"/>
            <p:cNvSpPr/>
            <p:nvPr/>
          </p:nvSpPr>
          <p:spPr>
            <a:xfrm>
              <a:off x="2400300" y="2971800"/>
              <a:ext cx="952500" cy="342900"/>
            </a:xfrm>
            <a:prstGeom prst="roundRect">
              <a:avLst>
                <a:gd name="adj" fmla="val 16667"/>
              </a:avLst>
            </a:prstGeom>
            <a:solidFill>
              <a:srgbClr val="FFFFFF"/>
            </a:solidFill>
            <a:ln w="9525">
              <a:solidFill>
                <a:srgbClr val="E3E9F2"/>
              </a:solidFill>
            </a:ln>
          </p:spPr>
        </p:sp>
        <p:sp>
          <p:nvSpPr>
            <p:cNvPr id="25" name="TextBox 25"/>
            <p:cNvSpPr txBox="1"/>
            <p:nvPr/>
          </p:nvSpPr>
          <p:spPr>
            <a:xfrm>
              <a:off x="2734151" y="3095149"/>
              <a:ext cx="284798" cy="198120"/>
            </a:xfrm>
            <a:prstGeom prst="rect">
              <a:avLst/>
            </a:prstGeom>
            <a:noFill/>
            <a:ln>
              <a:noFill/>
            </a:ln>
          </p:spPr>
          <p:txBody>
            <a:bodyPr wrap="none" lIns="0" tIns="0" rIns="0" bIns="0" anchor="t" anchorCtr="0">
              <a:spAutoFit/>
            </a:bodyPr>
            <a:lstStyle/>
            <a:p>
              <a:pPr algn="ctr"/>
              <a:r>
                <a:rPr lang="zh-CN" sz="975" dirty="0">
                  <a:solidFill>
                    <a:srgbClr val="5E6A78"/>
                  </a:solidFill>
                  <a:latin typeface="Arial"/>
                  <a:ea typeface="Microsoft YaHei"/>
                  <a:cs typeface="Arial"/>
                </a:rPr>
                <a:t>评审</a:t>
              </a:r>
            </a:p>
          </p:txBody>
        </p:sp>
        <p:sp>
          <p:nvSpPr>
            <p:cNvPr id="26" name="Line 26"/>
            <p:cNvSpPr/>
            <p:nvPr/>
          </p:nvSpPr>
          <p:spPr>
            <a:xfrm>
              <a:off x="3371850" y="3143250"/>
              <a:ext cx="190500" cy="1"/>
            </a:xfrm>
            <a:prstGeom prst="line">
              <a:avLst/>
            </a:prstGeom>
            <a:noFill/>
            <a:ln w="19050">
              <a:solidFill>
                <a:srgbClr val="F59E0B"/>
              </a:solidFill>
              <a:tailEnd type="triangle" w="lg" len="lg"/>
            </a:ln>
          </p:spPr>
        </p:sp>
        <p:sp>
          <p:nvSpPr>
            <p:cNvPr id="27" name="Rectangle 27"/>
            <p:cNvSpPr/>
            <p:nvPr/>
          </p:nvSpPr>
          <p:spPr>
            <a:xfrm>
              <a:off x="3562350" y="2971800"/>
              <a:ext cx="952500" cy="342900"/>
            </a:xfrm>
            <a:prstGeom prst="roundRect">
              <a:avLst>
                <a:gd name="adj" fmla="val 16667"/>
              </a:avLst>
            </a:prstGeom>
            <a:solidFill>
              <a:srgbClr val="FFFFFF"/>
            </a:solidFill>
            <a:ln w="9525">
              <a:solidFill>
                <a:srgbClr val="E3E9F2"/>
              </a:solidFill>
            </a:ln>
          </p:spPr>
        </p:sp>
        <p:sp>
          <p:nvSpPr>
            <p:cNvPr id="28" name="TextBox 28"/>
            <p:cNvSpPr txBox="1"/>
            <p:nvPr/>
          </p:nvSpPr>
          <p:spPr>
            <a:xfrm>
              <a:off x="3896201" y="3095149"/>
              <a:ext cx="284798" cy="198120"/>
            </a:xfrm>
            <a:prstGeom prst="rect">
              <a:avLst/>
            </a:prstGeom>
            <a:noFill/>
            <a:ln>
              <a:noFill/>
            </a:ln>
          </p:spPr>
          <p:txBody>
            <a:bodyPr wrap="none" lIns="0" tIns="0" rIns="0" bIns="0" anchor="t" anchorCtr="0">
              <a:spAutoFit/>
            </a:bodyPr>
            <a:lstStyle/>
            <a:p>
              <a:pPr algn="ctr"/>
              <a:r>
                <a:rPr lang="zh-CN" sz="975" dirty="0">
                  <a:solidFill>
                    <a:srgbClr val="5E6A78"/>
                  </a:solidFill>
                  <a:latin typeface="Arial"/>
                  <a:ea typeface="Microsoft YaHei"/>
                  <a:cs typeface="Arial"/>
                </a:rPr>
                <a:t>开发</a:t>
              </a:r>
            </a:p>
          </p:txBody>
        </p:sp>
        <p:sp>
          <p:nvSpPr>
            <p:cNvPr id="29" name="Line 29"/>
            <p:cNvSpPr/>
            <p:nvPr/>
          </p:nvSpPr>
          <p:spPr>
            <a:xfrm>
              <a:off x="4533900" y="3143250"/>
              <a:ext cx="190500" cy="1"/>
            </a:xfrm>
            <a:prstGeom prst="line">
              <a:avLst/>
            </a:prstGeom>
            <a:noFill/>
            <a:ln w="19050">
              <a:solidFill>
                <a:srgbClr val="F59E0B"/>
              </a:solidFill>
              <a:tailEnd type="triangle" w="lg" len="lg"/>
            </a:ln>
          </p:spPr>
        </p:sp>
        <p:sp>
          <p:nvSpPr>
            <p:cNvPr id="30" name="Rectangle 30"/>
            <p:cNvSpPr/>
            <p:nvPr/>
          </p:nvSpPr>
          <p:spPr>
            <a:xfrm>
              <a:off x="4724400" y="2971800"/>
              <a:ext cx="1143000" cy="342900"/>
            </a:xfrm>
            <a:prstGeom prst="roundRect">
              <a:avLst>
                <a:gd name="adj" fmla="val 16667"/>
              </a:avLst>
            </a:prstGeom>
            <a:solidFill>
              <a:srgbClr val="FFFFFF"/>
            </a:solidFill>
            <a:ln w="19050">
              <a:solidFill>
                <a:srgbClr val="F59E0B"/>
              </a:solidFill>
            </a:ln>
          </p:spPr>
        </p:sp>
        <p:sp>
          <p:nvSpPr>
            <p:cNvPr id="31" name="TextBox 31"/>
            <p:cNvSpPr txBox="1"/>
            <p:nvPr/>
          </p:nvSpPr>
          <p:spPr>
            <a:xfrm>
              <a:off x="5010483" y="3095149"/>
              <a:ext cx="570833"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a:ea typeface="Microsoft YaHei"/>
                  <a:cs typeface="Arial"/>
                </a:rPr>
                <a:t>发现问题</a:t>
              </a:r>
            </a:p>
          </p:txBody>
        </p:sp>
        <p:sp>
          <p:nvSpPr>
            <p:cNvPr id="32" name="Line 32"/>
            <p:cNvSpPr/>
            <p:nvPr/>
          </p:nvSpPr>
          <p:spPr>
            <a:xfrm>
              <a:off x="5886450" y="3143250"/>
              <a:ext cx="190500" cy="1"/>
            </a:xfrm>
            <a:prstGeom prst="line">
              <a:avLst/>
            </a:prstGeom>
            <a:noFill/>
            <a:ln w="19050">
              <a:solidFill>
                <a:srgbClr val="F59E0B"/>
              </a:solidFill>
              <a:tailEnd type="triangle" w="lg" len="lg"/>
            </a:ln>
          </p:spPr>
        </p:sp>
        <p:sp>
          <p:nvSpPr>
            <p:cNvPr id="33" name="Rectangle 33"/>
            <p:cNvSpPr/>
            <p:nvPr/>
          </p:nvSpPr>
          <p:spPr>
            <a:xfrm>
              <a:off x="6076950" y="2971800"/>
              <a:ext cx="952500" cy="342900"/>
            </a:xfrm>
            <a:prstGeom prst="roundRect">
              <a:avLst>
                <a:gd name="adj" fmla="val 16667"/>
              </a:avLst>
            </a:prstGeom>
            <a:solidFill>
              <a:srgbClr val="FFFFFF"/>
            </a:solidFill>
            <a:ln w="19050">
              <a:solidFill>
                <a:srgbClr val="F59E0B"/>
              </a:solidFill>
            </a:ln>
          </p:spPr>
        </p:sp>
        <p:sp>
          <p:nvSpPr>
            <p:cNvPr id="34" name="TextBox 34"/>
            <p:cNvSpPr txBox="1"/>
            <p:nvPr/>
          </p:nvSpPr>
          <p:spPr>
            <a:xfrm>
              <a:off x="6404300" y="3095149"/>
              <a:ext cx="297799"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Arial"/>
                  <a:ea typeface="Microsoft YaHei"/>
                  <a:cs typeface="Arial"/>
                </a:rPr>
                <a:t>返工</a:t>
              </a:r>
            </a:p>
          </p:txBody>
        </p:sp>
      </p:grpSp>
      <p:grpSp>
        <p:nvGrpSpPr>
          <p:cNvPr id="51" name="Group 51"/>
          <p:cNvGrpSpPr/>
          <p:nvPr/>
        </p:nvGrpSpPr>
        <p:grpSpPr>
          <a:xfrm>
            <a:off x="748665" y="3810000"/>
            <a:ext cx="10281285" cy="342900"/>
            <a:chOff x="748665" y="3810000"/>
            <a:chExt cx="10281285" cy="342900"/>
          </a:xfrm>
        </p:grpSpPr>
        <p:sp>
          <p:nvSpPr>
            <p:cNvPr id="36" name="TextBox 36"/>
            <p:cNvSpPr txBox="1"/>
            <p:nvPr/>
          </p:nvSpPr>
          <p:spPr>
            <a:xfrm>
              <a:off x="748665" y="3849052"/>
              <a:ext cx="376714" cy="213360"/>
            </a:xfrm>
            <a:prstGeom prst="rect">
              <a:avLst/>
            </a:prstGeom>
            <a:noFill/>
            <a:ln>
              <a:noFill/>
            </a:ln>
          </p:spPr>
          <p:txBody>
            <a:bodyPr wrap="none" lIns="0" tIns="0" rIns="0" bIns="0" anchor="t" anchorCtr="0">
              <a:spAutoFit/>
            </a:bodyPr>
            <a:lstStyle/>
            <a:p>
              <a:pPr algn="l"/>
              <a:r>
                <a:rPr lang="zh-CN" sz="1050" dirty="0">
                  <a:solidFill>
                    <a:srgbClr val="0052A6"/>
                  </a:solidFill>
                  <a:latin typeface="Arial"/>
                  <a:ea typeface="Microsoft YaHei"/>
                  <a:cs typeface="Arial"/>
                </a:rPr>
                <a:t>FarAI</a:t>
              </a:r>
            </a:p>
          </p:txBody>
        </p:sp>
        <p:sp>
          <p:nvSpPr>
            <p:cNvPr id="37" name="Rectangle 37"/>
            <p:cNvSpPr/>
            <p:nvPr/>
          </p:nvSpPr>
          <p:spPr>
            <a:xfrm>
              <a:off x="1238250" y="3810000"/>
              <a:ext cx="1047750" cy="342900"/>
            </a:xfrm>
            <a:prstGeom prst="roundRect">
              <a:avLst>
                <a:gd name="adj" fmla="val 16667"/>
              </a:avLst>
            </a:prstGeom>
            <a:solidFill>
              <a:srgbClr val="0052A6"/>
            </a:solidFill>
            <a:ln>
              <a:noFill/>
            </a:ln>
          </p:spPr>
        </p:sp>
        <p:sp>
          <p:nvSpPr>
            <p:cNvPr id="38" name="TextBox 38"/>
            <p:cNvSpPr txBox="1"/>
            <p:nvPr/>
          </p:nvSpPr>
          <p:spPr>
            <a:xfrm>
              <a:off x="1424702" y="3933349"/>
              <a:ext cx="674846"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产品提需求</a:t>
              </a:r>
            </a:p>
          </p:txBody>
        </p:sp>
        <p:sp>
          <p:nvSpPr>
            <p:cNvPr id="39" name="Line 39"/>
            <p:cNvSpPr/>
            <p:nvPr/>
          </p:nvSpPr>
          <p:spPr>
            <a:xfrm>
              <a:off x="2305050" y="3981450"/>
              <a:ext cx="190500" cy="1"/>
            </a:xfrm>
            <a:prstGeom prst="line">
              <a:avLst/>
            </a:prstGeom>
            <a:noFill/>
            <a:ln w="19050">
              <a:solidFill>
                <a:srgbClr val="0052A6"/>
              </a:solidFill>
              <a:tailEnd type="triangle" w="lg" len="lg"/>
            </a:ln>
          </p:spPr>
        </p:sp>
        <p:sp>
          <p:nvSpPr>
            <p:cNvPr id="40" name="Rectangle 40"/>
            <p:cNvSpPr/>
            <p:nvPr/>
          </p:nvSpPr>
          <p:spPr>
            <a:xfrm>
              <a:off x="2495550" y="3810000"/>
              <a:ext cx="1714500" cy="342900"/>
            </a:xfrm>
            <a:prstGeom prst="roundRect">
              <a:avLst>
                <a:gd name="adj" fmla="val 16667"/>
              </a:avLst>
            </a:prstGeom>
            <a:solidFill>
              <a:srgbClr val="246BFE"/>
            </a:solidFill>
            <a:ln>
              <a:noFill/>
            </a:ln>
          </p:spPr>
        </p:sp>
        <p:sp>
          <p:nvSpPr>
            <p:cNvPr id="41" name="TextBox 41"/>
            <p:cNvSpPr txBox="1"/>
            <p:nvPr/>
          </p:nvSpPr>
          <p:spPr>
            <a:xfrm>
              <a:off x="2732592" y="3933349"/>
              <a:ext cx="1240417"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编码 Agent 反读代码</a:t>
              </a:r>
            </a:p>
          </p:txBody>
        </p:sp>
        <p:sp>
          <p:nvSpPr>
            <p:cNvPr id="42" name="Line 42"/>
            <p:cNvSpPr/>
            <p:nvPr/>
          </p:nvSpPr>
          <p:spPr>
            <a:xfrm>
              <a:off x="4229100" y="3981450"/>
              <a:ext cx="190500" cy="1"/>
            </a:xfrm>
            <a:prstGeom prst="line">
              <a:avLst/>
            </a:prstGeom>
            <a:noFill/>
            <a:ln w="19050">
              <a:solidFill>
                <a:srgbClr val="0052A6"/>
              </a:solidFill>
              <a:tailEnd type="triangle" w="lg" len="lg"/>
            </a:ln>
          </p:spPr>
        </p:sp>
        <p:sp>
          <p:nvSpPr>
            <p:cNvPr id="43" name="Rectangle 43"/>
            <p:cNvSpPr/>
            <p:nvPr/>
          </p:nvSpPr>
          <p:spPr>
            <a:xfrm>
              <a:off x="4419600" y="3810000"/>
              <a:ext cx="1714500" cy="342900"/>
            </a:xfrm>
            <a:prstGeom prst="roundRect">
              <a:avLst>
                <a:gd name="adj" fmla="val 16667"/>
              </a:avLst>
            </a:prstGeom>
            <a:solidFill>
              <a:srgbClr val="246BFE"/>
            </a:solidFill>
            <a:ln>
              <a:noFill/>
            </a:ln>
          </p:spPr>
        </p:sp>
        <p:sp>
          <p:nvSpPr>
            <p:cNvPr id="44" name="TextBox 44"/>
            <p:cNvSpPr txBox="1"/>
            <p:nvPr/>
          </p:nvSpPr>
          <p:spPr>
            <a:xfrm>
              <a:off x="4806160" y="3933349"/>
              <a:ext cx="941380"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Agent 反向提问</a:t>
              </a:r>
            </a:p>
          </p:txBody>
        </p:sp>
        <p:sp>
          <p:nvSpPr>
            <p:cNvPr id="45" name="Line 45"/>
            <p:cNvSpPr/>
            <p:nvPr/>
          </p:nvSpPr>
          <p:spPr>
            <a:xfrm>
              <a:off x="6153150" y="3981450"/>
              <a:ext cx="190500" cy="1"/>
            </a:xfrm>
            <a:prstGeom prst="line">
              <a:avLst/>
            </a:prstGeom>
            <a:noFill/>
            <a:ln w="19050">
              <a:solidFill>
                <a:srgbClr val="0052A6"/>
              </a:solidFill>
              <a:tailEnd type="triangle" w="lg" len="lg"/>
            </a:ln>
          </p:spPr>
        </p:sp>
        <p:sp>
          <p:nvSpPr>
            <p:cNvPr id="46" name="Rectangle 46"/>
            <p:cNvSpPr/>
            <p:nvPr/>
          </p:nvSpPr>
          <p:spPr>
            <a:xfrm>
              <a:off x="6343650" y="3810000"/>
              <a:ext cx="1809750" cy="342900"/>
            </a:xfrm>
            <a:prstGeom prst="roundRect">
              <a:avLst>
                <a:gd name="adj" fmla="val 16667"/>
              </a:avLst>
            </a:prstGeom>
            <a:solidFill>
              <a:srgbClr val="0052A6"/>
            </a:solidFill>
            <a:ln>
              <a:noFill/>
            </a:ln>
          </p:spPr>
        </p:sp>
        <p:sp>
          <p:nvSpPr>
            <p:cNvPr id="47" name="TextBox 47"/>
            <p:cNvSpPr txBox="1"/>
            <p:nvPr/>
          </p:nvSpPr>
          <p:spPr>
            <a:xfrm>
              <a:off x="6680323" y="3933349"/>
              <a:ext cx="113640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产品澄清边界/异常</a:t>
              </a:r>
            </a:p>
          </p:txBody>
        </p:sp>
        <p:sp>
          <p:nvSpPr>
            <p:cNvPr id="48" name="Line 48"/>
            <p:cNvSpPr/>
            <p:nvPr/>
          </p:nvSpPr>
          <p:spPr>
            <a:xfrm>
              <a:off x="8172450" y="3981450"/>
              <a:ext cx="190500" cy="1"/>
            </a:xfrm>
            <a:prstGeom prst="line">
              <a:avLst/>
            </a:prstGeom>
            <a:noFill/>
            <a:ln w="19050">
              <a:solidFill>
                <a:srgbClr val="0052A6"/>
              </a:solidFill>
              <a:tailEnd type="triangle" w="lg" len="lg"/>
            </a:ln>
          </p:spPr>
        </p:sp>
        <p:sp>
          <p:nvSpPr>
            <p:cNvPr id="49" name="Rectangle 49"/>
            <p:cNvSpPr/>
            <p:nvPr/>
          </p:nvSpPr>
          <p:spPr>
            <a:xfrm>
              <a:off x="8362950" y="3810000"/>
              <a:ext cx="2667000" cy="342900"/>
            </a:xfrm>
            <a:prstGeom prst="roundRect">
              <a:avLst>
                <a:gd name="adj" fmla="val 16667"/>
              </a:avLst>
            </a:prstGeom>
            <a:solidFill>
              <a:srgbClr val="0E9F6E"/>
            </a:solidFill>
            <a:ln>
              <a:noFill/>
            </a:ln>
          </p:spPr>
        </p:sp>
        <p:sp>
          <p:nvSpPr>
            <p:cNvPr id="50" name="TextBox 50"/>
            <p:cNvSpPr txBox="1"/>
            <p:nvPr/>
          </p:nvSpPr>
          <p:spPr>
            <a:xfrm>
              <a:off x="8779642" y="3933349"/>
              <a:ext cx="183361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高质量 PRD + 验收标准 + 契约</a:t>
              </a:r>
            </a:p>
          </p:txBody>
        </p:sp>
      </p:grpSp>
      <p:grpSp>
        <p:nvGrpSpPr>
          <p:cNvPr id="74" name="Group 74"/>
          <p:cNvGrpSpPr/>
          <p:nvPr/>
        </p:nvGrpSpPr>
        <p:grpSpPr>
          <a:xfrm>
            <a:off x="762000" y="4457700"/>
            <a:ext cx="10668000" cy="1524000"/>
            <a:chOff x="762000" y="4457700"/>
            <a:chExt cx="10668000" cy="1524000"/>
          </a:xfrm>
        </p:grpSpPr>
        <p:sp>
          <p:nvSpPr>
            <p:cNvPr id="52" name="Rectangle 52"/>
            <p:cNvSpPr/>
            <p:nvPr/>
          </p:nvSpPr>
          <p:spPr>
            <a:xfrm>
              <a:off x="762000" y="4457700"/>
              <a:ext cx="10668000" cy="1524000"/>
            </a:xfrm>
            <a:prstGeom prst="roundRect">
              <a:avLst>
                <a:gd name="adj" fmla="val 8750"/>
              </a:avLst>
            </a:prstGeom>
            <a:solidFill>
              <a:srgbClr val="F4F7FC"/>
            </a:solidFill>
            <a:ln>
              <a:noFill/>
            </a:ln>
          </p:spPr>
        </p:sp>
        <p:sp>
          <p:nvSpPr>
            <p:cNvPr id="53" name="Rectangle 53"/>
            <p:cNvSpPr/>
            <p:nvPr/>
          </p:nvSpPr>
          <p:spPr>
            <a:xfrm>
              <a:off x="762000" y="4457700"/>
              <a:ext cx="57150" cy="1524000"/>
            </a:xfrm>
            <a:prstGeom prst="roundRect">
              <a:avLst>
                <a:gd name="adj" fmla="val 50000"/>
              </a:avLst>
            </a:prstGeom>
            <a:solidFill>
              <a:srgbClr val="0052A6"/>
            </a:solidFill>
            <a:ln>
              <a:noFill/>
            </a:ln>
          </p:spPr>
        </p:sp>
        <p:grpSp>
          <p:nvGrpSpPr>
            <p:cNvPr id="59" name="Group 59"/>
            <p:cNvGrpSpPr/>
            <p:nvPr/>
          </p:nvGrpSpPr>
          <p:grpSpPr>
            <a:xfrm>
              <a:off x="1103312" y="4681538"/>
              <a:ext cx="155575" cy="200025"/>
              <a:chOff x="1103312" y="4681538"/>
              <a:chExt cx="155575" cy="200025"/>
            </a:xfrm>
          </p:grpSpPr>
          <p:sp>
            <p:nvSpPr>
              <p:cNvPr id="54" name="Freeform 54"/>
              <p:cNvSpPr/>
              <p:nvPr/>
            </p:nvSpPr>
            <p:spPr>
              <a:xfrm>
                <a:off x="1203325" y="4681538"/>
                <a:ext cx="55562" cy="55562"/>
              </a:xfrm>
              <a:custGeom>
                <a:avLst/>
                <a:gdLst/>
                <a:ahLst/>
                <a:cxnLst/>
                <a:rect l="l" t="t" r="r" b="b"/>
                <a:pathLst>
                  <a:path w="55562" h="55562">
                    <a:moveTo>
                      <a:pt x="0" y="0"/>
                    </a:moveTo>
                    <a:lnTo>
                      <a:pt x="0" y="44450"/>
                    </a:lnTo>
                    <a:cubicBezTo>
                      <a:pt x="0" y="50587"/>
                      <a:pt x="4975" y="55562"/>
                      <a:pt x="11112" y="55562"/>
                    </a:cubicBezTo>
                    <a:lnTo>
                      <a:pt x="55562" y="55562"/>
                    </a:lnTo>
                  </a:path>
                </a:pathLst>
              </a:custGeom>
              <a:noFill/>
              <a:ln w="19050">
                <a:solidFill>
                  <a:srgbClr val="0052A6"/>
                </a:solidFill>
              </a:ln>
            </p:spPr>
          </p:sp>
          <p:sp>
            <p:nvSpPr>
              <p:cNvPr id="55" name="Freeform 55"/>
              <p:cNvSpPr/>
              <p:nvPr/>
            </p:nvSpPr>
            <p:spPr>
              <a:xfrm>
                <a:off x="1103312" y="468153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3" y="0"/>
                    </a:lnTo>
                    <a:lnTo>
                      <a:pt x="155575" y="55562"/>
                    </a:lnTo>
                    <a:lnTo>
                      <a:pt x="155575" y="177800"/>
                    </a:lnTo>
                    <a:cubicBezTo>
                      <a:pt x="155575" y="190075"/>
                      <a:pt x="145625" y="200025"/>
                      <a:pt x="133350" y="200025"/>
                    </a:cubicBezTo>
                  </a:path>
                </a:pathLst>
              </a:custGeom>
              <a:noFill/>
              <a:ln w="19050">
                <a:solidFill>
                  <a:srgbClr val="0052A6"/>
                </a:solidFill>
              </a:ln>
            </p:spPr>
          </p:sp>
          <p:sp>
            <p:nvSpPr>
              <p:cNvPr id="56" name="Freeform 56"/>
              <p:cNvSpPr/>
              <p:nvPr/>
            </p:nvSpPr>
            <p:spPr>
              <a:xfrm>
                <a:off x="1147762" y="4748212"/>
                <a:ext cx="11113" cy="9525"/>
              </a:xfrm>
              <a:custGeom>
                <a:avLst/>
                <a:gdLst/>
                <a:ahLst/>
                <a:cxnLst/>
                <a:rect l="l" t="t" r="r" b="b"/>
                <a:pathLst>
                  <a:path w="11113" h="9525">
                    <a:moveTo>
                      <a:pt x="0" y="0"/>
                    </a:moveTo>
                    <a:lnTo>
                      <a:pt x="11113" y="0"/>
                    </a:lnTo>
                  </a:path>
                </a:pathLst>
              </a:custGeom>
              <a:noFill/>
              <a:ln w="19050">
                <a:solidFill>
                  <a:srgbClr val="0052A6"/>
                </a:solidFill>
              </a:ln>
            </p:spPr>
          </p:sp>
          <p:sp>
            <p:nvSpPr>
              <p:cNvPr id="57" name="Freeform 57"/>
              <p:cNvSpPr/>
              <p:nvPr/>
            </p:nvSpPr>
            <p:spPr>
              <a:xfrm>
                <a:off x="1147762" y="4792662"/>
                <a:ext cx="66675" cy="9525"/>
              </a:xfrm>
              <a:custGeom>
                <a:avLst/>
                <a:gdLst/>
                <a:ahLst/>
                <a:cxnLst/>
                <a:rect l="l" t="t" r="r" b="b"/>
                <a:pathLst>
                  <a:path w="66675" h="9525">
                    <a:moveTo>
                      <a:pt x="0" y="0"/>
                    </a:moveTo>
                    <a:lnTo>
                      <a:pt x="66675" y="0"/>
                    </a:lnTo>
                  </a:path>
                </a:pathLst>
              </a:custGeom>
              <a:noFill/>
              <a:ln w="19050">
                <a:solidFill>
                  <a:srgbClr val="0052A6"/>
                </a:solidFill>
              </a:ln>
            </p:spPr>
          </p:sp>
          <p:sp>
            <p:nvSpPr>
              <p:cNvPr id="58" name="Freeform 58"/>
              <p:cNvSpPr/>
              <p:nvPr/>
            </p:nvSpPr>
            <p:spPr>
              <a:xfrm>
                <a:off x="1147762" y="4837112"/>
                <a:ext cx="66675" cy="9525"/>
              </a:xfrm>
              <a:custGeom>
                <a:avLst/>
                <a:gdLst/>
                <a:ahLst/>
                <a:cxnLst/>
                <a:rect l="l" t="t" r="r" b="b"/>
                <a:pathLst>
                  <a:path w="66675" h="9525">
                    <a:moveTo>
                      <a:pt x="0" y="0"/>
                    </a:moveTo>
                    <a:lnTo>
                      <a:pt x="66675" y="0"/>
                    </a:lnTo>
                  </a:path>
                </a:pathLst>
              </a:custGeom>
              <a:noFill/>
              <a:ln w="19050">
                <a:solidFill>
                  <a:srgbClr val="0052A6"/>
                </a:solidFill>
              </a:ln>
            </p:spPr>
          </p:sp>
        </p:grpSp>
        <p:sp>
          <p:nvSpPr>
            <p:cNvPr id="60" name="TextBox 60"/>
            <p:cNvSpPr txBox="1"/>
            <p:nvPr/>
          </p:nvSpPr>
          <p:spPr>
            <a:xfrm>
              <a:off x="1394460" y="4728210"/>
              <a:ext cx="534543" cy="243840"/>
            </a:xfrm>
            <a:prstGeom prst="rect">
              <a:avLst/>
            </a:prstGeom>
            <a:noFill/>
            <a:ln>
              <a:noFill/>
            </a:ln>
          </p:spPr>
          <p:txBody>
            <a:bodyPr wrap="none" lIns="0" tIns="0" rIns="0" bIns="0" anchor="t" anchorCtr="0">
              <a:spAutoFit/>
            </a:bodyPr>
            <a:lstStyle/>
            <a:p>
              <a:pPr algn="l"/>
              <a:r>
                <a:rPr lang="zh-CN" sz="1200" b="1" dirty="0">
                  <a:solidFill>
                    <a:srgbClr val="0052A6"/>
                  </a:solidFill>
                  <a:latin typeface="Arial"/>
                  <a:ea typeface="Microsoft YaHei"/>
                  <a:cs typeface="Arial"/>
                </a:rPr>
                <a:t>输出物</a:t>
              </a:r>
            </a:p>
          </p:txBody>
        </p:sp>
        <p:sp>
          <p:nvSpPr>
            <p:cNvPr id="61" name="Line 61"/>
            <p:cNvSpPr/>
            <p:nvPr/>
          </p:nvSpPr>
          <p:spPr>
            <a:xfrm>
              <a:off x="1047750" y="5029200"/>
              <a:ext cx="10191750" cy="9525"/>
            </a:xfrm>
            <a:custGeom>
              <a:avLst/>
              <a:gdLst/>
              <a:ahLst/>
              <a:cxnLst/>
              <a:rect l="l" t="t" r="r" b="b"/>
              <a:pathLst>
                <a:path w="10191750" h="9525">
                  <a:moveTo>
                    <a:pt x="0" y="0"/>
                  </a:moveTo>
                  <a:lnTo>
                    <a:pt x="10191750" y="0"/>
                  </a:lnTo>
                </a:path>
              </a:pathLst>
            </a:custGeom>
            <a:noFill/>
            <a:ln w="9525">
              <a:solidFill>
                <a:srgbClr val="E3E9F2"/>
              </a:solidFill>
            </a:ln>
          </p:spPr>
        </p:sp>
        <p:sp>
          <p:nvSpPr>
            <p:cNvPr id="62" name="Rectangle 62"/>
            <p:cNvSpPr/>
            <p:nvPr/>
          </p:nvSpPr>
          <p:spPr>
            <a:xfrm>
              <a:off x="1047750" y="5219700"/>
              <a:ext cx="2095500" cy="533400"/>
            </a:xfrm>
            <a:prstGeom prst="roundRect">
              <a:avLst>
                <a:gd name="adj" fmla="val 17857"/>
              </a:avLst>
            </a:prstGeom>
            <a:solidFill>
              <a:srgbClr val="FFFFFF"/>
            </a:solidFill>
            <a:ln>
              <a:noFill/>
            </a:ln>
          </p:spPr>
        </p:sp>
        <p:sp>
          <p:nvSpPr>
            <p:cNvPr id="63" name="TextBox 63"/>
            <p:cNvSpPr txBox="1"/>
            <p:nvPr/>
          </p:nvSpPr>
          <p:spPr>
            <a:xfrm>
              <a:off x="1718295" y="5334952"/>
              <a:ext cx="754411" cy="213360"/>
            </a:xfrm>
            <a:prstGeom prst="rect">
              <a:avLst/>
            </a:prstGeom>
            <a:noFill/>
            <a:ln>
              <a:noFill/>
            </a:ln>
          </p:spPr>
          <p:txBody>
            <a:bodyPr wrap="none" lIns="0" tIns="0" rIns="0" bIns="0" anchor="t" anchorCtr="0">
              <a:spAutoFit/>
            </a:bodyPr>
            <a:lstStyle/>
            <a:p>
              <a:pPr algn="ctr"/>
              <a:r>
                <a:rPr lang="zh-CN" sz="1050" b="1" dirty="0">
                  <a:solidFill>
                    <a:srgbClr val="0052A6"/>
                  </a:solidFill>
                  <a:latin typeface="Arial"/>
                  <a:ea typeface="Microsoft YaHei"/>
                  <a:cs typeface="Arial"/>
                </a:rPr>
                <a:t>高质量 PRD</a:t>
              </a:r>
            </a:p>
          </p:txBody>
        </p:sp>
        <p:sp>
          <p:nvSpPr>
            <p:cNvPr id="64" name="TextBox 64"/>
            <p:cNvSpPr txBox="1"/>
            <p:nvPr/>
          </p:nvSpPr>
          <p:spPr>
            <a:xfrm>
              <a:off x="1474446" y="5549741"/>
              <a:ext cx="1242108"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边界/异常/状态流已澄清</a:t>
              </a:r>
            </a:p>
          </p:txBody>
        </p:sp>
        <p:sp>
          <p:nvSpPr>
            <p:cNvPr id="65" name="Rectangle 65"/>
            <p:cNvSpPr/>
            <p:nvPr/>
          </p:nvSpPr>
          <p:spPr>
            <a:xfrm>
              <a:off x="3333750" y="5219700"/>
              <a:ext cx="2095500" cy="533400"/>
            </a:xfrm>
            <a:prstGeom prst="roundRect">
              <a:avLst>
                <a:gd name="adj" fmla="val 17857"/>
              </a:avLst>
            </a:prstGeom>
            <a:solidFill>
              <a:srgbClr val="FFFFFF"/>
            </a:solidFill>
            <a:ln>
              <a:noFill/>
            </a:ln>
          </p:spPr>
        </p:sp>
        <p:sp>
          <p:nvSpPr>
            <p:cNvPr id="66" name="TextBox 66"/>
            <p:cNvSpPr txBox="1"/>
            <p:nvPr/>
          </p:nvSpPr>
          <p:spPr>
            <a:xfrm>
              <a:off x="3927110" y="5334952"/>
              <a:ext cx="908780" cy="213360"/>
            </a:xfrm>
            <a:prstGeom prst="rect">
              <a:avLst/>
            </a:prstGeom>
            <a:noFill/>
            <a:ln>
              <a:noFill/>
            </a:ln>
          </p:spPr>
          <p:txBody>
            <a:bodyPr wrap="none" lIns="0" tIns="0" rIns="0" bIns="0" anchor="t" anchorCtr="0">
              <a:spAutoFit/>
            </a:bodyPr>
            <a:lstStyle/>
            <a:p>
              <a:pPr algn="ctr"/>
              <a:r>
                <a:rPr lang="zh-CN" sz="1050" b="1" dirty="0">
                  <a:solidFill>
                    <a:srgbClr val="0052A6"/>
                  </a:solidFill>
                  <a:latin typeface="Arial"/>
                  <a:ea typeface="Microsoft YaHei"/>
                  <a:cs typeface="Arial"/>
                </a:rPr>
                <a:t>澄清问题清单</a:t>
              </a:r>
            </a:p>
          </p:txBody>
        </p:sp>
        <p:sp>
          <p:nvSpPr>
            <p:cNvPr id="67" name="TextBox 67"/>
            <p:cNvSpPr txBox="1"/>
            <p:nvPr/>
          </p:nvSpPr>
          <p:spPr>
            <a:xfrm>
              <a:off x="3983224" y="5549741"/>
              <a:ext cx="796552"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Agent 反向推动</a:t>
              </a:r>
            </a:p>
          </p:txBody>
        </p:sp>
        <p:sp>
          <p:nvSpPr>
            <p:cNvPr id="68" name="Rectangle 68"/>
            <p:cNvSpPr/>
            <p:nvPr/>
          </p:nvSpPr>
          <p:spPr>
            <a:xfrm>
              <a:off x="5619750" y="5219700"/>
              <a:ext cx="2095500" cy="533400"/>
            </a:xfrm>
            <a:prstGeom prst="roundRect">
              <a:avLst>
                <a:gd name="adj" fmla="val 17857"/>
              </a:avLst>
            </a:prstGeom>
            <a:solidFill>
              <a:srgbClr val="FFFFFF"/>
            </a:solidFill>
            <a:ln>
              <a:noFill/>
            </a:ln>
          </p:spPr>
        </p:sp>
        <p:sp>
          <p:nvSpPr>
            <p:cNvPr id="69" name="TextBox 69"/>
            <p:cNvSpPr txBox="1"/>
            <p:nvPr/>
          </p:nvSpPr>
          <p:spPr>
            <a:xfrm>
              <a:off x="6360128" y="5334952"/>
              <a:ext cx="614744" cy="213360"/>
            </a:xfrm>
            <a:prstGeom prst="rect">
              <a:avLst/>
            </a:prstGeom>
            <a:noFill/>
            <a:ln>
              <a:noFill/>
            </a:ln>
          </p:spPr>
          <p:txBody>
            <a:bodyPr wrap="none" lIns="0" tIns="0" rIns="0" bIns="0" anchor="t" anchorCtr="0">
              <a:spAutoFit/>
            </a:bodyPr>
            <a:lstStyle/>
            <a:p>
              <a:pPr algn="ctr"/>
              <a:r>
                <a:rPr lang="zh-CN" sz="1050" b="1" dirty="0">
                  <a:solidFill>
                    <a:srgbClr val="0052A6"/>
                  </a:solidFill>
                  <a:latin typeface="Arial"/>
                  <a:ea typeface="Microsoft YaHei"/>
                  <a:cs typeface="Arial"/>
                </a:rPr>
                <a:t>验收标准</a:t>
              </a:r>
            </a:p>
          </p:txBody>
        </p:sp>
        <p:sp>
          <p:nvSpPr>
            <p:cNvPr id="70" name="TextBox 70"/>
            <p:cNvSpPr txBox="1"/>
            <p:nvPr/>
          </p:nvSpPr>
          <p:spPr>
            <a:xfrm>
              <a:off x="6271974" y="5549741"/>
              <a:ext cx="791051"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可验证的验收点</a:t>
              </a:r>
            </a:p>
          </p:txBody>
        </p:sp>
        <p:sp>
          <p:nvSpPr>
            <p:cNvPr id="71" name="Rectangle 71"/>
            <p:cNvSpPr/>
            <p:nvPr/>
          </p:nvSpPr>
          <p:spPr>
            <a:xfrm>
              <a:off x="7905750" y="5219700"/>
              <a:ext cx="2286000" cy="533400"/>
            </a:xfrm>
            <a:prstGeom prst="roundRect">
              <a:avLst>
                <a:gd name="adj" fmla="val 17857"/>
              </a:avLst>
            </a:prstGeom>
            <a:solidFill>
              <a:srgbClr val="FFFFFF"/>
            </a:solidFill>
            <a:ln>
              <a:noFill/>
            </a:ln>
          </p:spPr>
        </p:sp>
        <p:sp>
          <p:nvSpPr>
            <p:cNvPr id="72" name="TextBox 72"/>
            <p:cNvSpPr txBox="1"/>
            <p:nvPr/>
          </p:nvSpPr>
          <p:spPr>
            <a:xfrm>
              <a:off x="8741378" y="5334952"/>
              <a:ext cx="614744" cy="213360"/>
            </a:xfrm>
            <a:prstGeom prst="rect">
              <a:avLst/>
            </a:prstGeom>
            <a:noFill/>
            <a:ln>
              <a:noFill/>
            </a:ln>
          </p:spPr>
          <p:txBody>
            <a:bodyPr wrap="none" lIns="0" tIns="0" rIns="0" bIns="0" anchor="t" anchorCtr="0">
              <a:spAutoFit/>
            </a:bodyPr>
            <a:lstStyle/>
            <a:p>
              <a:pPr algn="ctr"/>
              <a:r>
                <a:rPr lang="zh-CN" sz="1050" b="1" dirty="0">
                  <a:solidFill>
                    <a:srgbClr val="0052A6"/>
                  </a:solidFill>
                  <a:latin typeface="Arial"/>
                  <a:ea typeface="Microsoft YaHei"/>
                  <a:cs typeface="Arial"/>
                </a:rPr>
                <a:t>需求契约</a:t>
              </a:r>
            </a:p>
          </p:txBody>
        </p:sp>
        <p:sp>
          <p:nvSpPr>
            <p:cNvPr id="73" name="TextBox 73"/>
            <p:cNvSpPr txBox="1"/>
            <p:nvPr/>
          </p:nvSpPr>
          <p:spPr>
            <a:xfrm>
              <a:off x="8708231" y="5549741"/>
              <a:ext cx="681038" cy="167640"/>
            </a:xfrm>
            <a:prstGeom prst="rect">
              <a:avLst/>
            </a:prstGeom>
            <a:noFill/>
            <a:ln>
              <a:noFill/>
            </a:ln>
          </p:spPr>
          <p:txBody>
            <a:bodyPr wrap="none" lIns="0" tIns="0" rIns="0" bIns="0" anchor="t" anchorCtr="0">
              <a:spAutoFit/>
            </a:bodyPr>
            <a:lstStyle/>
            <a:p>
              <a:pPr algn="ctr"/>
              <a:r>
                <a:rPr lang="zh-CN" sz="825" dirty="0">
                  <a:solidFill>
                    <a:srgbClr val="6B7785"/>
                  </a:solidFill>
                  <a:latin typeface="Arial"/>
                  <a:ea typeface="Microsoft YaHei"/>
                  <a:cs typeface="Arial"/>
                </a:rPr>
                <a:t>契约驱动开发</a:t>
              </a:r>
            </a:p>
          </p:txBody>
        </p:sp>
      </p:grpSp>
      <p:grpSp>
        <p:nvGrpSpPr>
          <p:cNvPr id="77" name="Group 77"/>
          <p:cNvGrpSpPr/>
          <p:nvPr/>
        </p:nvGrpSpPr>
        <p:grpSpPr>
          <a:xfrm>
            <a:off x="750570" y="6456045"/>
            <a:ext cx="10689907" cy="182880"/>
            <a:chOff x="750570" y="6456045"/>
            <a:chExt cx="10689907" cy="182880"/>
          </a:xfrm>
        </p:grpSpPr>
        <p:sp>
          <p:nvSpPr>
            <p:cNvPr id="75" name="TextBox 75"/>
            <p:cNvSpPr txBox="1"/>
            <p:nvPr/>
          </p:nvSpPr>
          <p:spPr>
            <a:xfrm>
              <a:off x="750570" y="6456045"/>
              <a:ext cx="140903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S1 智能需求闭环</a:t>
              </a:r>
            </a:p>
          </p:txBody>
        </p:sp>
        <p:sp>
          <p:nvSpPr>
            <p:cNvPr id="76" name="TextBox 76"/>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15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image">
                                      <p:cBhvr>
                                        <p:cTn id="11" dur="400"/>
                                        <p:tgtEl>
                                          <p:spTgt spid="17"/>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left)">
                                      <p:cBhvr>
                                        <p:cTn id="19" dur="400"/>
                                        <p:tgtEl>
                                          <p:spTgt spid="3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slide(fromBottom)">
                                      <p:cBhvr>
                                        <p:cTn id="23" dur="400"/>
                                        <p:tgtEl>
                                          <p:spTgt spid="51"/>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image">
                                      <p:cBhvr>
                                        <p:cTn id="27"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19" grpId="0"/>
      <p:bldP spid="35" grpId="0"/>
      <p:bldP spid="51" grpId="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8" name="Group 8"/>
          <p:cNvGrpSpPr/>
          <p:nvPr/>
        </p:nvGrpSpPr>
        <p:grpSpPr>
          <a:xfrm>
            <a:off x="747712" y="533400"/>
            <a:ext cx="6418026" cy="792956"/>
            <a:chOff x="747712" y="533400"/>
            <a:chExt cx="6418026"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0052A6"/>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S1</a:t>
              </a:r>
            </a:p>
          </p:txBody>
        </p:sp>
        <p:sp>
          <p:nvSpPr>
            <p:cNvPr id="6" name="TextBox 6"/>
            <p:cNvSpPr txBox="1"/>
            <p:nvPr/>
          </p:nvSpPr>
          <p:spPr>
            <a:xfrm>
              <a:off x="1363980" y="725805"/>
              <a:ext cx="5801758"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让需求在进入开发前,就和真实系统发生碰撞</a:t>
              </a:r>
            </a:p>
          </p:txBody>
        </p:sp>
        <p:sp>
          <p:nvSpPr>
            <p:cNvPr id="7" name="TextBox 7"/>
            <p:cNvSpPr txBox="1"/>
            <p:nvPr/>
          </p:nvSpPr>
          <p:spPr>
            <a:xfrm>
              <a:off x="747712" y="1097756"/>
              <a:ext cx="3163967"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编码 Agent 反向提问,把需求缺陷消灭在开发前</a:t>
              </a:r>
            </a:p>
          </p:txBody>
        </p:sp>
      </p:grpSp>
      <p:grpSp>
        <p:nvGrpSpPr>
          <p:cNvPr id="50" name="Group 50"/>
          <p:cNvGrpSpPr/>
          <p:nvPr/>
        </p:nvGrpSpPr>
        <p:grpSpPr>
          <a:xfrm>
            <a:off x="762000" y="1524000"/>
            <a:ext cx="6096000" cy="4381500"/>
            <a:chOff x="762000" y="1524000"/>
            <a:chExt cx="6096000" cy="4381500"/>
          </a:xfrm>
        </p:grpSpPr>
        <p:sp>
          <p:nvSpPr>
            <p:cNvPr id="9" name="Rectangle 9"/>
            <p:cNvSpPr/>
            <p:nvPr/>
          </p:nvSpPr>
          <p:spPr>
            <a:xfrm>
              <a:off x="762000" y="1524000"/>
              <a:ext cx="6096000" cy="4381500"/>
            </a:xfrm>
            <a:prstGeom prst="roundRect">
              <a:avLst>
                <a:gd name="adj" fmla="val 3478"/>
              </a:avLst>
            </a:prstGeom>
            <a:solidFill>
              <a:srgbClr val="F4F7FC"/>
            </a:solidFill>
            <a:ln>
              <a:noFill/>
            </a:ln>
          </p:spPr>
        </p:sp>
        <p:sp>
          <p:nvSpPr>
            <p:cNvPr id="10" name="Freeform 10"/>
            <p:cNvSpPr/>
            <p:nvPr/>
          </p:nvSpPr>
          <p:spPr>
            <a:xfrm>
              <a:off x="1092200" y="1790700"/>
              <a:ext cx="177800" cy="228600"/>
            </a:xfrm>
            <a:custGeom>
              <a:avLst/>
              <a:gdLst/>
              <a:ahLst/>
              <a:cxnLst/>
              <a:rect l="l" t="t" r="r" b="b"/>
              <a:pathLst>
                <a:path w="177800" h="228600">
                  <a:moveTo>
                    <a:pt x="101600" y="0"/>
                  </a:moveTo>
                  <a:lnTo>
                    <a:pt x="101600" y="88900"/>
                  </a:lnTo>
                  <a:lnTo>
                    <a:pt x="177800" y="88900"/>
                  </a:lnTo>
                  <a:lnTo>
                    <a:pt x="76200" y="228600"/>
                  </a:lnTo>
                  <a:lnTo>
                    <a:pt x="76200" y="139700"/>
                  </a:lnTo>
                  <a:lnTo>
                    <a:pt x="0" y="139700"/>
                  </a:lnTo>
                  <a:lnTo>
                    <a:pt x="101600" y="0"/>
                  </a:lnTo>
                </a:path>
              </a:pathLst>
            </a:custGeom>
            <a:noFill/>
            <a:ln w="19050">
              <a:solidFill>
                <a:srgbClr val="0052A6"/>
              </a:solidFill>
            </a:ln>
          </p:spPr>
        </p:sp>
        <p:sp>
          <p:nvSpPr>
            <p:cNvPr id="11" name="TextBox 11"/>
            <p:cNvSpPr txBox="1"/>
            <p:nvPr/>
          </p:nvSpPr>
          <p:spPr>
            <a:xfrm>
              <a:off x="1409700" y="1819275"/>
              <a:ext cx="1046226" cy="304800"/>
            </a:xfrm>
            <a:prstGeom prst="rect">
              <a:avLst/>
            </a:prstGeom>
            <a:noFill/>
            <a:ln>
              <a:noFill/>
            </a:ln>
          </p:spPr>
          <p:txBody>
            <a:bodyPr wrap="none" lIns="0" tIns="0" rIns="0" bIns="0" anchor="t" anchorCtr="0">
              <a:spAutoFit/>
            </a:bodyPr>
            <a:lstStyle/>
            <a:p>
              <a:pPr algn="l"/>
              <a:r>
                <a:rPr lang="zh-CN" sz="1500" b="1" dirty="0">
                  <a:solidFill>
                    <a:srgbClr val="0052A6"/>
                  </a:solidFill>
                  <a:latin typeface="Arial"/>
                  <a:ea typeface="Microsoft YaHei"/>
                  <a:cs typeface="Arial"/>
                </a:rPr>
                <a:t>FarAI 能力</a:t>
              </a:r>
            </a:p>
          </p:txBody>
        </p:sp>
        <p:sp>
          <p:nvSpPr>
            <p:cNvPr id="12" name="Line 12"/>
            <p:cNvSpPr/>
            <p:nvPr/>
          </p:nvSpPr>
          <p:spPr>
            <a:xfrm>
              <a:off x="1028700" y="2209800"/>
              <a:ext cx="5562600" cy="9525"/>
            </a:xfrm>
            <a:custGeom>
              <a:avLst/>
              <a:gdLst/>
              <a:ahLst/>
              <a:cxnLst/>
              <a:rect l="l" t="t" r="r" b="b"/>
              <a:pathLst>
                <a:path w="5562600" h="9525">
                  <a:moveTo>
                    <a:pt x="0" y="0"/>
                  </a:moveTo>
                  <a:lnTo>
                    <a:pt x="5562600" y="0"/>
                  </a:lnTo>
                </a:path>
              </a:pathLst>
            </a:custGeom>
            <a:noFill/>
            <a:ln w="9525">
              <a:solidFill>
                <a:srgbClr val="E3E9F2"/>
              </a:solidFill>
            </a:ln>
          </p:spPr>
        </p:sp>
        <p:grpSp>
          <p:nvGrpSpPr>
            <p:cNvPr id="21" name="Group 21"/>
            <p:cNvGrpSpPr/>
            <p:nvPr/>
          </p:nvGrpSpPr>
          <p:grpSpPr>
            <a:xfrm>
              <a:off x="1047750" y="2533650"/>
              <a:ext cx="3658553" cy="500062"/>
              <a:chOff x="1047750" y="2533650"/>
              <a:chExt cx="3658553" cy="500062"/>
            </a:xfrm>
          </p:grpSpPr>
          <p:sp>
            <p:nvSpPr>
              <p:cNvPr id="13" name="Ellipse 13"/>
              <p:cNvSpPr/>
              <p:nvPr/>
            </p:nvSpPr>
            <p:spPr>
              <a:xfrm>
                <a:off x="1047750" y="2533650"/>
                <a:ext cx="266700" cy="266700"/>
              </a:xfrm>
              <a:prstGeom prst="ellipse">
                <a:avLst/>
              </a:prstGeom>
              <a:solidFill>
                <a:srgbClr val="0052A6"/>
              </a:solidFill>
              <a:ln>
                <a:noFill/>
              </a:ln>
            </p:spPr>
          </p:sp>
          <p:sp>
            <p:nvSpPr>
              <p:cNvPr id="14" name="TextBox 14"/>
              <p:cNvSpPr txBox="1"/>
              <p:nvPr/>
            </p:nvSpPr>
            <p:spPr>
              <a:xfrm>
                <a:off x="1135016" y="2626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grpSp>
            <p:nvGrpSpPr>
              <p:cNvPr id="18" name="Group 18"/>
              <p:cNvGrpSpPr/>
              <p:nvPr/>
            </p:nvGrpSpPr>
            <p:grpSpPr>
              <a:xfrm>
                <a:off x="1443038" y="2559050"/>
                <a:ext cx="200024" cy="177800"/>
                <a:chOff x="1443038" y="2559050"/>
                <a:chExt cx="200024" cy="177800"/>
              </a:xfrm>
            </p:grpSpPr>
            <p:sp>
              <p:nvSpPr>
                <p:cNvPr id="15" name="Freeform 15"/>
                <p:cNvSpPr/>
                <p:nvPr/>
              </p:nvSpPr>
              <p:spPr>
                <a:xfrm>
                  <a:off x="1443038" y="2603500"/>
                  <a:ext cx="44450" cy="88900"/>
                </a:xfrm>
                <a:custGeom>
                  <a:avLst/>
                  <a:gdLst/>
                  <a:ahLst/>
                  <a:cxnLst/>
                  <a:rect l="l" t="t" r="r" b="b"/>
                  <a:pathLst>
                    <a:path w="44450" h="88900">
                      <a:moveTo>
                        <a:pt x="44450" y="0"/>
                      </a:moveTo>
                      <a:lnTo>
                        <a:pt x="0" y="44450"/>
                      </a:lnTo>
                      <a:lnTo>
                        <a:pt x="44450" y="88900"/>
                      </a:lnTo>
                    </a:path>
                  </a:pathLst>
                </a:custGeom>
                <a:noFill/>
                <a:ln w="19050">
                  <a:solidFill>
                    <a:srgbClr val="246BFE"/>
                  </a:solidFill>
                </a:ln>
              </p:spPr>
            </p:sp>
            <p:sp>
              <p:nvSpPr>
                <p:cNvPr id="16" name="Freeform 16"/>
                <p:cNvSpPr/>
                <p:nvPr/>
              </p:nvSpPr>
              <p:spPr>
                <a:xfrm>
                  <a:off x="1598612" y="2603500"/>
                  <a:ext cx="44450" cy="88900"/>
                </a:xfrm>
                <a:custGeom>
                  <a:avLst/>
                  <a:gdLst/>
                  <a:ahLst/>
                  <a:cxnLst/>
                  <a:rect l="l" t="t" r="r" b="b"/>
                  <a:pathLst>
                    <a:path w="44450" h="88900">
                      <a:moveTo>
                        <a:pt x="0" y="0"/>
                      </a:moveTo>
                      <a:lnTo>
                        <a:pt x="44450" y="44450"/>
                      </a:lnTo>
                      <a:lnTo>
                        <a:pt x="0" y="88900"/>
                      </a:lnTo>
                    </a:path>
                  </a:pathLst>
                </a:custGeom>
                <a:noFill/>
                <a:ln w="19050">
                  <a:solidFill>
                    <a:srgbClr val="246BFE"/>
                  </a:solidFill>
                </a:ln>
              </p:spPr>
            </p:sp>
            <p:sp>
              <p:nvSpPr>
                <p:cNvPr id="17" name="Freeform 17"/>
                <p:cNvSpPr/>
                <p:nvPr/>
              </p:nvSpPr>
              <p:spPr>
                <a:xfrm>
                  <a:off x="1520825" y="2559050"/>
                  <a:ext cx="44450" cy="177800"/>
                </a:xfrm>
                <a:custGeom>
                  <a:avLst/>
                  <a:gdLst/>
                  <a:ahLst/>
                  <a:cxnLst/>
                  <a:rect l="l" t="t" r="r" b="b"/>
                  <a:pathLst>
                    <a:path w="44450" h="177800">
                      <a:moveTo>
                        <a:pt x="44450" y="0"/>
                      </a:moveTo>
                      <a:lnTo>
                        <a:pt x="0" y="177800"/>
                      </a:lnTo>
                    </a:path>
                  </a:pathLst>
                </a:custGeom>
                <a:noFill/>
                <a:ln w="19050">
                  <a:solidFill>
                    <a:srgbClr val="246BFE"/>
                  </a:solidFill>
                </a:ln>
              </p:spPr>
            </p:sp>
          </p:grpSp>
          <p:sp>
            <p:nvSpPr>
              <p:cNvPr id="19" name="TextBox 19"/>
              <p:cNvSpPr txBox="1"/>
              <p:nvPr/>
            </p:nvSpPr>
            <p:spPr>
              <a:xfrm>
                <a:off x="1737360" y="2575560"/>
                <a:ext cx="1769497"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编码 Agent 反读代码库</a:t>
                </a:r>
              </a:p>
            </p:txBody>
          </p:sp>
          <p:sp>
            <p:nvSpPr>
              <p:cNvPr id="20" name="TextBox 20"/>
              <p:cNvSpPr txBox="1"/>
              <p:nvPr/>
            </p:nvSpPr>
            <p:spPr>
              <a:xfrm>
                <a:off x="1739265" y="2820352"/>
                <a:ext cx="2967038"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读取接口契约、数据结构、历史需求、现有配置</a:t>
                </a:r>
              </a:p>
            </p:txBody>
          </p:sp>
        </p:grpSp>
        <p:grpSp>
          <p:nvGrpSpPr>
            <p:cNvPr id="29" name="Group 29"/>
            <p:cNvGrpSpPr/>
            <p:nvPr/>
          </p:nvGrpSpPr>
          <p:grpSpPr>
            <a:xfrm>
              <a:off x="1047750" y="3295650"/>
              <a:ext cx="2678430" cy="500062"/>
              <a:chOff x="1047750" y="3295650"/>
              <a:chExt cx="2678430" cy="500062"/>
            </a:xfrm>
          </p:grpSpPr>
          <p:sp>
            <p:nvSpPr>
              <p:cNvPr id="22" name="Ellipse 22"/>
              <p:cNvSpPr/>
              <p:nvPr/>
            </p:nvSpPr>
            <p:spPr>
              <a:xfrm>
                <a:off x="1047750" y="3295650"/>
                <a:ext cx="266700" cy="266700"/>
              </a:xfrm>
              <a:prstGeom prst="ellipse">
                <a:avLst/>
              </a:prstGeom>
              <a:solidFill>
                <a:srgbClr val="0052A6"/>
              </a:solidFill>
              <a:ln>
                <a:noFill/>
              </a:ln>
            </p:spPr>
          </p:sp>
          <p:sp>
            <p:nvSpPr>
              <p:cNvPr id="23" name="TextBox 23"/>
              <p:cNvSpPr txBox="1"/>
              <p:nvPr/>
            </p:nvSpPr>
            <p:spPr>
              <a:xfrm>
                <a:off x="1135016" y="3388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grpSp>
            <p:nvGrpSpPr>
              <p:cNvPr id="26" name="Group 26"/>
              <p:cNvGrpSpPr/>
              <p:nvPr/>
            </p:nvGrpSpPr>
            <p:grpSpPr>
              <a:xfrm>
                <a:off x="1443038" y="3309938"/>
                <a:ext cx="200025" cy="200025"/>
                <a:chOff x="1443038" y="3309938"/>
                <a:chExt cx="200025" cy="200025"/>
              </a:xfrm>
            </p:grpSpPr>
            <p:sp>
              <p:nvSpPr>
                <p:cNvPr id="24" name="Freeform 24"/>
                <p:cNvSpPr/>
                <p:nvPr/>
              </p:nvSpPr>
              <p:spPr>
                <a:xfrm>
                  <a:off x="1443038" y="3309938"/>
                  <a:ext cx="155575" cy="155575"/>
                </a:xfrm>
                <a:custGeom>
                  <a:avLst/>
                  <a:gdLst/>
                  <a:ahLst/>
                  <a:cxnLst/>
                  <a:rect l="l" t="t" r="r" b="b"/>
                  <a:pathLst>
                    <a:path w="155575" h="155575">
                      <a:moveTo>
                        <a:pt x="0" y="77788"/>
                      </a:moveTo>
                      <a:cubicBezTo>
                        <a:pt x="0" y="120748"/>
                        <a:pt x="34827" y="155575"/>
                        <a:pt x="77787" y="155575"/>
                      </a:cubicBezTo>
                      <a:cubicBezTo>
                        <a:pt x="120748" y="155575"/>
                        <a:pt x="155575" y="120748"/>
                        <a:pt x="155575" y="77788"/>
                      </a:cubicBezTo>
                      <a:cubicBezTo>
                        <a:pt x="155575" y="34827"/>
                        <a:pt x="120748" y="0"/>
                        <a:pt x="77787" y="0"/>
                      </a:cubicBezTo>
                      <a:cubicBezTo>
                        <a:pt x="34827" y="0"/>
                        <a:pt x="0" y="34827"/>
                        <a:pt x="0" y="77788"/>
                      </a:cubicBezTo>
                    </a:path>
                  </a:pathLst>
                </a:custGeom>
                <a:noFill/>
                <a:ln w="19050">
                  <a:solidFill>
                    <a:srgbClr val="246BFE"/>
                  </a:solidFill>
                </a:ln>
              </p:spPr>
            </p:sp>
            <p:sp>
              <p:nvSpPr>
                <p:cNvPr id="25" name="Freeform 25"/>
                <p:cNvSpPr/>
                <p:nvPr/>
              </p:nvSpPr>
              <p:spPr>
                <a:xfrm>
                  <a:off x="1576388" y="3443288"/>
                  <a:ext cx="66675" cy="66675"/>
                </a:xfrm>
                <a:custGeom>
                  <a:avLst/>
                  <a:gdLst/>
                  <a:ahLst/>
                  <a:cxnLst/>
                  <a:rect l="l" t="t" r="r" b="b"/>
                  <a:pathLst>
                    <a:path w="66675" h="66675">
                      <a:moveTo>
                        <a:pt x="66675" y="66675"/>
                      </a:moveTo>
                      <a:lnTo>
                        <a:pt x="0" y="0"/>
                      </a:lnTo>
                    </a:path>
                  </a:pathLst>
                </a:custGeom>
                <a:noFill/>
                <a:ln w="19050">
                  <a:solidFill>
                    <a:srgbClr val="246BFE"/>
                  </a:solidFill>
                </a:ln>
              </p:spPr>
            </p:sp>
          </p:grpSp>
          <p:sp>
            <p:nvSpPr>
              <p:cNvPr id="27" name="TextBox 27"/>
              <p:cNvSpPr txBox="1"/>
              <p:nvPr/>
            </p:nvSpPr>
            <p:spPr>
              <a:xfrm>
                <a:off x="1737360" y="3337560"/>
                <a:ext cx="1374648"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自动识别需求缺陷</a:t>
                </a:r>
              </a:p>
            </p:txBody>
          </p:sp>
          <p:sp>
            <p:nvSpPr>
              <p:cNvPr id="28" name="TextBox 28"/>
              <p:cNvSpPr txBox="1"/>
              <p:nvPr/>
            </p:nvSpPr>
            <p:spPr>
              <a:xfrm>
                <a:off x="1739265" y="3582352"/>
                <a:ext cx="1986915"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歧义、边界缺失、验收标准不全</a:t>
                </a:r>
              </a:p>
            </p:txBody>
          </p:sp>
        </p:grpSp>
        <p:grpSp>
          <p:nvGrpSpPr>
            <p:cNvPr id="38" name="Group 38"/>
            <p:cNvGrpSpPr/>
            <p:nvPr/>
          </p:nvGrpSpPr>
          <p:grpSpPr>
            <a:xfrm>
              <a:off x="1047750" y="4057650"/>
              <a:ext cx="3518535" cy="500062"/>
              <a:chOff x="1047750" y="4057650"/>
              <a:chExt cx="3518535" cy="500062"/>
            </a:xfrm>
          </p:grpSpPr>
          <p:sp>
            <p:nvSpPr>
              <p:cNvPr id="30" name="Ellipse 30"/>
              <p:cNvSpPr/>
              <p:nvPr/>
            </p:nvSpPr>
            <p:spPr>
              <a:xfrm>
                <a:off x="1047750" y="4057650"/>
                <a:ext cx="266700" cy="266700"/>
              </a:xfrm>
              <a:prstGeom prst="ellipse">
                <a:avLst/>
              </a:prstGeom>
              <a:solidFill>
                <a:srgbClr val="0052A6"/>
              </a:solidFill>
              <a:ln>
                <a:noFill/>
              </a:ln>
            </p:spPr>
          </p:sp>
          <p:sp>
            <p:nvSpPr>
              <p:cNvPr id="31" name="TextBox 31"/>
              <p:cNvSpPr txBox="1"/>
              <p:nvPr/>
            </p:nvSpPr>
            <p:spPr>
              <a:xfrm>
                <a:off x="1135016" y="4150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grpSp>
            <p:nvGrpSpPr>
              <p:cNvPr id="35" name="Group 35"/>
              <p:cNvGrpSpPr/>
              <p:nvPr/>
            </p:nvGrpSpPr>
            <p:grpSpPr>
              <a:xfrm>
                <a:off x="1443038" y="4083050"/>
                <a:ext cx="200025" cy="188912"/>
                <a:chOff x="1443038" y="4083050"/>
                <a:chExt cx="200025" cy="188912"/>
              </a:xfrm>
            </p:grpSpPr>
            <p:sp>
              <p:nvSpPr>
                <p:cNvPr id="32" name="Freeform 32"/>
                <p:cNvSpPr/>
                <p:nvPr/>
              </p:nvSpPr>
              <p:spPr>
                <a:xfrm>
                  <a:off x="1498600" y="4138612"/>
                  <a:ext cx="88900" cy="9525"/>
                </a:xfrm>
                <a:custGeom>
                  <a:avLst/>
                  <a:gdLst/>
                  <a:ahLst/>
                  <a:cxnLst/>
                  <a:rect l="l" t="t" r="r" b="b"/>
                  <a:pathLst>
                    <a:path w="88900" h="9525">
                      <a:moveTo>
                        <a:pt x="0" y="0"/>
                      </a:moveTo>
                      <a:lnTo>
                        <a:pt x="88900" y="0"/>
                      </a:lnTo>
                    </a:path>
                  </a:pathLst>
                </a:custGeom>
                <a:noFill/>
                <a:ln w="19050">
                  <a:solidFill>
                    <a:srgbClr val="246BFE"/>
                  </a:solidFill>
                </a:ln>
              </p:spPr>
            </p:sp>
            <p:sp>
              <p:nvSpPr>
                <p:cNvPr id="33" name="Freeform 33"/>
                <p:cNvSpPr/>
                <p:nvPr/>
              </p:nvSpPr>
              <p:spPr>
                <a:xfrm>
                  <a:off x="1498600" y="4183062"/>
                  <a:ext cx="66675" cy="9525"/>
                </a:xfrm>
                <a:custGeom>
                  <a:avLst/>
                  <a:gdLst/>
                  <a:ahLst/>
                  <a:cxnLst/>
                  <a:rect l="l" t="t" r="r" b="b"/>
                  <a:pathLst>
                    <a:path w="66675" h="9525">
                      <a:moveTo>
                        <a:pt x="0" y="0"/>
                      </a:moveTo>
                      <a:lnTo>
                        <a:pt x="66675" y="0"/>
                      </a:lnTo>
                    </a:path>
                  </a:pathLst>
                </a:custGeom>
                <a:noFill/>
                <a:ln w="19050">
                  <a:solidFill>
                    <a:srgbClr val="246BFE"/>
                  </a:solidFill>
                </a:ln>
              </p:spPr>
            </p:sp>
            <p:sp>
              <p:nvSpPr>
                <p:cNvPr id="34" name="Freeform 34"/>
                <p:cNvSpPr/>
                <p:nvPr/>
              </p:nvSpPr>
              <p:spPr>
                <a:xfrm>
                  <a:off x="1443038" y="4083050"/>
                  <a:ext cx="200025" cy="188912"/>
                </a:xfrm>
                <a:custGeom>
                  <a:avLst/>
                  <a:gdLst/>
                  <a:ahLst/>
                  <a:cxnLst/>
                  <a:rect l="l" t="t" r="r" b="b"/>
                  <a:pathLst>
                    <a:path w="200025" h="188912">
                      <a:moveTo>
                        <a:pt x="166688" y="0"/>
                      </a:moveTo>
                      <a:cubicBezTo>
                        <a:pt x="185099" y="0"/>
                        <a:pt x="200025" y="14926"/>
                        <a:pt x="200025" y="33338"/>
                      </a:cubicBezTo>
                      <a:lnTo>
                        <a:pt x="200025" y="122237"/>
                      </a:lnTo>
                      <a:cubicBezTo>
                        <a:pt x="200025" y="140649"/>
                        <a:pt x="185099" y="155575"/>
                        <a:pt x="166688" y="155575"/>
                      </a:cubicBezTo>
                      <a:lnTo>
                        <a:pt x="111125" y="155575"/>
                      </a:lnTo>
                      <a:lnTo>
                        <a:pt x="55563" y="188912"/>
                      </a:lnTo>
                      <a:lnTo>
                        <a:pt x="55563" y="155575"/>
                      </a:lnTo>
                      <a:lnTo>
                        <a:pt x="33338" y="155575"/>
                      </a:lnTo>
                      <a:cubicBezTo>
                        <a:pt x="14926" y="155575"/>
                        <a:pt x="0" y="140649"/>
                        <a:pt x="0" y="122237"/>
                      </a:cubicBezTo>
                      <a:lnTo>
                        <a:pt x="0" y="33338"/>
                      </a:lnTo>
                      <a:cubicBezTo>
                        <a:pt x="0" y="14926"/>
                        <a:pt x="14926" y="0"/>
                        <a:pt x="33338" y="0"/>
                      </a:cubicBezTo>
                      <a:lnTo>
                        <a:pt x="166688" y="0"/>
                      </a:lnTo>
                    </a:path>
                  </a:pathLst>
                </a:custGeom>
                <a:noFill/>
                <a:ln w="19050">
                  <a:solidFill>
                    <a:srgbClr val="246BFE"/>
                  </a:solidFill>
                </a:ln>
              </p:spPr>
            </p:sp>
          </p:grpSp>
          <p:sp>
            <p:nvSpPr>
              <p:cNvPr id="36" name="TextBox 36"/>
              <p:cNvSpPr txBox="1"/>
              <p:nvPr/>
            </p:nvSpPr>
            <p:spPr>
              <a:xfrm>
                <a:off x="1737360" y="4099560"/>
                <a:ext cx="1374648"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生成澄清问题清单</a:t>
                </a:r>
              </a:p>
            </p:txBody>
          </p:sp>
          <p:sp>
            <p:nvSpPr>
              <p:cNvPr id="37" name="TextBox 37"/>
              <p:cNvSpPr txBox="1"/>
              <p:nvPr/>
            </p:nvSpPr>
            <p:spPr>
              <a:xfrm>
                <a:off x="1739265" y="4344352"/>
                <a:ext cx="282702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反向推动产品澄清边界、异常、权限、状态流</a:t>
                </a:r>
              </a:p>
            </p:txBody>
          </p:sp>
        </p:grpSp>
        <p:grpSp>
          <p:nvGrpSpPr>
            <p:cNvPr id="49" name="Group 49"/>
            <p:cNvGrpSpPr/>
            <p:nvPr/>
          </p:nvGrpSpPr>
          <p:grpSpPr>
            <a:xfrm>
              <a:off x="1047750" y="4819650"/>
              <a:ext cx="2615422" cy="500062"/>
              <a:chOff x="1047750" y="4819650"/>
              <a:chExt cx="2615422" cy="500062"/>
            </a:xfrm>
          </p:grpSpPr>
          <p:sp>
            <p:nvSpPr>
              <p:cNvPr id="39" name="Ellipse 39"/>
              <p:cNvSpPr/>
              <p:nvPr/>
            </p:nvSpPr>
            <p:spPr>
              <a:xfrm>
                <a:off x="1047750" y="4819650"/>
                <a:ext cx="266700" cy="266700"/>
              </a:xfrm>
              <a:prstGeom prst="ellipse">
                <a:avLst/>
              </a:prstGeom>
              <a:solidFill>
                <a:srgbClr val="0052A6"/>
              </a:solidFill>
              <a:ln>
                <a:noFill/>
              </a:ln>
            </p:spPr>
          </p:sp>
          <p:sp>
            <p:nvSpPr>
              <p:cNvPr id="40" name="TextBox 40"/>
              <p:cNvSpPr txBox="1"/>
              <p:nvPr/>
            </p:nvSpPr>
            <p:spPr>
              <a:xfrm>
                <a:off x="1135016" y="4912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grpSp>
            <p:nvGrpSpPr>
              <p:cNvPr id="46" name="Group 46"/>
              <p:cNvGrpSpPr/>
              <p:nvPr/>
            </p:nvGrpSpPr>
            <p:grpSpPr>
              <a:xfrm>
                <a:off x="1465262" y="4833938"/>
                <a:ext cx="155575" cy="200025"/>
                <a:chOff x="1465262" y="4833938"/>
                <a:chExt cx="155575" cy="200025"/>
              </a:xfrm>
            </p:grpSpPr>
            <p:sp>
              <p:nvSpPr>
                <p:cNvPr id="41" name="Freeform 41"/>
                <p:cNvSpPr/>
                <p:nvPr/>
              </p:nvSpPr>
              <p:spPr>
                <a:xfrm>
                  <a:off x="1565275" y="4833938"/>
                  <a:ext cx="55562" cy="55563"/>
                </a:xfrm>
                <a:custGeom>
                  <a:avLst/>
                  <a:gdLst/>
                  <a:ahLst/>
                  <a:cxnLst/>
                  <a:rect l="l" t="t" r="r" b="b"/>
                  <a:pathLst>
                    <a:path w="55562" h="55563">
                      <a:moveTo>
                        <a:pt x="0" y="0"/>
                      </a:moveTo>
                      <a:lnTo>
                        <a:pt x="0" y="44450"/>
                      </a:lnTo>
                      <a:cubicBezTo>
                        <a:pt x="0" y="50587"/>
                        <a:pt x="4975" y="55563"/>
                        <a:pt x="11112" y="55563"/>
                      </a:cubicBezTo>
                      <a:lnTo>
                        <a:pt x="55562" y="55563"/>
                      </a:lnTo>
                    </a:path>
                  </a:pathLst>
                </a:custGeom>
                <a:noFill/>
                <a:ln w="19050">
                  <a:solidFill>
                    <a:srgbClr val="246BFE"/>
                  </a:solidFill>
                </a:ln>
              </p:spPr>
            </p:sp>
            <p:sp>
              <p:nvSpPr>
                <p:cNvPr id="42" name="Freeform 42"/>
                <p:cNvSpPr/>
                <p:nvPr/>
              </p:nvSpPr>
              <p:spPr>
                <a:xfrm>
                  <a:off x="1465262" y="483393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2" y="0"/>
                      </a:lnTo>
                      <a:lnTo>
                        <a:pt x="155575" y="55563"/>
                      </a:lnTo>
                      <a:lnTo>
                        <a:pt x="155575" y="177800"/>
                      </a:lnTo>
                      <a:cubicBezTo>
                        <a:pt x="155575" y="190075"/>
                        <a:pt x="145625" y="200025"/>
                        <a:pt x="133350" y="200025"/>
                      </a:cubicBezTo>
                    </a:path>
                  </a:pathLst>
                </a:custGeom>
                <a:noFill/>
                <a:ln w="19050">
                  <a:solidFill>
                    <a:srgbClr val="246BFE"/>
                  </a:solidFill>
                </a:ln>
              </p:spPr>
            </p:sp>
            <p:sp>
              <p:nvSpPr>
                <p:cNvPr id="43" name="Freeform 43"/>
                <p:cNvSpPr/>
                <p:nvPr/>
              </p:nvSpPr>
              <p:spPr>
                <a:xfrm>
                  <a:off x="1509712" y="4900612"/>
                  <a:ext cx="11112" cy="9525"/>
                </a:xfrm>
                <a:custGeom>
                  <a:avLst/>
                  <a:gdLst/>
                  <a:ahLst/>
                  <a:cxnLst/>
                  <a:rect l="l" t="t" r="r" b="b"/>
                  <a:pathLst>
                    <a:path w="11112" h="9525">
                      <a:moveTo>
                        <a:pt x="0" y="0"/>
                      </a:moveTo>
                      <a:lnTo>
                        <a:pt x="11112" y="0"/>
                      </a:lnTo>
                    </a:path>
                  </a:pathLst>
                </a:custGeom>
                <a:noFill/>
                <a:ln w="19050">
                  <a:solidFill>
                    <a:srgbClr val="246BFE"/>
                  </a:solidFill>
                </a:ln>
              </p:spPr>
            </p:sp>
            <p:sp>
              <p:nvSpPr>
                <p:cNvPr id="44" name="Freeform 44"/>
                <p:cNvSpPr/>
                <p:nvPr/>
              </p:nvSpPr>
              <p:spPr>
                <a:xfrm>
                  <a:off x="1509712" y="4945062"/>
                  <a:ext cx="66675" cy="9525"/>
                </a:xfrm>
                <a:custGeom>
                  <a:avLst/>
                  <a:gdLst/>
                  <a:ahLst/>
                  <a:cxnLst/>
                  <a:rect l="l" t="t" r="r" b="b"/>
                  <a:pathLst>
                    <a:path w="66675" h="9525">
                      <a:moveTo>
                        <a:pt x="0" y="0"/>
                      </a:moveTo>
                      <a:lnTo>
                        <a:pt x="66675" y="0"/>
                      </a:lnTo>
                    </a:path>
                  </a:pathLst>
                </a:custGeom>
                <a:noFill/>
                <a:ln w="19050">
                  <a:solidFill>
                    <a:srgbClr val="246BFE"/>
                  </a:solidFill>
                </a:ln>
              </p:spPr>
            </p:sp>
            <p:sp>
              <p:nvSpPr>
                <p:cNvPr id="45" name="Freeform 45"/>
                <p:cNvSpPr/>
                <p:nvPr/>
              </p:nvSpPr>
              <p:spPr>
                <a:xfrm>
                  <a:off x="1509712" y="4989512"/>
                  <a:ext cx="66675" cy="9525"/>
                </a:xfrm>
                <a:custGeom>
                  <a:avLst/>
                  <a:gdLst/>
                  <a:ahLst/>
                  <a:cxnLst/>
                  <a:rect l="l" t="t" r="r" b="b"/>
                  <a:pathLst>
                    <a:path w="66675" h="9525">
                      <a:moveTo>
                        <a:pt x="0" y="0"/>
                      </a:moveTo>
                      <a:lnTo>
                        <a:pt x="66675" y="0"/>
                      </a:lnTo>
                    </a:path>
                  </a:pathLst>
                </a:custGeom>
                <a:noFill/>
                <a:ln w="19050">
                  <a:solidFill>
                    <a:srgbClr val="246BFE"/>
                  </a:solidFill>
                </a:ln>
              </p:spPr>
            </p:sp>
          </p:grpSp>
          <p:sp>
            <p:nvSpPr>
              <p:cNvPr id="47" name="TextBox 47"/>
              <p:cNvSpPr txBox="1"/>
              <p:nvPr/>
            </p:nvSpPr>
            <p:spPr>
              <a:xfrm>
                <a:off x="1737360" y="4861560"/>
                <a:ext cx="1542669"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输出可验证需求契约</a:t>
                </a:r>
              </a:p>
            </p:txBody>
          </p:sp>
          <p:sp>
            <p:nvSpPr>
              <p:cNvPr id="48" name="TextBox 48"/>
              <p:cNvSpPr txBox="1"/>
              <p:nvPr/>
            </p:nvSpPr>
            <p:spPr>
              <a:xfrm>
                <a:off x="1739265" y="5106352"/>
                <a:ext cx="1923907"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契约驱动开发,需求即测试基线</a:t>
                </a:r>
              </a:p>
            </p:txBody>
          </p:sp>
        </p:grpSp>
      </p:grpSp>
      <p:grpSp>
        <p:nvGrpSpPr>
          <p:cNvPr id="70" name="Group 70"/>
          <p:cNvGrpSpPr/>
          <p:nvPr/>
        </p:nvGrpSpPr>
        <p:grpSpPr>
          <a:xfrm>
            <a:off x="7048500" y="1524000"/>
            <a:ext cx="4381500" cy="4381500"/>
            <a:chOff x="7048500" y="1524000"/>
            <a:chExt cx="4381500" cy="4381500"/>
          </a:xfrm>
        </p:grpSpPr>
        <p:sp>
          <p:nvSpPr>
            <p:cNvPr id="51" name="Rectangle 51"/>
            <p:cNvSpPr/>
            <p:nvPr/>
          </p:nvSpPr>
          <p:spPr>
            <a:xfrm>
              <a:off x="7048500" y="1524000"/>
              <a:ext cx="4381500" cy="4381500"/>
            </a:xfrm>
            <a:prstGeom prst="roundRect">
              <a:avLst>
                <a:gd name="adj" fmla="val 3478"/>
              </a:avLst>
            </a:prstGeom>
            <a:solidFill>
              <a:srgbClr val="0052A6"/>
            </a:solidFill>
            <a:ln>
              <a:noFill/>
            </a:ln>
          </p:spPr>
        </p:sp>
        <p:grpSp>
          <p:nvGrpSpPr>
            <p:cNvPr id="54" name="Group 54"/>
            <p:cNvGrpSpPr/>
            <p:nvPr/>
          </p:nvGrpSpPr>
          <p:grpSpPr>
            <a:xfrm>
              <a:off x="7353300" y="1841500"/>
              <a:ext cx="228600" cy="127000"/>
              <a:chOff x="7353300" y="1841500"/>
              <a:chExt cx="228600" cy="127000"/>
            </a:xfrm>
          </p:grpSpPr>
          <p:sp>
            <p:nvSpPr>
              <p:cNvPr id="52" name="Freeform 52"/>
              <p:cNvSpPr/>
              <p:nvPr/>
            </p:nvSpPr>
            <p:spPr>
              <a:xfrm>
                <a:off x="7353300" y="1841500"/>
                <a:ext cx="228600" cy="127000"/>
              </a:xfrm>
              <a:custGeom>
                <a:avLst/>
                <a:gdLst/>
                <a:ahLst/>
                <a:cxnLst/>
                <a:rect l="l" t="t" r="r" b="b"/>
                <a:pathLst>
                  <a:path w="228600" h="127000">
                    <a:moveTo>
                      <a:pt x="0" y="127000"/>
                    </a:moveTo>
                    <a:lnTo>
                      <a:pt x="76200" y="50800"/>
                    </a:lnTo>
                    <a:lnTo>
                      <a:pt x="127000" y="101600"/>
                    </a:lnTo>
                    <a:lnTo>
                      <a:pt x="228600" y="0"/>
                    </a:lnTo>
                  </a:path>
                </a:pathLst>
              </a:custGeom>
              <a:noFill/>
              <a:ln w="19050">
                <a:solidFill>
                  <a:srgbClr val="FFFFFF"/>
                </a:solidFill>
              </a:ln>
            </p:spPr>
          </p:sp>
          <p:sp>
            <p:nvSpPr>
              <p:cNvPr id="53" name="Freeform 53"/>
              <p:cNvSpPr/>
              <p:nvPr/>
            </p:nvSpPr>
            <p:spPr>
              <a:xfrm>
                <a:off x="7493000" y="1841500"/>
                <a:ext cx="88900" cy="88900"/>
              </a:xfrm>
              <a:custGeom>
                <a:avLst/>
                <a:gdLst/>
                <a:ahLst/>
                <a:cxnLst/>
                <a:rect l="l" t="t" r="r" b="b"/>
                <a:pathLst>
                  <a:path w="88900" h="88900">
                    <a:moveTo>
                      <a:pt x="0" y="0"/>
                    </a:moveTo>
                    <a:lnTo>
                      <a:pt x="88900" y="0"/>
                    </a:lnTo>
                    <a:lnTo>
                      <a:pt x="88900" y="88900"/>
                    </a:lnTo>
                  </a:path>
                </a:pathLst>
              </a:custGeom>
              <a:noFill/>
              <a:ln w="19050">
                <a:solidFill>
                  <a:srgbClr val="FFFFFF"/>
                </a:solidFill>
              </a:ln>
            </p:spPr>
          </p:sp>
        </p:grpSp>
        <p:sp>
          <p:nvSpPr>
            <p:cNvPr id="55" name="TextBox 55"/>
            <p:cNvSpPr txBox="1"/>
            <p:nvPr/>
          </p:nvSpPr>
          <p:spPr>
            <a:xfrm>
              <a:off x="7696200" y="1819275"/>
              <a:ext cx="45815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价值</a:t>
              </a:r>
            </a:p>
          </p:txBody>
        </p:sp>
        <p:sp>
          <p:nvSpPr>
            <p:cNvPr id="56" name="Line 56"/>
            <p:cNvSpPr/>
            <p:nvPr/>
          </p:nvSpPr>
          <p:spPr>
            <a:xfrm>
              <a:off x="7315200" y="2209800"/>
              <a:ext cx="3848100" cy="9525"/>
            </a:xfrm>
            <a:custGeom>
              <a:avLst/>
              <a:gdLst/>
              <a:ahLst/>
              <a:cxnLst/>
              <a:rect l="l" t="t" r="r" b="b"/>
              <a:pathLst>
                <a:path w="3848100" h="9525">
                  <a:moveTo>
                    <a:pt x="0" y="0"/>
                  </a:moveTo>
                  <a:lnTo>
                    <a:pt x="3848100" y="0"/>
                  </a:lnTo>
                </a:path>
              </a:pathLst>
            </a:custGeom>
            <a:noFill/>
            <a:ln w="9525">
              <a:solidFill>
                <a:srgbClr val="246BFE"/>
              </a:solidFill>
            </a:ln>
          </p:spPr>
        </p:sp>
        <p:grpSp>
          <p:nvGrpSpPr>
            <p:cNvPr id="60" name="Group 60"/>
            <p:cNvGrpSpPr/>
            <p:nvPr/>
          </p:nvGrpSpPr>
          <p:grpSpPr>
            <a:xfrm>
              <a:off x="7277100" y="2533650"/>
              <a:ext cx="1777413" cy="923925"/>
              <a:chOff x="7277100" y="2533650"/>
              <a:chExt cx="1777413" cy="923925"/>
            </a:xfrm>
          </p:grpSpPr>
          <p:sp>
            <p:nvSpPr>
              <p:cNvPr id="57" name="TextBox 57"/>
              <p:cNvSpPr txBox="1"/>
              <p:nvPr/>
            </p:nvSpPr>
            <p:spPr>
              <a:xfrm>
                <a:off x="7277100" y="2533650"/>
                <a:ext cx="1777413"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↓40-50%</a:t>
                </a:r>
              </a:p>
            </p:txBody>
          </p:sp>
          <p:sp>
            <p:nvSpPr>
              <p:cNvPr id="58" name="TextBox 58"/>
              <p:cNvSpPr txBox="1"/>
              <p:nvPr/>
            </p:nvSpPr>
            <p:spPr>
              <a:xfrm>
                <a:off x="7299960" y="3032760"/>
                <a:ext cx="830580"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需求返工率</a:t>
                </a:r>
              </a:p>
            </p:txBody>
          </p:sp>
          <p:sp>
            <p:nvSpPr>
              <p:cNvPr id="59" name="TextBox 59"/>
              <p:cNvSpPr txBox="1"/>
              <p:nvPr/>
            </p:nvSpPr>
            <p:spPr>
              <a:xfrm>
                <a:off x="7303770" y="3274695"/>
                <a:ext cx="394906" cy="182880"/>
              </a:xfrm>
              <a:prstGeom prst="rect">
                <a:avLst/>
              </a:prstGeom>
              <a:noFill/>
              <a:ln>
                <a:noFill/>
              </a:ln>
            </p:spPr>
            <p:txBody>
              <a:bodyPr wrap="none" lIns="0" tIns="0" rIns="0" bIns="0" anchor="t" anchorCtr="0">
                <a:spAutoFit/>
              </a:bodyPr>
              <a:lstStyle/>
              <a:p>
                <a:pPr algn="l"/>
                <a:r>
                  <a:rPr lang="zh-CN" sz="900" dirty="0">
                    <a:solidFill>
                      <a:srgbClr val="8FA3C4"/>
                    </a:solidFill>
                    <a:latin typeface="Arial"/>
                    <a:ea typeface="Microsoft YaHei"/>
                    <a:cs typeface="Arial"/>
                  </a:rPr>
                  <a:t>(预估)</a:t>
                </a:r>
              </a:p>
            </p:txBody>
          </p:sp>
        </p:grpSp>
        <p:sp>
          <p:nvSpPr>
            <p:cNvPr id="61" name="Line 61"/>
            <p:cNvSpPr/>
            <p:nvPr/>
          </p:nvSpPr>
          <p:spPr>
            <a:xfrm>
              <a:off x="7315200" y="3619500"/>
              <a:ext cx="3848100" cy="9525"/>
            </a:xfrm>
            <a:custGeom>
              <a:avLst/>
              <a:gdLst/>
              <a:ahLst/>
              <a:cxnLst/>
              <a:rect l="l" t="t" r="r" b="b"/>
              <a:pathLst>
                <a:path w="3848100" h="9525">
                  <a:moveTo>
                    <a:pt x="0" y="0"/>
                  </a:moveTo>
                  <a:lnTo>
                    <a:pt x="3848100" y="0"/>
                  </a:lnTo>
                </a:path>
              </a:pathLst>
            </a:custGeom>
            <a:noFill/>
            <a:ln w="9525">
              <a:solidFill>
                <a:srgbClr val="FFFFFF">
                  <a:alpha val="15000"/>
                </a:srgbClr>
              </a:solidFill>
            </a:ln>
          </p:spPr>
        </p:sp>
        <p:grpSp>
          <p:nvGrpSpPr>
            <p:cNvPr id="65" name="Group 65"/>
            <p:cNvGrpSpPr/>
            <p:nvPr/>
          </p:nvGrpSpPr>
          <p:grpSpPr>
            <a:xfrm>
              <a:off x="7277100" y="3867150"/>
              <a:ext cx="1546384" cy="923925"/>
              <a:chOff x="7277100" y="3867150"/>
              <a:chExt cx="1546384" cy="923925"/>
            </a:xfrm>
          </p:grpSpPr>
          <p:sp>
            <p:nvSpPr>
              <p:cNvPr id="62" name="TextBox 62"/>
              <p:cNvSpPr txBox="1"/>
              <p:nvPr/>
            </p:nvSpPr>
            <p:spPr>
              <a:xfrm>
                <a:off x="7277100" y="3867150"/>
                <a:ext cx="1546384"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↑2-3 倍</a:t>
                </a:r>
              </a:p>
            </p:txBody>
          </p:sp>
          <p:sp>
            <p:nvSpPr>
              <p:cNvPr id="63" name="TextBox 63"/>
              <p:cNvSpPr txBox="1"/>
              <p:nvPr/>
            </p:nvSpPr>
            <p:spPr>
              <a:xfrm>
                <a:off x="7299960" y="4366260"/>
                <a:ext cx="1470660"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需求一次澄清通过率</a:t>
                </a:r>
              </a:p>
            </p:txBody>
          </p:sp>
          <p:sp>
            <p:nvSpPr>
              <p:cNvPr id="64" name="TextBox 64"/>
              <p:cNvSpPr txBox="1"/>
              <p:nvPr/>
            </p:nvSpPr>
            <p:spPr>
              <a:xfrm>
                <a:off x="7303770" y="4608195"/>
                <a:ext cx="394906" cy="182880"/>
              </a:xfrm>
              <a:prstGeom prst="rect">
                <a:avLst/>
              </a:prstGeom>
              <a:noFill/>
              <a:ln>
                <a:noFill/>
              </a:ln>
            </p:spPr>
            <p:txBody>
              <a:bodyPr wrap="none" lIns="0" tIns="0" rIns="0" bIns="0" anchor="t" anchorCtr="0">
                <a:spAutoFit/>
              </a:bodyPr>
              <a:lstStyle/>
              <a:p>
                <a:pPr algn="l"/>
                <a:r>
                  <a:rPr lang="zh-CN" sz="900" dirty="0">
                    <a:solidFill>
                      <a:srgbClr val="8FA3C4"/>
                    </a:solidFill>
                    <a:latin typeface="Arial"/>
                    <a:ea typeface="Microsoft YaHei"/>
                    <a:cs typeface="Arial"/>
                  </a:rPr>
                  <a:t>(预估)</a:t>
                </a:r>
              </a:p>
            </p:txBody>
          </p:sp>
        </p:grpSp>
        <p:sp>
          <p:nvSpPr>
            <p:cNvPr id="66" name="Line 66"/>
            <p:cNvSpPr/>
            <p:nvPr/>
          </p:nvSpPr>
          <p:spPr>
            <a:xfrm>
              <a:off x="7315200" y="4953000"/>
              <a:ext cx="3848100" cy="9525"/>
            </a:xfrm>
            <a:custGeom>
              <a:avLst/>
              <a:gdLst/>
              <a:ahLst/>
              <a:cxnLst/>
              <a:rect l="l" t="t" r="r" b="b"/>
              <a:pathLst>
                <a:path w="3848100" h="9525">
                  <a:moveTo>
                    <a:pt x="0" y="0"/>
                  </a:moveTo>
                  <a:lnTo>
                    <a:pt x="3848100" y="0"/>
                  </a:lnTo>
                </a:path>
              </a:pathLst>
            </a:custGeom>
            <a:noFill/>
            <a:ln w="9525">
              <a:solidFill>
                <a:srgbClr val="FFFFFF">
                  <a:alpha val="15000"/>
                </a:srgbClr>
              </a:solidFill>
            </a:ln>
          </p:spPr>
        </p:sp>
        <p:grpSp>
          <p:nvGrpSpPr>
            <p:cNvPr id="69" name="Group 69"/>
            <p:cNvGrpSpPr/>
            <p:nvPr/>
          </p:nvGrpSpPr>
          <p:grpSpPr>
            <a:xfrm>
              <a:off x="7298055" y="5302568"/>
              <a:ext cx="1304639" cy="474344"/>
              <a:chOff x="7298055" y="5302568"/>
              <a:chExt cx="1304639" cy="474344"/>
            </a:xfrm>
          </p:grpSpPr>
          <p:sp>
            <p:nvSpPr>
              <p:cNvPr id="67" name="TextBox 67"/>
              <p:cNvSpPr txBox="1"/>
              <p:nvPr/>
            </p:nvSpPr>
            <p:spPr>
              <a:xfrm>
                <a:off x="7298055" y="5302568"/>
                <a:ext cx="97940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开发前消缺</a:t>
                </a:r>
              </a:p>
            </p:txBody>
          </p:sp>
          <p:sp>
            <p:nvSpPr>
              <p:cNvPr id="68" name="TextBox 68"/>
              <p:cNvSpPr txBox="1"/>
              <p:nvPr/>
            </p:nvSpPr>
            <p:spPr>
              <a:xfrm>
                <a:off x="7301865" y="5563552"/>
                <a:ext cx="1300829"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隐形成本节省(预估)</a:t>
                </a:r>
              </a:p>
            </p:txBody>
          </p:sp>
        </p:grpSp>
      </p:grpSp>
      <p:grpSp>
        <p:nvGrpSpPr>
          <p:cNvPr id="73" name="Group 73"/>
          <p:cNvGrpSpPr/>
          <p:nvPr/>
        </p:nvGrpSpPr>
        <p:grpSpPr>
          <a:xfrm>
            <a:off x="750570" y="6456045"/>
            <a:ext cx="10689907" cy="182880"/>
            <a:chOff x="750570" y="6456045"/>
            <a:chExt cx="10689907" cy="182880"/>
          </a:xfrm>
        </p:grpSpPr>
        <p:sp>
          <p:nvSpPr>
            <p:cNvPr id="71" name="TextBox 71"/>
            <p:cNvSpPr txBox="1"/>
            <p:nvPr/>
          </p:nvSpPr>
          <p:spPr>
            <a:xfrm>
              <a:off x="750570" y="6456045"/>
              <a:ext cx="140903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S1 智能需求闭环</a:t>
              </a:r>
            </a:p>
          </p:txBody>
        </p:sp>
        <p:sp>
          <p:nvSpPr>
            <p:cNvPr id="72" name="TextBox 72"/>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16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left)">
                                      <p:cBhvr>
                                        <p:cTn id="11" dur="400"/>
                                        <p:tgtEl>
                                          <p:spTgt spid="5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slide(fromBottom)">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0" grpId="0"/>
      <p:bldP spid="7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762000" y="533400"/>
            <a:ext cx="6741881" cy="619125"/>
            <a:chOff x="762000" y="533400"/>
            <a:chExt cx="6741881" cy="619125"/>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246BFE"/>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S2</a:t>
              </a:r>
            </a:p>
          </p:txBody>
        </p:sp>
        <p:sp>
          <p:nvSpPr>
            <p:cNvPr id="6" name="TextBox 6"/>
            <p:cNvSpPr txBox="1"/>
            <p:nvPr/>
          </p:nvSpPr>
          <p:spPr>
            <a:xfrm>
              <a:off x="1363980" y="725805"/>
              <a:ext cx="6139901"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AI 写的代码不敢合、不敢重构,质量靠人工把关</a:t>
              </a:r>
            </a:p>
          </p:txBody>
        </p:sp>
      </p:grpSp>
      <p:grpSp>
        <p:nvGrpSpPr>
          <p:cNvPr id="17" name="Group 17"/>
          <p:cNvGrpSpPr/>
          <p:nvPr/>
        </p:nvGrpSpPr>
        <p:grpSpPr>
          <a:xfrm>
            <a:off x="762000" y="1295400"/>
            <a:ext cx="10668000" cy="1181100"/>
            <a:chOff x="762000" y="1295400"/>
            <a:chExt cx="10668000" cy="1181100"/>
          </a:xfrm>
        </p:grpSpPr>
        <p:sp>
          <p:nvSpPr>
            <p:cNvPr id="8" name="Rectangle 8"/>
            <p:cNvSpPr/>
            <p:nvPr/>
          </p:nvSpPr>
          <p:spPr>
            <a:xfrm>
              <a:off x="762000" y="1295400"/>
              <a:ext cx="10668000" cy="1181100"/>
            </a:xfrm>
            <a:prstGeom prst="roundRect">
              <a:avLst>
                <a:gd name="adj" fmla="val 11290"/>
              </a:avLst>
            </a:prstGeom>
            <a:solidFill>
              <a:srgbClr val="F4F7FC"/>
            </a:solidFill>
            <a:ln>
              <a:noFill/>
            </a:ln>
          </p:spPr>
        </p:sp>
        <p:sp>
          <p:nvSpPr>
            <p:cNvPr id="9" name="Rectangle 9"/>
            <p:cNvSpPr/>
            <p:nvPr/>
          </p:nvSpPr>
          <p:spPr>
            <a:xfrm>
              <a:off x="762000" y="1295400"/>
              <a:ext cx="57150" cy="1181100"/>
            </a:xfrm>
            <a:prstGeom prst="roundRect">
              <a:avLst>
                <a:gd name="adj" fmla="val 50000"/>
              </a:avLst>
            </a:prstGeom>
            <a:solidFill>
              <a:srgbClr val="F59E0B"/>
            </a:solidFill>
            <a:ln>
              <a:noFill/>
            </a:ln>
          </p:spPr>
        </p:sp>
        <p:grpSp>
          <p:nvGrpSpPr>
            <p:cNvPr id="13" name="Group 13"/>
            <p:cNvGrpSpPr/>
            <p:nvPr/>
          </p:nvGrpSpPr>
          <p:grpSpPr>
            <a:xfrm>
              <a:off x="1070549" y="1536713"/>
              <a:ext cx="240143" cy="206314"/>
              <a:chOff x="1070549" y="1536713"/>
              <a:chExt cx="240143" cy="206314"/>
            </a:xfrm>
          </p:grpSpPr>
          <p:sp>
            <p:nvSpPr>
              <p:cNvPr id="10" name="Freeform 10"/>
              <p:cNvSpPr/>
              <p:nvPr/>
            </p:nvSpPr>
            <p:spPr>
              <a:xfrm>
                <a:off x="1190625" y="1612106"/>
                <a:ext cx="9525" cy="47625"/>
              </a:xfrm>
              <a:custGeom>
                <a:avLst/>
                <a:gdLst/>
                <a:ahLst/>
                <a:cxnLst/>
                <a:rect l="l" t="t" r="r" b="b"/>
                <a:pathLst>
                  <a:path w="9525" h="47625">
                    <a:moveTo>
                      <a:pt x="0" y="0"/>
                    </a:moveTo>
                    <a:lnTo>
                      <a:pt x="0" y="47625"/>
                    </a:lnTo>
                  </a:path>
                </a:pathLst>
              </a:custGeom>
              <a:noFill/>
              <a:ln w="19050">
                <a:solidFill>
                  <a:srgbClr val="F59E0B"/>
                </a:solidFill>
              </a:ln>
            </p:spPr>
          </p:sp>
          <p:sp>
            <p:nvSpPr>
              <p:cNvPr id="11" name="Freeform 11"/>
              <p:cNvSpPr/>
              <p:nvPr/>
            </p:nvSpPr>
            <p:spPr>
              <a:xfrm>
                <a:off x="1070549" y="15367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F59E0B"/>
                </a:solidFill>
              </a:ln>
            </p:spPr>
          </p:sp>
          <p:sp>
            <p:nvSpPr>
              <p:cNvPr id="12" name="Freeform 12"/>
              <p:cNvSpPr/>
              <p:nvPr/>
            </p:nvSpPr>
            <p:spPr>
              <a:xfrm>
                <a:off x="1190625" y="1695450"/>
                <a:ext cx="9525" cy="9525"/>
              </a:xfrm>
              <a:custGeom>
                <a:avLst/>
                <a:gdLst/>
                <a:ahLst/>
                <a:cxnLst/>
                <a:rect l="l" t="t" r="r" b="b"/>
                <a:pathLst>
                  <a:path w="9525" h="9525">
                    <a:moveTo>
                      <a:pt x="0" y="0"/>
                    </a:moveTo>
                    <a:lnTo>
                      <a:pt x="119" y="0"/>
                    </a:lnTo>
                  </a:path>
                </a:pathLst>
              </a:custGeom>
              <a:noFill/>
              <a:ln w="19050">
                <a:solidFill>
                  <a:srgbClr val="F59E0B"/>
                </a:solidFill>
              </a:ln>
            </p:spPr>
          </p:sp>
        </p:grpSp>
        <p:sp>
          <p:nvSpPr>
            <p:cNvPr id="14" name="TextBox 14"/>
            <p:cNvSpPr txBox="1"/>
            <p:nvPr/>
          </p:nvSpPr>
          <p:spPr>
            <a:xfrm>
              <a:off x="1411605" y="1568768"/>
              <a:ext cx="412337"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痛点</a:t>
              </a:r>
            </a:p>
          </p:txBody>
        </p:sp>
        <p:sp>
          <p:nvSpPr>
            <p:cNvPr id="15" name="TextBox 15"/>
            <p:cNvSpPr txBox="1"/>
            <p:nvPr/>
          </p:nvSpPr>
          <p:spPr>
            <a:xfrm>
              <a:off x="1414462" y="1897856"/>
              <a:ext cx="5369242"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工程师用 AI 写代码很快 → 但代码评审靠人肉、测试靠人工、环境数据靠手动准备</a:t>
              </a:r>
            </a:p>
          </p:txBody>
        </p:sp>
        <p:sp>
          <p:nvSpPr>
            <p:cNvPr id="16" name="TextBox 16"/>
            <p:cNvSpPr txBox="1"/>
            <p:nvPr/>
          </p:nvSpPr>
          <p:spPr>
            <a:xfrm>
              <a:off x="1414462" y="2164556"/>
              <a:ext cx="2997821" cy="228600"/>
            </a:xfrm>
            <a:prstGeom prst="rect">
              <a:avLst/>
            </a:prstGeom>
            <a:noFill/>
            <a:ln>
              <a:noFill/>
            </a:ln>
          </p:spPr>
          <p:txBody>
            <a:bodyPr wrap="none" lIns="0" tIns="0" rIns="0" bIns="0" anchor="t" anchorCtr="0">
              <a:spAutoFit/>
            </a:bodyPr>
            <a:lstStyle/>
            <a:p>
              <a:pPr algn="l"/>
              <a:r>
                <a:rPr lang="zh-CN" sz="1125" b="1" dirty="0">
                  <a:solidFill>
                    <a:srgbClr val="F59E0B"/>
                  </a:solidFill>
                  <a:latin typeface="Arial"/>
                  <a:ea typeface="Microsoft YaHei"/>
                  <a:cs typeface="Arial"/>
                </a:rPr>
                <a:t>→ 不敢快速合并、不敢重构、不敢频繁发布</a:t>
              </a:r>
            </a:p>
          </p:txBody>
        </p:sp>
      </p:grpSp>
      <p:grpSp>
        <p:nvGrpSpPr>
          <p:cNvPr id="20" name="Group 20"/>
          <p:cNvGrpSpPr/>
          <p:nvPr/>
        </p:nvGrpSpPr>
        <p:grpSpPr>
          <a:xfrm>
            <a:off x="746760" y="2766060"/>
            <a:ext cx="3089506" cy="451009"/>
            <a:chOff x="746760" y="2766060"/>
            <a:chExt cx="3089506" cy="451009"/>
          </a:xfrm>
        </p:grpSpPr>
        <p:sp>
          <p:nvSpPr>
            <p:cNvPr id="18" name="TextBox 18"/>
            <p:cNvSpPr txBox="1"/>
            <p:nvPr/>
          </p:nvSpPr>
          <p:spPr>
            <a:xfrm>
              <a:off x="746760" y="2766060"/>
              <a:ext cx="2139144" cy="243840"/>
            </a:xfrm>
            <a:prstGeom prst="rect">
              <a:avLst/>
            </a:prstGeom>
            <a:noFill/>
            <a:ln>
              <a:noFill/>
            </a:ln>
          </p:spPr>
          <p:txBody>
            <a:bodyPr wrap="none" lIns="0" tIns="0" rIns="0" bIns="0" anchor="t" anchorCtr="0">
              <a:spAutoFit/>
            </a:bodyPr>
            <a:lstStyle/>
            <a:p>
              <a:pPr algn="l"/>
              <a:r>
                <a:rPr lang="zh-CN" sz="1200" b="1" dirty="0">
                  <a:solidFill>
                    <a:srgbClr val="246BFE"/>
                  </a:solidFill>
                  <a:latin typeface="Arial"/>
                  <a:ea typeface="Microsoft YaHei"/>
                  <a:cs typeface="Arial"/>
                </a:rPr>
                <a:t>交付闭环:质量内嵌在每一步</a:t>
              </a:r>
            </a:p>
          </p:txBody>
        </p:sp>
        <p:sp>
          <p:nvSpPr>
            <p:cNvPr id="19" name="TextBox 19"/>
            <p:cNvSpPr txBox="1"/>
            <p:nvPr/>
          </p:nvSpPr>
          <p:spPr>
            <a:xfrm>
              <a:off x="749618" y="3018949"/>
              <a:ext cx="308664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质量不是最后一道关,而是交付闭环每一步的内置能力</a:t>
              </a:r>
            </a:p>
          </p:txBody>
        </p:sp>
      </p:grpSp>
      <p:grpSp>
        <p:nvGrpSpPr>
          <p:cNvPr id="30" name="Group 30"/>
          <p:cNvGrpSpPr/>
          <p:nvPr/>
        </p:nvGrpSpPr>
        <p:grpSpPr>
          <a:xfrm>
            <a:off x="952500" y="3429000"/>
            <a:ext cx="1524000" cy="647700"/>
            <a:chOff x="952500" y="3429000"/>
            <a:chExt cx="1524000" cy="647700"/>
          </a:xfrm>
        </p:grpSpPr>
        <p:sp>
          <p:nvSpPr>
            <p:cNvPr id="21" name="Rectangle 21"/>
            <p:cNvSpPr/>
            <p:nvPr/>
          </p:nvSpPr>
          <p:spPr>
            <a:xfrm>
              <a:off x="952500" y="3429000"/>
              <a:ext cx="1524000" cy="647700"/>
            </a:xfrm>
            <a:prstGeom prst="roundRect">
              <a:avLst>
                <a:gd name="adj" fmla="val 17647"/>
              </a:avLst>
            </a:prstGeom>
            <a:solidFill>
              <a:srgbClr val="0052A6"/>
            </a:solidFill>
            <a:ln>
              <a:noFill/>
            </a:ln>
          </p:spPr>
        </p:sp>
        <p:grpSp>
          <p:nvGrpSpPr>
            <p:cNvPr id="27" name="Group 27"/>
            <p:cNvGrpSpPr/>
            <p:nvPr/>
          </p:nvGrpSpPr>
          <p:grpSpPr>
            <a:xfrm>
              <a:off x="1148556" y="3626644"/>
              <a:ext cx="122238" cy="157162"/>
              <a:chOff x="1148556" y="3626644"/>
              <a:chExt cx="122238" cy="157162"/>
            </a:xfrm>
          </p:grpSpPr>
          <p:sp>
            <p:nvSpPr>
              <p:cNvPr id="22" name="Freeform 22"/>
              <p:cNvSpPr/>
              <p:nvPr/>
            </p:nvSpPr>
            <p:spPr>
              <a:xfrm>
                <a:off x="1227138" y="3626644"/>
                <a:ext cx="43656" cy="43656"/>
              </a:xfrm>
              <a:custGeom>
                <a:avLst/>
                <a:gdLst/>
                <a:ahLst/>
                <a:cxnLst/>
                <a:rect l="l" t="t" r="r" b="b"/>
                <a:pathLst>
                  <a:path w="43656" h="43656">
                    <a:moveTo>
                      <a:pt x="0" y="0"/>
                    </a:moveTo>
                    <a:lnTo>
                      <a:pt x="0" y="34925"/>
                    </a:lnTo>
                    <a:cubicBezTo>
                      <a:pt x="0" y="39747"/>
                      <a:pt x="3909" y="43656"/>
                      <a:pt x="8731" y="43656"/>
                    </a:cubicBezTo>
                    <a:lnTo>
                      <a:pt x="43656" y="43656"/>
                    </a:lnTo>
                  </a:path>
                </a:pathLst>
              </a:custGeom>
              <a:noFill/>
              <a:ln w="19050">
                <a:solidFill>
                  <a:srgbClr val="FFFFFF"/>
                </a:solidFill>
              </a:ln>
            </p:spPr>
          </p:sp>
          <p:sp>
            <p:nvSpPr>
              <p:cNvPr id="23" name="Freeform 23"/>
              <p:cNvSpPr/>
              <p:nvPr/>
            </p:nvSpPr>
            <p:spPr>
              <a:xfrm>
                <a:off x="1148556" y="3626644"/>
                <a:ext cx="122237" cy="157162"/>
              </a:xfrm>
              <a:custGeom>
                <a:avLst/>
                <a:gdLst/>
                <a:ahLst/>
                <a:cxnLst/>
                <a:rect l="l" t="t" r="r" b="b"/>
                <a:pathLst>
                  <a:path w="122237" h="157162">
                    <a:moveTo>
                      <a:pt x="104775" y="157162"/>
                    </a:moveTo>
                    <a:lnTo>
                      <a:pt x="17463" y="157162"/>
                    </a:lnTo>
                    <a:cubicBezTo>
                      <a:pt x="7818" y="157162"/>
                      <a:pt x="0" y="149344"/>
                      <a:pt x="0" y="139700"/>
                    </a:cubicBezTo>
                    <a:lnTo>
                      <a:pt x="0" y="17462"/>
                    </a:lnTo>
                    <a:cubicBezTo>
                      <a:pt x="0" y="7818"/>
                      <a:pt x="7818" y="0"/>
                      <a:pt x="17463" y="0"/>
                    </a:cubicBezTo>
                    <a:lnTo>
                      <a:pt x="78581" y="0"/>
                    </a:lnTo>
                    <a:lnTo>
                      <a:pt x="122237" y="43656"/>
                    </a:lnTo>
                    <a:lnTo>
                      <a:pt x="122237" y="139700"/>
                    </a:lnTo>
                    <a:cubicBezTo>
                      <a:pt x="122237" y="149344"/>
                      <a:pt x="114419" y="157162"/>
                      <a:pt x="104775" y="157162"/>
                    </a:cubicBezTo>
                  </a:path>
                </a:pathLst>
              </a:custGeom>
              <a:noFill/>
              <a:ln w="19050">
                <a:solidFill>
                  <a:srgbClr val="FFFFFF"/>
                </a:solidFill>
              </a:ln>
            </p:spPr>
          </p:sp>
          <p:sp>
            <p:nvSpPr>
              <p:cNvPr id="24" name="Freeform 24"/>
              <p:cNvSpPr/>
              <p:nvPr/>
            </p:nvSpPr>
            <p:spPr>
              <a:xfrm>
                <a:off x="1183481" y="3679031"/>
                <a:ext cx="9525" cy="9525"/>
              </a:xfrm>
              <a:custGeom>
                <a:avLst/>
                <a:gdLst/>
                <a:ahLst/>
                <a:cxnLst/>
                <a:rect l="l" t="t" r="r" b="b"/>
                <a:pathLst>
                  <a:path w="9525" h="9525">
                    <a:moveTo>
                      <a:pt x="0" y="0"/>
                    </a:moveTo>
                    <a:lnTo>
                      <a:pt x="8731" y="0"/>
                    </a:lnTo>
                  </a:path>
                </a:pathLst>
              </a:custGeom>
              <a:noFill/>
              <a:ln w="19050">
                <a:solidFill>
                  <a:srgbClr val="FFFFFF"/>
                </a:solidFill>
              </a:ln>
            </p:spPr>
          </p:sp>
          <p:sp>
            <p:nvSpPr>
              <p:cNvPr id="25" name="Freeform 25"/>
              <p:cNvSpPr/>
              <p:nvPr/>
            </p:nvSpPr>
            <p:spPr>
              <a:xfrm>
                <a:off x="1183481" y="3713956"/>
                <a:ext cx="52388" cy="9525"/>
              </a:xfrm>
              <a:custGeom>
                <a:avLst/>
                <a:gdLst/>
                <a:ahLst/>
                <a:cxnLst/>
                <a:rect l="l" t="t" r="r" b="b"/>
                <a:pathLst>
                  <a:path w="52388" h="9525">
                    <a:moveTo>
                      <a:pt x="0" y="0"/>
                    </a:moveTo>
                    <a:lnTo>
                      <a:pt x="52388" y="0"/>
                    </a:lnTo>
                  </a:path>
                </a:pathLst>
              </a:custGeom>
              <a:noFill/>
              <a:ln w="19050">
                <a:solidFill>
                  <a:srgbClr val="FFFFFF"/>
                </a:solidFill>
              </a:ln>
            </p:spPr>
          </p:sp>
          <p:sp>
            <p:nvSpPr>
              <p:cNvPr id="26" name="Freeform 26"/>
              <p:cNvSpPr/>
              <p:nvPr/>
            </p:nvSpPr>
            <p:spPr>
              <a:xfrm>
                <a:off x="1183481" y="3748881"/>
                <a:ext cx="52388" cy="9525"/>
              </a:xfrm>
              <a:custGeom>
                <a:avLst/>
                <a:gdLst/>
                <a:ahLst/>
                <a:cxnLst/>
                <a:rect l="l" t="t" r="r" b="b"/>
                <a:pathLst>
                  <a:path w="52388" h="9525">
                    <a:moveTo>
                      <a:pt x="0" y="0"/>
                    </a:moveTo>
                    <a:lnTo>
                      <a:pt x="52388" y="0"/>
                    </a:lnTo>
                  </a:path>
                </a:pathLst>
              </a:custGeom>
              <a:noFill/>
              <a:ln w="19050">
                <a:solidFill>
                  <a:srgbClr val="FFFFFF"/>
                </a:solidFill>
              </a:ln>
            </p:spPr>
          </p:sp>
        </p:grpSp>
        <p:sp>
          <p:nvSpPr>
            <p:cNvPr id="28" name="TextBox 28"/>
            <p:cNvSpPr txBox="1"/>
            <p:nvPr/>
          </p:nvSpPr>
          <p:spPr>
            <a:xfrm>
              <a:off x="1326696" y="3647599"/>
              <a:ext cx="77560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需求转 Spec</a:t>
              </a:r>
            </a:p>
          </p:txBody>
        </p:sp>
        <p:sp>
          <p:nvSpPr>
            <p:cNvPr id="29" name="TextBox 29"/>
            <p:cNvSpPr txBox="1"/>
            <p:nvPr/>
          </p:nvSpPr>
          <p:spPr>
            <a:xfrm>
              <a:off x="1305223" y="3873341"/>
              <a:ext cx="818555"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a:ea typeface="Microsoft YaHei"/>
                  <a:cs typeface="Arial"/>
                </a:rPr>
                <a:t>Builder + Agent</a:t>
              </a:r>
            </a:p>
          </p:txBody>
        </p:sp>
      </p:grpSp>
      <p:sp>
        <p:nvSpPr>
          <p:cNvPr id="31" name="Line 31"/>
          <p:cNvSpPr/>
          <p:nvPr/>
        </p:nvSpPr>
        <p:spPr>
          <a:xfrm>
            <a:off x="2495550" y="3752850"/>
            <a:ext cx="285750" cy="1"/>
          </a:xfrm>
          <a:prstGeom prst="line">
            <a:avLst/>
          </a:prstGeom>
          <a:noFill/>
          <a:ln w="19050">
            <a:solidFill>
              <a:srgbClr val="246BFE"/>
            </a:solidFill>
            <a:tailEnd type="triangle" w="lg" len="lg"/>
          </a:ln>
        </p:spPr>
      </p:sp>
      <p:grpSp>
        <p:nvGrpSpPr>
          <p:cNvPr id="39" name="Group 39"/>
          <p:cNvGrpSpPr/>
          <p:nvPr/>
        </p:nvGrpSpPr>
        <p:grpSpPr>
          <a:xfrm>
            <a:off x="2800350" y="3429000"/>
            <a:ext cx="1524000" cy="647700"/>
            <a:chOff x="2800350" y="3429000"/>
            <a:chExt cx="1524000" cy="647700"/>
          </a:xfrm>
        </p:grpSpPr>
        <p:sp>
          <p:nvSpPr>
            <p:cNvPr id="32" name="Rectangle 32"/>
            <p:cNvSpPr/>
            <p:nvPr/>
          </p:nvSpPr>
          <p:spPr>
            <a:xfrm>
              <a:off x="2800350" y="3429000"/>
              <a:ext cx="1524000" cy="647700"/>
            </a:xfrm>
            <a:prstGeom prst="roundRect">
              <a:avLst>
                <a:gd name="adj" fmla="val 17647"/>
              </a:avLst>
            </a:prstGeom>
            <a:solidFill>
              <a:srgbClr val="246BFE"/>
            </a:solidFill>
            <a:ln>
              <a:noFill/>
            </a:ln>
          </p:spPr>
        </p:sp>
        <p:grpSp>
          <p:nvGrpSpPr>
            <p:cNvPr id="36" name="Group 36"/>
            <p:cNvGrpSpPr/>
            <p:nvPr/>
          </p:nvGrpSpPr>
          <p:grpSpPr>
            <a:xfrm>
              <a:off x="2978944" y="3635375"/>
              <a:ext cx="157162" cy="139700"/>
              <a:chOff x="2978944" y="3635375"/>
              <a:chExt cx="157162" cy="139700"/>
            </a:xfrm>
          </p:grpSpPr>
          <p:sp>
            <p:nvSpPr>
              <p:cNvPr id="33" name="Freeform 33"/>
              <p:cNvSpPr/>
              <p:nvPr/>
            </p:nvSpPr>
            <p:spPr>
              <a:xfrm>
                <a:off x="2978944" y="3670300"/>
                <a:ext cx="34925" cy="69850"/>
              </a:xfrm>
              <a:custGeom>
                <a:avLst/>
                <a:gdLst/>
                <a:ahLst/>
                <a:cxnLst/>
                <a:rect l="l" t="t" r="r" b="b"/>
                <a:pathLst>
                  <a:path w="34925" h="69850">
                    <a:moveTo>
                      <a:pt x="34925" y="0"/>
                    </a:moveTo>
                    <a:lnTo>
                      <a:pt x="0" y="34925"/>
                    </a:lnTo>
                    <a:lnTo>
                      <a:pt x="34925" y="69850"/>
                    </a:lnTo>
                  </a:path>
                </a:pathLst>
              </a:custGeom>
              <a:noFill/>
              <a:ln w="19050">
                <a:solidFill>
                  <a:srgbClr val="FFFFFF"/>
                </a:solidFill>
              </a:ln>
            </p:spPr>
          </p:sp>
          <p:sp>
            <p:nvSpPr>
              <p:cNvPr id="34" name="Freeform 34"/>
              <p:cNvSpPr/>
              <p:nvPr/>
            </p:nvSpPr>
            <p:spPr>
              <a:xfrm>
                <a:off x="3101181" y="3670300"/>
                <a:ext cx="34925" cy="69850"/>
              </a:xfrm>
              <a:custGeom>
                <a:avLst/>
                <a:gdLst/>
                <a:ahLst/>
                <a:cxnLst/>
                <a:rect l="l" t="t" r="r" b="b"/>
                <a:pathLst>
                  <a:path w="34925" h="69850">
                    <a:moveTo>
                      <a:pt x="0" y="0"/>
                    </a:moveTo>
                    <a:lnTo>
                      <a:pt x="34925" y="34925"/>
                    </a:lnTo>
                    <a:lnTo>
                      <a:pt x="0" y="69850"/>
                    </a:lnTo>
                  </a:path>
                </a:pathLst>
              </a:custGeom>
              <a:noFill/>
              <a:ln w="19050">
                <a:solidFill>
                  <a:srgbClr val="FFFFFF"/>
                </a:solidFill>
              </a:ln>
            </p:spPr>
          </p:sp>
          <p:sp>
            <p:nvSpPr>
              <p:cNvPr id="35" name="Freeform 35"/>
              <p:cNvSpPr/>
              <p:nvPr/>
            </p:nvSpPr>
            <p:spPr>
              <a:xfrm>
                <a:off x="3040062" y="3635375"/>
                <a:ext cx="34925" cy="139700"/>
              </a:xfrm>
              <a:custGeom>
                <a:avLst/>
                <a:gdLst/>
                <a:ahLst/>
                <a:cxnLst/>
                <a:rect l="l" t="t" r="r" b="b"/>
                <a:pathLst>
                  <a:path w="34925" h="139700">
                    <a:moveTo>
                      <a:pt x="34925" y="0"/>
                    </a:moveTo>
                    <a:lnTo>
                      <a:pt x="0" y="139700"/>
                    </a:lnTo>
                  </a:path>
                </a:pathLst>
              </a:custGeom>
              <a:noFill/>
              <a:ln w="19050">
                <a:solidFill>
                  <a:srgbClr val="FFFFFF"/>
                </a:solidFill>
              </a:ln>
            </p:spPr>
          </p:sp>
        </p:grpSp>
        <p:sp>
          <p:nvSpPr>
            <p:cNvPr id="37" name="TextBox 37"/>
            <p:cNvSpPr txBox="1"/>
            <p:nvPr/>
          </p:nvSpPr>
          <p:spPr>
            <a:xfrm>
              <a:off x="3198436" y="3647599"/>
              <a:ext cx="72782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设计 + 编码</a:t>
              </a:r>
            </a:p>
          </p:txBody>
        </p:sp>
        <p:sp>
          <p:nvSpPr>
            <p:cNvPr id="38" name="TextBox 38"/>
            <p:cNvSpPr txBox="1"/>
            <p:nvPr/>
          </p:nvSpPr>
          <p:spPr>
            <a:xfrm>
              <a:off x="3164074" y="3873341"/>
              <a:ext cx="796552"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a:ea typeface="Microsoft YaHei"/>
                  <a:cs typeface="Arial"/>
                </a:rPr>
                <a:t>AI + Agent 协作</a:t>
              </a:r>
            </a:p>
          </p:txBody>
        </p:sp>
      </p:grpSp>
      <p:sp>
        <p:nvSpPr>
          <p:cNvPr id="40" name="Line 40"/>
          <p:cNvSpPr/>
          <p:nvPr/>
        </p:nvSpPr>
        <p:spPr>
          <a:xfrm>
            <a:off x="4343400" y="3752850"/>
            <a:ext cx="285750" cy="1"/>
          </a:xfrm>
          <a:prstGeom prst="line">
            <a:avLst/>
          </a:prstGeom>
          <a:noFill/>
          <a:ln w="19050">
            <a:solidFill>
              <a:srgbClr val="246BFE"/>
            </a:solidFill>
            <a:tailEnd type="triangle" w="lg" len="lg"/>
          </a:ln>
        </p:spPr>
      </p:sp>
      <p:grpSp>
        <p:nvGrpSpPr>
          <p:cNvPr id="47" name="Group 47"/>
          <p:cNvGrpSpPr/>
          <p:nvPr/>
        </p:nvGrpSpPr>
        <p:grpSpPr>
          <a:xfrm>
            <a:off x="4648200" y="3429000"/>
            <a:ext cx="1524000" cy="647700"/>
            <a:chOff x="4648200" y="3429000"/>
            <a:chExt cx="1524000" cy="647700"/>
          </a:xfrm>
        </p:grpSpPr>
        <p:sp>
          <p:nvSpPr>
            <p:cNvPr id="41" name="Rectangle 41"/>
            <p:cNvSpPr/>
            <p:nvPr/>
          </p:nvSpPr>
          <p:spPr>
            <a:xfrm>
              <a:off x="4648200" y="3429000"/>
              <a:ext cx="1524000" cy="647700"/>
            </a:xfrm>
            <a:prstGeom prst="roundRect">
              <a:avLst>
                <a:gd name="adj" fmla="val 17647"/>
              </a:avLst>
            </a:prstGeom>
            <a:solidFill>
              <a:srgbClr val="246BFE"/>
            </a:solidFill>
            <a:ln>
              <a:noFill/>
            </a:ln>
          </p:spPr>
        </p:sp>
        <p:grpSp>
          <p:nvGrpSpPr>
            <p:cNvPr id="44" name="Group 44"/>
            <p:cNvGrpSpPr/>
            <p:nvPr/>
          </p:nvGrpSpPr>
          <p:grpSpPr>
            <a:xfrm>
              <a:off x="4826794" y="3626644"/>
              <a:ext cx="157162" cy="157162"/>
              <a:chOff x="4826794" y="3626644"/>
              <a:chExt cx="157162" cy="157162"/>
            </a:xfrm>
          </p:grpSpPr>
          <p:sp>
            <p:nvSpPr>
              <p:cNvPr id="42" name="Freeform 42"/>
              <p:cNvSpPr/>
              <p:nvPr/>
            </p:nvSpPr>
            <p:spPr>
              <a:xfrm>
                <a:off x="4826794" y="362664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FFFFFF"/>
                </a:solidFill>
              </a:ln>
            </p:spPr>
          </p:sp>
          <p:sp>
            <p:nvSpPr>
              <p:cNvPr id="43" name="Freeform 43"/>
              <p:cNvSpPr/>
              <p:nvPr/>
            </p:nvSpPr>
            <p:spPr>
              <a:xfrm>
                <a:off x="4879181" y="3687762"/>
                <a:ext cx="52388" cy="34925"/>
              </a:xfrm>
              <a:custGeom>
                <a:avLst/>
                <a:gdLst/>
                <a:ahLst/>
                <a:cxnLst/>
                <a:rect l="l" t="t" r="r" b="b"/>
                <a:pathLst>
                  <a:path w="52388" h="34925">
                    <a:moveTo>
                      <a:pt x="0" y="17462"/>
                    </a:moveTo>
                    <a:lnTo>
                      <a:pt x="17463" y="34925"/>
                    </a:lnTo>
                    <a:lnTo>
                      <a:pt x="52388" y="0"/>
                    </a:lnTo>
                  </a:path>
                </a:pathLst>
              </a:custGeom>
              <a:noFill/>
              <a:ln w="19050">
                <a:solidFill>
                  <a:srgbClr val="FFFFFF"/>
                </a:solidFill>
              </a:ln>
            </p:spPr>
          </p:sp>
        </p:grpSp>
        <p:sp>
          <p:nvSpPr>
            <p:cNvPr id="45" name="TextBox 45"/>
            <p:cNvSpPr txBox="1"/>
            <p:nvPr/>
          </p:nvSpPr>
          <p:spPr>
            <a:xfrm>
              <a:off x="4937072" y="3647599"/>
              <a:ext cx="94625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fullcheck 全检</a:t>
              </a:r>
            </a:p>
          </p:txBody>
        </p:sp>
        <p:sp>
          <p:nvSpPr>
            <p:cNvPr id="46" name="TextBox 46"/>
            <p:cNvSpPr txBox="1"/>
            <p:nvPr/>
          </p:nvSpPr>
          <p:spPr>
            <a:xfrm>
              <a:off x="5061430" y="3873341"/>
              <a:ext cx="697540"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a:ea typeface="Microsoft YaHei"/>
                  <a:cs typeface="Arial"/>
                </a:rPr>
                <a:t>AI 改完即验证</a:t>
              </a:r>
            </a:p>
          </p:txBody>
        </p:sp>
      </p:grpSp>
      <p:sp>
        <p:nvSpPr>
          <p:cNvPr id="48" name="Line 48"/>
          <p:cNvSpPr/>
          <p:nvPr/>
        </p:nvSpPr>
        <p:spPr>
          <a:xfrm>
            <a:off x="6191250" y="3752850"/>
            <a:ext cx="285750" cy="1"/>
          </a:xfrm>
          <a:prstGeom prst="line">
            <a:avLst/>
          </a:prstGeom>
          <a:noFill/>
          <a:ln w="19050">
            <a:solidFill>
              <a:srgbClr val="246BFE"/>
            </a:solidFill>
            <a:tailEnd type="triangle" w="lg" len="lg"/>
          </a:ln>
        </p:spPr>
      </p:sp>
      <p:grpSp>
        <p:nvGrpSpPr>
          <p:cNvPr id="55" name="Group 55"/>
          <p:cNvGrpSpPr/>
          <p:nvPr/>
        </p:nvGrpSpPr>
        <p:grpSpPr>
          <a:xfrm>
            <a:off x="6496050" y="3429000"/>
            <a:ext cx="1524000" cy="647700"/>
            <a:chOff x="6496050" y="3429000"/>
            <a:chExt cx="1524000" cy="647700"/>
          </a:xfrm>
        </p:grpSpPr>
        <p:sp>
          <p:nvSpPr>
            <p:cNvPr id="49" name="Rectangle 49"/>
            <p:cNvSpPr/>
            <p:nvPr/>
          </p:nvSpPr>
          <p:spPr>
            <a:xfrm>
              <a:off x="6496050" y="3429000"/>
              <a:ext cx="1524000" cy="647700"/>
            </a:xfrm>
            <a:prstGeom prst="roundRect">
              <a:avLst>
                <a:gd name="adj" fmla="val 17647"/>
              </a:avLst>
            </a:prstGeom>
            <a:solidFill>
              <a:srgbClr val="246BFE"/>
            </a:solidFill>
            <a:ln>
              <a:noFill/>
            </a:ln>
          </p:spPr>
        </p:sp>
        <p:grpSp>
          <p:nvGrpSpPr>
            <p:cNvPr id="52" name="Group 52"/>
            <p:cNvGrpSpPr/>
            <p:nvPr/>
          </p:nvGrpSpPr>
          <p:grpSpPr>
            <a:xfrm>
              <a:off x="6692106" y="3661569"/>
              <a:ext cx="122238" cy="114300"/>
              <a:chOff x="6692106" y="3661569"/>
              <a:chExt cx="122238" cy="114300"/>
            </a:xfrm>
          </p:grpSpPr>
          <p:sp>
            <p:nvSpPr>
              <p:cNvPr id="50" name="Freeform 50"/>
              <p:cNvSpPr/>
              <p:nvPr/>
            </p:nvSpPr>
            <p:spPr>
              <a:xfrm>
                <a:off x="6692106" y="3661569"/>
                <a:ext cx="43656" cy="87312"/>
              </a:xfrm>
              <a:custGeom>
                <a:avLst/>
                <a:gdLst/>
                <a:ahLst/>
                <a:cxnLst/>
                <a:rect l="l" t="t" r="r" b="b"/>
                <a:pathLst>
                  <a:path w="43656" h="87312">
                    <a:moveTo>
                      <a:pt x="0" y="0"/>
                    </a:moveTo>
                    <a:lnTo>
                      <a:pt x="43656" y="43656"/>
                    </a:lnTo>
                    <a:lnTo>
                      <a:pt x="0" y="87312"/>
                    </a:lnTo>
                  </a:path>
                </a:pathLst>
              </a:custGeom>
              <a:noFill/>
              <a:ln w="19050">
                <a:solidFill>
                  <a:srgbClr val="FFFFFF"/>
                </a:solidFill>
              </a:ln>
            </p:spPr>
          </p:sp>
          <p:sp>
            <p:nvSpPr>
              <p:cNvPr id="51" name="Freeform 51"/>
              <p:cNvSpPr/>
              <p:nvPr/>
            </p:nvSpPr>
            <p:spPr>
              <a:xfrm>
                <a:off x="6753225" y="3766344"/>
                <a:ext cx="61119" cy="9525"/>
              </a:xfrm>
              <a:custGeom>
                <a:avLst/>
                <a:gdLst/>
                <a:ahLst/>
                <a:cxnLst/>
                <a:rect l="l" t="t" r="r" b="b"/>
                <a:pathLst>
                  <a:path w="61119" h="9525">
                    <a:moveTo>
                      <a:pt x="0" y="0"/>
                    </a:moveTo>
                    <a:lnTo>
                      <a:pt x="61119" y="0"/>
                    </a:lnTo>
                  </a:path>
                </a:pathLst>
              </a:custGeom>
              <a:noFill/>
              <a:ln w="19050">
                <a:solidFill>
                  <a:srgbClr val="FFFFFF"/>
                </a:solidFill>
              </a:ln>
            </p:spPr>
          </p:sp>
        </p:grpSp>
        <p:sp>
          <p:nvSpPr>
            <p:cNvPr id="53" name="TextBox 53"/>
            <p:cNvSpPr txBox="1"/>
            <p:nvPr/>
          </p:nvSpPr>
          <p:spPr>
            <a:xfrm>
              <a:off x="6723490" y="3647599"/>
              <a:ext cx="10691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CLI E2E 自动验证</a:t>
              </a:r>
            </a:p>
          </p:txBody>
        </p:sp>
        <p:sp>
          <p:nvSpPr>
            <p:cNvPr id="54" name="TextBox 54"/>
            <p:cNvSpPr txBox="1"/>
            <p:nvPr/>
          </p:nvSpPr>
          <p:spPr>
            <a:xfrm>
              <a:off x="6832271" y="3873341"/>
              <a:ext cx="851559"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a:ea typeface="Microsoft YaHei"/>
                  <a:cs typeface="Arial"/>
                </a:rPr>
                <a:t>环境/造数脚本化</a:t>
              </a:r>
            </a:p>
          </p:txBody>
        </p:sp>
      </p:grpSp>
      <p:sp>
        <p:nvSpPr>
          <p:cNvPr id="56" name="Line 56"/>
          <p:cNvSpPr/>
          <p:nvPr/>
        </p:nvSpPr>
        <p:spPr>
          <a:xfrm>
            <a:off x="8039100" y="3752850"/>
            <a:ext cx="285750" cy="1"/>
          </a:xfrm>
          <a:prstGeom prst="line">
            <a:avLst/>
          </a:prstGeom>
          <a:noFill/>
          <a:ln w="19050">
            <a:solidFill>
              <a:srgbClr val="246BFE"/>
            </a:solidFill>
            <a:tailEnd type="triangle" w="lg" len="lg"/>
          </a:ln>
        </p:spPr>
      </p:sp>
      <p:grpSp>
        <p:nvGrpSpPr>
          <p:cNvPr id="63" name="Group 63"/>
          <p:cNvGrpSpPr/>
          <p:nvPr/>
        </p:nvGrpSpPr>
        <p:grpSpPr>
          <a:xfrm>
            <a:off x="8343900" y="3429000"/>
            <a:ext cx="1524000" cy="647700"/>
            <a:chOff x="8343900" y="3429000"/>
            <a:chExt cx="1524000" cy="647700"/>
          </a:xfrm>
        </p:grpSpPr>
        <p:sp>
          <p:nvSpPr>
            <p:cNvPr id="57" name="Rectangle 57"/>
            <p:cNvSpPr/>
            <p:nvPr/>
          </p:nvSpPr>
          <p:spPr>
            <a:xfrm>
              <a:off x="8343900" y="3429000"/>
              <a:ext cx="1524000" cy="647700"/>
            </a:xfrm>
            <a:prstGeom prst="roundRect">
              <a:avLst>
                <a:gd name="adj" fmla="val 17647"/>
              </a:avLst>
            </a:prstGeom>
            <a:solidFill>
              <a:srgbClr val="0052A6"/>
            </a:solidFill>
            <a:ln>
              <a:noFill/>
            </a:ln>
          </p:spPr>
        </p:sp>
        <p:grpSp>
          <p:nvGrpSpPr>
            <p:cNvPr id="60" name="Group 60"/>
            <p:cNvGrpSpPr/>
            <p:nvPr/>
          </p:nvGrpSpPr>
          <p:grpSpPr>
            <a:xfrm>
              <a:off x="8522494" y="3652838"/>
              <a:ext cx="157162" cy="104775"/>
              <a:chOff x="8522494" y="3652838"/>
              <a:chExt cx="157162" cy="104775"/>
            </a:xfrm>
          </p:grpSpPr>
          <p:sp>
            <p:nvSpPr>
              <p:cNvPr id="58" name="Freeform 58"/>
              <p:cNvSpPr/>
              <p:nvPr/>
            </p:nvSpPr>
            <p:spPr>
              <a:xfrm>
                <a:off x="8583612" y="3687762"/>
                <a:ext cx="34925" cy="34925"/>
              </a:xfrm>
              <a:custGeom>
                <a:avLst/>
                <a:gdLst/>
                <a:ahLst/>
                <a:cxnLst/>
                <a:rect l="l" t="t" r="r" b="b"/>
                <a:pathLst>
                  <a:path w="34925" h="34925">
                    <a:moveTo>
                      <a:pt x="0" y="17462"/>
                    </a:moveTo>
                    <a:cubicBezTo>
                      <a:pt x="0" y="27107"/>
                      <a:pt x="7818" y="34925"/>
                      <a:pt x="17463" y="34925"/>
                    </a:cubicBezTo>
                    <a:cubicBezTo>
                      <a:pt x="27107" y="34925"/>
                      <a:pt x="34925" y="27107"/>
                      <a:pt x="34925" y="17462"/>
                    </a:cubicBezTo>
                    <a:cubicBezTo>
                      <a:pt x="34925" y="7818"/>
                      <a:pt x="27107" y="0"/>
                      <a:pt x="17463" y="0"/>
                    </a:cubicBezTo>
                    <a:cubicBezTo>
                      <a:pt x="7818" y="0"/>
                      <a:pt x="0" y="7818"/>
                      <a:pt x="0" y="17462"/>
                    </a:cubicBezTo>
                  </a:path>
                </a:pathLst>
              </a:custGeom>
              <a:noFill/>
              <a:ln w="19050">
                <a:solidFill>
                  <a:srgbClr val="FFFFFF"/>
                </a:solidFill>
              </a:ln>
            </p:spPr>
          </p:sp>
          <p:sp>
            <p:nvSpPr>
              <p:cNvPr id="59" name="Freeform 59"/>
              <p:cNvSpPr/>
              <p:nvPr/>
            </p:nvSpPr>
            <p:spPr>
              <a:xfrm>
                <a:off x="8522494" y="3652838"/>
                <a:ext cx="157162" cy="104775"/>
              </a:xfrm>
              <a:custGeom>
                <a:avLst/>
                <a:gdLst/>
                <a:ahLst/>
                <a:cxnLst/>
                <a:rect l="l" t="t" r="r" b="b"/>
                <a:pathLst>
                  <a:path w="157162" h="104775">
                    <a:moveTo>
                      <a:pt x="157162" y="52388"/>
                    </a:moveTo>
                    <a:cubicBezTo>
                      <a:pt x="136207" y="87313"/>
                      <a:pt x="110014" y="104775"/>
                      <a:pt x="78581" y="104775"/>
                    </a:cubicBezTo>
                    <a:cubicBezTo>
                      <a:pt x="47149" y="104775"/>
                      <a:pt x="20955" y="87313"/>
                      <a:pt x="0" y="52388"/>
                    </a:cubicBezTo>
                    <a:cubicBezTo>
                      <a:pt x="20955" y="17462"/>
                      <a:pt x="47149" y="0"/>
                      <a:pt x="78581" y="0"/>
                    </a:cubicBezTo>
                    <a:cubicBezTo>
                      <a:pt x="110014" y="0"/>
                      <a:pt x="136207" y="17462"/>
                      <a:pt x="157162" y="52388"/>
                    </a:cubicBezTo>
                  </a:path>
                </a:pathLst>
              </a:custGeom>
              <a:noFill/>
              <a:ln w="19050">
                <a:solidFill>
                  <a:srgbClr val="FFFFFF"/>
                </a:solidFill>
              </a:ln>
            </p:spPr>
          </p:sp>
        </p:grpSp>
        <p:sp>
          <p:nvSpPr>
            <p:cNvPr id="61" name="TextBox 61"/>
            <p:cNvSpPr txBox="1"/>
            <p:nvPr/>
          </p:nvSpPr>
          <p:spPr>
            <a:xfrm>
              <a:off x="8741986" y="3647599"/>
              <a:ext cx="72782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AI 代码评审</a:t>
              </a:r>
            </a:p>
          </p:txBody>
        </p:sp>
        <p:sp>
          <p:nvSpPr>
            <p:cNvPr id="62" name="TextBox 62"/>
            <p:cNvSpPr txBox="1"/>
            <p:nvPr/>
          </p:nvSpPr>
          <p:spPr>
            <a:xfrm>
              <a:off x="8704874" y="3873341"/>
              <a:ext cx="802053"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a:ea typeface="Microsoft YaHei"/>
                  <a:cs typeface="Arial"/>
                </a:rPr>
                <a:t>缺陷/安全/性能</a:t>
              </a:r>
            </a:p>
          </p:txBody>
        </p:sp>
      </p:grpSp>
      <p:sp>
        <p:nvSpPr>
          <p:cNvPr id="64" name="Line 64"/>
          <p:cNvSpPr/>
          <p:nvPr/>
        </p:nvSpPr>
        <p:spPr>
          <a:xfrm>
            <a:off x="9886950" y="3752850"/>
            <a:ext cx="285750" cy="1"/>
          </a:xfrm>
          <a:prstGeom prst="line">
            <a:avLst/>
          </a:prstGeom>
          <a:noFill/>
          <a:ln w="19050">
            <a:solidFill>
              <a:srgbClr val="246BFE"/>
            </a:solidFill>
            <a:tailEnd type="triangle" w="lg" len="lg"/>
          </a:ln>
        </p:spPr>
      </p:sp>
      <p:grpSp>
        <p:nvGrpSpPr>
          <p:cNvPr id="71" name="Group 71"/>
          <p:cNvGrpSpPr/>
          <p:nvPr/>
        </p:nvGrpSpPr>
        <p:grpSpPr>
          <a:xfrm>
            <a:off x="10191750" y="3429000"/>
            <a:ext cx="1238250" cy="647700"/>
            <a:chOff x="10191750" y="3429000"/>
            <a:chExt cx="1238250" cy="647700"/>
          </a:xfrm>
        </p:grpSpPr>
        <p:sp>
          <p:nvSpPr>
            <p:cNvPr id="65" name="Rectangle 65"/>
            <p:cNvSpPr/>
            <p:nvPr/>
          </p:nvSpPr>
          <p:spPr>
            <a:xfrm>
              <a:off x="10191750" y="3429000"/>
              <a:ext cx="1238250" cy="647700"/>
            </a:xfrm>
            <a:prstGeom prst="roundRect">
              <a:avLst>
                <a:gd name="adj" fmla="val 17647"/>
              </a:avLst>
            </a:prstGeom>
            <a:solidFill>
              <a:srgbClr val="0E9F6E"/>
            </a:solidFill>
            <a:ln>
              <a:noFill/>
            </a:ln>
          </p:spPr>
        </p:sp>
        <p:grpSp>
          <p:nvGrpSpPr>
            <p:cNvPr id="68" name="Group 68"/>
            <p:cNvGrpSpPr/>
            <p:nvPr/>
          </p:nvGrpSpPr>
          <p:grpSpPr>
            <a:xfrm>
              <a:off x="10370344" y="3626644"/>
              <a:ext cx="157162" cy="157162"/>
              <a:chOff x="10370344" y="3626644"/>
              <a:chExt cx="157162" cy="157162"/>
            </a:xfrm>
          </p:grpSpPr>
          <p:sp>
            <p:nvSpPr>
              <p:cNvPr id="66" name="Freeform 66"/>
              <p:cNvSpPr/>
              <p:nvPr/>
            </p:nvSpPr>
            <p:spPr>
              <a:xfrm>
                <a:off x="10370344" y="362664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FFFFFF"/>
                </a:solidFill>
              </a:ln>
            </p:spPr>
          </p:sp>
          <p:sp>
            <p:nvSpPr>
              <p:cNvPr id="67" name="Freeform 67"/>
              <p:cNvSpPr/>
              <p:nvPr/>
            </p:nvSpPr>
            <p:spPr>
              <a:xfrm>
                <a:off x="10422731" y="3687762"/>
                <a:ext cx="52388" cy="34925"/>
              </a:xfrm>
              <a:custGeom>
                <a:avLst/>
                <a:gdLst/>
                <a:ahLst/>
                <a:cxnLst/>
                <a:rect l="l" t="t" r="r" b="b"/>
                <a:pathLst>
                  <a:path w="52388" h="34925">
                    <a:moveTo>
                      <a:pt x="0" y="17462"/>
                    </a:moveTo>
                    <a:lnTo>
                      <a:pt x="17462" y="34925"/>
                    </a:lnTo>
                    <a:lnTo>
                      <a:pt x="52388" y="0"/>
                    </a:lnTo>
                  </a:path>
                </a:pathLst>
              </a:custGeom>
              <a:noFill/>
              <a:ln w="19050">
                <a:solidFill>
                  <a:srgbClr val="FFFFFF"/>
                </a:solidFill>
              </a:ln>
            </p:spPr>
          </p:sp>
        </p:grpSp>
        <p:sp>
          <p:nvSpPr>
            <p:cNvPr id="69" name="TextBox 69"/>
            <p:cNvSpPr txBox="1"/>
            <p:nvPr/>
          </p:nvSpPr>
          <p:spPr>
            <a:xfrm>
              <a:off x="10457200" y="3647599"/>
              <a:ext cx="70735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可发布版本</a:t>
              </a:r>
            </a:p>
          </p:txBody>
        </p:sp>
        <p:sp>
          <p:nvSpPr>
            <p:cNvPr id="70" name="TextBox 70"/>
            <p:cNvSpPr txBox="1"/>
            <p:nvPr/>
          </p:nvSpPr>
          <p:spPr>
            <a:xfrm>
              <a:off x="10580370" y="3873341"/>
              <a:ext cx="461010" cy="167640"/>
            </a:xfrm>
            <a:prstGeom prst="rect">
              <a:avLst/>
            </a:prstGeom>
            <a:noFill/>
            <a:ln>
              <a:noFill/>
            </a:ln>
          </p:spPr>
          <p:txBody>
            <a:bodyPr wrap="none" lIns="0" tIns="0" rIns="0" bIns="0" anchor="t" anchorCtr="0">
              <a:spAutoFit/>
            </a:bodyPr>
            <a:lstStyle/>
            <a:p>
              <a:pPr algn="ctr"/>
              <a:r>
                <a:rPr lang="zh-CN" sz="825" dirty="0">
                  <a:solidFill>
                    <a:srgbClr val="DCE6FB"/>
                  </a:solidFill>
                  <a:latin typeface="Arial"/>
                  <a:ea typeface="Microsoft YaHei"/>
                  <a:cs typeface="Arial"/>
                </a:rPr>
                <a:t>回归通过</a:t>
              </a:r>
            </a:p>
          </p:txBody>
        </p:sp>
      </p:grpSp>
      <p:grpSp>
        <p:nvGrpSpPr>
          <p:cNvPr id="76" name="Group 76"/>
          <p:cNvGrpSpPr/>
          <p:nvPr/>
        </p:nvGrpSpPr>
        <p:grpSpPr>
          <a:xfrm>
            <a:off x="762000" y="4533900"/>
            <a:ext cx="10668000" cy="1524000"/>
            <a:chOff x="762000" y="4533900"/>
            <a:chExt cx="10668000" cy="1524000"/>
          </a:xfrm>
        </p:grpSpPr>
        <p:sp>
          <p:nvSpPr>
            <p:cNvPr id="72" name="Rectangle 72"/>
            <p:cNvSpPr/>
            <p:nvPr/>
          </p:nvSpPr>
          <p:spPr>
            <a:xfrm>
              <a:off x="762000" y="4533900"/>
              <a:ext cx="10668000" cy="1524000"/>
            </a:xfrm>
            <a:prstGeom prst="roundRect">
              <a:avLst>
                <a:gd name="adj" fmla="val 8750"/>
              </a:avLst>
            </a:prstGeom>
            <a:solidFill>
              <a:srgbClr val="246BFE"/>
            </a:solidFill>
            <a:ln>
              <a:noFill/>
            </a:ln>
          </p:spPr>
        </p:sp>
        <p:sp>
          <p:nvSpPr>
            <p:cNvPr id="73" name="TextBox 73"/>
            <p:cNvSpPr txBox="1"/>
            <p:nvPr/>
          </p:nvSpPr>
          <p:spPr>
            <a:xfrm>
              <a:off x="2708519" y="4834890"/>
              <a:ext cx="6774961"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没有自动化安全网,AI 写得再快组织也不敢合并、重构、发布</a:t>
              </a:r>
            </a:p>
          </p:txBody>
        </p:sp>
        <p:sp>
          <p:nvSpPr>
            <p:cNvPr id="74" name="Line 74"/>
            <p:cNvSpPr/>
            <p:nvPr/>
          </p:nvSpPr>
          <p:spPr>
            <a:xfrm>
              <a:off x="5143500" y="5295900"/>
              <a:ext cx="1905000" cy="9525"/>
            </a:xfrm>
            <a:custGeom>
              <a:avLst/>
              <a:gdLst/>
              <a:ahLst/>
              <a:cxnLst/>
              <a:rect l="l" t="t" r="r" b="b"/>
              <a:pathLst>
                <a:path w="1905000" h="9525">
                  <a:moveTo>
                    <a:pt x="0" y="0"/>
                  </a:moveTo>
                  <a:lnTo>
                    <a:pt x="1905000" y="0"/>
                  </a:lnTo>
                </a:path>
              </a:pathLst>
            </a:custGeom>
            <a:noFill/>
            <a:ln w="9525">
              <a:solidFill>
                <a:srgbClr val="FFFFFF">
                  <a:alpha val="40000"/>
                </a:srgbClr>
              </a:solidFill>
            </a:ln>
          </p:spPr>
        </p:sp>
        <p:sp>
          <p:nvSpPr>
            <p:cNvPr id="75" name="TextBox 75"/>
            <p:cNvSpPr txBox="1"/>
            <p:nvPr/>
          </p:nvSpPr>
          <p:spPr>
            <a:xfrm>
              <a:off x="3996499" y="5509260"/>
              <a:ext cx="4199001"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Harness 先行 → AI 改完即可验证 → 组织才敢让 AI 高频自主</a:t>
              </a:r>
            </a:p>
          </p:txBody>
        </p:sp>
      </p:grpSp>
      <p:grpSp>
        <p:nvGrpSpPr>
          <p:cNvPr id="79" name="Group 79"/>
          <p:cNvGrpSpPr/>
          <p:nvPr/>
        </p:nvGrpSpPr>
        <p:grpSpPr>
          <a:xfrm>
            <a:off x="750570" y="6456045"/>
            <a:ext cx="10689907" cy="182880"/>
            <a:chOff x="750570" y="6456045"/>
            <a:chExt cx="10689907" cy="182880"/>
          </a:xfrm>
        </p:grpSpPr>
        <p:sp>
          <p:nvSpPr>
            <p:cNvPr id="77" name="TextBox 77"/>
            <p:cNvSpPr txBox="1"/>
            <p:nvPr/>
          </p:nvSpPr>
          <p:spPr>
            <a:xfrm>
              <a:off x="750570" y="6456045"/>
              <a:ext cx="140903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S2 智能交付闭环</a:t>
              </a:r>
            </a:p>
          </p:txBody>
        </p:sp>
        <p:sp>
          <p:nvSpPr>
            <p:cNvPr id="78" name="TextBox 78"/>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17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400"/>
                                        <p:tgtEl>
                                          <p:spTgt spid="2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400"/>
                                        <p:tgtEl>
                                          <p:spTgt spid="30"/>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slide(fromBottom)">
                                      <p:cBhvr>
                                        <p:cTn id="23" dur="400"/>
                                        <p:tgtEl>
                                          <p:spTgt spid="3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slide(fromBottom)">
                                      <p:cBhvr>
                                        <p:cTn id="27" dur="400"/>
                                        <p:tgtEl>
                                          <p:spTgt spid="47"/>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slide(fromBottom)">
                                      <p:cBhvr>
                                        <p:cTn id="31" dur="400"/>
                                        <p:tgtEl>
                                          <p:spTgt spid="55"/>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slide(fromBottom)">
                                      <p:cBhvr>
                                        <p:cTn id="35" dur="400"/>
                                        <p:tgtEl>
                                          <p:spTgt spid="63"/>
                                        </p:tgtEl>
                                      </p:cBhvr>
                                    </p:animEffect>
                                  </p:childTnLst>
                                </p:cTn>
                              </p:par>
                            </p:childTnLst>
                          </p:cTn>
                        </p:par>
                        <p:par>
                          <p:cTn id="36" fill="hold">
                            <p:stCondLst>
                              <p:cond delay="7200"/>
                            </p:stCondLst>
                            <p:childTnLst>
                              <p:par>
                                <p:cTn id="37" presetID="2" presetClass="entr" presetSubtype="4" fill="hold" nodeType="after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slide(fromBottom)">
                                      <p:cBhvr>
                                        <p:cTn id="39" dur="400"/>
                                        <p:tgtEl>
                                          <p:spTgt spid="71"/>
                                        </p:tgtEl>
                                      </p:cBhvr>
                                    </p:animEffect>
                                  </p:childTnLst>
                                </p:cTn>
                              </p:par>
                            </p:childTnLst>
                          </p:cTn>
                        </p:par>
                        <p:par>
                          <p:cTn id="40" fill="hold">
                            <p:stCondLst>
                              <p:cond delay="8100"/>
                            </p:stCondLst>
                            <p:childTnLst>
                              <p:par>
                                <p:cTn id="41" presetID="10" presetClass="entr" presetSubtype="0" fill="hold" nodeType="afterEffect">
                                  <p:stCondLst>
                                    <p:cond delay="0"/>
                                  </p:stCondLst>
                                  <p:childTnLst>
                                    <p:set>
                                      <p:cBhvr>
                                        <p:cTn id="42" dur="1" fill="hold">
                                          <p:stCondLst>
                                            <p:cond delay="0"/>
                                          </p:stCondLst>
                                        </p:cTn>
                                        <p:tgtEl>
                                          <p:spTgt spid="76"/>
                                        </p:tgtEl>
                                        <p:attrNameLst>
                                          <p:attrName>style.visibility</p:attrName>
                                        </p:attrNameLst>
                                      </p:cBhvr>
                                      <p:to>
                                        <p:strVal val="visible"/>
                                      </p:to>
                                    </p:set>
                                    <p:animEffect transition="in" filter="fade">
                                      <p:cBhvr>
                                        <p:cTn id="43"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20" grpId="0"/>
      <p:bldP spid="30" grpId="0"/>
      <p:bldP spid="39" grpId="0"/>
      <p:bldP spid="47" grpId="0"/>
      <p:bldP spid="55" grpId="0"/>
      <p:bldP spid="63" grpId="0"/>
      <p:bldP spid="71" grpId="0"/>
      <p:bldP spid="7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8" name="Group 8"/>
          <p:cNvGrpSpPr/>
          <p:nvPr/>
        </p:nvGrpSpPr>
        <p:grpSpPr>
          <a:xfrm>
            <a:off x="747712" y="533400"/>
            <a:ext cx="7138416" cy="792956"/>
            <a:chOff x="747712" y="533400"/>
            <a:chExt cx="7138416"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246BFE"/>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S2</a:t>
              </a:r>
            </a:p>
          </p:txBody>
        </p:sp>
        <p:sp>
          <p:nvSpPr>
            <p:cNvPr id="6" name="TextBox 6"/>
            <p:cNvSpPr txBox="1"/>
            <p:nvPr/>
          </p:nvSpPr>
          <p:spPr>
            <a:xfrm>
              <a:off x="1363980" y="725805"/>
              <a:ext cx="6522148"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Harness + 自动化测试,让 AI 改完即可验证可发布</a:t>
              </a:r>
            </a:p>
          </p:txBody>
        </p:sp>
        <p:sp>
          <p:nvSpPr>
            <p:cNvPr id="7" name="TextBox 7"/>
            <p:cNvSpPr txBox="1"/>
            <p:nvPr/>
          </p:nvSpPr>
          <p:spPr>
            <a:xfrm>
              <a:off x="747712" y="1097756"/>
              <a:ext cx="3584019"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自动化测试安全网越强,AI 能承担的自主执行范围越大</a:t>
              </a:r>
            </a:p>
          </p:txBody>
        </p:sp>
      </p:grpSp>
      <p:grpSp>
        <p:nvGrpSpPr>
          <p:cNvPr id="40" name="Group 40"/>
          <p:cNvGrpSpPr/>
          <p:nvPr/>
        </p:nvGrpSpPr>
        <p:grpSpPr>
          <a:xfrm>
            <a:off x="762000" y="1524000"/>
            <a:ext cx="6096000" cy="4381500"/>
            <a:chOff x="762000" y="1524000"/>
            <a:chExt cx="6096000" cy="4381500"/>
          </a:xfrm>
        </p:grpSpPr>
        <p:sp>
          <p:nvSpPr>
            <p:cNvPr id="9" name="Rectangle 9"/>
            <p:cNvSpPr/>
            <p:nvPr/>
          </p:nvSpPr>
          <p:spPr>
            <a:xfrm>
              <a:off x="762000" y="1524000"/>
              <a:ext cx="6096000" cy="4381500"/>
            </a:xfrm>
            <a:prstGeom prst="roundRect">
              <a:avLst>
                <a:gd name="adj" fmla="val 3478"/>
              </a:avLst>
            </a:prstGeom>
            <a:solidFill>
              <a:srgbClr val="F4F7FC"/>
            </a:solidFill>
            <a:ln>
              <a:noFill/>
            </a:ln>
          </p:spPr>
        </p:sp>
        <p:grpSp>
          <p:nvGrpSpPr>
            <p:cNvPr id="12" name="Group 12"/>
            <p:cNvGrpSpPr/>
            <p:nvPr/>
          </p:nvGrpSpPr>
          <p:grpSpPr>
            <a:xfrm>
              <a:off x="1061225" y="1785125"/>
              <a:ext cx="239751" cy="239751"/>
              <a:chOff x="1061225" y="1785125"/>
              <a:chExt cx="239751" cy="239751"/>
            </a:xfrm>
          </p:grpSpPr>
          <p:sp>
            <p:nvSpPr>
              <p:cNvPr id="10" name="Freeform 10"/>
              <p:cNvSpPr/>
              <p:nvPr/>
            </p:nvSpPr>
            <p:spPr>
              <a:xfrm>
                <a:off x="1061225" y="1785125"/>
                <a:ext cx="239751" cy="239751"/>
              </a:xfrm>
              <a:custGeom>
                <a:avLst/>
                <a:gdLst/>
                <a:ahLst/>
                <a:cxnLst/>
                <a:rect l="l" t="t" r="r" b="b"/>
                <a:pathLst>
                  <a:path w="239751" h="239751">
                    <a:moveTo>
                      <a:pt x="98603" y="22301"/>
                    </a:moveTo>
                    <a:cubicBezTo>
                      <a:pt x="104013" y="0"/>
                      <a:pt x="135738" y="0"/>
                      <a:pt x="141148" y="22301"/>
                    </a:cubicBezTo>
                    <a:cubicBezTo>
                      <a:pt x="142794" y="29096"/>
                      <a:pt x="147587" y="34697"/>
                      <a:pt x="154047" y="37373"/>
                    </a:cubicBezTo>
                    <a:cubicBezTo>
                      <a:pt x="160506" y="40049"/>
                      <a:pt x="167855" y="39479"/>
                      <a:pt x="173825" y="35839"/>
                    </a:cubicBezTo>
                    <a:cubicBezTo>
                      <a:pt x="193421" y="23901"/>
                      <a:pt x="215862" y="46330"/>
                      <a:pt x="203924" y="65938"/>
                    </a:cubicBezTo>
                    <a:cubicBezTo>
                      <a:pt x="200289" y="71906"/>
                      <a:pt x="199721" y="79249"/>
                      <a:pt x="202394" y="85704"/>
                    </a:cubicBezTo>
                    <a:cubicBezTo>
                      <a:pt x="205067" y="92160"/>
                      <a:pt x="210660" y="96952"/>
                      <a:pt x="217449" y="98603"/>
                    </a:cubicBezTo>
                    <a:cubicBezTo>
                      <a:pt x="239751" y="104013"/>
                      <a:pt x="239751" y="135738"/>
                      <a:pt x="217449" y="141148"/>
                    </a:cubicBezTo>
                    <a:cubicBezTo>
                      <a:pt x="210654" y="142794"/>
                      <a:pt x="205054" y="147587"/>
                      <a:pt x="202378" y="154047"/>
                    </a:cubicBezTo>
                    <a:cubicBezTo>
                      <a:pt x="199702" y="160506"/>
                      <a:pt x="200271" y="167855"/>
                      <a:pt x="203911" y="173825"/>
                    </a:cubicBezTo>
                    <a:cubicBezTo>
                      <a:pt x="215849" y="193421"/>
                      <a:pt x="193421" y="215862"/>
                      <a:pt x="173812" y="203924"/>
                    </a:cubicBezTo>
                    <a:cubicBezTo>
                      <a:pt x="167845" y="200289"/>
                      <a:pt x="160502" y="199721"/>
                      <a:pt x="154046" y="202394"/>
                    </a:cubicBezTo>
                    <a:cubicBezTo>
                      <a:pt x="147591" y="205067"/>
                      <a:pt x="142799" y="210660"/>
                      <a:pt x="141148" y="217449"/>
                    </a:cubicBezTo>
                    <a:cubicBezTo>
                      <a:pt x="135738" y="239751"/>
                      <a:pt x="104013" y="239751"/>
                      <a:pt x="98603" y="217449"/>
                    </a:cubicBezTo>
                    <a:cubicBezTo>
                      <a:pt x="96956" y="210654"/>
                      <a:pt x="92163" y="205054"/>
                      <a:pt x="85704" y="202378"/>
                    </a:cubicBezTo>
                    <a:cubicBezTo>
                      <a:pt x="79245" y="199702"/>
                      <a:pt x="71895" y="200271"/>
                      <a:pt x="65926" y="203911"/>
                    </a:cubicBezTo>
                    <a:cubicBezTo>
                      <a:pt x="46330" y="215849"/>
                      <a:pt x="23889" y="193421"/>
                      <a:pt x="35827" y="173812"/>
                    </a:cubicBezTo>
                    <a:cubicBezTo>
                      <a:pt x="39461" y="167845"/>
                      <a:pt x="40030" y="160502"/>
                      <a:pt x="37357" y="154046"/>
                    </a:cubicBezTo>
                    <a:cubicBezTo>
                      <a:pt x="34684" y="147591"/>
                      <a:pt x="29090" y="142799"/>
                      <a:pt x="22301" y="141148"/>
                    </a:cubicBezTo>
                    <a:cubicBezTo>
                      <a:pt x="0" y="135738"/>
                      <a:pt x="0" y="104013"/>
                      <a:pt x="22301" y="98603"/>
                    </a:cubicBezTo>
                    <a:cubicBezTo>
                      <a:pt x="29096" y="96956"/>
                      <a:pt x="34697" y="92163"/>
                      <a:pt x="37373" y="85704"/>
                    </a:cubicBezTo>
                    <a:cubicBezTo>
                      <a:pt x="40049" y="79245"/>
                      <a:pt x="39479" y="71895"/>
                      <a:pt x="35839" y="65926"/>
                    </a:cubicBezTo>
                    <a:cubicBezTo>
                      <a:pt x="23901" y="46330"/>
                      <a:pt x="46330" y="23889"/>
                      <a:pt x="65938" y="35827"/>
                    </a:cubicBezTo>
                    <a:cubicBezTo>
                      <a:pt x="78638" y="43548"/>
                      <a:pt x="95098" y="36716"/>
                      <a:pt x="98603" y="22301"/>
                    </a:cubicBezTo>
                  </a:path>
                </a:pathLst>
              </a:custGeom>
              <a:noFill/>
              <a:ln w="19050">
                <a:solidFill>
                  <a:srgbClr val="246BFE"/>
                </a:solidFill>
              </a:ln>
            </p:spPr>
          </p:sp>
          <p:sp>
            <p:nvSpPr>
              <p:cNvPr id="11" name="Freeform 11"/>
              <p:cNvSpPr/>
              <p:nvPr/>
            </p:nvSpPr>
            <p:spPr>
              <a:xfrm>
                <a:off x="1143000" y="18669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246BFE"/>
                </a:solidFill>
              </a:ln>
            </p:spPr>
          </p:sp>
        </p:grpSp>
        <p:sp>
          <p:nvSpPr>
            <p:cNvPr id="13" name="TextBox 13"/>
            <p:cNvSpPr txBox="1"/>
            <p:nvPr/>
          </p:nvSpPr>
          <p:spPr>
            <a:xfrm>
              <a:off x="1409700" y="1819275"/>
              <a:ext cx="2568916" cy="304800"/>
            </a:xfrm>
            <a:prstGeom prst="rect">
              <a:avLst/>
            </a:prstGeom>
            <a:noFill/>
            <a:ln>
              <a:noFill/>
            </a:ln>
          </p:spPr>
          <p:txBody>
            <a:bodyPr wrap="none" lIns="0" tIns="0" rIns="0" bIns="0" anchor="t" anchorCtr="0">
              <a:spAutoFit/>
            </a:bodyPr>
            <a:lstStyle/>
            <a:p>
              <a:pPr algn="l"/>
              <a:r>
                <a:rPr lang="zh-CN" sz="1500" b="1" dirty="0">
                  <a:solidFill>
                    <a:srgbClr val="246BFE"/>
                  </a:solidFill>
                  <a:latin typeface="Arial"/>
                  <a:ea typeface="Microsoft YaHei"/>
                  <a:cs typeface="Arial"/>
                </a:rPr>
                <a:t>FarAI 能力(Harness 组件)</a:t>
              </a:r>
            </a:p>
          </p:txBody>
        </p:sp>
        <p:sp>
          <p:nvSpPr>
            <p:cNvPr id="14" name="Line 14"/>
            <p:cNvSpPr/>
            <p:nvPr/>
          </p:nvSpPr>
          <p:spPr>
            <a:xfrm>
              <a:off x="1028700" y="2209800"/>
              <a:ext cx="5562600" cy="9525"/>
            </a:xfrm>
            <a:custGeom>
              <a:avLst/>
              <a:gdLst/>
              <a:ahLst/>
              <a:cxnLst/>
              <a:rect l="l" t="t" r="r" b="b"/>
              <a:pathLst>
                <a:path w="5562600" h="9525">
                  <a:moveTo>
                    <a:pt x="0" y="0"/>
                  </a:moveTo>
                  <a:lnTo>
                    <a:pt x="5562600" y="0"/>
                  </a:lnTo>
                </a:path>
              </a:pathLst>
            </a:custGeom>
            <a:noFill/>
            <a:ln w="9525">
              <a:solidFill>
                <a:srgbClr val="E3E9F2"/>
              </a:solidFill>
            </a:ln>
          </p:spPr>
        </p:sp>
        <p:grpSp>
          <p:nvGrpSpPr>
            <p:cNvPr id="19" name="Group 19"/>
            <p:cNvGrpSpPr/>
            <p:nvPr/>
          </p:nvGrpSpPr>
          <p:grpSpPr>
            <a:xfrm>
              <a:off x="1057275" y="2412206"/>
              <a:ext cx="2776609" cy="404813"/>
              <a:chOff x="1057275" y="2412206"/>
              <a:chExt cx="2776609" cy="404813"/>
            </a:xfrm>
          </p:grpSpPr>
          <p:sp>
            <p:nvSpPr>
              <p:cNvPr id="15" name="Ellipse 15"/>
              <p:cNvSpPr/>
              <p:nvPr/>
            </p:nvSpPr>
            <p:spPr>
              <a:xfrm>
                <a:off x="1057275" y="2447925"/>
                <a:ext cx="247650" cy="247650"/>
              </a:xfrm>
              <a:prstGeom prst="ellipse">
                <a:avLst/>
              </a:prstGeom>
              <a:solidFill>
                <a:srgbClr val="246BFE"/>
              </a:solidFill>
              <a:ln>
                <a:noFill/>
              </a:ln>
            </p:spPr>
          </p:sp>
          <p:sp>
            <p:nvSpPr>
              <p:cNvPr id="16" name="TextBox 16"/>
              <p:cNvSpPr txBox="1"/>
              <p:nvPr/>
            </p:nvSpPr>
            <p:spPr>
              <a:xfrm>
                <a:off x="1138856" y="25398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1</a:t>
                </a:r>
              </a:p>
            </p:txBody>
          </p:sp>
          <p:sp>
            <p:nvSpPr>
              <p:cNvPr id="17" name="TextBox 17"/>
              <p:cNvSpPr txBox="1"/>
              <p:nvPr/>
            </p:nvSpPr>
            <p:spPr>
              <a:xfrm>
                <a:off x="1395412" y="2412206"/>
                <a:ext cx="1406872" cy="228600"/>
              </a:xfrm>
              <a:prstGeom prst="rect">
                <a:avLst/>
              </a:prstGeom>
              <a:noFill/>
              <a:ln>
                <a:noFill/>
              </a:ln>
            </p:spPr>
            <p:txBody>
              <a:bodyPr wrap="none" lIns="0" tIns="0" rIns="0" bIns="0" anchor="t" anchorCtr="0">
                <a:spAutoFit/>
              </a:bodyPr>
              <a:lstStyle/>
              <a:p>
                <a:pPr algn="l"/>
                <a:r>
                  <a:rPr lang="zh-CN" sz="1125" b="1" dirty="0">
                    <a:solidFill>
                      <a:srgbClr val="25364A"/>
                    </a:solidFill>
                    <a:latin typeface="Arial"/>
                    <a:ea typeface="Microsoft YaHei"/>
                    <a:cs typeface="Arial"/>
                  </a:rPr>
                  <a:t>fullcheck 全量检查</a:t>
                </a:r>
              </a:p>
            </p:txBody>
          </p:sp>
          <p:sp>
            <p:nvSpPr>
              <p:cNvPr id="18" name="TextBox 18"/>
              <p:cNvSpPr txBox="1"/>
              <p:nvPr/>
            </p:nvSpPr>
            <p:spPr>
              <a:xfrm>
                <a:off x="1397318" y="2618899"/>
                <a:ext cx="2436566"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单测/接口/契约/E2E/回归,AI 改完即验证</a:t>
                </a:r>
              </a:p>
            </p:txBody>
          </p:sp>
        </p:grpSp>
        <p:grpSp>
          <p:nvGrpSpPr>
            <p:cNvPr id="24" name="Group 24"/>
            <p:cNvGrpSpPr/>
            <p:nvPr/>
          </p:nvGrpSpPr>
          <p:grpSpPr>
            <a:xfrm>
              <a:off x="1057275" y="2964656"/>
              <a:ext cx="2796112" cy="404813"/>
              <a:chOff x="1057275" y="2964656"/>
              <a:chExt cx="2796112" cy="404813"/>
            </a:xfrm>
          </p:grpSpPr>
          <p:sp>
            <p:nvSpPr>
              <p:cNvPr id="20" name="Ellipse 20"/>
              <p:cNvSpPr/>
              <p:nvPr/>
            </p:nvSpPr>
            <p:spPr>
              <a:xfrm>
                <a:off x="1057275" y="3000375"/>
                <a:ext cx="247650" cy="247650"/>
              </a:xfrm>
              <a:prstGeom prst="ellipse">
                <a:avLst/>
              </a:prstGeom>
              <a:solidFill>
                <a:srgbClr val="246BFE"/>
              </a:solidFill>
              <a:ln>
                <a:noFill/>
              </a:ln>
            </p:spPr>
          </p:sp>
          <p:sp>
            <p:nvSpPr>
              <p:cNvPr id="21" name="TextBox 21"/>
              <p:cNvSpPr txBox="1"/>
              <p:nvPr/>
            </p:nvSpPr>
            <p:spPr>
              <a:xfrm>
                <a:off x="1138856" y="309229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2</a:t>
                </a:r>
              </a:p>
            </p:txBody>
          </p:sp>
          <p:sp>
            <p:nvSpPr>
              <p:cNvPr id="22" name="TextBox 22"/>
              <p:cNvSpPr txBox="1"/>
              <p:nvPr/>
            </p:nvSpPr>
            <p:spPr>
              <a:xfrm>
                <a:off x="1395412" y="2964656"/>
                <a:ext cx="1076081" cy="228600"/>
              </a:xfrm>
              <a:prstGeom prst="rect">
                <a:avLst/>
              </a:prstGeom>
              <a:noFill/>
              <a:ln>
                <a:noFill/>
              </a:ln>
            </p:spPr>
            <p:txBody>
              <a:bodyPr wrap="none" lIns="0" tIns="0" rIns="0" bIns="0" anchor="t" anchorCtr="0">
                <a:spAutoFit/>
              </a:bodyPr>
              <a:lstStyle/>
              <a:p>
                <a:pPr algn="l"/>
                <a:r>
                  <a:rPr lang="zh-CN" sz="1125" b="1" dirty="0">
                    <a:solidFill>
                      <a:srgbClr val="25364A"/>
                    </a:solidFill>
                    <a:latin typeface="Arial"/>
                    <a:ea typeface="Microsoft YaHei"/>
                    <a:cs typeface="Arial"/>
                  </a:rPr>
                  <a:t>CLI E2E 自动化</a:t>
                </a:r>
              </a:p>
            </p:txBody>
          </p:sp>
          <p:sp>
            <p:nvSpPr>
              <p:cNvPr id="23" name="TextBox 23"/>
              <p:cNvSpPr txBox="1"/>
              <p:nvPr/>
            </p:nvSpPr>
            <p:spPr>
              <a:xfrm>
                <a:off x="1397318" y="3171349"/>
                <a:ext cx="245606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环境/数据/造数脚本化,Agent 可自主验证</a:t>
                </a:r>
              </a:p>
            </p:txBody>
          </p:sp>
        </p:grpSp>
        <p:grpSp>
          <p:nvGrpSpPr>
            <p:cNvPr id="29" name="Group 29"/>
            <p:cNvGrpSpPr/>
            <p:nvPr/>
          </p:nvGrpSpPr>
          <p:grpSpPr>
            <a:xfrm>
              <a:off x="1057275" y="3517106"/>
              <a:ext cx="2575084" cy="404813"/>
              <a:chOff x="1057275" y="3517106"/>
              <a:chExt cx="2575084" cy="404813"/>
            </a:xfrm>
          </p:grpSpPr>
          <p:sp>
            <p:nvSpPr>
              <p:cNvPr id="25" name="Ellipse 25"/>
              <p:cNvSpPr/>
              <p:nvPr/>
            </p:nvSpPr>
            <p:spPr>
              <a:xfrm>
                <a:off x="1057275" y="3552825"/>
                <a:ext cx="247650" cy="247650"/>
              </a:xfrm>
              <a:prstGeom prst="ellipse">
                <a:avLst/>
              </a:prstGeom>
              <a:solidFill>
                <a:srgbClr val="246BFE"/>
              </a:solidFill>
              <a:ln>
                <a:noFill/>
              </a:ln>
            </p:spPr>
          </p:sp>
          <p:sp>
            <p:nvSpPr>
              <p:cNvPr id="26" name="TextBox 26"/>
              <p:cNvSpPr txBox="1"/>
              <p:nvPr/>
            </p:nvSpPr>
            <p:spPr>
              <a:xfrm>
                <a:off x="1138856" y="36447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3</a:t>
                </a:r>
              </a:p>
            </p:txBody>
          </p:sp>
          <p:sp>
            <p:nvSpPr>
              <p:cNvPr id="27" name="TextBox 27"/>
              <p:cNvSpPr txBox="1"/>
              <p:nvPr/>
            </p:nvSpPr>
            <p:spPr>
              <a:xfrm>
                <a:off x="1395412" y="3517106"/>
                <a:ext cx="839801" cy="228600"/>
              </a:xfrm>
              <a:prstGeom prst="rect">
                <a:avLst/>
              </a:prstGeom>
              <a:noFill/>
              <a:ln>
                <a:noFill/>
              </a:ln>
            </p:spPr>
            <p:txBody>
              <a:bodyPr wrap="none" lIns="0" tIns="0" rIns="0" bIns="0" anchor="t" anchorCtr="0">
                <a:spAutoFit/>
              </a:bodyPr>
              <a:lstStyle/>
              <a:p>
                <a:pPr algn="l"/>
                <a:r>
                  <a:rPr lang="zh-CN" sz="1125" b="1" dirty="0">
                    <a:solidFill>
                      <a:srgbClr val="25364A"/>
                    </a:solidFill>
                    <a:latin typeface="Arial"/>
                    <a:ea typeface="Microsoft YaHei"/>
                    <a:cs typeface="Arial"/>
                  </a:rPr>
                  <a:t>AI 代码评审</a:t>
                </a:r>
              </a:p>
            </p:txBody>
          </p:sp>
          <p:sp>
            <p:nvSpPr>
              <p:cNvPr id="28" name="TextBox 28"/>
              <p:cNvSpPr txBox="1"/>
              <p:nvPr/>
            </p:nvSpPr>
            <p:spPr>
              <a:xfrm>
                <a:off x="1397318" y="3723799"/>
                <a:ext cx="223504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提前发现缺陷、安全、性能、测试缺口</a:t>
                </a:r>
              </a:p>
            </p:txBody>
          </p:sp>
        </p:grpSp>
        <p:grpSp>
          <p:nvGrpSpPr>
            <p:cNvPr id="34" name="Group 34"/>
            <p:cNvGrpSpPr/>
            <p:nvPr/>
          </p:nvGrpSpPr>
          <p:grpSpPr>
            <a:xfrm>
              <a:off x="1057275" y="4069556"/>
              <a:ext cx="2588086" cy="404813"/>
              <a:chOff x="1057275" y="4069556"/>
              <a:chExt cx="2588086" cy="404813"/>
            </a:xfrm>
          </p:grpSpPr>
          <p:sp>
            <p:nvSpPr>
              <p:cNvPr id="30" name="Ellipse 30"/>
              <p:cNvSpPr/>
              <p:nvPr/>
            </p:nvSpPr>
            <p:spPr>
              <a:xfrm>
                <a:off x="1057275" y="4105275"/>
                <a:ext cx="247650" cy="247650"/>
              </a:xfrm>
              <a:prstGeom prst="ellipse">
                <a:avLst/>
              </a:prstGeom>
              <a:solidFill>
                <a:srgbClr val="246BFE"/>
              </a:solidFill>
              <a:ln>
                <a:noFill/>
              </a:ln>
            </p:spPr>
          </p:sp>
          <p:sp>
            <p:nvSpPr>
              <p:cNvPr id="31" name="TextBox 31"/>
              <p:cNvSpPr txBox="1"/>
              <p:nvPr/>
            </p:nvSpPr>
            <p:spPr>
              <a:xfrm>
                <a:off x="1138856" y="419719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4</a:t>
                </a:r>
              </a:p>
            </p:txBody>
          </p:sp>
          <p:sp>
            <p:nvSpPr>
              <p:cNvPr id="32" name="TextBox 32"/>
              <p:cNvSpPr txBox="1"/>
              <p:nvPr/>
            </p:nvSpPr>
            <p:spPr>
              <a:xfrm>
                <a:off x="1395412" y="4069556"/>
                <a:ext cx="1272981" cy="228600"/>
              </a:xfrm>
              <a:prstGeom prst="rect">
                <a:avLst/>
              </a:prstGeom>
              <a:noFill/>
              <a:ln>
                <a:noFill/>
              </a:ln>
            </p:spPr>
            <p:txBody>
              <a:bodyPr wrap="none" lIns="0" tIns="0" rIns="0" bIns="0" anchor="t" anchorCtr="0">
                <a:spAutoFit/>
              </a:bodyPr>
              <a:lstStyle/>
              <a:p>
                <a:pPr algn="l"/>
                <a:r>
                  <a:rPr lang="zh-CN" sz="1125" b="1" dirty="0">
                    <a:solidFill>
                      <a:srgbClr val="25364A"/>
                    </a:solidFill>
                    <a:latin typeface="Arial"/>
                    <a:ea typeface="Microsoft YaHei"/>
                    <a:cs typeface="Arial"/>
                  </a:rPr>
                  <a:t>架构规则 as Code</a:t>
                </a:r>
              </a:p>
            </p:txBody>
          </p:sp>
          <p:sp>
            <p:nvSpPr>
              <p:cNvPr id="33" name="TextBox 33"/>
              <p:cNvSpPr txBox="1"/>
              <p:nvPr/>
            </p:nvSpPr>
            <p:spPr>
              <a:xfrm>
                <a:off x="1397318" y="4276249"/>
                <a:ext cx="2248043"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分层依赖/契约兼容/越权访问持续守护</a:t>
                </a:r>
              </a:p>
            </p:txBody>
          </p:sp>
        </p:grpSp>
        <p:grpSp>
          <p:nvGrpSpPr>
            <p:cNvPr id="39" name="Group 39"/>
            <p:cNvGrpSpPr/>
            <p:nvPr/>
          </p:nvGrpSpPr>
          <p:grpSpPr>
            <a:xfrm>
              <a:off x="1057275" y="4622006"/>
              <a:ext cx="2061520" cy="404813"/>
              <a:chOff x="1057275" y="4622006"/>
              <a:chExt cx="2061520" cy="404813"/>
            </a:xfrm>
          </p:grpSpPr>
          <p:sp>
            <p:nvSpPr>
              <p:cNvPr id="35" name="Ellipse 35"/>
              <p:cNvSpPr/>
              <p:nvPr/>
            </p:nvSpPr>
            <p:spPr>
              <a:xfrm>
                <a:off x="1057275" y="4657725"/>
                <a:ext cx="247650" cy="247650"/>
              </a:xfrm>
              <a:prstGeom prst="ellipse">
                <a:avLst/>
              </a:prstGeom>
              <a:solidFill>
                <a:srgbClr val="246BFE"/>
              </a:solidFill>
              <a:ln>
                <a:noFill/>
              </a:ln>
            </p:spPr>
          </p:sp>
          <p:sp>
            <p:nvSpPr>
              <p:cNvPr id="36" name="TextBox 36"/>
              <p:cNvSpPr txBox="1"/>
              <p:nvPr/>
            </p:nvSpPr>
            <p:spPr>
              <a:xfrm>
                <a:off x="1138856" y="47496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5</a:t>
                </a:r>
              </a:p>
            </p:txBody>
          </p:sp>
          <p:sp>
            <p:nvSpPr>
              <p:cNvPr id="37" name="TextBox 37"/>
              <p:cNvSpPr txBox="1"/>
              <p:nvPr/>
            </p:nvSpPr>
            <p:spPr>
              <a:xfrm>
                <a:off x="1395412" y="4622006"/>
                <a:ext cx="1430500" cy="228600"/>
              </a:xfrm>
              <a:prstGeom prst="rect">
                <a:avLst/>
              </a:prstGeom>
              <a:noFill/>
              <a:ln>
                <a:noFill/>
              </a:ln>
            </p:spPr>
            <p:txBody>
              <a:bodyPr wrap="none" lIns="0" tIns="0" rIns="0" bIns="0" anchor="t" anchorCtr="0">
                <a:spAutoFit/>
              </a:bodyPr>
              <a:lstStyle/>
              <a:p>
                <a:pPr algn="l"/>
                <a:r>
                  <a:rPr lang="zh-CN" sz="1125" b="1" dirty="0">
                    <a:solidFill>
                      <a:srgbClr val="25364A"/>
                    </a:solidFill>
                    <a:latin typeface="Arial"/>
                    <a:ea typeface="Microsoft YaHei"/>
                    <a:cs typeface="Arial"/>
                  </a:rPr>
                  <a:t>traceId 全链路追踪</a:t>
                </a:r>
              </a:p>
            </p:txBody>
          </p:sp>
          <p:sp>
            <p:nvSpPr>
              <p:cNvPr id="38" name="TextBox 38"/>
              <p:cNvSpPr txBox="1"/>
              <p:nvPr/>
            </p:nvSpPr>
            <p:spPr>
              <a:xfrm>
                <a:off x="1397318" y="4828699"/>
                <a:ext cx="1721477"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Agent 每一步可追溯、可复盘</a:t>
                </a:r>
              </a:p>
            </p:txBody>
          </p:sp>
        </p:grpSp>
      </p:grpSp>
      <p:grpSp>
        <p:nvGrpSpPr>
          <p:cNvPr id="60" name="Group 60"/>
          <p:cNvGrpSpPr/>
          <p:nvPr/>
        </p:nvGrpSpPr>
        <p:grpSpPr>
          <a:xfrm>
            <a:off x="7048500" y="1524000"/>
            <a:ext cx="4381500" cy="4381500"/>
            <a:chOff x="7048500" y="1524000"/>
            <a:chExt cx="4381500" cy="4381500"/>
          </a:xfrm>
        </p:grpSpPr>
        <p:sp>
          <p:nvSpPr>
            <p:cNvPr id="41" name="Rectangle 41"/>
            <p:cNvSpPr/>
            <p:nvPr/>
          </p:nvSpPr>
          <p:spPr>
            <a:xfrm>
              <a:off x="7048500" y="1524000"/>
              <a:ext cx="4381500" cy="4381500"/>
            </a:xfrm>
            <a:prstGeom prst="roundRect">
              <a:avLst>
                <a:gd name="adj" fmla="val 3478"/>
              </a:avLst>
            </a:prstGeom>
            <a:solidFill>
              <a:srgbClr val="246BFE"/>
            </a:solidFill>
            <a:ln>
              <a:noFill/>
            </a:ln>
          </p:spPr>
        </p:sp>
        <p:grpSp>
          <p:nvGrpSpPr>
            <p:cNvPr id="44" name="Group 44"/>
            <p:cNvGrpSpPr/>
            <p:nvPr/>
          </p:nvGrpSpPr>
          <p:grpSpPr>
            <a:xfrm>
              <a:off x="7353300" y="1841500"/>
              <a:ext cx="228600" cy="127000"/>
              <a:chOff x="7353300" y="1841500"/>
              <a:chExt cx="228600" cy="127000"/>
            </a:xfrm>
          </p:grpSpPr>
          <p:sp>
            <p:nvSpPr>
              <p:cNvPr id="42" name="Freeform 42"/>
              <p:cNvSpPr/>
              <p:nvPr/>
            </p:nvSpPr>
            <p:spPr>
              <a:xfrm>
                <a:off x="7353300" y="1841500"/>
                <a:ext cx="228600" cy="127000"/>
              </a:xfrm>
              <a:custGeom>
                <a:avLst/>
                <a:gdLst/>
                <a:ahLst/>
                <a:cxnLst/>
                <a:rect l="l" t="t" r="r" b="b"/>
                <a:pathLst>
                  <a:path w="228600" h="127000">
                    <a:moveTo>
                      <a:pt x="0" y="127000"/>
                    </a:moveTo>
                    <a:lnTo>
                      <a:pt x="76200" y="50800"/>
                    </a:lnTo>
                    <a:lnTo>
                      <a:pt x="127000" y="101600"/>
                    </a:lnTo>
                    <a:lnTo>
                      <a:pt x="228600" y="0"/>
                    </a:lnTo>
                  </a:path>
                </a:pathLst>
              </a:custGeom>
              <a:noFill/>
              <a:ln w="19050">
                <a:solidFill>
                  <a:srgbClr val="FFFFFF"/>
                </a:solidFill>
              </a:ln>
            </p:spPr>
          </p:sp>
          <p:sp>
            <p:nvSpPr>
              <p:cNvPr id="43" name="Freeform 43"/>
              <p:cNvSpPr/>
              <p:nvPr/>
            </p:nvSpPr>
            <p:spPr>
              <a:xfrm>
                <a:off x="7493000" y="1841500"/>
                <a:ext cx="88900" cy="88900"/>
              </a:xfrm>
              <a:custGeom>
                <a:avLst/>
                <a:gdLst/>
                <a:ahLst/>
                <a:cxnLst/>
                <a:rect l="l" t="t" r="r" b="b"/>
                <a:pathLst>
                  <a:path w="88900" h="88900">
                    <a:moveTo>
                      <a:pt x="0" y="0"/>
                    </a:moveTo>
                    <a:lnTo>
                      <a:pt x="88900" y="0"/>
                    </a:lnTo>
                    <a:lnTo>
                      <a:pt x="88900" y="88900"/>
                    </a:lnTo>
                  </a:path>
                </a:pathLst>
              </a:custGeom>
              <a:noFill/>
              <a:ln w="19050">
                <a:solidFill>
                  <a:srgbClr val="FFFFFF"/>
                </a:solidFill>
              </a:ln>
            </p:spPr>
          </p:sp>
        </p:grpSp>
        <p:sp>
          <p:nvSpPr>
            <p:cNvPr id="45" name="TextBox 45"/>
            <p:cNvSpPr txBox="1"/>
            <p:nvPr/>
          </p:nvSpPr>
          <p:spPr>
            <a:xfrm>
              <a:off x="7696200" y="1819275"/>
              <a:ext cx="45815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价值</a:t>
              </a:r>
            </a:p>
          </p:txBody>
        </p:sp>
        <p:sp>
          <p:nvSpPr>
            <p:cNvPr id="46" name="Line 46"/>
            <p:cNvSpPr/>
            <p:nvPr/>
          </p:nvSpPr>
          <p:spPr>
            <a:xfrm>
              <a:off x="7315200" y="2209800"/>
              <a:ext cx="3848100" cy="9525"/>
            </a:xfrm>
            <a:custGeom>
              <a:avLst/>
              <a:gdLst/>
              <a:ahLst/>
              <a:cxnLst/>
              <a:rect l="l" t="t" r="r" b="b"/>
              <a:pathLst>
                <a:path w="3848100" h="9525">
                  <a:moveTo>
                    <a:pt x="0" y="0"/>
                  </a:moveTo>
                  <a:lnTo>
                    <a:pt x="3848100" y="0"/>
                  </a:lnTo>
                </a:path>
              </a:pathLst>
            </a:custGeom>
            <a:noFill/>
            <a:ln w="9525">
              <a:solidFill>
                <a:srgbClr val="FFFFFF">
                  <a:alpha val="30000"/>
                </a:srgbClr>
              </a:solidFill>
            </a:ln>
          </p:spPr>
        </p:sp>
        <p:grpSp>
          <p:nvGrpSpPr>
            <p:cNvPr id="50" name="Group 50"/>
            <p:cNvGrpSpPr/>
            <p:nvPr/>
          </p:nvGrpSpPr>
          <p:grpSpPr>
            <a:xfrm>
              <a:off x="7277100" y="2533650"/>
              <a:ext cx="1777413" cy="923925"/>
              <a:chOff x="7277100" y="2533650"/>
              <a:chExt cx="1777413" cy="923925"/>
            </a:xfrm>
          </p:grpSpPr>
          <p:sp>
            <p:nvSpPr>
              <p:cNvPr id="47" name="TextBox 47"/>
              <p:cNvSpPr txBox="1"/>
              <p:nvPr/>
            </p:nvSpPr>
            <p:spPr>
              <a:xfrm>
                <a:off x="7277100" y="2533650"/>
                <a:ext cx="1777413"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↓40-60%</a:t>
                </a:r>
              </a:p>
            </p:txBody>
          </p:sp>
          <p:sp>
            <p:nvSpPr>
              <p:cNvPr id="48" name="TextBox 48"/>
              <p:cNvSpPr txBox="1"/>
              <p:nvPr/>
            </p:nvSpPr>
            <p:spPr>
              <a:xfrm>
                <a:off x="7299960" y="3032760"/>
                <a:ext cx="918591"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返工/缺陷率</a:t>
                </a:r>
              </a:p>
            </p:txBody>
          </p:sp>
          <p:sp>
            <p:nvSpPr>
              <p:cNvPr id="49" name="TextBox 49"/>
              <p:cNvSpPr txBox="1"/>
              <p:nvPr/>
            </p:nvSpPr>
            <p:spPr>
              <a:xfrm>
                <a:off x="7303770" y="3274695"/>
                <a:ext cx="394906"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a:ea typeface="Microsoft YaHei"/>
                    <a:cs typeface="Arial"/>
                  </a:rPr>
                  <a:t>(预估)</a:t>
                </a:r>
              </a:p>
            </p:txBody>
          </p:sp>
        </p:grpSp>
        <p:sp>
          <p:nvSpPr>
            <p:cNvPr id="51" name="Line 51"/>
            <p:cNvSpPr/>
            <p:nvPr/>
          </p:nvSpPr>
          <p:spPr>
            <a:xfrm>
              <a:off x="7315200" y="3619500"/>
              <a:ext cx="3848100" cy="9525"/>
            </a:xfrm>
            <a:custGeom>
              <a:avLst/>
              <a:gdLst/>
              <a:ahLst/>
              <a:cxnLst/>
              <a:rect l="l" t="t" r="r" b="b"/>
              <a:pathLst>
                <a:path w="3848100" h="9525">
                  <a:moveTo>
                    <a:pt x="0" y="0"/>
                  </a:moveTo>
                  <a:lnTo>
                    <a:pt x="3848100" y="0"/>
                  </a:lnTo>
                </a:path>
              </a:pathLst>
            </a:custGeom>
            <a:noFill/>
            <a:ln w="9525">
              <a:solidFill>
                <a:srgbClr val="FFFFFF">
                  <a:alpha val="15000"/>
                </a:srgbClr>
              </a:solidFill>
            </a:ln>
          </p:spPr>
        </p:sp>
        <p:grpSp>
          <p:nvGrpSpPr>
            <p:cNvPr id="55" name="Group 55"/>
            <p:cNvGrpSpPr/>
            <p:nvPr/>
          </p:nvGrpSpPr>
          <p:grpSpPr>
            <a:xfrm>
              <a:off x="7277100" y="3867150"/>
              <a:ext cx="1546384" cy="923925"/>
              <a:chOff x="7277100" y="3867150"/>
              <a:chExt cx="1546384" cy="923925"/>
            </a:xfrm>
          </p:grpSpPr>
          <p:sp>
            <p:nvSpPr>
              <p:cNvPr id="52" name="TextBox 52"/>
              <p:cNvSpPr txBox="1"/>
              <p:nvPr/>
            </p:nvSpPr>
            <p:spPr>
              <a:xfrm>
                <a:off x="7277100" y="3867150"/>
                <a:ext cx="1546384"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↑3-5 倍</a:t>
                </a:r>
              </a:p>
            </p:txBody>
          </p:sp>
          <p:sp>
            <p:nvSpPr>
              <p:cNvPr id="53" name="TextBox 53"/>
              <p:cNvSpPr txBox="1"/>
              <p:nvPr/>
            </p:nvSpPr>
            <p:spPr>
              <a:xfrm>
                <a:off x="7299960" y="4366260"/>
                <a:ext cx="1398651"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安全合并/重构吞吐</a:t>
                </a:r>
              </a:p>
            </p:txBody>
          </p:sp>
          <p:sp>
            <p:nvSpPr>
              <p:cNvPr id="54" name="TextBox 54"/>
              <p:cNvSpPr txBox="1"/>
              <p:nvPr/>
            </p:nvSpPr>
            <p:spPr>
              <a:xfrm>
                <a:off x="7303770" y="4608195"/>
                <a:ext cx="394906"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a:ea typeface="Microsoft YaHei"/>
                    <a:cs typeface="Arial"/>
                  </a:rPr>
                  <a:t>(预估)</a:t>
                </a:r>
              </a:p>
            </p:txBody>
          </p:sp>
        </p:grpSp>
        <p:sp>
          <p:nvSpPr>
            <p:cNvPr id="56" name="Line 56"/>
            <p:cNvSpPr/>
            <p:nvPr/>
          </p:nvSpPr>
          <p:spPr>
            <a:xfrm>
              <a:off x="7315200" y="4953000"/>
              <a:ext cx="3848100" cy="9525"/>
            </a:xfrm>
            <a:custGeom>
              <a:avLst/>
              <a:gdLst/>
              <a:ahLst/>
              <a:cxnLst/>
              <a:rect l="l" t="t" r="r" b="b"/>
              <a:pathLst>
                <a:path w="3848100" h="9525">
                  <a:moveTo>
                    <a:pt x="0" y="0"/>
                  </a:moveTo>
                  <a:lnTo>
                    <a:pt x="3848100" y="0"/>
                  </a:lnTo>
                </a:path>
              </a:pathLst>
            </a:custGeom>
            <a:noFill/>
            <a:ln w="9525">
              <a:solidFill>
                <a:srgbClr val="FFFFFF">
                  <a:alpha val="15000"/>
                </a:srgbClr>
              </a:solidFill>
            </a:ln>
          </p:spPr>
        </p:sp>
        <p:grpSp>
          <p:nvGrpSpPr>
            <p:cNvPr id="59" name="Group 59"/>
            <p:cNvGrpSpPr/>
            <p:nvPr/>
          </p:nvGrpSpPr>
          <p:grpSpPr>
            <a:xfrm>
              <a:off x="7298055" y="5302568"/>
              <a:ext cx="1584674" cy="474344"/>
              <a:chOff x="7298055" y="5302568"/>
              <a:chExt cx="1584674" cy="474344"/>
            </a:xfrm>
          </p:grpSpPr>
          <p:sp>
            <p:nvSpPr>
              <p:cNvPr id="57" name="TextBox 57"/>
              <p:cNvSpPr txBox="1"/>
              <p:nvPr/>
            </p:nvSpPr>
            <p:spPr>
              <a:xfrm>
                <a:off x="7298055" y="5302568"/>
                <a:ext cx="1385809"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AI 自主执行范围</a:t>
                </a:r>
              </a:p>
            </p:txBody>
          </p:sp>
          <p:sp>
            <p:nvSpPr>
              <p:cNvPr id="58" name="TextBox 58"/>
              <p:cNvSpPr txBox="1"/>
              <p:nvPr/>
            </p:nvSpPr>
            <p:spPr>
              <a:xfrm>
                <a:off x="7301865" y="5563552"/>
                <a:ext cx="1580864"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随安全网强度放大(预估)</a:t>
                </a:r>
              </a:p>
            </p:txBody>
          </p:sp>
        </p:grpSp>
      </p:grpSp>
      <p:grpSp>
        <p:nvGrpSpPr>
          <p:cNvPr id="63" name="Group 63"/>
          <p:cNvGrpSpPr/>
          <p:nvPr/>
        </p:nvGrpSpPr>
        <p:grpSpPr>
          <a:xfrm>
            <a:off x="750570" y="6456045"/>
            <a:ext cx="10689907" cy="182880"/>
            <a:chOff x="750570" y="6456045"/>
            <a:chExt cx="10689907" cy="182880"/>
          </a:xfrm>
        </p:grpSpPr>
        <p:sp>
          <p:nvSpPr>
            <p:cNvPr id="61" name="TextBox 61"/>
            <p:cNvSpPr txBox="1"/>
            <p:nvPr/>
          </p:nvSpPr>
          <p:spPr>
            <a:xfrm>
              <a:off x="750570" y="6456045"/>
              <a:ext cx="140903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S2 智能交付闭环</a:t>
              </a:r>
            </a:p>
          </p:txBody>
        </p:sp>
        <p:sp>
          <p:nvSpPr>
            <p:cNvPr id="62" name="TextBox 62"/>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18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slide(fromBottom)">
                                      <p:cBhvr>
                                        <p:cTn id="11" dur="400"/>
                                        <p:tgtEl>
                                          <p:spTgt spid="40"/>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image">
                                      <p:cBhvr>
                                        <p:cTn id="15"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0" grpId="0"/>
      <p:bldP spid="6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762000" y="533400"/>
            <a:ext cx="7006514" cy="619125"/>
            <a:chOff x="762000" y="533400"/>
            <a:chExt cx="7006514" cy="619125"/>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518FEC"/>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S3</a:t>
              </a:r>
            </a:p>
          </p:txBody>
        </p:sp>
        <p:sp>
          <p:nvSpPr>
            <p:cNvPr id="6" name="TextBox 6"/>
            <p:cNvSpPr txBox="1"/>
            <p:nvPr/>
          </p:nvSpPr>
          <p:spPr>
            <a:xfrm>
              <a:off x="1363980" y="725805"/>
              <a:ext cx="6404534"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Agent 拿不到准确上下文,老找错代码、误解业务</a:t>
              </a:r>
            </a:p>
          </p:txBody>
        </p:sp>
      </p:grpSp>
      <p:grpSp>
        <p:nvGrpSpPr>
          <p:cNvPr id="18" name="Group 18"/>
          <p:cNvGrpSpPr/>
          <p:nvPr/>
        </p:nvGrpSpPr>
        <p:grpSpPr>
          <a:xfrm>
            <a:off x="762000" y="1295400"/>
            <a:ext cx="10668000" cy="1281112"/>
            <a:chOff x="762000" y="1295400"/>
            <a:chExt cx="10668000" cy="1281112"/>
          </a:xfrm>
        </p:grpSpPr>
        <p:sp>
          <p:nvSpPr>
            <p:cNvPr id="8" name="Rectangle 8"/>
            <p:cNvSpPr/>
            <p:nvPr/>
          </p:nvSpPr>
          <p:spPr>
            <a:xfrm>
              <a:off x="762000" y="1295400"/>
              <a:ext cx="10668000" cy="1257300"/>
            </a:xfrm>
            <a:prstGeom prst="roundRect">
              <a:avLst>
                <a:gd name="adj" fmla="val 10606"/>
              </a:avLst>
            </a:prstGeom>
            <a:solidFill>
              <a:srgbClr val="F4F7FC"/>
            </a:solidFill>
            <a:ln>
              <a:noFill/>
            </a:ln>
          </p:spPr>
        </p:sp>
        <p:sp>
          <p:nvSpPr>
            <p:cNvPr id="9" name="Rectangle 9"/>
            <p:cNvSpPr/>
            <p:nvPr/>
          </p:nvSpPr>
          <p:spPr>
            <a:xfrm>
              <a:off x="762000" y="1295400"/>
              <a:ext cx="57150" cy="1257300"/>
            </a:xfrm>
            <a:prstGeom prst="roundRect">
              <a:avLst>
                <a:gd name="adj" fmla="val 50000"/>
              </a:avLst>
            </a:prstGeom>
            <a:solidFill>
              <a:srgbClr val="F59E0B"/>
            </a:solidFill>
            <a:ln>
              <a:noFill/>
            </a:ln>
          </p:spPr>
        </p:sp>
        <p:grpSp>
          <p:nvGrpSpPr>
            <p:cNvPr id="13" name="Group 13"/>
            <p:cNvGrpSpPr/>
            <p:nvPr/>
          </p:nvGrpSpPr>
          <p:grpSpPr>
            <a:xfrm>
              <a:off x="1070549" y="1536713"/>
              <a:ext cx="240143" cy="206314"/>
              <a:chOff x="1070549" y="1536713"/>
              <a:chExt cx="240143" cy="206314"/>
            </a:xfrm>
          </p:grpSpPr>
          <p:sp>
            <p:nvSpPr>
              <p:cNvPr id="10" name="Freeform 10"/>
              <p:cNvSpPr/>
              <p:nvPr/>
            </p:nvSpPr>
            <p:spPr>
              <a:xfrm>
                <a:off x="1190625" y="1612106"/>
                <a:ext cx="9525" cy="47625"/>
              </a:xfrm>
              <a:custGeom>
                <a:avLst/>
                <a:gdLst/>
                <a:ahLst/>
                <a:cxnLst/>
                <a:rect l="l" t="t" r="r" b="b"/>
                <a:pathLst>
                  <a:path w="9525" h="47625">
                    <a:moveTo>
                      <a:pt x="0" y="0"/>
                    </a:moveTo>
                    <a:lnTo>
                      <a:pt x="0" y="47625"/>
                    </a:lnTo>
                  </a:path>
                </a:pathLst>
              </a:custGeom>
              <a:noFill/>
              <a:ln w="19050">
                <a:solidFill>
                  <a:srgbClr val="F59E0B"/>
                </a:solidFill>
              </a:ln>
            </p:spPr>
          </p:sp>
          <p:sp>
            <p:nvSpPr>
              <p:cNvPr id="11" name="Freeform 11"/>
              <p:cNvSpPr/>
              <p:nvPr/>
            </p:nvSpPr>
            <p:spPr>
              <a:xfrm>
                <a:off x="1070549" y="15367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F59E0B"/>
                </a:solidFill>
              </a:ln>
            </p:spPr>
          </p:sp>
          <p:sp>
            <p:nvSpPr>
              <p:cNvPr id="12" name="Freeform 12"/>
              <p:cNvSpPr/>
              <p:nvPr/>
            </p:nvSpPr>
            <p:spPr>
              <a:xfrm>
                <a:off x="1190625" y="1695450"/>
                <a:ext cx="9525" cy="9525"/>
              </a:xfrm>
              <a:custGeom>
                <a:avLst/>
                <a:gdLst/>
                <a:ahLst/>
                <a:cxnLst/>
                <a:rect l="l" t="t" r="r" b="b"/>
                <a:pathLst>
                  <a:path w="9525" h="9525">
                    <a:moveTo>
                      <a:pt x="0" y="0"/>
                    </a:moveTo>
                    <a:lnTo>
                      <a:pt x="119" y="0"/>
                    </a:lnTo>
                  </a:path>
                </a:pathLst>
              </a:custGeom>
              <a:noFill/>
              <a:ln w="19050">
                <a:solidFill>
                  <a:srgbClr val="F59E0B"/>
                </a:solidFill>
              </a:ln>
            </p:spPr>
          </p:sp>
        </p:grpSp>
        <p:sp>
          <p:nvSpPr>
            <p:cNvPr id="14" name="TextBox 14"/>
            <p:cNvSpPr txBox="1"/>
            <p:nvPr/>
          </p:nvSpPr>
          <p:spPr>
            <a:xfrm>
              <a:off x="1411605" y="1568768"/>
              <a:ext cx="2727877"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痛点:知识散落,Agent 只能"猜"</a:t>
              </a:r>
            </a:p>
          </p:txBody>
        </p:sp>
        <p:sp>
          <p:nvSpPr>
            <p:cNvPr id="15" name="TextBox 15"/>
            <p:cNvSpPr txBox="1"/>
            <p:nvPr/>
          </p:nvSpPr>
          <p:spPr>
            <a:xfrm>
              <a:off x="1415415" y="1905952"/>
              <a:ext cx="626445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需求在 Confluence · 设计在 Figma · 代码在 Git · 测试在 TestRail · 契约在 Swagger · 规则在文档</a:t>
              </a:r>
            </a:p>
          </p:txBody>
        </p:sp>
        <p:sp>
          <p:nvSpPr>
            <p:cNvPr id="16" name="TextBox 16"/>
            <p:cNvSpPr txBox="1"/>
            <p:nvPr/>
          </p:nvSpPr>
          <p:spPr>
            <a:xfrm>
              <a:off x="1415415" y="2153602"/>
              <a:ext cx="24699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 Agent 检索只能靠关键词/向量相似度</a:t>
              </a:r>
            </a:p>
          </p:txBody>
        </p:sp>
        <p:sp>
          <p:nvSpPr>
            <p:cNvPr id="17" name="TextBox 17"/>
            <p:cNvSpPr txBox="1"/>
            <p:nvPr/>
          </p:nvSpPr>
          <p:spPr>
            <a:xfrm>
              <a:off x="1415415" y="2363152"/>
              <a:ext cx="4437221"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a:ea typeface="Microsoft YaHei"/>
                  <a:cs typeface="Arial"/>
                </a:rPr>
                <a:t>→ 找错上下文、误解概念、遗漏约束 → 生成看似合理实则错误的方案</a:t>
              </a:r>
            </a:p>
          </p:txBody>
        </p:sp>
      </p:grpSp>
      <p:grpSp>
        <p:nvGrpSpPr>
          <p:cNvPr id="20" name="Group 20"/>
          <p:cNvGrpSpPr/>
          <p:nvPr/>
        </p:nvGrpSpPr>
        <p:grpSpPr>
          <a:xfrm>
            <a:off x="746760" y="2880360"/>
            <a:ext cx="4079786" cy="243840"/>
            <a:chOff x="746760" y="2880360"/>
            <a:chExt cx="4079786" cy="243840"/>
          </a:xfrm>
        </p:grpSpPr>
        <p:sp>
          <p:nvSpPr>
            <p:cNvPr id="19" name="TextBox 19"/>
            <p:cNvSpPr txBox="1"/>
            <p:nvPr/>
          </p:nvSpPr>
          <p:spPr>
            <a:xfrm>
              <a:off x="746760" y="2880360"/>
              <a:ext cx="4079786" cy="243840"/>
            </a:xfrm>
            <a:prstGeom prst="rect">
              <a:avLst/>
            </a:prstGeom>
            <a:noFill/>
            <a:ln>
              <a:noFill/>
            </a:ln>
          </p:spPr>
          <p:txBody>
            <a:bodyPr wrap="none" lIns="0" tIns="0" rIns="0" bIns="0" anchor="t" anchorCtr="0">
              <a:spAutoFit/>
            </a:bodyPr>
            <a:lstStyle/>
            <a:p>
              <a:pPr algn="l"/>
              <a:r>
                <a:rPr lang="zh-CN" sz="1200" b="1" dirty="0">
                  <a:solidFill>
                    <a:srgbClr val="518FEC"/>
                  </a:solidFill>
                  <a:latin typeface="Arial"/>
                  <a:ea typeface="Microsoft YaHei"/>
                  <a:cs typeface="Arial"/>
                </a:rPr>
                <a:t>三层资产结构:不是堆文件,是用本体网络把资产连起来</a:t>
              </a:r>
            </a:p>
          </p:txBody>
        </p:sp>
      </p:grpSp>
      <p:grpSp>
        <p:nvGrpSpPr>
          <p:cNvPr id="25" name="Group 25"/>
          <p:cNvGrpSpPr/>
          <p:nvPr/>
        </p:nvGrpSpPr>
        <p:grpSpPr>
          <a:xfrm>
            <a:off x="762000" y="3238500"/>
            <a:ext cx="10668000" cy="800100"/>
            <a:chOff x="762000" y="3238500"/>
            <a:chExt cx="10668000" cy="800100"/>
          </a:xfrm>
        </p:grpSpPr>
        <p:sp>
          <p:nvSpPr>
            <p:cNvPr id="21" name="Rectangle 21"/>
            <p:cNvSpPr/>
            <p:nvPr/>
          </p:nvSpPr>
          <p:spPr>
            <a:xfrm>
              <a:off x="762000" y="3238500"/>
              <a:ext cx="10668000" cy="800100"/>
            </a:xfrm>
            <a:prstGeom prst="roundRect">
              <a:avLst>
                <a:gd name="adj" fmla="val 14286"/>
              </a:avLst>
            </a:prstGeom>
            <a:solidFill>
              <a:srgbClr val="518FEC"/>
            </a:solidFill>
            <a:ln>
              <a:noFill/>
            </a:ln>
          </p:spPr>
        </p:sp>
        <p:sp>
          <p:nvSpPr>
            <p:cNvPr id="22" name="Freeform 22"/>
            <p:cNvSpPr/>
            <p:nvPr/>
          </p:nvSpPr>
          <p:spPr>
            <a:xfrm>
              <a:off x="1046162" y="3500438"/>
              <a:ext cx="155575" cy="200025"/>
            </a:xfrm>
            <a:custGeom>
              <a:avLst/>
              <a:gdLst/>
              <a:ahLst/>
              <a:cxnLst/>
              <a:rect l="l" t="t" r="r" b="b"/>
              <a:pathLst>
                <a:path w="155575" h="200025">
                  <a:moveTo>
                    <a:pt x="88900" y="0"/>
                  </a:moveTo>
                  <a:lnTo>
                    <a:pt x="88900" y="77788"/>
                  </a:lnTo>
                  <a:lnTo>
                    <a:pt x="155575" y="77788"/>
                  </a:lnTo>
                  <a:lnTo>
                    <a:pt x="66675" y="200025"/>
                  </a:lnTo>
                  <a:lnTo>
                    <a:pt x="66675" y="122237"/>
                  </a:lnTo>
                  <a:lnTo>
                    <a:pt x="0" y="122237"/>
                  </a:lnTo>
                  <a:lnTo>
                    <a:pt x="88900" y="0"/>
                  </a:lnTo>
                </a:path>
              </a:pathLst>
            </a:custGeom>
            <a:noFill/>
            <a:ln w="19050">
              <a:solidFill>
                <a:srgbClr val="FFFFFF"/>
              </a:solidFill>
            </a:ln>
          </p:spPr>
        </p:sp>
        <p:sp>
          <p:nvSpPr>
            <p:cNvPr id="23" name="TextBox 23"/>
            <p:cNvSpPr txBox="1"/>
            <p:nvPr/>
          </p:nvSpPr>
          <p:spPr>
            <a:xfrm>
              <a:off x="1358265" y="3410902"/>
              <a:ext cx="1167813"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第三层 · 能力资产</a:t>
              </a:r>
            </a:p>
          </p:txBody>
        </p:sp>
        <p:sp>
          <p:nvSpPr>
            <p:cNvPr id="24" name="TextBox 24"/>
            <p:cNvSpPr txBox="1"/>
            <p:nvPr/>
          </p:nvSpPr>
          <p:spPr>
            <a:xfrm>
              <a:off x="1354455" y="3664268"/>
              <a:ext cx="5572682"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Agent 记忆 · Skill · Prompt · 工具调用模板 · 评测集 · 专家规则</a:t>
              </a:r>
            </a:p>
          </p:txBody>
        </p:sp>
      </p:grpSp>
      <p:grpSp>
        <p:nvGrpSpPr>
          <p:cNvPr id="38" name="Group 38"/>
          <p:cNvGrpSpPr/>
          <p:nvPr/>
        </p:nvGrpSpPr>
        <p:grpSpPr>
          <a:xfrm>
            <a:off x="762000" y="4152900"/>
            <a:ext cx="10668000" cy="800100"/>
            <a:chOff x="762000" y="4152900"/>
            <a:chExt cx="10668000" cy="800100"/>
          </a:xfrm>
        </p:grpSpPr>
        <p:sp>
          <p:nvSpPr>
            <p:cNvPr id="26" name="Rectangle 26"/>
            <p:cNvSpPr/>
            <p:nvPr/>
          </p:nvSpPr>
          <p:spPr>
            <a:xfrm>
              <a:off x="762000" y="4152900"/>
              <a:ext cx="10668000" cy="800100"/>
            </a:xfrm>
            <a:prstGeom prst="roundRect">
              <a:avLst>
                <a:gd name="adj" fmla="val 14286"/>
              </a:avLst>
            </a:prstGeom>
            <a:solidFill>
              <a:srgbClr val="0052A6"/>
            </a:solidFill>
            <a:ln>
              <a:noFill/>
            </a:ln>
          </p:spPr>
        </p:sp>
        <p:grpSp>
          <p:nvGrpSpPr>
            <p:cNvPr id="35" name="Group 35"/>
            <p:cNvGrpSpPr/>
            <p:nvPr/>
          </p:nvGrpSpPr>
          <p:grpSpPr>
            <a:xfrm>
              <a:off x="1023938" y="4414838"/>
              <a:ext cx="200024" cy="211137"/>
              <a:chOff x="1023938" y="4414838"/>
              <a:chExt cx="200024" cy="211137"/>
            </a:xfrm>
          </p:grpSpPr>
          <p:sp>
            <p:nvSpPr>
              <p:cNvPr id="27" name="Freeform 27"/>
              <p:cNvSpPr/>
              <p:nvPr/>
            </p:nvSpPr>
            <p:spPr>
              <a:xfrm>
                <a:off x="1057275" y="4414838"/>
                <a:ext cx="133350" cy="133350"/>
              </a:xfrm>
              <a:custGeom>
                <a:avLst/>
                <a:gdLst/>
                <a:ahLst/>
                <a:cxnLst/>
                <a:rect l="l" t="t" r="r" b="b"/>
                <a:pathLst>
                  <a:path w="133350" h="133350">
                    <a:moveTo>
                      <a:pt x="0" y="66675"/>
                    </a:moveTo>
                    <a:cubicBezTo>
                      <a:pt x="0" y="103499"/>
                      <a:pt x="29851" y="133350"/>
                      <a:pt x="66675" y="133350"/>
                    </a:cubicBezTo>
                    <a:cubicBezTo>
                      <a:pt x="103499" y="133350"/>
                      <a:pt x="133350" y="103499"/>
                      <a:pt x="133350" y="66675"/>
                    </a:cubicBezTo>
                    <a:cubicBezTo>
                      <a:pt x="133350" y="29851"/>
                      <a:pt x="103499" y="0"/>
                      <a:pt x="66675" y="0"/>
                    </a:cubicBezTo>
                    <a:cubicBezTo>
                      <a:pt x="29851" y="0"/>
                      <a:pt x="0" y="29851"/>
                      <a:pt x="0" y="66675"/>
                    </a:cubicBezTo>
                  </a:path>
                </a:pathLst>
              </a:custGeom>
              <a:noFill/>
              <a:ln w="19050">
                <a:solidFill>
                  <a:srgbClr val="FFFFFF"/>
                </a:solidFill>
              </a:ln>
            </p:spPr>
          </p:sp>
          <p:sp>
            <p:nvSpPr>
              <p:cNvPr id="28" name="Freeform 28"/>
              <p:cNvSpPr/>
              <p:nvPr/>
            </p:nvSpPr>
            <p:spPr>
              <a:xfrm>
                <a:off x="1123950" y="4414838"/>
                <a:ext cx="22225" cy="133350"/>
              </a:xfrm>
              <a:custGeom>
                <a:avLst/>
                <a:gdLst/>
                <a:ahLst/>
                <a:cxnLst/>
                <a:rect l="l" t="t" r="r" b="b"/>
                <a:pathLst>
                  <a:path w="22225" h="133350">
                    <a:moveTo>
                      <a:pt x="0" y="0"/>
                    </a:moveTo>
                    <a:cubicBezTo>
                      <a:pt x="14813" y="3700"/>
                      <a:pt x="22225" y="25925"/>
                      <a:pt x="22225" y="66675"/>
                    </a:cubicBezTo>
                    <a:cubicBezTo>
                      <a:pt x="22225" y="107425"/>
                      <a:pt x="14813" y="129650"/>
                      <a:pt x="0" y="133350"/>
                    </a:cubicBezTo>
                  </a:path>
                </a:pathLst>
              </a:custGeom>
              <a:noFill/>
              <a:ln w="19050">
                <a:solidFill>
                  <a:srgbClr val="FFFFFF"/>
                </a:solidFill>
              </a:ln>
            </p:spPr>
          </p:sp>
          <p:sp>
            <p:nvSpPr>
              <p:cNvPr id="29" name="Freeform 29"/>
              <p:cNvSpPr/>
              <p:nvPr/>
            </p:nvSpPr>
            <p:spPr>
              <a:xfrm>
                <a:off x="1101725" y="4414838"/>
                <a:ext cx="22225" cy="133350"/>
              </a:xfrm>
              <a:custGeom>
                <a:avLst/>
                <a:gdLst/>
                <a:ahLst/>
                <a:cxnLst/>
                <a:rect l="l" t="t" r="r" b="b"/>
                <a:pathLst>
                  <a:path w="22225" h="133350">
                    <a:moveTo>
                      <a:pt x="22225" y="0"/>
                    </a:moveTo>
                    <a:cubicBezTo>
                      <a:pt x="7412" y="3700"/>
                      <a:pt x="0" y="25925"/>
                      <a:pt x="0" y="66675"/>
                    </a:cubicBezTo>
                    <a:cubicBezTo>
                      <a:pt x="0" y="107425"/>
                      <a:pt x="7412" y="129650"/>
                      <a:pt x="22225" y="133350"/>
                    </a:cubicBezTo>
                  </a:path>
                </a:pathLst>
              </a:custGeom>
              <a:noFill/>
              <a:ln w="19050">
                <a:solidFill>
                  <a:srgbClr val="FFFFFF"/>
                </a:solidFill>
              </a:ln>
            </p:spPr>
          </p:sp>
          <p:sp>
            <p:nvSpPr>
              <p:cNvPr id="30" name="Freeform 30"/>
              <p:cNvSpPr/>
              <p:nvPr/>
            </p:nvSpPr>
            <p:spPr>
              <a:xfrm>
                <a:off x="1057275" y="4481512"/>
                <a:ext cx="133350" cy="9525"/>
              </a:xfrm>
              <a:custGeom>
                <a:avLst/>
                <a:gdLst/>
                <a:ahLst/>
                <a:cxnLst/>
                <a:rect l="l" t="t" r="r" b="b"/>
                <a:pathLst>
                  <a:path w="133350" h="9525">
                    <a:moveTo>
                      <a:pt x="0" y="0"/>
                    </a:moveTo>
                    <a:lnTo>
                      <a:pt x="133350" y="0"/>
                    </a:lnTo>
                  </a:path>
                </a:pathLst>
              </a:custGeom>
              <a:noFill/>
              <a:ln w="19050">
                <a:solidFill>
                  <a:srgbClr val="FFFFFF"/>
                </a:solidFill>
              </a:ln>
            </p:spPr>
          </p:sp>
          <p:sp>
            <p:nvSpPr>
              <p:cNvPr id="31" name="Freeform 31"/>
              <p:cNvSpPr/>
              <p:nvPr/>
            </p:nvSpPr>
            <p:spPr>
              <a:xfrm>
                <a:off x="1023938" y="4603750"/>
                <a:ext cx="77788" cy="9525"/>
              </a:xfrm>
              <a:custGeom>
                <a:avLst/>
                <a:gdLst/>
                <a:ahLst/>
                <a:cxnLst/>
                <a:rect l="l" t="t" r="r" b="b"/>
                <a:pathLst>
                  <a:path w="77788" h="9525">
                    <a:moveTo>
                      <a:pt x="0" y="0"/>
                    </a:moveTo>
                    <a:lnTo>
                      <a:pt x="77788" y="0"/>
                    </a:lnTo>
                  </a:path>
                </a:pathLst>
              </a:custGeom>
              <a:noFill/>
              <a:ln w="19050">
                <a:solidFill>
                  <a:srgbClr val="FFFFFF"/>
                </a:solidFill>
              </a:ln>
            </p:spPr>
          </p:sp>
          <p:sp>
            <p:nvSpPr>
              <p:cNvPr id="32" name="Freeform 32"/>
              <p:cNvSpPr/>
              <p:nvPr/>
            </p:nvSpPr>
            <p:spPr>
              <a:xfrm>
                <a:off x="1146175" y="4603750"/>
                <a:ext cx="77787" cy="9525"/>
              </a:xfrm>
              <a:custGeom>
                <a:avLst/>
                <a:gdLst/>
                <a:ahLst/>
                <a:cxnLst/>
                <a:rect l="l" t="t" r="r" b="b"/>
                <a:pathLst>
                  <a:path w="77787" h="9525">
                    <a:moveTo>
                      <a:pt x="0" y="0"/>
                    </a:moveTo>
                    <a:lnTo>
                      <a:pt x="77787" y="0"/>
                    </a:lnTo>
                  </a:path>
                </a:pathLst>
              </a:custGeom>
              <a:noFill/>
              <a:ln w="19050">
                <a:solidFill>
                  <a:srgbClr val="FFFFFF"/>
                </a:solidFill>
              </a:ln>
            </p:spPr>
          </p:sp>
          <p:sp>
            <p:nvSpPr>
              <p:cNvPr id="33" name="Freeform 33"/>
              <p:cNvSpPr/>
              <p:nvPr/>
            </p:nvSpPr>
            <p:spPr>
              <a:xfrm>
                <a:off x="1101725" y="4581525"/>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FFFFFF"/>
                </a:solidFill>
              </a:ln>
            </p:spPr>
          </p:sp>
          <p:sp>
            <p:nvSpPr>
              <p:cNvPr id="34" name="Freeform 34"/>
              <p:cNvSpPr/>
              <p:nvPr/>
            </p:nvSpPr>
            <p:spPr>
              <a:xfrm>
                <a:off x="1123950" y="4548188"/>
                <a:ext cx="9525" cy="33338"/>
              </a:xfrm>
              <a:custGeom>
                <a:avLst/>
                <a:gdLst/>
                <a:ahLst/>
                <a:cxnLst/>
                <a:rect l="l" t="t" r="r" b="b"/>
                <a:pathLst>
                  <a:path w="9525" h="33338">
                    <a:moveTo>
                      <a:pt x="0" y="0"/>
                    </a:moveTo>
                    <a:lnTo>
                      <a:pt x="0" y="33338"/>
                    </a:lnTo>
                  </a:path>
                </a:pathLst>
              </a:custGeom>
              <a:noFill/>
              <a:ln w="19050">
                <a:solidFill>
                  <a:srgbClr val="FFFFFF"/>
                </a:solidFill>
              </a:ln>
            </p:spPr>
          </p:sp>
        </p:grpSp>
        <p:sp>
          <p:nvSpPr>
            <p:cNvPr id="36" name="TextBox 36"/>
            <p:cNvSpPr txBox="1"/>
            <p:nvPr/>
          </p:nvSpPr>
          <p:spPr>
            <a:xfrm>
              <a:off x="1358265" y="4325302"/>
              <a:ext cx="1307830"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第二层 · 语义连接层</a:t>
              </a:r>
            </a:p>
          </p:txBody>
        </p:sp>
        <p:sp>
          <p:nvSpPr>
            <p:cNvPr id="37" name="TextBox 37"/>
            <p:cNvSpPr txBox="1"/>
            <p:nvPr/>
          </p:nvSpPr>
          <p:spPr>
            <a:xfrm>
              <a:off x="1354455" y="4578668"/>
              <a:ext cx="682023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本体网络 + 知识图谱:概念 · 系统 · 数据 · 规则 · 接口 · 测试 · 经验 全语义关联</a:t>
              </a:r>
            </a:p>
          </p:txBody>
        </p:sp>
      </p:grpSp>
      <p:grpSp>
        <p:nvGrpSpPr>
          <p:cNvPr id="46" name="Group 46"/>
          <p:cNvGrpSpPr/>
          <p:nvPr/>
        </p:nvGrpSpPr>
        <p:grpSpPr>
          <a:xfrm>
            <a:off x="762000" y="5067300"/>
            <a:ext cx="10668000" cy="800100"/>
            <a:chOff x="762000" y="5067300"/>
            <a:chExt cx="10668000" cy="800100"/>
          </a:xfrm>
        </p:grpSpPr>
        <p:sp>
          <p:nvSpPr>
            <p:cNvPr id="39" name="Rectangle 39"/>
            <p:cNvSpPr/>
            <p:nvPr/>
          </p:nvSpPr>
          <p:spPr>
            <a:xfrm>
              <a:off x="762000" y="5067300"/>
              <a:ext cx="10668000" cy="800100"/>
            </a:xfrm>
            <a:prstGeom prst="roundRect">
              <a:avLst>
                <a:gd name="adj" fmla="val 14286"/>
              </a:avLst>
            </a:prstGeom>
            <a:solidFill>
              <a:srgbClr val="0A2A5E"/>
            </a:solidFill>
            <a:ln>
              <a:noFill/>
            </a:ln>
          </p:spPr>
        </p:sp>
        <p:grpSp>
          <p:nvGrpSpPr>
            <p:cNvPr id="43" name="Group 43"/>
            <p:cNvGrpSpPr/>
            <p:nvPr/>
          </p:nvGrpSpPr>
          <p:grpSpPr>
            <a:xfrm>
              <a:off x="1035050" y="5329238"/>
              <a:ext cx="177800" cy="200024"/>
              <a:chOff x="1035050" y="5329238"/>
              <a:chExt cx="177800" cy="200024"/>
            </a:xfrm>
          </p:grpSpPr>
          <p:sp>
            <p:nvSpPr>
              <p:cNvPr id="40" name="Freeform 40"/>
              <p:cNvSpPr/>
              <p:nvPr/>
            </p:nvSpPr>
            <p:spPr>
              <a:xfrm>
                <a:off x="1035050" y="532923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41" name="Freeform 41"/>
              <p:cNvSpPr/>
              <p:nvPr/>
            </p:nvSpPr>
            <p:spPr>
              <a:xfrm>
                <a:off x="1035050" y="536257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42" name="Freeform 42"/>
              <p:cNvSpPr/>
              <p:nvPr/>
            </p:nvSpPr>
            <p:spPr>
              <a:xfrm>
                <a:off x="1035050" y="542925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44" name="TextBox 44"/>
            <p:cNvSpPr txBox="1"/>
            <p:nvPr/>
          </p:nvSpPr>
          <p:spPr>
            <a:xfrm>
              <a:off x="1358265" y="5239702"/>
              <a:ext cx="1447848" cy="213360"/>
            </a:xfrm>
            <a:prstGeom prst="rect">
              <a:avLst/>
            </a:prstGeom>
            <a:noFill/>
            <a:ln>
              <a:noFill/>
            </a:ln>
          </p:spPr>
          <p:txBody>
            <a:bodyPr wrap="none" lIns="0" tIns="0" rIns="0" bIns="0" anchor="t" anchorCtr="0">
              <a:spAutoFit/>
            </a:bodyPr>
            <a:lstStyle/>
            <a:p>
              <a:pPr algn="l"/>
              <a:r>
                <a:rPr lang="zh-CN" sz="1050" dirty="0">
                  <a:solidFill>
                    <a:srgbClr val="8FA3C4"/>
                  </a:solidFill>
                  <a:latin typeface="Arial"/>
                  <a:ea typeface="Microsoft YaHei"/>
                  <a:cs typeface="Arial"/>
                </a:rPr>
                <a:t>第一层 · 底层工程资产</a:t>
              </a:r>
            </a:p>
          </p:txBody>
        </p:sp>
        <p:sp>
          <p:nvSpPr>
            <p:cNvPr id="45" name="TextBox 45"/>
            <p:cNvSpPr txBox="1"/>
            <p:nvPr/>
          </p:nvSpPr>
          <p:spPr>
            <a:xfrm>
              <a:off x="1354455" y="5493068"/>
              <a:ext cx="647054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需求 · 设计 · 代码 · 测试 · 契约/API · 运行日志 · 评测集 · Agent 执行轨迹</a:t>
              </a:r>
            </a:p>
          </p:txBody>
        </p:sp>
      </p:grpSp>
      <p:grpSp>
        <p:nvGrpSpPr>
          <p:cNvPr id="48" name="Group 48"/>
          <p:cNvGrpSpPr/>
          <p:nvPr/>
        </p:nvGrpSpPr>
        <p:grpSpPr>
          <a:xfrm>
            <a:off x="4414006" y="6096952"/>
            <a:ext cx="3363987" cy="213360"/>
            <a:chOff x="4414006" y="6096952"/>
            <a:chExt cx="3363987" cy="213360"/>
          </a:xfrm>
        </p:grpSpPr>
        <p:sp>
          <p:nvSpPr>
            <p:cNvPr id="47" name="TextBox 47"/>
            <p:cNvSpPr txBox="1"/>
            <p:nvPr/>
          </p:nvSpPr>
          <p:spPr>
            <a:xfrm>
              <a:off x="4414006" y="6096952"/>
              <a:ext cx="3363987" cy="213360"/>
            </a:xfrm>
            <a:prstGeom prst="rect">
              <a:avLst/>
            </a:prstGeom>
            <a:noFill/>
            <a:ln>
              <a:noFill/>
            </a:ln>
          </p:spPr>
          <p:txBody>
            <a:bodyPr wrap="none" lIns="0" tIns="0" rIns="0" bIns="0" anchor="t" anchorCtr="0">
              <a:spAutoFit/>
            </a:bodyPr>
            <a:lstStyle/>
            <a:p>
              <a:pPr algn="ctr"/>
              <a:r>
                <a:rPr lang="zh-CN" sz="1050" b="1" dirty="0">
                  <a:solidFill>
                    <a:srgbClr val="0052A6"/>
                  </a:solidFill>
                  <a:latin typeface="Arial"/>
                  <a:ea typeface="Microsoft YaHei"/>
                  <a:cs typeface="Arial"/>
                </a:rPr>
                <a:t>Agent 不再靠关键词"猜",而是沿语义关系精确检索</a:t>
              </a:r>
            </a:p>
          </p:txBody>
        </p:sp>
      </p:grpSp>
      <p:grpSp>
        <p:nvGrpSpPr>
          <p:cNvPr id="51" name="Group 51"/>
          <p:cNvGrpSpPr/>
          <p:nvPr/>
        </p:nvGrpSpPr>
        <p:grpSpPr>
          <a:xfrm>
            <a:off x="750570" y="6456045"/>
            <a:ext cx="10689907" cy="182880"/>
            <a:chOff x="750570" y="6456045"/>
            <a:chExt cx="10689907" cy="182880"/>
          </a:xfrm>
        </p:grpSpPr>
        <p:sp>
          <p:nvSpPr>
            <p:cNvPr id="49" name="TextBox 49"/>
            <p:cNvSpPr txBox="1"/>
            <p:nvPr/>
          </p:nvSpPr>
          <p:spPr>
            <a:xfrm>
              <a:off x="750570" y="6456045"/>
              <a:ext cx="140903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S3 智能知识底座</a:t>
              </a:r>
            </a:p>
          </p:txBody>
        </p:sp>
        <p:sp>
          <p:nvSpPr>
            <p:cNvPr id="50" name="TextBox 50"/>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19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Bottom)">
                                      <p:cBhvr>
                                        <p:cTn id="15" dur="400"/>
                                        <p:tgtEl>
                                          <p:spTgt spid="2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image">
                                      <p:cBhvr>
                                        <p:cTn id="19" dur="400"/>
                                        <p:tgtEl>
                                          <p:spTgt spid="2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400"/>
                                        <p:tgtEl>
                                          <p:spTgt spid="46"/>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p:bldP spid="20" grpId="0"/>
      <p:bldP spid="25" grpId="0"/>
      <p:bldP spid="38" grpId="0"/>
      <p:bldP spid="46"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8" name="Group 8"/>
          <p:cNvGrpSpPr/>
          <p:nvPr/>
        </p:nvGrpSpPr>
        <p:grpSpPr>
          <a:xfrm>
            <a:off x="747712" y="533400"/>
            <a:ext cx="8285160" cy="792956"/>
            <a:chOff x="747712" y="533400"/>
            <a:chExt cx="8285160"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518FEC"/>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S3</a:t>
              </a:r>
            </a:p>
          </p:txBody>
        </p:sp>
        <p:sp>
          <p:nvSpPr>
            <p:cNvPr id="6" name="TextBox 6"/>
            <p:cNvSpPr txBox="1"/>
            <p:nvPr/>
          </p:nvSpPr>
          <p:spPr>
            <a:xfrm>
              <a:off x="1363980" y="725805"/>
              <a:ext cx="7668892"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本体网络让 Agent 沿业务语义和工程依赖,找到准确上下文</a:t>
              </a:r>
            </a:p>
          </p:txBody>
        </p:sp>
        <p:sp>
          <p:nvSpPr>
            <p:cNvPr id="7" name="TextBox 7"/>
            <p:cNvSpPr txBox="1"/>
            <p:nvPr/>
          </p:nvSpPr>
          <p:spPr>
            <a:xfrm>
              <a:off x="747712" y="1097756"/>
              <a:ext cx="2833926"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Agent 不再"猜",而是沿语义关系精确检索</a:t>
              </a:r>
            </a:p>
          </p:txBody>
        </p:sp>
      </p:grpSp>
      <p:grpSp>
        <p:nvGrpSpPr>
          <p:cNvPr id="63" name="Group 63"/>
          <p:cNvGrpSpPr/>
          <p:nvPr/>
        </p:nvGrpSpPr>
        <p:grpSpPr>
          <a:xfrm>
            <a:off x="762000" y="1524000"/>
            <a:ext cx="6096000" cy="4381500"/>
            <a:chOff x="762000" y="1524000"/>
            <a:chExt cx="6096000" cy="4381500"/>
          </a:xfrm>
        </p:grpSpPr>
        <p:sp>
          <p:nvSpPr>
            <p:cNvPr id="9" name="Rectangle 9"/>
            <p:cNvSpPr/>
            <p:nvPr/>
          </p:nvSpPr>
          <p:spPr>
            <a:xfrm>
              <a:off x="762000" y="1524000"/>
              <a:ext cx="6096000" cy="4381500"/>
            </a:xfrm>
            <a:prstGeom prst="roundRect">
              <a:avLst>
                <a:gd name="adj" fmla="val 3478"/>
              </a:avLst>
            </a:prstGeom>
            <a:solidFill>
              <a:srgbClr val="F4F7FC"/>
            </a:solidFill>
            <a:ln>
              <a:noFill/>
            </a:ln>
          </p:spPr>
        </p:sp>
        <p:grpSp>
          <p:nvGrpSpPr>
            <p:cNvPr id="18" name="Group 18"/>
            <p:cNvGrpSpPr/>
            <p:nvPr/>
          </p:nvGrpSpPr>
          <p:grpSpPr>
            <a:xfrm>
              <a:off x="1066800" y="1790700"/>
              <a:ext cx="228600" cy="241300"/>
              <a:chOff x="1066800" y="1790700"/>
              <a:chExt cx="228600" cy="241300"/>
            </a:xfrm>
          </p:grpSpPr>
          <p:sp>
            <p:nvSpPr>
              <p:cNvPr id="10" name="Freeform 10"/>
              <p:cNvSpPr/>
              <p:nvPr/>
            </p:nvSpPr>
            <p:spPr>
              <a:xfrm>
                <a:off x="1104900" y="179070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19050">
                <a:solidFill>
                  <a:srgbClr val="518FEC"/>
                </a:solidFill>
              </a:ln>
            </p:spPr>
          </p:sp>
          <p:sp>
            <p:nvSpPr>
              <p:cNvPr id="11" name="Freeform 11"/>
              <p:cNvSpPr/>
              <p:nvPr/>
            </p:nvSpPr>
            <p:spPr>
              <a:xfrm>
                <a:off x="1181100" y="1790700"/>
                <a:ext cx="25400" cy="152400"/>
              </a:xfrm>
              <a:custGeom>
                <a:avLst/>
                <a:gdLst/>
                <a:ahLst/>
                <a:cxnLst/>
                <a:rect l="l" t="t" r="r" b="b"/>
                <a:pathLst>
                  <a:path w="25400" h="152400">
                    <a:moveTo>
                      <a:pt x="0" y="0"/>
                    </a:moveTo>
                    <a:cubicBezTo>
                      <a:pt x="16929" y="4229"/>
                      <a:pt x="25400" y="29629"/>
                      <a:pt x="25400" y="76200"/>
                    </a:cubicBezTo>
                    <a:cubicBezTo>
                      <a:pt x="25400" y="122771"/>
                      <a:pt x="16929" y="148171"/>
                      <a:pt x="0" y="152400"/>
                    </a:cubicBezTo>
                  </a:path>
                </a:pathLst>
              </a:custGeom>
              <a:noFill/>
              <a:ln w="19050">
                <a:solidFill>
                  <a:srgbClr val="518FEC"/>
                </a:solidFill>
              </a:ln>
            </p:spPr>
          </p:sp>
          <p:sp>
            <p:nvSpPr>
              <p:cNvPr id="12" name="Freeform 12"/>
              <p:cNvSpPr/>
              <p:nvPr/>
            </p:nvSpPr>
            <p:spPr>
              <a:xfrm>
                <a:off x="1155700" y="1790700"/>
                <a:ext cx="25400" cy="152400"/>
              </a:xfrm>
              <a:custGeom>
                <a:avLst/>
                <a:gdLst/>
                <a:ahLst/>
                <a:cxnLst/>
                <a:rect l="l" t="t" r="r" b="b"/>
                <a:pathLst>
                  <a:path w="25400" h="152400">
                    <a:moveTo>
                      <a:pt x="25400" y="0"/>
                    </a:moveTo>
                    <a:cubicBezTo>
                      <a:pt x="8471" y="4229"/>
                      <a:pt x="0" y="29629"/>
                      <a:pt x="0" y="76200"/>
                    </a:cubicBezTo>
                    <a:cubicBezTo>
                      <a:pt x="0" y="122771"/>
                      <a:pt x="8471" y="148171"/>
                      <a:pt x="25400" y="152400"/>
                    </a:cubicBezTo>
                  </a:path>
                </a:pathLst>
              </a:custGeom>
              <a:noFill/>
              <a:ln w="19050">
                <a:solidFill>
                  <a:srgbClr val="518FEC"/>
                </a:solidFill>
              </a:ln>
            </p:spPr>
          </p:sp>
          <p:sp>
            <p:nvSpPr>
              <p:cNvPr id="13" name="Freeform 13"/>
              <p:cNvSpPr/>
              <p:nvPr/>
            </p:nvSpPr>
            <p:spPr>
              <a:xfrm>
                <a:off x="1104900" y="1866900"/>
                <a:ext cx="152400" cy="9525"/>
              </a:xfrm>
              <a:custGeom>
                <a:avLst/>
                <a:gdLst/>
                <a:ahLst/>
                <a:cxnLst/>
                <a:rect l="l" t="t" r="r" b="b"/>
                <a:pathLst>
                  <a:path w="152400" h="9525">
                    <a:moveTo>
                      <a:pt x="0" y="0"/>
                    </a:moveTo>
                    <a:lnTo>
                      <a:pt x="152400" y="0"/>
                    </a:lnTo>
                  </a:path>
                </a:pathLst>
              </a:custGeom>
              <a:noFill/>
              <a:ln w="19050">
                <a:solidFill>
                  <a:srgbClr val="518FEC"/>
                </a:solidFill>
              </a:ln>
            </p:spPr>
          </p:sp>
          <p:sp>
            <p:nvSpPr>
              <p:cNvPr id="14" name="Freeform 14"/>
              <p:cNvSpPr/>
              <p:nvPr/>
            </p:nvSpPr>
            <p:spPr>
              <a:xfrm>
                <a:off x="1066800" y="2006600"/>
                <a:ext cx="88900" cy="9525"/>
              </a:xfrm>
              <a:custGeom>
                <a:avLst/>
                <a:gdLst/>
                <a:ahLst/>
                <a:cxnLst/>
                <a:rect l="l" t="t" r="r" b="b"/>
                <a:pathLst>
                  <a:path w="88900" h="9525">
                    <a:moveTo>
                      <a:pt x="0" y="0"/>
                    </a:moveTo>
                    <a:lnTo>
                      <a:pt x="88900" y="0"/>
                    </a:lnTo>
                  </a:path>
                </a:pathLst>
              </a:custGeom>
              <a:noFill/>
              <a:ln w="19050">
                <a:solidFill>
                  <a:srgbClr val="518FEC"/>
                </a:solidFill>
              </a:ln>
            </p:spPr>
          </p:sp>
          <p:sp>
            <p:nvSpPr>
              <p:cNvPr id="15" name="Freeform 15"/>
              <p:cNvSpPr/>
              <p:nvPr/>
            </p:nvSpPr>
            <p:spPr>
              <a:xfrm>
                <a:off x="1206500" y="2006600"/>
                <a:ext cx="88900" cy="9525"/>
              </a:xfrm>
              <a:custGeom>
                <a:avLst/>
                <a:gdLst/>
                <a:ahLst/>
                <a:cxnLst/>
                <a:rect l="l" t="t" r="r" b="b"/>
                <a:pathLst>
                  <a:path w="88900" h="9525">
                    <a:moveTo>
                      <a:pt x="0" y="0"/>
                    </a:moveTo>
                    <a:lnTo>
                      <a:pt x="88900" y="0"/>
                    </a:lnTo>
                  </a:path>
                </a:pathLst>
              </a:custGeom>
              <a:noFill/>
              <a:ln w="19050">
                <a:solidFill>
                  <a:srgbClr val="518FEC"/>
                </a:solidFill>
              </a:ln>
            </p:spPr>
          </p:sp>
          <p:sp>
            <p:nvSpPr>
              <p:cNvPr id="16" name="Freeform 16"/>
              <p:cNvSpPr/>
              <p:nvPr/>
            </p:nvSpPr>
            <p:spPr>
              <a:xfrm>
                <a:off x="1155700" y="19812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518FEC"/>
                </a:solidFill>
              </a:ln>
            </p:spPr>
          </p:sp>
          <p:sp>
            <p:nvSpPr>
              <p:cNvPr id="17" name="Freeform 17"/>
              <p:cNvSpPr/>
              <p:nvPr/>
            </p:nvSpPr>
            <p:spPr>
              <a:xfrm>
                <a:off x="1181100" y="1943100"/>
                <a:ext cx="9525" cy="38100"/>
              </a:xfrm>
              <a:custGeom>
                <a:avLst/>
                <a:gdLst/>
                <a:ahLst/>
                <a:cxnLst/>
                <a:rect l="l" t="t" r="r" b="b"/>
                <a:pathLst>
                  <a:path w="9525" h="38100">
                    <a:moveTo>
                      <a:pt x="0" y="0"/>
                    </a:moveTo>
                    <a:lnTo>
                      <a:pt x="0" y="38100"/>
                    </a:lnTo>
                  </a:path>
                </a:pathLst>
              </a:custGeom>
              <a:noFill/>
              <a:ln w="19050">
                <a:solidFill>
                  <a:srgbClr val="518FEC"/>
                </a:solidFill>
              </a:ln>
            </p:spPr>
          </p:sp>
        </p:grpSp>
        <p:sp>
          <p:nvSpPr>
            <p:cNvPr id="19" name="TextBox 19"/>
            <p:cNvSpPr txBox="1"/>
            <p:nvPr/>
          </p:nvSpPr>
          <p:spPr>
            <a:xfrm>
              <a:off x="1409700" y="1819275"/>
              <a:ext cx="1046226" cy="304800"/>
            </a:xfrm>
            <a:prstGeom prst="rect">
              <a:avLst/>
            </a:prstGeom>
            <a:noFill/>
            <a:ln>
              <a:noFill/>
            </a:ln>
          </p:spPr>
          <p:txBody>
            <a:bodyPr wrap="none" lIns="0" tIns="0" rIns="0" bIns="0" anchor="t" anchorCtr="0">
              <a:spAutoFit/>
            </a:bodyPr>
            <a:lstStyle/>
            <a:p>
              <a:pPr algn="l"/>
              <a:r>
                <a:rPr lang="zh-CN" sz="1500" b="1" dirty="0">
                  <a:solidFill>
                    <a:srgbClr val="518FEC"/>
                  </a:solidFill>
                  <a:latin typeface="Arial"/>
                  <a:ea typeface="Microsoft YaHei"/>
                  <a:cs typeface="Arial"/>
                </a:rPr>
                <a:t>FarAI 能力</a:t>
              </a:r>
            </a:p>
          </p:txBody>
        </p:sp>
        <p:sp>
          <p:nvSpPr>
            <p:cNvPr id="20" name="Line 20"/>
            <p:cNvSpPr/>
            <p:nvPr/>
          </p:nvSpPr>
          <p:spPr>
            <a:xfrm>
              <a:off x="1028700" y="2209800"/>
              <a:ext cx="5562600" cy="9525"/>
            </a:xfrm>
            <a:custGeom>
              <a:avLst/>
              <a:gdLst/>
              <a:ahLst/>
              <a:cxnLst/>
              <a:rect l="l" t="t" r="r" b="b"/>
              <a:pathLst>
                <a:path w="5562600" h="9525">
                  <a:moveTo>
                    <a:pt x="0" y="0"/>
                  </a:moveTo>
                  <a:lnTo>
                    <a:pt x="5562600" y="0"/>
                  </a:lnTo>
                </a:path>
              </a:pathLst>
            </a:custGeom>
            <a:noFill/>
            <a:ln w="9525">
              <a:solidFill>
                <a:srgbClr val="E3E9F2"/>
              </a:solidFill>
            </a:ln>
          </p:spPr>
        </p:sp>
        <p:grpSp>
          <p:nvGrpSpPr>
            <p:cNvPr id="34" name="Group 34"/>
            <p:cNvGrpSpPr/>
            <p:nvPr/>
          </p:nvGrpSpPr>
          <p:grpSpPr>
            <a:xfrm>
              <a:off x="1047750" y="2533650"/>
              <a:ext cx="3844576" cy="492919"/>
              <a:chOff x="1047750" y="2533650"/>
              <a:chExt cx="3844576" cy="492919"/>
            </a:xfrm>
          </p:grpSpPr>
          <p:sp>
            <p:nvSpPr>
              <p:cNvPr id="21" name="Ellipse 21"/>
              <p:cNvSpPr/>
              <p:nvPr/>
            </p:nvSpPr>
            <p:spPr>
              <a:xfrm>
                <a:off x="1047750" y="2533650"/>
                <a:ext cx="266700" cy="266700"/>
              </a:xfrm>
              <a:prstGeom prst="ellipse">
                <a:avLst/>
              </a:prstGeom>
              <a:solidFill>
                <a:srgbClr val="518FEC"/>
              </a:solidFill>
              <a:ln>
                <a:noFill/>
              </a:ln>
            </p:spPr>
          </p:sp>
          <p:sp>
            <p:nvSpPr>
              <p:cNvPr id="22" name="TextBox 22"/>
              <p:cNvSpPr txBox="1"/>
              <p:nvPr/>
            </p:nvSpPr>
            <p:spPr>
              <a:xfrm>
                <a:off x="1135016" y="2626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grpSp>
            <p:nvGrpSpPr>
              <p:cNvPr id="31" name="Group 31"/>
              <p:cNvGrpSpPr/>
              <p:nvPr/>
            </p:nvGrpSpPr>
            <p:grpSpPr>
              <a:xfrm>
                <a:off x="1440656" y="2545556"/>
                <a:ext cx="185737" cy="196057"/>
                <a:chOff x="1440656" y="2545556"/>
                <a:chExt cx="185737" cy="196057"/>
              </a:xfrm>
            </p:grpSpPr>
            <p:sp>
              <p:nvSpPr>
                <p:cNvPr id="23" name="Freeform 23"/>
                <p:cNvSpPr/>
                <p:nvPr/>
              </p:nvSpPr>
              <p:spPr>
                <a:xfrm>
                  <a:off x="1471612" y="2545556"/>
                  <a:ext cx="123825" cy="123825"/>
                </a:xfrm>
                <a:custGeom>
                  <a:avLst/>
                  <a:gdLst/>
                  <a:ahLst/>
                  <a:cxnLst/>
                  <a:rect l="l" t="t" r="r" b="b"/>
                  <a:pathLst>
                    <a:path w="123825" h="123825">
                      <a:moveTo>
                        <a:pt x="0" y="61912"/>
                      </a:moveTo>
                      <a:cubicBezTo>
                        <a:pt x="0" y="96106"/>
                        <a:pt x="27719" y="123825"/>
                        <a:pt x="61912" y="123825"/>
                      </a:cubicBezTo>
                      <a:cubicBezTo>
                        <a:pt x="96106" y="123825"/>
                        <a:pt x="123825" y="96106"/>
                        <a:pt x="123825" y="61912"/>
                      </a:cubicBezTo>
                      <a:cubicBezTo>
                        <a:pt x="123825" y="27719"/>
                        <a:pt x="96106" y="0"/>
                        <a:pt x="61912" y="0"/>
                      </a:cubicBezTo>
                      <a:cubicBezTo>
                        <a:pt x="27719" y="0"/>
                        <a:pt x="0" y="27719"/>
                        <a:pt x="0" y="61912"/>
                      </a:cubicBezTo>
                    </a:path>
                  </a:pathLst>
                </a:custGeom>
                <a:noFill/>
                <a:ln w="19050">
                  <a:solidFill>
                    <a:srgbClr val="0052A6"/>
                  </a:solidFill>
                </a:ln>
              </p:spPr>
            </p:sp>
            <p:sp>
              <p:nvSpPr>
                <p:cNvPr id="24" name="Freeform 24"/>
                <p:cNvSpPr/>
                <p:nvPr/>
              </p:nvSpPr>
              <p:spPr>
                <a:xfrm>
                  <a:off x="1533525" y="2545556"/>
                  <a:ext cx="20637" cy="123825"/>
                </a:xfrm>
                <a:custGeom>
                  <a:avLst/>
                  <a:gdLst/>
                  <a:ahLst/>
                  <a:cxnLst/>
                  <a:rect l="l" t="t" r="r" b="b"/>
                  <a:pathLst>
                    <a:path w="20637" h="123825">
                      <a:moveTo>
                        <a:pt x="0" y="0"/>
                      </a:moveTo>
                      <a:cubicBezTo>
                        <a:pt x="13755" y="3436"/>
                        <a:pt x="20637" y="24074"/>
                        <a:pt x="20637" y="61912"/>
                      </a:cubicBezTo>
                      <a:cubicBezTo>
                        <a:pt x="20637" y="99751"/>
                        <a:pt x="13755" y="120389"/>
                        <a:pt x="0" y="123825"/>
                      </a:cubicBezTo>
                    </a:path>
                  </a:pathLst>
                </a:custGeom>
                <a:noFill/>
                <a:ln w="19050">
                  <a:solidFill>
                    <a:srgbClr val="0052A6"/>
                  </a:solidFill>
                </a:ln>
              </p:spPr>
            </p:sp>
            <p:sp>
              <p:nvSpPr>
                <p:cNvPr id="25" name="Freeform 25"/>
                <p:cNvSpPr/>
                <p:nvPr/>
              </p:nvSpPr>
              <p:spPr>
                <a:xfrm>
                  <a:off x="1512888" y="2545556"/>
                  <a:ext cx="20637" cy="123825"/>
                </a:xfrm>
                <a:custGeom>
                  <a:avLst/>
                  <a:gdLst/>
                  <a:ahLst/>
                  <a:cxnLst/>
                  <a:rect l="l" t="t" r="r" b="b"/>
                  <a:pathLst>
                    <a:path w="20637" h="123825">
                      <a:moveTo>
                        <a:pt x="20637" y="0"/>
                      </a:moveTo>
                      <a:cubicBezTo>
                        <a:pt x="6883" y="3436"/>
                        <a:pt x="0" y="24074"/>
                        <a:pt x="0" y="61912"/>
                      </a:cubicBezTo>
                      <a:cubicBezTo>
                        <a:pt x="0" y="99751"/>
                        <a:pt x="6883" y="120389"/>
                        <a:pt x="20637" y="123825"/>
                      </a:cubicBezTo>
                    </a:path>
                  </a:pathLst>
                </a:custGeom>
                <a:noFill/>
                <a:ln w="19050">
                  <a:solidFill>
                    <a:srgbClr val="0052A6"/>
                  </a:solidFill>
                </a:ln>
              </p:spPr>
            </p:sp>
            <p:sp>
              <p:nvSpPr>
                <p:cNvPr id="26" name="Freeform 26"/>
                <p:cNvSpPr/>
                <p:nvPr/>
              </p:nvSpPr>
              <p:spPr>
                <a:xfrm>
                  <a:off x="1471612" y="2607469"/>
                  <a:ext cx="123825" cy="9525"/>
                </a:xfrm>
                <a:custGeom>
                  <a:avLst/>
                  <a:gdLst/>
                  <a:ahLst/>
                  <a:cxnLst/>
                  <a:rect l="l" t="t" r="r" b="b"/>
                  <a:pathLst>
                    <a:path w="123825" h="9525">
                      <a:moveTo>
                        <a:pt x="0" y="0"/>
                      </a:moveTo>
                      <a:lnTo>
                        <a:pt x="123825" y="0"/>
                      </a:lnTo>
                    </a:path>
                  </a:pathLst>
                </a:custGeom>
                <a:noFill/>
                <a:ln w="19050">
                  <a:solidFill>
                    <a:srgbClr val="0052A6"/>
                  </a:solidFill>
                </a:ln>
              </p:spPr>
            </p:sp>
            <p:sp>
              <p:nvSpPr>
                <p:cNvPr id="27" name="Freeform 27"/>
                <p:cNvSpPr/>
                <p:nvPr/>
              </p:nvSpPr>
              <p:spPr>
                <a:xfrm>
                  <a:off x="1440656" y="2720975"/>
                  <a:ext cx="72231" cy="9525"/>
                </a:xfrm>
                <a:custGeom>
                  <a:avLst/>
                  <a:gdLst/>
                  <a:ahLst/>
                  <a:cxnLst/>
                  <a:rect l="l" t="t" r="r" b="b"/>
                  <a:pathLst>
                    <a:path w="72231" h="9525">
                      <a:moveTo>
                        <a:pt x="0" y="0"/>
                      </a:moveTo>
                      <a:lnTo>
                        <a:pt x="72231" y="0"/>
                      </a:lnTo>
                    </a:path>
                  </a:pathLst>
                </a:custGeom>
                <a:noFill/>
                <a:ln w="19050">
                  <a:solidFill>
                    <a:srgbClr val="0052A6"/>
                  </a:solidFill>
                </a:ln>
              </p:spPr>
            </p:sp>
            <p:sp>
              <p:nvSpPr>
                <p:cNvPr id="28" name="Freeform 28"/>
                <p:cNvSpPr/>
                <p:nvPr/>
              </p:nvSpPr>
              <p:spPr>
                <a:xfrm>
                  <a:off x="1554162" y="2720975"/>
                  <a:ext cx="72231" cy="9525"/>
                </a:xfrm>
                <a:custGeom>
                  <a:avLst/>
                  <a:gdLst/>
                  <a:ahLst/>
                  <a:cxnLst/>
                  <a:rect l="l" t="t" r="r" b="b"/>
                  <a:pathLst>
                    <a:path w="72231" h="9525">
                      <a:moveTo>
                        <a:pt x="0" y="0"/>
                      </a:moveTo>
                      <a:lnTo>
                        <a:pt x="72231" y="0"/>
                      </a:lnTo>
                    </a:path>
                  </a:pathLst>
                </a:custGeom>
                <a:noFill/>
                <a:ln w="19050">
                  <a:solidFill>
                    <a:srgbClr val="0052A6"/>
                  </a:solidFill>
                </a:ln>
              </p:spPr>
            </p:sp>
            <p:sp>
              <p:nvSpPr>
                <p:cNvPr id="29" name="Freeform 29"/>
                <p:cNvSpPr/>
                <p:nvPr/>
              </p:nvSpPr>
              <p:spPr>
                <a:xfrm>
                  <a:off x="1512888" y="2700338"/>
                  <a:ext cx="41275" cy="41275"/>
                </a:xfrm>
                <a:custGeom>
                  <a:avLst/>
                  <a:gdLst/>
                  <a:ahLst/>
                  <a:cxnLst/>
                  <a:rect l="l" t="t" r="r" b="b"/>
                  <a:pathLst>
                    <a:path w="41275" h="41275">
                      <a:moveTo>
                        <a:pt x="0" y="20638"/>
                      </a:moveTo>
                      <a:cubicBezTo>
                        <a:pt x="0" y="32035"/>
                        <a:pt x="9240" y="41275"/>
                        <a:pt x="20637" y="41275"/>
                      </a:cubicBezTo>
                      <a:cubicBezTo>
                        <a:pt x="32035" y="41275"/>
                        <a:pt x="41275" y="32035"/>
                        <a:pt x="41275" y="20638"/>
                      </a:cubicBezTo>
                      <a:cubicBezTo>
                        <a:pt x="41275" y="9240"/>
                        <a:pt x="32035" y="0"/>
                        <a:pt x="20637" y="0"/>
                      </a:cubicBezTo>
                      <a:cubicBezTo>
                        <a:pt x="9240" y="0"/>
                        <a:pt x="0" y="9240"/>
                        <a:pt x="0" y="20638"/>
                      </a:cubicBezTo>
                    </a:path>
                  </a:pathLst>
                </a:custGeom>
                <a:noFill/>
                <a:ln w="19050">
                  <a:solidFill>
                    <a:srgbClr val="0052A6"/>
                  </a:solidFill>
                </a:ln>
              </p:spPr>
            </p:sp>
            <p:sp>
              <p:nvSpPr>
                <p:cNvPr id="30" name="Freeform 30"/>
                <p:cNvSpPr/>
                <p:nvPr/>
              </p:nvSpPr>
              <p:spPr>
                <a:xfrm>
                  <a:off x="1533525" y="2669381"/>
                  <a:ext cx="9525" cy="30956"/>
                </a:xfrm>
                <a:custGeom>
                  <a:avLst/>
                  <a:gdLst/>
                  <a:ahLst/>
                  <a:cxnLst/>
                  <a:rect l="l" t="t" r="r" b="b"/>
                  <a:pathLst>
                    <a:path w="9525" h="30956">
                      <a:moveTo>
                        <a:pt x="0" y="0"/>
                      </a:moveTo>
                      <a:lnTo>
                        <a:pt x="0" y="30956"/>
                      </a:lnTo>
                    </a:path>
                  </a:pathLst>
                </a:custGeom>
                <a:noFill/>
                <a:ln w="19050">
                  <a:solidFill>
                    <a:srgbClr val="0052A6"/>
                  </a:solidFill>
                </a:ln>
              </p:spPr>
            </p:sp>
          </p:grpSp>
          <p:sp>
            <p:nvSpPr>
              <p:cNvPr id="32" name="TextBox 32"/>
              <p:cNvSpPr txBox="1"/>
              <p:nvPr/>
            </p:nvSpPr>
            <p:spPr>
              <a:xfrm>
                <a:off x="1718310" y="2575560"/>
                <a:ext cx="702564"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本体网络</a:t>
                </a:r>
              </a:p>
            </p:txBody>
          </p:sp>
          <p:sp>
            <p:nvSpPr>
              <p:cNvPr id="33" name="TextBox 33"/>
              <p:cNvSpPr txBox="1"/>
              <p:nvPr/>
            </p:nvSpPr>
            <p:spPr>
              <a:xfrm>
                <a:off x="1721168" y="2828449"/>
                <a:ext cx="3171158"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业务概念/系统边界/数据实体/接口契约/规则语义关联</a:t>
                </a:r>
              </a:p>
            </p:txBody>
          </p:sp>
        </p:grpSp>
        <p:grpSp>
          <p:nvGrpSpPr>
            <p:cNvPr id="42" name="Group 42"/>
            <p:cNvGrpSpPr/>
            <p:nvPr/>
          </p:nvGrpSpPr>
          <p:grpSpPr>
            <a:xfrm>
              <a:off x="1047750" y="3295650"/>
              <a:ext cx="3487032" cy="492919"/>
              <a:chOff x="1047750" y="3295650"/>
              <a:chExt cx="3487032" cy="492919"/>
            </a:xfrm>
          </p:grpSpPr>
          <p:sp>
            <p:nvSpPr>
              <p:cNvPr id="35" name="Ellipse 35"/>
              <p:cNvSpPr/>
              <p:nvPr/>
            </p:nvSpPr>
            <p:spPr>
              <a:xfrm>
                <a:off x="1047750" y="3295650"/>
                <a:ext cx="266700" cy="266700"/>
              </a:xfrm>
              <a:prstGeom prst="ellipse">
                <a:avLst/>
              </a:prstGeom>
              <a:solidFill>
                <a:srgbClr val="518FEC"/>
              </a:solidFill>
              <a:ln>
                <a:noFill/>
              </a:ln>
            </p:spPr>
          </p:sp>
          <p:sp>
            <p:nvSpPr>
              <p:cNvPr id="36" name="TextBox 36"/>
              <p:cNvSpPr txBox="1"/>
              <p:nvPr/>
            </p:nvSpPr>
            <p:spPr>
              <a:xfrm>
                <a:off x="1135016" y="3388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grpSp>
            <p:nvGrpSpPr>
              <p:cNvPr id="39" name="Group 39"/>
              <p:cNvGrpSpPr/>
              <p:nvPr/>
            </p:nvGrpSpPr>
            <p:grpSpPr>
              <a:xfrm>
                <a:off x="1440656" y="3307556"/>
                <a:ext cx="185737" cy="185737"/>
                <a:chOff x="1440656" y="3307556"/>
                <a:chExt cx="185737" cy="185737"/>
              </a:xfrm>
            </p:grpSpPr>
            <p:sp>
              <p:nvSpPr>
                <p:cNvPr id="37" name="Freeform 37"/>
                <p:cNvSpPr/>
                <p:nvPr/>
              </p:nvSpPr>
              <p:spPr>
                <a:xfrm>
                  <a:off x="1440656" y="3307556"/>
                  <a:ext cx="144462" cy="144463"/>
                </a:xfrm>
                <a:custGeom>
                  <a:avLst/>
                  <a:gdLst/>
                  <a:ahLst/>
                  <a:cxnLst/>
                  <a:rect l="l" t="t" r="r" b="b"/>
                  <a:pathLst>
                    <a:path w="144462" h="144463">
                      <a:moveTo>
                        <a:pt x="0" y="72231"/>
                      </a:moveTo>
                      <a:cubicBezTo>
                        <a:pt x="0" y="112123"/>
                        <a:pt x="32339" y="144463"/>
                        <a:pt x="72231" y="144463"/>
                      </a:cubicBezTo>
                      <a:cubicBezTo>
                        <a:pt x="112123" y="144463"/>
                        <a:pt x="144462" y="112123"/>
                        <a:pt x="144462" y="72231"/>
                      </a:cubicBezTo>
                      <a:cubicBezTo>
                        <a:pt x="144462" y="32339"/>
                        <a:pt x="112123" y="0"/>
                        <a:pt x="72231" y="0"/>
                      </a:cubicBezTo>
                      <a:cubicBezTo>
                        <a:pt x="32339" y="0"/>
                        <a:pt x="0" y="32339"/>
                        <a:pt x="0" y="72231"/>
                      </a:cubicBezTo>
                    </a:path>
                  </a:pathLst>
                </a:custGeom>
                <a:noFill/>
                <a:ln w="19050">
                  <a:solidFill>
                    <a:srgbClr val="0052A6"/>
                  </a:solidFill>
                </a:ln>
              </p:spPr>
            </p:sp>
            <p:sp>
              <p:nvSpPr>
                <p:cNvPr id="38" name="Freeform 38"/>
                <p:cNvSpPr/>
                <p:nvPr/>
              </p:nvSpPr>
              <p:spPr>
                <a:xfrm>
                  <a:off x="1564481" y="3431381"/>
                  <a:ext cx="61912" cy="61912"/>
                </a:xfrm>
                <a:custGeom>
                  <a:avLst/>
                  <a:gdLst/>
                  <a:ahLst/>
                  <a:cxnLst/>
                  <a:rect l="l" t="t" r="r" b="b"/>
                  <a:pathLst>
                    <a:path w="61912" h="61912">
                      <a:moveTo>
                        <a:pt x="61912" y="61912"/>
                      </a:moveTo>
                      <a:lnTo>
                        <a:pt x="0" y="0"/>
                      </a:lnTo>
                    </a:path>
                  </a:pathLst>
                </a:custGeom>
                <a:noFill/>
                <a:ln w="19050">
                  <a:solidFill>
                    <a:srgbClr val="0052A6"/>
                  </a:solidFill>
                </a:ln>
              </p:spPr>
            </p:sp>
          </p:grpSp>
          <p:sp>
            <p:nvSpPr>
              <p:cNvPr id="40" name="TextBox 40"/>
              <p:cNvSpPr txBox="1"/>
              <p:nvPr/>
            </p:nvSpPr>
            <p:spPr>
              <a:xfrm>
                <a:off x="1718310" y="3337560"/>
                <a:ext cx="1038606"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知识联通底座</a:t>
                </a:r>
              </a:p>
            </p:txBody>
          </p:sp>
          <p:sp>
            <p:nvSpPr>
              <p:cNvPr id="41" name="TextBox 41"/>
              <p:cNvSpPr txBox="1"/>
              <p:nvPr/>
            </p:nvSpPr>
            <p:spPr>
              <a:xfrm>
                <a:off x="1721168" y="3590449"/>
                <a:ext cx="2813614"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本体网络 + 语义检索 + 向量检索 + 代码引用关系</a:t>
                </a:r>
              </a:p>
            </p:txBody>
          </p:sp>
        </p:grpSp>
        <p:grpSp>
          <p:nvGrpSpPr>
            <p:cNvPr id="54" name="Group 54"/>
            <p:cNvGrpSpPr/>
            <p:nvPr/>
          </p:nvGrpSpPr>
          <p:grpSpPr>
            <a:xfrm>
              <a:off x="1047750" y="4057650"/>
              <a:ext cx="3454528" cy="492919"/>
              <a:chOff x="1047750" y="4057650"/>
              <a:chExt cx="3454528" cy="492919"/>
            </a:xfrm>
          </p:grpSpPr>
          <p:sp>
            <p:nvSpPr>
              <p:cNvPr id="43" name="Ellipse 43"/>
              <p:cNvSpPr/>
              <p:nvPr/>
            </p:nvSpPr>
            <p:spPr>
              <a:xfrm>
                <a:off x="1047750" y="4057650"/>
                <a:ext cx="266700" cy="266700"/>
              </a:xfrm>
              <a:prstGeom prst="ellipse">
                <a:avLst/>
              </a:prstGeom>
              <a:solidFill>
                <a:srgbClr val="518FEC"/>
              </a:solidFill>
              <a:ln>
                <a:noFill/>
              </a:ln>
            </p:spPr>
          </p:sp>
          <p:sp>
            <p:nvSpPr>
              <p:cNvPr id="44" name="TextBox 44"/>
              <p:cNvSpPr txBox="1"/>
              <p:nvPr/>
            </p:nvSpPr>
            <p:spPr>
              <a:xfrm>
                <a:off x="1135016" y="4150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grpSp>
            <p:nvGrpSpPr>
              <p:cNvPr id="51" name="Group 51"/>
              <p:cNvGrpSpPr/>
              <p:nvPr/>
            </p:nvGrpSpPr>
            <p:grpSpPr>
              <a:xfrm>
                <a:off x="1440656" y="4069556"/>
                <a:ext cx="185738" cy="185738"/>
                <a:chOff x="1440656" y="4069556"/>
                <a:chExt cx="185738" cy="185738"/>
              </a:xfrm>
            </p:grpSpPr>
            <p:sp>
              <p:nvSpPr>
                <p:cNvPr id="45" name="Freeform 45"/>
                <p:cNvSpPr/>
                <p:nvPr/>
              </p:nvSpPr>
              <p:spPr>
                <a:xfrm>
                  <a:off x="1533525" y="4172744"/>
                  <a:ext cx="72231" cy="82550"/>
                </a:xfrm>
                <a:custGeom>
                  <a:avLst/>
                  <a:gdLst/>
                  <a:ahLst/>
                  <a:cxnLst/>
                  <a:rect l="l" t="t" r="r" b="b"/>
                  <a:pathLst>
                    <a:path w="72231" h="82550">
                      <a:moveTo>
                        <a:pt x="36116" y="0"/>
                      </a:moveTo>
                      <a:cubicBezTo>
                        <a:pt x="16170" y="0"/>
                        <a:pt x="0" y="16170"/>
                        <a:pt x="0" y="36116"/>
                      </a:cubicBezTo>
                      <a:lnTo>
                        <a:pt x="0" y="46434"/>
                      </a:lnTo>
                      <a:cubicBezTo>
                        <a:pt x="0" y="66380"/>
                        <a:pt x="16170" y="82550"/>
                        <a:pt x="36116" y="82550"/>
                      </a:cubicBezTo>
                      <a:cubicBezTo>
                        <a:pt x="56062" y="82550"/>
                        <a:pt x="72231" y="66380"/>
                        <a:pt x="72231" y="46434"/>
                      </a:cubicBezTo>
                      <a:lnTo>
                        <a:pt x="72231" y="27861"/>
                      </a:lnTo>
                    </a:path>
                  </a:pathLst>
                </a:custGeom>
                <a:noFill/>
                <a:ln w="19050">
                  <a:solidFill>
                    <a:srgbClr val="0052A6"/>
                  </a:solidFill>
                </a:ln>
              </p:spPr>
            </p:sp>
            <p:sp>
              <p:nvSpPr>
                <p:cNvPr id="46" name="Freeform 46"/>
                <p:cNvSpPr/>
                <p:nvPr/>
              </p:nvSpPr>
              <p:spPr>
                <a:xfrm>
                  <a:off x="1461294" y="4172744"/>
                  <a:ext cx="72231" cy="82550"/>
                </a:xfrm>
                <a:custGeom>
                  <a:avLst/>
                  <a:gdLst/>
                  <a:ahLst/>
                  <a:cxnLst/>
                  <a:rect l="l" t="t" r="r" b="b"/>
                  <a:pathLst>
                    <a:path w="72231" h="82550">
                      <a:moveTo>
                        <a:pt x="36116" y="0"/>
                      </a:moveTo>
                      <a:cubicBezTo>
                        <a:pt x="56062" y="0"/>
                        <a:pt x="72231" y="16170"/>
                        <a:pt x="72231" y="36116"/>
                      </a:cubicBezTo>
                      <a:lnTo>
                        <a:pt x="72231" y="46434"/>
                      </a:lnTo>
                      <a:cubicBezTo>
                        <a:pt x="72231" y="66380"/>
                        <a:pt x="56062" y="82550"/>
                        <a:pt x="36116" y="82550"/>
                      </a:cubicBezTo>
                      <a:cubicBezTo>
                        <a:pt x="16170" y="82550"/>
                        <a:pt x="0" y="66380"/>
                        <a:pt x="0" y="46434"/>
                      </a:cubicBezTo>
                      <a:lnTo>
                        <a:pt x="0" y="27861"/>
                      </a:lnTo>
                    </a:path>
                  </a:pathLst>
                </a:custGeom>
                <a:noFill/>
                <a:ln w="19050">
                  <a:solidFill>
                    <a:srgbClr val="0052A6"/>
                  </a:solidFill>
                </a:ln>
              </p:spPr>
            </p:sp>
            <p:sp>
              <p:nvSpPr>
                <p:cNvPr id="47" name="Freeform 47"/>
                <p:cNvSpPr/>
                <p:nvPr/>
              </p:nvSpPr>
              <p:spPr>
                <a:xfrm>
                  <a:off x="1585119" y="4131469"/>
                  <a:ext cx="41275" cy="72231"/>
                </a:xfrm>
                <a:custGeom>
                  <a:avLst/>
                  <a:gdLst/>
                  <a:ahLst/>
                  <a:cxnLst/>
                  <a:rect l="l" t="t" r="r" b="b"/>
                  <a:pathLst>
                    <a:path w="41275" h="72231">
                      <a:moveTo>
                        <a:pt x="5159" y="72231"/>
                      </a:moveTo>
                      <a:cubicBezTo>
                        <a:pt x="25105" y="72231"/>
                        <a:pt x="41275" y="56062"/>
                        <a:pt x="41275" y="36116"/>
                      </a:cubicBezTo>
                      <a:cubicBezTo>
                        <a:pt x="41275" y="16170"/>
                        <a:pt x="25105" y="0"/>
                        <a:pt x="5159" y="0"/>
                      </a:cubicBezTo>
                      <a:lnTo>
                        <a:pt x="0" y="0"/>
                      </a:lnTo>
                    </a:path>
                  </a:pathLst>
                </a:custGeom>
                <a:noFill/>
                <a:ln w="19050">
                  <a:solidFill>
                    <a:srgbClr val="0052A6"/>
                  </a:solidFill>
                </a:ln>
              </p:spPr>
            </p:sp>
            <p:sp>
              <p:nvSpPr>
                <p:cNvPr id="48" name="Freeform 48"/>
                <p:cNvSpPr/>
                <p:nvPr/>
              </p:nvSpPr>
              <p:spPr>
                <a:xfrm>
                  <a:off x="1533525" y="4069556"/>
                  <a:ext cx="72231" cy="65008"/>
                </a:xfrm>
                <a:custGeom>
                  <a:avLst/>
                  <a:gdLst/>
                  <a:ahLst/>
                  <a:cxnLst/>
                  <a:rect l="l" t="t" r="r" b="b"/>
                  <a:pathLst>
                    <a:path w="72231" h="65008">
                      <a:moveTo>
                        <a:pt x="72231" y="65008"/>
                      </a:moveTo>
                      <a:lnTo>
                        <a:pt x="72231" y="36116"/>
                      </a:lnTo>
                      <a:cubicBezTo>
                        <a:pt x="72231" y="16170"/>
                        <a:pt x="56062" y="0"/>
                        <a:pt x="36116" y="0"/>
                      </a:cubicBezTo>
                      <a:cubicBezTo>
                        <a:pt x="16170" y="0"/>
                        <a:pt x="0" y="16170"/>
                        <a:pt x="0" y="36116"/>
                      </a:cubicBezTo>
                    </a:path>
                  </a:pathLst>
                </a:custGeom>
                <a:noFill/>
                <a:ln w="19050">
                  <a:solidFill>
                    <a:srgbClr val="0052A6"/>
                  </a:solidFill>
                </a:ln>
              </p:spPr>
            </p:sp>
            <p:sp>
              <p:nvSpPr>
                <p:cNvPr id="49" name="Freeform 49"/>
                <p:cNvSpPr/>
                <p:nvPr/>
              </p:nvSpPr>
              <p:spPr>
                <a:xfrm>
                  <a:off x="1440656" y="4131469"/>
                  <a:ext cx="41275" cy="72231"/>
                </a:xfrm>
                <a:custGeom>
                  <a:avLst/>
                  <a:gdLst/>
                  <a:ahLst/>
                  <a:cxnLst/>
                  <a:rect l="l" t="t" r="r" b="b"/>
                  <a:pathLst>
                    <a:path w="41275" h="72231">
                      <a:moveTo>
                        <a:pt x="36116" y="72231"/>
                      </a:moveTo>
                      <a:cubicBezTo>
                        <a:pt x="16170" y="72231"/>
                        <a:pt x="0" y="56062"/>
                        <a:pt x="0" y="36116"/>
                      </a:cubicBezTo>
                      <a:cubicBezTo>
                        <a:pt x="0" y="16170"/>
                        <a:pt x="16170" y="0"/>
                        <a:pt x="36116" y="0"/>
                      </a:cubicBezTo>
                      <a:lnTo>
                        <a:pt x="41275" y="0"/>
                      </a:lnTo>
                    </a:path>
                  </a:pathLst>
                </a:custGeom>
                <a:noFill/>
                <a:ln w="19050">
                  <a:solidFill>
                    <a:srgbClr val="0052A6"/>
                  </a:solidFill>
                </a:ln>
              </p:spPr>
            </p:sp>
            <p:sp>
              <p:nvSpPr>
                <p:cNvPr id="50" name="Freeform 50"/>
                <p:cNvSpPr/>
                <p:nvPr/>
              </p:nvSpPr>
              <p:spPr>
                <a:xfrm>
                  <a:off x="1461294" y="4069556"/>
                  <a:ext cx="72231" cy="139303"/>
                </a:xfrm>
                <a:custGeom>
                  <a:avLst/>
                  <a:gdLst/>
                  <a:ahLst/>
                  <a:cxnLst/>
                  <a:rect l="l" t="t" r="r" b="b"/>
                  <a:pathLst>
                    <a:path w="72231" h="139303">
                      <a:moveTo>
                        <a:pt x="0" y="65008"/>
                      </a:moveTo>
                      <a:lnTo>
                        <a:pt x="0" y="36116"/>
                      </a:lnTo>
                      <a:cubicBezTo>
                        <a:pt x="0" y="16170"/>
                        <a:pt x="16170" y="0"/>
                        <a:pt x="36116" y="0"/>
                      </a:cubicBezTo>
                      <a:cubicBezTo>
                        <a:pt x="56062" y="0"/>
                        <a:pt x="72231" y="16170"/>
                        <a:pt x="72231" y="36116"/>
                      </a:cubicBezTo>
                      <a:lnTo>
                        <a:pt x="72231" y="139303"/>
                      </a:lnTo>
                    </a:path>
                  </a:pathLst>
                </a:custGeom>
                <a:noFill/>
                <a:ln w="19050">
                  <a:solidFill>
                    <a:srgbClr val="0052A6"/>
                  </a:solidFill>
                </a:ln>
              </p:spPr>
            </p:sp>
          </p:grpSp>
          <p:sp>
            <p:nvSpPr>
              <p:cNvPr id="52" name="TextBox 52"/>
              <p:cNvSpPr txBox="1"/>
              <p:nvPr/>
            </p:nvSpPr>
            <p:spPr>
              <a:xfrm>
                <a:off x="1718310" y="4099560"/>
                <a:ext cx="878986"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Agent 记忆</a:t>
                </a:r>
              </a:p>
            </p:txBody>
          </p:sp>
          <p:sp>
            <p:nvSpPr>
              <p:cNvPr id="53" name="TextBox 53"/>
              <p:cNvSpPr txBox="1"/>
              <p:nvPr/>
            </p:nvSpPr>
            <p:spPr>
              <a:xfrm>
                <a:off x="1721168" y="4352449"/>
                <a:ext cx="2781110"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任务/工具/文档/失败/纠偏过程数据结构化保存</a:t>
                </a:r>
              </a:p>
            </p:txBody>
          </p:sp>
        </p:grpSp>
        <p:grpSp>
          <p:nvGrpSpPr>
            <p:cNvPr id="62" name="Group 62"/>
            <p:cNvGrpSpPr/>
            <p:nvPr/>
          </p:nvGrpSpPr>
          <p:grpSpPr>
            <a:xfrm>
              <a:off x="1047750" y="4819650"/>
              <a:ext cx="3877080" cy="492919"/>
              <a:chOff x="1047750" y="4819650"/>
              <a:chExt cx="3877080" cy="492919"/>
            </a:xfrm>
          </p:grpSpPr>
          <p:sp>
            <p:nvSpPr>
              <p:cNvPr id="55" name="Ellipse 55"/>
              <p:cNvSpPr/>
              <p:nvPr/>
            </p:nvSpPr>
            <p:spPr>
              <a:xfrm>
                <a:off x="1047750" y="4819650"/>
                <a:ext cx="266700" cy="266700"/>
              </a:xfrm>
              <a:prstGeom prst="ellipse">
                <a:avLst/>
              </a:prstGeom>
              <a:solidFill>
                <a:srgbClr val="518FEC"/>
              </a:solidFill>
              <a:ln>
                <a:noFill/>
              </a:ln>
            </p:spPr>
          </p:sp>
          <p:sp>
            <p:nvSpPr>
              <p:cNvPr id="56" name="TextBox 56"/>
              <p:cNvSpPr txBox="1"/>
              <p:nvPr/>
            </p:nvSpPr>
            <p:spPr>
              <a:xfrm>
                <a:off x="1135016" y="4912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grpSp>
            <p:nvGrpSpPr>
              <p:cNvPr id="59" name="Group 59"/>
              <p:cNvGrpSpPr/>
              <p:nvPr/>
            </p:nvGrpSpPr>
            <p:grpSpPr>
              <a:xfrm>
                <a:off x="1450975" y="4837894"/>
                <a:ext cx="165100" cy="173063"/>
                <a:chOff x="1450975" y="4837894"/>
                <a:chExt cx="165100" cy="173063"/>
              </a:xfrm>
            </p:grpSpPr>
            <p:sp>
              <p:nvSpPr>
                <p:cNvPr id="57" name="Freeform 57"/>
                <p:cNvSpPr/>
                <p:nvPr/>
              </p:nvSpPr>
              <p:spPr>
                <a:xfrm>
                  <a:off x="1450975" y="4837894"/>
                  <a:ext cx="165100" cy="76213"/>
                </a:xfrm>
                <a:custGeom>
                  <a:avLst/>
                  <a:gdLst/>
                  <a:ahLst/>
                  <a:cxnLst/>
                  <a:rect l="l" t="t" r="r" b="b"/>
                  <a:pathLst>
                    <a:path w="165100" h="76213">
                      <a:moveTo>
                        <a:pt x="165100" y="76213"/>
                      </a:moveTo>
                      <a:cubicBezTo>
                        <a:pt x="159913" y="38885"/>
                        <a:pt x="130386" y="9646"/>
                        <a:pt x="93010" y="4823"/>
                      </a:cubicBezTo>
                      <a:cubicBezTo>
                        <a:pt x="55633" y="0"/>
                        <a:pt x="19652" y="20787"/>
                        <a:pt x="5159" y="55575"/>
                      </a:cubicBezTo>
                      <a:moveTo>
                        <a:pt x="0" y="14300"/>
                      </a:moveTo>
                      <a:lnTo>
                        <a:pt x="0" y="55575"/>
                      </a:lnTo>
                      <a:lnTo>
                        <a:pt x="41275" y="55575"/>
                      </a:lnTo>
                    </a:path>
                  </a:pathLst>
                </a:custGeom>
                <a:noFill/>
                <a:ln w="19050">
                  <a:solidFill>
                    <a:srgbClr val="0052A6"/>
                  </a:solidFill>
                </a:ln>
              </p:spPr>
            </p:sp>
            <p:sp>
              <p:nvSpPr>
                <p:cNvPr id="58" name="Freeform 58"/>
                <p:cNvSpPr/>
                <p:nvPr/>
              </p:nvSpPr>
              <p:spPr>
                <a:xfrm>
                  <a:off x="1450975" y="4934744"/>
                  <a:ext cx="165100" cy="76213"/>
                </a:xfrm>
                <a:custGeom>
                  <a:avLst/>
                  <a:gdLst/>
                  <a:ahLst/>
                  <a:cxnLst/>
                  <a:rect l="l" t="t" r="r" b="b"/>
                  <a:pathLst>
                    <a:path w="165100" h="76213">
                      <a:moveTo>
                        <a:pt x="0" y="0"/>
                      </a:moveTo>
                      <a:cubicBezTo>
                        <a:pt x="5187" y="37328"/>
                        <a:pt x="34714" y="66567"/>
                        <a:pt x="72090" y="71390"/>
                      </a:cubicBezTo>
                      <a:cubicBezTo>
                        <a:pt x="109467" y="76213"/>
                        <a:pt x="145448" y="55426"/>
                        <a:pt x="159941" y="20637"/>
                      </a:cubicBezTo>
                      <a:moveTo>
                        <a:pt x="165100" y="61912"/>
                      </a:moveTo>
                      <a:lnTo>
                        <a:pt x="165100" y="20637"/>
                      </a:lnTo>
                      <a:lnTo>
                        <a:pt x="123825" y="20637"/>
                      </a:lnTo>
                    </a:path>
                  </a:pathLst>
                </a:custGeom>
                <a:noFill/>
                <a:ln w="19050">
                  <a:solidFill>
                    <a:srgbClr val="0052A6"/>
                  </a:solidFill>
                </a:ln>
              </p:spPr>
            </p:sp>
          </p:grpSp>
          <p:sp>
            <p:nvSpPr>
              <p:cNvPr id="60" name="TextBox 60"/>
              <p:cNvSpPr txBox="1"/>
              <p:nvPr/>
            </p:nvSpPr>
            <p:spPr>
              <a:xfrm>
                <a:off x="1718310" y="4861560"/>
                <a:ext cx="1038606"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经验进化底座</a:t>
                </a:r>
              </a:p>
            </p:txBody>
          </p:sp>
          <p:sp>
            <p:nvSpPr>
              <p:cNvPr id="61" name="TextBox 61"/>
              <p:cNvSpPr txBox="1"/>
              <p:nvPr/>
            </p:nvSpPr>
            <p:spPr>
              <a:xfrm>
                <a:off x="1721168" y="5114449"/>
                <a:ext cx="32036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Prompt/Skill/规则/最佳实践 版本化、评测、持续改进</a:t>
                </a:r>
              </a:p>
            </p:txBody>
          </p:sp>
        </p:grpSp>
      </p:grpSp>
      <p:grpSp>
        <p:nvGrpSpPr>
          <p:cNvPr id="83" name="Group 83"/>
          <p:cNvGrpSpPr/>
          <p:nvPr/>
        </p:nvGrpSpPr>
        <p:grpSpPr>
          <a:xfrm>
            <a:off x="7048500" y="1524000"/>
            <a:ext cx="4381500" cy="4381500"/>
            <a:chOff x="7048500" y="1524000"/>
            <a:chExt cx="4381500" cy="4381500"/>
          </a:xfrm>
        </p:grpSpPr>
        <p:sp>
          <p:nvSpPr>
            <p:cNvPr id="64" name="Rectangle 64"/>
            <p:cNvSpPr/>
            <p:nvPr/>
          </p:nvSpPr>
          <p:spPr>
            <a:xfrm>
              <a:off x="7048500" y="1524000"/>
              <a:ext cx="4381500" cy="4381500"/>
            </a:xfrm>
            <a:prstGeom prst="roundRect">
              <a:avLst>
                <a:gd name="adj" fmla="val 3478"/>
              </a:avLst>
            </a:prstGeom>
            <a:solidFill>
              <a:srgbClr val="518FEC"/>
            </a:solidFill>
            <a:ln>
              <a:noFill/>
            </a:ln>
          </p:spPr>
        </p:sp>
        <p:grpSp>
          <p:nvGrpSpPr>
            <p:cNvPr id="67" name="Group 67"/>
            <p:cNvGrpSpPr/>
            <p:nvPr/>
          </p:nvGrpSpPr>
          <p:grpSpPr>
            <a:xfrm>
              <a:off x="7353300" y="1841500"/>
              <a:ext cx="228600" cy="127000"/>
              <a:chOff x="7353300" y="1841500"/>
              <a:chExt cx="228600" cy="127000"/>
            </a:xfrm>
          </p:grpSpPr>
          <p:sp>
            <p:nvSpPr>
              <p:cNvPr id="65" name="Freeform 65"/>
              <p:cNvSpPr/>
              <p:nvPr/>
            </p:nvSpPr>
            <p:spPr>
              <a:xfrm>
                <a:off x="7353300" y="1841500"/>
                <a:ext cx="228600" cy="127000"/>
              </a:xfrm>
              <a:custGeom>
                <a:avLst/>
                <a:gdLst/>
                <a:ahLst/>
                <a:cxnLst/>
                <a:rect l="l" t="t" r="r" b="b"/>
                <a:pathLst>
                  <a:path w="228600" h="127000">
                    <a:moveTo>
                      <a:pt x="0" y="127000"/>
                    </a:moveTo>
                    <a:lnTo>
                      <a:pt x="76200" y="50800"/>
                    </a:lnTo>
                    <a:lnTo>
                      <a:pt x="127000" y="101600"/>
                    </a:lnTo>
                    <a:lnTo>
                      <a:pt x="228600" y="0"/>
                    </a:lnTo>
                  </a:path>
                </a:pathLst>
              </a:custGeom>
              <a:noFill/>
              <a:ln w="19050">
                <a:solidFill>
                  <a:srgbClr val="FFFFFF"/>
                </a:solidFill>
              </a:ln>
            </p:spPr>
          </p:sp>
          <p:sp>
            <p:nvSpPr>
              <p:cNvPr id="66" name="Freeform 66"/>
              <p:cNvSpPr/>
              <p:nvPr/>
            </p:nvSpPr>
            <p:spPr>
              <a:xfrm>
                <a:off x="7493000" y="1841500"/>
                <a:ext cx="88900" cy="88900"/>
              </a:xfrm>
              <a:custGeom>
                <a:avLst/>
                <a:gdLst/>
                <a:ahLst/>
                <a:cxnLst/>
                <a:rect l="l" t="t" r="r" b="b"/>
                <a:pathLst>
                  <a:path w="88900" h="88900">
                    <a:moveTo>
                      <a:pt x="0" y="0"/>
                    </a:moveTo>
                    <a:lnTo>
                      <a:pt x="88900" y="0"/>
                    </a:lnTo>
                    <a:lnTo>
                      <a:pt x="88900" y="88900"/>
                    </a:lnTo>
                  </a:path>
                </a:pathLst>
              </a:custGeom>
              <a:noFill/>
              <a:ln w="19050">
                <a:solidFill>
                  <a:srgbClr val="FFFFFF"/>
                </a:solidFill>
              </a:ln>
            </p:spPr>
          </p:sp>
        </p:grpSp>
        <p:sp>
          <p:nvSpPr>
            <p:cNvPr id="68" name="TextBox 68"/>
            <p:cNvSpPr txBox="1"/>
            <p:nvPr/>
          </p:nvSpPr>
          <p:spPr>
            <a:xfrm>
              <a:off x="7696200" y="1819275"/>
              <a:ext cx="45815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价值</a:t>
              </a:r>
            </a:p>
          </p:txBody>
        </p:sp>
        <p:sp>
          <p:nvSpPr>
            <p:cNvPr id="69" name="Line 69"/>
            <p:cNvSpPr/>
            <p:nvPr/>
          </p:nvSpPr>
          <p:spPr>
            <a:xfrm>
              <a:off x="7315200" y="2209800"/>
              <a:ext cx="3848100" cy="9525"/>
            </a:xfrm>
            <a:custGeom>
              <a:avLst/>
              <a:gdLst/>
              <a:ahLst/>
              <a:cxnLst/>
              <a:rect l="l" t="t" r="r" b="b"/>
              <a:pathLst>
                <a:path w="3848100" h="9525">
                  <a:moveTo>
                    <a:pt x="0" y="0"/>
                  </a:moveTo>
                  <a:lnTo>
                    <a:pt x="3848100" y="0"/>
                  </a:lnTo>
                </a:path>
              </a:pathLst>
            </a:custGeom>
            <a:noFill/>
            <a:ln w="9525">
              <a:solidFill>
                <a:srgbClr val="FFFFFF">
                  <a:alpha val="30000"/>
                </a:srgbClr>
              </a:solidFill>
            </a:ln>
          </p:spPr>
        </p:sp>
        <p:grpSp>
          <p:nvGrpSpPr>
            <p:cNvPr id="73" name="Group 73"/>
            <p:cNvGrpSpPr/>
            <p:nvPr/>
          </p:nvGrpSpPr>
          <p:grpSpPr>
            <a:xfrm>
              <a:off x="7284720" y="2598420"/>
              <a:ext cx="2127618" cy="859155"/>
              <a:chOff x="7284720" y="2598420"/>
              <a:chExt cx="2127618" cy="859155"/>
            </a:xfrm>
          </p:grpSpPr>
          <p:sp>
            <p:nvSpPr>
              <p:cNvPr id="70" name="TextBox 70"/>
              <p:cNvSpPr txBox="1"/>
              <p:nvPr/>
            </p:nvSpPr>
            <p:spPr>
              <a:xfrm>
                <a:off x="7284720" y="2598420"/>
                <a:ext cx="2127618"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分钟级 → 秒级</a:t>
                </a:r>
              </a:p>
            </p:txBody>
          </p:sp>
          <p:sp>
            <p:nvSpPr>
              <p:cNvPr id="71" name="TextBox 71"/>
              <p:cNvSpPr txBox="1"/>
              <p:nvPr/>
            </p:nvSpPr>
            <p:spPr>
              <a:xfrm>
                <a:off x="7299960" y="3032760"/>
                <a:ext cx="1150620"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上下文获取时效</a:t>
                </a:r>
              </a:p>
            </p:txBody>
          </p:sp>
          <p:sp>
            <p:nvSpPr>
              <p:cNvPr id="72" name="TextBox 72"/>
              <p:cNvSpPr txBox="1"/>
              <p:nvPr/>
            </p:nvSpPr>
            <p:spPr>
              <a:xfrm>
                <a:off x="7303770" y="3274695"/>
                <a:ext cx="394906"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a:ea typeface="Microsoft YaHei"/>
                    <a:cs typeface="Arial"/>
                  </a:rPr>
                  <a:t>(预估)</a:t>
                </a:r>
              </a:p>
            </p:txBody>
          </p:sp>
        </p:grpSp>
        <p:sp>
          <p:nvSpPr>
            <p:cNvPr id="74" name="Line 74"/>
            <p:cNvSpPr/>
            <p:nvPr/>
          </p:nvSpPr>
          <p:spPr>
            <a:xfrm>
              <a:off x="7315200" y="3619500"/>
              <a:ext cx="3848100" cy="9525"/>
            </a:xfrm>
            <a:custGeom>
              <a:avLst/>
              <a:gdLst/>
              <a:ahLst/>
              <a:cxnLst/>
              <a:rect l="l" t="t" r="r" b="b"/>
              <a:pathLst>
                <a:path w="3848100" h="9525">
                  <a:moveTo>
                    <a:pt x="0" y="0"/>
                  </a:moveTo>
                  <a:lnTo>
                    <a:pt x="3848100" y="0"/>
                  </a:lnTo>
                </a:path>
              </a:pathLst>
            </a:custGeom>
            <a:noFill/>
            <a:ln w="9525">
              <a:solidFill>
                <a:srgbClr val="FFFFFF">
                  <a:alpha val="20000"/>
                </a:srgbClr>
              </a:solidFill>
            </a:ln>
          </p:spPr>
        </p:sp>
        <p:grpSp>
          <p:nvGrpSpPr>
            <p:cNvPr id="78" name="Group 78"/>
            <p:cNvGrpSpPr/>
            <p:nvPr/>
          </p:nvGrpSpPr>
          <p:grpSpPr>
            <a:xfrm>
              <a:off x="7277100" y="3867150"/>
              <a:ext cx="1315355" cy="923925"/>
              <a:chOff x="7277100" y="3867150"/>
              <a:chExt cx="1315355" cy="923925"/>
            </a:xfrm>
          </p:grpSpPr>
          <p:sp>
            <p:nvSpPr>
              <p:cNvPr id="75" name="TextBox 75"/>
              <p:cNvSpPr txBox="1"/>
              <p:nvPr/>
            </p:nvSpPr>
            <p:spPr>
              <a:xfrm>
                <a:off x="7277100" y="3867150"/>
                <a:ext cx="1315355"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↑50%+</a:t>
                </a:r>
              </a:p>
            </p:txBody>
          </p:sp>
          <p:sp>
            <p:nvSpPr>
              <p:cNvPr id="76" name="TextBox 76"/>
              <p:cNvSpPr txBox="1"/>
              <p:nvPr/>
            </p:nvSpPr>
            <p:spPr>
              <a:xfrm>
                <a:off x="7299960" y="4366260"/>
                <a:ext cx="1238631"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知识/资产复用率</a:t>
                </a:r>
              </a:p>
            </p:txBody>
          </p:sp>
          <p:sp>
            <p:nvSpPr>
              <p:cNvPr id="77" name="TextBox 77"/>
              <p:cNvSpPr txBox="1"/>
              <p:nvPr/>
            </p:nvSpPr>
            <p:spPr>
              <a:xfrm>
                <a:off x="7303770" y="4608195"/>
                <a:ext cx="394906" cy="182880"/>
              </a:xfrm>
              <a:prstGeom prst="rect">
                <a:avLst/>
              </a:prstGeom>
              <a:noFill/>
              <a:ln>
                <a:noFill/>
              </a:ln>
            </p:spPr>
            <p:txBody>
              <a:bodyPr wrap="none" lIns="0" tIns="0" rIns="0" bIns="0" anchor="t" anchorCtr="0">
                <a:spAutoFit/>
              </a:bodyPr>
              <a:lstStyle/>
              <a:p>
                <a:pPr algn="l"/>
                <a:r>
                  <a:rPr lang="zh-CN" sz="900" dirty="0">
                    <a:solidFill>
                      <a:srgbClr val="B8C7E0"/>
                    </a:solidFill>
                    <a:latin typeface="Arial"/>
                    <a:ea typeface="Microsoft YaHei"/>
                    <a:cs typeface="Arial"/>
                  </a:rPr>
                  <a:t>(预估)</a:t>
                </a:r>
              </a:p>
            </p:txBody>
          </p:sp>
        </p:grpSp>
        <p:sp>
          <p:nvSpPr>
            <p:cNvPr id="79" name="Line 79"/>
            <p:cNvSpPr/>
            <p:nvPr/>
          </p:nvSpPr>
          <p:spPr>
            <a:xfrm>
              <a:off x="7315200" y="4953000"/>
              <a:ext cx="3848100" cy="9525"/>
            </a:xfrm>
            <a:custGeom>
              <a:avLst/>
              <a:gdLst/>
              <a:ahLst/>
              <a:cxnLst/>
              <a:rect l="l" t="t" r="r" b="b"/>
              <a:pathLst>
                <a:path w="3848100" h="9525">
                  <a:moveTo>
                    <a:pt x="0" y="0"/>
                  </a:moveTo>
                  <a:lnTo>
                    <a:pt x="3848100" y="0"/>
                  </a:lnTo>
                </a:path>
              </a:pathLst>
            </a:custGeom>
            <a:noFill/>
            <a:ln w="9525">
              <a:solidFill>
                <a:srgbClr val="FFFFFF">
                  <a:alpha val="20000"/>
                </a:srgbClr>
              </a:solidFill>
            </a:ln>
          </p:spPr>
        </p:sp>
        <p:grpSp>
          <p:nvGrpSpPr>
            <p:cNvPr id="82" name="Group 82"/>
            <p:cNvGrpSpPr/>
            <p:nvPr/>
          </p:nvGrpSpPr>
          <p:grpSpPr>
            <a:xfrm>
              <a:off x="7298055" y="5302568"/>
              <a:ext cx="2004727" cy="474344"/>
              <a:chOff x="7298055" y="5302568"/>
              <a:chExt cx="2004727" cy="474344"/>
            </a:xfrm>
          </p:grpSpPr>
          <p:sp>
            <p:nvSpPr>
              <p:cNvPr id="80" name="TextBox 80"/>
              <p:cNvSpPr txBox="1"/>
              <p:nvPr/>
            </p:nvSpPr>
            <p:spPr>
              <a:xfrm>
                <a:off x="7298055" y="5302568"/>
                <a:ext cx="136690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Agent 越用越准</a:t>
                </a:r>
              </a:p>
            </p:txBody>
          </p:sp>
          <p:sp>
            <p:nvSpPr>
              <p:cNvPr id="81" name="TextBox 81"/>
              <p:cNvSpPr txBox="1"/>
              <p:nvPr/>
            </p:nvSpPr>
            <p:spPr>
              <a:xfrm>
                <a:off x="7301865" y="5563552"/>
                <a:ext cx="2000917" cy="213360"/>
              </a:xfrm>
              <a:prstGeom prst="rect">
                <a:avLst/>
              </a:prstGeom>
              <a:noFill/>
              <a:ln>
                <a:noFill/>
              </a:ln>
            </p:spPr>
            <p:txBody>
              <a:bodyPr wrap="none" lIns="0" tIns="0" rIns="0" bIns="0" anchor="t" anchorCtr="0">
                <a:spAutoFit/>
              </a:bodyPr>
              <a:lstStyle/>
              <a:p>
                <a:pPr algn="l"/>
                <a:r>
                  <a:rPr lang="zh-CN" sz="1050" dirty="0">
                    <a:solidFill>
                      <a:srgbClr val="DCE6FB"/>
                    </a:solidFill>
                    <a:latin typeface="Arial"/>
                    <a:ea typeface="Microsoft YaHei"/>
                    <a:cs typeface="Arial"/>
                  </a:rPr>
                  <a:t>组织经验持续进化成能力(预估)</a:t>
                </a:r>
              </a:p>
            </p:txBody>
          </p:sp>
        </p:grpSp>
      </p:grpSp>
      <p:grpSp>
        <p:nvGrpSpPr>
          <p:cNvPr id="86" name="Group 86"/>
          <p:cNvGrpSpPr/>
          <p:nvPr/>
        </p:nvGrpSpPr>
        <p:grpSpPr>
          <a:xfrm>
            <a:off x="750570" y="6456045"/>
            <a:ext cx="10689907" cy="182880"/>
            <a:chOff x="750570" y="6456045"/>
            <a:chExt cx="10689907" cy="182880"/>
          </a:xfrm>
        </p:grpSpPr>
        <p:sp>
          <p:nvSpPr>
            <p:cNvPr id="84" name="TextBox 84"/>
            <p:cNvSpPr txBox="1"/>
            <p:nvPr/>
          </p:nvSpPr>
          <p:spPr>
            <a:xfrm>
              <a:off x="750570" y="6456045"/>
              <a:ext cx="1409033"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S3 智能知识底座</a:t>
              </a:r>
            </a:p>
          </p:txBody>
        </p:sp>
        <p:sp>
          <p:nvSpPr>
            <p:cNvPr id="85" name="TextBox 85"/>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20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fade">
                                      <p:cBhvr>
                                        <p:cTn id="11" dur="400"/>
                                        <p:tgtEl>
                                          <p:spTgt spid="6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83"/>
                                        </p:tgtEl>
                                        <p:attrNameLst>
                                          <p:attrName>style.visibility</p:attrName>
                                        </p:attrNameLst>
                                      </p:cBhvr>
                                      <p:to>
                                        <p:strVal val="visible"/>
                                      </p:to>
                                    </p:set>
                                    <p:animEffect transition="in" filter="wipe(left)">
                                      <p:cBhvr>
                                        <p:cTn id="15"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3" grpId="0"/>
      <p:bldP spid="8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762000" y="533400"/>
            <a:ext cx="7800413" cy="619125"/>
            <a:chOff x="762000" y="533400"/>
            <a:chExt cx="7800413" cy="619125"/>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0A2A5E"/>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S4</a:t>
              </a:r>
            </a:p>
          </p:txBody>
        </p:sp>
        <p:sp>
          <p:nvSpPr>
            <p:cNvPr id="6" name="TextBox 6"/>
            <p:cNvSpPr txBox="1"/>
            <p:nvPr/>
          </p:nvSpPr>
          <p:spPr>
            <a:xfrm>
              <a:off x="1363980" y="725805"/>
              <a:ext cx="7198433"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AI 效能说不清,Token 钱花得没底;管太死又把速度抵消</a:t>
              </a:r>
            </a:p>
          </p:txBody>
        </p:sp>
      </p:grpSp>
      <p:grpSp>
        <p:nvGrpSpPr>
          <p:cNvPr id="18" name="Group 18"/>
          <p:cNvGrpSpPr/>
          <p:nvPr/>
        </p:nvGrpSpPr>
        <p:grpSpPr>
          <a:xfrm>
            <a:off x="762000" y="1295400"/>
            <a:ext cx="10668000" cy="1281112"/>
            <a:chOff x="762000" y="1295400"/>
            <a:chExt cx="10668000" cy="1281112"/>
          </a:xfrm>
        </p:grpSpPr>
        <p:sp>
          <p:nvSpPr>
            <p:cNvPr id="8" name="Rectangle 8"/>
            <p:cNvSpPr/>
            <p:nvPr/>
          </p:nvSpPr>
          <p:spPr>
            <a:xfrm>
              <a:off x="762000" y="1295400"/>
              <a:ext cx="10668000" cy="1257300"/>
            </a:xfrm>
            <a:prstGeom prst="roundRect">
              <a:avLst>
                <a:gd name="adj" fmla="val 10606"/>
              </a:avLst>
            </a:prstGeom>
            <a:solidFill>
              <a:srgbClr val="F4F7FC"/>
            </a:solidFill>
            <a:ln>
              <a:noFill/>
            </a:ln>
          </p:spPr>
        </p:sp>
        <p:sp>
          <p:nvSpPr>
            <p:cNvPr id="9" name="Rectangle 9"/>
            <p:cNvSpPr/>
            <p:nvPr/>
          </p:nvSpPr>
          <p:spPr>
            <a:xfrm>
              <a:off x="762000" y="1295400"/>
              <a:ext cx="57150" cy="1257300"/>
            </a:xfrm>
            <a:prstGeom prst="roundRect">
              <a:avLst>
                <a:gd name="adj" fmla="val 50000"/>
              </a:avLst>
            </a:prstGeom>
            <a:solidFill>
              <a:srgbClr val="F59E0B"/>
            </a:solidFill>
            <a:ln>
              <a:noFill/>
            </a:ln>
          </p:spPr>
        </p:sp>
        <p:grpSp>
          <p:nvGrpSpPr>
            <p:cNvPr id="13" name="Group 13"/>
            <p:cNvGrpSpPr/>
            <p:nvPr/>
          </p:nvGrpSpPr>
          <p:grpSpPr>
            <a:xfrm>
              <a:off x="1070549" y="1536713"/>
              <a:ext cx="240143" cy="206314"/>
              <a:chOff x="1070549" y="1536713"/>
              <a:chExt cx="240143" cy="206314"/>
            </a:xfrm>
          </p:grpSpPr>
          <p:sp>
            <p:nvSpPr>
              <p:cNvPr id="10" name="Freeform 10"/>
              <p:cNvSpPr/>
              <p:nvPr/>
            </p:nvSpPr>
            <p:spPr>
              <a:xfrm>
                <a:off x="1190625" y="1612106"/>
                <a:ext cx="9525" cy="47625"/>
              </a:xfrm>
              <a:custGeom>
                <a:avLst/>
                <a:gdLst/>
                <a:ahLst/>
                <a:cxnLst/>
                <a:rect l="l" t="t" r="r" b="b"/>
                <a:pathLst>
                  <a:path w="9525" h="47625">
                    <a:moveTo>
                      <a:pt x="0" y="0"/>
                    </a:moveTo>
                    <a:lnTo>
                      <a:pt x="0" y="47625"/>
                    </a:lnTo>
                  </a:path>
                </a:pathLst>
              </a:custGeom>
              <a:noFill/>
              <a:ln w="19050">
                <a:solidFill>
                  <a:srgbClr val="F59E0B"/>
                </a:solidFill>
              </a:ln>
            </p:spPr>
          </p:sp>
          <p:sp>
            <p:nvSpPr>
              <p:cNvPr id="11" name="Freeform 11"/>
              <p:cNvSpPr/>
              <p:nvPr/>
            </p:nvSpPr>
            <p:spPr>
              <a:xfrm>
                <a:off x="1070549" y="15367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19050">
                <a:solidFill>
                  <a:srgbClr val="F59E0B"/>
                </a:solidFill>
              </a:ln>
            </p:spPr>
          </p:sp>
          <p:sp>
            <p:nvSpPr>
              <p:cNvPr id="12" name="Freeform 12"/>
              <p:cNvSpPr/>
              <p:nvPr/>
            </p:nvSpPr>
            <p:spPr>
              <a:xfrm>
                <a:off x="1190625" y="1695450"/>
                <a:ext cx="9525" cy="9525"/>
              </a:xfrm>
              <a:custGeom>
                <a:avLst/>
                <a:gdLst/>
                <a:ahLst/>
                <a:cxnLst/>
                <a:rect l="l" t="t" r="r" b="b"/>
                <a:pathLst>
                  <a:path w="9525" h="9525">
                    <a:moveTo>
                      <a:pt x="0" y="0"/>
                    </a:moveTo>
                    <a:lnTo>
                      <a:pt x="119" y="0"/>
                    </a:lnTo>
                  </a:path>
                </a:pathLst>
              </a:custGeom>
              <a:noFill/>
              <a:ln w="19050">
                <a:solidFill>
                  <a:srgbClr val="F59E0B"/>
                </a:solidFill>
              </a:ln>
            </p:spPr>
          </p:sp>
        </p:grpSp>
        <p:sp>
          <p:nvSpPr>
            <p:cNvPr id="14" name="TextBox 14"/>
            <p:cNvSpPr txBox="1"/>
            <p:nvPr/>
          </p:nvSpPr>
          <p:spPr>
            <a:xfrm>
              <a:off x="1411605" y="1568768"/>
              <a:ext cx="224586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痛点:治理两难 + 效能黑箱</a:t>
              </a:r>
            </a:p>
          </p:txBody>
        </p:sp>
        <p:sp>
          <p:nvSpPr>
            <p:cNvPr id="15" name="TextBox 15"/>
            <p:cNvSpPr txBox="1"/>
            <p:nvPr/>
          </p:nvSpPr>
          <p:spPr>
            <a:xfrm>
              <a:off x="1415415" y="1905952"/>
              <a:ext cx="543134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两难:不管 → 怕 AI 乱跑出事(质量/安全/合规);管太死 → 每步人工审批,速度优势被抵消</a:t>
              </a:r>
            </a:p>
          </p:txBody>
        </p:sp>
        <p:sp>
          <p:nvSpPr>
            <p:cNvPr id="16" name="TextBox 16"/>
            <p:cNvSpPr txBox="1"/>
            <p:nvPr/>
          </p:nvSpPr>
          <p:spPr>
            <a:xfrm>
              <a:off x="1415415" y="2153602"/>
              <a:ext cx="3632121"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黑箱:Token 成本/模型调用成本/Agent 执行成本没有度量</a:t>
              </a:r>
            </a:p>
          </p:txBody>
        </p:sp>
        <p:sp>
          <p:nvSpPr>
            <p:cNvPr id="17" name="TextBox 17"/>
            <p:cNvSpPr txBox="1"/>
            <p:nvPr/>
          </p:nvSpPr>
          <p:spPr>
            <a:xfrm>
              <a:off x="1415415" y="2363152"/>
              <a:ext cx="2930283"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a:ea typeface="Microsoft YaHei"/>
                  <a:cs typeface="Arial"/>
                </a:rPr>
                <a:t>→ "用了多少 AI"清楚,"带来什么收益"说不清</a:t>
              </a:r>
            </a:p>
          </p:txBody>
        </p:sp>
      </p:grpSp>
      <p:grpSp>
        <p:nvGrpSpPr>
          <p:cNvPr id="21" name="Group 21"/>
          <p:cNvGrpSpPr/>
          <p:nvPr/>
        </p:nvGrpSpPr>
        <p:grpSpPr>
          <a:xfrm>
            <a:off x="746760" y="2880360"/>
            <a:ext cx="3071660" cy="431959"/>
            <a:chOff x="746760" y="2880360"/>
            <a:chExt cx="3071660" cy="431959"/>
          </a:xfrm>
        </p:grpSpPr>
        <p:sp>
          <p:nvSpPr>
            <p:cNvPr id="19" name="TextBox 19"/>
            <p:cNvSpPr txBox="1"/>
            <p:nvPr/>
          </p:nvSpPr>
          <p:spPr>
            <a:xfrm>
              <a:off x="746760" y="2880360"/>
              <a:ext cx="3071660" cy="243840"/>
            </a:xfrm>
            <a:prstGeom prst="rect">
              <a:avLst/>
            </a:prstGeom>
            <a:noFill/>
            <a:ln>
              <a:noFill/>
            </a:ln>
          </p:spPr>
          <p:txBody>
            <a:bodyPr wrap="none" lIns="0" tIns="0" rIns="0" bIns="0" anchor="t" anchorCtr="0">
              <a:spAutoFit/>
            </a:bodyPr>
            <a:lstStyle/>
            <a:p>
              <a:pPr algn="l"/>
              <a:r>
                <a:rPr lang="zh-CN" sz="1200" b="1" dirty="0">
                  <a:solidFill>
                    <a:srgbClr val="0052A6"/>
                  </a:solidFill>
                  <a:latin typeface="Arial"/>
                  <a:ea typeface="Microsoft YaHei"/>
                  <a:cs typeface="Arial"/>
                </a:rPr>
                <a:t>治理五步阶梯:先建安全网,再放大自主度</a:t>
              </a:r>
            </a:p>
          </p:txBody>
        </p:sp>
        <p:sp>
          <p:nvSpPr>
            <p:cNvPr id="20" name="TextBox 20"/>
            <p:cNvSpPr txBox="1"/>
            <p:nvPr/>
          </p:nvSpPr>
          <p:spPr>
            <a:xfrm>
              <a:off x="749618" y="3114199"/>
              <a:ext cx="2943630"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不是让 AI 慢下来,而是让 AI 在可控边界内跑得更快</a:t>
              </a:r>
            </a:p>
          </p:txBody>
        </p:sp>
      </p:grpSp>
      <p:grpSp>
        <p:nvGrpSpPr>
          <p:cNvPr id="26" name="Group 26"/>
          <p:cNvGrpSpPr/>
          <p:nvPr/>
        </p:nvGrpSpPr>
        <p:grpSpPr>
          <a:xfrm>
            <a:off x="762000" y="3524250"/>
            <a:ext cx="1905000" cy="723900"/>
            <a:chOff x="762000" y="3524250"/>
            <a:chExt cx="1905000" cy="723900"/>
          </a:xfrm>
        </p:grpSpPr>
        <p:sp>
          <p:nvSpPr>
            <p:cNvPr id="22" name="Rectangle 22"/>
            <p:cNvSpPr/>
            <p:nvPr/>
          </p:nvSpPr>
          <p:spPr>
            <a:xfrm>
              <a:off x="762000" y="3524250"/>
              <a:ext cx="1905000" cy="723900"/>
            </a:xfrm>
            <a:prstGeom prst="roundRect">
              <a:avLst>
                <a:gd name="adj" fmla="val 13158"/>
              </a:avLst>
            </a:prstGeom>
            <a:solidFill>
              <a:srgbClr val="0052A6"/>
            </a:solidFill>
            <a:ln>
              <a:noFill/>
            </a:ln>
          </p:spPr>
        </p:sp>
        <p:sp>
          <p:nvSpPr>
            <p:cNvPr id="23" name="TextBox 23"/>
            <p:cNvSpPr txBox="1"/>
            <p:nvPr/>
          </p:nvSpPr>
          <p:spPr>
            <a:xfrm>
              <a:off x="940118" y="3647599"/>
              <a:ext cx="421315"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STEP 1</a:t>
              </a:r>
            </a:p>
          </p:txBody>
        </p:sp>
        <p:sp>
          <p:nvSpPr>
            <p:cNvPr id="24" name="TextBox 24"/>
            <p:cNvSpPr txBox="1"/>
            <p:nvPr/>
          </p:nvSpPr>
          <p:spPr>
            <a:xfrm>
              <a:off x="939165" y="3849052"/>
              <a:ext cx="105579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多层自动化测试</a:t>
              </a:r>
            </a:p>
          </p:txBody>
        </p:sp>
        <p:sp>
          <p:nvSpPr>
            <p:cNvPr id="25" name="TextBox 25"/>
            <p:cNvSpPr txBox="1"/>
            <p:nvPr/>
          </p:nvSpPr>
          <p:spPr>
            <a:xfrm>
              <a:off x="942022" y="4063841"/>
              <a:ext cx="571024" cy="167640"/>
            </a:xfrm>
            <a:prstGeom prst="rect">
              <a:avLst/>
            </a:prstGeom>
            <a:noFill/>
            <a:ln>
              <a:noFill/>
            </a:ln>
          </p:spPr>
          <p:txBody>
            <a:bodyPr wrap="none" lIns="0" tIns="0" rIns="0" bIns="0" anchor="t" anchorCtr="0">
              <a:spAutoFit/>
            </a:bodyPr>
            <a:lstStyle/>
            <a:p>
              <a:pPr algn="l"/>
              <a:r>
                <a:rPr lang="zh-CN" sz="825" dirty="0">
                  <a:solidFill>
                    <a:srgbClr val="B8C7E0"/>
                  </a:solidFill>
                  <a:latin typeface="Arial"/>
                  <a:ea typeface="Microsoft YaHei"/>
                  <a:cs typeface="Arial"/>
                </a:rPr>
                <a:t>安全网起点</a:t>
              </a:r>
            </a:p>
          </p:txBody>
        </p:sp>
      </p:grpSp>
      <p:sp>
        <p:nvSpPr>
          <p:cNvPr id="27" name="Line 27"/>
          <p:cNvSpPr/>
          <p:nvPr/>
        </p:nvSpPr>
        <p:spPr>
          <a:xfrm>
            <a:off x="2686050" y="3886200"/>
            <a:ext cx="190500" cy="1"/>
          </a:xfrm>
          <a:prstGeom prst="line">
            <a:avLst/>
          </a:prstGeom>
          <a:noFill/>
          <a:ln w="19050">
            <a:solidFill>
              <a:srgbClr val="0052A6"/>
            </a:solidFill>
            <a:tailEnd type="triangle" w="lg" len="lg"/>
          </a:ln>
        </p:spPr>
      </p:sp>
      <p:grpSp>
        <p:nvGrpSpPr>
          <p:cNvPr id="32" name="Group 32"/>
          <p:cNvGrpSpPr/>
          <p:nvPr/>
        </p:nvGrpSpPr>
        <p:grpSpPr>
          <a:xfrm>
            <a:off x="2895600" y="3771900"/>
            <a:ext cx="1905000" cy="723900"/>
            <a:chOff x="2895600" y="3771900"/>
            <a:chExt cx="1905000" cy="723900"/>
          </a:xfrm>
        </p:grpSpPr>
        <p:sp>
          <p:nvSpPr>
            <p:cNvPr id="28" name="Rectangle 28"/>
            <p:cNvSpPr/>
            <p:nvPr/>
          </p:nvSpPr>
          <p:spPr>
            <a:xfrm>
              <a:off x="2895600" y="3771900"/>
              <a:ext cx="1905000" cy="723900"/>
            </a:xfrm>
            <a:prstGeom prst="roundRect">
              <a:avLst>
                <a:gd name="adj" fmla="val 13158"/>
              </a:avLst>
            </a:prstGeom>
            <a:solidFill>
              <a:srgbClr val="0052A6"/>
            </a:solidFill>
            <a:ln>
              <a:noFill/>
            </a:ln>
          </p:spPr>
        </p:sp>
        <p:sp>
          <p:nvSpPr>
            <p:cNvPr id="29" name="TextBox 29"/>
            <p:cNvSpPr txBox="1"/>
            <p:nvPr/>
          </p:nvSpPr>
          <p:spPr>
            <a:xfrm>
              <a:off x="3073718" y="3895249"/>
              <a:ext cx="421315"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STEP 2</a:t>
              </a:r>
            </a:p>
          </p:txBody>
        </p:sp>
        <p:sp>
          <p:nvSpPr>
            <p:cNvPr id="30" name="TextBox 30"/>
            <p:cNvSpPr txBox="1"/>
            <p:nvPr/>
          </p:nvSpPr>
          <p:spPr>
            <a:xfrm>
              <a:off x="3072765" y="4096702"/>
              <a:ext cx="78381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AI 参与评审</a:t>
              </a:r>
            </a:p>
          </p:txBody>
        </p:sp>
        <p:sp>
          <p:nvSpPr>
            <p:cNvPr id="31" name="TextBox 31"/>
            <p:cNvSpPr txBox="1"/>
            <p:nvPr/>
          </p:nvSpPr>
          <p:spPr>
            <a:xfrm>
              <a:off x="3075622" y="4311491"/>
              <a:ext cx="1027581" cy="167640"/>
            </a:xfrm>
            <a:prstGeom prst="rect">
              <a:avLst/>
            </a:prstGeom>
            <a:noFill/>
            <a:ln>
              <a:noFill/>
            </a:ln>
          </p:spPr>
          <p:txBody>
            <a:bodyPr wrap="none" lIns="0" tIns="0" rIns="0" bIns="0" anchor="t" anchorCtr="0">
              <a:spAutoFit/>
            </a:bodyPr>
            <a:lstStyle/>
            <a:p>
              <a:pPr algn="l"/>
              <a:r>
                <a:rPr lang="zh-CN" sz="825" dirty="0">
                  <a:solidFill>
                    <a:srgbClr val="B8C7E0"/>
                  </a:solidFill>
                  <a:latin typeface="Arial"/>
                  <a:ea typeface="Microsoft YaHei"/>
                  <a:cs typeface="Arial"/>
                </a:rPr>
                <a:t>前置发现 + 并行辅助</a:t>
              </a:r>
            </a:p>
          </p:txBody>
        </p:sp>
      </p:grpSp>
      <p:sp>
        <p:nvSpPr>
          <p:cNvPr id="33" name="Line 33"/>
          <p:cNvSpPr/>
          <p:nvPr/>
        </p:nvSpPr>
        <p:spPr>
          <a:xfrm>
            <a:off x="4819650" y="4133850"/>
            <a:ext cx="190500" cy="1"/>
          </a:xfrm>
          <a:prstGeom prst="line">
            <a:avLst/>
          </a:prstGeom>
          <a:noFill/>
          <a:ln w="19050">
            <a:solidFill>
              <a:srgbClr val="0052A6"/>
            </a:solidFill>
            <a:tailEnd type="triangle" w="lg" len="lg"/>
          </a:ln>
        </p:spPr>
      </p:sp>
      <p:grpSp>
        <p:nvGrpSpPr>
          <p:cNvPr id="38" name="Group 38"/>
          <p:cNvGrpSpPr/>
          <p:nvPr/>
        </p:nvGrpSpPr>
        <p:grpSpPr>
          <a:xfrm>
            <a:off x="5029200" y="4019550"/>
            <a:ext cx="1905000" cy="723900"/>
            <a:chOff x="5029200" y="4019550"/>
            <a:chExt cx="1905000" cy="723900"/>
          </a:xfrm>
        </p:grpSpPr>
        <p:sp>
          <p:nvSpPr>
            <p:cNvPr id="34" name="Rectangle 34"/>
            <p:cNvSpPr/>
            <p:nvPr/>
          </p:nvSpPr>
          <p:spPr>
            <a:xfrm>
              <a:off x="5029200" y="4019550"/>
              <a:ext cx="1905000" cy="723900"/>
            </a:xfrm>
            <a:prstGeom prst="roundRect">
              <a:avLst>
                <a:gd name="adj" fmla="val 13158"/>
              </a:avLst>
            </a:prstGeom>
            <a:solidFill>
              <a:srgbClr val="246BFE"/>
            </a:solidFill>
            <a:ln>
              <a:noFill/>
            </a:ln>
          </p:spPr>
        </p:sp>
        <p:sp>
          <p:nvSpPr>
            <p:cNvPr id="35" name="TextBox 35"/>
            <p:cNvSpPr txBox="1"/>
            <p:nvPr/>
          </p:nvSpPr>
          <p:spPr>
            <a:xfrm>
              <a:off x="5207318" y="4142899"/>
              <a:ext cx="421315"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STEP 3</a:t>
              </a:r>
            </a:p>
          </p:txBody>
        </p:sp>
        <p:sp>
          <p:nvSpPr>
            <p:cNvPr id="36" name="TextBox 36"/>
            <p:cNvSpPr txBox="1"/>
            <p:nvPr/>
          </p:nvSpPr>
          <p:spPr>
            <a:xfrm>
              <a:off x="5206365" y="4344352"/>
              <a:ext cx="105579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规则守护与熵减</a:t>
              </a:r>
            </a:p>
          </p:txBody>
        </p:sp>
        <p:sp>
          <p:nvSpPr>
            <p:cNvPr id="37" name="TextBox 37"/>
            <p:cNvSpPr txBox="1"/>
            <p:nvPr/>
          </p:nvSpPr>
          <p:spPr>
            <a:xfrm>
              <a:off x="5209222" y="4559141"/>
              <a:ext cx="1346621" cy="167640"/>
            </a:xfrm>
            <a:prstGeom prst="rect">
              <a:avLst/>
            </a:prstGeom>
            <a:noFill/>
            <a:ln>
              <a:noFill/>
            </a:ln>
          </p:spPr>
          <p:txBody>
            <a:bodyPr wrap="none" lIns="0" tIns="0" rIns="0" bIns="0" anchor="t" anchorCtr="0">
              <a:spAutoFit/>
            </a:bodyPr>
            <a:lstStyle/>
            <a:p>
              <a:pPr algn="l"/>
              <a:r>
                <a:rPr lang="zh-CN" sz="825" dirty="0">
                  <a:solidFill>
                    <a:srgbClr val="DCE6FB"/>
                  </a:solidFill>
                  <a:latin typeface="Arial"/>
                  <a:ea typeface="Microsoft YaHei"/>
                  <a:cs typeface="Arial"/>
                </a:rPr>
                <a:t>规则 as Code + 技术债治理</a:t>
              </a:r>
            </a:p>
          </p:txBody>
        </p:sp>
      </p:grpSp>
      <p:sp>
        <p:nvSpPr>
          <p:cNvPr id="39" name="Line 39"/>
          <p:cNvSpPr/>
          <p:nvPr/>
        </p:nvSpPr>
        <p:spPr>
          <a:xfrm>
            <a:off x="6953250" y="4381500"/>
            <a:ext cx="190500" cy="1"/>
          </a:xfrm>
          <a:prstGeom prst="line">
            <a:avLst/>
          </a:prstGeom>
          <a:noFill/>
          <a:ln w="19050">
            <a:solidFill>
              <a:srgbClr val="0052A6"/>
            </a:solidFill>
            <a:tailEnd type="triangle" w="lg" len="lg"/>
          </a:ln>
        </p:spPr>
      </p:sp>
      <p:grpSp>
        <p:nvGrpSpPr>
          <p:cNvPr id="44" name="Group 44"/>
          <p:cNvGrpSpPr/>
          <p:nvPr/>
        </p:nvGrpSpPr>
        <p:grpSpPr>
          <a:xfrm>
            <a:off x="7162800" y="4267200"/>
            <a:ext cx="1905000" cy="723900"/>
            <a:chOff x="7162800" y="4267200"/>
            <a:chExt cx="1905000" cy="723900"/>
          </a:xfrm>
        </p:grpSpPr>
        <p:sp>
          <p:nvSpPr>
            <p:cNvPr id="40" name="Rectangle 40"/>
            <p:cNvSpPr/>
            <p:nvPr/>
          </p:nvSpPr>
          <p:spPr>
            <a:xfrm>
              <a:off x="7162800" y="4267200"/>
              <a:ext cx="1905000" cy="723900"/>
            </a:xfrm>
            <a:prstGeom prst="roundRect">
              <a:avLst>
                <a:gd name="adj" fmla="val 13158"/>
              </a:avLst>
            </a:prstGeom>
            <a:solidFill>
              <a:srgbClr val="246BFE"/>
            </a:solidFill>
            <a:ln>
              <a:noFill/>
            </a:ln>
          </p:spPr>
        </p:sp>
        <p:sp>
          <p:nvSpPr>
            <p:cNvPr id="41" name="TextBox 41"/>
            <p:cNvSpPr txBox="1"/>
            <p:nvPr/>
          </p:nvSpPr>
          <p:spPr>
            <a:xfrm>
              <a:off x="7340918" y="4390549"/>
              <a:ext cx="421315"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STEP 4</a:t>
              </a:r>
            </a:p>
          </p:txBody>
        </p:sp>
        <p:sp>
          <p:nvSpPr>
            <p:cNvPr id="42" name="TextBox 42"/>
            <p:cNvSpPr txBox="1"/>
            <p:nvPr/>
          </p:nvSpPr>
          <p:spPr>
            <a:xfrm>
              <a:off x="7339965" y="4592002"/>
              <a:ext cx="107050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风险分级 + HITL</a:t>
              </a:r>
            </a:p>
          </p:txBody>
        </p:sp>
        <p:sp>
          <p:nvSpPr>
            <p:cNvPr id="43" name="TextBox 43"/>
            <p:cNvSpPr txBox="1"/>
            <p:nvPr/>
          </p:nvSpPr>
          <p:spPr>
            <a:xfrm>
              <a:off x="7342822" y="4806791"/>
              <a:ext cx="912066" cy="167640"/>
            </a:xfrm>
            <a:prstGeom prst="rect">
              <a:avLst/>
            </a:prstGeom>
            <a:noFill/>
            <a:ln>
              <a:noFill/>
            </a:ln>
          </p:spPr>
          <p:txBody>
            <a:bodyPr wrap="none" lIns="0" tIns="0" rIns="0" bIns="0" anchor="t" anchorCtr="0">
              <a:spAutoFit/>
            </a:bodyPr>
            <a:lstStyle/>
            <a:p>
              <a:pPr algn="l"/>
              <a:r>
                <a:rPr lang="zh-CN" sz="825" dirty="0">
                  <a:solidFill>
                    <a:srgbClr val="DCE6FB"/>
                  </a:solidFill>
                  <a:latin typeface="Arial"/>
                  <a:ea typeface="Microsoft YaHei"/>
                  <a:cs typeface="Arial"/>
                </a:rPr>
                <a:t>低/中/高分级行权</a:t>
              </a:r>
            </a:p>
          </p:txBody>
        </p:sp>
      </p:grpSp>
      <p:sp>
        <p:nvSpPr>
          <p:cNvPr id="45" name="Line 45"/>
          <p:cNvSpPr/>
          <p:nvPr/>
        </p:nvSpPr>
        <p:spPr>
          <a:xfrm>
            <a:off x="9086850" y="4629150"/>
            <a:ext cx="190500" cy="1"/>
          </a:xfrm>
          <a:prstGeom prst="line">
            <a:avLst/>
          </a:prstGeom>
          <a:noFill/>
          <a:ln w="19050">
            <a:solidFill>
              <a:srgbClr val="0052A6"/>
            </a:solidFill>
            <a:tailEnd type="triangle" w="lg" len="lg"/>
          </a:ln>
        </p:spPr>
      </p:sp>
      <p:grpSp>
        <p:nvGrpSpPr>
          <p:cNvPr id="50" name="Group 50"/>
          <p:cNvGrpSpPr/>
          <p:nvPr/>
        </p:nvGrpSpPr>
        <p:grpSpPr>
          <a:xfrm>
            <a:off x="9296400" y="4514850"/>
            <a:ext cx="2133600" cy="723900"/>
            <a:chOff x="9296400" y="4514850"/>
            <a:chExt cx="2133600" cy="723900"/>
          </a:xfrm>
        </p:grpSpPr>
        <p:sp>
          <p:nvSpPr>
            <p:cNvPr id="46" name="Rectangle 46"/>
            <p:cNvSpPr/>
            <p:nvPr/>
          </p:nvSpPr>
          <p:spPr>
            <a:xfrm>
              <a:off x="9296400" y="4514850"/>
              <a:ext cx="2133600" cy="723900"/>
            </a:xfrm>
            <a:prstGeom prst="roundRect">
              <a:avLst>
                <a:gd name="adj" fmla="val 13158"/>
              </a:avLst>
            </a:prstGeom>
            <a:solidFill>
              <a:srgbClr val="518FEC"/>
            </a:solidFill>
            <a:ln>
              <a:noFill/>
            </a:ln>
          </p:spPr>
        </p:sp>
        <p:sp>
          <p:nvSpPr>
            <p:cNvPr id="47" name="TextBox 47"/>
            <p:cNvSpPr txBox="1"/>
            <p:nvPr/>
          </p:nvSpPr>
          <p:spPr>
            <a:xfrm>
              <a:off x="9474518" y="4638199"/>
              <a:ext cx="421315"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STEP 5</a:t>
              </a:r>
            </a:p>
          </p:txBody>
        </p:sp>
        <p:sp>
          <p:nvSpPr>
            <p:cNvPr id="48" name="TextBox 48"/>
            <p:cNvSpPr txBox="1"/>
            <p:nvPr/>
          </p:nvSpPr>
          <p:spPr>
            <a:xfrm>
              <a:off x="9473565" y="4839652"/>
              <a:ext cx="143069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效能度量 + AI FinOps</a:t>
              </a:r>
            </a:p>
          </p:txBody>
        </p:sp>
        <p:sp>
          <p:nvSpPr>
            <p:cNvPr id="49" name="TextBox 49"/>
            <p:cNvSpPr txBox="1"/>
            <p:nvPr/>
          </p:nvSpPr>
          <p:spPr>
            <a:xfrm>
              <a:off x="9476422" y="5054441"/>
              <a:ext cx="1099090" cy="167640"/>
            </a:xfrm>
            <a:prstGeom prst="rect">
              <a:avLst/>
            </a:prstGeom>
            <a:noFill/>
            <a:ln>
              <a:noFill/>
            </a:ln>
          </p:spPr>
          <p:txBody>
            <a:bodyPr wrap="none" lIns="0" tIns="0" rIns="0" bIns="0" anchor="t" anchorCtr="0">
              <a:spAutoFit/>
            </a:bodyPr>
            <a:lstStyle/>
            <a:p>
              <a:pPr algn="l"/>
              <a:r>
                <a:rPr lang="zh-CN" sz="825" dirty="0">
                  <a:solidFill>
                    <a:srgbClr val="DCE6FB"/>
                  </a:solidFill>
                  <a:latin typeface="Arial"/>
                  <a:ea typeface="Microsoft YaHei"/>
                  <a:cs typeface="Arial"/>
                </a:rPr>
                <a:t>Token ROI / 业务价值</a:t>
              </a:r>
            </a:p>
          </p:txBody>
        </p:sp>
      </p:grpSp>
      <p:grpSp>
        <p:nvGrpSpPr>
          <p:cNvPr id="53" name="Group 53"/>
          <p:cNvGrpSpPr/>
          <p:nvPr/>
        </p:nvGrpSpPr>
        <p:grpSpPr>
          <a:xfrm>
            <a:off x="762000" y="5486400"/>
            <a:ext cx="10668000" cy="609600"/>
            <a:chOff x="762000" y="5486400"/>
            <a:chExt cx="10668000" cy="609600"/>
          </a:xfrm>
        </p:grpSpPr>
        <p:sp>
          <p:nvSpPr>
            <p:cNvPr id="51" name="Rectangle 51"/>
            <p:cNvSpPr/>
            <p:nvPr/>
          </p:nvSpPr>
          <p:spPr>
            <a:xfrm>
              <a:off x="762000" y="5486400"/>
              <a:ext cx="10668000" cy="609600"/>
            </a:xfrm>
            <a:prstGeom prst="roundRect">
              <a:avLst>
                <a:gd name="adj" fmla="val 18750"/>
              </a:avLst>
            </a:prstGeom>
            <a:solidFill>
              <a:srgbClr val="0052A6"/>
            </a:solidFill>
            <a:ln>
              <a:noFill/>
            </a:ln>
          </p:spPr>
        </p:sp>
        <p:sp>
          <p:nvSpPr>
            <p:cNvPr id="52" name="TextBox 52"/>
            <p:cNvSpPr txBox="1"/>
            <p:nvPr/>
          </p:nvSpPr>
          <p:spPr>
            <a:xfrm>
              <a:off x="4071199" y="5705475"/>
              <a:ext cx="404960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不是堆审批,而是先建安全网,再放大自主度</a:t>
              </a:r>
            </a:p>
          </p:txBody>
        </p:sp>
      </p:grpSp>
      <p:grpSp>
        <p:nvGrpSpPr>
          <p:cNvPr id="56" name="Group 56"/>
          <p:cNvGrpSpPr/>
          <p:nvPr/>
        </p:nvGrpSpPr>
        <p:grpSpPr>
          <a:xfrm>
            <a:off x="750570" y="6456045"/>
            <a:ext cx="10689907" cy="182880"/>
            <a:chOff x="750570" y="6456045"/>
            <a:chExt cx="10689907" cy="182880"/>
          </a:xfrm>
        </p:grpSpPr>
        <p:sp>
          <p:nvSpPr>
            <p:cNvPr id="54" name="TextBox 54"/>
            <p:cNvSpPr txBox="1"/>
            <p:nvPr/>
          </p:nvSpPr>
          <p:spPr>
            <a:xfrm>
              <a:off x="750570" y="6456045"/>
              <a:ext cx="171507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S4 智能治理与 FinOps</a:t>
              </a:r>
            </a:p>
          </p:txBody>
        </p:sp>
        <p:sp>
          <p:nvSpPr>
            <p:cNvPr id="55" name="TextBox 55"/>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21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image">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slide(fromBottom)">
                                      <p:cBhvr>
                                        <p:cTn id="19" dur="400"/>
                                        <p:tgtEl>
                                          <p:spTgt spid="2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slide(fromBottom)">
                                      <p:cBhvr>
                                        <p:cTn id="23" dur="400"/>
                                        <p:tgtEl>
                                          <p:spTgt spid="32"/>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slide(fromBottom)">
                                      <p:cBhvr>
                                        <p:cTn id="27" dur="400"/>
                                        <p:tgtEl>
                                          <p:spTgt spid="38"/>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slide(fromBottom)">
                                      <p:cBhvr>
                                        <p:cTn id="31" dur="400"/>
                                        <p:tgtEl>
                                          <p:spTgt spid="44"/>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slide(fromBottom)">
                                      <p:cBhvr>
                                        <p:cTn id="35" dur="400"/>
                                        <p:tgtEl>
                                          <p:spTgt spid="50"/>
                                        </p:tgtEl>
                                      </p:cBhvr>
                                    </p:animEffect>
                                  </p:childTnLst>
                                </p:cTn>
                              </p:par>
                            </p:childTnLst>
                          </p:cTn>
                        </p:par>
                        <p:par>
                          <p:cTn id="36" fill="hold">
                            <p:stCondLst>
                              <p:cond delay="7200"/>
                            </p:stCondLst>
                            <p:childTnLst>
                              <p:par>
                                <p:cTn id="37" presetID="10" presetClass="entr" presetSubtype="0" fill="hold" nodeType="after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p:bldP spid="21" grpId="0"/>
      <p:bldP spid="26" grpId="0"/>
      <p:bldP spid="32" grpId="0"/>
      <p:bldP spid="38" grpId="0"/>
      <p:bldP spid="44" grpId="0"/>
      <p:bldP spid="50" grpId="0"/>
      <p:bldP spid="5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8" name="Group 8"/>
          <p:cNvGrpSpPr/>
          <p:nvPr/>
        </p:nvGrpSpPr>
        <p:grpSpPr>
          <a:xfrm>
            <a:off x="747712" y="533400"/>
            <a:ext cx="8049930" cy="792956"/>
            <a:chOff x="747712" y="533400"/>
            <a:chExt cx="8049930"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Ellipse 4"/>
            <p:cNvSpPr/>
            <p:nvPr/>
          </p:nvSpPr>
          <p:spPr>
            <a:xfrm>
              <a:off x="990600" y="742950"/>
              <a:ext cx="266700" cy="266700"/>
            </a:xfrm>
            <a:prstGeom prst="ellipse">
              <a:avLst/>
            </a:prstGeom>
            <a:solidFill>
              <a:srgbClr val="0A2A5E"/>
            </a:solidFill>
            <a:ln>
              <a:noFill/>
            </a:ln>
          </p:spPr>
        </p:sp>
        <p:sp>
          <p:nvSpPr>
            <p:cNvPr id="5" name="TextBox 5"/>
            <p:cNvSpPr txBox="1"/>
            <p:nvPr/>
          </p:nvSpPr>
          <p:spPr>
            <a:xfrm>
              <a:off x="1043211" y="836295"/>
              <a:ext cx="16147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S4</a:t>
              </a:r>
            </a:p>
          </p:txBody>
        </p:sp>
        <p:sp>
          <p:nvSpPr>
            <p:cNvPr id="6" name="TextBox 6"/>
            <p:cNvSpPr txBox="1"/>
            <p:nvPr/>
          </p:nvSpPr>
          <p:spPr>
            <a:xfrm>
              <a:off x="1363980" y="725805"/>
              <a:ext cx="7433662"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先建安全网,再放大自主度,让速度质量责任价值同时可控</a:t>
              </a:r>
            </a:p>
          </p:txBody>
        </p:sp>
        <p:sp>
          <p:nvSpPr>
            <p:cNvPr id="7" name="TextBox 7"/>
            <p:cNvSpPr txBox="1"/>
            <p:nvPr/>
          </p:nvSpPr>
          <p:spPr>
            <a:xfrm>
              <a:off x="747712" y="1097756"/>
              <a:ext cx="2961442"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风险分级决定自主度,效能度量决定投入产出</a:t>
              </a:r>
            </a:p>
          </p:txBody>
        </p:sp>
      </p:grpSp>
      <p:grpSp>
        <p:nvGrpSpPr>
          <p:cNvPr id="49" name="Group 49"/>
          <p:cNvGrpSpPr/>
          <p:nvPr/>
        </p:nvGrpSpPr>
        <p:grpSpPr>
          <a:xfrm>
            <a:off x="762000" y="1524000"/>
            <a:ext cx="6096000" cy="4381500"/>
            <a:chOff x="762000" y="1524000"/>
            <a:chExt cx="6096000" cy="4381500"/>
          </a:xfrm>
        </p:grpSpPr>
        <p:sp>
          <p:nvSpPr>
            <p:cNvPr id="9" name="Rectangle 9"/>
            <p:cNvSpPr/>
            <p:nvPr/>
          </p:nvSpPr>
          <p:spPr>
            <a:xfrm>
              <a:off x="762000" y="1524000"/>
              <a:ext cx="6096000" cy="4381500"/>
            </a:xfrm>
            <a:prstGeom prst="roundRect">
              <a:avLst>
                <a:gd name="adj" fmla="val 3478"/>
              </a:avLst>
            </a:prstGeom>
            <a:solidFill>
              <a:srgbClr val="F4F7FC"/>
            </a:solidFill>
            <a:ln>
              <a:noFill/>
            </a:ln>
          </p:spPr>
        </p:sp>
        <p:sp>
          <p:nvSpPr>
            <p:cNvPr id="10" name="Freeform 10"/>
            <p:cNvSpPr/>
            <p:nvPr/>
          </p:nvSpPr>
          <p:spPr>
            <a:xfrm>
              <a:off x="1061511" y="1790700"/>
              <a:ext cx="239178" cy="228600"/>
            </a:xfrm>
            <a:custGeom>
              <a:avLst/>
              <a:gdLst/>
              <a:ahLst/>
              <a:cxnLst/>
              <a:rect l="l" t="t" r="r" b="b"/>
              <a:pathLst>
                <a:path w="239178" h="228600">
                  <a:moveTo>
                    <a:pt x="119589" y="0"/>
                  </a:moveTo>
                  <a:cubicBezTo>
                    <a:pt x="149254" y="26246"/>
                    <a:pt x="187972" y="39911"/>
                    <a:pt x="227539" y="38100"/>
                  </a:cubicBezTo>
                  <a:cubicBezTo>
                    <a:pt x="239178" y="77693"/>
                    <a:pt x="234262" y="120313"/>
                    <a:pt x="213917" y="156217"/>
                  </a:cubicBezTo>
                  <a:cubicBezTo>
                    <a:pt x="193571" y="192121"/>
                    <a:pt x="159535" y="218239"/>
                    <a:pt x="119589" y="228600"/>
                  </a:cubicBezTo>
                  <a:cubicBezTo>
                    <a:pt x="79643" y="218239"/>
                    <a:pt x="45606" y="192121"/>
                    <a:pt x="25261" y="156217"/>
                  </a:cubicBezTo>
                  <a:cubicBezTo>
                    <a:pt x="4915" y="120313"/>
                    <a:pt x="0" y="77693"/>
                    <a:pt x="11639" y="38100"/>
                  </a:cubicBezTo>
                  <a:cubicBezTo>
                    <a:pt x="51206" y="39911"/>
                    <a:pt x="89924" y="26246"/>
                    <a:pt x="119589" y="0"/>
                  </a:cubicBezTo>
                </a:path>
              </a:pathLst>
            </a:custGeom>
            <a:noFill/>
            <a:ln w="19050">
              <a:solidFill>
                <a:srgbClr val="0052A6"/>
              </a:solidFill>
            </a:ln>
          </p:spPr>
        </p:sp>
        <p:sp>
          <p:nvSpPr>
            <p:cNvPr id="11" name="TextBox 11"/>
            <p:cNvSpPr txBox="1"/>
            <p:nvPr/>
          </p:nvSpPr>
          <p:spPr>
            <a:xfrm>
              <a:off x="1409700" y="1819275"/>
              <a:ext cx="1046226" cy="304800"/>
            </a:xfrm>
            <a:prstGeom prst="rect">
              <a:avLst/>
            </a:prstGeom>
            <a:noFill/>
            <a:ln>
              <a:noFill/>
            </a:ln>
          </p:spPr>
          <p:txBody>
            <a:bodyPr wrap="none" lIns="0" tIns="0" rIns="0" bIns="0" anchor="t" anchorCtr="0">
              <a:spAutoFit/>
            </a:bodyPr>
            <a:lstStyle/>
            <a:p>
              <a:pPr algn="l"/>
              <a:r>
                <a:rPr lang="zh-CN" sz="1500" b="1" dirty="0">
                  <a:solidFill>
                    <a:srgbClr val="0052A6"/>
                  </a:solidFill>
                  <a:latin typeface="Arial"/>
                  <a:ea typeface="Microsoft YaHei"/>
                  <a:cs typeface="Arial"/>
                </a:rPr>
                <a:t>FarAI 能力</a:t>
              </a:r>
            </a:p>
          </p:txBody>
        </p:sp>
        <p:sp>
          <p:nvSpPr>
            <p:cNvPr id="12" name="Line 12"/>
            <p:cNvSpPr/>
            <p:nvPr/>
          </p:nvSpPr>
          <p:spPr>
            <a:xfrm>
              <a:off x="1028700" y="2209800"/>
              <a:ext cx="5562600" cy="9525"/>
            </a:xfrm>
            <a:custGeom>
              <a:avLst/>
              <a:gdLst/>
              <a:ahLst/>
              <a:cxnLst/>
              <a:rect l="l" t="t" r="r" b="b"/>
              <a:pathLst>
                <a:path w="5562600" h="9525">
                  <a:moveTo>
                    <a:pt x="0" y="0"/>
                  </a:moveTo>
                  <a:lnTo>
                    <a:pt x="5562600" y="0"/>
                  </a:lnTo>
                </a:path>
              </a:pathLst>
            </a:custGeom>
            <a:noFill/>
            <a:ln w="9525">
              <a:solidFill>
                <a:srgbClr val="E3E9F2"/>
              </a:solidFill>
            </a:ln>
          </p:spPr>
        </p:sp>
        <p:grpSp>
          <p:nvGrpSpPr>
            <p:cNvPr id="21" name="Group 21"/>
            <p:cNvGrpSpPr/>
            <p:nvPr/>
          </p:nvGrpSpPr>
          <p:grpSpPr>
            <a:xfrm>
              <a:off x="1047750" y="2533650"/>
              <a:ext cx="4709184" cy="492919"/>
              <a:chOff x="1047750" y="2533650"/>
              <a:chExt cx="4709184" cy="492919"/>
            </a:xfrm>
          </p:grpSpPr>
          <p:sp>
            <p:nvSpPr>
              <p:cNvPr id="13" name="Ellipse 13"/>
              <p:cNvSpPr/>
              <p:nvPr/>
            </p:nvSpPr>
            <p:spPr>
              <a:xfrm>
                <a:off x="1047750" y="2533650"/>
                <a:ext cx="266700" cy="266700"/>
              </a:xfrm>
              <a:prstGeom prst="ellipse">
                <a:avLst/>
              </a:prstGeom>
              <a:solidFill>
                <a:srgbClr val="0052A6"/>
              </a:solidFill>
              <a:ln>
                <a:noFill/>
              </a:ln>
            </p:spPr>
          </p:sp>
          <p:sp>
            <p:nvSpPr>
              <p:cNvPr id="14" name="TextBox 14"/>
              <p:cNvSpPr txBox="1"/>
              <p:nvPr/>
            </p:nvSpPr>
            <p:spPr>
              <a:xfrm>
                <a:off x="1135016" y="2626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grpSp>
            <p:nvGrpSpPr>
              <p:cNvPr id="18" name="Group 18"/>
              <p:cNvGrpSpPr/>
              <p:nvPr/>
            </p:nvGrpSpPr>
            <p:grpSpPr>
              <a:xfrm>
                <a:off x="1440656" y="2545556"/>
                <a:ext cx="185738" cy="185738"/>
                <a:chOff x="1440656" y="2545556"/>
                <a:chExt cx="185738" cy="185738"/>
              </a:xfrm>
            </p:grpSpPr>
            <p:sp>
              <p:nvSpPr>
                <p:cNvPr id="15" name="Freeform 15"/>
                <p:cNvSpPr/>
                <p:nvPr/>
              </p:nvSpPr>
              <p:spPr>
                <a:xfrm>
                  <a:off x="1440656" y="2690019"/>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19050">
                  <a:solidFill>
                    <a:srgbClr val="246BFE"/>
                  </a:solidFill>
                </a:ln>
              </p:spPr>
            </p:sp>
            <p:sp>
              <p:nvSpPr>
                <p:cNvPr id="16" name="Freeform 16"/>
                <p:cNvSpPr/>
                <p:nvPr/>
              </p:nvSpPr>
              <p:spPr>
                <a:xfrm>
                  <a:off x="1585119" y="2545556"/>
                  <a:ext cx="41275" cy="41275"/>
                </a:xfrm>
                <a:custGeom>
                  <a:avLst/>
                  <a:gdLst/>
                  <a:ahLst/>
                  <a:cxnLst/>
                  <a:rect l="l" t="t" r="r" b="b"/>
                  <a:pathLst>
                    <a:path w="41275" h="41275">
                      <a:moveTo>
                        <a:pt x="20638" y="41275"/>
                      </a:moveTo>
                      <a:cubicBezTo>
                        <a:pt x="32035" y="41275"/>
                        <a:pt x="41275" y="32035"/>
                        <a:pt x="41275" y="20638"/>
                      </a:cubicBezTo>
                      <a:cubicBezTo>
                        <a:pt x="41275" y="9240"/>
                        <a:pt x="32035" y="0"/>
                        <a:pt x="20638" y="0"/>
                      </a:cubicBezTo>
                      <a:cubicBezTo>
                        <a:pt x="9240" y="0"/>
                        <a:pt x="0" y="9240"/>
                        <a:pt x="0" y="20638"/>
                      </a:cubicBezTo>
                      <a:cubicBezTo>
                        <a:pt x="0" y="32035"/>
                        <a:pt x="9240" y="41275"/>
                        <a:pt x="20638" y="41275"/>
                      </a:cubicBezTo>
                    </a:path>
                  </a:pathLst>
                </a:custGeom>
                <a:noFill/>
                <a:ln w="19050">
                  <a:solidFill>
                    <a:srgbClr val="246BFE"/>
                  </a:solidFill>
                </a:ln>
              </p:spPr>
            </p:sp>
            <p:sp>
              <p:nvSpPr>
                <p:cNvPr id="17" name="Freeform 17"/>
                <p:cNvSpPr/>
                <p:nvPr/>
              </p:nvSpPr>
              <p:spPr>
                <a:xfrm>
                  <a:off x="1461294" y="2566194"/>
                  <a:ext cx="154781" cy="144462"/>
                </a:xfrm>
                <a:custGeom>
                  <a:avLst/>
                  <a:gdLst/>
                  <a:ahLst/>
                  <a:cxnLst/>
                  <a:rect l="l" t="t" r="r" b="b"/>
                  <a:pathLst>
                    <a:path w="154781" h="144462">
                      <a:moveTo>
                        <a:pt x="61912" y="144462"/>
                      </a:moveTo>
                      <a:lnTo>
                        <a:pt x="118666" y="144462"/>
                      </a:lnTo>
                      <a:cubicBezTo>
                        <a:pt x="138612" y="144462"/>
                        <a:pt x="154781" y="128293"/>
                        <a:pt x="154781" y="108347"/>
                      </a:cubicBezTo>
                      <a:cubicBezTo>
                        <a:pt x="154781" y="88401"/>
                        <a:pt x="138612" y="72231"/>
                        <a:pt x="118666" y="72231"/>
                      </a:cubicBezTo>
                      <a:lnTo>
                        <a:pt x="36116" y="72231"/>
                      </a:lnTo>
                      <a:cubicBezTo>
                        <a:pt x="16170" y="72231"/>
                        <a:pt x="0" y="56062"/>
                        <a:pt x="0" y="36116"/>
                      </a:cubicBezTo>
                      <a:cubicBezTo>
                        <a:pt x="0" y="16170"/>
                        <a:pt x="16170" y="0"/>
                        <a:pt x="36116" y="0"/>
                      </a:cubicBezTo>
                      <a:lnTo>
                        <a:pt x="82550" y="0"/>
                      </a:lnTo>
                    </a:path>
                  </a:pathLst>
                </a:custGeom>
                <a:noFill/>
                <a:ln w="19050">
                  <a:solidFill>
                    <a:srgbClr val="246BFE"/>
                  </a:solidFill>
                </a:ln>
              </p:spPr>
            </p:sp>
          </p:grpSp>
          <p:sp>
            <p:nvSpPr>
              <p:cNvPr id="19" name="TextBox 19"/>
              <p:cNvSpPr txBox="1"/>
              <p:nvPr/>
            </p:nvSpPr>
            <p:spPr>
              <a:xfrm>
                <a:off x="1718310" y="2575560"/>
                <a:ext cx="1038606"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风险分级行权</a:t>
                </a:r>
              </a:p>
            </p:txBody>
          </p:sp>
          <p:sp>
            <p:nvSpPr>
              <p:cNvPr id="20" name="TextBox 20"/>
              <p:cNvSpPr txBox="1"/>
              <p:nvPr/>
            </p:nvSpPr>
            <p:spPr>
              <a:xfrm>
                <a:off x="1721168" y="2828449"/>
                <a:ext cx="4035766"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低风险 Agent 自主 · 中风险确认 · 高风险(资金/权限/隐私)人工把关</a:t>
                </a:r>
              </a:p>
            </p:txBody>
          </p:sp>
        </p:grpSp>
        <p:grpSp>
          <p:nvGrpSpPr>
            <p:cNvPr id="30" name="Group 30"/>
            <p:cNvGrpSpPr/>
            <p:nvPr/>
          </p:nvGrpSpPr>
          <p:grpSpPr>
            <a:xfrm>
              <a:off x="1047750" y="3295650"/>
              <a:ext cx="3948589" cy="492919"/>
              <a:chOff x="1047750" y="3295650"/>
              <a:chExt cx="3948589" cy="492919"/>
            </a:xfrm>
          </p:grpSpPr>
          <p:sp>
            <p:nvSpPr>
              <p:cNvPr id="22" name="Ellipse 22"/>
              <p:cNvSpPr/>
              <p:nvPr/>
            </p:nvSpPr>
            <p:spPr>
              <a:xfrm>
                <a:off x="1047750" y="3295650"/>
                <a:ext cx="266700" cy="266700"/>
              </a:xfrm>
              <a:prstGeom prst="ellipse">
                <a:avLst/>
              </a:prstGeom>
              <a:solidFill>
                <a:srgbClr val="0052A6"/>
              </a:solidFill>
              <a:ln>
                <a:noFill/>
              </a:ln>
            </p:spPr>
          </p:sp>
          <p:sp>
            <p:nvSpPr>
              <p:cNvPr id="23" name="TextBox 23"/>
              <p:cNvSpPr txBox="1"/>
              <p:nvPr/>
            </p:nvSpPr>
            <p:spPr>
              <a:xfrm>
                <a:off x="1135016" y="3388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grpSp>
            <p:nvGrpSpPr>
              <p:cNvPr id="27" name="Group 27"/>
              <p:cNvGrpSpPr/>
              <p:nvPr/>
            </p:nvGrpSpPr>
            <p:grpSpPr>
              <a:xfrm>
                <a:off x="1440656" y="3328194"/>
                <a:ext cx="185737" cy="144462"/>
                <a:chOff x="1440656" y="3328194"/>
                <a:chExt cx="185737" cy="144462"/>
              </a:xfrm>
            </p:grpSpPr>
            <p:sp>
              <p:nvSpPr>
                <p:cNvPr id="24" name="Freeform 24"/>
                <p:cNvSpPr/>
                <p:nvPr/>
              </p:nvSpPr>
              <p:spPr>
                <a:xfrm>
                  <a:off x="1440656" y="3328194"/>
                  <a:ext cx="144462" cy="103187"/>
                </a:xfrm>
                <a:custGeom>
                  <a:avLst/>
                  <a:gdLst/>
                  <a:ahLst/>
                  <a:cxnLst/>
                  <a:rect l="l" t="t" r="r" b="b"/>
                  <a:pathLst>
                    <a:path w="144462" h="103187">
                      <a:moveTo>
                        <a:pt x="41275" y="103187"/>
                      </a:moveTo>
                      <a:lnTo>
                        <a:pt x="10319" y="103187"/>
                      </a:lnTo>
                      <a:cubicBezTo>
                        <a:pt x="4620" y="103187"/>
                        <a:pt x="0" y="98568"/>
                        <a:pt x="0" y="92869"/>
                      </a:cubicBezTo>
                      <a:lnTo>
                        <a:pt x="0" y="10319"/>
                      </a:lnTo>
                      <a:cubicBezTo>
                        <a:pt x="0" y="4620"/>
                        <a:pt x="4620" y="0"/>
                        <a:pt x="10319" y="0"/>
                      </a:cubicBezTo>
                      <a:lnTo>
                        <a:pt x="134144" y="0"/>
                      </a:lnTo>
                      <a:cubicBezTo>
                        <a:pt x="139843" y="0"/>
                        <a:pt x="144462" y="4620"/>
                        <a:pt x="144462" y="10319"/>
                      </a:cubicBezTo>
                      <a:lnTo>
                        <a:pt x="144462" y="41275"/>
                      </a:lnTo>
                    </a:path>
                  </a:pathLst>
                </a:custGeom>
                <a:noFill/>
                <a:ln w="19050">
                  <a:solidFill>
                    <a:srgbClr val="246BFE"/>
                  </a:solidFill>
                </a:ln>
              </p:spPr>
            </p:sp>
            <p:sp>
              <p:nvSpPr>
                <p:cNvPr id="25" name="Freeform 25"/>
                <p:cNvSpPr/>
                <p:nvPr/>
              </p:nvSpPr>
              <p:spPr>
                <a:xfrm>
                  <a:off x="1481931" y="3369469"/>
                  <a:ext cx="144462" cy="103187"/>
                </a:xfrm>
                <a:custGeom>
                  <a:avLst/>
                  <a:gdLst/>
                  <a:ahLst/>
                  <a:cxnLst/>
                  <a:rect l="l" t="t" r="r" b="b"/>
                  <a:pathLst>
                    <a:path w="144462" h="103187">
                      <a:moveTo>
                        <a:pt x="0" y="10319"/>
                      </a:moveTo>
                      <a:cubicBezTo>
                        <a:pt x="0" y="4620"/>
                        <a:pt x="4620" y="0"/>
                        <a:pt x="10319" y="0"/>
                      </a:cubicBezTo>
                      <a:lnTo>
                        <a:pt x="134144" y="0"/>
                      </a:lnTo>
                      <a:cubicBezTo>
                        <a:pt x="139843" y="0"/>
                        <a:pt x="144462" y="4620"/>
                        <a:pt x="144462" y="10319"/>
                      </a:cubicBezTo>
                      <a:lnTo>
                        <a:pt x="144462" y="92869"/>
                      </a:lnTo>
                      <a:cubicBezTo>
                        <a:pt x="144462" y="98568"/>
                        <a:pt x="139843" y="103187"/>
                        <a:pt x="134144" y="103187"/>
                      </a:cubicBezTo>
                      <a:lnTo>
                        <a:pt x="10319" y="103187"/>
                      </a:lnTo>
                      <a:cubicBezTo>
                        <a:pt x="4620" y="103187"/>
                        <a:pt x="0" y="98568"/>
                        <a:pt x="0" y="92869"/>
                      </a:cubicBezTo>
                      <a:lnTo>
                        <a:pt x="0" y="10319"/>
                      </a:lnTo>
                    </a:path>
                  </a:pathLst>
                </a:custGeom>
                <a:noFill/>
                <a:ln w="19050">
                  <a:solidFill>
                    <a:srgbClr val="246BFE"/>
                  </a:solidFill>
                </a:ln>
              </p:spPr>
            </p:sp>
            <p:sp>
              <p:nvSpPr>
                <p:cNvPr id="26" name="Freeform 26"/>
                <p:cNvSpPr/>
                <p:nvPr/>
              </p:nvSpPr>
              <p:spPr>
                <a:xfrm>
                  <a:off x="1533525" y="3400425"/>
                  <a:ext cx="41275" cy="41275"/>
                </a:xfrm>
                <a:custGeom>
                  <a:avLst/>
                  <a:gdLst/>
                  <a:ahLst/>
                  <a:cxnLst/>
                  <a:rect l="l" t="t" r="r" b="b"/>
                  <a:pathLst>
                    <a:path w="41275" h="41275">
                      <a:moveTo>
                        <a:pt x="0" y="20638"/>
                      </a:moveTo>
                      <a:cubicBezTo>
                        <a:pt x="0" y="32035"/>
                        <a:pt x="9240" y="41275"/>
                        <a:pt x="20637" y="41275"/>
                      </a:cubicBezTo>
                      <a:cubicBezTo>
                        <a:pt x="32035" y="41275"/>
                        <a:pt x="41275" y="32035"/>
                        <a:pt x="41275" y="20638"/>
                      </a:cubicBezTo>
                      <a:cubicBezTo>
                        <a:pt x="41275" y="9240"/>
                        <a:pt x="32035" y="0"/>
                        <a:pt x="20637" y="0"/>
                      </a:cubicBezTo>
                      <a:cubicBezTo>
                        <a:pt x="9240" y="0"/>
                        <a:pt x="0" y="9240"/>
                        <a:pt x="0" y="20638"/>
                      </a:cubicBezTo>
                    </a:path>
                  </a:pathLst>
                </a:custGeom>
                <a:noFill/>
                <a:ln w="19050">
                  <a:solidFill>
                    <a:srgbClr val="246BFE"/>
                  </a:solidFill>
                </a:ln>
              </p:spPr>
            </p:sp>
          </p:grpSp>
          <p:sp>
            <p:nvSpPr>
              <p:cNvPr id="28" name="TextBox 28"/>
              <p:cNvSpPr txBox="1"/>
              <p:nvPr/>
            </p:nvSpPr>
            <p:spPr>
              <a:xfrm>
                <a:off x="1718310" y="3337560"/>
                <a:ext cx="769772"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AI FinOps</a:t>
                </a:r>
              </a:p>
            </p:txBody>
          </p:sp>
          <p:sp>
            <p:nvSpPr>
              <p:cNvPr id="29" name="TextBox 29"/>
              <p:cNvSpPr txBox="1"/>
              <p:nvPr/>
            </p:nvSpPr>
            <p:spPr>
              <a:xfrm>
                <a:off x="1721168" y="3590449"/>
                <a:ext cx="327517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Token/Agent 执行成本/成功率/返工率/缺陷率全量度量</a:t>
                </a:r>
              </a:p>
            </p:txBody>
          </p:sp>
        </p:grpSp>
        <p:grpSp>
          <p:nvGrpSpPr>
            <p:cNvPr id="40" name="Group 40"/>
            <p:cNvGrpSpPr/>
            <p:nvPr/>
          </p:nvGrpSpPr>
          <p:grpSpPr>
            <a:xfrm>
              <a:off x="1047750" y="4057650"/>
              <a:ext cx="4254127" cy="492919"/>
              <a:chOff x="1047750" y="4057650"/>
              <a:chExt cx="4254127" cy="492919"/>
            </a:xfrm>
          </p:grpSpPr>
          <p:sp>
            <p:nvSpPr>
              <p:cNvPr id="31" name="Ellipse 31"/>
              <p:cNvSpPr/>
              <p:nvPr/>
            </p:nvSpPr>
            <p:spPr>
              <a:xfrm>
                <a:off x="1047750" y="4057650"/>
                <a:ext cx="266700" cy="266700"/>
              </a:xfrm>
              <a:prstGeom prst="ellipse">
                <a:avLst/>
              </a:prstGeom>
              <a:solidFill>
                <a:srgbClr val="0052A6"/>
              </a:solidFill>
              <a:ln>
                <a:noFill/>
              </a:ln>
            </p:spPr>
          </p:sp>
          <p:sp>
            <p:nvSpPr>
              <p:cNvPr id="32" name="TextBox 32"/>
              <p:cNvSpPr txBox="1"/>
              <p:nvPr/>
            </p:nvSpPr>
            <p:spPr>
              <a:xfrm>
                <a:off x="1135016" y="4150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grpSp>
            <p:nvGrpSpPr>
              <p:cNvPr id="37" name="Group 37"/>
              <p:cNvGrpSpPr/>
              <p:nvPr/>
            </p:nvGrpSpPr>
            <p:grpSpPr>
              <a:xfrm>
                <a:off x="1440656" y="4079875"/>
                <a:ext cx="185737" cy="174625"/>
                <a:chOff x="1440656" y="4079875"/>
                <a:chExt cx="185737" cy="174625"/>
              </a:xfrm>
            </p:grpSpPr>
            <p:sp>
              <p:nvSpPr>
                <p:cNvPr id="33" name="Freeform 33"/>
                <p:cNvSpPr/>
                <p:nvPr/>
              </p:nvSpPr>
              <p:spPr>
                <a:xfrm>
                  <a:off x="1440656" y="4162425"/>
                  <a:ext cx="61912" cy="82550"/>
                </a:xfrm>
                <a:custGeom>
                  <a:avLst/>
                  <a:gdLst/>
                  <a:ahLst/>
                  <a:cxnLst/>
                  <a:rect l="l" t="t" r="r" b="b"/>
                  <a:pathLst>
                    <a:path w="61912" h="82550">
                      <a:moveTo>
                        <a:pt x="0" y="10319"/>
                      </a:moveTo>
                      <a:cubicBezTo>
                        <a:pt x="0" y="4620"/>
                        <a:pt x="4620" y="0"/>
                        <a:pt x="10319" y="0"/>
                      </a:cubicBezTo>
                      <a:lnTo>
                        <a:pt x="51594" y="0"/>
                      </a:lnTo>
                      <a:cubicBezTo>
                        <a:pt x="57293" y="0"/>
                        <a:pt x="61912" y="4620"/>
                        <a:pt x="61912" y="10319"/>
                      </a:cubicBezTo>
                      <a:lnTo>
                        <a:pt x="61912" y="72231"/>
                      </a:lnTo>
                      <a:cubicBezTo>
                        <a:pt x="61912" y="77930"/>
                        <a:pt x="57293" y="82550"/>
                        <a:pt x="51594" y="82550"/>
                      </a:cubicBezTo>
                      <a:lnTo>
                        <a:pt x="10319" y="82550"/>
                      </a:lnTo>
                      <a:cubicBezTo>
                        <a:pt x="4620" y="82550"/>
                        <a:pt x="0" y="77930"/>
                        <a:pt x="0" y="72231"/>
                      </a:cubicBezTo>
                      <a:lnTo>
                        <a:pt x="0" y="10319"/>
                      </a:lnTo>
                    </a:path>
                  </a:pathLst>
                </a:custGeom>
                <a:noFill/>
                <a:ln w="19050">
                  <a:solidFill>
                    <a:srgbClr val="246BFE"/>
                  </a:solidFill>
                </a:ln>
              </p:spPr>
            </p:sp>
            <p:sp>
              <p:nvSpPr>
                <p:cNvPr id="34" name="Freeform 34"/>
                <p:cNvSpPr/>
                <p:nvPr/>
              </p:nvSpPr>
              <p:spPr>
                <a:xfrm>
                  <a:off x="1564481" y="4121150"/>
                  <a:ext cx="61912" cy="123825"/>
                </a:xfrm>
                <a:custGeom>
                  <a:avLst/>
                  <a:gdLst/>
                  <a:ahLst/>
                  <a:cxnLst/>
                  <a:rect l="l" t="t" r="r" b="b"/>
                  <a:pathLst>
                    <a:path w="61912" h="123825">
                      <a:moveTo>
                        <a:pt x="0" y="10319"/>
                      </a:moveTo>
                      <a:cubicBezTo>
                        <a:pt x="0" y="4620"/>
                        <a:pt x="4620" y="0"/>
                        <a:pt x="10319" y="0"/>
                      </a:cubicBezTo>
                      <a:lnTo>
                        <a:pt x="51594" y="0"/>
                      </a:lnTo>
                      <a:cubicBezTo>
                        <a:pt x="57293" y="0"/>
                        <a:pt x="61912" y="4620"/>
                        <a:pt x="61912" y="10319"/>
                      </a:cubicBezTo>
                      <a:lnTo>
                        <a:pt x="61912" y="113506"/>
                      </a:lnTo>
                      <a:cubicBezTo>
                        <a:pt x="61912" y="119205"/>
                        <a:pt x="57293" y="123825"/>
                        <a:pt x="51594" y="123825"/>
                      </a:cubicBezTo>
                      <a:lnTo>
                        <a:pt x="10319" y="123825"/>
                      </a:lnTo>
                      <a:cubicBezTo>
                        <a:pt x="4620" y="123825"/>
                        <a:pt x="0" y="119205"/>
                        <a:pt x="0" y="113506"/>
                      </a:cubicBezTo>
                      <a:lnTo>
                        <a:pt x="0" y="10319"/>
                      </a:lnTo>
                    </a:path>
                  </a:pathLst>
                </a:custGeom>
                <a:noFill/>
                <a:ln w="19050">
                  <a:solidFill>
                    <a:srgbClr val="246BFE"/>
                  </a:solidFill>
                </a:ln>
              </p:spPr>
            </p:sp>
            <p:sp>
              <p:nvSpPr>
                <p:cNvPr id="35" name="Freeform 35"/>
                <p:cNvSpPr/>
                <p:nvPr/>
              </p:nvSpPr>
              <p:spPr>
                <a:xfrm>
                  <a:off x="1502569" y="4079875"/>
                  <a:ext cx="61912" cy="165100"/>
                </a:xfrm>
                <a:custGeom>
                  <a:avLst/>
                  <a:gdLst/>
                  <a:ahLst/>
                  <a:cxnLst/>
                  <a:rect l="l" t="t" r="r" b="b"/>
                  <a:pathLst>
                    <a:path w="61912" h="165100">
                      <a:moveTo>
                        <a:pt x="0" y="10319"/>
                      </a:moveTo>
                      <a:cubicBezTo>
                        <a:pt x="0" y="4620"/>
                        <a:pt x="4620" y="0"/>
                        <a:pt x="10319" y="0"/>
                      </a:cubicBezTo>
                      <a:lnTo>
                        <a:pt x="51594" y="0"/>
                      </a:lnTo>
                      <a:cubicBezTo>
                        <a:pt x="57293" y="0"/>
                        <a:pt x="61912" y="4620"/>
                        <a:pt x="61912" y="10319"/>
                      </a:cubicBezTo>
                      <a:lnTo>
                        <a:pt x="61912" y="154781"/>
                      </a:lnTo>
                      <a:cubicBezTo>
                        <a:pt x="61912" y="160480"/>
                        <a:pt x="57293" y="165100"/>
                        <a:pt x="51594" y="165100"/>
                      </a:cubicBezTo>
                      <a:lnTo>
                        <a:pt x="10319" y="165100"/>
                      </a:lnTo>
                      <a:cubicBezTo>
                        <a:pt x="4620" y="165100"/>
                        <a:pt x="0" y="160480"/>
                        <a:pt x="0" y="154781"/>
                      </a:cubicBezTo>
                      <a:lnTo>
                        <a:pt x="0" y="10319"/>
                      </a:lnTo>
                    </a:path>
                  </a:pathLst>
                </a:custGeom>
                <a:noFill/>
                <a:ln w="19050">
                  <a:solidFill>
                    <a:srgbClr val="246BFE"/>
                  </a:solidFill>
                </a:ln>
              </p:spPr>
            </p:sp>
            <p:sp>
              <p:nvSpPr>
                <p:cNvPr id="36" name="Freeform 36"/>
                <p:cNvSpPr/>
                <p:nvPr/>
              </p:nvSpPr>
              <p:spPr>
                <a:xfrm>
                  <a:off x="1450975" y="4244975"/>
                  <a:ext cx="144462" cy="9525"/>
                </a:xfrm>
                <a:custGeom>
                  <a:avLst/>
                  <a:gdLst/>
                  <a:ahLst/>
                  <a:cxnLst/>
                  <a:rect l="l" t="t" r="r" b="b"/>
                  <a:pathLst>
                    <a:path w="144462" h="9525">
                      <a:moveTo>
                        <a:pt x="0" y="0"/>
                      </a:moveTo>
                      <a:lnTo>
                        <a:pt x="144462" y="0"/>
                      </a:lnTo>
                    </a:path>
                  </a:pathLst>
                </a:custGeom>
                <a:noFill/>
                <a:ln w="19050">
                  <a:solidFill>
                    <a:srgbClr val="246BFE"/>
                  </a:solidFill>
                </a:ln>
              </p:spPr>
            </p:sp>
          </p:grpSp>
          <p:sp>
            <p:nvSpPr>
              <p:cNvPr id="38" name="TextBox 38"/>
              <p:cNvSpPr txBox="1"/>
              <p:nvPr/>
            </p:nvSpPr>
            <p:spPr>
              <a:xfrm>
                <a:off x="1718310" y="4099560"/>
                <a:ext cx="702564"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效能度量</a:t>
                </a:r>
              </a:p>
            </p:txBody>
          </p:sp>
          <p:sp>
            <p:nvSpPr>
              <p:cNvPr id="39" name="TextBox 39"/>
              <p:cNvSpPr txBox="1"/>
              <p:nvPr/>
            </p:nvSpPr>
            <p:spPr>
              <a:xfrm>
                <a:off x="1721168" y="4352449"/>
                <a:ext cx="3580709"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交付周期/吞吐/测试覆盖/上线后价值,工具使用量 → 真实影响</a:t>
                </a:r>
              </a:p>
            </p:txBody>
          </p:sp>
        </p:grpSp>
        <p:grpSp>
          <p:nvGrpSpPr>
            <p:cNvPr id="48" name="Group 48"/>
            <p:cNvGrpSpPr/>
            <p:nvPr/>
          </p:nvGrpSpPr>
          <p:grpSpPr>
            <a:xfrm>
              <a:off x="1047750" y="4819650"/>
              <a:ext cx="3812072" cy="492919"/>
              <a:chOff x="1047750" y="4819650"/>
              <a:chExt cx="3812072" cy="492919"/>
            </a:xfrm>
          </p:grpSpPr>
          <p:sp>
            <p:nvSpPr>
              <p:cNvPr id="41" name="Ellipse 41"/>
              <p:cNvSpPr/>
              <p:nvPr/>
            </p:nvSpPr>
            <p:spPr>
              <a:xfrm>
                <a:off x="1047750" y="4819650"/>
                <a:ext cx="266700" cy="266700"/>
              </a:xfrm>
              <a:prstGeom prst="ellipse">
                <a:avLst/>
              </a:prstGeom>
              <a:solidFill>
                <a:srgbClr val="0052A6"/>
              </a:solidFill>
              <a:ln>
                <a:noFill/>
              </a:ln>
            </p:spPr>
          </p:sp>
          <p:sp>
            <p:nvSpPr>
              <p:cNvPr id="42" name="TextBox 42"/>
              <p:cNvSpPr txBox="1"/>
              <p:nvPr/>
            </p:nvSpPr>
            <p:spPr>
              <a:xfrm>
                <a:off x="1135016" y="49129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grpSp>
            <p:nvGrpSpPr>
              <p:cNvPr id="45" name="Group 45"/>
              <p:cNvGrpSpPr/>
              <p:nvPr/>
            </p:nvGrpSpPr>
            <p:grpSpPr>
              <a:xfrm>
                <a:off x="1440656" y="4862512"/>
                <a:ext cx="185738" cy="123825"/>
                <a:chOff x="1440656" y="4862512"/>
                <a:chExt cx="185738" cy="123825"/>
              </a:xfrm>
            </p:grpSpPr>
            <p:sp>
              <p:nvSpPr>
                <p:cNvPr id="43" name="Freeform 43"/>
                <p:cNvSpPr/>
                <p:nvPr/>
              </p:nvSpPr>
              <p:spPr>
                <a:xfrm>
                  <a:off x="1512888" y="4903788"/>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19050">
                  <a:solidFill>
                    <a:srgbClr val="246BFE"/>
                  </a:solidFill>
                </a:ln>
              </p:spPr>
            </p:sp>
            <p:sp>
              <p:nvSpPr>
                <p:cNvPr id="44" name="Freeform 44"/>
                <p:cNvSpPr/>
                <p:nvPr/>
              </p:nvSpPr>
              <p:spPr>
                <a:xfrm>
                  <a:off x="1440656" y="4862512"/>
                  <a:ext cx="185738" cy="123825"/>
                </a:xfrm>
                <a:custGeom>
                  <a:avLst/>
                  <a:gdLst/>
                  <a:ahLst/>
                  <a:cxnLst/>
                  <a:rect l="l" t="t" r="r" b="b"/>
                  <a:pathLst>
                    <a:path w="185738" h="123825">
                      <a:moveTo>
                        <a:pt x="185738" y="61912"/>
                      </a:moveTo>
                      <a:cubicBezTo>
                        <a:pt x="160973" y="103188"/>
                        <a:pt x="130016" y="123825"/>
                        <a:pt x="92869" y="123825"/>
                      </a:cubicBezTo>
                      <a:cubicBezTo>
                        <a:pt x="55721" y="123825"/>
                        <a:pt x="24765" y="103188"/>
                        <a:pt x="0" y="61912"/>
                      </a:cubicBezTo>
                      <a:cubicBezTo>
                        <a:pt x="24765" y="20637"/>
                        <a:pt x="55721" y="0"/>
                        <a:pt x="92869" y="0"/>
                      </a:cubicBezTo>
                      <a:cubicBezTo>
                        <a:pt x="130016" y="0"/>
                        <a:pt x="160973" y="20637"/>
                        <a:pt x="185738" y="61912"/>
                      </a:cubicBezTo>
                    </a:path>
                  </a:pathLst>
                </a:custGeom>
                <a:noFill/>
                <a:ln w="19050">
                  <a:solidFill>
                    <a:srgbClr val="246BFE"/>
                  </a:solidFill>
                </a:ln>
              </p:spPr>
            </p:sp>
          </p:grpSp>
          <p:sp>
            <p:nvSpPr>
              <p:cNvPr id="46" name="TextBox 46"/>
              <p:cNvSpPr txBox="1"/>
              <p:nvPr/>
            </p:nvSpPr>
            <p:spPr>
              <a:xfrm>
                <a:off x="1718310" y="4861560"/>
                <a:ext cx="1038606" cy="243840"/>
              </a:xfrm>
              <a:prstGeom prst="rect">
                <a:avLst/>
              </a:prstGeom>
              <a:noFill/>
              <a:ln>
                <a:noFill/>
              </a:ln>
            </p:spPr>
            <p:txBody>
              <a:bodyPr wrap="none" lIns="0" tIns="0" rIns="0" bIns="0" anchor="t" anchorCtr="0">
                <a:spAutoFit/>
              </a:bodyPr>
              <a:lstStyle/>
              <a:p>
                <a:pPr algn="l"/>
                <a:r>
                  <a:rPr lang="zh-CN" sz="1200" b="1" dirty="0">
                    <a:solidFill>
                      <a:srgbClr val="25364A"/>
                    </a:solidFill>
                    <a:latin typeface="Arial"/>
                    <a:ea typeface="Microsoft YaHei"/>
                    <a:cs typeface="Arial"/>
                  </a:rPr>
                  <a:t>能力差异洞察</a:t>
                </a:r>
              </a:p>
            </p:txBody>
          </p:sp>
          <p:sp>
            <p:nvSpPr>
              <p:cNvPr id="47" name="TextBox 47"/>
              <p:cNvSpPr txBox="1"/>
              <p:nvPr/>
            </p:nvSpPr>
            <p:spPr>
              <a:xfrm>
                <a:off x="1721168" y="5114449"/>
                <a:ext cx="3138654"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同样工具不同用法,定位培训/Skill 复用/团队建设重点</a:t>
                </a:r>
              </a:p>
            </p:txBody>
          </p:sp>
        </p:grpSp>
      </p:grpSp>
      <p:grpSp>
        <p:nvGrpSpPr>
          <p:cNvPr id="75" name="Group 75"/>
          <p:cNvGrpSpPr/>
          <p:nvPr/>
        </p:nvGrpSpPr>
        <p:grpSpPr>
          <a:xfrm>
            <a:off x="7048500" y="1524000"/>
            <a:ext cx="4381500" cy="4381500"/>
            <a:chOff x="7048500" y="1524000"/>
            <a:chExt cx="4381500" cy="4381500"/>
          </a:xfrm>
        </p:grpSpPr>
        <p:sp>
          <p:nvSpPr>
            <p:cNvPr id="50" name="Rectangle 50"/>
            <p:cNvSpPr/>
            <p:nvPr/>
          </p:nvSpPr>
          <p:spPr>
            <a:xfrm>
              <a:off x="7048500" y="1524000"/>
              <a:ext cx="4381500" cy="4381500"/>
            </a:xfrm>
            <a:prstGeom prst="roundRect">
              <a:avLst>
                <a:gd name="adj" fmla="val 3478"/>
              </a:avLst>
            </a:prstGeom>
            <a:solidFill>
              <a:srgbClr val="0A2A5E"/>
            </a:solidFill>
            <a:ln>
              <a:noFill/>
            </a:ln>
          </p:spPr>
        </p:sp>
        <p:grpSp>
          <p:nvGrpSpPr>
            <p:cNvPr id="53" name="Group 53"/>
            <p:cNvGrpSpPr/>
            <p:nvPr/>
          </p:nvGrpSpPr>
          <p:grpSpPr>
            <a:xfrm>
              <a:off x="7353300" y="1841500"/>
              <a:ext cx="228600" cy="127000"/>
              <a:chOff x="7353300" y="1841500"/>
              <a:chExt cx="228600" cy="127000"/>
            </a:xfrm>
          </p:grpSpPr>
          <p:sp>
            <p:nvSpPr>
              <p:cNvPr id="51" name="Freeform 51"/>
              <p:cNvSpPr/>
              <p:nvPr/>
            </p:nvSpPr>
            <p:spPr>
              <a:xfrm>
                <a:off x="7353300" y="1841500"/>
                <a:ext cx="228600" cy="127000"/>
              </a:xfrm>
              <a:custGeom>
                <a:avLst/>
                <a:gdLst/>
                <a:ahLst/>
                <a:cxnLst/>
                <a:rect l="l" t="t" r="r" b="b"/>
                <a:pathLst>
                  <a:path w="228600" h="127000">
                    <a:moveTo>
                      <a:pt x="0" y="127000"/>
                    </a:moveTo>
                    <a:lnTo>
                      <a:pt x="76200" y="50800"/>
                    </a:lnTo>
                    <a:lnTo>
                      <a:pt x="127000" y="101600"/>
                    </a:lnTo>
                    <a:lnTo>
                      <a:pt x="228600" y="0"/>
                    </a:lnTo>
                  </a:path>
                </a:pathLst>
              </a:custGeom>
              <a:noFill/>
              <a:ln w="19050">
                <a:solidFill>
                  <a:srgbClr val="FFFFFF"/>
                </a:solidFill>
              </a:ln>
            </p:spPr>
          </p:sp>
          <p:sp>
            <p:nvSpPr>
              <p:cNvPr id="52" name="Freeform 52"/>
              <p:cNvSpPr/>
              <p:nvPr/>
            </p:nvSpPr>
            <p:spPr>
              <a:xfrm>
                <a:off x="7493000" y="1841500"/>
                <a:ext cx="88900" cy="88900"/>
              </a:xfrm>
              <a:custGeom>
                <a:avLst/>
                <a:gdLst/>
                <a:ahLst/>
                <a:cxnLst/>
                <a:rect l="l" t="t" r="r" b="b"/>
                <a:pathLst>
                  <a:path w="88900" h="88900">
                    <a:moveTo>
                      <a:pt x="0" y="0"/>
                    </a:moveTo>
                    <a:lnTo>
                      <a:pt x="88900" y="0"/>
                    </a:lnTo>
                    <a:lnTo>
                      <a:pt x="88900" y="88900"/>
                    </a:lnTo>
                  </a:path>
                </a:pathLst>
              </a:custGeom>
              <a:noFill/>
              <a:ln w="19050">
                <a:solidFill>
                  <a:srgbClr val="FFFFFF"/>
                </a:solidFill>
              </a:ln>
            </p:spPr>
          </p:sp>
        </p:grpSp>
        <p:sp>
          <p:nvSpPr>
            <p:cNvPr id="54" name="TextBox 54"/>
            <p:cNvSpPr txBox="1"/>
            <p:nvPr/>
          </p:nvSpPr>
          <p:spPr>
            <a:xfrm>
              <a:off x="7696200" y="1819275"/>
              <a:ext cx="45815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价值</a:t>
              </a:r>
            </a:p>
          </p:txBody>
        </p:sp>
        <p:sp>
          <p:nvSpPr>
            <p:cNvPr id="55" name="Line 55"/>
            <p:cNvSpPr/>
            <p:nvPr/>
          </p:nvSpPr>
          <p:spPr>
            <a:xfrm>
              <a:off x="7315200" y="2209800"/>
              <a:ext cx="3848100" cy="9525"/>
            </a:xfrm>
            <a:custGeom>
              <a:avLst/>
              <a:gdLst/>
              <a:ahLst/>
              <a:cxnLst/>
              <a:rect l="l" t="t" r="r" b="b"/>
              <a:pathLst>
                <a:path w="3848100" h="9525">
                  <a:moveTo>
                    <a:pt x="0" y="0"/>
                  </a:moveTo>
                  <a:lnTo>
                    <a:pt x="3848100" y="0"/>
                  </a:lnTo>
                </a:path>
              </a:pathLst>
            </a:custGeom>
            <a:noFill/>
            <a:ln w="9525">
              <a:solidFill>
                <a:srgbClr val="246BFE">
                  <a:alpha val="40000"/>
                </a:srgbClr>
              </a:solidFill>
            </a:ln>
          </p:spPr>
        </p:sp>
        <p:grpSp>
          <p:nvGrpSpPr>
            <p:cNvPr id="61" name="Group 61"/>
            <p:cNvGrpSpPr/>
            <p:nvPr/>
          </p:nvGrpSpPr>
          <p:grpSpPr>
            <a:xfrm>
              <a:off x="7302818" y="2609850"/>
              <a:ext cx="2335322" cy="588169"/>
              <a:chOff x="7302818" y="2609850"/>
              <a:chExt cx="2335322" cy="588169"/>
            </a:xfrm>
          </p:grpSpPr>
          <p:grpSp>
            <p:nvGrpSpPr>
              <p:cNvPr id="58" name="Group 58"/>
              <p:cNvGrpSpPr/>
              <p:nvPr/>
            </p:nvGrpSpPr>
            <p:grpSpPr>
              <a:xfrm>
                <a:off x="7353300" y="2609850"/>
                <a:ext cx="228600" cy="228600"/>
                <a:chOff x="7353300" y="2609850"/>
                <a:chExt cx="228600" cy="228600"/>
              </a:xfrm>
            </p:grpSpPr>
            <p:sp>
              <p:nvSpPr>
                <p:cNvPr id="56" name="Freeform 56"/>
                <p:cNvSpPr/>
                <p:nvPr/>
              </p:nvSpPr>
              <p:spPr>
                <a:xfrm>
                  <a:off x="7353300" y="26098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518FEC"/>
                  </a:solidFill>
                </a:ln>
              </p:spPr>
            </p:sp>
            <p:sp>
              <p:nvSpPr>
                <p:cNvPr id="57" name="Freeform 57"/>
                <p:cNvSpPr/>
                <p:nvPr/>
              </p:nvSpPr>
              <p:spPr>
                <a:xfrm>
                  <a:off x="7429500" y="2698750"/>
                  <a:ext cx="76200" cy="50800"/>
                </a:xfrm>
                <a:custGeom>
                  <a:avLst/>
                  <a:gdLst/>
                  <a:ahLst/>
                  <a:cxnLst/>
                  <a:rect l="l" t="t" r="r" b="b"/>
                  <a:pathLst>
                    <a:path w="76200" h="50800">
                      <a:moveTo>
                        <a:pt x="0" y="25400"/>
                      </a:moveTo>
                      <a:lnTo>
                        <a:pt x="25400" y="50800"/>
                      </a:lnTo>
                      <a:lnTo>
                        <a:pt x="76200" y="0"/>
                      </a:lnTo>
                    </a:path>
                  </a:pathLst>
                </a:custGeom>
                <a:noFill/>
                <a:ln w="19050">
                  <a:solidFill>
                    <a:srgbClr val="518FEC"/>
                  </a:solidFill>
                </a:ln>
              </p:spPr>
            </p:sp>
          </p:grpSp>
          <p:sp>
            <p:nvSpPr>
              <p:cNvPr id="59" name="TextBox 59"/>
              <p:cNvSpPr txBox="1"/>
              <p:nvPr/>
            </p:nvSpPr>
            <p:spPr>
              <a:xfrm>
                <a:off x="7713345" y="2622232"/>
                <a:ext cx="1924795"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AI 投入产出可度量</a:t>
                </a:r>
              </a:p>
            </p:txBody>
          </p:sp>
          <p:sp>
            <p:nvSpPr>
              <p:cNvPr id="60" name="TextBox 60"/>
              <p:cNvSpPr txBox="1"/>
              <p:nvPr/>
            </p:nvSpPr>
            <p:spPr>
              <a:xfrm>
                <a:off x="7302818" y="2999899"/>
                <a:ext cx="2014014"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从"用了多少"到"带来什么"(预估)</a:t>
                </a:r>
              </a:p>
            </p:txBody>
          </p:sp>
        </p:grpSp>
        <p:sp>
          <p:nvSpPr>
            <p:cNvPr id="62" name="Line 62"/>
            <p:cNvSpPr/>
            <p:nvPr/>
          </p:nvSpPr>
          <p:spPr>
            <a:xfrm>
              <a:off x="7315200" y="3333750"/>
              <a:ext cx="3848100" cy="9525"/>
            </a:xfrm>
            <a:custGeom>
              <a:avLst/>
              <a:gdLst/>
              <a:ahLst/>
              <a:cxnLst/>
              <a:rect l="l" t="t" r="r" b="b"/>
              <a:pathLst>
                <a:path w="3848100" h="9525">
                  <a:moveTo>
                    <a:pt x="0" y="0"/>
                  </a:moveTo>
                  <a:lnTo>
                    <a:pt x="3848100" y="0"/>
                  </a:lnTo>
                </a:path>
              </a:pathLst>
            </a:custGeom>
            <a:noFill/>
            <a:ln w="9525">
              <a:solidFill>
                <a:srgbClr val="FFFFFF">
                  <a:alpha val="15000"/>
                </a:srgbClr>
              </a:solidFill>
            </a:ln>
          </p:spPr>
        </p:sp>
        <p:grpSp>
          <p:nvGrpSpPr>
            <p:cNvPr id="66" name="Group 66"/>
            <p:cNvGrpSpPr/>
            <p:nvPr/>
          </p:nvGrpSpPr>
          <p:grpSpPr>
            <a:xfrm>
              <a:off x="7277100" y="3676650"/>
              <a:ext cx="1777413" cy="923925"/>
              <a:chOff x="7277100" y="3676650"/>
              <a:chExt cx="1777413" cy="923925"/>
            </a:xfrm>
          </p:grpSpPr>
          <p:sp>
            <p:nvSpPr>
              <p:cNvPr id="63" name="TextBox 63"/>
              <p:cNvSpPr txBox="1"/>
              <p:nvPr/>
            </p:nvSpPr>
            <p:spPr>
              <a:xfrm>
                <a:off x="7277100" y="3676650"/>
                <a:ext cx="1777413"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↓30-50%</a:t>
                </a:r>
              </a:p>
            </p:txBody>
          </p:sp>
          <p:sp>
            <p:nvSpPr>
              <p:cNvPr id="64" name="TextBox 64"/>
              <p:cNvSpPr txBox="1"/>
              <p:nvPr/>
            </p:nvSpPr>
            <p:spPr>
              <a:xfrm>
                <a:off x="7299960" y="4175760"/>
                <a:ext cx="1470660" cy="243840"/>
              </a:xfrm>
              <a:prstGeom prst="rect">
                <a:avLst/>
              </a:prstGeom>
              <a:noFill/>
              <a:ln>
                <a:noFill/>
              </a:ln>
            </p:spPr>
            <p:txBody>
              <a:bodyPr wrap="none" lIns="0" tIns="0" rIns="0" bIns="0" anchor="t" anchorCtr="0">
                <a:spAutoFit/>
              </a:bodyPr>
              <a:lstStyle/>
              <a:p>
                <a:pPr algn="l"/>
                <a:r>
                  <a:rPr lang="zh-CN" sz="1200" dirty="0">
                    <a:solidFill>
                      <a:srgbClr val="DCE6FB"/>
                    </a:solidFill>
                    <a:latin typeface="Arial"/>
                    <a:ea typeface="Microsoft YaHei"/>
                    <a:cs typeface="Arial"/>
                  </a:rPr>
                  <a:t>高风险变更漏审风险</a:t>
                </a:r>
              </a:p>
            </p:txBody>
          </p:sp>
          <p:sp>
            <p:nvSpPr>
              <p:cNvPr id="65" name="TextBox 65"/>
              <p:cNvSpPr txBox="1"/>
              <p:nvPr/>
            </p:nvSpPr>
            <p:spPr>
              <a:xfrm>
                <a:off x="7303770" y="4417695"/>
                <a:ext cx="394906" cy="182880"/>
              </a:xfrm>
              <a:prstGeom prst="rect">
                <a:avLst/>
              </a:prstGeom>
              <a:noFill/>
              <a:ln>
                <a:noFill/>
              </a:ln>
            </p:spPr>
            <p:txBody>
              <a:bodyPr wrap="none" lIns="0" tIns="0" rIns="0" bIns="0" anchor="t" anchorCtr="0">
                <a:spAutoFit/>
              </a:bodyPr>
              <a:lstStyle/>
              <a:p>
                <a:pPr algn="l"/>
                <a:r>
                  <a:rPr lang="zh-CN" sz="900" dirty="0">
                    <a:solidFill>
                      <a:srgbClr val="8FA3C4"/>
                    </a:solidFill>
                    <a:latin typeface="Arial"/>
                    <a:ea typeface="Microsoft YaHei"/>
                    <a:cs typeface="Arial"/>
                  </a:rPr>
                  <a:t>(预估)</a:t>
                </a:r>
              </a:p>
            </p:txBody>
          </p:sp>
        </p:grpSp>
        <p:sp>
          <p:nvSpPr>
            <p:cNvPr id="67" name="Line 67"/>
            <p:cNvSpPr/>
            <p:nvPr/>
          </p:nvSpPr>
          <p:spPr>
            <a:xfrm>
              <a:off x="7315200" y="4762500"/>
              <a:ext cx="3848100" cy="9525"/>
            </a:xfrm>
            <a:custGeom>
              <a:avLst/>
              <a:gdLst/>
              <a:ahLst/>
              <a:cxnLst/>
              <a:rect l="l" t="t" r="r" b="b"/>
              <a:pathLst>
                <a:path w="3848100" h="9525">
                  <a:moveTo>
                    <a:pt x="0" y="0"/>
                  </a:moveTo>
                  <a:lnTo>
                    <a:pt x="3848100" y="0"/>
                  </a:lnTo>
                </a:path>
              </a:pathLst>
            </a:custGeom>
            <a:noFill/>
            <a:ln w="9525">
              <a:solidFill>
                <a:srgbClr val="FFFFFF">
                  <a:alpha val="15000"/>
                </a:srgbClr>
              </a:solidFill>
            </a:ln>
          </p:spPr>
        </p:sp>
        <p:grpSp>
          <p:nvGrpSpPr>
            <p:cNvPr id="74" name="Group 74"/>
            <p:cNvGrpSpPr/>
            <p:nvPr/>
          </p:nvGrpSpPr>
          <p:grpSpPr>
            <a:xfrm>
              <a:off x="7302818" y="5064919"/>
              <a:ext cx="2082141" cy="590550"/>
              <a:chOff x="7302818" y="5064919"/>
              <a:chExt cx="2082141" cy="590550"/>
            </a:xfrm>
          </p:grpSpPr>
          <p:grpSp>
            <p:nvGrpSpPr>
              <p:cNvPr id="71" name="Group 71"/>
              <p:cNvGrpSpPr/>
              <p:nvPr/>
            </p:nvGrpSpPr>
            <p:grpSpPr>
              <a:xfrm>
                <a:off x="7350919" y="5064919"/>
                <a:ext cx="214312" cy="214312"/>
                <a:chOff x="7350919" y="5064919"/>
                <a:chExt cx="214312" cy="214312"/>
              </a:xfrm>
            </p:grpSpPr>
            <p:sp>
              <p:nvSpPr>
                <p:cNvPr id="68" name="Freeform 68"/>
                <p:cNvSpPr/>
                <p:nvPr/>
              </p:nvSpPr>
              <p:spPr>
                <a:xfrm>
                  <a:off x="7350919" y="50649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19050">
                  <a:solidFill>
                    <a:srgbClr val="518FEC"/>
                  </a:solidFill>
                </a:ln>
              </p:spPr>
            </p:sp>
            <p:sp>
              <p:nvSpPr>
                <p:cNvPr id="69" name="Freeform 69"/>
                <p:cNvSpPr/>
                <p:nvPr/>
              </p:nvSpPr>
              <p:spPr>
                <a:xfrm>
                  <a:off x="7422356" y="5124154"/>
                  <a:ext cx="71438" cy="95842"/>
                </a:xfrm>
                <a:custGeom>
                  <a:avLst/>
                  <a:gdLst/>
                  <a:ahLst/>
                  <a:cxnLst/>
                  <a:rect l="l" t="t" r="r" b="b"/>
                  <a:pathLst>
                    <a:path w="71438" h="95842">
                      <a:moveTo>
                        <a:pt x="69056" y="12202"/>
                      </a:moveTo>
                      <a:cubicBezTo>
                        <a:pt x="64661" y="4579"/>
                        <a:pt x="56420" y="0"/>
                        <a:pt x="47625" y="296"/>
                      </a:cubicBezTo>
                      <a:lnTo>
                        <a:pt x="23812" y="296"/>
                      </a:lnTo>
                      <a:cubicBezTo>
                        <a:pt x="10661" y="296"/>
                        <a:pt x="0" y="10957"/>
                        <a:pt x="0" y="24109"/>
                      </a:cubicBezTo>
                      <a:cubicBezTo>
                        <a:pt x="0" y="37260"/>
                        <a:pt x="10661" y="47921"/>
                        <a:pt x="23812" y="47921"/>
                      </a:cubicBezTo>
                      <a:lnTo>
                        <a:pt x="47625" y="47921"/>
                      </a:lnTo>
                      <a:cubicBezTo>
                        <a:pt x="60776" y="47921"/>
                        <a:pt x="71438" y="58582"/>
                        <a:pt x="71438" y="71734"/>
                      </a:cubicBezTo>
                      <a:cubicBezTo>
                        <a:pt x="71438" y="84885"/>
                        <a:pt x="60776" y="95546"/>
                        <a:pt x="47625" y="95546"/>
                      </a:cubicBezTo>
                      <a:lnTo>
                        <a:pt x="23812" y="95546"/>
                      </a:lnTo>
                      <a:cubicBezTo>
                        <a:pt x="15018" y="95842"/>
                        <a:pt x="6776" y="91264"/>
                        <a:pt x="2381" y="83640"/>
                      </a:cubicBezTo>
                    </a:path>
                  </a:pathLst>
                </a:custGeom>
                <a:noFill/>
                <a:ln w="19050">
                  <a:solidFill>
                    <a:srgbClr val="518FEC"/>
                  </a:solidFill>
                </a:ln>
              </p:spPr>
            </p:sp>
            <p:sp>
              <p:nvSpPr>
                <p:cNvPr id="70" name="Freeform 70"/>
                <p:cNvSpPr/>
                <p:nvPr/>
              </p:nvSpPr>
              <p:spPr>
                <a:xfrm>
                  <a:off x="7458075" y="5112544"/>
                  <a:ext cx="9525" cy="119062"/>
                </a:xfrm>
                <a:custGeom>
                  <a:avLst/>
                  <a:gdLst/>
                  <a:ahLst/>
                  <a:cxnLst/>
                  <a:rect l="l" t="t" r="r" b="b"/>
                  <a:pathLst>
                    <a:path w="9525" h="119062">
                      <a:moveTo>
                        <a:pt x="0" y="0"/>
                      </a:moveTo>
                      <a:lnTo>
                        <a:pt x="0" y="119062"/>
                      </a:lnTo>
                    </a:path>
                  </a:pathLst>
                </a:custGeom>
                <a:noFill/>
                <a:ln w="19050">
                  <a:solidFill>
                    <a:srgbClr val="518FEC"/>
                  </a:solidFill>
                </a:ln>
              </p:spPr>
            </p:sp>
          </p:grpSp>
          <p:sp>
            <p:nvSpPr>
              <p:cNvPr id="72" name="TextBox 72"/>
              <p:cNvSpPr txBox="1"/>
              <p:nvPr/>
            </p:nvSpPr>
            <p:spPr>
              <a:xfrm>
                <a:off x="7677150" y="5095875"/>
                <a:ext cx="170780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Token ROI 可视化</a:t>
                </a:r>
              </a:p>
            </p:txBody>
          </p:sp>
          <p:sp>
            <p:nvSpPr>
              <p:cNvPr id="73" name="TextBox 73"/>
              <p:cNvSpPr txBox="1"/>
              <p:nvPr/>
            </p:nvSpPr>
            <p:spPr>
              <a:xfrm>
                <a:off x="7302818" y="5457349"/>
                <a:ext cx="1539454" cy="198120"/>
              </a:xfrm>
              <a:prstGeom prst="rect">
                <a:avLst/>
              </a:prstGeom>
              <a:noFill/>
              <a:ln>
                <a:noFill/>
              </a:ln>
            </p:spPr>
            <p:txBody>
              <a:bodyPr wrap="none" lIns="0" tIns="0" rIns="0" bIns="0" anchor="t" anchorCtr="0">
                <a:spAutoFit/>
              </a:bodyPr>
              <a:lstStyle/>
              <a:p>
                <a:pPr algn="l"/>
                <a:r>
                  <a:rPr lang="zh-CN" sz="975" dirty="0">
                    <a:solidFill>
                      <a:srgbClr val="B8C7E0"/>
                    </a:solidFill>
                    <a:latin typeface="Arial"/>
                    <a:ea typeface="Microsoft YaHei"/>
                    <a:cs typeface="Arial"/>
                  </a:rPr>
                  <a:t>成本-收益持续追踪(预估)</a:t>
                </a:r>
              </a:p>
            </p:txBody>
          </p:sp>
        </p:grpSp>
      </p:grpSp>
      <p:grpSp>
        <p:nvGrpSpPr>
          <p:cNvPr id="78" name="Group 78"/>
          <p:cNvGrpSpPr/>
          <p:nvPr/>
        </p:nvGrpSpPr>
        <p:grpSpPr>
          <a:xfrm>
            <a:off x="750570" y="6456045"/>
            <a:ext cx="10689907" cy="182880"/>
            <a:chOff x="750570" y="6456045"/>
            <a:chExt cx="10689907" cy="182880"/>
          </a:xfrm>
        </p:grpSpPr>
        <p:sp>
          <p:nvSpPr>
            <p:cNvPr id="76" name="TextBox 76"/>
            <p:cNvSpPr txBox="1"/>
            <p:nvPr/>
          </p:nvSpPr>
          <p:spPr>
            <a:xfrm>
              <a:off x="750570" y="6456045"/>
              <a:ext cx="171507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第四章 · S4 智能治理与 FinOps</a:t>
              </a:r>
            </a:p>
          </p:txBody>
        </p:sp>
        <p:sp>
          <p:nvSpPr>
            <p:cNvPr id="77" name="TextBox 77"/>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22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fade">
                                      <p:cBhvr>
                                        <p:cTn id="11" dur="400"/>
                                        <p:tgtEl>
                                          <p:spTgt spid="4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wipe(left)">
                                      <p:cBhvr>
                                        <p:cTn id="15"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9" grpId="0"/>
      <p:bldP spid="7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7048500"/>
            <a:chOff x="0" y="0"/>
            <a:chExt cx="12192000" cy="70485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Ellipse 3"/>
            <p:cNvSpPr/>
            <p:nvPr/>
          </p:nvSpPr>
          <p:spPr>
            <a:xfrm>
              <a:off x="8096250" y="0"/>
              <a:ext cx="3810000" cy="3810000"/>
            </a:xfrm>
            <a:prstGeom prst="ellipse">
              <a:avLst/>
            </a:prstGeom>
            <a:solidFill>
              <a:srgbClr val="246BFE">
                <a:alpha val="6000"/>
              </a:srgbClr>
            </a:solidFill>
            <a:ln>
              <a:noFill/>
            </a:ln>
          </p:spPr>
        </p:sp>
        <p:sp>
          <p:nvSpPr>
            <p:cNvPr id="4" name="Ellipse 4"/>
            <p:cNvSpPr/>
            <p:nvPr/>
          </p:nvSpPr>
          <p:spPr>
            <a:xfrm>
              <a:off x="571500" y="4381500"/>
              <a:ext cx="2667000" cy="2667000"/>
            </a:xfrm>
            <a:prstGeom prst="ellipse">
              <a:avLst/>
            </a:prstGeom>
            <a:solidFill>
              <a:srgbClr val="518FEC">
                <a:alpha val="5000"/>
              </a:srgbClr>
            </a:solidFill>
            <a:ln>
              <a:noFill/>
            </a:ln>
          </p:spPr>
        </p:sp>
      </p:grpSp>
      <p:grpSp>
        <p:nvGrpSpPr>
          <p:cNvPr id="7" name="Group 7"/>
          <p:cNvGrpSpPr/>
          <p:nvPr/>
        </p:nvGrpSpPr>
        <p:grpSpPr>
          <a:xfrm>
            <a:off x="552450" y="2981325"/>
            <a:ext cx="2960418" cy="3352800"/>
            <a:chOff x="552450" y="2981325"/>
            <a:chExt cx="2960418" cy="3352800"/>
          </a:xfrm>
        </p:grpSpPr>
        <p:sp>
          <p:nvSpPr>
            <p:cNvPr id="6" name="TextBox 6"/>
            <p:cNvSpPr txBox="1"/>
            <p:nvPr/>
          </p:nvSpPr>
          <p:spPr>
            <a:xfrm>
              <a:off x="552450" y="2981325"/>
              <a:ext cx="2960418" cy="3352800"/>
            </a:xfrm>
            <a:prstGeom prst="rect">
              <a:avLst/>
            </a:prstGeom>
            <a:noFill/>
            <a:ln>
              <a:noFill/>
            </a:ln>
          </p:spPr>
          <p:txBody>
            <a:bodyPr wrap="none" lIns="0" tIns="0" rIns="0" bIns="0" anchor="t" anchorCtr="0">
              <a:spAutoFit/>
            </a:bodyPr>
            <a:lstStyle/>
            <a:p>
              <a:pPr algn="l"/>
              <a:r>
                <a:rPr lang="zh-CN" sz="16500" b="1" dirty="0">
                  <a:solidFill>
                    <a:srgbClr val="FFFFFF">
                      <a:alphaMod val="10000"/>
                    </a:srgbClr>
                  </a:solidFill>
                  <a:latin typeface="Arial"/>
                  <a:ea typeface="Microsoft YaHei"/>
                  <a:cs typeface="Arial"/>
                </a:rPr>
                <a:t>05</a:t>
              </a:r>
            </a:p>
          </p:txBody>
        </p:sp>
      </p:grpSp>
      <p:grpSp>
        <p:nvGrpSpPr>
          <p:cNvPr id="10" name="Group 10"/>
          <p:cNvGrpSpPr/>
          <p:nvPr/>
        </p:nvGrpSpPr>
        <p:grpSpPr>
          <a:xfrm>
            <a:off x="840105" y="2209800"/>
            <a:ext cx="1160145" cy="547688"/>
            <a:chOff x="840105" y="2209800"/>
            <a:chExt cx="1160145" cy="547688"/>
          </a:xfrm>
        </p:grpSpPr>
        <p:sp>
          <p:nvSpPr>
            <p:cNvPr id="8" name="Rectangle 8"/>
            <p:cNvSpPr/>
            <p:nvPr/>
          </p:nvSpPr>
          <p:spPr>
            <a:xfrm>
              <a:off x="857250" y="2209800"/>
              <a:ext cx="1143000" cy="38100"/>
            </a:xfrm>
            <a:prstGeom prst="roundRect">
              <a:avLst>
                <a:gd name="adj" fmla="val 50000"/>
              </a:avLst>
            </a:prstGeom>
            <a:solidFill>
              <a:srgbClr val="246BFE"/>
            </a:solidFill>
            <a:ln>
              <a:noFill/>
            </a:ln>
          </p:spPr>
        </p:sp>
        <p:sp>
          <p:nvSpPr>
            <p:cNvPr id="9" name="TextBox 9"/>
            <p:cNvSpPr txBox="1"/>
            <p:nvPr/>
          </p:nvSpPr>
          <p:spPr>
            <a:xfrm>
              <a:off x="840105" y="2483168"/>
              <a:ext cx="979408" cy="274320"/>
            </a:xfrm>
            <a:prstGeom prst="rect">
              <a:avLst/>
            </a:prstGeom>
            <a:noFill/>
            <a:ln>
              <a:noFill/>
            </a:ln>
          </p:spPr>
          <p:txBody>
            <a:bodyPr wrap="none" lIns="0" tIns="0" rIns="0" bIns="0" anchor="t" anchorCtr="0">
              <a:spAutoFit/>
            </a:bodyPr>
            <a:lstStyle/>
            <a:p>
              <a:pPr algn="l"/>
              <a:r>
                <a:rPr lang="zh-CN" sz="1350" dirty="0">
                  <a:solidFill>
                    <a:srgbClr val="518FEC"/>
                  </a:solidFill>
                  <a:latin typeface="Arial"/>
                  <a:ea typeface="Microsoft YaHei"/>
                  <a:cs typeface="Arial"/>
                </a:rPr>
                <a:t>CHAPTER 05</a:t>
              </a:r>
            </a:p>
          </p:txBody>
        </p:sp>
      </p:grpSp>
      <p:grpSp>
        <p:nvGrpSpPr>
          <p:cNvPr id="14" name="Group 14"/>
          <p:cNvGrpSpPr/>
          <p:nvPr/>
        </p:nvGrpSpPr>
        <p:grpSpPr>
          <a:xfrm>
            <a:off x="819150" y="3067050"/>
            <a:ext cx="4245864" cy="1428750"/>
            <a:chOff x="819150" y="3067050"/>
            <a:chExt cx="4245864" cy="1428750"/>
          </a:xfrm>
        </p:grpSpPr>
        <p:sp>
          <p:nvSpPr>
            <p:cNvPr id="11" name="TextBox 11"/>
            <p:cNvSpPr txBox="1"/>
            <p:nvPr/>
          </p:nvSpPr>
          <p:spPr>
            <a:xfrm>
              <a:off x="819150" y="3067050"/>
              <a:ext cx="175641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工程底座</a:t>
              </a:r>
            </a:p>
          </p:txBody>
        </p:sp>
        <p:sp>
          <p:nvSpPr>
            <p:cNvPr id="12" name="TextBox 12"/>
            <p:cNvSpPr txBox="1"/>
            <p:nvPr/>
          </p:nvSpPr>
          <p:spPr>
            <a:xfrm>
              <a:off x="832485" y="3694748"/>
              <a:ext cx="2168795"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Harness 驾驭框架</a:t>
              </a:r>
            </a:p>
          </p:txBody>
        </p:sp>
        <p:sp>
          <p:nvSpPr>
            <p:cNvPr id="13" name="TextBox 13"/>
            <p:cNvSpPr txBox="1"/>
            <p:nvPr/>
          </p:nvSpPr>
          <p:spPr>
            <a:xfrm>
              <a:off x="842010" y="4251960"/>
              <a:ext cx="4223004"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Harness 是 Agent 可控的前提 —— 给技术负责人的工程视图</a:t>
              </a:r>
            </a:p>
          </p:txBody>
        </p:sp>
      </p:grpSp>
      <p:sp>
        <p:nvSpPr>
          <p:cNvPr id="15" name="TextBox 15"/>
          <p:cNvSpPr txBox="1"/>
          <p:nvPr/>
        </p:nvSpPr>
        <p:spPr>
          <a:xfrm>
            <a:off x="10594419" y="6464141"/>
            <a:ext cx="846058" cy="167640"/>
          </a:xfrm>
          <a:prstGeom prst="rect">
            <a:avLst/>
          </a:prstGeom>
          <a:noFill/>
          <a:ln>
            <a:noFill/>
          </a:ln>
        </p:spPr>
        <p:txBody>
          <a:bodyPr wrap="none" lIns="0" tIns="0" rIns="0" bIns="0" anchor="t" anchorCtr="0">
            <a:spAutoFit/>
          </a:bodyPr>
          <a:lstStyle/>
          <a:p>
            <a:pPr algn="r"/>
            <a:r>
              <a:rPr lang="zh-CN" sz="825" dirty="0">
                <a:solidFill>
                  <a:srgbClr val="8FA3C4"/>
                </a:solidFill>
                <a:latin typeface="Arial"/>
                <a:ea typeface="Microsoft YaHei"/>
                <a:cs typeface="Arial"/>
              </a:rPr>
              <a:t>23 / 30 · 第五章</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5948777" cy="792956"/>
            <a:chOff x="735330" y="533400"/>
            <a:chExt cx="5948777"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5948777"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Harness 9 大组件 —— 驾驭 Agent 的工程抓手</a:t>
              </a:r>
            </a:p>
          </p:txBody>
        </p:sp>
        <p:sp>
          <p:nvSpPr>
            <p:cNvPr id="5" name="TextBox 5"/>
            <p:cNvSpPr txBox="1"/>
            <p:nvPr/>
          </p:nvSpPr>
          <p:spPr>
            <a:xfrm>
              <a:off x="747712" y="1097756"/>
              <a:ext cx="4334113"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9 个工程组件,把"Agent 能跑"升级为"Agent 可控可验证可追溯"</a:t>
              </a:r>
            </a:p>
          </p:txBody>
        </p:sp>
      </p:grpSp>
      <p:grpSp>
        <p:nvGrpSpPr>
          <p:cNvPr id="18" name="Group 18"/>
          <p:cNvGrpSpPr/>
          <p:nvPr/>
        </p:nvGrpSpPr>
        <p:grpSpPr>
          <a:xfrm>
            <a:off x="762000" y="1524000"/>
            <a:ext cx="3429000" cy="1409700"/>
            <a:chOff x="762000" y="1524000"/>
            <a:chExt cx="3429000" cy="1409700"/>
          </a:xfrm>
        </p:grpSpPr>
        <p:sp>
          <p:nvSpPr>
            <p:cNvPr id="7" name="Rectangle 7"/>
            <p:cNvSpPr/>
            <p:nvPr/>
          </p:nvSpPr>
          <p:spPr>
            <a:xfrm>
              <a:off x="762000" y="1524000"/>
              <a:ext cx="3429000" cy="1409700"/>
            </a:xfrm>
            <a:prstGeom prst="roundRect">
              <a:avLst>
                <a:gd name="adj" fmla="val 9459"/>
              </a:avLst>
            </a:prstGeom>
            <a:solidFill>
              <a:srgbClr val="F4F7FC"/>
            </a:solidFill>
            <a:ln>
              <a:noFill/>
            </a:ln>
          </p:spPr>
        </p:sp>
        <p:sp>
          <p:nvSpPr>
            <p:cNvPr id="8" name="Rectangle 8"/>
            <p:cNvSpPr/>
            <p:nvPr/>
          </p:nvSpPr>
          <p:spPr>
            <a:xfrm>
              <a:off x="762000" y="1524000"/>
              <a:ext cx="57150" cy="1409700"/>
            </a:xfrm>
            <a:prstGeom prst="roundRect">
              <a:avLst>
                <a:gd name="adj" fmla="val 50000"/>
              </a:avLst>
            </a:prstGeom>
            <a:solidFill>
              <a:srgbClr val="0052A6"/>
            </a:solidFill>
            <a:ln>
              <a:noFill/>
            </a:ln>
          </p:spPr>
        </p:sp>
        <p:sp>
          <p:nvSpPr>
            <p:cNvPr id="9" name="Ellipse 9"/>
            <p:cNvSpPr/>
            <p:nvPr/>
          </p:nvSpPr>
          <p:spPr>
            <a:xfrm>
              <a:off x="933450" y="1676400"/>
              <a:ext cx="342900" cy="342900"/>
            </a:xfrm>
            <a:prstGeom prst="ellipse">
              <a:avLst/>
            </a:prstGeom>
            <a:solidFill>
              <a:srgbClr val="0052A6"/>
            </a:solidFill>
            <a:ln>
              <a:noFill/>
            </a:ln>
          </p:spPr>
        </p:sp>
        <p:sp>
          <p:nvSpPr>
            <p:cNvPr id="10" name="TextBox 10"/>
            <p:cNvSpPr txBox="1"/>
            <p:nvPr/>
          </p:nvSpPr>
          <p:spPr>
            <a:xfrm>
              <a:off x="1010705" y="17916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01</a:t>
              </a:r>
            </a:p>
          </p:txBody>
        </p:sp>
        <p:grpSp>
          <p:nvGrpSpPr>
            <p:cNvPr id="13" name="Group 13"/>
            <p:cNvGrpSpPr/>
            <p:nvPr/>
          </p:nvGrpSpPr>
          <p:grpSpPr>
            <a:xfrm>
              <a:off x="1469231" y="1778794"/>
              <a:ext cx="166688" cy="152400"/>
              <a:chOff x="1469231" y="1778794"/>
              <a:chExt cx="166688" cy="152400"/>
            </a:xfrm>
          </p:grpSpPr>
          <p:sp>
            <p:nvSpPr>
              <p:cNvPr id="11" name="Freeform 11"/>
              <p:cNvSpPr/>
              <p:nvPr/>
            </p:nvSpPr>
            <p:spPr>
              <a:xfrm>
                <a:off x="1469231" y="1778794"/>
                <a:ext cx="59531" cy="119062"/>
              </a:xfrm>
              <a:custGeom>
                <a:avLst/>
                <a:gdLst/>
                <a:ahLst/>
                <a:cxnLst/>
                <a:rect l="l" t="t" r="r" b="b"/>
                <a:pathLst>
                  <a:path w="59531" h="119062">
                    <a:moveTo>
                      <a:pt x="0" y="0"/>
                    </a:moveTo>
                    <a:lnTo>
                      <a:pt x="59531" y="59531"/>
                    </a:lnTo>
                    <a:lnTo>
                      <a:pt x="0" y="119062"/>
                    </a:lnTo>
                  </a:path>
                </a:pathLst>
              </a:custGeom>
              <a:noFill/>
              <a:ln w="19050">
                <a:solidFill>
                  <a:srgbClr val="246BFE"/>
                </a:solidFill>
              </a:ln>
            </p:spPr>
          </p:sp>
          <p:sp>
            <p:nvSpPr>
              <p:cNvPr id="12" name="Freeform 12"/>
              <p:cNvSpPr/>
              <p:nvPr/>
            </p:nvSpPr>
            <p:spPr>
              <a:xfrm>
                <a:off x="1552575" y="1921669"/>
                <a:ext cx="83344" cy="9525"/>
              </a:xfrm>
              <a:custGeom>
                <a:avLst/>
                <a:gdLst/>
                <a:ahLst/>
                <a:cxnLst/>
                <a:rect l="l" t="t" r="r" b="b"/>
                <a:pathLst>
                  <a:path w="83344" h="9525">
                    <a:moveTo>
                      <a:pt x="0" y="0"/>
                    </a:moveTo>
                    <a:lnTo>
                      <a:pt x="83344" y="0"/>
                    </a:lnTo>
                  </a:path>
                </a:pathLst>
              </a:custGeom>
              <a:noFill/>
              <a:ln w="19050">
                <a:solidFill>
                  <a:srgbClr val="246BFE"/>
                </a:solidFill>
              </a:ln>
            </p:spPr>
          </p:sp>
        </p:grpSp>
        <p:sp>
          <p:nvSpPr>
            <p:cNvPr id="14" name="TextBox 14"/>
            <p:cNvSpPr txBox="1"/>
            <p:nvPr/>
          </p:nvSpPr>
          <p:spPr>
            <a:xfrm>
              <a:off x="1754505" y="1759268"/>
              <a:ext cx="1083371"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CLI Harness</a:t>
              </a:r>
            </a:p>
          </p:txBody>
        </p:sp>
        <p:sp>
          <p:nvSpPr>
            <p:cNvPr id="15" name="TextBox 15"/>
            <p:cNvSpPr txBox="1"/>
            <p:nvPr/>
          </p:nvSpPr>
          <p:spPr>
            <a:xfrm>
              <a:off x="996315" y="2210752"/>
              <a:ext cx="82477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CLI 化是基础</a:t>
              </a:r>
            </a:p>
          </p:txBody>
        </p:sp>
        <p:sp>
          <p:nvSpPr>
            <p:cNvPr id="16" name="TextBox 16"/>
            <p:cNvSpPr txBox="1"/>
            <p:nvPr/>
          </p:nvSpPr>
          <p:spPr>
            <a:xfrm>
              <a:off x="997268" y="2447449"/>
              <a:ext cx="157195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让 Agent 能调用代码,代码</a:t>
              </a:r>
            </a:p>
          </p:txBody>
        </p:sp>
        <p:sp>
          <p:nvSpPr>
            <p:cNvPr id="17" name="TextBox 17"/>
            <p:cNvSpPr txBox="1"/>
            <p:nvPr/>
          </p:nvSpPr>
          <p:spPr>
            <a:xfrm>
              <a:off x="997268" y="2637949"/>
              <a:ext cx="1630466"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具备可被 Agent 操作的接口</a:t>
              </a:r>
            </a:p>
          </p:txBody>
        </p:sp>
      </p:grpSp>
      <p:grpSp>
        <p:nvGrpSpPr>
          <p:cNvPr id="30" name="Group 30"/>
          <p:cNvGrpSpPr/>
          <p:nvPr/>
        </p:nvGrpSpPr>
        <p:grpSpPr>
          <a:xfrm>
            <a:off x="4381500" y="1524000"/>
            <a:ext cx="3429000" cy="1409700"/>
            <a:chOff x="4381500" y="1524000"/>
            <a:chExt cx="3429000" cy="1409700"/>
          </a:xfrm>
        </p:grpSpPr>
        <p:sp>
          <p:nvSpPr>
            <p:cNvPr id="19" name="Rectangle 19"/>
            <p:cNvSpPr/>
            <p:nvPr/>
          </p:nvSpPr>
          <p:spPr>
            <a:xfrm>
              <a:off x="4381500" y="1524000"/>
              <a:ext cx="3429000" cy="1409700"/>
            </a:xfrm>
            <a:prstGeom prst="roundRect">
              <a:avLst>
                <a:gd name="adj" fmla="val 9459"/>
              </a:avLst>
            </a:prstGeom>
            <a:solidFill>
              <a:srgbClr val="F4F7FC"/>
            </a:solidFill>
            <a:ln>
              <a:noFill/>
            </a:ln>
          </p:spPr>
        </p:sp>
        <p:sp>
          <p:nvSpPr>
            <p:cNvPr id="20" name="Rectangle 20"/>
            <p:cNvSpPr/>
            <p:nvPr/>
          </p:nvSpPr>
          <p:spPr>
            <a:xfrm>
              <a:off x="4381500" y="1524000"/>
              <a:ext cx="57150" cy="1409700"/>
            </a:xfrm>
            <a:prstGeom prst="roundRect">
              <a:avLst>
                <a:gd name="adj" fmla="val 50000"/>
              </a:avLst>
            </a:prstGeom>
            <a:solidFill>
              <a:srgbClr val="0052A6"/>
            </a:solidFill>
            <a:ln>
              <a:noFill/>
            </a:ln>
          </p:spPr>
        </p:sp>
        <p:sp>
          <p:nvSpPr>
            <p:cNvPr id="21" name="Ellipse 21"/>
            <p:cNvSpPr/>
            <p:nvPr/>
          </p:nvSpPr>
          <p:spPr>
            <a:xfrm>
              <a:off x="4552950" y="1676400"/>
              <a:ext cx="342900" cy="342900"/>
            </a:xfrm>
            <a:prstGeom prst="ellipse">
              <a:avLst/>
            </a:prstGeom>
            <a:solidFill>
              <a:srgbClr val="0052A6"/>
            </a:solidFill>
            <a:ln>
              <a:noFill/>
            </a:ln>
          </p:spPr>
        </p:sp>
        <p:sp>
          <p:nvSpPr>
            <p:cNvPr id="22" name="TextBox 22"/>
            <p:cNvSpPr txBox="1"/>
            <p:nvPr/>
          </p:nvSpPr>
          <p:spPr>
            <a:xfrm>
              <a:off x="4630205" y="17916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02</a:t>
              </a:r>
            </a:p>
          </p:txBody>
        </p:sp>
        <p:grpSp>
          <p:nvGrpSpPr>
            <p:cNvPr id="25" name="Group 25"/>
            <p:cNvGrpSpPr/>
            <p:nvPr/>
          </p:nvGrpSpPr>
          <p:grpSpPr>
            <a:xfrm>
              <a:off x="5064919" y="1731169"/>
              <a:ext cx="214312" cy="214312"/>
              <a:chOff x="5064919" y="1731169"/>
              <a:chExt cx="214312" cy="214312"/>
            </a:xfrm>
          </p:grpSpPr>
          <p:sp>
            <p:nvSpPr>
              <p:cNvPr id="23" name="Freeform 23"/>
              <p:cNvSpPr/>
              <p:nvPr/>
            </p:nvSpPr>
            <p:spPr>
              <a:xfrm>
                <a:off x="5064919" y="173116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19050">
                <a:solidFill>
                  <a:srgbClr val="246BFE"/>
                </a:solidFill>
              </a:ln>
            </p:spPr>
          </p:sp>
          <p:sp>
            <p:nvSpPr>
              <p:cNvPr id="24" name="Freeform 24"/>
              <p:cNvSpPr/>
              <p:nvPr/>
            </p:nvSpPr>
            <p:spPr>
              <a:xfrm>
                <a:off x="5136356" y="1814512"/>
                <a:ext cx="71438" cy="47625"/>
              </a:xfrm>
              <a:custGeom>
                <a:avLst/>
                <a:gdLst/>
                <a:ahLst/>
                <a:cxnLst/>
                <a:rect l="l" t="t" r="r" b="b"/>
                <a:pathLst>
                  <a:path w="71438" h="47625">
                    <a:moveTo>
                      <a:pt x="0" y="23812"/>
                    </a:moveTo>
                    <a:lnTo>
                      <a:pt x="23812" y="47625"/>
                    </a:lnTo>
                    <a:lnTo>
                      <a:pt x="71438" y="0"/>
                    </a:lnTo>
                  </a:path>
                </a:pathLst>
              </a:custGeom>
              <a:noFill/>
              <a:ln w="19050">
                <a:solidFill>
                  <a:srgbClr val="246BFE"/>
                </a:solidFill>
              </a:ln>
            </p:spPr>
          </p:sp>
        </p:grpSp>
        <p:sp>
          <p:nvSpPr>
            <p:cNvPr id="26" name="TextBox 26"/>
            <p:cNvSpPr txBox="1"/>
            <p:nvPr/>
          </p:nvSpPr>
          <p:spPr>
            <a:xfrm>
              <a:off x="5374005" y="1759268"/>
              <a:ext cx="1688247"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fullcheck 全量检查</a:t>
              </a:r>
            </a:p>
          </p:txBody>
        </p:sp>
        <p:sp>
          <p:nvSpPr>
            <p:cNvPr id="27" name="TextBox 27"/>
            <p:cNvSpPr txBox="1"/>
            <p:nvPr/>
          </p:nvSpPr>
          <p:spPr>
            <a:xfrm>
              <a:off x="4615815" y="2210752"/>
              <a:ext cx="887778"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AI 改完即验证</a:t>
              </a:r>
            </a:p>
          </p:txBody>
        </p:sp>
        <p:sp>
          <p:nvSpPr>
            <p:cNvPr id="28" name="TextBox 28"/>
            <p:cNvSpPr txBox="1"/>
            <p:nvPr/>
          </p:nvSpPr>
          <p:spPr>
            <a:xfrm>
              <a:off x="4616768" y="2447449"/>
              <a:ext cx="156545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单测/接口/契约/E2E/回归</a:t>
              </a:r>
            </a:p>
          </p:txBody>
        </p:sp>
        <p:sp>
          <p:nvSpPr>
            <p:cNvPr id="29" name="TextBox 29"/>
            <p:cNvSpPr txBox="1"/>
            <p:nvPr/>
          </p:nvSpPr>
          <p:spPr>
            <a:xfrm>
              <a:off x="4616768" y="2637949"/>
              <a:ext cx="1396436"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全量自动检查,反馈闭环</a:t>
              </a:r>
            </a:p>
          </p:txBody>
        </p:sp>
      </p:grpSp>
      <p:grpSp>
        <p:nvGrpSpPr>
          <p:cNvPr id="46" name="Group 46"/>
          <p:cNvGrpSpPr/>
          <p:nvPr/>
        </p:nvGrpSpPr>
        <p:grpSpPr>
          <a:xfrm>
            <a:off x="8001000" y="1524000"/>
            <a:ext cx="3429000" cy="1409700"/>
            <a:chOff x="8001000" y="1524000"/>
            <a:chExt cx="3429000" cy="1409700"/>
          </a:xfrm>
        </p:grpSpPr>
        <p:sp>
          <p:nvSpPr>
            <p:cNvPr id="31" name="Rectangle 31"/>
            <p:cNvSpPr/>
            <p:nvPr/>
          </p:nvSpPr>
          <p:spPr>
            <a:xfrm>
              <a:off x="8001000" y="1524000"/>
              <a:ext cx="3429000" cy="1409700"/>
            </a:xfrm>
            <a:prstGeom prst="roundRect">
              <a:avLst>
                <a:gd name="adj" fmla="val 9459"/>
              </a:avLst>
            </a:prstGeom>
            <a:solidFill>
              <a:srgbClr val="F4F7FC"/>
            </a:solidFill>
            <a:ln>
              <a:noFill/>
            </a:ln>
          </p:spPr>
        </p:sp>
        <p:sp>
          <p:nvSpPr>
            <p:cNvPr id="32" name="Rectangle 32"/>
            <p:cNvSpPr/>
            <p:nvPr/>
          </p:nvSpPr>
          <p:spPr>
            <a:xfrm>
              <a:off x="8001000" y="1524000"/>
              <a:ext cx="57150" cy="1409700"/>
            </a:xfrm>
            <a:prstGeom prst="roundRect">
              <a:avLst>
                <a:gd name="adj" fmla="val 50000"/>
              </a:avLst>
            </a:prstGeom>
            <a:solidFill>
              <a:srgbClr val="0052A6"/>
            </a:solidFill>
            <a:ln>
              <a:noFill/>
            </a:ln>
          </p:spPr>
        </p:sp>
        <p:sp>
          <p:nvSpPr>
            <p:cNvPr id="33" name="Ellipse 33"/>
            <p:cNvSpPr/>
            <p:nvPr/>
          </p:nvSpPr>
          <p:spPr>
            <a:xfrm>
              <a:off x="8172450" y="1676400"/>
              <a:ext cx="342900" cy="342900"/>
            </a:xfrm>
            <a:prstGeom prst="ellipse">
              <a:avLst/>
            </a:prstGeom>
            <a:solidFill>
              <a:srgbClr val="0052A6"/>
            </a:solidFill>
            <a:ln>
              <a:noFill/>
            </a:ln>
          </p:spPr>
        </p:sp>
        <p:sp>
          <p:nvSpPr>
            <p:cNvPr id="34" name="TextBox 34"/>
            <p:cNvSpPr txBox="1"/>
            <p:nvPr/>
          </p:nvSpPr>
          <p:spPr>
            <a:xfrm>
              <a:off x="8249705" y="17916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03</a:t>
              </a:r>
            </a:p>
          </p:txBody>
        </p:sp>
        <p:grpSp>
          <p:nvGrpSpPr>
            <p:cNvPr id="41" name="Group 41"/>
            <p:cNvGrpSpPr/>
            <p:nvPr/>
          </p:nvGrpSpPr>
          <p:grpSpPr>
            <a:xfrm>
              <a:off x="8708231" y="1743075"/>
              <a:ext cx="178595" cy="190500"/>
              <a:chOff x="8708231" y="1743075"/>
              <a:chExt cx="178595" cy="190500"/>
            </a:xfrm>
          </p:grpSpPr>
          <p:sp>
            <p:nvSpPr>
              <p:cNvPr id="35" name="Freeform 35"/>
              <p:cNvSpPr/>
              <p:nvPr/>
            </p:nvSpPr>
            <p:spPr>
              <a:xfrm>
                <a:off x="8708231" y="188595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246BFE"/>
                </a:solidFill>
              </a:ln>
            </p:spPr>
          </p:sp>
          <p:sp>
            <p:nvSpPr>
              <p:cNvPr id="36" name="Freeform 36"/>
              <p:cNvSpPr/>
              <p:nvPr/>
            </p:nvSpPr>
            <p:spPr>
              <a:xfrm>
                <a:off x="8708231" y="174307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246BFE"/>
                </a:solidFill>
              </a:ln>
            </p:spPr>
          </p:sp>
          <p:sp>
            <p:nvSpPr>
              <p:cNvPr id="37" name="Freeform 37"/>
              <p:cNvSpPr/>
              <p:nvPr/>
            </p:nvSpPr>
            <p:spPr>
              <a:xfrm>
                <a:off x="8827294" y="174307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246BFE"/>
                </a:solidFill>
              </a:ln>
            </p:spPr>
          </p:sp>
          <p:sp>
            <p:nvSpPr>
              <p:cNvPr id="38" name="Freeform 38"/>
              <p:cNvSpPr/>
              <p:nvPr/>
            </p:nvSpPr>
            <p:spPr>
              <a:xfrm>
                <a:off x="8732044" y="1790700"/>
                <a:ext cx="9525" cy="95250"/>
              </a:xfrm>
              <a:custGeom>
                <a:avLst/>
                <a:gdLst/>
                <a:ahLst/>
                <a:cxnLst/>
                <a:rect l="l" t="t" r="r" b="b"/>
                <a:pathLst>
                  <a:path w="9525" h="95250">
                    <a:moveTo>
                      <a:pt x="0" y="0"/>
                    </a:moveTo>
                    <a:lnTo>
                      <a:pt x="0" y="95250"/>
                    </a:lnTo>
                  </a:path>
                </a:pathLst>
              </a:custGeom>
              <a:noFill/>
              <a:ln w="19050">
                <a:solidFill>
                  <a:srgbClr val="246BFE"/>
                </a:solidFill>
              </a:ln>
            </p:spPr>
          </p:sp>
          <p:sp>
            <p:nvSpPr>
              <p:cNvPr id="39" name="Freeform 39"/>
              <p:cNvSpPr/>
              <p:nvPr/>
            </p:nvSpPr>
            <p:spPr>
              <a:xfrm>
                <a:off x="8755856" y="1826419"/>
                <a:ext cx="95250" cy="83344"/>
              </a:xfrm>
              <a:custGeom>
                <a:avLst/>
                <a:gdLst/>
                <a:ahLst/>
                <a:cxnLst/>
                <a:rect l="l" t="t" r="r" b="b"/>
                <a:pathLst>
                  <a:path w="95250" h="83344">
                    <a:moveTo>
                      <a:pt x="0" y="83344"/>
                    </a:moveTo>
                    <a:lnTo>
                      <a:pt x="71438" y="83344"/>
                    </a:lnTo>
                    <a:cubicBezTo>
                      <a:pt x="84589" y="83344"/>
                      <a:pt x="95250" y="72683"/>
                      <a:pt x="95250" y="59531"/>
                    </a:cubicBezTo>
                    <a:lnTo>
                      <a:pt x="95250" y="0"/>
                    </a:lnTo>
                  </a:path>
                </a:pathLst>
              </a:custGeom>
              <a:noFill/>
              <a:ln w="19050">
                <a:solidFill>
                  <a:srgbClr val="246BFE"/>
                </a:solidFill>
              </a:ln>
            </p:spPr>
          </p:sp>
          <p:sp>
            <p:nvSpPr>
              <p:cNvPr id="40" name="Freeform 40"/>
              <p:cNvSpPr/>
              <p:nvPr/>
            </p:nvSpPr>
            <p:spPr>
              <a:xfrm>
                <a:off x="8815388" y="1826419"/>
                <a:ext cx="71438" cy="35719"/>
              </a:xfrm>
              <a:custGeom>
                <a:avLst/>
                <a:gdLst/>
                <a:ahLst/>
                <a:cxnLst/>
                <a:rect l="l" t="t" r="r" b="b"/>
                <a:pathLst>
                  <a:path w="71438" h="35719">
                    <a:moveTo>
                      <a:pt x="0" y="35719"/>
                    </a:moveTo>
                    <a:lnTo>
                      <a:pt x="35719" y="0"/>
                    </a:lnTo>
                    <a:lnTo>
                      <a:pt x="71438" y="35719"/>
                    </a:lnTo>
                  </a:path>
                </a:pathLst>
              </a:custGeom>
              <a:noFill/>
              <a:ln w="19050">
                <a:solidFill>
                  <a:srgbClr val="246BFE"/>
                </a:solidFill>
              </a:ln>
            </p:spPr>
          </p:sp>
        </p:grpSp>
        <p:sp>
          <p:nvSpPr>
            <p:cNvPr id="42" name="TextBox 42"/>
            <p:cNvSpPr txBox="1"/>
            <p:nvPr/>
          </p:nvSpPr>
          <p:spPr>
            <a:xfrm>
              <a:off x="8993505" y="1759268"/>
              <a:ext cx="1291297"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CLI E2E 端到端</a:t>
              </a:r>
            </a:p>
          </p:txBody>
        </p:sp>
        <p:sp>
          <p:nvSpPr>
            <p:cNvPr id="43" name="TextBox 43"/>
            <p:cNvSpPr txBox="1"/>
            <p:nvPr/>
          </p:nvSpPr>
          <p:spPr>
            <a:xfrm>
              <a:off x="8235315" y="2210752"/>
              <a:ext cx="114681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端到端 CLI 自动化</a:t>
              </a:r>
            </a:p>
          </p:txBody>
        </p:sp>
        <p:sp>
          <p:nvSpPr>
            <p:cNvPr id="44" name="TextBox 44"/>
            <p:cNvSpPr txBox="1"/>
            <p:nvPr/>
          </p:nvSpPr>
          <p:spPr>
            <a:xfrm>
              <a:off x="8236268" y="2447449"/>
              <a:ext cx="1467945"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环境准备/数据构造/造数</a:t>
              </a:r>
            </a:p>
          </p:txBody>
        </p:sp>
        <p:sp>
          <p:nvSpPr>
            <p:cNvPr id="45" name="TextBox 45"/>
            <p:cNvSpPr txBox="1"/>
            <p:nvPr/>
          </p:nvSpPr>
          <p:spPr>
            <a:xfrm>
              <a:off x="8236268" y="2637949"/>
              <a:ext cx="132492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全流程脚本化、自动化</a:t>
              </a:r>
            </a:p>
          </p:txBody>
        </p:sp>
      </p:grpSp>
      <p:grpSp>
        <p:nvGrpSpPr>
          <p:cNvPr id="59" name="Group 59"/>
          <p:cNvGrpSpPr/>
          <p:nvPr/>
        </p:nvGrpSpPr>
        <p:grpSpPr>
          <a:xfrm>
            <a:off x="762000" y="3086100"/>
            <a:ext cx="3429000" cy="1409700"/>
            <a:chOff x="762000" y="3086100"/>
            <a:chExt cx="3429000" cy="1409700"/>
          </a:xfrm>
        </p:grpSpPr>
        <p:sp>
          <p:nvSpPr>
            <p:cNvPr id="47" name="Rectangle 47"/>
            <p:cNvSpPr/>
            <p:nvPr/>
          </p:nvSpPr>
          <p:spPr>
            <a:xfrm>
              <a:off x="762000" y="3086100"/>
              <a:ext cx="3429000" cy="1409700"/>
            </a:xfrm>
            <a:prstGeom prst="roundRect">
              <a:avLst>
                <a:gd name="adj" fmla="val 9459"/>
              </a:avLst>
            </a:prstGeom>
            <a:solidFill>
              <a:srgbClr val="F4F7FC"/>
            </a:solidFill>
            <a:ln>
              <a:noFill/>
            </a:ln>
          </p:spPr>
        </p:sp>
        <p:sp>
          <p:nvSpPr>
            <p:cNvPr id="48" name="Rectangle 48"/>
            <p:cNvSpPr/>
            <p:nvPr/>
          </p:nvSpPr>
          <p:spPr>
            <a:xfrm>
              <a:off x="762000" y="3086100"/>
              <a:ext cx="57150" cy="1409700"/>
            </a:xfrm>
            <a:prstGeom prst="roundRect">
              <a:avLst>
                <a:gd name="adj" fmla="val 50000"/>
              </a:avLst>
            </a:prstGeom>
            <a:solidFill>
              <a:srgbClr val="246BFE"/>
            </a:solidFill>
            <a:ln>
              <a:noFill/>
            </a:ln>
          </p:spPr>
        </p:sp>
        <p:sp>
          <p:nvSpPr>
            <p:cNvPr id="49" name="Ellipse 49"/>
            <p:cNvSpPr/>
            <p:nvPr/>
          </p:nvSpPr>
          <p:spPr>
            <a:xfrm>
              <a:off x="933450" y="3238500"/>
              <a:ext cx="342900" cy="342900"/>
            </a:xfrm>
            <a:prstGeom prst="ellipse">
              <a:avLst/>
            </a:prstGeom>
            <a:solidFill>
              <a:srgbClr val="246BFE"/>
            </a:solidFill>
            <a:ln>
              <a:noFill/>
            </a:ln>
          </p:spPr>
        </p:sp>
        <p:sp>
          <p:nvSpPr>
            <p:cNvPr id="50" name="TextBox 50"/>
            <p:cNvSpPr txBox="1"/>
            <p:nvPr/>
          </p:nvSpPr>
          <p:spPr>
            <a:xfrm>
              <a:off x="1010705" y="33537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04</a:t>
              </a:r>
            </a:p>
          </p:txBody>
        </p:sp>
        <p:grpSp>
          <p:nvGrpSpPr>
            <p:cNvPr id="54" name="Group 54"/>
            <p:cNvGrpSpPr/>
            <p:nvPr/>
          </p:nvGrpSpPr>
          <p:grpSpPr>
            <a:xfrm>
              <a:off x="1445419" y="3293269"/>
              <a:ext cx="214312" cy="214312"/>
              <a:chOff x="1445419" y="3293269"/>
              <a:chExt cx="214312" cy="214312"/>
            </a:xfrm>
          </p:grpSpPr>
          <p:sp>
            <p:nvSpPr>
              <p:cNvPr id="51" name="Freeform 51"/>
              <p:cNvSpPr/>
              <p:nvPr/>
            </p:nvSpPr>
            <p:spPr>
              <a:xfrm>
                <a:off x="1445419" y="345995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0052A6"/>
                </a:solidFill>
              </a:ln>
            </p:spPr>
          </p:sp>
          <p:sp>
            <p:nvSpPr>
              <p:cNvPr id="52" name="Freeform 52"/>
              <p:cNvSpPr/>
              <p:nvPr/>
            </p:nvSpPr>
            <p:spPr>
              <a:xfrm>
                <a:off x="1612106" y="329326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19050">
                <a:solidFill>
                  <a:srgbClr val="0052A6"/>
                </a:solidFill>
              </a:ln>
            </p:spPr>
          </p:sp>
          <p:sp>
            <p:nvSpPr>
              <p:cNvPr id="53" name="Freeform 53"/>
              <p:cNvSpPr/>
              <p:nvPr/>
            </p:nvSpPr>
            <p:spPr>
              <a:xfrm>
                <a:off x="1469231" y="331708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19050">
                <a:solidFill>
                  <a:srgbClr val="0052A6"/>
                </a:solidFill>
              </a:ln>
            </p:spPr>
          </p:sp>
        </p:grpSp>
        <p:sp>
          <p:nvSpPr>
            <p:cNvPr id="55" name="TextBox 55"/>
            <p:cNvSpPr txBox="1"/>
            <p:nvPr/>
          </p:nvSpPr>
          <p:spPr>
            <a:xfrm>
              <a:off x="1754505" y="3321368"/>
              <a:ext cx="1291297"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Agent traceId</a:t>
              </a:r>
            </a:p>
          </p:txBody>
        </p:sp>
        <p:sp>
          <p:nvSpPr>
            <p:cNvPr id="56" name="TextBox 56"/>
            <p:cNvSpPr txBox="1"/>
            <p:nvPr/>
          </p:nvSpPr>
          <p:spPr>
            <a:xfrm>
              <a:off x="996315" y="3772852"/>
              <a:ext cx="114681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执行全链路可追踪</a:t>
              </a:r>
            </a:p>
          </p:txBody>
        </p:sp>
        <p:sp>
          <p:nvSpPr>
            <p:cNvPr id="57" name="TextBox 57"/>
            <p:cNvSpPr txBox="1"/>
            <p:nvPr/>
          </p:nvSpPr>
          <p:spPr>
            <a:xfrm>
              <a:off x="997268" y="4009549"/>
              <a:ext cx="1194911"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每个任务、每步操作</a:t>
              </a:r>
            </a:p>
          </p:txBody>
        </p:sp>
        <p:sp>
          <p:nvSpPr>
            <p:cNvPr id="58" name="TextBox 58"/>
            <p:cNvSpPr txBox="1"/>
            <p:nvPr/>
          </p:nvSpPr>
          <p:spPr>
            <a:xfrm>
              <a:off x="997268" y="4200049"/>
              <a:ext cx="1454944"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可追溯、可复盘、可审计</a:t>
              </a:r>
            </a:p>
          </p:txBody>
        </p:sp>
      </p:grpSp>
      <p:grpSp>
        <p:nvGrpSpPr>
          <p:cNvPr id="73" name="Group 73"/>
          <p:cNvGrpSpPr/>
          <p:nvPr/>
        </p:nvGrpSpPr>
        <p:grpSpPr>
          <a:xfrm>
            <a:off x="4381500" y="3086100"/>
            <a:ext cx="3429000" cy="1409700"/>
            <a:chOff x="4381500" y="3086100"/>
            <a:chExt cx="3429000" cy="1409700"/>
          </a:xfrm>
        </p:grpSpPr>
        <p:sp>
          <p:nvSpPr>
            <p:cNvPr id="60" name="Rectangle 60"/>
            <p:cNvSpPr/>
            <p:nvPr/>
          </p:nvSpPr>
          <p:spPr>
            <a:xfrm>
              <a:off x="4381500" y="3086100"/>
              <a:ext cx="3429000" cy="1409700"/>
            </a:xfrm>
            <a:prstGeom prst="roundRect">
              <a:avLst>
                <a:gd name="adj" fmla="val 9459"/>
              </a:avLst>
            </a:prstGeom>
            <a:solidFill>
              <a:srgbClr val="F4F7FC"/>
            </a:solidFill>
            <a:ln>
              <a:noFill/>
            </a:ln>
          </p:spPr>
        </p:sp>
        <p:sp>
          <p:nvSpPr>
            <p:cNvPr id="61" name="Rectangle 61"/>
            <p:cNvSpPr/>
            <p:nvPr/>
          </p:nvSpPr>
          <p:spPr>
            <a:xfrm>
              <a:off x="4381500" y="3086100"/>
              <a:ext cx="57150" cy="1409700"/>
            </a:xfrm>
            <a:prstGeom prst="roundRect">
              <a:avLst>
                <a:gd name="adj" fmla="val 50000"/>
              </a:avLst>
            </a:prstGeom>
            <a:solidFill>
              <a:srgbClr val="246BFE"/>
            </a:solidFill>
            <a:ln>
              <a:noFill/>
            </a:ln>
          </p:spPr>
        </p:sp>
        <p:sp>
          <p:nvSpPr>
            <p:cNvPr id="62" name="Ellipse 62"/>
            <p:cNvSpPr/>
            <p:nvPr/>
          </p:nvSpPr>
          <p:spPr>
            <a:xfrm>
              <a:off x="4552950" y="3238500"/>
              <a:ext cx="342900" cy="342900"/>
            </a:xfrm>
            <a:prstGeom prst="ellipse">
              <a:avLst/>
            </a:prstGeom>
            <a:solidFill>
              <a:srgbClr val="246BFE"/>
            </a:solidFill>
            <a:ln>
              <a:noFill/>
            </a:ln>
          </p:spPr>
        </p:sp>
        <p:sp>
          <p:nvSpPr>
            <p:cNvPr id="63" name="TextBox 63"/>
            <p:cNvSpPr txBox="1"/>
            <p:nvPr/>
          </p:nvSpPr>
          <p:spPr>
            <a:xfrm>
              <a:off x="4630205" y="33537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05</a:t>
              </a:r>
            </a:p>
          </p:txBody>
        </p:sp>
        <p:grpSp>
          <p:nvGrpSpPr>
            <p:cNvPr id="68" name="Group 68"/>
            <p:cNvGrpSpPr/>
            <p:nvPr/>
          </p:nvGrpSpPr>
          <p:grpSpPr>
            <a:xfrm>
              <a:off x="5064919" y="3305175"/>
              <a:ext cx="214312" cy="190500"/>
              <a:chOff x="5064919" y="3305175"/>
              <a:chExt cx="214312" cy="190500"/>
            </a:xfrm>
          </p:grpSpPr>
          <p:sp>
            <p:nvSpPr>
              <p:cNvPr id="64" name="Freeform 64"/>
              <p:cNvSpPr/>
              <p:nvPr/>
            </p:nvSpPr>
            <p:spPr>
              <a:xfrm>
                <a:off x="5064919" y="330517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path>
                </a:pathLst>
              </a:custGeom>
              <a:noFill/>
              <a:ln w="19050">
                <a:solidFill>
                  <a:srgbClr val="0052A6"/>
                </a:solidFill>
              </a:ln>
            </p:spPr>
          </p:sp>
          <p:sp>
            <p:nvSpPr>
              <p:cNvPr id="65" name="Freeform 65"/>
              <p:cNvSpPr/>
              <p:nvPr/>
            </p:nvSpPr>
            <p:spPr>
              <a:xfrm>
                <a:off x="5064919" y="340042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19050">
                <a:solidFill>
                  <a:srgbClr val="0052A6"/>
                </a:solidFill>
              </a:ln>
            </p:spPr>
          </p:sp>
          <p:sp>
            <p:nvSpPr>
              <p:cNvPr id="66" name="Freeform 66"/>
              <p:cNvSpPr/>
              <p:nvPr/>
            </p:nvSpPr>
            <p:spPr>
              <a:xfrm>
                <a:off x="5112544" y="3352800"/>
                <a:ext cx="9525" cy="9525"/>
              </a:xfrm>
              <a:custGeom>
                <a:avLst/>
                <a:gdLst/>
                <a:ahLst/>
                <a:cxnLst/>
                <a:rect l="l" t="t" r="r" b="b"/>
                <a:pathLst>
                  <a:path w="9525" h="9525">
                    <a:moveTo>
                      <a:pt x="0" y="0"/>
                    </a:moveTo>
                    <a:lnTo>
                      <a:pt x="0" y="119"/>
                    </a:lnTo>
                  </a:path>
                </a:pathLst>
              </a:custGeom>
              <a:noFill/>
              <a:ln w="19050">
                <a:solidFill>
                  <a:srgbClr val="0052A6"/>
                </a:solidFill>
              </a:ln>
            </p:spPr>
          </p:sp>
          <p:sp>
            <p:nvSpPr>
              <p:cNvPr id="67" name="Freeform 67"/>
              <p:cNvSpPr/>
              <p:nvPr/>
            </p:nvSpPr>
            <p:spPr>
              <a:xfrm>
                <a:off x="5112544" y="3448050"/>
                <a:ext cx="9525" cy="9525"/>
              </a:xfrm>
              <a:custGeom>
                <a:avLst/>
                <a:gdLst/>
                <a:ahLst/>
                <a:cxnLst/>
                <a:rect l="l" t="t" r="r" b="b"/>
                <a:pathLst>
                  <a:path w="9525" h="9525">
                    <a:moveTo>
                      <a:pt x="0" y="0"/>
                    </a:moveTo>
                    <a:lnTo>
                      <a:pt x="0" y="119"/>
                    </a:lnTo>
                  </a:path>
                </a:pathLst>
              </a:custGeom>
              <a:noFill/>
              <a:ln w="19050">
                <a:solidFill>
                  <a:srgbClr val="0052A6"/>
                </a:solidFill>
              </a:ln>
            </p:spPr>
          </p:sp>
        </p:grpSp>
        <p:sp>
          <p:nvSpPr>
            <p:cNvPr id="69" name="TextBox 69"/>
            <p:cNvSpPr txBox="1"/>
            <p:nvPr/>
          </p:nvSpPr>
          <p:spPr>
            <a:xfrm>
              <a:off x="5374005" y="3321368"/>
              <a:ext cx="856543"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Agent OS</a:t>
              </a:r>
            </a:p>
          </p:txBody>
        </p:sp>
        <p:sp>
          <p:nvSpPr>
            <p:cNvPr id="70" name="TextBox 70"/>
            <p:cNvSpPr txBox="1"/>
            <p:nvPr/>
          </p:nvSpPr>
          <p:spPr>
            <a:xfrm>
              <a:off x="4615815" y="3772852"/>
              <a:ext cx="1013793"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Agent 操作系统</a:t>
              </a:r>
            </a:p>
          </p:txBody>
        </p:sp>
        <p:sp>
          <p:nvSpPr>
            <p:cNvPr id="71" name="TextBox 71"/>
            <p:cNvSpPr txBox="1"/>
            <p:nvPr/>
          </p:nvSpPr>
          <p:spPr>
            <a:xfrm>
              <a:off x="4616768" y="4009549"/>
              <a:ext cx="1207913"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身份/权限/任务队列</a:t>
              </a:r>
            </a:p>
          </p:txBody>
        </p:sp>
        <p:sp>
          <p:nvSpPr>
            <p:cNvPr id="72" name="TextBox 72"/>
            <p:cNvSpPr txBox="1"/>
            <p:nvPr/>
          </p:nvSpPr>
          <p:spPr>
            <a:xfrm>
              <a:off x="4616768" y="4200049"/>
              <a:ext cx="133142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Agent 运行的系统底座</a:t>
              </a:r>
            </a:p>
          </p:txBody>
        </p:sp>
      </p:grpSp>
      <p:grpSp>
        <p:nvGrpSpPr>
          <p:cNvPr id="87" name="Group 87"/>
          <p:cNvGrpSpPr/>
          <p:nvPr/>
        </p:nvGrpSpPr>
        <p:grpSpPr>
          <a:xfrm>
            <a:off x="8001000" y="3086100"/>
            <a:ext cx="3429000" cy="1409700"/>
            <a:chOff x="8001000" y="3086100"/>
            <a:chExt cx="3429000" cy="1409700"/>
          </a:xfrm>
        </p:grpSpPr>
        <p:sp>
          <p:nvSpPr>
            <p:cNvPr id="74" name="Rectangle 74"/>
            <p:cNvSpPr/>
            <p:nvPr/>
          </p:nvSpPr>
          <p:spPr>
            <a:xfrm>
              <a:off x="8001000" y="3086100"/>
              <a:ext cx="3429000" cy="1409700"/>
            </a:xfrm>
            <a:prstGeom prst="roundRect">
              <a:avLst>
                <a:gd name="adj" fmla="val 9459"/>
              </a:avLst>
            </a:prstGeom>
            <a:solidFill>
              <a:srgbClr val="F4F7FC"/>
            </a:solidFill>
            <a:ln>
              <a:noFill/>
            </a:ln>
          </p:spPr>
        </p:sp>
        <p:sp>
          <p:nvSpPr>
            <p:cNvPr id="75" name="Rectangle 75"/>
            <p:cNvSpPr/>
            <p:nvPr/>
          </p:nvSpPr>
          <p:spPr>
            <a:xfrm>
              <a:off x="8001000" y="3086100"/>
              <a:ext cx="57150" cy="1409700"/>
            </a:xfrm>
            <a:prstGeom prst="roundRect">
              <a:avLst>
                <a:gd name="adj" fmla="val 50000"/>
              </a:avLst>
            </a:prstGeom>
            <a:solidFill>
              <a:srgbClr val="246BFE"/>
            </a:solidFill>
            <a:ln>
              <a:noFill/>
            </a:ln>
          </p:spPr>
        </p:sp>
        <p:sp>
          <p:nvSpPr>
            <p:cNvPr id="76" name="Ellipse 76"/>
            <p:cNvSpPr/>
            <p:nvPr/>
          </p:nvSpPr>
          <p:spPr>
            <a:xfrm>
              <a:off x="8172450" y="3238500"/>
              <a:ext cx="342900" cy="342900"/>
            </a:xfrm>
            <a:prstGeom prst="ellipse">
              <a:avLst/>
            </a:prstGeom>
            <a:solidFill>
              <a:srgbClr val="246BFE"/>
            </a:solidFill>
            <a:ln>
              <a:noFill/>
            </a:ln>
          </p:spPr>
        </p:sp>
        <p:sp>
          <p:nvSpPr>
            <p:cNvPr id="77" name="TextBox 77"/>
            <p:cNvSpPr txBox="1"/>
            <p:nvPr/>
          </p:nvSpPr>
          <p:spPr>
            <a:xfrm>
              <a:off x="8249705" y="33537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06</a:t>
              </a:r>
            </a:p>
          </p:txBody>
        </p:sp>
        <p:grpSp>
          <p:nvGrpSpPr>
            <p:cNvPr id="82" name="Group 82"/>
            <p:cNvGrpSpPr/>
            <p:nvPr/>
          </p:nvGrpSpPr>
          <p:grpSpPr>
            <a:xfrm>
              <a:off x="8696325" y="3305175"/>
              <a:ext cx="190501" cy="190500"/>
              <a:chOff x="8696325" y="3305175"/>
              <a:chExt cx="190501" cy="190500"/>
            </a:xfrm>
          </p:grpSpPr>
          <p:sp>
            <p:nvSpPr>
              <p:cNvPr id="78" name="Freeform 78"/>
              <p:cNvSpPr/>
              <p:nvPr/>
            </p:nvSpPr>
            <p:spPr>
              <a:xfrm>
                <a:off x="8696325" y="3305175"/>
                <a:ext cx="71438" cy="59531"/>
              </a:xfrm>
              <a:custGeom>
                <a:avLst/>
                <a:gdLst/>
                <a:ahLst/>
                <a:cxnLst/>
                <a:rect l="l" t="t" r="r" b="b"/>
                <a:pathLst>
                  <a:path w="71438" h="59531">
                    <a:moveTo>
                      <a:pt x="0" y="23812"/>
                    </a:moveTo>
                    <a:cubicBezTo>
                      <a:pt x="0" y="10661"/>
                      <a:pt x="10661" y="0"/>
                      <a:pt x="23812" y="0"/>
                    </a:cubicBezTo>
                    <a:lnTo>
                      <a:pt x="47625" y="0"/>
                    </a:lnTo>
                    <a:cubicBezTo>
                      <a:pt x="60776" y="0"/>
                      <a:pt x="71438" y="10661"/>
                      <a:pt x="71438" y="23812"/>
                    </a:cubicBezTo>
                    <a:lnTo>
                      <a:pt x="71438" y="35719"/>
                    </a:lnTo>
                    <a:cubicBezTo>
                      <a:pt x="71438" y="48870"/>
                      <a:pt x="60776" y="59531"/>
                      <a:pt x="47625" y="59531"/>
                    </a:cubicBezTo>
                    <a:lnTo>
                      <a:pt x="23812" y="59531"/>
                    </a:lnTo>
                    <a:cubicBezTo>
                      <a:pt x="10661" y="59531"/>
                      <a:pt x="0" y="48870"/>
                      <a:pt x="0" y="35719"/>
                    </a:cubicBezTo>
                    <a:lnTo>
                      <a:pt x="0" y="23812"/>
                    </a:lnTo>
                  </a:path>
                </a:pathLst>
              </a:custGeom>
              <a:noFill/>
              <a:ln w="19050">
                <a:solidFill>
                  <a:srgbClr val="0052A6"/>
                </a:solidFill>
              </a:ln>
            </p:spPr>
          </p:sp>
          <p:sp>
            <p:nvSpPr>
              <p:cNvPr id="79" name="Freeform 79"/>
              <p:cNvSpPr/>
              <p:nvPr/>
            </p:nvSpPr>
            <p:spPr>
              <a:xfrm>
                <a:off x="8696325" y="3412331"/>
                <a:ext cx="71438" cy="83344"/>
              </a:xfrm>
              <a:custGeom>
                <a:avLst/>
                <a:gdLst/>
                <a:ahLst/>
                <a:cxnLst/>
                <a:rect l="l" t="t" r="r" b="b"/>
                <a:pathLst>
                  <a:path w="71438" h="83344">
                    <a:moveTo>
                      <a:pt x="0" y="23812"/>
                    </a:moveTo>
                    <a:cubicBezTo>
                      <a:pt x="0" y="10661"/>
                      <a:pt x="10661" y="0"/>
                      <a:pt x="23812" y="0"/>
                    </a:cubicBezTo>
                    <a:lnTo>
                      <a:pt x="47625" y="0"/>
                    </a:lnTo>
                    <a:cubicBezTo>
                      <a:pt x="60776" y="0"/>
                      <a:pt x="71438" y="10661"/>
                      <a:pt x="71438" y="23812"/>
                    </a:cubicBezTo>
                    <a:lnTo>
                      <a:pt x="71438" y="59531"/>
                    </a:lnTo>
                    <a:cubicBezTo>
                      <a:pt x="71438" y="72683"/>
                      <a:pt x="60776" y="83344"/>
                      <a:pt x="47625" y="83344"/>
                    </a:cubicBezTo>
                    <a:lnTo>
                      <a:pt x="23812" y="83344"/>
                    </a:lnTo>
                    <a:cubicBezTo>
                      <a:pt x="10661" y="83344"/>
                      <a:pt x="0" y="72683"/>
                      <a:pt x="0" y="59531"/>
                    </a:cubicBezTo>
                    <a:lnTo>
                      <a:pt x="0" y="23812"/>
                    </a:lnTo>
                  </a:path>
                </a:pathLst>
              </a:custGeom>
              <a:noFill/>
              <a:ln w="19050">
                <a:solidFill>
                  <a:srgbClr val="0052A6"/>
                </a:solidFill>
              </a:ln>
            </p:spPr>
          </p:sp>
          <p:sp>
            <p:nvSpPr>
              <p:cNvPr id="80" name="Freeform 80"/>
              <p:cNvSpPr/>
              <p:nvPr/>
            </p:nvSpPr>
            <p:spPr>
              <a:xfrm>
                <a:off x="8815388" y="3305175"/>
                <a:ext cx="71438" cy="83344"/>
              </a:xfrm>
              <a:custGeom>
                <a:avLst/>
                <a:gdLst/>
                <a:ahLst/>
                <a:cxnLst/>
                <a:rect l="l" t="t" r="r" b="b"/>
                <a:pathLst>
                  <a:path w="71438" h="83344">
                    <a:moveTo>
                      <a:pt x="0" y="23812"/>
                    </a:moveTo>
                    <a:cubicBezTo>
                      <a:pt x="0" y="10661"/>
                      <a:pt x="10661" y="0"/>
                      <a:pt x="23812" y="0"/>
                    </a:cubicBezTo>
                    <a:lnTo>
                      <a:pt x="47625" y="0"/>
                    </a:lnTo>
                    <a:cubicBezTo>
                      <a:pt x="60776" y="0"/>
                      <a:pt x="71438" y="10661"/>
                      <a:pt x="71438" y="23812"/>
                    </a:cubicBezTo>
                    <a:lnTo>
                      <a:pt x="71438" y="59531"/>
                    </a:lnTo>
                    <a:cubicBezTo>
                      <a:pt x="71438" y="72683"/>
                      <a:pt x="60776" y="83344"/>
                      <a:pt x="47625" y="83344"/>
                    </a:cubicBezTo>
                    <a:lnTo>
                      <a:pt x="23812" y="83344"/>
                    </a:lnTo>
                    <a:cubicBezTo>
                      <a:pt x="10661" y="83344"/>
                      <a:pt x="0" y="72683"/>
                      <a:pt x="0" y="59531"/>
                    </a:cubicBezTo>
                    <a:lnTo>
                      <a:pt x="0" y="23812"/>
                    </a:lnTo>
                  </a:path>
                </a:pathLst>
              </a:custGeom>
              <a:noFill/>
              <a:ln w="19050">
                <a:solidFill>
                  <a:srgbClr val="0052A6"/>
                </a:solidFill>
              </a:ln>
            </p:spPr>
          </p:sp>
          <p:sp>
            <p:nvSpPr>
              <p:cNvPr id="81" name="Freeform 81"/>
              <p:cNvSpPr/>
              <p:nvPr/>
            </p:nvSpPr>
            <p:spPr>
              <a:xfrm>
                <a:off x="8815388" y="3436144"/>
                <a:ext cx="71438" cy="59531"/>
              </a:xfrm>
              <a:custGeom>
                <a:avLst/>
                <a:gdLst/>
                <a:ahLst/>
                <a:cxnLst/>
                <a:rect l="l" t="t" r="r" b="b"/>
                <a:pathLst>
                  <a:path w="71438" h="59531">
                    <a:moveTo>
                      <a:pt x="0" y="23812"/>
                    </a:moveTo>
                    <a:cubicBezTo>
                      <a:pt x="0" y="10661"/>
                      <a:pt x="10661" y="0"/>
                      <a:pt x="23812" y="0"/>
                    </a:cubicBezTo>
                    <a:lnTo>
                      <a:pt x="47625" y="0"/>
                    </a:lnTo>
                    <a:cubicBezTo>
                      <a:pt x="60776" y="0"/>
                      <a:pt x="71438" y="10661"/>
                      <a:pt x="71438" y="23812"/>
                    </a:cubicBezTo>
                    <a:lnTo>
                      <a:pt x="71438" y="35719"/>
                    </a:lnTo>
                    <a:cubicBezTo>
                      <a:pt x="71438" y="48870"/>
                      <a:pt x="60776" y="59531"/>
                      <a:pt x="47625" y="59531"/>
                    </a:cubicBezTo>
                    <a:lnTo>
                      <a:pt x="23812" y="59531"/>
                    </a:lnTo>
                    <a:cubicBezTo>
                      <a:pt x="10661" y="59531"/>
                      <a:pt x="0" y="48870"/>
                      <a:pt x="0" y="35719"/>
                    </a:cubicBezTo>
                    <a:lnTo>
                      <a:pt x="0" y="23812"/>
                    </a:lnTo>
                  </a:path>
                </a:pathLst>
              </a:custGeom>
              <a:noFill/>
              <a:ln w="19050">
                <a:solidFill>
                  <a:srgbClr val="0052A6"/>
                </a:solidFill>
              </a:ln>
            </p:spPr>
          </p:sp>
        </p:grpSp>
        <p:sp>
          <p:nvSpPr>
            <p:cNvPr id="83" name="TextBox 83"/>
            <p:cNvSpPr txBox="1"/>
            <p:nvPr/>
          </p:nvSpPr>
          <p:spPr>
            <a:xfrm>
              <a:off x="8993505" y="3321368"/>
              <a:ext cx="979408"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UI Harness</a:t>
              </a:r>
            </a:p>
          </p:txBody>
        </p:sp>
        <p:sp>
          <p:nvSpPr>
            <p:cNvPr id="84" name="TextBox 84"/>
            <p:cNvSpPr txBox="1"/>
            <p:nvPr/>
          </p:nvSpPr>
          <p:spPr>
            <a:xfrm>
              <a:off x="8235315" y="3772852"/>
              <a:ext cx="887778"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UI 自动化驾驭</a:t>
              </a:r>
            </a:p>
          </p:txBody>
        </p:sp>
        <p:sp>
          <p:nvSpPr>
            <p:cNvPr id="85" name="TextBox 85"/>
            <p:cNvSpPr txBox="1"/>
            <p:nvPr/>
          </p:nvSpPr>
          <p:spPr>
            <a:xfrm>
              <a:off x="8236268" y="4009549"/>
              <a:ext cx="1240417"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界面层 Agent 可操作</a:t>
              </a:r>
            </a:p>
          </p:txBody>
        </p:sp>
        <p:sp>
          <p:nvSpPr>
            <p:cNvPr id="86" name="TextBox 86"/>
            <p:cNvSpPr txBox="1"/>
            <p:nvPr/>
          </p:nvSpPr>
          <p:spPr>
            <a:xfrm>
              <a:off x="8236268" y="4200049"/>
              <a:ext cx="1344430"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UI 验证脚本化、可重放</a:t>
              </a:r>
            </a:p>
          </p:txBody>
        </p:sp>
      </p:grpSp>
      <p:grpSp>
        <p:nvGrpSpPr>
          <p:cNvPr id="97" name="Group 97"/>
          <p:cNvGrpSpPr/>
          <p:nvPr/>
        </p:nvGrpSpPr>
        <p:grpSpPr>
          <a:xfrm>
            <a:off x="762000" y="4648200"/>
            <a:ext cx="3429000" cy="1409700"/>
            <a:chOff x="762000" y="4648200"/>
            <a:chExt cx="3429000" cy="1409700"/>
          </a:xfrm>
        </p:grpSpPr>
        <p:sp>
          <p:nvSpPr>
            <p:cNvPr id="88" name="Rectangle 88"/>
            <p:cNvSpPr/>
            <p:nvPr/>
          </p:nvSpPr>
          <p:spPr>
            <a:xfrm>
              <a:off x="762000" y="4648200"/>
              <a:ext cx="3429000" cy="1409700"/>
            </a:xfrm>
            <a:prstGeom prst="roundRect">
              <a:avLst>
                <a:gd name="adj" fmla="val 9459"/>
              </a:avLst>
            </a:prstGeom>
            <a:solidFill>
              <a:srgbClr val="F4F7FC"/>
            </a:solidFill>
            <a:ln>
              <a:noFill/>
            </a:ln>
          </p:spPr>
        </p:sp>
        <p:sp>
          <p:nvSpPr>
            <p:cNvPr id="89" name="Rectangle 89"/>
            <p:cNvSpPr/>
            <p:nvPr/>
          </p:nvSpPr>
          <p:spPr>
            <a:xfrm>
              <a:off x="762000" y="4648200"/>
              <a:ext cx="57150" cy="1409700"/>
            </a:xfrm>
            <a:prstGeom prst="roundRect">
              <a:avLst>
                <a:gd name="adj" fmla="val 50000"/>
              </a:avLst>
            </a:prstGeom>
            <a:solidFill>
              <a:srgbClr val="518FEC"/>
            </a:solidFill>
            <a:ln>
              <a:noFill/>
            </a:ln>
          </p:spPr>
        </p:sp>
        <p:sp>
          <p:nvSpPr>
            <p:cNvPr id="90" name="Ellipse 90"/>
            <p:cNvSpPr/>
            <p:nvPr/>
          </p:nvSpPr>
          <p:spPr>
            <a:xfrm>
              <a:off x="933450" y="4800600"/>
              <a:ext cx="342900" cy="342900"/>
            </a:xfrm>
            <a:prstGeom prst="ellipse">
              <a:avLst/>
            </a:prstGeom>
            <a:solidFill>
              <a:srgbClr val="518FEC"/>
            </a:solidFill>
            <a:ln>
              <a:noFill/>
            </a:ln>
          </p:spPr>
        </p:sp>
        <p:sp>
          <p:nvSpPr>
            <p:cNvPr id="91" name="TextBox 91"/>
            <p:cNvSpPr txBox="1"/>
            <p:nvPr/>
          </p:nvSpPr>
          <p:spPr>
            <a:xfrm>
              <a:off x="1010705" y="49158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07</a:t>
              </a:r>
            </a:p>
          </p:txBody>
        </p:sp>
        <p:sp>
          <p:nvSpPr>
            <p:cNvPr id="92" name="Freeform 92"/>
            <p:cNvSpPr/>
            <p:nvPr/>
          </p:nvSpPr>
          <p:spPr>
            <a:xfrm>
              <a:off x="1433512" y="4875490"/>
              <a:ext cx="238125" cy="158520"/>
            </a:xfrm>
            <a:custGeom>
              <a:avLst/>
              <a:gdLst/>
              <a:ahLst/>
              <a:cxnLst/>
              <a:rect l="l" t="t" r="r" b="b"/>
              <a:pathLst>
                <a:path w="238125" h="158520">
                  <a:moveTo>
                    <a:pt x="55447" y="158472"/>
                  </a:moveTo>
                  <a:cubicBezTo>
                    <a:pt x="24825" y="158472"/>
                    <a:pt x="0" y="134576"/>
                    <a:pt x="0" y="105096"/>
                  </a:cubicBezTo>
                  <a:cubicBezTo>
                    <a:pt x="0" y="75628"/>
                    <a:pt x="24825" y="51733"/>
                    <a:pt x="55447" y="51733"/>
                  </a:cubicBezTo>
                  <a:cubicBezTo>
                    <a:pt x="60127" y="30754"/>
                    <a:pt x="76807" y="13633"/>
                    <a:pt x="99203" y="6810"/>
                  </a:cubicBezTo>
                  <a:cubicBezTo>
                    <a:pt x="121587" y="0"/>
                    <a:pt x="146304" y="4512"/>
                    <a:pt x="164020" y="18717"/>
                  </a:cubicBezTo>
                  <a:cubicBezTo>
                    <a:pt x="181737" y="32885"/>
                    <a:pt x="189762" y="54519"/>
                    <a:pt x="185095" y="75498"/>
                  </a:cubicBezTo>
                  <a:lnTo>
                    <a:pt x="196882" y="75498"/>
                  </a:lnTo>
                  <a:cubicBezTo>
                    <a:pt x="219658" y="75498"/>
                    <a:pt x="238125" y="94071"/>
                    <a:pt x="238125" y="117003"/>
                  </a:cubicBezTo>
                  <a:cubicBezTo>
                    <a:pt x="238125" y="139946"/>
                    <a:pt x="219658" y="158520"/>
                    <a:pt x="196870" y="158520"/>
                  </a:cubicBezTo>
                  <a:lnTo>
                    <a:pt x="55447" y="158520"/>
                  </a:lnTo>
                </a:path>
              </a:pathLst>
            </a:custGeom>
            <a:noFill/>
            <a:ln w="19050">
              <a:solidFill>
                <a:srgbClr val="246BFE"/>
              </a:solidFill>
            </a:ln>
          </p:spPr>
        </p:sp>
        <p:sp>
          <p:nvSpPr>
            <p:cNvPr id="93" name="TextBox 93"/>
            <p:cNvSpPr txBox="1"/>
            <p:nvPr/>
          </p:nvSpPr>
          <p:spPr>
            <a:xfrm>
              <a:off x="1754505" y="4883468"/>
              <a:ext cx="1083371"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API Harness</a:t>
              </a:r>
            </a:p>
          </p:txBody>
        </p:sp>
        <p:sp>
          <p:nvSpPr>
            <p:cNvPr id="94" name="TextBox 94"/>
            <p:cNvSpPr txBox="1"/>
            <p:nvPr/>
          </p:nvSpPr>
          <p:spPr>
            <a:xfrm>
              <a:off x="996315" y="5334952"/>
              <a:ext cx="964787"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API 自动化驾驭</a:t>
              </a:r>
            </a:p>
          </p:txBody>
        </p:sp>
        <p:sp>
          <p:nvSpPr>
            <p:cNvPr id="95" name="TextBox 95"/>
            <p:cNvSpPr txBox="1"/>
            <p:nvPr/>
          </p:nvSpPr>
          <p:spPr>
            <a:xfrm>
              <a:off x="997268" y="5571649"/>
              <a:ext cx="934879"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接口契约可验证</a:t>
              </a:r>
            </a:p>
          </p:txBody>
        </p:sp>
        <p:sp>
          <p:nvSpPr>
            <p:cNvPr id="96" name="TextBox 96"/>
            <p:cNvSpPr txBox="1"/>
            <p:nvPr/>
          </p:nvSpPr>
          <p:spPr>
            <a:xfrm>
              <a:off x="997268" y="5762149"/>
              <a:ext cx="1194911"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契约兼容性持续守护</a:t>
              </a:r>
            </a:p>
          </p:txBody>
        </p:sp>
      </p:grpSp>
      <p:grpSp>
        <p:nvGrpSpPr>
          <p:cNvPr id="113" name="Group 113"/>
          <p:cNvGrpSpPr/>
          <p:nvPr/>
        </p:nvGrpSpPr>
        <p:grpSpPr>
          <a:xfrm>
            <a:off x="4381500" y="4648200"/>
            <a:ext cx="3429000" cy="1409700"/>
            <a:chOff x="4381500" y="4648200"/>
            <a:chExt cx="3429000" cy="1409700"/>
          </a:xfrm>
        </p:grpSpPr>
        <p:sp>
          <p:nvSpPr>
            <p:cNvPr id="98" name="Rectangle 98"/>
            <p:cNvSpPr/>
            <p:nvPr/>
          </p:nvSpPr>
          <p:spPr>
            <a:xfrm>
              <a:off x="4381500" y="4648200"/>
              <a:ext cx="3429000" cy="1409700"/>
            </a:xfrm>
            <a:prstGeom prst="roundRect">
              <a:avLst>
                <a:gd name="adj" fmla="val 9459"/>
              </a:avLst>
            </a:prstGeom>
            <a:solidFill>
              <a:srgbClr val="F4F7FC"/>
            </a:solidFill>
            <a:ln>
              <a:noFill/>
            </a:ln>
          </p:spPr>
        </p:sp>
        <p:sp>
          <p:nvSpPr>
            <p:cNvPr id="99" name="Rectangle 99"/>
            <p:cNvSpPr/>
            <p:nvPr/>
          </p:nvSpPr>
          <p:spPr>
            <a:xfrm>
              <a:off x="4381500" y="4648200"/>
              <a:ext cx="57150" cy="1409700"/>
            </a:xfrm>
            <a:prstGeom prst="roundRect">
              <a:avLst>
                <a:gd name="adj" fmla="val 50000"/>
              </a:avLst>
            </a:prstGeom>
            <a:solidFill>
              <a:srgbClr val="518FEC"/>
            </a:solidFill>
            <a:ln>
              <a:noFill/>
            </a:ln>
          </p:spPr>
        </p:sp>
        <p:sp>
          <p:nvSpPr>
            <p:cNvPr id="100" name="Ellipse 100"/>
            <p:cNvSpPr/>
            <p:nvPr/>
          </p:nvSpPr>
          <p:spPr>
            <a:xfrm>
              <a:off x="4552950" y="4800600"/>
              <a:ext cx="342900" cy="342900"/>
            </a:xfrm>
            <a:prstGeom prst="ellipse">
              <a:avLst/>
            </a:prstGeom>
            <a:solidFill>
              <a:srgbClr val="518FEC"/>
            </a:solidFill>
            <a:ln>
              <a:noFill/>
            </a:ln>
          </p:spPr>
        </p:sp>
        <p:sp>
          <p:nvSpPr>
            <p:cNvPr id="101" name="TextBox 101"/>
            <p:cNvSpPr txBox="1"/>
            <p:nvPr/>
          </p:nvSpPr>
          <p:spPr>
            <a:xfrm>
              <a:off x="4630205" y="49158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08</a:t>
              </a:r>
            </a:p>
          </p:txBody>
        </p:sp>
        <p:grpSp>
          <p:nvGrpSpPr>
            <p:cNvPr id="108" name="Group 108"/>
            <p:cNvGrpSpPr/>
            <p:nvPr/>
          </p:nvGrpSpPr>
          <p:grpSpPr>
            <a:xfrm>
              <a:off x="5088731" y="4855369"/>
              <a:ext cx="166688" cy="214312"/>
              <a:chOff x="5088731" y="4855369"/>
              <a:chExt cx="166688" cy="214312"/>
            </a:xfrm>
          </p:grpSpPr>
          <p:sp>
            <p:nvSpPr>
              <p:cNvPr id="102" name="Freeform 102"/>
              <p:cNvSpPr/>
              <p:nvPr/>
            </p:nvSpPr>
            <p:spPr>
              <a:xfrm>
                <a:off x="5088731" y="4879181"/>
                <a:ext cx="166688" cy="190500"/>
              </a:xfrm>
              <a:custGeom>
                <a:avLst/>
                <a:gdLst/>
                <a:ahLst/>
                <a:cxnLst/>
                <a:rect l="l" t="t" r="r" b="b"/>
                <a:pathLst>
                  <a:path w="166688" h="190500">
                    <a:moveTo>
                      <a:pt x="47625" y="0"/>
                    </a:moveTo>
                    <a:lnTo>
                      <a:pt x="23812" y="0"/>
                    </a:lnTo>
                    <a:cubicBezTo>
                      <a:pt x="10661" y="0"/>
                      <a:pt x="0" y="10661"/>
                      <a:pt x="0" y="23812"/>
                    </a:cubicBezTo>
                    <a:lnTo>
                      <a:pt x="0" y="166688"/>
                    </a:lnTo>
                    <a:cubicBezTo>
                      <a:pt x="0" y="179839"/>
                      <a:pt x="10661" y="190500"/>
                      <a:pt x="23812" y="190500"/>
                    </a:cubicBezTo>
                    <a:lnTo>
                      <a:pt x="142875" y="190500"/>
                    </a:lnTo>
                    <a:cubicBezTo>
                      <a:pt x="156026" y="190500"/>
                      <a:pt x="166688" y="179839"/>
                      <a:pt x="166688" y="166688"/>
                    </a:cubicBezTo>
                    <a:lnTo>
                      <a:pt x="166688" y="23812"/>
                    </a:lnTo>
                    <a:cubicBezTo>
                      <a:pt x="166688" y="10661"/>
                      <a:pt x="156026" y="0"/>
                      <a:pt x="142875" y="0"/>
                    </a:cubicBezTo>
                    <a:lnTo>
                      <a:pt x="119062" y="0"/>
                    </a:lnTo>
                  </a:path>
                </a:pathLst>
              </a:custGeom>
              <a:noFill/>
              <a:ln w="19050">
                <a:solidFill>
                  <a:srgbClr val="246BFE"/>
                </a:solidFill>
              </a:ln>
            </p:spPr>
          </p:sp>
          <p:sp>
            <p:nvSpPr>
              <p:cNvPr id="103" name="Freeform 103"/>
              <p:cNvSpPr/>
              <p:nvPr/>
            </p:nvSpPr>
            <p:spPr>
              <a:xfrm>
                <a:off x="5136356" y="4855369"/>
                <a:ext cx="71438" cy="47625"/>
              </a:xfrm>
              <a:custGeom>
                <a:avLst/>
                <a:gdLst/>
                <a:ahLst/>
                <a:cxnLst/>
                <a:rect l="l" t="t" r="r" b="b"/>
                <a:pathLst>
                  <a:path w="71438" h="47625">
                    <a:moveTo>
                      <a:pt x="0" y="23812"/>
                    </a:moveTo>
                    <a:cubicBezTo>
                      <a:pt x="0" y="10661"/>
                      <a:pt x="10661" y="0"/>
                      <a:pt x="23812" y="0"/>
                    </a:cubicBezTo>
                    <a:lnTo>
                      <a:pt x="47625" y="0"/>
                    </a:lnTo>
                    <a:cubicBezTo>
                      <a:pt x="60776" y="0"/>
                      <a:pt x="71438" y="10661"/>
                      <a:pt x="71438" y="23812"/>
                    </a:cubicBezTo>
                    <a:cubicBezTo>
                      <a:pt x="71438" y="36964"/>
                      <a:pt x="60776" y="47625"/>
                      <a:pt x="47625" y="47625"/>
                    </a:cubicBezTo>
                    <a:lnTo>
                      <a:pt x="23812" y="47625"/>
                    </a:lnTo>
                    <a:cubicBezTo>
                      <a:pt x="10661" y="47625"/>
                      <a:pt x="0" y="36964"/>
                      <a:pt x="0" y="23812"/>
                    </a:cubicBezTo>
                  </a:path>
                </a:pathLst>
              </a:custGeom>
              <a:noFill/>
              <a:ln w="19050">
                <a:solidFill>
                  <a:srgbClr val="246BFE"/>
                </a:solidFill>
              </a:ln>
            </p:spPr>
          </p:sp>
          <p:sp>
            <p:nvSpPr>
              <p:cNvPr id="104" name="Freeform 104"/>
              <p:cNvSpPr/>
              <p:nvPr/>
            </p:nvSpPr>
            <p:spPr>
              <a:xfrm>
                <a:off x="5136356" y="4962525"/>
                <a:ext cx="9525" cy="9525"/>
              </a:xfrm>
              <a:custGeom>
                <a:avLst/>
                <a:gdLst/>
                <a:ahLst/>
                <a:cxnLst/>
                <a:rect l="l" t="t" r="r" b="b"/>
                <a:pathLst>
                  <a:path w="9525" h="9525">
                    <a:moveTo>
                      <a:pt x="0" y="0"/>
                    </a:moveTo>
                    <a:lnTo>
                      <a:pt x="119" y="0"/>
                    </a:lnTo>
                  </a:path>
                </a:pathLst>
              </a:custGeom>
              <a:noFill/>
              <a:ln w="19050">
                <a:solidFill>
                  <a:srgbClr val="246BFE"/>
                </a:solidFill>
              </a:ln>
            </p:spPr>
          </p:sp>
          <p:sp>
            <p:nvSpPr>
              <p:cNvPr id="105" name="Freeform 105"/>
              <p:cNvSpPr/>
              <p:nvPr/>
            </p:nvSpPr>
            <p:spPr>
              <a:xfrm>
                <a:off x="5183981" y="4962525"/>
                <a:ext cx="23812" cy="9525"/>
              </a:xfrm>
              <a:custGeom>
                <a:avLst/>
                <a:gdLst/>
                <a:ahLst/>
                <a:cxnLst/>
                <a:rect l="l" t="t" r="r" b="b"/>
                <a:pathLst>
                  <a:path w="23812" h="9525">
                    <a:moveTo>
                      <a:pt x="0" y="0"/>
                    </a:moveTo>
                    <a:lnTo>
                      <a:pt x="23812" y="0"/>
                    </a:lnTo>
                  </a:path>
                </a:pathLst>
              </a:custGeom>
              <a:noFill/>
              <a:ln w="19050">
                <a:solidFill>
                  <a:srgbClr val="246BFE"/>
                </a:solidFill>
              </a:ln>
            </p:spPr>
          </p:sp>
          <p:sp>
            <p:nvSpPr>
              <p:cNvPr id="106" name="Freeform 106"/>
              <p:cNvSpPr/>
              <p:nvPr/>
            </p:nvSpPr>
            <p:spPr>
              <a:xfrm>
                <a:off x="5136356" y="5010150"/>
                <a:ext cx="9525" cy="9525"/>
              </a:xfrm>
              <a:custGeom>
                <a:avLst/>
                <a:gdLst/>
                <a:ahLst/>
                <a:cxnLst/>
                <a:rect l="l" t="t" r="r" b="b"/>
                <a:pathLst>
                  <a:path w="9525" h="9525">
                    <a:moveTo>
                      <a:pt x="0" y="0"/>
                    </a:moveTo>
                    <a:lnTo>
                      <a:pt x="119" y="0"/>
                    </a:lnTo>
                  </a:path>
                </a:pathLst>
              </a:custGeom>
              <a:noFill/>
              <a:ln w="19050">
                <a:solidFill>
                  <a:srgbClr val="246BFE"/>
                </a:solidFill>
              </a:ln>
            </p:spPr>
          </p:sp>
          <p:sp>
            <p:nvSpPr>
              <p:cNvPr id="107" name="Freeform 107"/>
              <p:cNvSpPr/>
              <p:nvPr/>
            </p:nvSpPr>
            <p:spPr>
              <a:xfrm>
                <a:off x="5183981" y="5010150"/>
                <a:ext cx="23812" cy="9525"/>
              </a:xfrm>
              <a:custGeom>
                <a:avLst/>
                <a:gdLst/>
                <a:ahLst/>
                <a:cxnLst/>
                <a:rect l="l" t="t" r="r" b="b"/>
                <a:pathLst>
                  <a:path w="23812" h="9525">
                    <a:moveTo>
                      <a:pt x="0" y="0"/>
                    </a:moveTo>
                    <a:lnTo>
                      <a:pt x="23812" y="0"/>
                    </a:lnTo>
                  </a:path>
                </a:pathLst>
              </a:custGeom>
              <a:noFill/>
              <a:ln w="19050">
                <a:solidFill>
                  <a:srgbClr val="246BFE"/>
                </a:solidFill>
              </a:ln>
            </p:spPr>
          </p:sp>
        </p:grpSp>
        <p:sp>
          <p:nvSpPr>
            <p:cNvPr id="109" name="TextBox 109"/>
            <p:cNvSpPr txBox="1"/>
            <p:nvPr/>
          </p:nvSpPr>
          <p:spPr>
            <a:xfrm>
              <a:off x="5374005" y="4883468"/>
              <a:ext cx="1168432"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SOP Harness</a:t>
              </a:r>
            </a:p>
          </p:txBody>
        </p:sp>
        <p:sp>
          <p:nvSpPr>
            <p:cNvPr id="110" name="TextBox 110"/>
            <p:cNvSpPr txBox="1"/>
            <p:nvPr/>
          </p:nvSpPr>
          <p:spPr>
            <a:xfrm>
              <a:off x="4615815" y="5334952"/>
              <a:ext cx="1146810"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标准作业流程驾驭</a:t>
              </a:r>
            </a:p>
          </p:txBody>
        </p:sp>
        <p:sp>
          <p:nvSpPr>
            <p:cNvPr id="111" name="TextBox 111"/>
            <p:cNvSpPr txBox="1"/>
            <p:nvPr/>
          </p:nvSpPr>
          <p:spPr>
            <a:xfrm>
              <a:off x="4616768" y="5571649"/>
              <a:ext cx="1214414"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高频任务沉淀成 SOP</a:t>
              </a:r>
            </a:p>
          </p:txBody>
        </p:sp>
        <p:sp>
          <p:nvSpPr>
            <p:cNvPr id="112" name="TextBox 112"/>
            <p:cNvSpPr txBox="1"/>
            <p:nvPr/>
          </p:nvSpPr>
          <p:spPr>
            <a:xfrm>
              <a:off x="4616768" y="5762149"/>
              <a:ext cx="1194911"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流程可复用、可治理</a:t>
              </a:r>
            </a:p>
          </p:txBody>
        </p:sp>
      </p:grpSp>
      <p:grpSp>
        <p:nvGrpSpPr>
          <p:cNvPr id="125" name="Group 125"/>
          <p:cNvGrpSpPr/>
          <p:nvPr/>
        </p:nvGrpSpPr>
        <p:grpSpPr>
          <a:xfrm>
            <a:off x="8001000" y="4648200"/>
            <a:ext cx="3429000" cy="1409700"/>
            <a:chOff x="8001000" y="4648200"/>
            <a:chExt cx="3429000" cy="1409700"/>
          </a:xfrm>
        </p:grpSpPr>
        <p:sp>
          <p:nvSpPr>
            <p:cNvPr id="114" name="Rectangle 114"/>
            <p:cNvSpPr/>
            <p:nvPr/>
          </p:nvSpPr>
          <p:spPr>
            <a:xfrm>
              <a:off x="8001000" y="4648200"/>
              <a:ext cx="3429000" cy="1409700"/>
            </a:xfrm>
            <a:prstGeom prst="roundRect">
              <a:avLst>
                <a:gd name="adj" fmla="val 9459"/>
              </a:avLst>
            </a:prstGeom>
            <a:solidFill>
              <a:srgbClr val="F4F7FC"/>
            </a:solidFill>
            <a:ln>
              <a:noFill/>
            </a:ln>
          </p:spPr>
        </p:sp>
        <p:sp>
          <p:nvSpPr>
            <p:cNvPr id="115" name="Rectangle 115"/>
            <p:cNvSpPr/>
            <p:nvPr/>
          </p:nvSpPr>
          <p:spPr>
            <a:xfrm>
              <a:off x="8001000" y="4648200"/>
              <a:ext cx="57150" cy="1409700"/>
            </a:xfrm>
            <a:prstGeom prst="roundRect">
              <a:avLst>
                <a:gd name="adj" fmla="val 50000"/>
              </a:avLst>
            </a:prstGeom>
            <a:solidFill>
              <a:srgbClr val="518FEC"/>
            </a:solidFill>
            <a:ln>
              <a:noFill/>
            </a:ln>
          </p:spPr>
        </p:sp>
        <p:sp>
          <p:nvSpPr>
            <p:cNvPr id="116" name="Ellipse 116"/>
            <p:cNvSpPr/>
            <p:nvPr/>
          </p:nvSpPr>
          <p:spPr>
            <a:xfrm>
              <a:off x="8172450" y="4800600"/>
              <a:ext cx="342900" cy="342900"/>
            </a:xfrm>
            <a:prstGeom prst="ellipse">
              <a:avLst/>
            </a:prstGeom>
            <a:solidFill>
              <a:srgbClr val="518FEC"/>
            </a:solidFill>
            <a:ln>
              <a:noFill/>
            </a:ln>
          </p:spPr>
        </p:sp>
        <p:sp>
          <p:nvSpPr>
            <p:cNvPr id="117" name="TextBox 117"/>
            <p:cNvSpPr txBox="1"/>
            <p:nvPr/>
          </p:nvSpPr>
          <p:spPr>
            <a:xfrm>
              <a:off x="8249705" y="49158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09</a:t>
              </a:r>
            </a:p>
          </p:txBody>
        </p:sp>
        <p:grpSp>
          <p:nvGrpSpPr>
            <p:cNvPr id="120" name="Group 120"/>
            <p:cNvGrpSpPr/>
            <p:nvPr/>
          </p:nvGrpSpPr>
          <p:grpSpPr>
            <a:xfrm>
              <a:off x="8685014" y="4853706"/>
              <a:ext cx="219694" cy="224739"/>
              <a:chOff x="8685014" y="4853706"/>
              <a:chExt cx="219694" cy="224739"/>
            </a:xfrm>
          </p:grpSpPr>
          <p:sp>
            <p:nvSpPr>
              <p:cNvPr id="118" name="Freeform 118"/>
              <p:cNvSpPr/>
              <p:nvPr/>
            </p:nvSpPr>
            <p:spPr>
              <a:xfrm>
                <a:off x="8791575" y="4914900"/>
                <a:ext cx="23812" cy="71438"/>
              </a:xfrm>
              <a:custGeom>
                <a:avLst/>
                <a:gdLst/>
                <a:ahLst/>
                <a:cxnLst/>
                <a:rect l="l" t="t" r="r" b="b"/>
                <a:pathLst>
                  <a:path w="23812" h="71438">
                    <a:moveTo>
                      <a:pt x="0" y="0"/>
                    </a:moveTo>
                    <a:lnTo>
                      <a:pt x="0" y="47625"/>
                    </a:lnTo>
                    <a:lnTo>
                      <a:pt x="23812" y="71438"/>
                    </a:lnTo>
                  </a:path>
                </a:pathLst>
              </a:custGeom>
              <a:noFill/>
              <a:ln w="19050">
                <a:solidFill>
                  <a:srgbClr val="246BFE"/>
                </a:solidFill>
              </a:ln>
            </p:spPr>
          </p:sp>
          <p:sp>
            <p:nvSpPr>
              <p:cNvPr id="119" name="Freeform 119"/>
              <p:cNvSpPr/>
              <p:nvPr/>
            </p:nvSpPr>
            <p:spPr>
              <a:xfrm>
                <a:off x="8685014" y="4853706"/>
                <a:ext cx="219694" cy="224739"/>
              </a:xfrm>
              <a:custGeom>
                <a:avLst/>
                <a:gdLst/>
                <a:ahLst/>
                <a:cxnLst/>
                <a:rect l="l" t="t" r="r" b="b"/>
                <a:pathLst>
                  <a:path w="219694" h="224739">
                    <a:moveTo>
                      <a:pt x="0" y="96913"/>
                    </a:moveTo>
                    <a:cubicBezTo>
                      <a:pt x="5524" y="42685"/>
                      <a:pt x="50876" y="1245"/>
                      <a:pt x="105381" y="623"/>
                    </a:cubicBezTo>
                    <a:cubicBezTo>
                      <a:pt x="159885" y="0"/>
                      <a:pt x="206172" y="40393"/>
                      <a:pt x="212933" y="94481"/>
                    </a:cubicBezTo>
                    <a:cubicBezTo>
                      <a:pt x="219694" y="148568"/>
                      <a:pt x="184774" y="199112"/>
                      <a:pt x="131794" y="211925"/>
                    </a:cubicBezTo>
                    <a:cubicBezTo>
                      <a:pt x="78813" y="224739"/>
                      <a:pt x="24655" y="195737"/>
                      <a:pt x="5953" y="144538"/>
                    </a:cubicBezTo>
                    <a:moveTo>
                      <a:pt x="0" y="204069"/>
                    </a:moveTo>
                    <a:lnTo>
                      <a:pt x="0" y="144538"/>
                    </a:lnTo>
                    <a:lnTo>
                      <a:pt x="59531" y="144538"/>
                    </a:lnTo>
                  </a:path>
                </a:pathLst>
              </a:custGeom>
              <a:noFill/>
              <a:ln w="19050">
                <a:solidFill>
                  <a:srgbClr val="246BFE"/>
                </a:solidFill>
              </a:ln>
            </p:spPr>
          </p:sp>
        </p:grpSp>
        <p:sp>
          <p:nvSpPr>
            <p:cNvPr id="121" name="TextBox 121"/>
            <p:cNvSpPr txBox="1"/>
            <p:nvPr/>
          </p:nvSpPr>
          <p:spPr>
            <a:xfrm>
              <a:off x="8993505" y="4883468"/>
              <a:ext cx="1291297" cy="274320"/>
            </a:xfrm>
            <a:prstGeom prst="rect">
              <a:avLst/>
            </a:prstGeom>
            <a:noFill/>
            <a:ln>
              <a:noFill/>
            </a:ln>
          </p:spPr>
          <p:txBody>
            <a:bodyPr wrap="none" lIns="0" tIns="0" rIns="0" bIns="0" anchor="t" anchorCtr="0">
              <a:spAutoFit/>
            </a:bodyPr>
            <a:lstStyle/>
            <a:p>
              <a:pPr algn="l"/>
              <a:r>
                <a:rPr lang="zh-CN" sz="1350" b="1" dirty="0">
                  <a:solidFill>
                    <a:srgbClr val="25364A"/>
                  </a:solidFill>
                  <a:latin typeface="Arial"/>
                  <a:ea typeface="Microsoft YaHei"/>
                  <a:cs typeface="Arial"/>
                </a:rPr>
                <a:t>Harness flake</a:t>
              </a:r>
            </a:p>
          </p:txBody>
        </p:sp>
        <p:sp>
          <p:nvSpPr>
            <p:cNvPr id="122" name="TextBox 122"/>
            <p:cNvSpPr txBox="1"/>
            <p:nvPr/>
          </p:nvSpPr>
          <p:spPr>
            <a:xfrm>
              <a:off x="8235315" y="5334952"/>
              <a:ext cx="1286828" cy="213360"/>
            </a:xfrm>
            <a:prstGeom prst="rect">
              <a:avLst/>
            </a:prstGeom>
            <a:noFill/>
            <a:ln>
              <a:noFill/>
            </a:ln>
          </p:spPr>
          <p:txBody>
            <a:bodyPr wrap="none" lIns="0" tIns="0" rIns="0" bIns="0" anchor="t" anchorCtr="0">
              <a:spAutoFit/>
            </a:bodyPr>
            <a:lstStyle/>
            <a:p>
              <a:pPr algn="l"/>
              <a:r>
                <a:rPr lang="zh-CN" sz="1050" dirty="0">
                  <a:solidFill>
                    <a:srgbClr val="5E6A78"/>
                  </a:solidFill>
                  <a:latin typeface="Arial"/>
                  <a:ea typeface="Microsoft YaHei"/>
                  <a:cs typeface="Arial"/>
                </a:rPr>
                <a:t>框架自身稳定性治理</a:t>
              </a:r>
            </a:p>
          </p:txBody>
        </p:sp>
        <p:sp>
          <p:nvSpPr>
            <p:cNvPr id="123" name="TextBox 123"/>
            <p:cNvSpPr txBox="1"/>
            <p:nvPr/>
          </p:nvSpPr>
          <p:spPr>
            <a:xfrm>
              <a:off x="8236268" y="5571649"/>
              <a:ext cx="132492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驾驭框架本身的稳定性</a:t>
              </a:r>
            </a:p>
          </p:txBody>
        </p:sp>
        <p:sp>
          <p:nvSpPr>
            <p:cNvPr id="124" name="TextBox 124"/>
            <p:cNvSpPr txBox="1"/>
            <p:nvPr/>
          </p:nvSpPr>
          <p:spPr>
            <a:xfrm>
              <a:off x="8236268" y="5762149"/>
              <a:ext cx="1324928"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抖动检测、修复、加固</a:t>
              </a:r>
            </a:p>
          </p:txBody>
        </p:sp>
      </p:grpSp>
      <p:grpSp>
        <p:nvGrpSpPr>
          <p:cNvPr id="128" name="Group 128"/>
          <p:cNvGrpSpPr/>
          <p:nvPr/>
        </p:nvGrpSpPr>
        <p:grpSpPr>
          <a:xfrm>
            <a:off x="750570" y="6456045"/>
            <a:ext cx="10689907" cy="182880"/>
            <a:chOff x="750570" y="6456045"/>
            <a:chExt cx="10689907" cy="182880"/>
          </a:xfrm>
        </p:grpSpPr>
        <p:sp>
          <p:nvSpPr>
            <p:cNvPr id="126" name="TextBox 126"/>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第五章 · 工程底座</a:t>
              </a:r>
            </a:p>
          </p:txBody>
        </p:sp>
        <p:sp>
          <p:nvSpPr>
            <p:cNvPr id="127" name="TextBox 127"/>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24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Bottom)">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lide(fromBottom)">
                                      <p:cBhvr>
                                        <p:cTn id="15" dur="400"/>
                                        <p:tgtEl>
                                          <p:spTgt spid="3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slide(fromBottom)">
                                      <p:cBhvr>
                                        <p:cTn id="19" dur="400"/>
                                        <p:tgtEl>
                                          <p:spTgt spid="4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slide(fromBottom)">
                                      <p:cBhvr>
                                        <p:cTn id="23" dur="400"/>
                                        <p:tgtEl>
                                          <p:spTgt spid="5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slide(fromBottom)">
                                      <p:cBhvr>
                                        <p:cTn id="27" dur="400"/>
                                        <p:tgtEl>
                                          <p:spTgt spid="73"/>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slide(fromBottom)">
                                      <p:cBhvr>
                                        <p:cTn id="31" dur="400"/>
                                        <p:tgtEl>
                                          <p:spTgt spid="87"/>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97"/>
                                        </p:tgtEl>
                                        <p:attrNameLst>
                                          <p:attrName>style.visibility</p:attrName>
                                        </p:attrNameLst>
                                      </p:cBhvr>
                                      <p:to>
                                        <p:strVal val="visible"/>
                                      </p:to>
                                    </p:set>
                                    <p:animEffect transition="in" filter="slide(fromBottom)">
                                      <p:cBhvr>
                                        <p:cTn id="35" dur="400"/>
                                        <p:tgtEl>
                                          <p:spTgt spid="97"/>
                                        </p:tgtEl>
                                      </p:cBhvr>
                                    </p:animEffect>
                                  </p:childTnLst>
                                </p:cTn>
                              </p:par>
                            </p:childTnLst>
                          </p:cTn>
                        </p:par>
                        <p:par>
                          <p:cTn id="36" fill="hold">
                            <p:stCondLst>
                              <p:cond delay="7200"/>
                            </p:stCondLst>
                            <p:childTnLst>
                              <p:par>
                                <p:cTn id="37" presetID="2" presetClass="entr" presetSubtype="4" fill="hold" nodeType="afterEffect">
                                  <p:stCondLst>
                                    <p:cond delay="0"/>
                                  </p:stCondLst>
                                  <p:childTnLst>
                                    <p:set>
                                      <p:cBhvr>
                                        <p:cTn id="38" dur="1" fill="hold">
                                          <p:stCondLst>
                                            <p:cond delay="0"/>
                                          </p:stCondLst>
                                        </p:cTn>
                                        <p:tgtEl>
                                          <p:spTgt spid="113"/>
                                        </p:tgtEl>
                                        <p:attrNameLst>
                                          <p:attrName>style.visibility</p:attrName>
                                        </p:attrNameLst>
                                      </p:cBhvr>
                                      <p:to>
                                        <p:strVal val="visible"/>
                                      </p:to>
                                    </p:set>
                                    <p:animEffect transition="in" filter="slide(fromBottom)">
                                      <p:cBhvr>
                                        <p:cTn id="39" dur="400"/>
                                        <p:tgtEl>
                                          <p:spTgt spid="113"/>
                                        </p:tgtEl>
                                      </p:cBhvr>
                                    </p:animEffect>
                                  </p:childTnLst>
                                </p:cTn>
                              </p:par>
                            </p:childTnLst>
                          </p:cTn>
                        </p:par>
                        <p:par>
                          <p:cTn id="40" fill="hold">
                            <p:stCondLst>
                              <p:cond delay="8100"/>
                            </p:stCondLst>
                            <p:childTnLst>
                              <p:par>
                                <p:cTn id="41" presetID="2" presetClass="entr" presetSubtype="4" fill="hold" nodeType="afterEffect">
                                  <p:stCondLst>
                                    <p:cond delay="0"/>
                                  </p:stCondLst>
                                  <p:childTnLst>
                                    <p:set>
                                      <p:cBhvr>
                                        <p:cTn id="42" dur="1" fill="hold">
                                          <p:stCondLst>
                                            <p:cond delay="0"/>
                                          </p:stCondLst>
                                        </p:cTn>
                                        <p:tgtEl>
                                          <p:spTgt spid="125"/>
                                        </p:tgtEl>
                                        <p:attrNameLst>
                                          <p:attrName>style.visibility</p:attrName>
                                        </p:attrNameLst>
                                      </p:cBhvr>
                                      <p:to>
                                        <p:strVal val="visible"/>
                                      </p:to>
                                    </p:set>
                                    <p:animEffect transition="in" filter="slide(fromBottom)">
                                      <p:cBhvr>
                                        <p:cTn id="43"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30" grpId="0"/>
      <p:bldP spid="46" grpId="0"/>
      <p:bldP spid="59" grpId="0"/>
      <p:bldP spid="73" grpId="0"/>
      <p:bldP spid="87" grpId="0"/>
      <p:bldP spid="97" grpId="0"/>
      <p:bldP spid="113" grpId="0"/>
      <p:bldP spid="1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3425" y="533400"/>
            <a:ext cx="6688729" cy="831056"/>
            <a:chOff x="733425" y="533400"/>
            <a:chExt cx="6688729" cy="8310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3425" y="709612"/>
              <a:ext cx="6688729" cy="457200"/>
            </a:xfrm>
            <a:prstGeom prst="rect">
              <a:avLst/>
            </a:prstGeom>
            <a:noFill/>
            <a:ln>
              <a:noFill/>
            </a:ln>
          </p:spPr>
          <p:txBody>
            <a:bodyPr wrap="none" lIns="0" tIns="0" rIns="0" bIns="0" anchor="t" anchorCtr="0">
              <a:spAutoFit/>
            </a:bodyPr>
            <a:lstStyle/>
            <a:p>
              <a:pPr algn="l"/>
              <a:r>
                <a:rPr lang="zh-CN" sz="2250" b="1" dirty="0">
                  <a:solidFill>
                    <a:srgbClr val="25364A"/>
                  </a:solidFill>
                  <a:latin typeface="Arial"/>
                  <a:ea typeface="Microsoft YaHei"/>
                  <a:cs typeface="Arial"/>
                </a:rPr>
                <a:t>先建 Harness 再放 Agent,顺序错了全是反模式</a:t>
              </a:r>
            </a:p>
          </p:txBody>
        </p:sp>
        <p:sp>
          <p:nvSpPr>
            <p:cNvPr id="5" name="TextBox 5"/>
            <p:cNvSpPr txBox="1"/>
            <p:nvPr/>
          </p:nvSpPr>
          <p:spPr>
            <a:xfrm>
              <a:off x="747712" y="1135856"/>
              <a:ext cx="5039201"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Harness 先行,Agent 在 Harness 内跑;先放 Agent 再补 Harness = 不可控</a:t>
              </a:r>
            </a:p>
          </p:txBody>
        </p:sp>
      </p:grpSp>
      <p:grpSp>
        <p:nvGrpSpPr>
          <p:cNvPr id="32" name="Group 32"/>
          <p:cNvGrpSpPr/>
          <p:nvPr/>
        </p:nvGrpSpPr>
        <p:grpSpPr>
          <a:xfrm>
            <a:off x="762000" y="1638300"/>
            <a:ext cx="5143500" cy="3810000"/>
            <a:chOff x="762000" y="1638300"/>
            <a:chExt cx="5143500" cy="3810000"/>
          </a:xfrm>
        </p:grpSpPr>
        <p:sp>
          <p:nvSpPr>
            <p:cNvPr id="7" name="Rectangle 7"/>
            <p:cNvSpPr/>
            <p:nvPr/>
          </p:nvSpPr>
          <p:spPr>
            <a:xfrm>
              <a:off x="762000" y="1638300"/>
              <a:ext cx="5143500" cy="3810000"/>
            </a:xfrm>
            <a:prstGeom prst="roundRect">
              <a:avLst>
                <a:gd name="adj" fmla="val 4000"/>
              </a:avLst>
            </a:prstGeom>
            <a:solidFill>
              <a:srgbClr val="F4F7FC"/>
            </a:solidFill>
            <a:ln>
              <a:noFill/>
            </a:ln>
          </p:spPr>
        </p:sp>
        <p:sp>
          <p:nvSpPr>
            <p:cNvPr id="8" name="Rectangle 8"/>
            <p:cNvSpPr/>
            <p:nvPr/>
          </p:nvSpPr>
          <p:spPr>
            <a:xfrm>
              <a:off x="762000" y="1638300"/>
              <a:ext cx="5143500" cy="571500"/>
            </a:xfrm>
            <a:prstGeom prst="roundRect">
              <a:avLst>
                <a:gd name="adj" fmla="val 26667"/>
              </a:avLst>
            </a:prstGeom>
            <a:solidFill>
              <a:srgbClr val="0E9F6E"/>
            </a:solidFill>
            <a:ln>
              <a:noFill/>
            </a:ln>
          </p:spPr>
        </p:sp>
        <p:sp>
          <p:nvSpPr>
            <p:cNvPr id="9" name="Rectangle 9"/>
            <p:cNvSpPr/>
            <p:nvPr/>
          </p:nvSpPr>
          <p:spPr>
            <a:xfrm>
              <a:off x="762000" y="1905000"/>
              <a:ext cx="5143500" cy="304800"/>
            </a:xfrm>
            <a:prstGeom prst="rect">
              <a:avLst/>
            </a:prstGeom>
            <a:solidFill>
              <a:srgbClr val="0E9F6E"/>
            </a:solidFill>
            <a:ln>
              <a:noFill/>
            </a:ln>
          </p:spPr>
        </p:sp>
        <p:grpSp>
          <p:nvGrpSpPr>
            <p:cNvPr id="12" name="Group 12"/>
            <p:cNvGrpSpPr/>
            <p:nvPr/>
          </p:nvGrpSpPr>
          <p:grpSpPr>
            <a:xfrm>
              <a:off x="1028700" y="1809750"/>
              <a:ext cx="228600" cy="228600"/>
              <a:chOff x="1028700" y="1809750"/>
              <a:chExt cx="228600" cy="228600"/>
            </a:xfrm>
          </p:grpSpPr>
          <p:sp>
            <p:nvSpPr>
              <p:cNvPr id="10" name="Freeform 10"/>
              <p:cNvSpPr/>
              <p:nvPr/>
            </p:nvSpPr>
            <p:spPr>
              <a:xfrm>
                <a:off x="1028700" y="18097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FFFFF"/>
                </a:solidFill>
              </a:ln>
            </p:spPr>
          </p:sp>
          <p:sp>
            <p:nvSpPr>
              <p:cNvPr id="11" name="Freeform 11"/>
              <p:cNvSpPr/>
              <p:nvPr/>
            </p:nvSpPr>
            <p:spPr>
              <a:xfrm>
                <a:off x="1104900" y="1898650"/>
                <a:ext cx="76200" cy="50800"/>
              </a:xfrm>
              <a:custGeom>
                <a:avLst/>
                <a:gdLst/>
                <a:ahLst/>
                <a:cxnLst/>
                <a:rect l="l" t="t" r="r" b="b"/>
                <a:pathLst>
                  <a:path w="76200" h="50800">
                    <a:moveTo>
                      <a:pt x="0" y="25400"/>
                    </a:moveTo>
                    <a:lnTo>
                      <a:pt x="25400" y="50800"/>
                    </a:lnTo>
                    <a:lnTo>
                      <a:pt x="76200" y="0"/>
                    </a:lnTo>
                  </a:path>
                </a:pathLst>
              </a:custGeom>
              <a:noFill/>
              <a:ln w="19050">
                <a:solidFill>
                  <a:srgbClr val="FFFFFF"/>
                </a:solidFill>
              </a:ln>
            </p:spPr>
          </p:sp>
        </p:grpSp>
        <p:sp>
          <p:nvSpPr>
            <p:cNvPr id="13" name="TextBox 13"/>
            <p:cNvSpPr txBox="1"/>
            <p:nvPr/>
          </p:nvSpPr>
          <p:spPr>
            <a:xfrm>
              <a:off x="1371600" y="1838325"/>
              <a:ext cx="1056727"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 正确顺序</a:t>
              </a:r>
            </a:p>
          </p:txBody>
        </p:sp>
        <p:sp>
          <p:nvSpPr>
            <p:cNvPr id="14" name="TextBox 14"/>
            <p:cNvSpPr txBox="1"/>
            <p:nvPr/>
          </p:nvSpPr>
          <p:spPr>
            <a:xfrm>
              <a:off x="4742759" y="1894999"/>
              <a:ext cx="889373" cy="198120"/>
            </a:xfrm>
            <a:prstGeom prst="rect">
              <a:avLst/>
            </a:prstGeom>
            <a:noFill/>
            <a:ln>
              <a:noFill/>
            </a:ln>
          </p:spPr>
          <p:txBody>
            <a:bodyPr wrap="none" lIns="0" tIns="0" rIns="0" bIns="0" anchor="t" anchorCtr="0">
              <a:spAutoFit/>
            </a:bodyPr>
            <a:lstStyle/>
            <a:p>
              <a:pPr algn="r"/>
              <a:r>
                <a:rPr lang="zh-CN" sz="975" dirty="0">
                  <a:solidFill>
                    <a:srgbClr val="DCE6FB"/>
                  </a:solidFill>
                  <a:latin typeface="Arial"/>
                  <a:ea typeface="Microsoft YaHei"/>
                  <a:cs typeface="Arial"/>
                </a:rPr>
                <a:t>Harness First</a:t>
              </a:r>
            </a:p>
          </p:txBody>
        </p:sp>
        <p:grpSp>
          <p:nvGrpSpPr>
            <p:cNvPr id="19" name="Group 19"/>
            <p:cNvGrpSpPr/>
            <p:nvPr/>
          </p:nvGrpSpPr>
          <p:grpSpPr>
            <a:xfrm>
              <a:off x="971550" y="2510314"/>
              <a:ext cx="3088958" cy="459105"/>
              <a:chOff x="971550" y="2510314"/>
              <a:chExt cx="3088958" cy="459105"/>
            </a:xfrm>
          </p:grpSpPr>
          <p:sp>
            <p:nvSpPr>
              <p:cNvPr id="15" name="Ellipse 15"/>
              <p:cNvSpPr/>
              <p:nvPr/>
            </p:nvSpPr>
            <p:spPr>
              <a:xfrm>
                <a:off x="971550" y="2514600"/>
                <a:ext cx="342900" cy="342900"/>
              </a:xfrm>
              <a:prstGeom prst="ellipse">
                <a:avLst/>
              </a:prstGeom>
              <a:solidFill>
                <a:srgbClr val="0E9F6E"/>
              </a:solidFill>
              <a:ln>
                <a:noFill/>
              </a:ln>
            </p:spPr>
          </p:sp>
          <p:sp>
            <p:nvSpPr>
              <p:cNvPr id="16" name="TextBox 16"/>
              <p:cNvSpPr txBox="1"/>
              <p:nvPr/>
            </p:nvSpPr>
            <p:spPr>
              <a:xfrm>
                <a:off x="1048805" y="26298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01</a:t>
                </a:r>
              </a:p>
            </p:txBody>
          </p:sp>
          <p:sp>
            <p:nvSpPr>
              <p:cNvPr id="17" name="TextBox 17"/>
              <p:cNvSpPr txBox="1"/>
              <p:nvPr/>
            </p:nvSpPr>
            <p:spPr>
              <a:xfrm>
                <a:off x="1431608" y="2510314"/>
                <a:ext cx="1130297"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Harness 先建</a:t>
                </a:r>
              </a:p>
            </p:txBody>
          </p:sp>
          <p:sp>
            <p:nvSpPr>
              <p:cNvPr id="18" name="TextBox 18"/>
              <p:cNvSpPr txBox="1"/>
              <p:nvPr/>
            </p:nvSpPr>
            <p:spPr>
              <a:xfrm>
                <a:off x="1435418" y="2771299"/>
                <a:ext cx="2625090"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CLI / fullcheck / E2E / hooks 工程底座就位</a:t>
                </a:r>
              </a:p>
            </p:txBody>
          </p:sp>
        </p:grpSp>
        <p:grpSp>
          <p:nvGrpSpPr>
            <p:cNvPr id="24" name="Group 24"/>
            <p:cNvGrpSpPr/>
            <p:nvPr/>
          </p:nvGrpSpPr>
          <p:grpSpPr>
            <a:xfrm>
              <a:off x="971550" y="3272314"/>
              <a:ext cx="3030451" cy="459105"/>
              <a:chOff x="971550" y="3272314"/>
              <a:chExt cx="3030451" cy="459105"/>
            </a:xfrm>
          </p:grpSpPr>
          <p:sp>
            <p:nvSpPr>
              <p:cNvPr id="20" name="Ellipse 20"/>
              <p:cNvSpPr/>
              <p:nvPr/>
            </p:nvSpPr>
            <p:spPr>
              <a:xfrm>
                <a:off x="971550" y="3276600"/>
                <a:ext cx="342900" cy="342900"/>
              </a:xfrm>
              <a:prstGeom prst="ellipse">
                <a:avLst/>
              </a:prstGeom>
              <a:solidFill>
                <a:srgbClr val="0E9F6E"/>
              </a:solidFill>
              <a:ln>
                <a:noFill/>
              </a:ln>
            </p:spPr>
          </p:sp>
          <p:sp>
            <p:nvSpPr>
              <p:cNvPr id="21" name="TextBox 21"/>
              <p:cNvSpPr txBox="1"/>
              <p:nvPr/>
            </p:nvSpPr>
            <p:spPr>
              <a:xfrm>
                <a:off x="1048805" y="33918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02</a:t>
                </a:r>
              </a:p>
            </p:txBody>
          </p:sp>
          <p:sp>
            <p:nvSpPr>
              <p:cNvPr id="22" name="TextBox 22"/>
              <p:cNvSpPr txBox="1"/>
              <p:nvPr/>
            </p:nvSpPr>
            <p:spPr>
              <a:xfrm>
                <a:off x="1431608" y="3272314"/>
                <a:ext cx="1906869"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Agent 在 Harness 内跑</a:t>
                </a:r>
              </a:p>
            </p:txBody>
          </p:sp>
          <p:sp>
            <p:nvSpPr>
              <p:cNvPr id="23" name="TextBox 23"/>
              <p:cNvSpPr txBox="1"/>
              <p:nvPr/>
            </p:nvSpPr>
            <p:spPr>
              <a:xfrm>
                <a:off x="1435418" y="3533299"/>
                <a:ext cx="2566583"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Loop / Graph / 任务编排 在驾驭框架内运行</a:t>
                </a:r>
              </a:p>
            </p:txBody>
          </p:sp>
        </p:grpSp>
        <p:grpSp>
          <p:nvGrpSpPr>
            <p:cNvPr id="29" name="Group 29"/>
            <p:cNvGrpSpPr/>
            <p:nvPr/>
          </p:nvGrpSpPr>
          <p:grpSpPr>
            <a:xfrm>
              <a:off x="971550" y="4034314"/>
              <a:ext cx="2445378" cy="459105"/>
              <a:chOff x="971550" y="4034314"/>
              <a:chExt cx="2445378" cy="459105"/>
            </a:xfrm>
          </p:grpSpPr>
          <p:sp>
            <p:nvSpPr>
              <p:cNvPr id="25" name="Ellipse 25"/>
              <p:cNvSpPr/>
              <p:nvPr/>
            </p:nvSpPr>
            <p:spPr>
              <a:xfrm>
                <a:off x="971550" y="4038600"/>
                <a:ext cx="342900" cy="342900"/>
              </a:xfrm>
              <a:prstGeom prst="ellipse">
                <a:avLst/>
              </a:prstGeom>
              <a:solidFill>
                <a:srgbClr val="0E9F6E"/>
              </a:solidFill>
              <a:ln>
                <a:noFill/>
              </a:ln>
            </p:spPr>
          </p:sp>
          <p:sp>
            <p:nvSpPr>
              <p:cNvPr id="26" name="TextBox 26"/>
              <p:cNvSpPr txBox="1"/>
              <p:nvPr/>
            </p:nvSpPr>
            <p:spPr>
              <a:xfrm>
                <a:off x="1048805" y="415385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03</a:t>
                </a:r>
              </a:p>
            </p:txBody>
          </p:sp>
          <p:sp>
            <p:nvSpPr>
              <p:cNvPr id="27" name="TextBox 27"/>
              <p:cNvSpPr txBox="1"/>
              <p:nvPr/>
            </p:nvSpPr>
            <p:spPr>
              <a:xfrm>
                <a:off x="1431608" y="4034314"/>
                <a:ext cx="1969352" cy="259080"/>
              </a:xfrm>
              <a:prstGeom prst="rect">
                <a:avLst/>
              </a:prstGeom>
              <a:noFill/>
              <a:ln>
                <a:noFill/>
              </a:ln>
            </p:spPr>
            <p:txBody>
              <a:bodyPr wrap="none" lIns="0" tIns="0" rIns="0" bIns="0" anchor="t" anchorCtr="0">
                <a:spAutoFit/>
              </a:bodyPr>
              <a:lstStyle/>
              <a:p>
                <a:pPr algn="l"/>
                <a:r>
                  <a:rPr lang="zh-CN" sz="1275" b="1" dirty="0">
                    <a:solidFill>
                      <a:srgbClr val="25364A"/>
                    </a:solidFill>
                    <a:latin typeface="Arial"/>
                    <a:ea typeface="Microsoft YaHei"/>
                    <a:cs typeface="Arial"/>
                  </a:rPr>
                  <a:t>feedback 反哺 Harness</a:t>
                </a:r>
              </a:p>
            </p:txBody>
          </p:sp>
          <p:sp>
            <p:nvSpPr>
              <p:cNvPr id="28" name="TextBox 28"/>
              <p:cNvSpPr txBox="1"/>
              <p:nvPr/>
            </p:nvSpPr>
            <p:spPr>
              <a:xfrm>
                <a:off x="1435418" y="4295299"/>
                <a:ext cx="1981510"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Agent 执行反馈持续强化驾驭框架</a:t>
                </a:r>
              </a:p>
            </p:txBody>
          </p:sp>
        </p:grpSp>
        <p:sp>
          <p:nvSpPr>
            <p:cNvPr id="30" name="Rectangle 30"/>
            <p:cNvSpPr/>
            <p:nvPr/>
          </p:nvSpPr>
          <p:spPr>
            <a:xfrm>
              <a:off x="1009650" y="4819650"/>
              <a:ext cx="4648200" cy="419100"/>
            </a:xfrm>
            <a:prstGeom prst="roundRect">
              <a:avLst>
                <a:gd name="adj" fmla="val 22727"/>
              </a:avLst>
            </a:prstGeom>
            <a:solidFill>
              <a:srgbClr val="0E9F6E">
                <a:alpha val="10000"/>
              </a:srgbClr>
            </a:solidFill>
            <a:ln>
              <a:noFill/>
            </a:ln>
          </p:spPr>
        </p:sp>
        <p:sp>
          <p:nvSpPr>
            <p:cNvPr id="31" name="TextBox 31"/>
            <p:cNvSpPr txBox="1"/>
            <p:nvPr/>
          </p:nvSpPr>
          <p:spPr>
            <a:xfrm>
              <a:off x="2195724" y="4973002"/>
              <a:ext cx="2276051" cy="213360"/>
            </a:xfrm>
            <a:prstGeom prst="rect">
              <a:avLst/>
            </a:prstGeom>
            <a:noFill/>
            <a:ln>
              <a:noFill/>
            </a:ln>
          </p:spPr>
          <p:txBody>
            <a:bodyPr wrap="none" lIns="0" tIns="0" rIns="0" bIns="0" anchor="t" anchorCtr="0">
              <a:spAutoFit/>
            </a:bodyPr>
            <a:lstStyle/>
            <a:p>
              <a:pPr algn="ctr"/>
              <a:r>
                <a:rPr lang="zh-CN" sz="1050" b="1" dirty="0">
                  <a:solidFill>
                    <a:srgbClr val="0E9F6E"/>
                  </a:solidFill>
                  <a:latin typeface="Arial"/>
                  <a:ea typeface="Microsoft YaHei"/>
                  <a:cs typeface="Arial"/>
                </a:rPr>
                <a:t>可控 → 可验证 → 可持续放大自主度</a:t>
              </a:r>
            </a:p>
          </p:txBody>
        </p:sp>
      </p:grpSp>
      <p:grpSp>
        <p:nvGrpSpPr>
          <p:cNvPr id="61" name="Group 61"/>
          <p:cNvGrpSpPr/>
          <p:nvPr/>
        </p:nvGrpSpPr>
        <p:grpSpPr>
          <a:xfrm>
            <a:off x="6286500" y="1638300"/>
            <a:ext cx="5143500" cy="3810000"/>
            <a:chOff x="6286500" y="1638300"/>
            <a:chExt cx="5143500" cy="3810000"/>
          </a:xfrm>
        </p:grpSpPr>
        <p:sp>
          <p:nvSpPr>
            <p:cNvPr id="33" name="Rectangle 33"/>
            <p:cNvSpPr/>
            <p:nvPr/>
          </p:nvSpPr>
          <p:spPr>
            <a:xfrm>
              <a:off x="6286500" y="1638300"/>
              <a:ext cx="5143500" cy="3810000"/>
            </a:xfrm>
            <a:prstGeom prst="roundRect">
              <a:avLst>
                <a:gd name="adj" fmla="val 4000"/>
              </a:avLst>
            </a:prstGeom>
            <a:solidFill>
              <a:srgbClr val="F4F7FC"/>
            </a:solidFill>
            <a:ln>
              <a:noFill/>
            </a:ln>
          </p:spPr>
        </p:sp>
        <p:sp>
          <p:nvSpPr>
            <p:cNvPr id="34" name="Rectangle 34"/>
            <p:cNvSpPr/>
            <p:nvPr/>
          </p:nvSpPr>
          <p:spPr>
            <a:xfrm>
              <a:off x="6286500" y="1638300"/>
              <a:ext cx="5143500" cy="571500"/>
            </a:xfrm>
            <a:prstGeom prst="roundRect">
              <a:avLst>
                <a:gd name="adj" fmla="val 26667"/>
              </a:avLst>
            </a:prstGeom>
            <a:solidFill>
              <a:srgbClr val="F59E0B"/>
            </a:solidFill>
            <a:ln>
              <a:noFill/>
            </a:ln>
          </p:spPr>
        </p:sp>
        <p:sp>
          <p:nvSpPr>
            <p:cNvPr id="35" name="Rectangle 35"/>
            <p:cNvSpPr/>
            <p:nvPr/>
          </p:nvSpPr>
          <p:spPr>
            <a:xfrm>
              <a:off x="6286500" y="1905000"/>
              <a:ext cx="5143500" cy="304800"/>
            </a:xfrm>
            <a:prstGeom prst="rect">
              <a:avLst/>
            </a:prstGeom>
            <a:solidFill>
              <a:srgbClr val="F59E0B"/>
            </a:solidFill>
            <a:ln>
              <a:noFill/>
            </a:ln>
          </p:spPr>
        </p:sp>
        <p:grpSp>
          <p:nvGrpSpPr>
            <p:cNvPr id="45" name="Group 45"/>
            <p:cNvGrpSpPr/>
            <p:nvPr/>
          </p:nvGrpSpPr>
          <p:grpSpPr>
            <a:xfrm>
              <a:off x="6553200" y="1835150"/>
              <a:ext cx="228600" cy="190500"/>
              <a:chOff x="6553200" y="1835150"/>
              <a:chExt cx="228600" cy="190500"/>
            </a:xfrm>
          </p:grpSpPr>
          <p:sp>
            <p:nvSpPr>
              <p:cNvPr id="36" name="Freeform 36"/>
              <p:cNvSpPr/>
              <p:nvPr/>
            </p:nvSpPr>
            <p:spPr>
              <a:xfrm>
                <a:off x="6629400" y="1835150"/>
                <a:ext cx="76200" cy="50800"/>
              </a:xfrm>
              <a:custGeom>
                <a:avLst/>
                <a:gdLst/>
                <a:ahLst/>
                <a:cxnLst/>
                <a:rect l="l" t="t" r="r" b="b"/>
                <a:pathLst>
                  <a:path w="76200" h="50800">
                    <a:moveTo>
                      <a:pt x="0" y="50800"/>
                    </a:moveTo>
                    <a:lnTo>
                      <a:pt x="0" y="38100"/>
                    </a:lnTo>
                    <a:cubicBezTo>
                      <a:pt x="0" y="17058"/>
                      <a:pt x="17058" y="0"/>
                      <a:pt x="38100" y="0"/>
                    </a:cubicBezTo>
                    <a:cubicBezTo>
                      <a:pt x="59142" y="0"/>
                      <a:pt x="76200" y="17058"/>
                      <a:pt x="76200" y="38100"/>
                    </a:cubicBezTo>
                    <a:lnTo>
                      <a:pt x="76200" y="50800"/>
                    </a:lnTo>
                  </a:path>
                </a:pathLst>
              </a:custGeom>
              <a:noFill/>
              <a:ln w="19050">
                <a:solidFill>
                  <a:srgbClr val="FFFFFF"/>
                </a:solidFill>
              </a:ln>
            </p:spPr>
          </p:sp>
          <p:sp>
            <p:nvSpPr>
              <p:cNvPr id="37" name="Freeform 37"/>
              <p:cNvSpPr/>
              <p:nvPr/>
            </p:nvSpPr>
            <p:spPr>
              <a:xfrm>
                <a:off x="6604000" y="1885950"/>
                <a:ext cx="127000" cy="139700"/>
              </a:xfrm>
              <a:custGeom>
                <a:avLst/>
                <a:gdLst/>
                <a:ahLst/>
                <a:cxnLst/>
                <a:rect l="l" t="t" r="r" b="b"/>
                <a:pathLst>
                  <a:path w="127000" h="139700">
                    <a:moveTo>
                      <a:pt x="12700" y="0"/>
                    </a:moveTo>
                    <a:lnTo>
                      <a:pt x="114300" y="0"/>
                    </a:lnTo>
                    <a:cubicBezTo>
                      <a:pt x="121864" y="11336"/>
                      <a:pt x="126250" y="24493"/>
                      <a:pt x="127000" y="38100"/>
                    </a:cubicBezTo>
                    <a:lnTo>
                      <a:pt x="127000" y="76200"/>
                    </a:lnTo>
                    <a:cubicBezTo>
                      <a:pt x="127000" y="111270"/>
                      <a:pt x="98570" y="139700"/>
                      <a:pt x="63500" y="139700"/>
                    </a:cubicBezTo>
                    <a:cubicBezTo>
                      <a:pt x="28430" y="139700"/>
                      <a:pt x="0" y="111270"/>
                      <a:pt x="0" y="76200"/>
                    </a:cubicBezTo>
                    <a:lnTo>
                      <a:pt x="0" y="38100"/>
                    </a:lnTo>
                    <a:cubicBezTo>
                      <a:pt x="750" y="24493"/>
                      <a:pt x="5136" y="11336"/>
                      <a:pt x="12700" y="0"/>
                    </a:cubicBezTo>
                  </a:path>
                </a:pathLst>
              </a:custGeom>
              <a:noFill/>
              <a:ln w="19050">
                <a:solidFill>
                  <a:srgbClr val="FFFFFF"/>
                </a:solidFill>
              </a:ln>
            </p:spPr>
          </p:sp>
          <p:sp>
            <p:nvSpPr>
              <p:cNvPr id="38" name="Freeform 38"/>
              <p:cNvSpPr/>
              <p:nvPr/>
            </p:nvSpPr>
            <p:spPr>
              <a:xfrm>
                <a:off x="6553200" y="1936750"/>
                <a:ext cx="50800" cy="9525"/>
              </a:xfrm>
              <a:custGeom>
                <a:avLst/>
                <a:gdLst/>
                <a:ahLst/>
                <a:cxnLst/>
                <a:rect l="l" t="t" r="r" b="b"/>
                <a:pathLst>
                  <a:path w="50800" h="9525">
                    <a:moveTo>
                      <a:pt x="0" y="0"/>
                    </a:moveTo>
                    <a:lnTo>
                      <a:pt x="50800" y="0"/>
                    </a:lnTo>
                  </a:path>
                </a:pathLst>
              </a:custGeom>
              <a:noFill/>
              <a:ln w="19050">
                <a:solidFill>
                  <a:srgbClr val="FFFFFF"/>
                </a:solidFill>
              </a:ln>
            </p:spPr>
          </p:sp>
          <p:sp>
            <p:nvSpPr>
              <p:cNvPr id="39" name="Freeform 39"/>
              <p:cNvSpPr/>
              <p:nvPr/>
            </p:nvSpPr>
            <p:spPr>
              <a:xfrm>
                <a:off x="6731000" y="1936750"/>
                <a:ext cx="50800" cy="9525"/>
              </a:xfrm>
              <a:custGeom>
                <a:avLst/>
                <a:gdLst/>
                <a:ahLst/>
                <a:cxnLst/>
                <a:rect l="l" t="t" r="r" b="b"/>
                <a:pathLst>
                  <a:path w="50800" h="9525">
                    <a:moveTo>
                      <a:pt x="0" y="0"/>
                    </a:moveTo>
                    <a:lnTo>
                      <a:pt x="50800" y="0"/>
                    </a:lnTo>
                  </a:path>
                </a:pathLst>
              </a:custGeom>
              <a:noFill/>
              <a:ln w="19050">
                <a:solidFill>
                  <a:srgbClr val="FFFFFF"/>
                </a:solidFill>
              </a:ln>
            </p:spPr>
          </p:sp>
          <p:sp>
            <p:nvSpPr>
              <p:cNvPr id="40" name="Freeform 40"/>
              <p:cNvSpPr/>
              <p:nvPr/>
            </p:nvSpPr>
            <p:spPr>
              <a:xfrm>
                <a:off x="6667500" y="1949450"/>
                <a:ext cx="9525" cy="76200"/>
              </a:xfrm>
              <a:custGeom>
                <a:avLst/>
                <a:gdLst/>
                <a:ahLst/>
                <a:cxnLst/>
                <a:rect l="l" t="t" r="r" b="b"/>
                <a:pathLst>
                  <a:path w="9525" h="76200">
                    <a:moveTo>
                      <a:pt x="0" y="76200"/>
                    </a:moveTo>
                    <a:lnTo>
                      <a:pt x="0" y="0"/>
                    </a:lnTo>
                  </a:path>
                </a:pathLst>
              </a:custGeom>
              <a:noFill/>
              <a:ln w="19050">
                <a:solidFill>
                  <a:srgbClr val="FFFFFF"/>
                </a:solidFill>
              </a:ln>
            </p:spPr>
          </p:sp>
          <p:sp>
            <p:nvSpPr>
              <p:cNvPr id="41" name="Freeform 41"/>
              <p:cNvSpPr/>
              <p:nvPr/>
            </p:nvSpPr>
            <p:spPr>
              <a:xfrm>
                <a:off x="6565900" y="1987550"/>
                <a:ext cx="42545" cy="25400"/>
              </a:xfrm>
              <a:custGeom>
                <a:avLst/>
                <a:gdLst/>
                <a:ahLst/>
                <a:cxnLst/>
                <a:rect l="l" t="t" r="r" b="b"/>
                <a:pathLst>
                  <a:path w="42545" h="25400">
                    <a:moveTo>
                      <a:pt x="0" y="25400"/>
                    </a:moveTo>
                    <a:lnTo>
                      <a:pt x="42545" y="0"/>
                    </a:lnTo>
                  </a:path>
                </a:pathLst>
              </a:custGeom>
              <a:noFill/>
              <a:ln w="19050">
                <a:solidFill>
                  <a:srgbClr val="FFFFFF"/>
                </a:solidFill>
              </a:ln>
            </p:spPr>
          </p:sp>
          <p:sp>
            <p:nvSpPr>
              <p:cNvPr id="42" name="Freeform 42"/>
              <p:cNvSpPr/>
              <p:nvPr/>
            </p:nvSpPr>
            <p:spPr>
              <a:xfrm>
                <a:off x="6726555" y="1987550"/>
                <a:ext cx="42545" cy="25400"/>
              </a:xfrm>
              <a:custGeom>
                <a:avLst/>
                <a:gdLst/>
                <a:ahLst/>
                <a:cxnLst/>
                <a:rect l="l" t="t" r="r" b="b"/>
                <a:pathLst>
                  <a:path w="42545" h="25400">
                    <a:moveTo>
                      <a:pt x="42545" y="25400"/>
                    </a:moveTo>
                    <a:lnTo>
                      <a:pt x="0" y="0"/>
                    </a:lnTo>
                  </a:path>
                </a:pathLst>
              </a:custGeom>
              <a:noFill/>
              <a:ln w="19050">
                <a:solidFill>
                  <a:srgbClr val="FFFFFF"/>
                </a:solidFill>
              </a:ln>
            </p:spPr>
          </p:sp>
          <p:sp>
            <p:nvSpPr>
              <p:cNvPr id="43" name="Freeform 43"/>
              <p:cNvSpPr/>
              <p:nvPr/>
            </p:nvSpPr>
            <p:spPr>
              <a:xfrm>
                <a:off x="6565900" y="1860550"/>
                <a:ext cx="47625" cy="30480"/>
              </a:xfrm>
              <a:custGeom>
                <a:avLst/>
                <a:gdLst/>
                <a:ahLst/>
                <a:cxnLst/>
                <a:rect l="l" t="t" r="r" b="b"/>
                <a:pathLst>
                  <a:path w="47625" h="30480">
                    <a:moveTo>
                      <a:pt x="0" y="0"/>
                    </a:moveTo>
                    <a:lnTo>
                      <a:pt x="47625" y="30480"/>
                    </a:lnTo>
                  </a:path>
                </a:pathLst>
              </a:custGeom>
              <a:noFill/>
              <a:ln w="19050">
                <a:solidFill>
                  <a:srgbClr val="FFFFFF"/>
                </a:solidFill>
              </a:ln>
            </p:spPr>
          </p:sp>
          <p:sp>
            <p:nvSpPr>
              <p:cNvPr id="44" name="Freeform 44"/>
              <p:cNvSpPr/>
              <p:nvPr/>
            </p:nvSpPr>
            <p:spPr>
              <a:xfrm>
                <a:off x="6721475" y="1860550"/>
                <a:ext cx="47625" cy="30480"/>
              </a:xfrm>
              <a:custGeom>
                <a:avLst/>
                <a:gdLst/>
                <a:ahLst/>
                <a:cxnLst/>
                <a:rect l="l" t="t" r="r" b="b"/>
                <a:pathLst>
                  <a:path w="47625" h="30480">
                    <a:moveTo>
                      <a:pt x="47625" y="0"/>
                    </a:moveTo>
                    <a:lnTo>
                      <a:pt x="0" y="30480"/>
                    </a:lnTo>
                  </a:path>
                </a:pathLst>
              </a:custGeom>
              <a:noFill/>
              <a:ln w="19050">
                <a:solidFill>
                  <a:srgbClr val="FFFFFF"/>
                </a:solidFill>
              </a:ln>
            </p:spPr>
          </p:sp>
        </p:grpSp>
        <p:sp>
          <p:nvSpPr>
            <p:cNvPr id="46" name="TextBox 46"/>
            <p:cNvSpPr txBox="1"/>
            <p:nvPr/>
          </p:nvSpPr>
          <p:spPr>
            <a:xfrm>
              <a:off x="6896100" y="1838325"/>
              <a:ext cx="846701"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 反模式</a:t>
              </a:r>
            </a:p>
          </p:txBody>
        </p:sp>
        <p:sp>
          <p:nvSpPr>
            <p:cNvPr id="47" name="TextBox 47"/>
            <p:cNvSpPr txBox="1"/>
            <p:nvPr/>
          </p:nvSpPr>
          <p:spPr>
            <a:xfrm>
              <a:off x="10410277" y="1894999"/>
              <a:ext cx="746355" cy="198120"/>
            </a:xfrm>
            <a:prstGeom prst="rect">
              <a:avLst/>
            </a:prstGeom>
            <a:noFill/>
            <a:ln>
              <a:noFill/>
            </a:ln>
          </p:spPr>
          <p:txBody>
            <a:bodyPr wrap="none" lIns="0" tIns="0" rIns="0" bIns="0" anchor="t" anchorCtr="0">
              <a:spAutoFit/>
            </a:bodyPr>
            <a:lstStyle/>
            <a:p>
              <a:pPr algn="r"/>
              <a:r>
                <a:rPr lang="zh-CN" sz="975" dirty="0">
                  <a:solidFill>
                    <a:srgbClr val="DCE6FB"/>
                  </a:solidFill>
                  <a:latin typeface="Arial"/>
                  <a:ea typeface="Microsoft YaHei"/>
                  <a:cs typeface="Arial"/>
                </a:rPr>
                <a:t>Agent First</a:t>
              </a:r>
            </a:p>
          </p:txBody>
        </p:sp>
        <p:grpSp>
          <p:nvGrpSpPr>
            <p:cNvPr id="52" name="Group 52"/>
            <p:cNvGrpSpPr/>
            <p:nvPr/>
          </p:nvGrpSpPr>
          <p:grpSpPr>
            <a:xfrm>
              <a:off x="6534150" y="2495550"/>
              <a:ext cx="4648200" cy="876300"/>
              <a:chOff x="6534150" y="2495550"/>
              <a:chExt cx="4648200" cy="876300"/>
            </a:xfrm>
          </p:grpSpPr>
          <p:sp>
            <p:nvSpPr>
              <p:cNvPr id="48" name="Rectangle 48"/>
              <p:cNvSpPr/>
              <p:nvPr/>
            </p:nvSpPr>
            <p:spPr>
              <a:xfrm>
                <a:off x="6534150" y="2495550"/>
                <a:ext cx="4648200" cy="876300"/>
              </a:xfrm>
              <a:prstGeom prst="roundRect">
                <a:avLst>
                  <a:gd name="adj" fmla="val 10870"/>
                </a:avLst>
              </a:prstGeom>
              <a:solidFill>
                <a:srgbClr val="FFFFFF"/>
              </a:solidFill>
              <a:ln w="9525">
                <a:solidFill>
                  <a:srgbClr val="F59E0B"/>
                </a:solidFill>
              </a:ln>
            </p:spPr>
          </p:sp>
          <p:sp>
            <p:nvSpPr>
              <p:cNvPr id="49" name="TextBox 49"/>
              <p:cNvSpPr txBox="1"/>
              <p:nvPr/>
            </p:nvSpPr>
            <p:spPr>
              <a:xfrm>
                <a:off x="6690360" y="2632710"/>
                <a:ext cx="1383049"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Loop Engineering</a:t>
                </a:r>
              </a:p>
            </p:txBody>
          </p:sp>
          <p:sp>
            <p:nvSpPr>
              <p:cNvPr id="50" name="TextBox 50"/>
              <p:cNvSpPr txBox="1"/>
              <p:nvPr/>
            </p:nvSpPr>
            <p:spPr>
              <a:xfrm>
                <a:off x="6693218" y="2904649"/>
                <a:ext cx="170197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先让 Agent 跑循环,再补约束</a:t>
                </a:r>
              </a:p>
            </p:txBody>
          </p:sp>
          <p:sp>
            <p:nvSpPr>
              <p:cNvPr id="51" name="TextBox 51"/>
              <p:cNvSpPr txBox="1"/>
              <p:nvPr/>
            </p:nvSpPr>
            <p:spPr>
              <a:xfrm>
                <a:off x="6694170" y="3122295"/>
                <a:ext cx="1817084"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循环失控,事故已发生,补不回来</a:t>
                </a:r>
              </a:p>
            </p:txBody>
          </p:sp>
        </p:grpSp>
        <p:grpSp>
          <p:nvGrpSpPr>
            <p:cNvPr id="57" name="Group 57"/>
            <p:cNvGrpSpPr/>
            <p:nvPr/>
          </p:nvGrpSpPr>
          <p:grpSpPr>
            <a:xfrm>
              <a:off x="6534150" y="3524250"/>
              <a:ext cx="4648200" cy="876300"/>
              <a:chOff x="6534150" y="3524250"/>
              <a:chExt cx="4648200" cy="876300"/>
            </a:xfrm>
          </p:grpSpPr>
          <p:sp>
            <p:nvSpPr>
              <p:cNvPr id="53" name="Rectangle 53"/>
              <p:cNvSpPr/>
              <p:nvPr/>
            </p:nvSpPr>
            <p:spPr>
              <a:xfrm>
                <a:off x="6534150" y="3524250"/>
                <a:ext cx="4648200" cy="876300"/>
              </a:xfrm>
              <a:prstGeom prst="roundRect">
                <a:avLst>
                  <a:gd name="adj" fmla="val 10870"/>
                </a:avLst>
              </a:prstGeom>
              <a:solidFill>
                <a:srgbClr val="FFFFFF"/>
              </a:solidFill>
              <a:ln w="9525">
                <a:solidFill>
                  <a:srgbClr val="F59E0B"/>
                </a:solidFill>
              </a:ln>
            </p:spPr>
          </p:sp>
          <p:sp>
            <p:nvSpPr>
              <p:cNvPr id="54" name="TextBox 54"/>
              <p:cNvSpPr txBox="1"/>
              <p:nvPr/>
            </p:nvSpPr>
            <p:spPr>
              <a:xfrm>
                <a:off x="6690360" y="3661410"/>
                <a:ext cx="1475461"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Graph Engineering</a:t>
                </a:r>
              </a:p>
            </p:txBody>
          </p:sp>
          <p:sp>
            <p:nvSpPr>
              <p:cNvPr id="55" name="TextBox 55"/>
              <p:cNvSpPr txBox="1"/>
              <p:nvPr/>
            </p:nvSpPr>
            <p:spPr>
              <a:xfrm>
                <a:off x="6693218" y="3933349"/>
                <a:ext cx="183199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先让 Agent 跑任务图,再补治理</a:t>
                </a:r>
              </a:p>
            </p:txBody>
          </p:sp>
          <p:sp>
            <p:nvSpPr>
              <p:cNvPr id="56" name="TextBox 56"/>
              <p:cNvSpPr txBox="1"/>
              <p:nvPr/>
            </p:nvSpPr>
            <p:spPr>
              <a:xfrm>
                <a:off x="6694170" y="4150995"/>
                <a:ext cx="1631061"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 任务图失控,治理滞后于破坏</a:t>
                </a:r>
              </a:p>
            </p:txBody>
          </p:sp>
        </p:grpSp>
        <p:sp>
          <p:nvSpPr>
            <p:cNvPr id="58" name="Rectangle 58"/>
            <p:cNvSpPr/>
            <p:nvPr/>
          </p:nvSpPr>
          <p:spPr>
            <a:xfrm>
              <a:off x="6534150" y="4552950"/>
              <a:ext cx="4648200" cy="685800"/>
            </a:xfrm>
            <a:prstGeom prst="roundRect">
              <a:avLst>
                <a:gd name="adj" fmla="val 13889"/>
              </a:avLst>
            </a:prstGeom>
            <a:solidFill>
              <a:srgbClr val="F59E0B">
                <a:alpha val="10000"/>
              </a:srgbClr>
            </a:solidFill>
            <a:ln>
              <a:noFill/>
            </a:ln>
          </p:spPr>
        </p:sp>
        <p:sp>
          <p:nvSpPr>
            <p:cNvPr id="59" name="TextBox 59"/>
            <p:cNvSpPr txBox="1"/>
            <p:nvPr/>
          </p:nvSpPr>
          <p:spPr>
            <a:xfrm>
              <a:off x="8363430" y="4706302"/>
              <a:ext cx="989640" cy="213360"/>
            </a:xfrm>
            <a:prstGeom prst="rect">
              <a:avLst/>
            </a:prstGeom>
            <a:noFill/>
            <a:ln>
              <a:noFill/>
            </a:ln>
          </p:spPr>
          <p:txBody>
            <a:bodyPr wrap="none" lIns="0" tIns="0" rIns="0" bIns="0" anchor="t" anchorCtr="0">
              <a:spAutoFit/>
            </a:bodyPr>
            <a:lstStyle/>
            <a:p>
              <a:pPr algn="ctr"/>
              <a:r>
                <a:rPr lang="zh-CN" sz="1050" b="1" dirty="0">
                  <a:solidFill>
                    <a:srgbClr val="F59E0B"/>
                  </a:solidFill>
                  <a:latin typeface="Arial"/>
                  <a:ea typeface="Microsoft YaHei"/>
                  <a:cs typeface="Arial"/>
                </a:rPr>
                <a:t>共性:顺序错了</a:t>
              </a:r>
            </a:p>
          </p:txBody>
        </p:sp>
        <p:sp>
          <p:nvSpPr>
            <p:cNvPr id="60" name="TextBox 60"/>
            <p:cNvSpPr txBox="1"/>
            <p:nvPr/>
          </p:nvSpPr>
          <p:spPr>
            <a:xfrm>
              <a:off x="7675721" y="4942999"/>
              <a:ext cx="2365058" cy="198120"/>
            </a:xfrm>
            <a:prstGeom prst="rect">
              <a:avLst/>
            </a:prstGeom>
            <a:noFill/>
            <a:ln>
              <a:noFill/>
            </a:ln>
          </p:spPr>
          <p:txBody>
            <a:bodyPr wrap="none" lIns="0" tIns="0" rIns="0" bIns="0" anchor="t" anchorCtr="0">
              <a:spAutoFit/>
            </a:bodyPr>
            <a:lstStyle/>
            <a:p>
              <a:pPr algn="ctr"/>
              <a:r>
                <a:rPr lang="zh-CN" sz="975" dirty="0">
                  <a:solidFill>
                    <a:srgbClr val="5E6A78"/>
                  </a:solidFill>
                  <a:latin typeface="Arial"/>
                  <a:ea typeface="Microsoft YaHei"/>
                  <a:cs typeface="Arial"/>
                </a:rPr>
                <a:t>后期补 Harness 成本极高,且事故已发生</a:t>
              </a:r>
            </a:p>
          </p:txBody>
        </p:sp>
      </p:grpSp>
      <p:grpSp>
        <p:nvGrpSpPr>
          <p:cNvPr id="64" name="Group 64"/>
          <p:cNvGrpSpPr/>
          <p:nvPr/>
        </p:nvGrpSpPr>
        <p:grpSpPr>
          <a:xfrm>
            <a:off x="762000" y="5676900"/>
            <a:ext cx="10668000" cy="571500"/>
            <a:chOff x="762000" y="5676900"/>
            <a:chExt cx="10668000" cy="571500"/>
          </a:xfrm>
        </p:grpSpPr>
        <p:sp>
          <p:nvSpPr>
            <p:cNvPr id="62" name="Rectangle 62"/>
            <p:cNvSpPr/>
            <p:nvPr/>
          </p:nvSpPr>
          <p:spPr>
            <a:xfrm>
              <a:off x="762000" y="5676900"/>
              <a:ext cx="10668000" cy="571500"/>
            </a:xfrm>
            <a:prstGeom prst="roundRect">
              <a:avLst>
                <a:gd name="adj" fmla="val 23333"/>
              </a:avLst>
            </a:prstGeom>
            <a:solidFill>
              <a:srgbClr val="0052A6"/>
            </a:solidFill>
            <a:ln>
              <a:noFill/>
            </a:ln>
          </p:spPr>
        </p:sp>
        <p:sp>
          <p:nvSpPr>
            <p:cNvPr id="63" name="TextBox 63"/>
            <p:cNvSpPr txBox="1"/>
            <p:nvPr/>
          </p:nvSpPr>
          <p:spPr>
            <a:xfrm>
              <a:off x="4617658" y="5844540"/>
              <a:ext cx="2956684"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先建安全网,再放大自主度</a:t>
              </a:r>
            </a:p>
          </p:txBody>
        </p:sp>
      </p:grpSp>
      <p:grpSp>
        <p:nvGrpSpPr>
          <p:cNvPr id="67" name="Group 67"/>
          <p:cNvGrpSpPr/>
          <p:nvPr/>
        </p:nvGrpSpPr>
        <p:grpSpPr>
          <a:xfrm>
            <a:off x="750570" y="6456045"/>
            <a:ext cx="10689907" cy="182880"/>
            <a:chOff x="750570" y="6456045"/>
            <a:chExt cx="10689907" cy="182880"/>
          </a:xfrm>
        </p:grpSpPr>
        <p:sp>
          <p:nvSpPr>
            <p:cNvPr id="65" name="TextBox 65"/>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第五章 · 工程底座</a:t>
              </a:r>
            </a:p>
          </p:txBody>
        </p:sp>
        <p:sp>
          <p:nvSpPr>
            <p:cNvPr id="66" name="TextBox 66"/>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25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400"/>
                                        <p:tgtEl>
                                          <p:spTgt spid="3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left)">
                                      <p:cBhvr>
                                        <p:cTn id="15" dur="400"/>
                                        <p:tgtEl>
                                          <p:spTgt spid="61"/>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2" grpId="0"/>
      <p:bldP spid="61" grpId="0"/>
      <p:bldP spid="6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7448364" cy="792956"/>
            <a:chOff x="735330" y="533400"/>
            <a:chExt cx="7448364"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7448364"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工程底座建成后的度量参考 —— 规模化 AI 协同的真实形态</a:t>
              </a:r>
            </a:p>
          </p:txBody>
        </p:sp>
        <p:sp>
          <p:nvSpPr>
            <p:cNvPr id="5" name="TextBox 5"/>
            <p:cNvSpPr txBox="1"/>
            <p:nvPr/>
          </p:nvSpPr>
          <p:spPr>
            <a:xfrm>
              <a:off x="747712" y="1097756"/>
              <a:ext cx="4251603"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Harness 先行不是理论,以下是工程化 AI 协同的可观察度量参考</a:t>
              </a:r>
            </a:p>
          </p:txBody>
        </p:sp>
      </p:grpSp>
      <p:grpSp>
        <p:nvGrpSpPr>
          <p:cNvPr id="18" name="Group 18"/>
          <p:cNvGrpSpPr/>
          <p:nvPr/>
        </p:nvGrpSpPr>
        <p:grpSpPr>
          <a:xfrm>
            <a:off x="762000" y="1638300"/>
            <a:ext cx="2571750" cy="2095500"/>
            <a:chOff x="762000" y="1638300"/>
            <a:chExt cx="2571750" cy="2095500"/>
          </a:xfrm>
        </p:grpSpPr>
        <p:sp>
          <p:nvSpPr>
            <p:cNvPr id="7" name="Rectangle 7"/>
            <p:cNvSpPr/>
            <p:nvPr/>
          </p:nvSpPr>
          <p:spPr>
            <a:xfrm>
              <a:off x="762000" y="1638300"/>
              <a:ext cx="2571750" cy="2095500"/>
            </a:xfrm>
            <a:prstGeom prst="roundRect">
              <a:avLst>
                <a:gd name="adj" fmla="val 7273"/>
              </a:avLst>
            </a:prstGeom>
            <a:solidFill>
              <a:srgbClr val="F4F7FC"/>
            </a:solidFill>
            <a:ln>
              <a:noFill/>
            </a:ln>
          </p:spPr>
        </p:sp>
        <p:sp>
          <p:nvSpPr>
            <p:cNvPr id="8" name="Rectangle 8"/>
            <p:cNvSpPr/>
            <p:nvPr/>
          </p:nvSpPr>
          <p:spPr>
            <a:xfrm>
              <a:off x="762000" y="1638300"/>
              <a:ext cx="57150" cy="2095500"/>
            </a:xfrm>
            <a:prstGeom prst="roundRect">
              <a:avLst>
                <a:gd name="adj" fmla="val 50000"/>
              </a:avLst>
            </a:prstGeom>
            <a:solidFill>
              <a:srgbClr val="0052A6"/>
            </a:solidFill>
            <a:ln>
              <a:noFill/>
            </a:ln>
          </p:spPr>
        </p:sp>
        <p:grpSp>
          <p:nvGrpSpPr>
            <p:cNvPr id="12" name="Group 12"/>
            <p:cNvGrpSpPr/>
            <p:nvPr/>
          </p:nvGrpSpPr>
          <p:grpSpPr>
            <a:xfrm>
              <a:off x="1079500" y="1905000"/>
              <a:ext cx="203200" cy="228600"/>
              <a:chOff x="1079500" y="1905000"/>
              <a:chExt cx="203200" cy="228600"/>
            </a:xfrm>
          </p:grpSpPr>
          <p:sp>
            <p:nvSpPr>
              <p:cNvPr id="9" name="Freeform 9"/>
              <p:cNvSpPr/>
              <p:nvPr/>
            </p:nvSpPr>
            <p:spPr>
              <a:xfrm>
                <a:off x="1079500" y="1905000"/>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0052A6"/>
                </a:solidFill>
              </a:ln>
            </p:spPr>
          </p:sp>
          <p:sp>
            <p:nvSpPr>
              <p:cNvPr id="10" name="Freeform 10"/>
              <p:cNvSpPr/>
              <p:nvPr/>
            </p:nvSpPr>
            <p:spPr>
              <a:xfrm>
                <a:off x="1079500" y="194310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0052A6"/>
                </a:solidFill>
              </a:ln>
            </p:spPr>
          </p:sp>
          <p:sp>
            <p:nvSpPr>
              <p:cNvPr id="11" name="Freeform 11"/>
              <p:cNvSpPr/>
              <p:nvPr/>
            </p:nvSpPr>
            <p:spPr>
              <a:xfrm>
                <a:off x="1079500" y="2019300"/>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0052A6"/>
                </a:solidFill>
              </a:ln>
            </p:spPr>
          </p:sp>
        </p:grpSp>
        <p:sp>
          <p:nvSpPr>
            <p:cNvPr id="13" name="TextBox 13"/>
            <p:cNvSpPr txBox="1"/>
            <p:nvPr/>
          </p:nvSpPr>
          <p:spPr>
            <a:xfrm>
              <a:off x="988695" y="2307908"/>
              <a:ext cx="1623703" cy="640080"/>
            </a:xfrm>
            <a:prstGeom prst="rect">
              <a:avLst/>
            </a:prstGeom>
            <a:noFill/>
            <a:ln>
              <a:noFill/>
            </a:ln>
          </p:spPr>
          <p:txBody>
            <a:bodyPr wrap="none" lIns="0" tIns="0" rIns="0" bIns="0" anchor="t" anchorCtr="0">
              <a:spAutoFit/>
            </a:bodyPr>
            <a:lstStyle/>
            <a:p>
              <a:pPr algn="l"/>
              <a:r>
                <a:rPr lang="zh-CN" sz="3150" b="1" dirty="0">
                  <a:solidFill>
                    <a:srgbClr val="0052A6"/>
                  </a:solidFill>
                  <a:latin typeface="Arial"/>
                  <a:ea typeface="Microsoft YaHei"/>
                  <a:cs typeface="Arial"/>
                </a:rPr>
                <a:t>175 万+</a:t>
              </a:r>
            </a:p>
          </p:txBody>
        </p:sp>
        <p:sp>
          <p:nvSpPr>
            <p:cNvPr id="14" name="TextBox 14"/>
            <p:cNvSpPr txBox="1"/>
            <p:nvPr/>
          </p:nvSpPr>
          <p:spPr>
            <a:xfrm>
              <a:off x="1013460" y="2804160"/>
              <a:ext cx="1006602"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单库规模(行)</a:t>
              </a:r>
            </a:p>
          </p:txBody>
        </p:sp>
        <p:sp>
          <p:nvSpPr>
            <p:cNvPr id="15" name="Line 15"/>
            <p:cNvSpPr/>
            <p:nvPr/>
          </p:nvSpPr>
          <p:spPr>
            <a:xfrm>
              <a:off x="1028700" y="3086100"/>
              <a:ext cx="2038350" cy="9525"/>
            </a:xfrm>
            <a:custGeom>
              <a:avLst/>
              <a:gdLst/>
              <a:ahLst/>
              <a:cxnLst/>
              <a:rect l="l" t="t" r="r" b="b"/>
              <a:pathLst>
                <a:path w="2038350" h="9525">
                  <a:moveTo>
                    <a:pt x="0" y="0"/>
                  </a:moveTo>
                  <a:lnTo>
                    <a:pt x="2038350" y="0"/>
                  </a:lnTo>
                </a:path>
              </a:pathLst>
            </a:custGeom>
            <a:noFill/>
            <a:ln w="9525">
              <a:solidFill>
                <a:srgbClr val="E3E9F2"/>
              </a:solidFill>
            </a:ln>
          </p:spPr>
        </p:sp>
        <p:sp>
          <p:nvSpPr>
            <p:cNvPr id="16" name="TextBox 16"/>
            <p:cNvSpPr txBox="1"/>
            <p:nvPr/>
          </p:nvSpPr>
          <p:spPr>
            <a:xfrm>
              <a:off x="1016318" y="3228499"/>
              <a:ext cx="1331428"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Agent 可协同的代码库</a:t>
              </a:r>
            </a:p>
          </p:txBody>
        </p:sp>
        <p:sp>
          <p:nvSpPr>
            <p:cNvPr id="17" name="TextBox 17"/>
            <p:cNvSpPr txBox="1"/>
            <p:nvPr/>
          </p:nvSpPr>
          <p:spPr>
            <a:xfrm>
              <a:off x="1016318" y="3438049"/>
              <a:ext cx="544830"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量级参考</a:t>
              </a:r>
            </a:p>
          </p:txBody>
        </p:sp>
      </p:grpSp>
      <p:grpSp>
        <p:nvGrpSpPr>
          <p:cNvPr id="29" name="Group 29"/>
          <p:cNvGrpSpPr/>
          <p:nvPr/>
        </p:nvGrpSpPr>
        <p:grpSpPr>
          <a:xfrm>
            <a:off x="3524250" y="1638300"/>
            <a:ext cx="2571750" cy="2095500"/>
            <a:chOff x="3524250" y="1638300"/>
            <a:chExt cx="2571750" cy="2095500"/>
          </a:xfrm>
        </p:grpSpPr>
        <p:sp>
          <p:nvSpPr>
            <p:cNvPr id="19" name="Rectangle 19"/>
            <p:cNvSpPr/>
            <p:nvPr/>
          </p:nvSpPr>
          <p:spPr>
            <a:xfrm>
              <a:off x="3524250" y="1638300"/>
              <a:ext cx="2571750" cy="2095500"/>
            </a:xfrm>
            <a:prstGeom prst="roundRect">
              <a:avLst>
                <a:gd name="adj" fmla="val 7273"/>
              </a:avLst>
            </a:prstGeom>
            <a:solidFill>
              <a:srgbClr val="F4F7FC"/>
            </a:solidFill>
            <a:ln>
              <a:noFill/>
            </a:ln>
          </p:spPr>
        </p:sp>
        <p:sp>
          <p:nvSpPr>
            <p:cNvPr id="20" name="Rectangle 20"/>
            <p:cNvSpPr/>
            <p:nvPr/>
          </p:nvSpPr>
          <p:spPr>
            <a:xfrm>
              <a:off x="3524250" y="1638300"/>
              <a:ext cx="57150" cy="2095500"/>
            </a:xfrm>
            <a:prstGeom prst="roundRect">
              <a:avLst>
                <a:gd name="adj" fmla="val 50000"/>
              </a:avLst>
            </a:prstGeom>
            <a:solidFill>
              <a:srgbClr val="246BFE"/>
            </a:solidFill>
            <a:ln>
              <a:noFill/>
            </a:ln>
          </p:spPr>
        </p:sp>
        <p:grpSp>
          <p:nvGrpSpPr>
            <p:cNvPr id="23" name="Group 23"/>
            <p:cNvGrpSpPr/>
            <p:nvPr/>
          </p:nvGrpSpPr>
          <p:grpSpPr>
            <a:xfrm>
              <a:off x="3854450" y="1955800"/>
              <a:ext cx="177800" cy="161925"/>
              <a:chOff x="3854450" y="1955800"/>
              <a:chExt cx="177800" cy="161925"/>
            </a:xfrm>
          </p:grpSpPr>
          <p:sp>
            <p:nvSpPr>
              <p:cNvPr id="21" name="Freeform 21"/>
              <p:cNvSpPr/>
              <p:nvPr/>
            </p:nvSpPr>
            <p:spPr>
              <a:xfrm>
                <a:off x="3854450" y="1955800"/>
                <a:ext cx="63500" cy="127000"/>
              </a:xfrm>
              <a:custGeom>
                <a:avLst/>
                <a:gdLst/>
                <a:ahLst/>
                <a:cxnLst/>
                <a:rect l="l" t="t" r="r" b="b"/>
                <a:pathLst>
                  <a:path w="63500" h="127000">
                    <a:moveTo>
                      <a:pt x="0" y="0"/>
                    </a:moveTo>
                    <a:lnTo>
                      <a:pt x="63500" y="63500"/>
                    </a:lnTo>
                    <a:lnTo>
                      <a:pt x="0" y="127000"/>
                    </a:lnTo>
                  </a:path>
                </a:pathLst>
              </a:custGeom>
              <a:noFill/>
              <a:ln w="19050">
                <a:solidFill>
                  <a:srgbClr val="246BFE"/>
                </a:solidFill>
              </a:ln>
            </p:spPr>
          </p:sp>
          <p:sp>
            <p:nvSpPr>
              <p:cNvPr id="22" name="Freeform 22"/>
              <p:cNvSpPr/>
              <p:nvPr/>
            </p:nvSpPr>
            <p:spPr>
              <a:xfrm>
                <a:off x="3943350" y="2108200"/>
                <a:ext cx="88900" cy="9525"/>
              </a:xfrm>
              <a:custGeom>
                <a:avLst/>
                <a:gdLst/>
                <a:ahLst/>
                <a:cxnLst/>
                <a:rect l="l" t="t" r="r" b="b"/>
                <a:pathLst>
                  <a:path w="88900" h="9525">
                    <a:moveTo>
                      <a:pt x="0" y="0"/>
                    </a:moveTo>
                    <a:lnTo>
                      <a:pt x="88900" y="0"/>
                    </a:lnTo>
                  </a:path>
                </a:pathLst>
              </a:custGeom>
              <a:noFill/>
              <a:ln w="19050">
                <a:solidFill>
                  <a:srgbClr val="246BFE"/>
                </a:solidFill>
              </a:ln>
            </p:spPr>
          </p:sp>
        </p:grpSp>
        <p:sp>
          <p:nvSpPr>
            <p:cNvPr id="24" name="TextBox 24"/>
            <p:cNvSpPr txBox="1"/>
            <p:nvPr/>
          </p:nvSpPr>
          <p:spPr>
            <a:xfrm>
              <a:off x="3750945" y="2307908"/>
              <a:ext cx="1138542" cy="640080"/>
            </a:xfrm>
            <a:prstGeom prst="rect">
              <a:avLst/>
            </a:prstGeom>
            <a:noFill/>
            <a:ln>
              <a:noFill/>
            </a:ln>
          </p:spPr>
          <p:txBody>
            <a:bodyPr wrap="none" lIns="0" tIns="0" rIns="0" bIns="0" anchor="t" anchorCtr="0">
              <a:spAutoFit/>
            </a:bodyPr>
            <a:lstStyle/>
            <a:p>
              <a:pPr algn="l"/>
              <a:r>
                <a:rPr lang="zh-CN" sz="3150" b="1" dirty="0">
                  <a:solidFill>
                    <a:srgbClr val="246BFE"/>
                  </a:solidFill>
                  <a:latin typeface="Arial"/>
                  <a:ea typeface="Microsoft YaHei"/>
                  <a:cs typeface="Arial"/>
                </a:rPr>
                <a:t>34%+</a:t>
              </a:r>
            </a:p>
          </p:txBody>
        </p:sp>
        <p:sp>
          <p:nvSpPr>
            <p:cNvPr id="25" name="TextBox 25"/>
            <p:cNvSpPr txBox="1"/>
            <p:nvPr/>
          </p:nvSpPr>
          <p:spPr>
            <a:xfrm>
              <a:off x="3775710" y="2804160"/>
              <a:ext cx="990600"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代码 CLI 化率</a:t>
              </a:r>
            </a:p>
          </p:txBody>
        </p:sp>
        <p:sp>
          <p:nvSpPr>
            <p:cNvPr id="26" name="Line 26"/>
            <p:cNvSpPr/>
            <p:nvPr/>
          </p:nvSpPr>
          <p:spPr>
            <a:xfrm>
              <a:off x="3790950" y="3086100"/>
              <a:ext cx="2038350" cy="9525"/>
            </a:xfrm>
            <a:custGeom>
              <a:avLst/>
              <a:gdLst/>
              <a:ahLst/>
              <a:cxnLst/>
              <a:rect l="l" t="t" r="r" b="b"/>
              <a:pathLst>
                <a:path w="2038350" h="9525">
                  <a:moveTo>
                    <a:pt x="0" y="0"/>
                  </a:moveTo>
                  <a:lnTo>
                    <a:pt x="2038350" y="0"/>
                  </a:lnTo>
                </a:path>
              </a:pathLst>
            </a:custGeom>
            <a:noFill/>
            <a:ln w="9525">
              <a:solidFill>
                <a:srgbClr val="E3E9F2"/>
              </a:solidFill>
            </a:ln>
          </p:spPr>
        </p:sp>
        <p:sp>
          <p:nvSpPr>
            <p:cNvPr id="27" name="TextBox 27"/>
            <p:cNvSpPr txBox="1"/>
            <p:nvPr/>
          </p:nvSpPr>
          <p:spPr>
            <a:xfrm>
              <a:off x="3778568" y="3228499"/>
              <a:ext cx="120141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Agent 可调用的代码</a:t>
              </a:r>
            </a:p>
          </p:txBody>
        </p:sp>
        <p:sp>
          <p:nvSpPr>
            <p:cNvPr id="28" name="TextBox 28"/>
            <p:cNvSpPr txBox="1"/>
            <p:nvPr/>
          </p:nvSpPr>
          <p:spPr>
            <a:xfrm>
              <a:off x="3778568" y="3438049"/>
              <a:ext cx="544830"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占比参考</a:t>
              </a:r>
            </a:p>
          </p:txBody>
        </p:sp>
      </p:grpSp>
      <p:grpSp>
        <p:nvGrpSpPr>
          <p:cNvPr id="44" name="Group 44"/>
          <p:cNvGrpSpPr/>
          <p:nvPr/>
        </p:nvGrpSpPr>
        <p:grpSpPr>
          <a:xfrm>
            <a:off x="6286500" y="1638300"/>
            <a:ext cx="2571750" cy="2095500"/>
            <a:chOff x="6286500" y="1638300"/>
            <a:chExt cx="2571750" cy="2095500"/>
          </a:xfrm>
        </p:grpSpPr>
        <p:sp>
          <p:nvSpPr>
            <p:cNvPr id="30" name="Rectangle 30"/>
            <p:cNvSpPr/>
            <p:nvPr/>
          </p:nvSpPr>
          <p:spPr>
            <a:xfrm>
              <a:off x="6286500" y="1638300"/>
              <a:ext cx="2571750" cy="2095500"/>
            </a:xfrm>
            <a:prstGeom prst="roundRect">
              <a:avLst>
                <a:gd name="adj" fmla="val 7273"/>
              </a:avLst>
            </a:prstGeom>
            <a:solidFill>
              <a:srgbClr val="F4F7FC"/>
            </a:solidFill>
            <a:ln>
              <a:noFill/>
            </a:ln>
          </p:spPr>
        </p:sp>
        <p:sp>
          <p:nvSpPr>
            <p:cNvPr id="31" name="Rectangle 31"/>
            <p:cNvSpPr/>
            <p:nvPr/>
          </p:nvSpPr>
          <p:spPr>
            <a:xfrm>
              <a:off x="6286500" y="1638300"/>
              <a:ext cx="57150" cy="2095500"/>
            </a:xfrm>
            <a:prstGeom prst="roundRect">
              <a:avLst>
                <a:gd name="adj" fmla="val 50000"/>
              </a:avLst>
            </a:prstGeom>
            <a:solidFill>
              <a:srgbClr val="518FEC"/>
            </a:solidFill>
            <a:ln>
              <a:noFill/>
            </a:ln>
          </p:spPr>
        </p:sp>
        <p:grpSp>
          <p:nvGrpSpPr>
            <p:cNvPr id="38" name="Group 38"/>
            <p:cNvGrpSpPr/>
            <p:nvPr/>
          </p:nvGrpSpPr>
          <p:grpSpPr>
            <a:xfrm>
              <a:off x="6616700" y="1917700"/>
              <a:ext cx="190500" cy="203200"/>
              <a:chOff x="6616700" y="1917700"/>
              <a:chExt cx="190500" cy="203200"/>
            </a:xfrm>
          </p:grpSpPr>
          <p:sp>
            <p:nvSpPr>
              <p:cNvPr id="32" name="Freeform 32"/>
              <p:cNvSpPr/>
              <p:nvPr/>
            </p:nvSpPr>
            <p:spPr>
              <a:xfrm>
                <a:off x="6616700" y="2070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518FEC"/>
                </a:solidFill>
              </a:ln>
            </p:spPr>
          </p:sp>
          <p:sp>
            <p:nvSpPr>
              <p:cNvPr id="33" name="Freeform 33"/>
              <p:cNvSpPr/>
              <p:nvPr/>
            </p:nvSpPr>
            <p:spPr>
              <a:xfrm>
                <a:off x="6616700" y="1917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518FEC"/>
                </a:solidFill>
              </a:ln>
            </p:spPr>
          </p:sp>
          <p:sp>
            <p:nvSpPr>
              <p:cNvPr id="34" name="Freeform 34"/>
              <p:cNvSpPr/>
              <p:nvPr/>
            </p:nvSpPr>
            <p:spPr>
              <a:xfrm>
                <a:off x="6743700" y="1917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518FEC"/>
                </a:solidFill>
              </a:ln>
            </p:spPr>
          </p:sp>
          <p:sp>
            <p:nvSpPr>
              <p:cNvPr id="35" name="Freeform 35"/>
              <p:cNvSpPr/>
              <p:nvPr/>
            </p:nvSpPr>
            <p:spPr>
              <a:xfrm>
                <a:off x="6642100" y="1968500"/>
                <a:ext cx="9525" cy="101600"/>
              </a:xfrm>
              <a:custGeom>
                <a:avLst/>
                <a:gdLst/>
                <a:ahLst/>
                <a:cxnLst/>
                <a:rect l="l" t="t" r="r" b="b"/>
                <a:pathLst>
                  <a:path w="9525" h="101600">
                    <a:moveTo>
                      <a:pt x="0" y="0"/>
                    </a:moveTo>
                    <a:lnTo>
                      <a:pt x="0" y="101600"/>
                    </a:lnTo>
                  </a:path>
                </a:pathLst>
              </a:custGeom>
              <a:noFill/>
              <a:ln w="19050">
                <a:solidFill>
                  <a:srgbClr val="518FEC"/>
                </a:solidFill>
              </a:ln>
            </p:spPr>
          </p:sp>
          <p:sp>
            <p:nvSpPr>
              <p:cNvPr id="36" name="Freeform 36"/>
              <p:cNvSpPr/>
              <p:nvPr/>
            </p:nvSpPr>
            <p:spPr>
              <a:xfrm>
                <a:off x="6667500" y="2006600"/>
                <a:ext cx="101600" cy="88900"/>
              </a:xfrm>
              <a:custGeom>
                <a:avLst/>
                <a:gdLst/>
                <a:ahLst/>
                <a:cxnLst/>
                <a:rect l="l" t="t" r="r" b="b"/>
                <a:pathLst>
                  <a:path w="101600" h="88900">
                    <a:moveTo>
                      <a:pt x="0" y="88900"/>
                    </a:moveTo>
                    <a:lnTo>
                      <a:pt x="76200" y="88900"/>
                    </a:lnTo>
                    <a:cubicBezTo>
                      <a:pt x="90228" y="88900"/>
                      <a:pt x="101600" y="77528"/>
                      <a:pt x="101600" y="63500"/>
                    </a:cubicBezTo>
                    <a:lnTo>
                      <a:pt x="101600" y="0"/>
                    </a:lnTo>
                  </a:path>
                </a:pathLst>
              </a:custGeom>
              <a:noFill/>
              <a:ln w="19050">
                <a:solidFill>
                  <a:srgbClr val="518FEC"/>
                </a:solidFill>
              </a:ln>
            </p:spPr>
          </p:sp>
          <p:sp>
            <p:nvSpPr>
              <p:cNvPr id="37" name="Freeform 37"/>
              <p:cNvSpPr/>
              <p:nvPr/>
            </p:nvSpPr>
            <p:spPr>
              <a:xfrm>
                <a:off x="6731000" y="2006600"/>
                <a:ext cx="76200" cy="38100"/>
              </a:xfrm>
              <a:custGeom>
                <a:avLst/>
                <a:gdLst/>
                <a:ahLst/>
                <a:cxnLst/>
                <a:rect l="l" t="t" r="r" b="b"/>
                <a:pathLst>
                  <a:path w="76200" h="38100">
                    <a:moveTo>
                      <a:pt x="0" y="38100"/>
                    </a:moveTo>
                    <a:lnTo>
                      <a:pt x="38100" y="0"/>
                    </a:lnTo>
                    <a:lnTo>
                      <a:pt x="76200" y="38100"/>
                    </a:lnTo>
                  </a:path>
                </a:pathLst>
              </a:custGeom>
              <a:noFill/>
              <a:ln w="19050">
                <a:solidFill>
                  <a:srgbClr val="518FEC"/>
                </a:solidFill>
              </a:ln>
            </p:spPr>
          </p:sp>
        </p:grpSp>
        <p:sp>
          <p:nvSpPr>
            <p:cNvPr id="39" name="TextBox 39"/>
            <p:cNvSpPr txBox="1"/>
            <p:nvPr/>
          </p:nvSpPr>
          <p:spPr>
            <a:xfrm>
              <a:off x="6513195" y="2307908"/>
              <a:ext cx="1491386" cy="640080"/>
            </a:xfrm>
            <a:prstGeom prst="rect">
              <a:avLst/>
            </a:prstGeom>
            <a:noFill/>
            <a:ln>
              <a:noFill/>
            </a:ln>
          </p:spPr>
          <p:txBody>
            <a:bodyPr wrap="none" lIns="0" tIns="0" rIns="0" bIns="0" anchor="t" anchorCtr="0">
              <a:spAutoFit/>
            </a:bodyPr>
            <a:lstStyle/>
            <a:p>
              <a:pPr algn="l"/>
              <a:r>
                <a:rPr lang="zh-CN" sz="3150" b="1" dirty="0">
                  <a:solidFill>
                    <a:srgbClr val="518FEC"/>
                  </a:solidFill>
                  <a:latin typeface="Arial"/>
                  <a:ea typeface="Microsoft YaHei"/>
                  <a:cs typeface="Arial"/>
                </a:rPr>
                <a:t>35/天+</a:t>
              </a:r>
            </a:p>
          </p:txBody>
        </p:sp>
        <p:sp>
          <p:nvSpPr>
            <p:cNvPr id="40" name="TextBox 40"/>
            <p:cNvSpPr txBox="1"/>
            <p:nvPr/>
          </p:nvSpPr>
          <p:spPr>
            <a:xfrm>
              <a:off x="6537960" y="2804160"/>
              <a:ext cx="1158621"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Agent 协同提交</a:t>
              </a:r>
            </a:p>
          </p:txBody>
        </p:sp>
        <p:sp>
          <p:nvSpPr>
            <p:cNvPr id="41" name="Line 41"/>
            <p:cNvSpPr/>
            <p:nvPr/>
          </p:nvSpPr>
          <p:spPr>
            <a:xfrm>
              <a:off x="6553200" y="3086100"/>
              <a:ext cx="2038350" cy="9525"/>
            </a:xfrm>
            <a:custGeom>
              <a:avLst/>
              <a:gdLst/>
              <a:ahLst/>
              <a:cxnLst/>
              <a:rect l="l" t="t" r="r" b="b"/>
              <a:pathLst>
                <a:path w="2038350" h="9525">
                  <a:moveTo>
                    <a:pt x="0" y="0"/>
                  </a:moveTo>
                  <a:lnTo>
                    <a:pt x="2038350" y="0"/>
                  </a:lnTo>
                </a:path>
              </a:pathLst>
            </a:custGeom>
            <a:noFill/>
            <a:ln w="9525">
              <a:solidFill>
                <a:srgbClr val="E3E9F2"/>
              </a:solidFill>
            </a:ln>
          </p:spPr>
        </p:sp>
        <p:sp>
          <p:nvSpPr>
            <p:cNvPr id="42" name="TextBox 42"/>
            <p:cNvSpPr txBox="1"/>
            <p:nvPr/>
          </p:nvSpPr>
          <p:spPr>
            <a:xfrm>
              <a:off x="6540818" y="3228499"/>
              <a:ext cx="804862"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日均提交强度</a:t>
              </a:r>
            </a:p>
          </p:txBody>
        </p:sp>
        <p:sp>
          <p:nvSpPr>
            <p:cNvPr id="43" name="TextBox 43"/>
            <p:cNvSpPr txBox="1"/>
            <p:nvPr/>
          </p:nvSpPr>
          <p:spPr>
            <a:xfrm>
              <a:off x="6540818" y="3438049"/>
              <a:ext cx="1064895"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人智协同密度参考</a:t>
              </a:r>
            </a:p>
          </p:txBody>
        </p:sp>
      </p:grpSp>
      <p:grpSp>
        <p:nvGrpSpPr>
          <p:cNvPr id="57" name="Group 57"/>
          <p:cNvGrpSpPr/>
          <p:nvPr/>
        </p:nvGrpSpPr>
        <p:grpSpPr>
          <a:xfrm>
            <a:off x="9048750" y="1638300"/>
            <a:ext cx="2381250" cy="2095500"/>
            <a:chOff x="9048750" y="1638300"/>
            <a:chExt cx="2381250" cy="2095500"/>
          </a:xfrm>
        </p:grpSpPr>
        <p:sp>
          <p:nvSpPr>
            <p:cNvPr id="45" name="Rectangle 45"/>
            <p:cNvSpPr/>
            <p:nvPr/>
          </p:nvSpPr>
          <p:spPr>
            <a:xfrm>
              <a:off x="9048750" y="1638300"/>
              <a:ext cx="2381250" cy="2095500"/>
            </a:xfrm>
            <a:prstGeom prst="roundRect">
              <a:avLst>
                <a:gd name="adj" fmla="val 7273"/>
              </a:avLst>
            </a:prstGeom>
            <a:solidFill>
              <a:srgbClr val="F4F7FC"/>
            </a:solidFill>
            <a:ln>
              <a:noFill/>
            </a:ln>
          </p:spPr>
        </p:sp>
        <p:sp>
          <p:nvSpPr>
            <p:cNvPr id="46" name="Rectangle 46"/>
            <p:cNvSpPr/>
            <p:nvPr/>
          </p:nvSpPr>
          <p:spPr>
            <a:xfrm>
              <a:off x="9048750" y="1638300"/>
              <a:ext cx="57150" cy="2095500"/>
            </a:xfrm>
            <a:prstGeom prst="roundRect">
              <a:avLst>
                <a:gd name="adj" fmla="val 50000"/>
              </a:avLst>
            </a:prstGeom>
            <a:solidFill>
              <a:srgbClr val="0052A6"/>
            </a:solidFill>
            <a:ln>
              <a:noFill/>
            </a:ln>
          </p:spPr>
        </p:sp>
        <p:grpSp>
          <p:nvGrpSpPr>
            <p:cNvPr id="51" name="Group 51"/>
            <p:cNvGrpSpPr/>
            <p:nvPr/>
          </p:nvGrpSpPr>
          <p:grpSpPr>
            <a:xfrm>
              <a:off x="9366250" y="1917700"/>
              <a:ext cx="203200" cy="203200"/>
              <a:chOff x="9366250" y="1917700"/>
              <a:chExt cx="203200" cy="203200"/>
            </a:xfrm>
          </p:grpSpPr>
          <p:sp>
            <p:nvSpPr>
              <p:cNvPr id="47" name="Freeform 47"/>
              <p:cNvSpPr/>
              <p:nvPr/>
            </p:nvSpPr>
            <p:spPr>
              <a:xfrm>
                <a:off x="9366250" y="1917700"/>
                <a:ext cx="76200" cy="63500"/>
              </a:xfrm>
              <a:custGeom>
                <a:avLst/>
                <a:gdLst/>
                <a:ahLst/>
                <a:cxnLst/>
                <a:rect l="l" t="t" r="r" b="b"/>
                <a:pathLst>
                  <a:path w="76200" h="63500">
                    <a:moveTo>
                      <a:pt x="0" y="25400"/>
                    </a:moveTo>
                    <a:cubicBezTo>
                      <a:pt x="0" y="11372"/>
                      <a:pt x="11372" y="0"/>
                      <a:pt x="25400" y="0"/>
                    </a:cubicBezTo>
                    <a:lnTo>
                      <a:pt x="50800" y="0"/>
                    </a:lnTo>
                    <a:cubicBezTo>
                      <a:pt x="64828" y="0"/>
                      <a:pt x="76200" y="11372"/>
                      <a:pt x="76200" y="25400"/>
                    </a:cubicBezTo>
                    <a:lnTo>
                      <a:pt x="76200" y="38100"/>
                    </a:lnTo>
                    <a:cubicBezTo>
                      <a:pt x="76200" y="52128"/>
                      <a:pt x="64828" y="63500"/>
                      <a:pt x="50800" y="63500"/>
                    </a:cubicBezTo>
                    <a:lnTo>
                      <a:pt x="25400" y="63500"/>
                    </a:lnTo>
                    <a:cubicBezTo>
                      <a:pt x="11372" y="63500"/>
                      <a:pt x="0" y="52128"/>
                      <a:pt x="0" y="38100"/>
                    </a:cubicBezTo>
                    <a:lnTo>
                      <a:pt x="0" y="25400"/>
                    </a:lnTo>
                  </a:path>
                </a:pathLst>
              </a:custGeom>
              <a:noFill/>
              <a:ln w="19050">
                <a:solidFill>
                  <a:srgbClr val="0052A6"/>
                </a:solidFill>
              </a:ln>
            </p:spPr>
          </p:sp>
          <p:sp>
            <p:nvSpPr>
              <p:cNvPr id="48" name="Freeform 48"/>
              <p:cNvSpPr/>
              <p:nvPr/>
            </p:nvSpPr>
            <p:spPr>
              <a:xfrm>
                <a:off x="9366250" y="2032000"/>
                <a:ext cx="76200" cy="88900"/>
              </a:xfrm>
              <a:custGeom>
                <a:avLst/>
                <a:gdLst/>
                <a:ahLst/>
                <a:cxnLst/>
                <a:rect l="l" t="t" r="r" b="b"/>
                <a:pathLst>
                  <a:path w="76200" h="88900">
                    <a:moveTo>
                      <a:pt x="0" y="25400"/>
                    </a:moveTo>
                    <a:cubicBezTo>
                      <a:pt x="0" y="11372"/>
                      <a:pt x="11372" y="0"/>
                      <a:pt x="25400" y="0"/>
                    </a:cubicBezTo>
                    <a:lnTo>
                      <a:pt x="50800" y="0"/>
                    </a:lnTo>
                    <a:cubicBezTo>
                      <a:pt x="64828" y="0"/>
                      <a:pt x="76200" y="11372"/>
                      <a:pt x="76200" y="25400"/>
                    </a:cubicBezTo>
                    <a:lnTo>
                      <a:pt x="76200" y="63500"/>
                    </a:lnTo>
                    <a:cubicBezTo>
                      <a:pt x="76200" y="77528"/>
                      <a:pt x="64828" y="88900"/>
                      <a:pt x="50800" y="88900"/>
                    </a:cubicBezTo>
                    <a:lnTo>
                      <a:pt x="25400" y="88900"/>
                    </a:lnTo>
                    <a:cubicBezTo>
                      <a:pt x="11372" y="88900"/>
                      <a:pt x="0" y="77528"/>
                      <a:pt x="0" y="63500"/>
                    </a:cubicBezTo>
                    <a:lnTo>
                      <a:pt x="0" y="25400"/>
                    </a:lnTo>
                  </a:path>
                </a:pathLst>
              </a:custGeom>
              <a:noFill/>
              <a:ln w="19050">
                <a:solidFill>
                  <a:srgbClr val="0052A6"/>
                </a:solidFill>
              </a:ln>
            </p:spPr>
          </p:sp>
          <p:sp>
            <p:nvSpPr>
              <p:cNvPr id="49" name="Freeform 49"/>
              <p:cNvSpPr/>
              <p:nvPr/>
            </p:nvSpPr>
            <p:spPr>
              <a:xfrm>
                <a:off x="9493250" y="1917700"/>
                <a:ext cx="76200" cy="88900"/>
              </a:xfrm>
              <a:custGeom>
                <a:avLst/>
                <a:gdLst/>
                <a:ahLst/>
                <a:cxnLst/>
                <a:rect l="l" t="t" r="r" b="b"/>
                <a:pathLst>
                  <a:path w="76200" h="88900">
                    <a:moveTo>
                      <a:pt x="0" y="25400"/>
                    </a:moveTo>
                    <a:cubicBezTo>
                      <a:pt x="0" y="11372"/>
                      <a:pt x="11372" y="0"/>
                      <a:pt x="25400" y="0"/>
                    </a:cubicBezTo>
                    <a:lnTo>
                      <a:pt x="50800" y="0"/>
                    </a:lnTo>
                    <a:cubicBezTo>
                      <a:pt x="64828" y="0"/>
                      <a:pt x="76200" y="11372"/>
                      <a:pt x="76200" y="25400"/>
                    </a:cubicBezTo>
                    <a:lnTo>
                      <a:pt x="76200" y="63500"/>
                    </a:lnTo>
                    <a:cubicBezTo>
                      <a:pt x="76200" y="77528"/>
                      <a:pt x="64828" y="88900"/>
                      <a:pt x="50800" y="88900"/>
                    </a:cubicBezTo>
                    <a:lnTo>
                      <a:pt x="25400" y="88900"/>
                    </a:lnTo>
                    <a:cubicBezTo>
                      <a:pt x="11372" y="88900"/>
                      <a:pt x="0" y="77528"/>
                      <a:pt x="0" y="63500"/>
                    </a:cubicBezTo>
                    <a:lnTo>
                      <a:pt x="0" y="25400"/>
                    </a:lnTo>
                  </a:path>
                </a:pathLst>
              </a:custGeom>
              <a:noFill/>
              <a:ln w="19050">
                <a:solidFill>
                  <a:srgbClr val="0052A6"/>
                </a:solidFill>
              </a:ln>
            </p:spPr>
          </p:sp>
          <p:sp>
            <p:nvSpPr>
              <p:cNvPr id="50" name="Freeform 50"/>
              <p:cNvSpPr/>
              <p:nvPr/>
            </p:nvSpPr>
            <p:spPr>
              <a:xfrm>
                <a:off x="9493250" y="2057400"/>
                <a:ext cx="76200" cy="63500"/>
              </a:xfrm>
              <a:custGeom>
                <a:avLst/>
                <a:gdLst/>
                <a:ahLst/>
                <a:cxnLst/>
                <a:rect l="l" t="t" r="r" b="b"/>
                <a:pathLst>
                  <a:path w="76200" h="63500">
                    <a:moveTo>
                      <a:pt x="0" y="25400"/>
                    </a:moveTo>
                    <a:cubicBezTo>
                      <a:pt x="0" y="11372"/>
                      <a:pt x="11372" y="0"/>
                      <a:pt x="25400" y="0"/>
                    </a:cubicBezTo>
                    <a:lnTo>
                      <a:pt x="50800" y="0"/>
                    </a:lnTo>
                    <a:cubicBezTo>
                      <a:pt x="64828" y="0"/>
                      <a:pt x="76200" y="11372"/>
                      <a:pt x="76200" y="25400"/>
                    </a:cubicBezTo>
                    <a:lnTo>
                      <a:pt x="76200" y="38100"/>
                    </a:lnTo>
                    <a:cubicBezTo>
                      <a:pt x="76200" y="52128"/>
                      <a:pt x="64828" y="63500"/>
                      <a:pt x="50800" y="63500"/>
                    </a:cubicBezTo>
                    <a:lnTo>
                      <a:pt x="25400" y="63500"/>
                    </a:lnTo>
                    <a:cubicBezTo>
                      <a:pt x="11372" y="63500"/>
                      <a:pt x="0" y="52128"/>
                      <a:pt x="0" y="38100"/>
                    </a:cubicBezTo>
                    <a:lnTo>
                      <a:pt x="0" y="25400"/>
                    </a:lnTo>
                  </a:path>
                </a:pathLst>
              </a:custGeom>
              <a:noFill/>
              <a:ln w="19050">
                <a:solidFill>
                  <a:srgbClr val="0052A6"/>
                </a:solidFill>
              </a:ln>
            </p:spPr>
          </p:sp>
        </p:grpSp>
        <p:sp>
          <p:nvSpPr>
            <p:cNvPr id="52" name="TextBox 52"/>
            <p:cNvSpPr txBox="1"/>
            <p:nvPr/>
          </p:nvSpPr>
          <p:spPr>
            <a:xfrm>
              <a:off x="9275445" y="2307908"/>
              <a:ext cx="895962" cy="640080"/>
            </a:xfrm>
            <a:prstGeom prst="rect">
              <a:avLst/>
            </a:prstGeom>
            <a:noFill/>
            <a:ln>
              <a:noFill/>
            </a:ln>
          </p:spPr>
          <p:txBody>
            <a:bodyPr wrap="none" lIns="0" tIns="0" rIns="0" bIns="0" anchor="t" anchorCtr="0">
              <a:spAutoFit/>
            </a:bodyPr>
            <a:lstStyle/>
            <a:p>
              <a:pPr algn="l"/>
              <a:r>
                <a:rPr lang="zh-CN" sz="3150" b="1" dirty="0">
                  <a:solidFill>
                    <a:srgbClr val="0052A6"/>
                  </a:solidFill>
                  <a:latin typeface="Arial"/>
                  <a:ea typeface="Microsoft YaHei"/>
                  <a:cs typeface="Arial"/>
                </a:rPr>
                <a:t>9 大</a:t>
              </a:r>
            </a:p>
          </p:txBody>
        </p:sp>
        <p:sp>
          <p:nvSpPr>
            <p:cNvPr id="53" name="TextBox 53"/>
            <p:cNvSpPr txBox="1"/>
            <p:nvPr/>
          </p:nvSpPr>
          <p:spPr>
            <a:xfrm>
              <a:off x="9300210" y="2804160"/>
              <a:ext cx="1014603" cy="243840"/>
            </a:xfrm>
            <a:prstGeom prst="rect">
              <a:avLst/>
            </a:prstGeom>
            <a:noFill/>
            <a:ln>
              <a:noFill/>
            </a:ln>
          </p:spPr>
          <p:txBody>
            <a:bodyPr wrap="none" lIns="0" tIns="0" rIns="0" bIns="0" anchor="t" anchorCtr="0">
              <a:spAutoFit/>
            </a:bodyPr>
            <a:lstStyle/>
            <a:p>
              <a:pPr algn="l"/>
              <a:r>
                <a:rPr lang="zh-CN" sz="1200" dirty="0">
                  <a:solidFill>
                    <a:srgbClr val="25364A"/>
                  </a:solidFill>
                  <a:latin typeface="Arial"/>
                  <a:ea typeface="Microsoft YaHei"/>
                  <a:cs typeface="Arial"/>
                </a:rPr>
                <a:t>Harness 组件</a:t>
              </a:r>
            </a:p>
          </p:txBody>
        </p:sp>
        <p:sp>
          <p:nvSpPr>
            <p:cNvPr id="54" name="Line 54"/>
            <p:cNvSpPr/>
            <p:nvPr/>
          </p:nvSpPr>
          <p:spPr>
            <a:xfrm>
              <a:off x="9315450" y="3086100"/>
              <a:ext cx="1847850" cy="9525"/>
            </a:xfrm>
            <a:custGeom>
              <a:avLst/>
              <a:gdLst/>
              <a:ahLst/>
              <a:cxnLst/>
              <a:rect l="l" t="t" r="r" b="b"/>
              <a:pathLst>
                <a:path w="1847850" h="9525">
                  <a:moveTo>
                    <a:pt x="0" y="0"/>
                  </a:moveTo>
                  <a:lnTo>
                    <a:pt x="1847850" y="0"/>
                  </a:lnTo>
                </a:path>
              </a:pathLst>
            </a:custGeom>
            <a:noFill/>
            <a:ln w="9525">
              <a:solidFill>
                <a:srgbClr val="E3E9F2"/>
              </a:solidFill>
            </a:ln>
          </p:spPr>
        </p:sp>
        <p:sp>
          <p:nvSpPr>
            <p:cNvPr id="55" name="TextBox 55"/>
            <p:cNvSpPr txBox="1"/>
            <p:nvPr/>
          </p:nvSpPr>
          <p:spPr>
            <a:xfrm>
              <a:off x="9303068" y="3228499"/>
              <a:ext cx="1194911"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驾驭框架的工程抓手</a:t>
              </a:r>
            </a:p>
          </p:txBody>
        </p:sp>
        <p:sp>
          <p:nvSpPr>
            <p:cNvPr id="56" name="TextBox 56"/>
            <p:cNvSpPr txBox="1"/>
            <p:nvPr/>
          </p:nvSpPr>
          <p:spPr>
            <a:xfrm>
              <a:off x="9303068" y="3438049"/>
              <a:ext cx="1311926" cy="198120"/>
            </a:xfrm>
            <a:prstGeom prst="rect">
              <a:avLst/>
            </a:prstGeom>
            <a:noFill/>
            <a:ln>
              <a:noFill/>
            </a:ln>
          </p:spPr>
          <p:txBody>
            <a:bodyPr wrap="none" lIns="0" tIns="0" rIns="0" bIns="0" anchor="t" anchorCtr="0">
              <a:spAutoFit/>
            </a:bodyPr>
            <a:lstStyle/>
            <a:p>
              <a:pPr algn="l"/>
              <a:r>
                <a:rPr lang="zh-CN" sz="975" dirty="0">
                  <a:solidFill>
                    <a:srgbClr val="5E6A78"/>
                  </a:solidFill>
                  <a:latin typeface="Arial"/>
                  <a:ea typeface="Microsoft YaHei"/>
                  <a:cs typeface="Arial"/>
                </a:rPr>
                <a:t>CLI/fullcheck/E2E 等</a:t>
              </a:r>
            </a:p>
          </p:txBody>
        </p:sp>
      </p:grpSp>
      <p:grpSp>
        <p:nvGrpSpPr>
          <p:cNvPr id="63" name="Group 63"/>
          <p:cNvGrpSpPr/>
          <p:nvPr/>
        </p:nvGrpSpPr>
        <p:grpSpPr>
          <a:xfrm>
            <a:off x="762000" y="4076700"/>
            <a:ext cx="10668000" cy="1752600"/>
            <a:chOff x="762000" y="4076700"/>
            <a:chExt cx="10668000" cy="1752600"/>
          </a:xfrm>
        </p:grpSpPr>
        <p:sp>
          <p:nvSpPr>
            <p:cNvPr id="58" name="Rectangle 58"/>
            <p:cNvSpPr/>
            <p:nvPr/>
          </p:nvSpPr>
          <p:spPr>
            <a:xfrm>
              <a:off x="762000" y="4076700"/>
              <a:ext cx="10668000" cy="1752600"/>
            </a:xfrm>
            <a:prstGeom prst="roundRect">
              <a:avLst>
                <a:gd name="adj" fmla="val 8696"/>
              </a:avLst>
            </a:prstGeom>
            <a:solidFill>
              <a:srgbClr val="0A2A5E"/>
            </a:solidFill>
            <a:ln>
              <a:noFill/>
            </a:ln>
          </p:spPr>
        </p:sp>
        <p:sp>
          <p:nvSpPr>
            <p:cNvPr id="59" name="TextBox 59"/>
            <p:cNvSpPr txBox="1"/>
            <p:nvPr/>
          </p:nvSpPr>
          <p:spPr>
            <a:xfrm>
              <a:off x="3337353" y="4355782"/>
              <a:ext cx="551729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Harness 先行的真实形态:规模化、可验证、高频协同</a:t>
              </a:r>
            </a:p>
          </p:txBody>
        </p:sp>
        <p:sp>
          <p:nvSpPr>
            <p:cNvPr id="60" name="Line 60"/>
            <p:cNvSpPr/>
            <p:nvPr/>
          </p:nvSpPr>
          <p:spPr>
            <a:xfrm>
              <a:off x="4667250" y="4762500"/>
              <a:ext cx="2857500" cy="9525"/>
            </a:xfrm>
            <a:custGeom>
              <a:avLst/>
              <a:gdLst/>
              <a:ahLst/>
              <a:cxnLst/>
              <a:rect l="l" t="t" r="r" b="b"/>
              <a:pathLst>
                <a:path w="2857500" h="9525">
                  <a:moveTo>
                    <a:pt x="0" y="0"/>
                  </a:moveTo>
                  <a:lnTo>
                    <a:pt x="2857500" y="0"/>
                  </a:lnTo>
                </a:path>
              </a:pathLst>
            </a:custGeom>
            <a:noFill/>
            <a:ln w="9525">
              <a:solidFill>
                <a:srgbClr val="246BFE">
                  <a:alpha val="50000"/>
                </a:srgbClr>
              </a:solidFill>
            </a:ln>
          </p:spPr>
        </p:sp>
        <p:sp>
          <p:nvSpPr>
            <p:cNvPr id="61" name="TextBox 61"/>
            <p:cNvSpPr txBox="1"/>
            <p:nvPr/>
          </p:nvSpPr>
          <p:spPr>
            <a:xfrm>
              <a:off x="3788473" y="5013960"/>
              <a:ext cx="4615053" cy="243840"/>
            </a:xfrm>
            <a:prstGeom prst="rect">
              <a:avLst/>
            </a:prstGeom>
            <a:noFill/>
            <a:ln>
              <a:noFill/>
            </a:ln>
          </p:spPr>
          <p:txBody>
            <a:bodyPr wrap="none" lIns="0" tIns="0" rIns="0" bIns="0" anchor="t" anchorCtr="0">
              <a:spAutoFit/>
            </a:bodyPr>
            <a:lstStyle/>
            <a:p>
              <a:pPr algn="ctr"/>
              <a:r>
                <a:rPr lang="zh-CN" sz="1200" dirty="0">
                  <a:solidFill>
                    <a:srgbClr val="DCE6FB"/>
                  </a:solidFill>
                  <a:latin typeface="Arial"/>
                  <a:ea typeface="Microsoft YaHei"/>
                  <a:cs typeface="Arial"/>
                </a:rPr>
                <a:t>百万行级代码库 · 三成以上 CLI 化 · 日均数十次 Agent 协同提交</a:t>
              </a:r>
            </a:p>
          </p:txBody>
        </p:sp>
        <p:sp>
          <p:nvSpPr>
            <p:cNvPr id="62" name="TextBox 62"/>
            <p:cNvSpPr txBox="1"/>
            <p:nvPr/>
          </p:nvSpPr>
          <p:spPr>
            <a:xfrm>
              <a:off x="4395454" y="5334952"/>
              <a:ext cx="3401092" cy="213360"/>
            </a:xfrm>
            <a:prstGeom prst="rect">
              <a:avLst/>
            </a:prstGeom>
            <a:noFill/>
            <a:ln>
              <a:noFill/>
            </a:ln>
          </p:spPr>
          <p:txBody>
            <a:bodyPr wrap="none" lIns="0" tIns="0" rIns="0" bIns="0" anchor="t" anchorCtr="0">
              <a:spAutoFit/>
            </a:bodyPr>
            <a:lstStyle/>
            <a:p>
              <a:pPr algn="ctr"/>
              <a:r>
                <a:rPr lang="zh-CN" sz="1050" dirty="0">
                  <a:solidFill>
                    <a:srgbClr val="B8C7E0"/>
                  </a:solidFill>
                  <a:latin typeface="Arial"/>
                  <a:ea typeface="Microsoft YaHei"/>
                  <a:cs typeface="Arial"/>
                </a:rPr>
                <a:t>这才是"个人提效转化为组织级系统提效"的工程化形态</a:t>
              </a:r>
            </a:p>
          </p:txBody>
        </p:sp>
      </p:grpSp>
      <p:grpSp>
        <p:nvGrpSpPr>
          <p:cNvPr id="66" name="Group 66"/>
          <p:cNvGrpSpPr/>
          <p:nvPr/>
        </p:nvGrpSpPr>
        <p:grpSpPr>
          <a:xfrm>
            <a:off x="751522" y="6464141"/>
            <a:ext cx="10688955" cy="167640"/>
            <a:chOff x="751522" y="6464141"/>
            <a:chExt cx="10688955" cy="167640"/>
          </a:xfrm>
        </p:grpSpPr>
        <p:sp>
          <p:nvSpPr>
            <p:cNvPr id="64" name="TextBox 64"/>
            <p:cNvSpPr txBox="1"/>
            <p:nvPr/>
          </p:nvSpPr>
          <p:spPr>
            <a:xfrm>
              <a:off x="751522" y="6464141"/>
              <a:ext cx="4195977"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 以上为行业工程化实践的参考量级,非客户承诺值;实际数值视代码库与团队规模校准</a:t>
              </a:r>
            </a:p>
          </p:txBody>
        </p:sp>
        <p:sp>
          <p:nvSpPr>
            <p:cNvPr id="65" name="TextBox 65"/>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26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400"/>
                                        <p:tgtEl>
                                          <p:spTgt spid="29"/>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slide(fromBottom)">
                                      <p:cBhvr>
                                        <p:cTn id="19" dur="400"/>
                                        <p:tgtEl>
                                          <p:spTgt spid="44"/>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image">
                                      <p:cBhvr>
                                        <p:cTn id="23" dur="400"/>
                                        <p:tgtEl>
                                          <p:spTgt spid="57"/>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29" grpId="0"/>
      <p:bldP spid="44" grpId="0"/>
      <p:bldP spid="57" grpId="0"/>
      <p:bldP spid="6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7048500"/>
            <a:chOff x="0" y="0"/>
            <a:chExt cx="12192000" cy="7048500"/>
          </a:xfrm>
        </p:grpSpPr>
        <p:sp>
          <p:nvSpPr>
            <p:cNvPr id="2" name="Rectangle 2"/>
            <p:cNvSpPr/>
            <p:nvPr/>
          </p:nvSpPr>
          <p:spPr>
            <a:xfrm>
              <a:off x="0" y="0"/>
              <a:ext cx="12192000" cy="6858000"/>
            </a:xfrm>
            <a:prstGeom prst="rect">
              <a:avLst/>
            </a:prstGeom>
            <a:gradFill>
              <a:gsLst>
                <a:gs pos="0">
                  <a:srgbClr val="0A2A5E"/>
                </a:gs>
                <a:gs pos="60000">
                  <a:srgbClr val="0E367A"/>
                </a:gs>
                <a:gs pos="100000">
                  <a:srgbClr val="17365D"/>
                </a:gs>
              </a:gsLst>
              <a:lin ang="2700000" scaled="1"/>
            </a:gradFill>
            <a:ln>
              <a:noFill/>
            </a:ln>
          </p:spPr>
        </p:sp>
        <p:sp>
          <p:nvSpPr>
            <p:cNvPr id="3" name="Ellipse 3"/>
            <p:cNvSpPr/>
            <p:nvPr/>
          </p:nvSpPr>
          <p:spPr>
            <a:xfrm>
              <a:off x="8096250" y="0"/>
              <a:ext cx="3810000" cy="3810000"/>
            </a:xfrm>
            <a:prstGeom prst="ellipse">
              <a:avLst/>
            </a:prstGeom>
            <a:solidFill>
              <a:srgbClr val="246BFE">
                <a:alpha val="6000"/>
              </a:srgbClr>
            </a:solidFill>
            <a:ln>
              <a:noFill/>
            </a:ln>
          </p:spPr>
        </p:sp>
        <p:sp>
          <p:nvSpPr>
            <p:cNvPr id="4" name="Ellipse 4"/>
            <p:cNvSpPr/>
            <p:nvPr/>
          </p:nvSpPr>
          <p:spPr>
            <a:xfrm>
              <a:off x="571500" y="4381500"/>
              <a:ext cx="2667000" cy="2667000"/>
            </a:xfrm>
            <a:prstGeom prst="ellipse">
              <a:avLst/>
            </a:prstGeom>
            <a:solidFill>
              <a:srgbClr val="518FEC">
                <a:alpha val="5000"/>
              </a:srgbClr>
            </a:solidFill>
            <a:ln>
              <a:noFill/>
            </a:ln>
          </p:spPr>
        </p:sp>
      </p:grpSp>
      <p:grpSp>
        <p:nvGrpSpPr>
          <p:cNvPr id="7" name="Group 7"/>
          <p:cNvGrpSpPr/>
          <p:nvPr/>
        </p:nvGrpSpPr>
        <p:grpSpPr>
          <a:xfrm>
            <a:off x="552450" y="2981325"/>
            <a:ext cx="2960418" cy="3352800"/>
            <a:chOff x="552450" y="2981325"/>
            <a:chExt cx="2960418" cy="3352800"/>
          </a:xfrm>
        </p:grpSpPr>
        <p:sp>
          <p:nvSpPr>
            <p:cNvPr id="6" name="TextBox 6"/>
            <p:cNvSpPr txBox="1"/>
            <p:nvPr/>
          </p:nvSpPr>
          <p:spPr>
            <a:xfrm>
              <a:off x="552450" y="2981325"/>
              <a:ext cx="2960418" cy="3352800"/>
            </a:xfrm>
            <a:prstGeom prst="rect">
              <a:avLst/>
            </a:prstGeom>
            <a:noFill/>
            <a:ln>
              <a:noFill/>
            </a:ln>
          </p:spPr>
          <p:txBody>
            <a:bodyPr wrap="none" lIns="0" tIns="0" rIns="0" bIns="0" anchor="t" anchorCtr="0">
              <a:spAutoFit/>
            </a:bodyPr>
            <a:lstStyle/>
            <a:p>
              <a:pPr algn="l"/>
              <a:r>
                <a:rPr lang="zh-CN" sz="16500" b="1" dirty="0">
                  <a:solidFill>
                    <a:srgbClr val="FFFFFF">
                      <a:alphaMod val="10000"/>
                    </a:srgbClr>
                  </a:solidFill>
                  <a:latin typeface="Arial"/>
                  <a:ea typeface="Microsoft YaHei"/>
                  <a:cs typeface="Arial"/>
                </a:rPr>
                <a:t>06</a:t>
              </a:r>
            </a:p>
          </p:txBody>
        </p:sp>
      </p:grpSp>
      <p:grpSp>
        <p:nvGrpSpPr>
          <p:cNvPr id="10" name="Group 10"/>
          <p:cNvGrpSpPr/>
          <p:nvPr/>
        </p:nvGrpSpPr>
        <p:grpSpPr>
          <a:xfrm>
            <a:off x="840105" y="2209800"/>
            <a:ext cx="1160145" cy="547688"/>
            <a:chOff x="840105" y="2209800"/>
            <a:chExt cx="1160145" cy="547688"/>
          </a:xfrm>
        </p:grpSpPr>
        <p:sp>
          <p:nvSpPr>
            <p:cNvPr id="8" name="Rectangle 8"/>
            <p:cNvSpPr/>
            <p:nvPr/>
          </p:nvSpPr>
          <p:spPr>
            <a:xfrm>
              <a:off x="857250" y="2209800"/>
              <a:ext cx="1143000" cy="38100"/>
            </a:xfrm>
            <a:prstGeom prst="roundRect">
              <a:avLst>
                <a:gd name="adj" fmla="val 50000"/>
              </a:avLst>
            </a:prstGeom>
            <a:solidFill>
              <a:srgbClr val="246BFE"/>
            </a:solidFill>
            <a:ln>
              <a:noFill/>
            </a:ln>
          </p:spPr>
        </p:sp>
        <p:sp>
          <p:nvSpPr>
            <p:cNvPr id="9" name="TextBox 9"/>
            <p:cNvSpPr txBox="1"/>
            <p:nvPr/>
          </p:nvSpPr>
          <p:spPr>
            <a:xfrm>
              <a:off x="840105" y="2483168"/>
              <a:ext cx="979408" cy="274320"/>
            </a:xfrm>
            <a:prstGeom prst="rect">
              <a:avLst/>
            </a:prstGeom>
            <a:noFill/>
            <a:ln>
              <a:noFill/>
            </a:ln>
          </p:spPr>
          <p:txBody>
            <a:bodyPr wrap="none" lIns="0" tIns="0" rIns="0" bIns="0" anchor="t" anchorCtr="0">
              <a:spAutoFit/>
            </a:bodyPr>
            <a:lstStyle/>
            <a:p>
              <a:pPr algn="l"/>
              <a:r>
                <a:rPr lang="zh-CN" sz="1350" dirty="0">
                  <a:solidFill>
                    <a:srgbClr val="518FEC"/>
                  </a:solidFill>
                  <a:latin typeface="Arial"/>
                  <a:ea typeface="Microsoft YaHei"/>
                  <a:cs typeface="Arial"/>
                </a:rPr>
                <a:t>CHAPTER 06</a:t>
              </a:r>
            </a:p>
          </p:txBody>
        </p:sp>
      </p:grpSp>
      <p:grpSp>
        <p:nvGrpSpPr>
          <p:cNvPr id="14" name="Group 14"/>
          <p:cNvGrpSpPr/>
          <p:nvPr/>
        </p:nvGrpSpPr>
        <p:grpSpPr>
          <a:xfrm>
            <a:off x="819150" y="3067050"/>
            <a:ext cx="3436620" cy="1428750"/>
            <a:chOff x="819150" y="3067050"/>
            <a:chExt cx="3436620" cy="1428750"/>
          </a:xfrm>
        </p:grpSpPr>
        <p:sp>
          <p:nvSpPr>
            <p:cNvPr id="11" name="TextBox 11"/>
            <p:cNvSpPr txBox="1"/>
            <p:nvPr/>
          </p:nvSpPr>
          <p:spPr>
            <a:xfrm>
              <a:off x="819150" y="3067050"/>
              <a:ext cx="3436620" cy="60960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Microsoft YaHei"/>
                  <a:cs typeface="Arial"/>
                </a:rPr>
                <a:t>价值、实施与保障</a:t>
              </a:r>
            </a:p>
          </p:txBody>
        </p:sp>
        <p:sp>
          <p:nvSpPr>
            <p:cNvPr id="12" name="TextBox 12"/>
            <p:cNvSpPr txBox="1"/>
            <p:nvPr/>
          </p:nvSpPr>
          <p:spPr>
            <a:xfrm>
              <a:off x="832485" y="3694748"/>
              <a:ext cx="2649855" cy="396240"/>
            </a:xfrm>
            <a:prstGeom prst="rect">
              <a:avLst/>
            </a:prstGeom>
            <a:noFill/>
            <a:ln>
              <a:noFill/>
            </a:ln>
          </p:spPr>
          <p:txBody>
            <a:bodyPr wrap="none" lIns="0" tIns="0" rIns="0" bIns="0" anchor="t" anchorCtr="0">
              <a:spAutoFit/>
            </a:bodyPr>
            <a:lstStyle/>
            <a:p>
              <a:pPr algn="l"/>
              <a:r>
                <a:rPr lang="zh-CN" sz="1950" dirty="0">
                  <a:solidFill>
                    <a:srgbClr val="B8C7E0"/>
                  </a:solidFill>
                  <a:latin typeface="Arial"/>
                  <a:ea typeface="Microsoft YaHei"/>
                  <a:cs typeface="Arial"/>
                </a:rPr>
                <a:t>从试点到规模化的路径</a:t>
              </a:r>
            </a:p>
          </p:txBody>
        </p:sp>
        <p:sp>
          <p:nvSpPr>
            <p:cNvPr id="13" name="TextBox 13"/>
            <p:cNvSpPr txBox="1"/>
            <p:nvPr/>
          </p:nvSpPr>
          <p:spPr>
            <a:xfrm>
              <a:off x="842010" y="4251960"/>
              <a:ext cx="2518791" cy="243840"/>
            </a:xfrm>
            <a:prstGeom prst="rect">
              <a:avLst/>
            </a:prstGeom>
            <a:noFill/>
            <a:ln>
              <a:noFill/>
            </a:ln>
          </p:spPr>
          <p:txBody>
            <a:bodyPr wrap="none" lIns="0" tIns="0" rIns="0" bIns="0" anchor="t" anchorCtr="0">
              <a:spAutoFit/>
            </a:bodyPr>
            <a:lstStyle/>
            <a:p>
              <a:pPr algn="l"/>
              <a:r>
                <a:rPr lang="zh-CN" sz="1200" dirty="0">
                  <a:solidFill>
                    <a:srgbClr val="8FA3C4"/>
                  </a:solidFill>
                  <a:latin typeface="Arial"/>
                  <a:ea typeface="Microsoft YaHei"/>
                  <a:cs typeface="Arial"/>
                </a:rPr>
                <a:t>不要先改组织,先让一个产品跑起来</a:t>
              </a:r>
            </a:p>
          </p:txBody>
        </p:sp>
      </p:grpSp>
      <p:sp>
        <p:nvSpPr>
          <p:cNvPr id="15" name="TextBox 15"/>
          <p:cNvSpPr txBox="1"/>
          <p:nvPr/>
        </p:nvSpPr>
        <p:spPr>
          <a:xfrm>
            <a:off x="10594419" y="6464141"/>
            <a:ext cx="846058" cy="167640"/>
          </a:xfrm>
          <a:prstGeom prst="rect">
            <a:avLst/>
          </a:prstGeom>
          <a:noFill/>
          <a:ln>
            <a:noFill/>
          </a:ln>
        </p:spPr>
        <p:txBody>
          <a:bodyPr wrap="none" lIns="0" tIns="0" rIns="0" bIns="0" anchor="t" anchorCtr="0">
            <a:spAutoFit/>
          </a:bodyPr>
          <a:lstStyle/>
          <a:p>
            <a:pPr algn="r"/>
            <a:r>
              <a:rPr lang="zh-CN" sz="825" dirty="0">
                <a:solidFill>
                  <a:srgbClr val="8FA3C4"/>
                </a:solidFill>
                <a:latin typeface="Arial"/>
                <a:ea typeface="Microsoft YaHei"/>
                <a:cs typeface="Arial"/>
              </a:rPr>
              <a:t>27 / 30 · 第六章</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5096070" cy="792956"/>
            <a:chOff x="735330" y="533400"/>
            <a:chExt cx="5096070"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5096070"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四维价值 —— 效率 · 质量 · 成本 · 进化</a:t>
              </a:r>
            </a:p>
          </p:txBody>
        </p:sp>
        <p:sp>
          <p:nvSpPr>
            <p:cNvPr id="5" name="TextBox 5"/>
            <p:cNvSpPr txBox="1"/>
            <p:nvPr/>
          </p:nvSpPr>
          <p:spPr>
            <a:xfrm>
              <a:off x="747712" y="1097756"/>
              <a:ext cx="4131588"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FarAI 研发流水线从四个维度,把个人提效升级为组织系统提效</a:t>
              </a:r>
            </a:p>
          </p:txBody>
        </p:sp>
      </p:grpSp>
      <p:grpSp>
        <p:nvGrpSpPr>
          <p:cNvPr id="18" name="Group 18"/>
          <p:cNvGrpSpPr/>
          <p:nvPr/>
        </p:nvGrpSpPr>
        <p:grpSpPr>
          <a:xfrm>
            <a:off x="762000" y="1524000"/>
            <a:ext cx="5286375" cy="2209800"/>
            <a:chOff x="762000" y="1524000"/>
            <a:chExt cx="5286375" cy="2209800"/>
          </a:xfrm>
        </p:grpSpPr>
        <p:sp>
          <p:nvSpPr>
            <p:cNvPr id="7" name="Rectangle 7"/>
            <p:cNvSpPr/>
            <p:nvPr/>
          </p:nvSpPr>
          <p:spPr>
            <a:xfrm>
              <a:off x="762000" y="1524000"/>
              <a:ext cx="5286375" cy="2209800"/>
            </a:xfrm>
            <a:prstGeom prst="roundRect">
              <a:avLst>
                <a:gd name="adj" fmla="val 6897"/>
              </a:avLst>
            </a:prstGeom>
            <a:solidFill>
              <a:srgbClr val="F4F7FC"/>
            </a:solidFill>
            <a:ln>
              <a:noFill/>
            </a:ln>
          </p:spPr>
        </p:sp>
        <p:sp>
          <p:nvSpPr>
            <p:cNvPr id="8" name="Rectangle 8"/>
            <p:cNvSpPr/>
            <p:nvPr/>
          </p:nvSpPr>
          <p:spPr>
            <a:xfrm>
              <a:off x="762000" y="1524000"/>
              <a:ext cx="57150" cy="2209800"/>
            </a:xfrm>
            <a:prstGeom prst="roundRect">
              <a:avLst>
                <a:gd name="adj" fmla="val 50000"/>
              </a:avLst>
            </a:prstGeom>
            <a:solidFill>
              <a:srgbClr val="0052A6"/>
            </a:solidFill>
            <a:ln>
              <a:noFill/>
            </a:ln>
          </p:spPr>
        </p:sp>
        <p:sp>
          <p:nvSpPr>
            <p:cNvPr id="9" name="Freeform 9"/>
            <p:cNvSpPr/>
            <p:nvPr/>
          </p:nvSpPr>
          <p:spPr>
            <a:xfrm>
              <a:off x="1092200" y="1790700"/>
              <a:ext cx="177800" cy="228600"/>
            </a:xfrm>
            <a:custGeom>
              <a:avLst/>
              <a:gdLst/>
              <a:ahLst/>
              <a:cxnLst/>
              <a:rect l="l" t="t" r="r" b="b"/>
              <a:pathLst>
                <a:path w="177800" h="228600">
                  <a:moveTo>
                    <a:pt x="101600" y="0"/>
                  </a:moveTo>
                  <a:lnTo>
                    <a:pt x="101600" y="88900"/>
                  </a:lnTo>
                  <a:lnTo>
                    <a:pt x="177800" y="88900"/>
                  </a:lnTo>
                  <a:lnTo>
                    <a:pt x="76200" y="228600"/>
                  </a:lnTo>
                  <a:lnTo>
                    <a:pt x="76200" y="139700"/>
                  </a:lnTo>
                  <a:lnTo>
                    <a:pt x="0" y="139700"/>
                  </a:lnTo>
                  <a:lnTo>
                    <a:pt x="101600" y="0"/>
                  </a:lnTo>
                </a:path>
              </a:pathLst>
            </a:custGeom>
            <a:noFill/>
            <a:ln w="19050">
              <a:solidFill>
                <a:srgbClr val="0052A6"/>
              </a:solidFill>
            </a:ln>
          </p:spPr>
        </p:sp>
        <p:sp>
          <p:nvSpPr>
            <p:cNvPr id="10" name="TextBox 10"/>
            <p:cNvSpPr txBox="1"/>
            <p:nvPr/>
          </p:nvSpPr>
          <p:spPr>
            <a:xfrm>
              <a:off x="1407795" y="1803082"/>
              <a:ext cx="503968" cy="335280"/>
            </a:xfrm>
            <a:prstGeom prst="rect">
              <a:avLst/>
            </a:prstGeom>
            <a:noFill/>
            <a:ln>
              <a:noFill/>
            </a:ln>
          </p:spPr>
          <p:txBody>
            <a:bodyPr wrap="none" lIns="0" tIns="0" rIns="0" bIns="0" anchor="t" anchorCtr="0">
              <a:spAutoFit/>
            </a:bodyPr>
            <a:lstStyle/>
            <a:p>
              <a:pPr algn="l"/>
              <a:r>
                <a:rPr lang="zh-CN" sz="1650" b="1" dirty="0">
                  <a:solidFill>
                    <a:srgbClr val="0052A6"/>
                  </a:solidFill>
                  <a:latin typeface="Arial"/>
                  <a:ea typeface="Microsoft YaHei"/>
                  <a:cs typeface="Arial"/>
                </a:rPr>
                <a:t>效率</a:t>
              </a:r>
            </a:p>
          </p:txBody>
        </p:sp>
        <p:sp>
          <p:nvSpPr>
            <p:cNvPr id="11" name="TextBox 11"/>
            <p:cNvSpPr txBox="1"/>
            <p:nvPr/>
          </p:nvSpPr>
          <p:spPr>
            <a:xfrm>
              <a:off x="5144452" y="1867852"/>
              <a:ext cx="726758" cy="213360"/>
            </a:xfrm>
            <a:prstGeom prst="rect">
              <a:avLst/>
            </a:prstGeom>
            <a:noFill/>
            <a:ln>
              <a:noFill/>
            </a:ln>
          </p:spPr>
          <p:txBody>
            <a:bodyPr wrap="none" lIns="0" tIns="0" rIns="0" bIns="0" anchor="t" anchorCtr="0">
              <a:spAutoFit/>
            </a:bodyPr>
            <a:lstStyle/>
            <a:p>
              <a:pPr algn="r"/>
              <a:r>
                <a:rPr lang="zh-CN" sz="1050" dirty="0">
                  <a:solidFill>
                    <a:srgbClr val="6B7785"/>
                  </a:solidFill>
                  <a:latin typeface="Arial"/>
                  <a:ea typeface="Microsoft YaHei"/>
                  <a:cs typeface="Arial"/>
                </a:rPr>
                <a:t>速度类指标</a:t>
              </a:r>
            </a:p>
          </p:txBody>
        </p:sp>
        <p:sp>
          <p:nvSpPr>
            <p:cNvPr id="12" name="Line 12"/>
            <p:cNvSpPr/>
            <p:nvPr/>
          </p:nvSpPr>
          <p:spPr>
            <a:xfrm>
              <a:off x="1028700" y="2209800"/>
              <a:ext cx="4829175" cy="9525"/>
            </a:xfrm>
            <a:custGeom>
              <a:avLst/>
              <a:gdLst/>
              <a:ahLst/>
              <a:cxnLst/>
              <a:rect l="l" t="t" r="r" b="b"/>
              <a:pathLst>
                <a:path w="4829175" h="9525">
                  <a:moveTo>
                    <a:pt x="0" y="0"/>
                  </a:moveTo>
                  <a:lnTo>
                    <a:pt x="4829175" y="0"/>
                  </a:lnTo>
                </a:path>
              </a:pathLst>
            </a:custGeom>
            <a:noFill/>
            <a:ln w="9525">
              <a:solidFill>
                <a:srgbClr val="E3E9F2"/>
              </a:solidFill>
            </a:ln>
          </p:spPr>
        </p:sp>
        <p:sp>
          <p:nvSpPr>
            <p:cNvPr id="13" name="TextBox 13"/>
            <p:cNvSpPr txBox="1"/>
            <p:nvPr/>
          </p:nvSpPr>
          <p:spPr>
            <a:xfrm>
              <a:off x="996315" y="2467928"/>
              <a:ext cx="1510801" cy="518160"/>
            </a:xfrm>
            <a:prstGeom prst="rect">
              <a:avLst/>
            </a:prstGeom>
            <a:noFill/>
            <a:ln>
              <a:noFill/>
            </a:ln>
          </p:spPr>
          <p:txBody>
            <a:bodyPr wrap="none" lIns="0" tIns="0" rIns="0" bIns="0" anchor="t" anchorCtr="0">
              <a:spAutoFit/>
            </a:bodyPr>
            <a:lstStyle/>
            <a:p>
              <a:pPr algn="l"/>
              <a:r>
                <a:rPr lang="zh-CN" sz="2550" b="1" dirty="0">
                  <a:solidFill>
                    <a:srgbClr val="0052A6"/>
                  </a:solidFill>
                  <a:latin typeface="Arial"/>
                  <a:ea typeface="Microsoft YaHei"/>
                  <a:cs typeface="Arial"/>
                </a:rPr>
                <a:t>↓40-50%</a:t>
              </a:r>
            </a:p>
          </p:txBody>
        </p:sp>
        <p:sp>
          <p:nvSpPr>
            <p:cNvPr id="14" name="TextBox 14"/>
            <p:cNvSpPr txBox="1"/>
            <p:nvPr/>
          </p:nvSpPr>
          <p:spPr>
            <a:xfrm>
              <a:off x="1014412" y="2907506"/>
              <a:ext cx="124372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需求返工率(预估)</a:t>
              </a:r>
            </a:p>
          </p:txBody>
        </p:sp>
        <p:sp>
          <p:nvSpPr>
            <p:cNvPr id="15" name="TextBox 15"/>
            <p:cNvSpPr txBox="1"/>
            <p:nvPr/>
          </p:nvSpPr>
          <p:spPr>
            <a:xfrm>
              <a:off x="3253740" y="2467928"/>
              <a:ext cx="1314426" cy="518160"/>
            </a:xfrm>
            <a:prstGeom prst="rect">
              <a:avLst/>
            </a:prstGeom>
            <a:noFill/>
            <a:ln>
              <a:noFill/>
            </a:ln>
          </p:spPr>
          <p:txBody>
            <a:bodyPr wrap="none" lIns="0" tIns="0" rIns="0" bIns="0" anchor="t" anchorCtr="0">
              <a:spAutoFit/>
            </a:bodyPr>
            <a:lstStyle/>
            <a:p>
              <a:pPr algn="l"/>
              <a:r>
                <a:rPr lang="zh-CN" sz="2550" b="1" dirty="0">
                  <a:solidFill>
                    <a:srgbClr val="0052A6"/>
                  </a:solidFill>
                  <a:latin typeface="Arial"/>
                  <a:ea typeface="Microsoft YaHei"/>
                  <a:cs typeface="Arial"/>
                </a:rPr>
                <a:t>↑3-5 倍</a:t>
              </a:r>
            </a:p>
          </p:txBody>
        </p:sp>
        <p:sp>
          <p:nvSpPr>
            <p:cNvPr id="16" name="TextBox 16"/>
            <p:cNvSpPr txBox="1"/>
            <p:nvPr/>
          </p:nvSpPr>
          <p:spPr>
            <a:xfrm>
              <a:off x="3271838" y="2907506"/>
              <a:ext cx="1393746"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安全合并吞吐(预估)</a:t>
              </a:r>
            </a:p>
          </p:txBody>
        </p:sp>
        <p:sp>
          <p:nvSpPr>
            <p:cNvPr id="17" name="TextBox 17"/>
            <p:cNvSpPr txBox="1"/>
            <p:nvPr/>
          </p:nvSpPr>
          <p:spPr>
            <a:xfrm>
              <a:off x="1016318" y="3399949"/>
              <a:ext cx="2397562"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个人变快 → 小队/产品线/组织级系统提速</a:t>
              </a:r>
            </a:p>
          </p:txBody>
        </p:sp>
      </p:grpSp>
      <p:grpSp>
        <p:nvGrpSpPr>
          <p:cNvPr id="30" name="Group 30"/>
          <p:cNvGrpSpPr/>
          <p:nvPr/>
        </p:nvGrpSpPr>
        <p:grpSpPr>
          <a:xfrm>
            <a:off x="6238875" y="1524000"/>
            <a:ext cx="5191125" cy="2209800"/>
            <a:chOff x="6238875" y="1524000"/>
            <a:chExt cx="5191125" cy="2209800"/>
          </a:xfrm>
        </p:grpSpPr>
        <p:sp>
          <p:nvSpPr>
            <p:cNvPr id="19" name="Rectangle 19"/>
            <p:cNvSpPr/>
            <p:nvPr/>
          </p:nvSpPr>
          <p:spPr>
            <a:xfrm>
              <a:off x="6238875" y="1524000"/>
              <a:ext cx="5191125" cy="2209800"/>
            </a:xfrm>
            <a:prstGeom prst="roundRect">
              <a:avLst>
                <a:gd name="adj" fmla="val 6897"/>
              </a:avLst>
            </a:prstGeom>
            <a:solidFill>
              <a:srgbClr val="F4F7FC"/>
            </a:solidFill>
            <a:ln>
              <a:noFill/>
            </a:ln>
          </p:spPr>
        </p:sp>
        <p:sp>
          <p:nvSpPr>
            <p:cNvPr id="20" name="Rectangle 20"/>
            <p:cNvSpPr/>
            <p:nvPr/>
          </p:nvSpPr>
          <p:spPr>
            <a:xfrm>
              <a:off x="6238875" y="1524000"/>
              <a:ext cx="57150" cy="2209800"/>
            </a:xfrm>
            <a:prstGeom prst="roundRect">
              <a:avLst>
                <a:gd name="adj" fmla="val 50000"/>
              </a:avLst>
            </a:prstGeom>
            <a:solidFill>
              <a:srgbClr val="246BFE"/>
            </a:solidFill>
            <a:ln>
              <a:noFill/>
            </a:ln>
          </p:spPr>
        </p:sp>
        <p:sp>
          <p:nvSpPr>
            <p:cNvPr id="21" name="Freeform 21"/>
            <p:cNvSpPr/>
            <p:nvPr/>
          </p:nvSpPr>
          <p:spPr>
            <a:xfrm>
              <a:off x="6538386" y="1790700"/>
              <a:ext cx="239178" cy="228600"/>
            </a:xfrm>
            <a:custGeom>
              <a:avLst/>
              <a:gdLst/>
              <a:ahLst/>
              <a:cxnLst/>
              <a:rect l="l" t="t" r="r" b="b"/>
              <a:pathLst>
                <a:path w="239178" h="228600">
                  <a:moveTo>
                    <a:pt x="119589" y="0"/>
                  </a:moveTo>
                  <a:cubicBezTo>
                    <a:pt x="149254" y="26246"/>
                    <a:pt x="187972" y="39911"/>
                    <a:pt x="227539" y="38100"/>
                  </a:cubicBezTo>
                  <a:cubicBezTo>
                    <a:pt x="239178" y="77693"/>
                    <a:pt x="234262" y="120313"/>
                    <a:pt x="213917" y="156217"/>
                  </a:cubicBezTo>
                  <a:cubicBezTo>
                    <a:pt x="193571" y="192121"/>
                    <a:pt x="159535" y="218239"/>
                    <a:pt x="119589" y="228600"/>
                  </a:cubicBezTo>
                  <a:cubicBezTo>
                    <a:pt x="79643" y="218239"/>
                    <a:pt x="45606" y="192121"/>
                    <a:pt x="25261" y="156217"/>
                  </a:cubicBezTo>
                  <a:cubicBezTo>
                    <a:pt x="4915" y="120313"/>
                    <a:pt x="0" y="77693"/>
                    <a:pt x="11639" y="38100"/>
                  </a:cubicBezTo>
                  <a:cubicBezTo>
                    <a:pt x="51206" y="39911"/>
                    <a:pt x="89924" y="26246"/>
                    <a:pt x="119589" y="0"/>
                  </a:cubicBezTo>
                </a:path>
              </a:pathLst>
            </a:custGeom>
            <a:noFill/>
            <a:ln w="19050">
              <a:solidFill>
                <a:srgbClr val="246BFE"/>
              </a:solidFill>
            </a:ln>
          </p:spPr>
        </p:sp>
        <p:sp>
          <p:nvSpPr>
            <p:cNvPr id="22" name="TextBox 22"/>
            <p:cNvSpPr txBox="1"/>
            <p:nvPr/>
          </p:nvSpPr>
          <p:spPr>
            <a:xfrm>
              <a:off x="6884670" y="1803082"/>
              <a:ext cx="503968" cy="335280"/>
            </a:xfrm>
            <a:prstGeom prst="rect">
              <a:avLst/>
            </a:prstGeom>
            <a:noFill/>
            <a:ln>
              <a:noFill/>
            </a:ln>
          </p:spPr>
          <p:txBody>
            <a:bodyPr wrap="none" lIns="0" tIns="0" rIns="0" bIns="0" anchor="t" anchorCtr="0">
              <a:spAutoFit/>
            </a:bodyPr>
            <a:lstStyle/>
            <a:p>
              <a:pPr algn="l"/>
              <a:r>
                <a:rPr lang="zh-CN" sz="1650" b="1" dirty="0">
                  <a:solidFill>
                    <a:srgbClr val="246BFE"/>
                  </a:solidFill>
                  <a:latin typeface="Arial"/>
                  <a:ea typeface="Microsoft YaHei"/>
                  <a:cs typeface="Arial"/>
                </a:rPr>
                <a:t>质量</a:t>
              </a:r>
            </a:p>
          </p:txBody>
        </p:sp>
        <p:sp>
          <p:nvSpPr>
            <p:cNvPr id="23" name="TextBox 23"/>
            <p:cNvSpPr txBox="1"/>
            <p:nvPr/>
          </p:nvSpPr>
          <p:spPr>
            <a:xfrm>
              <a:off x="10526078" y="1867852"/>
              <a:ext cx="726758" cy="213360"/>
            </a:xfrm>
            <a:prstGeom prst="rect">
              <a:avLst/>
            </a:prstGeom>
            <a:noFill/>
            <a:ln>
              <a:noFill/>
            </a:ln>
          </p:spPr>
          <p:txBody>
            <a:bodyPr wrap="none" lIns="0" tIns="0" rIns="0" bIns="0" anchor="t" anchorCtr="0">
              <a:spAutoFit/>
            </a:bodyPr>
            <a:lstStyle/>
            <a:p>
              <a:pPr algn="r"/>
              <a:r>
                <a:rPr lang="zh-CN" sz="1050" dirty="0">
                  <a:solidFill>
                    <a:srgbClr val="6B7785"/>
                  </a:solidFill>
                  <a:latin typeface="Arial"/>
                  <a:ea typeface="Microsoft YaHei"/>
                  <a:cs typeface="Arial"/>
                </a:rPr>
                <a:t>风险类指标</a:t>
              </a:r>
            </a:p>
          </p:txBody>
        </p:sp>
        <p:sp>
          <p:nvSpPr>
            <p:cNvPr id="24" name="Line 24"/>
            <p:cNvSpPr/>
            <p:nvPr/>
          </p:nvSpPr>
          <p:spPr>
            <a:xfrm>
              <a:off x="6505575" y="2209800"/>
              <a:ext cx="4733925" cy="9525"/>
            </a:xfrm>
            <a:custGeom>
              <a:avLst/>
              <a:gdLst/>
              <a:ahLst/>
              <a:cxnLst/>
              <a:rect l="l" t="t" r="r" b="b"/>
              <a:pathLst>
                <a:path w="4733925" h="9525">
                  <a:moveTo>
                    <a:pt x="0" y="0"/>
                  </a:moveTo>
                  <a:lnTo>
                    <a:pt x="4733925" y="0"/>
                  </a:lnTo>
                </a:path>
              </a:pathLst>
            </a:custGeom>
            <a:noFill/>
            <a:ln w="9525">
              <a:solidFill>
                <a:srgbClr val="E3E9F2"/>
              </a:solidFill>
            </a:ln>
          </p:spPr>
        </p:sp>
        <p:sp>
          <p:nvSpPr>
            <p:cNvPr id="25" name="TextBox 25"/>
            <p:cNvSpPr txBox="1"/>
            <p:nvPr/>
          </p:nvSpPr>
          <p:spPr>
            <a:xfrm>
              <a:off x="6473190" y="2467928"/>
              <a:ext cx="1510801" cy="518160"/>
            </a:xfrm>
            <a:prstGeom prst="rect">
              <a:avLst/>
            </a:prstGeom>
            <a:noFill/>
            <a:ln>
              <a:noFill/>
            </a:ln>
          </p:spPr>
          <p:txBody>
            <a:bodyPr wrap="none" lIns="0" tIns="0" rIns="0" bIns="0" anchor="t" anchorCtr="0">
              <a:spAutoFit/>
            </a:bodyPr>
            <a:lstStyle/>
            <a:p>
              <a:pPr algn="l"/>
              <a:r>
                <a:rPr lang="zh-CN" sz="2550" b="1" dirty="0">
                  <a:solidFill>
                    <a:srgbClr val="246BFE"/>
                  </a:solidFill>
                  <a:latin typeface="Arial"/>
                  <a:ea typeface="Microsoft YaHei"/>
                  <a:cs typeface="Arial"/>
                </a:rPr>
                <a:t>↓40-60%</a:t>
              </a:r>
            </a:p>
          </p:txBody>
        </p:sp>
        <p:sp>
          <p:nvSpPr>
            <p:cNvPr id="26" name="TextBox 26"/>
            <p:cNvSpPr txBox="1"/>
            <p:nvPr/>
          </p:nvSpPr>
          <p:spPr>
            <a:xfrm>
              <a:off x="6491288" y="2907506"/>
              <a:ext cx="132623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缺陷/返工率(预估)</a:t>
              </a:r>
            </a:p>
          </p:txBody>
        </p:sp>
        <p:sp>
          <p:nvSpPr>
            <p:cNvPr id="27" name="TextBox 27"/>
            <p:cNvSpPr txBox="1"/>
            <p:nvPr/>
          </p:nvSpPr>
          <p:spPr>
            <a:xfrm>
              <a:off x="8730615" y="2467928"/>
              <a:ext cx="1510801" cy="518160"/>
            </a:xfrm>
            <a:prstGeom prst="rect">
              <a:avLst/>
            </a:prstGeom>
            <a:noFill/>
            <a:ln>
              <a:noFill/>
            </a:ln>
          </p:spPr>
          <p:txBody>
            <a:bodyPr wrap="none" lIns="0" tIns="0" rIns="0" bIns="0" anchor="t" anchorCtr="0">
              <a:spAutoFit/>
            </a:bodyPr>
            <a:lstStyle/>
            <a:p>
              <a:pPr algn="l"/>
              <a:r>
                <a:rPr lang="zh-CN" sz="2550" b="1" dirty="0">
                  <a:solidFill>
                    <a:srgbClr val="246BFE"/>
                  </a:solidFill>
                  <a:latin typeface="Arial"/>
                  <a:ea typeface="Microsoft YaHei"/>
                  <a:cs typeface="Arial"/>
                </a:rPr>
                <a:t>↓30-50%</a:t>
              </a:r>
            </a:p>
          </p:txBody>
        </p:sp>
        <p:sp>
          <p:nvSpPr>
            <p:cNvPr id="28" name="TextBox 28"/>
            <p:cNvSpPr txBox="1"/>
            <p:nvPr/>
          </p:nvSpPr>
          <p:spPr>
            <a:xfrm>
              <a:off x="8748712" y="2907506"/>
              <a:ext cx="124372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高风险漏审(预估)</a:t>
              </a:r>
            </a:p>
          </p:txBody>
        </p:sp>
        <p:sp>
          <p:nvSpPr>
            <p:cNvPr id="29" name="TextBox 29"/>
            <p:cNvSpPr txBox="1"/>
            <p:nvPr/>
          </p:nvSpPr>
          <p:spPr>
            <a:xfrm>
              <a:off x="6493192" y="3399949"/>
              <a:ext cx="2053019"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Harness 安全网让 AI 改完即可验证</a:t>
              </a:r>
            </a:p>
          </p:txBody>
        </p:sp>
      </p:grpSp>
      <p:grpSp>
        <p:nvGrpSpPr>
          <p:cNvPr id="45" name="Group 45"/>
          <p:cNvGrpSpPr/>
          <p:nvPr/>
        </p:nvGrpSpPr>
        <p:grpSpPr>
          <a:xfrm>
            <a:off x="762000" y="3848100"/>
            <a:ext cx="5286375" cy="2209800"/>
            <a:chOff x="762000" y="3848100"/>
            <a:chExt cx="5286375" cy="2209800"/>
          </a:xfrm>
        </p:grpSpPr>
        <p:sp>
          <p:nvSpPr>
            <p:cNvPr id="31" name="Rectangle 31"/>
            <p:cNvSpPr/>
            <p:nvPr/>
          </p:nvSpPr>
          <p:spPr>
            <a:xfrm>
              <a:off x="762000" y="3848100"/>
              <a:ext cx="5286375" cy="2209800"/>
            </a:xfrm>
            <a:prstGeom prst="roundRect">
              <a:avLst>
                <a:gd name="adj" fmla="val 6897"/>
              </a:avLst>
            </a:prstGeom>
            <a:solidFill>
              <a:srgbClr val="F4F7FC"/>
            </a:solidFill>
            <a:ln>
              <a:noFill/>
            </a:ln>
          </p:spPr>
        </p:sp>
        <p:sp>
          <p:nvSpPr>
            <p:cNvPr id="32" name="Rectangle 32"/>
            <p:cNvSpPr/>
            <p:nvPr/>
          </p:nvSpPr>
          <p:spPr>
            <a:xfrm>
              <a:off x="762000" y="3848100"/>
              <a:ext cx="57150" cy="2209800"/>
            </a:xfrm>
            <a:prstGeom prst="roundRect">
              <a:avLst>
                <a:gd name="adj" fmla="val 50000"/>
              </a:avLst>
            </a:prstGeom>
            <a:solidFill>
              <a:srgbClr val="518FEC"/>
            </a:solidFill>
            <a:ln>
              <a:noFill/>
            </a:ln>
          </p:spPr>
        </p:sp>
        <p:grpSp>
          <p:nvGrpSpPr>
            <p:cNvPr id="36" name="Group 36"/>
            <p:cNvGrpSpPr/>
            <p:nvPr/>
          </p:nvGrpSpPr>
          <p:grpSpPr>
            <a:xfrm>
              <a:off x="1066800" y="4140200"/>
              <a:ext cx="228600" cy="177800"/>
              <a:chOff x="1066800" y="4140200"/>
              <a:chExt cx="228600" cy="177800"/>
            </a:xfrm>
          </p:grpSpPr>
          <p:sp>
            <p:nvSpPr>
              <p:cNvPr id="33" name="Freeform 33"/>
              <p:cNvSpPr/>
              <p:nvPr/>
            </p:nvSpPr>
            <p:spPr>
              <a:xfrm>
                <a:off x="1066800" y="4140200"/>
                <a:ext cx="177800" cy="127000"/>
              </a:xfrm>
              <a:custGeom>
                <a:avLst/>
                <a:gdLst/>
                <a:ahLst/>
                <a:cxnLst/>
                <a:rect l="l" t="t" r="r" b="b"/>
                <a:pathLst>
                  <a:path w="177800" h="127000">
                    <a:moveTo>
                      <a:pt x="50800" y="127000"/>
                    </a:moveTo>
                    <a:lnTo>
                      <a:pt x="12700" y="127000"/>
                    </a:lnTo>
                    <a:cubicBezTo>
                      <a:pt x="5686" y="127000"/>
                      <a:pt x="0" y="121314"/>
                      <a:pt x="0" y="114300"/>
                    </a:cubicBezTo>
                    <a:lnTo>
                      <a:pt x="0" y="12700"/>
                    </a:lnTo>
                    <a:cubicBezTo>
                      <a:pt x="0" y="5686"/>
                      <a:pt x="5686" y="0"/>
                      <a:pt x="12700" y="0"/>
                    </a:cubicBezTo>
                    <a:lnTo>
                      <a:pt x="165100" y="0"/>
                    </a:lnTo>
                    <a:cubicBezTo>
                      <a:pt x="172114" y="0"/>
                      <a:pt x="177800" y="5686"/>
                      <a:pt x="177800" y="12700"/>
                    </a:cubicBezTo>
                    <a:lnTo>
                      <a:pt x="177800" y="50800"/>
                    </a:lnTo>
                  </a:path>
                </a:pathLst>
              </a:custGeom>
              <a:noFill/>
              <a:ln w="19050">
                <a:solidFill>
                  <a:srgbClr val="518FEC"/>
                </a:solidFill>
              </a:ln>
            </p:spPr>
          </p:sp>
          <p:sp>
            <p:nvSpPr>
              <p:cNvPr id="34" name="Freeform 34"/>
              <p:cNvSpPr/>
              <p:nvPr/>
            </p:nvSpPr>
            <p:spPr>
              <a:xfrm>
                <a:off x="1117600" y="4191000"/>
                <a:ext cx="177800" cy="127000"/>
              </a:xfrm>
              <a:custGeom>
                <a:avLst/>
                <a:gdLst/>
                <a:ahLst/>
                <a:cxnLst/>
                <a:rect l="l" t="t" r="r" b="b"/>
                <a:pathLst>
                  <a:path w="177800" h="127000">
                    <a:moveTo>
                      <a:pt x="0" y="12700"/>
                    </a:moveTo>
                    <a:cubicBezTo>
                      <a:pt x="0" y="5686"/>
                      <a:pt x="5686" y="0"/>
                      <a:pt x="12700" y="0"/>
                    </a:cubicBezTo>
                    <a:lnTo>
                      <a:pt x="165100" y="0"/>
                    </a:lnTo>
                    <a:cubicBezTo>
                      <a:pt x="172114" y="0"/>
                      <a:pt x="177800" y="5686"/>
                      <a:pt x="177800" y="12700"/>
                    </a:cubicBezTo>
                    <a:lnTo>
                      <a:pt x="177800" y="114300"/>
                    </a:lnTo>
                    <a:cubicBezTo>
                      <a:pt x="177800" y="121314"/>
                      <a:pt x="172114" y="127000"/>
                      <a:pt x="165100" y="127000"/>
                    </a:cubicBezTo>
                    <a:lnTo>
                      <a:pt x="12700" y="127000"/>
                    </a:lnTo>
                    <a:cubicBezTo>
                      <a:pt x="5686" y="127000"/>
                      <a:pt x="0" y="121314"/>
                      <a:pt x="0" y="114300"/>
                    </a:cubicBezTo>
                    <a:lnTo>
                      <a:pt x="0" y="12700"/>
                    </a:lnTo>
                  </a:path>
                </a:pathLst>
              </a:custGeom>
              <a:noFill/>
              <a:ln w="19050">
                <a:solidFill>
                  <a:srgbClr val="518FEC"/>
                </a:solidFill>
              </a:ln>
            </p:spPr>
          </p:sp>
          <p:sp>
            <p:nvSpPr>
              <p:cNvPr id="35" name="Freeform 35"/>
              <p:cNvSpPr/>
              <p:nvPr/>
            </p:nvSpPr>
            <p:spPr>
              <a:xfrm>
                <a:off x="1181100" y="4229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518FEC"/>
                </a:solidFill>
              </a:ln>
            </p:spPr>
          </p:sp>
        </p:grpSp>
        <p:sp>
          <p:nvSpPr>
            <p:cNvPr id="37" name="TextBox 37"/>
            <p:cNvSpPr txBox="1"/>
            <p:nvPr/>
          </p:nvSpPr>
          <p:spPr>
            <a:xfrm>
              <a:off x="1407795" y="4127182"/>
              <a:ext cx="503968" cy="335280"/>
            </a:xfrm>
            <a:prstGeom prst="rect">
              <a:avLst/>
            </a:prstGeom>
            <a:noFill/>
            <a:ln>
              <a:noFill/>
            </a:ln>
          </p:spPr>
          <p:txBody>
            <a:bodyPr wrap="none" lIns="0" tIns="0" rIns="0" bIns="0" anchor="t" anchorCtr="0">
              <a:spAutoFit/>
            </a:bodyPr>
            <a:lstStyle/>
            <a:p>
              <a:pPr algn="l"/>
              <a:r>
                <a:rPr lang="zh-CN" sz="1650" b="1" dirty="0">
                  <a:solidFill>
                    <a:srgbClr val="518FEC"/>
                  </a:solidFill>
                  <a:latin typeface="Arial"/>
                  <a:ea typeface="Microsoft YaHei"/>
                  <a:cs typeface="Arial"/>
                </a:rPr>
                <a:t>成本</a:t>
              </a:r>
            </a:p>
          </p:txBody>
        </p:sp>
        <p:sp>
          <p:nvSpPr>
            <p:cNvPr id="38" name="TextBox 38"/>
            <p:cNvSpPr txBox="1"/>
            <p:nvPr/>
          </p:nvSpPr>
          <p:spPr>
            <a:xfrm>
              <a:off x="5144452" y="4191952"/>
              <a:ext cx="726758" cy="213360"/>
            </a:xfrm>
            <a:prstGeom prst="rect">
              <a:avLst/>
            </a:prstGeom>
            <a:noFill/>
            <a:ln>
              <a:noFill/>
            </a:ln>
          </p:spPr>
          <p:txBody>
            <a:bodyPr wrap="none" lIns="0" tIns="0" rIns="0" bIns="0" anchor="t" anchorCtr="0">
              <a:spAutoFit/>
            </a:bodyPr>
            <a:lstStyle/>
            <a:p>
              <a:pPr algn="r"/>
              <a:r>
                <a:rPr lang="zh-CN" sz="1050" dirty="0">
                  <a:solidFill>
                    <a:srgbClr val="6B7785"/>
                  </a:solidFill>
                  <a:latin typeface="Arial"/>
                  <a:ea typeface="Microsoft YaHei"/>
                  <a:cs typeface="Arial"/>
                </a:rPr>
                <a:t>资源类指标</a:t>
              </a:r>
            </a:p>
          </p:txBody>
        </p:sp>
        <p:sp>
          <p:nvSpPr>
            <p:cNvPr id="39" name="Line 39"/>
            <p:cNvSpPr/>
            <p:nvPr/>
          </p:nvSpPr>
          <p:spPr>
            <a:xfrm>
              <a:off x="1028700" y="4533900"/>
              <a:ext cx="4829175" cy="9525"/>
            </a:xfrm>
            <a:custGeom>
              <a:avLst/>
              <a:gdLst/>
              <a:ahLst/>
              <a:cxnLst/>
              <a:rect l="l" t="t" r="r" b="b"/>
              <a:pathLst>
                <a:path w="4829175" h="9525">
                  <a:moveTo>
                    <a:pt x="0" y="0"/>
                  </a:moveTo>
                  <a:lnTo>
                    <a:pt x="4829175" y="0"/>
                  </a:lnTo>
                </a:path>
              </a:pathLst>
            </a:custGeom>
            <a:noFill/>
            <a:ln w="9525">
              <a:solidFill>
                <a:srgbClr val="E3E9F2"/>
              </a:solidFill>
            </a:ln>
          </p:spPr>
        </p:sp>
        <p:sp>
          <p:nvSpPr>
            <p:cNvPr id="40" name="TextBox 40"/>
            <p:cNvSpPr txBox="1"/>
            <p:nvPr/>
          </p:nvSpPr>
          <p:spPr>
            <a:xfrm>
              <a:off x="1002030" y="4840605"/>
              <a:ext cx="1861666" cy="426720"/>
            </a:xfrm>
            <a:prstGeom prst="rect">
              <a:avLst/>
            </a:prstGeom>
            <a:noFill/>
            <a:ln>
              <a:noFill/>
            </a:ln>
          </p:spPr>
          <p:txBody>
            <a:bodyPr wrap="none" lIns="0" tIns="0" rIns="0" bIns="0" anchor="t" anchorCtr="0">
              <a:spAutoFit/>
            </a:bodyPr>
            <a:lstStyle/>
            <a:p>
              <a:pPr algn="l"/>
              <a:r>
                <a:rPr lang="zh-CN" sz="2100" b="1" dirty="0">
                  <a:solidFill>
                    <a:srgbClr val="518FEC"/>
                  </a:solidFill>
                  <a:latin typeface="Arial"/>
                  <a:ea typeface="Microsoft YaHei"/>
                  <a:cs typeface="Arial"/>
                </a:rPr>
                <a:t>分钟级 → 秒级</a:t>
              </a:r>
            </a:p>
          </p:txBody>
        </p:sp>
        <p:sp>
          <p:nvSpPr>
            <p:cNvPr id="41" name="TextBox 41"/>
            <p:cNvSpPr txBox="1"/>
            <p:nvPr/>
          </p:nvSpPr>
          <p:spPr>
            <a:xfrm>
              <a:off x="1014412" y="5231606"/>
              <a:ext cx="1543764"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上下文获取时效(预估)</a:t>
              </a:r>
            </a:p>
          </p:txBody>
        </p:sp>
        <p:sp>
          <p:nvSpPr>
            <p:cNvPr id="42" name="TextBox 42"/>
            <p:cNvSpPr txBox="1"/>
            <p:nvPr/>
          </p:nvSpPr>
          <p:spPr>
            <a:xfrm>
              <a:off x="3259455" y="4840605"/>
              <a:ext cx="1420611" cy="426720"/>
            </a:xfrm>
            <a:prstGeom prst="rect">
              <a:avLst/>
            </a:prstGeom>
            <a:noFill/>
            <a:ln>
              <a:noFill/>
            </a:ln>
          </p:spPr>
          <p:txBody>
            <a:bodyPr wrap="none" lIns="0" tIns="0" rIns="0" bIns="0" anchor="t" anchorCtr="0">
              <a:spAutoFit/>
            </a:bodyPr>
            <a:lstStyle/>
            <a:p>
              <a:pPr algn="l"/>
              <a:r>
                <a:rPr lang="zh-CN" sz="2100" b="1" dirty="0">
                  <a:solidFill>
                    <a:srgbClr val="518FEC"/>
                  </a:solidFill>
                  <a:latin typeface="Arial"/>
                  <a:ea typeface="Microsoft YaHei"/>
                  <a:cs typeface="Arial"/>
                </a:rPr>
                <a:t>Token ROI</a:t>
              </a:r>
            </a:p>
          </p:txBody>
        </p:sp>
        <p:sp>
          <p:nvSpPr>
            <p:cNvPr id="43" name="TextBox 43"/>
            <p:cNvSpPr txBox="1"/>
            <p:nvPr/>
          </p:nvSpPr>
          <p:spPr>
            <a:xfrm>
              <a:off x="3271838" y="5231606"/>
              <a:ext cx="1243727"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持续可视化(预估)</a:t>
              </a:r>
            </a:p>
          </p:txBody>
        </p:sp>
        <p:sp>
          <p:nvSpPr>
            <p:cNvPr id="44" name="TextBox 44"/>
            <p:cNvSpPr txBox="1"/>
            <p:nvPr/>
          </p:nvSpPr>
          <p:spPr>
            <a:xfrm>
              <a:off x="1016318" y="5724049"/>
              <a:ext cx="2742105"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AI FinOps 让"用了多少"升级为"带来什么收益"</a:t>
              </a:r>
            </a:p>
          </p:txBody>
        </p:sp>
      </p:grpSp>
      <p:grpSp>
        <p:nvGrpSpPr>
          <p:cNvPr id="59" name="Group 59"/>
          <p:cNvGrpSpPr/>
          <p:nvPr/>
        </p:nvGrpSpPr>
        <p:grpSpPr>
          <a:xfrm>
            <a:off x="6238875" y="3848100"/>
            <a:ext cx="5191125" cy="2209800"/>
            <a:chOff x="6238875" y="3848100"/>
            <a:chExt cx="5191125" cy="2209800"/>
          </a:xfrm>
        </p:grpSpPr>
        <p:sp>
          <p:nvSpPr>
            <p:cNvPr id="46" name="Rectangle 46"/>
            <p:cNvSpPr/>
            <p:nvPr/>
          </p:nvSpPr>
          <p:spPr>
            <a:xfrm>
              <a:off x="6238875" y="3848100"/>
              <a:ext cx="5191125" cy="2209800"/>
            </a:xfrm>
            <a:prstGeom prst="roundRect">
              <a:avLst>
                <a:gd name="adj" fmla="val 6897"/>
              </a:avLst>
            </a:prstGeom>
            <a:solidFill>
              <a:srgbClr val="F4F7FC"/>
            </a:solidFill>
            <a:ln>
              <a:noFill/>
            </a:ln>
          </p:spPr>
        </p:sp>
        <p:sp>
          <p:nvSpPr>
            <p:cNvPr id="47" name="Rectangle 47"/>
            <p:cNvSpPr/>
            <p:nvPr/>
          </p:nvSpPr>
          <p:spPr>
            <a:xfrm>
              <a:off x="6238875" y="3848100"/>
              <a:ext cx="57150" cy="2209800"/>
            </a:xfrm>
            <a:prstGeom prst="roundRect">
              <a:avLst>
                <a:gd name="adj" fmla="val 50000"/>
              </a:avLst>
            </a:prstGeom>
            <a:solidFill>
              <a:srgbClr val="0E9F6E"/>
            </a:solidFill>
            <a:ln>
              <a:noFill/>
            </a:ln>
          </p:spPr>
        </p:sp>
        <p:grpSp>
          <p:nvGrpSpPr>
            <p:cNvPr id="50" name="Group 50"/>
            <p:cNvGrpSpPr/>
            <p:nvPr/>
          </p:nvGrpSpPr>
          <p:grpSpPr>
            <a:xfrm>
              <a:off x="6556375" y="4122600"/>
              <a:ext cx="203200" cy="213000"/>
              <a:chOff x="6556375" y="4122600"/>
              <a:chExt cx="203200" cy="213000"/>
            </a:xfrm>
          </p:grpSpPr>
          <p:sp>
            <p:nvSpPr>
              <p:cNvPr id="48" name="Freeform 48"/>
              <p:cNvSpPr/>
              <p:nvPr/>
            </p:nvSpPr>
            <p:spPr>
              <a:xfrm>
                <a:off x="6556375" y="4122600"/>
                <a:ext cx="203200" cy="93800"/>
              </a:xfrm>
              <a:custGeom>
                <a:avLst/>
                <a:gdLst/>
                <a:ahLst/>
                <a:cxnLst/>
                <a:rect l="l" t="t" r="r" b="b"/>
                <a:pathLst>
                  <a:path w="203200" h="93800">
                    <a:moveTo>
                      <a:pt x="203200" y="93800"/>
                    </a:moveTo>
                    <a:cubicBezTo>
                      <a:pt x="196815" y="47858"/>
                      <a:pt x="160476" y="11871"/>
                      <a:pt x="114474" y="5936"/>
                    </a:cubicBezTo>
                    <a:cubicBezTo>
                      <a:pt x="68472" y="0"/>
                      <a:pt x="24187" y="25584"/>
                      <a:pt x="6350" y="68400"/>
                    </a:cubicBezTo>
                    <a:moveTo>
                      <a:pt x="0" y="17600"/>
                    </a:moveTo>
                    <a:lnTo>
                      <a:pt x="0" y="68400"/>
                    </a:lnTo>
                    <a:lnTo>
                      <a:pt x="50800" y="68400"/>
                    </a:lnTo>
                  </a:path>
                </a:pathLst>
              </a:custGeom>
              <a:noFill/>
              <a:ln w="19050">
                <a:solidFill>
                  <a:srgbClr val="0E9F6E"/>
                </a:solidFill>
              </a:ln>
            </p:spPr>
          </p:sp>
          <p:sp>
            <p:nvSpPr>
              <p:cNvPr id="49" name="Freeform 49"/>
              <p:cNvSpPr/>
              <p:nvPr/>
            </p:nvSpPr>
            <p:spPr>
              <a:xfrm>
                <a:off x="6556375" y="4241800"/>
                <a:ext cx="203200" cy="93800"/>
              </a:xfrm>
              <a:custGeom>
                <a:avLst/>
                <a:gdLst/>
                <a:ahLst/>
                <a:cxnLst/>
                <a:rect l="l" t="t" r="r" b="b"/>
                <a:pathLst>
                  <a:path w="203200" h="93800">
                    <a:moveTo>
                      <a:pt x="0" y="0"/>
                    </a:moveTo>
                    <a:cubicBezTo>
                      <a:pt x="6385" y="45942"/>
                      <a:pt x="42724" y="81929"/>
                      <a:pt x="88726" y="87864"/>
                    </a:cubicBezTo>
                    <a:cubicBezTo>
                      <a:pt x="134728" y="93800"/>
                      <a:pt x="179013" y="68216"/>
                      <a:pt x="196850" y="25400"/>
                    </a:cubicBezTo>
                    <a:moveTo>
                      <a:pt x="203200" y="76200"/>
                    </a:moveTo>
                    <a:lnTo>
                      <a:pt x="203200" y="25400"/>
                    </a:lnTo>
                    <a:lnTo>
                      <a:pt x="152400" y="25400"/>
                    </a:lnTo>
                  </a:path>
                </a:pathLst>
              </a:custGeom>
              <a:noFill/>
              <a:ln w="19050">
                <a:solidFill>
                  <a:srgbClr val="0E9F6E"/>
                </a:solidFill>
              </a:ln>
            </p:spPr>
          </p:sp>
        </p:grpSp>
        <p:sp>
          <p:nvSpPr>
            <p:cNvPr id="51" name="TextBox 51"/>
            <p:cNvSpPr txBox="1"/>
            <p:nvPr/>
          </p:nvSpPr>
          <p:spPr>
            <a:xfrm>
              <a:off x="6884670" y="4127182"/>
              <a:ext cx="503968" cy="335280"/>
            </a:xfrm>
            <a:prstGeom prst="rect">
              <a:avLst/>
            </a:prstGeom>
            <a:noFill/>
            <a:ln>
              <a:noFill/>
            </a:ln>
          </p:spPr>
          <p:txBody>
            <a:bodyPr wrap="none" lIns="0" tIns="0" rIns="0" bIns="0" anchor="t" anchorCtr="0">
              <a:spAutoFit/>
            </a:bodyPr>
            <a:lstStyle/>
            <a:p>
              <a:pPr algn="l"/>
              <a:r>
                <a:rPr lang="zh-CN" sz="1650" b="1" dirty="0">
                  <a:solidFill>
                    <a:srgbClr val="0E9F6E"/>
                  </a:solidFill>
                  <a:latin typeface="Arial"/>
                  <a:ea typeface="Microsoft YaHei"/>
                  <a:cs typeface="Arial"/>
                </a:rPr>
                <a:t>进化</a:t>
              </a:r>
            </a:p>
          </p:txBody>
        </p:sp>
        <p:sp>
          <p:nvSpPr>
            <p:cNvPr id="52" name="TextBox 52"/>
            <p:cNvSpPr txBox="1"/>
            <p:nvPr/>
          </p:nvSpPr>
          <p:spPr>
            <a:xfrm>
              <a:off x="10666095" y="4191952"/>
              <a:ext cx="586740" cy="213360"/>
            </a:xfrm>
            <a:prstGeom prst="rect">
              <a:avLst/>
            </a:prstGeom>
            <a:noFill/>
            <a:ln>
              <a:noFill/>
            </a:ln>
          </p:spPr>
          <p:txBody>
            <a:bodyPr wrap="none" lIns="0" tIns="0" rIns="0" bIns="0" anchor="t" anchorCtr="0">
              <a:spAutoFit/>
            </a:bodyPr>
            <a:lstStyle/>
            <a:p>
              <a:pPr algn="r"/>
              <a:r>
                <a:rPr lang="zh-CN" sz="1050" dirty="0">
                  <a:solidFill>
                    <a:srgbClr val="6B7785"/>
                  </a:solidFill>
                  <a:latin typeface="Arial"/>
                  <a:ea typeface="Microsoft YaHei"/>
                  <a:cs typeface="Arial"/>
                </a:rPr>
                <a:t>长期复利</a:t>
              </a:r>
            </a:p>
          </p:txBody>
        </p:sp>
        <p:sp>
          <p:nvSpPr>
            <p:cNvPr id="53" name="Line 53"/>
            <p:cNvSpPr/>
            <p:nvPr/>
          </p:nvSpPr>
          <p:spPr>
            <a:xfrm>
              <a:off x="6505575" y="4533900"/>
              <a:ext cx="4733925" cy="9525"/>
            </a:xfrm>
            <a:custGeom>
              <a:avLst/>
              <a:gdLst/>
              <a:ahLst/>
              <a:cxnLst/>
              <a:rect l="l" t="t" r="r" b="b"/>
              <a:pathLst>
                <a:path w="4733925" h="9525">
                  <a:moveTo>
                    <a:pt x="0" y="0"/>
                  </a:moveTo>
                  <a:lnTo>
                    <a:pt x="4733925" y="0"/>
                  </a:lnTo>
                </a:path>
              </a:pathLst>
            </a:custGeom>
            <a:noFill/>
            <a:ln w="9525">
              <a:solidFill>
                <a:srgbClr val="E3E9F2"/>
              </a:solidFill>
            </a:ln>
          </p:spPr>
        </p:sp>
        <p:sp>
          <p:nvSpPr>
            <p:cNvPr id="54" name="TextBox 54"/>
            <p:cNvSpPr txBox="1"/>
            <p:nvPr/>
          </p:nvSpPr>
          <p:spPr>
            <a:xfrm>
              <a:off x="6473190" y="4792028"/>
              <a:ext cx="1118052" cy="518160"/>
            </a:xfrm>
            <a:prstGeom prst="rect">
              <a:avLst/>
            </a:prstGeom>
            <a:noFill/>
            <a:ln>
              <a:noFill/>
            </a:ln>
          </p:spPr>
          <p:txBody>
            <a:bodyPr wrap="none" lIns="0" tIns="0" rIns="0" bIns="0" anchor="t" anchorCtr="0">
              <a:spAutoFit/>
            </a:bodyPr>
            <a:lstStyle/>
            <a:p>
              <a:pPr algn="l"/>
              <a:r>
                <a:rPr lang="zh-CN" sz="2550" b="1" dirty="0">
                  <a:solidFill>
                    <a:srgbClr val="0E9F6E"/>
                  </a:solidFill>
                  <a:latin typeface="Arial"/>
                  <a:ea typeface="Microsoft YaHei"/>
                  <a:cs typeface="Arial"/>
                </a:rPr>
                <a:t>↑50%+</a:t>
              </a:r>
            </a:p>
          </p:txBody>
        </p:sp>
        <p:sp>
          <p:nvSpPr>
            <p:cNvPr id="55" name="TextBox 55"/>
            <p:cNvSpPr txBox="1"/>
            <p:nvPr/>
          </p:nvSpPr>
          <p:spPr>
            <a:xfrm>
              <a:off x="6491288" y="5231606"/>
              <a:ext cx="1626275"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知识/资产复用率(预估)</a:t>
              </a:r>
            </a:p>
          </p:txBody>
        </p:sp>
        <p:sp>
          <p:nvSpPr>
            <p:cNvPr id="56" name="TextBox 56"/>
            <p:cNvSpPr txBox="1"/>
            <p:nvPr/>
          </p:nvSpPr>
          <p:spPr>
            <a:xfrm>
              <a:off x="8743950" y="4905375"/>
              <a:ext cx="878205" cy="304800"/>
            </a:xfrm>
            <a:prstGeom prst="rect">
              <a:avLst/>
            </a:prstGeom>
            <a:noFill/>
            <a:ln>
              <a:noFill/>
            </a:ln>
          </p:spPr>
          <p:txBody>
            <a:bodyPr wrap="none" lIns="0" tIns="0" rIns="0" bIns="0" anchor="t" anchorCtr="0">
              <a:spAutoFit/>
            </a:bodyPr>
            <a:lstStyle/>
            <a:p>
              <a:pPr algn="l"/>
              <a:r>
                <a:rPr lang="zh-CN" sz="1500" b="1" dirty="0">
                  <a:solidFill>
                    <a:srgbClr val="0E9F6E"/>
                  </a:solidFill>
                  <a:latin typeface="Arial"/>
                  <a:ea typeface="Microsoft YaHei"/>
                  <a:cs typeface="Arial"/>
                </a:rPr>
                <a:t>越用越准</a:t>
              </a:r>
            </a:p>
          </p:txBody>
        </p:sp>
        <p:sp>
          <p:nvSpPr>
            <p:cNvPr id="57" name="TextBox 57"/>
            <p:cNvSpPr txBox="1"/>
            <p:nvPr/>
          </p:nvSpPr>
          <p:spPr>
            <a:xfrm>
              <a:off x="8748712" y="5231606"/>
              <a:ext cx="1543764" cy="228600"/>
            </a:xfrm>
            <a:prstGeom prst="rect">
              <a:avLst/>
            </a:prstGeom>
            <a:noFill/>
            <a:ln>
              <a:noFill/>
            </a:ln>
          </p:spPr>
          <p:txBody>
            <a:bodyPr wrap="none" lIns="0" tIns="0" rIns="0" bIns="0" anchor="t" anchorCtr="0">
              <a:spAutoFit/>
            </a:bodyPr>
            <a:lstStyle/>
            <a:p>
              <a:pPr algn="l"/>
              <a:r>
                <a:rPr lang="zh-CN" sz="1125" dirty="0">
                  <a:solidFill>
                    <a:srgbClr val="25364A"/>
                  </a:solidFill>
                  <a:latin typeface="Arial"/>
                  <a:ea typeface="Microsoft YaHei"/>
                  <a:cs typeface="Arial"/>
                </a:rPr>
                <a:t>组织经验成能力(预估)</a:t>
              </a:r>
            </a:p>
          </p:txBody>
        </p:sp>
        <p:sp>
          <p:nvSpPr>
            <p:cNvPr id="58" name="TextBox 58"/>
            <p:cNvSpPr txBox="1"/>
            <p:nvPr/>
          </p:nvSpPr>
          <p:spPr>
            <a:xfrm>
              <a:off x="6493192" y="5724049"/>
              <a:ext cx="2800612"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本体网络 + Agent 记忆 + 经验进化底座持续复利</a:t>
              </a:r>
            </a:p>
          </p:txBody>
        </p:sp>
      </p:grpSp>
      <p:grpSp>
        <p:nvGrpSpPr>
          <p:cNvPr id="62" name="Group 62"/>
          <p:cNvGrpSpPr/>
          <p:nvPr/>
        </p:nvGrpSpPr>
        <p:grpSpPr>
          <a:xfrm>
            <a:off x="751522" y="6464141"/>
            <a:ext cx="10688955" cy="167640"/>
            <a:chOff x="751522" y="6464141"/>
            <a:chExt cx="10688955" cy="167640"/>
          </a:xfrm>
        </p:grpSpPr>
        <p:sp>
          <p:nvSpPr>
            <p:cNvPr id="60" name="TextBox 60"/>
            <p:cNvSpPr txBox="1"/>
            <p:nvPr/>
          </p:nvSpPr>
          <p:spPr>
            <a:xfrm>
              <a:off x="751522" y="6464141"/>
              <a:ext cx="3508391"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 以上为预估值,可按实际业务量与代码库规模校准 · 第六章 · 价值实施</a:t>
              </a:r>
            </a:p>
          </p:txBody>
        </p:sp>
        <p:sp>
          <p:nvSpPr>
            <p:cNvPr id="61" name="TextBox 61"/>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28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lide(fromBottom)">
                                      <p:cBhvr>
                                        <p:cTn id="15" dur="400"/>
                                        <p:tgtEl>
                                          <p:spTgt spid="3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image">
                                      <p:cBhvr>
                                        <p:cTn id="19" dur="400"/>
                                        <p:tgtEl>
                                          <p:spTgt spid="4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30" grpId="0"/>
      <p:bldP spid="45" grpId="0"/>
      <p:bldP spid="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7154328" cy="792956"/>
            <a:chOff x="735330" y="533400"/>
            <a:chExt cx="7154328"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7154328"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六阶段落地 —— 先让一个产品具备 AI 可协同的工程底座</a:t>
              </a:r>
            </a:p>
          </p:txBody>
        </p:sp>
        <p:sp>
          <p:nvSpPr>
            <p:cNvPr id="5" name="TextBox 5"/>
            <p:cNvSpPr txBox="1"/>
            <p:nvPr/>
          </p:nvSpPr>
          <p:spPr>
            <a:xfrm>
              <a:off x="747712" y="1097756"/>
              <a:ext cx="4244102"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不要先大规模改组织,先跑通一个试点,再复制到更多产品和领域</a:t>
              </a:r>
            </a:p>
          </p:txBody>
        </p:sp>
      </p:grpSp>
      <p:grpSp>
        <p:nvGrpSpPr>
          <p:cNvPr id="8" name="Group 8"/>
          <p:cNvGrpSpPr/>
          <p:nvPr/>
        </p:nvGrpSpPr>
        <p:grpSpPr>
          <a:xfrm>
            <a:off x="1143000" y="2286000"/>
            <a:ext cx="10287000" cy="9525"/>
            <a:chOff x="1143000" y="2286000"/>
            <a:chExt cx="10287000" cy="9525"/>
          </a:xfrm>
        </p:grpSpPr>
        <p:sp>
          <p:nvSpPr>
            <p:cNvPr id="7" name="Line 7"/>
            <p:cNvSpPr/>
            <p:nvPr/>
          </p:nvSpPr>
          <p:spPr>
            <a:xfrm>
              <a:off x="1143000" y="2286000"/>
              <a:ext cx="10287000" cy="9525"/>
            </a:xfrm>
            <a:custGeom>
              <a:avLst/>
              <a:gdLst/>
              <a:ahLst/>
              <a:cxnLst/>
              <a:rect l="l" t="t" r="r" b="b"/>
              <a:pathLst>
                <a:path w="10287000" h="9525">
                  <a:moveTo>
                    <a:pt x="0" y="0"/>
                  </a:moveTo>
                  <a:lnTo>
                    <a:pt x="10287000" y="0"/>
                  </a:lnTo>
                </a:path>
              </a:pathLst>
            </a:custGeom>
            <a:noFill/>
            <a:ln w="28575">
              <a:solidFill>
                <a:srgbClr val="E3E9F2"/>
              </a:solidFill>
            </a:ln>
          </p:spPr>
        </p:sp>
      </p:grpSp>
      <p:grpSp>
        <p:nvGrpSpPr>
          <p:cNvPr id="20" name="Group 20"/>
          <p:cNvGrpSpPr/>
          <p:nvPr/>
        </p:nvGrpSpPr>
        <p:grpSpPr>
          <a:xfrm>
            <a:off x="762000" y="2133600"/>
            <a:ext cx="1619250" cy="2476500"/>
            <a:chOff x="762000" y="2133600"/>
            <a:chExt cx="1619250" cy="2476500"/>
          </a:xfrm>
        </p:grpSpPr>
        <p:sp>
          <p:nvSpPr>
            <p:cNvPr id="9" name="Ellipse 9"/>
            <p:cNvSpPr/>
            <p:nvPr/>
          </p:nvSpPr>
          <p:spPr>
            <a:xfrm>
              <a:off x="1276350" y="2133600"/>
              <a:ext cx="304800" cy="304800"/>
            </a:xfrm>
            <a:prstGeom prst="ellipse">
              <a:avLst/>
            </a:prstGeom>
            <a:solidFill>
              <a:srgbClr val="0052A6"/>
            </a:solidFill>
            <a:ln>
              <a:noFill/>
            </a:ln>
          </p:spPr>
        </p:sp>
        <p:sp>
          <p:nvSpPr>
            <p:cNvPr id="10" name="TextBox 10"/>
            <p:cNvSpPr txBox="1"/>
            <p:nvPr/>
          </p:nvSpPr>
          <p:spPr>
            <a:xfrm>
              <a:off x="1378825" y="22378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a:t>
              </a:r>
            </a:p>
          </p:txBody>
        </p:sp>
        <p:sp>
          <p:nvSpPr>
            <p:cNvPr id="11" name="Rectangle 11"/>
            <p:cNvSpPr/>
            <p:nvPr/>
          </p:nvSpPr>
          <p:spPr>
            <a:xfrm>
              <a:off x="762000" y="2705100"/>
              <a:ext cx="1619250" cy="1905000"/>
            </a:xfrm>
            <a:prstGeom prst="roundRect">
              <a:avLst>
                <a:gd name="adj" fmla="val 7059"/>
              </a:avLst>
            </a:prstGeom>
            <a:solidFill>
              <a:srgbClr val="F4F7FC"/>
            </a:solidFill>
            <a:ln>
              <a:noFill/>
            </a:ln>
          </p:spPr>
        </p:sp>
        <p:sp>
          <p:nvSpPr>
            <p:cNvPr id="12" name="Rectangle 12"/>
            <p:cNvSpPr/>
            <p:nvPr/>
          </p:nvSpPr>
          <p:spPr>
            <a:xfrm>
              <a:off x="762000" y="2705100"/>
              <a:ext cx="57150" cy="1905000"/>
            </a:xfrm>
            <a:prstGeom prst="roundRect">
              <a:avLst>
                <a:gd name="adj" fmla="val 50000"/>
              </a:avLst>
            </a:prstGeom>
            <a:solidFill>
              <a:srgbClr val="0052A6"/>
            </a:solidFill>
            <a:ln>
              <a:noFill/>
            </a:ln>
          </p:spPr>
        </p:sp>
        <p:sp>
          <p:nvSpPr>
            <p:cNvPr id="13" name="TextBox 13"/>
            <p:cNvSpPr txBox="1"/>
            <p:nvPr/>
          </p:nvSpPr>
          <p:spPr>
            <a:xfrm>
              <a:off x="940118" y="2885599"/>
              <a:ext cx="837367"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启动前 2-4 周</a:t>
              </a:r>
            </a:p>
          </p:txBody>
        </p:sp>
        <p:sp>
          <p:nvSpPr>
            <p:cNvPr id="14" name="TextBox 14"/>
            <p:cNvSpPr txBox="1"/>
            <p:nvPr/>
          </p:nvSpPr>
          <p:spPr>
            <a:xfrm>
              <a:off x="937260" y="3128010"/>
              <a:ext cx="1038606" cy="243840"/>
            </a:xfrm>
            <a:prstGeom prst="rect">
              <a:avLst/>
            </a:prstGeom>
            <a:noFill/>
            <a:ln>
              <a:noFill/>
            </a:ln>
          </p:spPr>
          <p:txBody>
            <a:bodyPr wrap="none" lIns="0" tIns="0" rIns="0" bIns="0" anchor="t" anchorCtr="0">
              <a:spAutoFit/>
            </a:bodyPr>
            <a:lstStyle/>
            <a:p>
              <a:pPr algn="l"/>
              <a:r>
                <a:rPr lang="zh-CN" sz="1200" b="1" dirty="0">
                  <a:solidFill>
                    <a:srgbClr val="0052A6"/>
                  </a:solidFill>
                  <a:latin typeface="Arial"/>
                  <a:ea typeface="Microsoft YaHei"/>
                  <a:cs typeface="Arial"/>
                </a:rPr>
                <a:t>选产品建基线</a:t>
              </a:r>
            </a:p>
          </p:txBody>
        </p:sp>
        <p:sp>
          <p:nvSpPr>
            <p:cNvPr id="15" name="Line 15"/>
            <p:cNvSpPr/>
            <p:nvPr/>
          </p:nvSpPr>
          <p:spPr>
            <a:xfrm>
              <a:off x="952500" y="3409950"/>
              <a:ext cx="1238250" cy="9525"/>
            </a:xfrm>
            <a:custGeom>
              <a:avLst/>
              <a:gdLst/>
              <a:ahLst/>
              <a:cxnLst/>
              <a:rect l="l" t="t" r="r" b="b"/>
              <a:pathLst>
                <a:path w="1238250" h="9525">
                  <a:moveTo>
                    <a:pt x="0" y="0"/>
                  </a:moveTo>
                  <a:lnTo>
                    <a:pt x="1238250" y="0"/>
                  </a:lnTo>
                </a:path>
              </a:pathLst>
            </a:custGeom>
            <a:noFill/>
            <a:ln w="9525">
              <a:solidFill>
                <a:srgbClr val="E3E9F2"/>
              </a:solidFill>
            </a:ln>
          </p:spPr>
        </p:sp>
        <p:sp>
          <p:nvSpPr>
            <p:cNvPr id="16" name="TextBox 16"/>
            <p:cNvSpPr txBox="1"/>
            <p:nvPr/>
          </p:nvSpPr>
          <p:spPr>
            <a:xfrm>
              <a:off x="941070" y="3560445"/>
              <a:ext cx="72494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选试点产品</a:t>
              </a:r>
            </a:p>
          </p:txBody>
        </p:sp>
        <p:sp>
          <p:nvSpPr>
            <p:cNvPr id="17" name="TextBox 17"/>
            <p:cNvSpPr txBox="1"/>
            <p:nvPr/>
          </p:nvSpPr>
          <p:spPr>
            <a:xfrm>
              <a:off x="941070" y="3769995"/>
              <a:ext cx="72494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建基线指标</a:t>
              </a:r>
            </a:p>
          </p:txBody>
        </p:sp>
        <p:sp>
          <p:nvSpPr>
            <p:cNvPr id="18" name="TextBox 18"/>
            <p:cNvSpPr txBox="1"/>
            <p:nvPr/>
          </p:nvSpPr>
          <p:spPr>
            <a:xfrm>
              <a:off x="941070" y="397954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定义风险边界</a:t>
              </a:r>
            </a:p>
          </p:txBody>
        </p:sp>
        <p:sp>
          <p:nvSpPr>
            <p:cNvPr id="19" name="TextBox 19"/>
            <p:cNvSpPr txBox="1"/>
            <p:nvPr/>
          </p:nvSpPr>
          <p:spPr>
            <a:xfrm>
              <a:off x="942022" y="4368641"/>
              <a:ext cx="163973"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M0</a:t>
              </a:r>
            </a:p>
          </p:txBody>
        </p:sp>
      </p:grpSp>
      <p:grpSp>
        <p:nvGrpSpPr>
          <p:cNvPr id="33" name="Group 33"/>
          <p:cNvGrpSpPr/>
          <p:nvPr/>
        </p:nvGrpSpPr>
        <p:grpSpPr>
          <a:xfrm>
            <a:off x="2381250" y="2133600"/>
            <a:ext cx="1619250" cy="2476500"/>
            <a:chOff x="2381250" y="2133600"/>
            <a:chExt cx="1619250" cy="2476500"/>
          </a:xfrm>
        </p:grpSpPr>
        <p:sp>
          <p:nvSpPr>
            <p:cNvPr id="21" name="Ellipse 21"/>
            <p:cNvSpPr/>
            <p:nvPr/>
          </p:nvSpPr>
          <p:spPr>
            <a:xfrm>
              <a:off x="2895600" y="2133600"/>
              <a:ext cx="304800" cy="304800"/>
            </a:xfrm>
            <a:prstGeom prst="ellipse">
              <a:avLst/>
            </a:prstGeom>
            <a:solidFill>
              <a:srgbClr val="0052A6"/>
            </a:solidFill>
            <a:ln>
              <a:noFill/>
            </a:ln>
          </p:spPr>
        </p:sp>
        <p:sp>
          <p:nvSpPr>
            <p:cNvPr id="22" name="TextBox 22"/>
            <p:cNvSpPr txBox="1"/>
            <p:nvPr/>
          </p:nvSpPr>
          <p:spPr>
            <a:xfrm>
              <a:off x="2998075" y="22378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1</a:t>
              </a:r>
            </a:p>
          </p:txBody>
        </p:sp>
        <p:sp>
          <p:nvSpPr>
            <p:cNvPr id="23" name="Rectangle 23"/>
            <p:cNvSpPr/>
            <p:nvPr/>
          </p:nvSpPr>
          <p:spPr>
            <a:xfrm>
              <a:off x="2381250" y="2705100"/>
              <a:ext cx="1619250" cy="1905000"/>
            </a:xfrm>
            <a:prstGeom prst="roundRect">
              <a:avLst>
                <a:gd name="adj" fmla="val 7059"/>
              </a:avLst>
            </a:prstGeom>
            <a:solidFill>
              <a:srgbClr val="F4F7FC"/>
            </a:solidFill>
            <a:ln>
              <a:noFill/>
            </a:ln>
          </p:spPr>
        </p:sp>
        <p:sp>
          <p:nvSpPr>
            <p:cNvPr id="24" name="Rectangle 24"/>
            <p:cNvSpPr/>
            <p:nvPr/>
          </p:nvSpPr>
          <p:spPr>
            <a:xfrm>
              <a:off x="2381250" y="2705100"/>
              <a:ext cx="57150" cy="1905000"/>
            </a:xfrm>
            <a:prstGeom prst="roundRect">
              <a:avLst>
                <a:gd name="adj" fmla="val 50000"/>
              </a:avLst>
            </a:prstGeom>
            <a:solidFill>
              <a:srgbClr val="0052A6"/>
            </a:solidFill>
            <a:ln>
              <a:noFill/>
            </a:ln>
          </p:spPr>
        </p:sp>
        <p:sp>
          <p:nvSpPr>
            <p:cNvPr id="25" name="TextBox 25"/>
            <p:cNvSpPr txBox="1"/>
            <p:nvPr/>
          </p:nvSpPr>
          <p:spPr>
            <a:xfrm>
              <a:off x="2559368" y="2885599"/>
              <a:ext cx="512326"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M1 - M2</a:t>
              </a:r>
            </a:p>
          </p:txBody>
        </p:sp>
        <p:sp>
          <p:nvSpPr>
            <p:cNvPr id="26" name="TextBox 26"/>
            <p:cNvSpPr txBox="1"/>
            <p:nvPr/>
          </p:nvSpPr>
          <p:spPr>
            <a:xfrm>
              <a:off x="2556510" y="3128010"/>
              <a:ext cx="1038606" cy="243840"/>
            </a:xfrm>
            <a:prstGeom prst="rect">
              <a:avLst/>
            </a:prstGeom>
            <a:noFill/>
            <a:ln>
              <a:noFill/>
            </a:ln>
          </p:spPr>
          <p:txBody>
            <a:bodyPr wrap="none" lIns="0" tIns="0" rIns="0" bIns="0" anchor="t" anchorCtr="0">
              <a:spAutoFit/>
            </a:bodyPr>
            <a:lstStyle/>
            <a:p>
              <a:pPr algn="l"/>
              <a:r>
                <a:rPr lang="zh-CN" sz="1200" b="1" dirty="0">
                  <a:solidFill>
                    <a:srgbClr val="0052A6"/>
                  </a:solidFill>
                  <a:latin typeface="Arial"/>
                  <a:ea typeface="Microsoft YaHei"/>
                  <a:cs typeface="Arial"/>
                </a:rPr>
                <a:t>工程底座试点</a:t>
              </a:r>
            </a:p>
          </p:txBody>
        </p:sp>
        <p:sp>
          <p:nvSpPr>
            <p:cNvPr id="27" name="Line 27"/>
            <p:cNvSpPr/>
            <p:nvPr/>
          </p:nvSpPr>
          <p:spPr>
            <a:xfrm>
              <a:off x="2571750" y="3409950"/>
              <a:ext cx="1238250" cy="9525"/>
            </a:xfrm>
            <a:custGeom>
              <a:avLst/>
              <a:gdLst/>
              <a:ahLst/>
              <a:cxnLst/>
              <a:rect l="l" t="t" r="r" b="b"/>
              <a:pathLst>
                <a:path w="1238250" h="9525">
                  <a:moveTo>
                    <a:pt x="0" y="0"/>
                  </a:moveTo>
                  <a:lnTo>
                    <a:pt x="1238250" y="0"/>
                  </a:lnTo>
                </a:path>
              </a:pathLst>
            </a:custGeom>
            <a:noFill/>
            <a:ln w="9525">
              <a:solidFill>
                <a:srgbClr val="E3E9F2"/>
              </a:solidFill>
            </a:ln>
          </p:spPr>
        </p:sp>
        <p:sp>
          <p:nvSpPr>
            <p:cNvPr id="28" name="TextBox 28"/>
            <p:cNvSpPr txBox="1"/>
            <p:nvPr/>
          </p:nvSpPr>
          <p:spPr>
            <a:xfrm>
              <a:off x="2560320" y="3560445"/>
              <a:ext cx="44891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CLI 化</a:t>
              </a:r>
            </a:p>
          </p:txBody>
        </p:sp>
        <p:sp>
          <p:nvSpPr>
            <p:cNvPr id="29" name="TextBox 29"/>
            <p:cNvSpPr txBox="1"/>
            <p:nvPr/>
          </p:nvSpPr>
          <p:spPr>
            <a:xfrm>
              <a:off x="2560320" y="3769995"/>
              <a:ext cx="72494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环境自动化</a:t>
              </a:r>
            </a:p>
          </p:txBody>
        </p:sp>
        <p:sp>
          <p:nvSpPr>
            <p:cNvPr id="30" name="TextBox 30"/>
            <p:cNvSpPr txBox="1"/>
            <p:nvPr/>
          </p:nvSpPr>
          <p:spPr>
            <a:xfrm>
              <a:off x="2560320" y="3979545"/>
              <a:ext cx="96497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自动化测试补强</a:t>
              </a:r>
            </a:p>
          </p:txBody>
        </p:sp>
        <p:sp>
          <p:nvSpPr>
            <p:cNvPr id="31" name="TextBox 31"/>
            <p:cNvSpPr txBox="1"/>
            <p:nvPr/>
          </p:nvSpPr>
          <p:spPr>
            <a:xfrm>
              <a:off x="2560320" y="4189095"/>
              <a:ext cx="72494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资产 Git 化</a:t>
              </a:r>
            </a:p>
          </p:txBody>
        </p:sp>
        <p:sp>
          <p:nvSpPr>
            <p:cNvPr id="32" name="TextBox 32"/>
            <p:cNvSpPr txBox="1"/>
            <p:nvPr/>
          </p:nvSpPr>
          <p:spPr>
            <a:xfrm>
              <a:off x="2561272" y="4368641"/>
              <a:ext cx="697540"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Harness 起步</a:t>
              </a:r>
            </a:p>
          </p:txBody>
        </p:sp>
      </p:grpSp>
      <p:grpSp>
        <p:nvGrpSpPr>
          <p:cNvPr id="45" name="Group 45"/>
          <p:cNvGrpSpPr/>
          <p:nvPr/>
        </p:nvGrpSpPr>
        <p:grpSpPr>
          <a:xfrm>
            <a:off x="4000500" y="2133600"/>
            <a:ext cx="1619250" cy="2476500"/>
            <a:chOff x="4000500" y="2133600"/>
            <a:chExt cx="1619250" cy="2476500"/>
          </a:xfrm>
        </p:grpSpPr>
        <p:sp>
          <p:nvSpPr>
            <p:cNvPr id="34" name="Ellipse 34"/>
            <p:cNvSpPr/>
            <p:nvPr/>
          </p:nvSpPr>
          <p:spPr>
            <a:xfrm>
              <a:off x="4514850" y="2133600"/>
              <a:ext cx="304800" cy="304800"/>
            </a:xfrm>
            <a:prstGeom prst="ellipse">
              <a:avLst/>
            </a:prstGeom>
            <a:solidFill>
              <a:srgbClr val="246BFE"/>
            </a:solidFill>
            <a:ln>
              <a:noFill/>
            </a:ln>
          </p:spPr>
        </p:sp>
        <p:sp>
          <p:nvSpPr>
            <p:cNvPr id="35" name="TextBox 35"/>
            <p:cNvSpPr txBox="1"/>
            <p:nvPr/>
          </p:nvSpPr>
          <p:spPr>
            <a:xfrm>
              <a:off x="4617325" y="22378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a:t>
              </a:r>
            </a:p>
          </p:txBody>
        </p:sp>
        <p:sp>
          <p:nvSpPr>
            <p:cNvPr id="36" name="Rectangle 36"/>
            <p:cNvSpPr/>
            <p:nvPr/>
          </p:nvSpPr>
          <p:spPr>
            <a:xfrm>
              <a:off x="4000500" y="2705100"/>
              <a:ext cx="1619250" cy="1905000"/>
            </a:xfrm>
            <a:prstGeom prst="roundRect">
              <a:avLst>
                <a:gd name="adj" fmla="val 7059"/>
              </a:avLst>
            </a:prstGeom>
            <a:solidFill>
              <a:srgbClr val="F4F7FC"/>
            </a:solidFill>
            <a:ln>
              <a:noFill/>
            </a:ln>
          </p:spPr>
        </p:sp>
        <p:sp>
          <p:nvSpPr>
            <p:cNvPr id="37" name="Rectangle 37"/>
            <p:cNvSpPr/>
            <p:nvPr/>
          </p:nvSpPr>
          <p:spPr>
            <a:xfrm>
              <a:off x="4000500" y="2705100"/>
              <a:ext cx="57150" cy="1905000"/>
            </a:xfrm>
            <a:prstGeom prst="roundRect">
              <a:avLst>
                <a:gd name="adj" fmla="val 50000"/>
              </a:avLst>
            </a:prstGeom>
            <a:solidFill>
              <a:srgbClr val="246BFE"/>
            </a:solidFill>
            <a:ln>
              <a:noFill/>
            </a:ln>
          </p:spPr>
        </p:sp>
        <p:sp>
          <p:nvSpPr>
            <p:cNvPr id="38" name="TextBox 38"/>
            <p:cNvSpPr txBox="1"/>
            <p:nvPr/>
          </p:nvSpPr>
          <p:spPr>
            <a:xfrm>
              <a:off x="4178618" y="2885599"/>
              <a:ext cx="512326"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M2 - M4</a:t>
              </a:r>
            </a:p>
          </p:txBody>
        </p:sp>
        <p:sp>
          <p:nvSpPr>
            <p:cNvPr id="39" name="TextBox 39"/>
            <p:cNvSpPr txBox="1"/>
            <p:nvPr/>
          </p:nvSpPr>
          <p:spPr>
            <a:xfrm>
              <a:off x="4175760" y="3128010"/>
              <a:ext cx="946194" cy="243840"/>
            </a:xfrm>
            <a:prstGeom prst="rect">
              <a:avLst/>
            </a:prstGeom>
            <a:noFill/>
            <a:ln>
              <a:noFill/>
            </a:ln>
          </p:spPr>
          <p:txBody>
            <a:bodyPr wrap="none" lIns="0" tIns="0" rIns="0" bIns="0" anchor="t" anchorCtr="0">
              <a:spAutoFit/>
            </a:bodyPr>
            <a:lstStyle/>
            <a:p>
              <a:pPr algn="l"/>
              <a:r>
                <a:rPr lang="zh-CN" sz="1200" b="1" dirty="0">
                  <a:solidFill>
                    <a:srgbClr val="246BFE"/>
                  </a:solidFill>
                  <a:latin typeface="Arial"/>
                  <a:ea typeface="Microsoft YaHei"/>
                  <a:cs typeface="Arial"/>
                </a:rPr>
                <a:t>产品 AI 小队</a:t>
              </a:r>
            </a:p>
          </p:txBody>
        </p:sp>
        <p:sp>
          <p:nvSpPr>
            <p:cNvPr id="40" name="Line 40"/>
            <p:cNvSpPr/>
            <p:nvPr/>
          </p:nvSpPr>
          <p:spPr>
            <a:xfrm>
              <a:off x="4191000" y="3409950"/>
              <a:ext cx="1238250" cy="9525"/>
            </a:xfrm>
            <a:custGeom>
              <a:avLst/>
              <a:gdLst/>
              <a:ahLst/>
              <a:cxnLst/>
              <a:rect l="l" t="t" r="r" b="b"/>
              <a:pathLst>
                <a:path w="1238250" h="9525">
                  <a:moveTo>
                    <a:pt x="0" y="0"/>
                  </a:moveTo>
                  <a:lnTo>
                    <a:pt x="1238250" y="0"/>
                  </a:lnTo>
                </a:path>
              </a:pathLst>
            </a:custGeom>
            <a:noFill/>
            <a:ln w="9525">
              <a:solidFill>
                <a:srgbClr val="E3E9F2"/>
              </a:solidFill>
            </a:ln>
          </p:spPr>
        </p:sp>
        <p:sp>
          <p:nvSpPr>
            <p:cNvPr id="41" name="TextBox 41"/>
            <p:cNvSpPr txBox="1"/>
            <p:nvPr/>
          </p:nvSpPr>
          <p:spPr>
            <a:xfrm>
              <a:off x="4179570" y="3560445"/>
              <a:ext cx="742950"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AI 快速原型</a:t>
              </a:r>
            </a:p>
          </p:txBody>
        </p:sp>
        <p:sp>
          <p:nvSpPr>
            <p:cNvPr id="42" name="TextBox 42"/>
            <p:cNvSpPr txBox="1"/>
            <p:nvPr/>
          </p:nvSpPr>
          <p:spPr>
            <a:xfrm>
              <a:off x="4179570" y="376999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契约驱动交付</a:t>
              </a:r>
            </a:p>
          </p:txBody>
        </p:sp>
        <p:sp>
          <p:nvSpPr>
            <p:cNvPr id="43" name="TextBox 43"/>
            <p:cNvSpPr txBox="1"/>
            <p:nvPr/>
          </p:nvSpPr>
          <p:spPr>
            <a:xfrm>
              <a:off x="4179570" y="397954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产品全栈协同</a:t>
              </a:r>
            </a:p>
          </p:txBody>
        </p:sp>
        <p:sp>
          <p:nvSpPr>
            <p:cNvPr id="44" name="TextBox 44"/>
            <p:cNvSpPr txBox="1"/>
            <p:nvPr/>
          </p:nvSpPr>
          <p:spPr>
            <a:xfrm>
              <a:off x="4180522" y="4368641"/>
              <a:ext cx="741545"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个人→小队提效</a:t>
              </a:r>
            </a:p>
          </p:txBody>
        </p:sp>
      </p:grpSp>
      <p:grpSp>
        <p:nvGrpSpPr>
          <p:cNvPr id="57" name="Group 57"/>
          <p:cNvGrpSpPr/>
          <p:nvPr/>
        </p:nvGrpSpPr>
        <p:grpSpPr>
          <a:xfrm>
            <a:off x="5619750" y="2133600"/>
            <a:ext cx="1619250" cy="2476500"/>
            <a:chOff x="5619750" y="2133600"/>
            <a:chExt cx="1619250" cy="2476500"/>
          </a:xfrm>
        </p:grpSpPr>
        <p:sp>
          <p:nvSpPr>
            <p:cNvPr id="46" name="Ellipse 46"/>
            <p:cNvSpPr/>
            <p:nvPr/>
          </p:nvSpPr>
          <p:spPr>
            <a:xfrm>
              <a:off x="6134100" y="2133600"/>
              <a:ext cx="304800" cy="304800"/>
            </a:xfrm>
            <a:prstGeom prst="ellipse">
              <a:avLst/>
            </a:prstGeom>
            <a:solidFill>
              <a:srgbClr val="246BFE"/>
            </a:solidFill>
            <a:ln>
              <a:noFill/>
            </a:ln>
          </p:spPr>
        </p:sp>
        <p:sp>
          <p:nvSpPr>
            <p:cNvPr id="47" name="TextBox 47"/>
            <p:cNvSpPr txBox="1"/>
            <p:nvPr/>
          </p:nvSpPr>
          <p:spPr>
            <a:xfrm>
              <a:off x="6236575" y="22378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3</a:t>
              </a:r>
            </a:p>
          </p:txBody>
        </p:sp>
        <p:sp>
          <p:nvSpPr>
            <p:cNvPr id="48" name="Rectangle 48"/>
            <p:cNvSpPr/>
            <p:nvPr/>
          </p:nvSpPr>
          <p:spPr>
            <a:xfrm>
              <a:off x="5619750" y="2705100"/>
              <a:ext cx="1619250" cy="1905000"/>
            </a:xfrm>
            <a:prstGeom prst="roundRect">
              <a:avLst>
                <a:gd name="adj" fmla="val 7059"/>
              </a:avLst>
            </a:prstGeom>
            <a:solidFill>
              <a:srgbClr val="F4F7FC"/>
            </a:solidFill>
            <a:ln>
              <a:noFill/>
            </a:ln>
          </p:spPr>
        </p:sp>
        <p:sp>
          <p:nvSpPr>
            <p:cNvPr id="49" name="Rectangle 49"/>
            <p:cNvSpPr/>
            <p:nvPr/>
          </p:nvSpPr>
          <p:spPr>
            <a:xfrm>
              <a:off x="5619750" y="2705100"/>
              <a:ext cx="57150" cy="1905000"/>
            </a:xfrm>
            <a:prstGeom prst="roundRect">
              <a:avLst>
                <a:gd name="adj" fmla="val 50000"/>
              </a:avLst>
            </a:prstGeom>
            <a:solidFill>
              <a:srgbClr val="246BFE"/>
            </a:solidFill>
            <a:ln>
              <a:noFill/>
            </a:ln>
          </p:spPr>
        </p:sp>
        <p:sp>
          <p:nvSpPr>
            <p:cNvPr id="50" name="TextBox 50"/>
            <p:cNvSpPr txBox="1"/>
            <p:nvPr/>
          </p:nvSpPr>
          <p:spPr>
            <a:xfrm>
              <a:off x="5797868" y="2885599"/>
              <a:ext cx="512326"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M3 - M6</a:t>
              </a:r>
            </a:p>
          </p:txBody>
        </p:sp>
        <p:sp>
          <p:nvSpPr>
            <p:cNvPr id="51" name="TextBox 51"/>
            <p:cNvSpPr txBox="1"/>
            <p:nvPr/>
          </p:nvSpPr>
          <p:spPr>
            <a:xfrm>
              <a:off x="5795010" y="3128010"/>
              <a:ext cx="1206627" cy="243840"/>
            </a:xfrm>
            <a:prstGeom prst="rect">
              <a:avLst/>
            </a:prstGeom>
            <a:noFill/>
            <a:ln>
              <a:noFill/>
            </a:ln>
          </p:spPr>
          <p:txBody>
            <a:bodyPr wrap="none" lIns="0" tIns="0" rIns="0" bIns="0" anchor="t" anchorCtr="0">
              <a:spAutoFit/>
            </a:bodyPr>
            <a:lstStyle/>
            <a:p>
              <a:pPr algn="l"/>
              <a:r>
                <a:rPr lang="zh-CN" sz="1200" b="1" dirty="0">
                  <a:solidFill>
                    <a:srgbClr val="246BFE"/>
                  </a:solidFill>
                  <a:latin typeface="Arial"/>
                  <a:ea typeface="Microsoft YaHei"/>
                  <a:cs typeface="Arial"/>
                </a:rPr>
                <a:t>数据与知识试点</a:t>
              </a:r>
            </a:p>
          </p:txBody>
        </p:sp>
        <p:sp>
          <p:nvSpPr>
            <p:cNvPr id="52" name="Line 52"/>
            <p:cNvSpPr/>
            <p:nvPr/>
          </p:nvSpPr>
          <p:spPr>
            <a:xfrm>
              <a:off x="5810250" y="3409950"/>
              <a:ext cx="1238250" cy="9525"/>
            </a:xfrm>
            <a:custGeom>
              <a:avLst/>
              <a:gdLst/>
              <a:ahLst/>
              <a:cxnLst/>
              <a:rect l="l" t="t" r="r" b="b"/>
              <a:pathLst>
                <a:path w="1238250" h="9525">
                  <a:moveTo>
                    <a:pt x="0" y="0"/>
                  </a:moveTo>
                  <a:lnTo>
                    <a:pt x="1238250" y="0"/>
                  </a:lnTo>
                </a:path>
              </a:pathLst>
            </a:custGeom>
            <a:noFill/>
            <a:ln w="9525">
              <a:solidFill>
                <a:srgbClr val="E3E9F2"/>
              </a:solidFill>
            </a:ln>
          </p:spPr>
        </p:sp>
        <p:sp>
          <p:nvSpPr>
            <p:cNvPr id="53" name="TextBox 53"/>
            <p:cNvSpPr txBox="1"/>
            <p:nvPr/>
          </p:nvSpPr>
          <p:spPr>
            <a:xfrm>
              <a:off x="5798820" y="356044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知识工程纳入</a:t>
              </a:r>
            </a:p>
          </p:txBody>
        </p:sp>
        <p:sp>
          <p:nvSpPr>
            <p:cNvPr id="54" name="TextBox 54"/>
            <p:cNvSpPr txBox="1"/>
            <p:nvPr/>
          </p:nvSpPr>
          <p:spPr>
            <a:xfrm>
              <a:off x="5798820" y="376999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本体网络雏形</a:t>
              </a:r>
            </a:p>
          </p:txBody>
        </p:sp>
        <p:sp>
          <p:nvSpPr>
            <p:cNvPr id="55" name="TextBox 55"/>
            <p:cNvSpPr txBox="1"/>
            <p:nvPr/>
          </p:nvSpPr>
          <p:spPr>
            <a:xfrm>
              <a:off x="5798820" y="397954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数据资产沉淀</a:t>
              </a:r>
            </a:p>
          </p:txBody>
        </p:sp>
        <p:sp>
          <p:nvSpPr>
            <p:cNvPr id="56" name="TextBox 56"/>
            <p:cNvSpPr txBox="1"/>
            <p:nvPr/>
          </p:nvSpPr>
          <p:spPr>
            <a:xfrm>
              <a:off x="5799772" y="4368641"/>
              <a:ext cx="615029"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S3 底座起步</a:t>
              </a:r>
            </a:p>
          </p:txBody>
        </p:sp>
      </p:grpSp>
      <p:grpSp>
        <p:nvGrpSpPr>
          <p:cNvPr id="69" name="Group 69"/>
          <p:cNvGrpSpPr/>
          <p:nvPr/>
        </p:nvGrpSpPr>
        <p:grpSpPr>
          <a:xfrm>
            <a:off x="7239000" y="2133600"/>
            <a:ext cx="1619250" cy="2476500"/>
            <a:chOff x="7239000" y="2133600"/>
            <a:chExt cx="1619250" cy="2476500"/>
          </a:xfrm>
        </p:grpSpPr>
        <p:sp>
          <p:nvSpPr>
            <p:cNvPr id="58" name="Ellipse 58"/>
            <p:cNvSpPr/>
            <p:nvPr/>
          </p:nvSpPr>
          <p:spPr>
            <a:xfrm>
              <a:off x="7753350" y="2133600"/>
              <a:ext cx="304800" cy="304800"/>
            </a:xfrm>
            <a:prstGeom prst="ellipse">
              <a:avLst/>
            </a:prstGeom>
            <a:solidFill>
              <a:srgbClr val="518FEC"/>
            </a:solidFill>
            <a:ln>
              <a:noFill/>
            </a:ln>
          </p:spPr>
        </p:sp>
        <p:sp>
          <p:nvSpPr>
            <p:cNvPr id="59" name="TextBox 59"/>
            <p:cNvSpPr txBox="1"/>
            <p:nvPr/>
          </p:nvSpPr>
          <p:spPr>
            <a:xfrm>
              <a:off x="7855825" y="22378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4</a:t>
              </a:r>
            </a:p>
          </p:txBody>
        </p:sp>
        <p:sp>
          <p:nvSpPr>
            <p:cNvPr id="60" name="Rectangle 60"/>
            <p:cNvSpPr/>
            <p:nvPr/>
          </p:nvSpPr>
          <p:spPr>
            <a:xfrm>
              <a:off x="7239000" y="2705100"/>
              <a:ext cx="1619250" cy="1905000"/>
            </a:xfrm>
            <a:prstGeom prst="roundRect">
              <a:avLst>
                <a:gd name="adj" fmla="val 7059"/>
              </a:avLst>
            </a:prstGeom>
            <a:solidFill>
              <a:srgbClr val="F4F7FC"/>
            </a:solidFill>
            <a:ln>
              <a:noFill/>
            </a:ln>
          </p:spPr>
        </p:sp>
        <p:sp>
          <p:nvSpPr>
            <p:cNvPr id="61" name="Rectangle 61"/>
            <p:cNvSpPr/>
            <p:nvPr/>
          </p:nvSpPr>
          <p:spPr>
            <a:xfrm>
              <a:off x="7239000" y="2705100"/>
              <a:ext cx="57150" cy="1905000"/>
            </a:xfrm>
            <a:prstGeom prst="roundRect">
              <a:avLst>
                <a:gd name="adj" fmla="val 50000"/>
              </a:avLst>
            </a:prstGeom>
            <a:solidFill>
              <a:srgbClr val="518FEC"/>
            </a:solidFill>
            <a:ln>
              <a:noFill/>
            </a:ln>
          </p:spPr>
        </p:sp>
        <p:sp>
          <p:nvSpPr>
            <p:cNvPr id="62" name="TextBox 62"/>
            <p:cNvSpPr txBox="1"/>
            <p:nvPr/>
          </p:nvSpPr>
          <p:spPr>
            <a:xfrm>
              <a:off x="7417118" y="2885599"/>
              <a:ext cx="512326" cy="198120"/>
            </a:xfrm>
            <a:prstGeom prst="rect">
              <a:avLst/>
            </a:prstGeom>
            <a:noFill/>
            <a:ln>
              <a:noFill/>
            </a:ln>
          </p:spPr>
          <p:txBody>
            <a:bodyPr wrap="none" lIns="0" tIns="0" rIns="0" bIns="0" anchor="t" anchorCtr="0">
              <a:spAutoFit/>
            </a:bodyPr>
            <a:lstStyle/>
            <a:p>
              <a:pPr algn="l"/>
              <a:r>
                <a:rPr lang="zh-CN" sz="975" dirty="0">
                  <a:solidFill>
                    <a:srgbClr val="6B7785"/>
                  </a:solidFill>
                  <a:latin typeface="Arial"/>
                  <a:ea typeface="Microsoft YaHei"/>
                  <a:cs typeface="Arial"/>
                </a:rPr>
                <a:t>M6 - M9</a:t>
              </a:r>
            </a:p>
          </p:txBody>
        </p:sp>
        <p:sp>
          <p:nvSpPr>
            <p:cNvPr id="63" name="TextBox 63"/>
            <p:cNvSpPr txBox="1"/>
            <p:nvPr/>
          </p:nvSpPr>
          <p:spPr>
            <a:xfrm>
              <a:off x="7414260" y="3128010"/>
              <a:ext cx="1030205" cy="243840"/>
            </a:xfrm>
            <a:prstGeom prst="rect">
              <a:avLst/>
            </a:prstGeom>
            <a:noFill/>
            <a:ln>
              <a:noFill/>
            </a:ln>
          </p:spPr>
          <p:txBody>
            <a:bodyPr wrap="none" lIns="0" tIns="0" rIns="0" bIns="0" anchor="t" anchorCtr="0">
              <a:spAutoFit/>
            </a:bodyPr>
            <a:lstStyle/>
            <a:p>
              <a:pPr algn="l"/>
              <a:r>
                <a:rPr lang="zh-CN" sz="1200" b="1" dirty="0">
                  <a:solidFill>
                    <a:srgbClr val="518FEC"/>
                  </a:solidFill>
                  <a:latin typeface="Arial"/>
                  <a:ea typeface="Microsoft YaHei"/>
                  <a:cs typeface="Arial"/>
                </a:rPr>
                <a:t>FDE 小队试点</a:t>
              </a:r>
            </a:p>
          </p:txBody>
        </p:sp>
        <p:sp>
          <p:nvSpPr>
            <p:cNvPr id="64" name="Line 64"/>
            <p:cNvSpPr/>
            <p:nvPr/>
          </p:nvSpPr>
          <p:spPr>
            <a:xfrm>
              <a:off x="7429500" y="3409950"/>
              <a:ext cx="1238250" cy="9525"/>
            </a:xfrm>
            <a:custGeom>
              <a:avLst/>
              <a:gdLst/>
              <a:ahLst/>
              <a:cxnLst/>
              <a:rect l="l" t="t" r="r" b="b"/>
              <a:pathLst>
                <a:path w="1238250" h="9525">
                  <a:moveTo>
                    <a:pt x="0" y="0"/>
                  </a:moveTo>
                  <a:lnTo>
                    <a:pt x="1238250" y="0"/>
                  </a:lnTo>
                </a:path>
              </a:pathLst>
            </a:custGeom>
            <a:noFill/>
            <a:ln w="9525">
              <a:solidFill>
                <a:srgbClr val="E3E9F2"/>
              </a:solidFill>
            </a:ln>
          </p:spPr>
        </p:sp>
        <p:sp>
          <p:nvSpPr>
            <p:cNvPr id="65" name="TextBox 65"/>
            <p:cNvSpPr txBox="1"/>
            <p:nvPr/>
          </p:nvSpPr>
          <p:spPr>
            <a:xfrm>
              <a:off x="7418070" y="3560445"/>
              <a:ext cx="1217009"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应用/数据/知识融合</a:t>
              </a:r>
            </a:p>
          </p:txBody>
        </p:sp>
        <p:sp>
          <p:nvSpPr>
            <p:cNvPr id="66" name="TextBox 66"/>
            <p:cNvSpPr txBox="1"/>
            <p:nvPr/>
          </p:nvSpPr>
          <p:spPr>
            <a:xfrm>
              <a:off x="7418070" y="3769995"/>
              <a:ext cx="844963"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人智协同平台</a:t>
              </a:r>
            </a:p>
          </p:txBody>
        </p:sp>
        <p:sp>
          <p:nvSpPr>
            <p:cNvPr id="67" name="TextBox 67"/>
            <p:cNvSpPr txBox="1"/>
            <p:nvPr/>
          </p:nvSpPr>
          <p:spPr>
            <a:xfrm>
              <a:off x="7418070" y="3979545"/>
              <a:ext cx="964978" cy="182880"/>
            </a:xfrm>
            <a:prstGeom prst="rect">
              <a:avLst/>
            </a:prstGeom>
            <a:noFill/>
            <a:ln>
              <a:noFill/>
            </a:ln>
          </p:spPr>
          <p:txBody>
            <a:bodyPr wrap="none" lIns="0" tIns="0" rIns="0" bIns="0" anchor="t" anchorCtr="0">
              <a:spAutoFit/>
            </a:bodyPr>
            <a:lstStyle/>
            <a:p>
              <a:pPr algn="l"/>
              <a:r>
                <a:rPr lang="zh-CN" sz="900" dirty="0">
                  <a:solidFill>
                    <a:srgbClr val="5E6A78"/>
                  </a:solidFill>
                  <a:latin typeface="Arial"/>
                  <a:ea typeface="Microsoft YaHei"/>
                  <a:cs typeface="Arial"/>
                </a:rPr>
                <a:t>· 云端智能体接入</a:t>
              </a:r>
            </a:p>
          </p:txBody>
        </p:sp>
        <p:sp>
          <p:nvSpPr>
            <p:cNvPr id="68" name="TextBox 68"/>
            <p:cNvSpPr txBox="1"/>
            <p:nvPr/>
          </p:nvSpPr>
          <p:spPr>
            <a:xfrm>
              <a:off x="7419022" y="4368641"/>
              <a:ext cx="571024" cy="167640"/>
            </a:xfrm>
            <a:prstGeom prst="rect">
              <a:avLst/>
            </a:prstGeom>
            <a:noFill/>
            <a:ln>
              <a:noFill/>
            </a:ln>
          </p:spPr>
          <p:txBody>
            <a:bodyPr wrap="none" lIns="0" tIns="0" rIns="0" bIns="0" anchor="t" anchorCtr="0">
              <a:spAutoFit/>
            </a:bodyPr>
            <a:lstStyle/>
            <a:p>
              <a:pPr algn="l"/>
              <a:r>
                <a:rPr lang="zh-CN" sz="825" dirty="0">
                  <a:solidFill>
                    <a:srgbClr val="6B7785"/>
                  </a:solidFill>
                  <a:latin typeface="Arial"/>
                  <a:ea typeface="Microsoft YaHei"/>
                  <a:cs typeface="Arial"/>
                </a:rPr>
                <a:t>领域级协同</a:t>
              </a:r>
            </a:p>
          </p:txBody>
        </p:sp>
      </p:grpSp>
      <p:grpSp>
        <p:nvGrpSpPr>
          <p:cNvPr id="81" name="Group 81"/>
          <p:cNvGrpSpPr/>
          <p:nvPr/>
        </p:nvGrpSpPr>
        <p:grpSpPr>
          <a:xfrm>
            <a:off x="8858250" y="2133600"/>
            <a:ext cx="2571750" cy="2476500"/>
            <a:chOff x="8858250" y="2133600"/>
            <a:chExt cx="2571750" cy="2476500"/>
          </a:xfrm>
        </p:grpSpPr>
        <p:sp>
          <p:nvSpPr>
            <p:cNvPr id="70" name="Ellipse 70"/>
            <p:cNvSpPr/>
            <p:nvPr/>
          </p:nvSpPr>
          <p:spPr>
            <a:xfrm>
              <a:off x="9372600" y="2133600"/>
              <a:ext cx="304800" cy="304800"/>
            </a:xfrm>
            <a:prstGeom prst="ellipse">
              <a:avLst/>
            </a:prstGeom>
            <a:solidFill>
              <a:srgbClr val="518FEC"/>
            </a:solidFill>
            <a:ln>
              <a:noFill/>
            </a:ln>
          </p:spPr>
        </p:sp>
        <p:sp>
          <p:nvSpPr>
            <p:cNvPr id="71" name="TextBox 71"/>
            <p:cNvSpPr txBox="1"/>
            <p:nvPr/>
          </p:nvSpPr>
          <p:spPr>
            <a:xfrm>
              <a:off x="9475075" y="223789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5</a:t>
              </a:r>
            </a:p>
          </p:txBody>
        </p:sp>
        <p:sp>
          <p:nvSpPr>
            <p:cNvPr id="72" name="Rectangle 72"/>
            <p:cNvSpPr/>
            <p:nvPr/>
          </p:nvSpPr>
          <p:spPr>
            <a:xfrm>
              <a:off x="8858250" y="2705100"/>
              <a:ext cx="2571750" cy="1905000"/>
            </a:xfrm>
            <a:prstGeom prst="roundRect">
              <a:avLst>
                <a:gd name="adj" fmla="val 6000"/>
              </a:avLst>
            </a:prstGeom>
            <a:solidFill>
              <a:srgbClr val="0052A6"/>
            </a:solidFill>
            <a:ln>
              <a:noFill/>
            </a:ln>
          </p:spPr>
        </p:sp>
        <p:sp>
          <p:nvSpPr>
            <p:cNvPr id="73" name="Rectangle 73"/>
            <p:cNvSpPr/>
            <p:nvPr/>
          </p:nvSpPr>
          <p:spPr>
            <a:xfrm>
              <a:off x="8858250" y="2705100"/>
              <a:ext cx="57150" cy="1905000"/>
            </a:xfrm>
            <a:prstGeom prst="roundRect">
              <a:avLst>
                <a:gd name="adj" fmla="val 50000"/>
              </a:avLst>
            </a:prstGeom>
            <a:solidFill>
              <a:srgbClr val="518FEC"/>
            </a:solidFill>
            <a:ln>
              <a:noFill/>
            </a:ln>
          </p:spPr>
        </p:sp>
        <p:sp>
          <p:nvSpPr>
            <p:cNvPr id="74" name="TextBox 74"/>
            <p:cNvSpPr txBox="1"/>
            <p:nvPr/>
          </p:nvSpPr>
          <p:spPr>
            <a:xfrm>
              <a:off x="9036368" y="2885599"/>
              <a:ext cx="583835" cy="198120"/>
            </a:xfrm>
            <a:prstGeom prst="rect">
              <a:avLst/>
            </a:prstGeom>
            <a:noFill/>
            <a:ln>
              <a:noFill/>
            </a:ln>
          </p:spPr>
          <p:txBody>
            <a:bodyPr wrap="none" lIns="0" tIns="0" rIns="0" bIns="0" anchor="t" anchorCtr="0">
              <a:spAutoFit/>
            </a:bodyPr>
            <a:lstStyle/>
            <a:p>
              <a:pPr algn="l"/>
              <a:r>
                <a:rPr lang="zh-CN" sz="975" dirty="0">
                  <a:solidFill>
                    <a:srgbClr val="DCE6FB"/>
                  </a:solidFill>
                  <a:latin typeface="Arial"/>
                  <a:ea typeface="Microsoft YaHei"/>
                  <a:cs typeface="Arial"/>
                </a:rPr>
                <a:t>M9 - M18</a:t>
              </a:r>
            </a:p>
          </p:txBody>
        </p:sp>
        <p:sp>
          <p:nvSpPr>
            <p:cNvPr id="75" name="TextBox 75"/>
            <p:cNvSpPr txBox="1"/>
            <p:nvPr/>
          </p:nvSpPr>
          <p:spPr>
            <a:xfrm>
              <a:off x="9033510" y="3128010"/>
              <a:ext cx="103860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组织架构转型</a:t>
              </a:r>
            </a:p>
          </p:txBody>
        </p:sp>
        <p:sp>
          <p:nvSpPr>
            <p:cNvPr id="76" name="Line 76"/>
            <p:cNvSpPr/>
            <p:nvPr/>
          </p:nvSpPr>
          <p:spPr>
            <a:xfrm>
              <a:off x="9048750" y="3409950"/>
              <a:ext cx="2190750" cy="9525"/>
            </a:xfrm>
            <a:custGeom>
              <a:avLst/>
              <a:gdLst/>
              <a:ahLst/>
              <a:cxnLst/>
              <a:rect l="l" t="t" r="r" b="b"/>
              <a:pathLst>
                <a:path w="2190750" h="9525">
                  <a:moveTo>
                    <a:pt x="0" y="0"/>
                  </a:moveTo>
                  <a:lnTo>
                    <a:pt x="2190750" y="0"/>
                  </a:lnTo>
                </a:path>
              </a:pathLst>
            </a:custGeom>
            <a:noFill/>
            <a:ln w="9525">
              <a:solidFill>
                <a:srgbClr val="246BFE">
                  <a:alpha val="50000"/>
                </a:srgbClr>
              </a:solidFill>
            </a:ln>
          </p:spPr>
        </p:sp>
        <p:sp>
          <p:nvSpPr>
            <p:cNvPr id="77" name="TextBox 77"/>
            <p:cNvSpPr txBox="1"/>
            <p:nvPr/>
          </p:nvSpPr>
          <p:spPr>
            <a:xfrm>
              <a:off x="9037320" y="3560445"/>
              <a:ext cx="838962" cy="182880"/>
            </a:xfrm>
            <a:prstGeom prst="rect">
              <a:avLst/>
            </a:prstGeom>
            <a:noFill/>
            <a:ln>
              <a:noFill/>
            </a:ln>
          </p:spPr>
          <p:txBody>
            <a:bodyPr wrap="none" lIns="0" tIns="0" rIns="0" bIns="0" anchor="t" anchorCtr="0">
              <a:spAutoFit/>
            </a:bodyPr>
            <a:lstStyle/>
            <a:p>
              <a:pPr algn="l"/>
              <a:r>
                <a:rPr lang="zh-CN" sz="900" dirty="0">
                  <a:solidFill>
                    <a:srgbClr val="DCE6FB"/>
                  </a:solidFill>
                  <a:latin typeface="Arial"/>
                  <a:ea typeface="Microsoft YaHei"/>
                  <a:cs typeface="Arial"/>
                </a:rPr>
                <a:t>· FDE 领域团队</a:t>
              </a:r>
            </a:p>
          </p:txBody>
        </p:sp>
        <p:sp>
          <p:nvSpPr>
            <p:cNvPr id="78" name="TextBox 78"/>
            <p:cNvSpPr txBox="1"/>
            <p:nvPr/>
          </p:nvSpPr>
          <p:spPr>
            <a:xfrm>
              <a:off x="9037320" y="3769995"/>
              <a:ext cx="844963" cy="182880"/>
            </a:xfrm>
            <a:prstGeom prst="rect">
              <a:avLst/>
            </a:prstGeom>
            <a:noFill/>
            <a:ln>
              <a:noFill/>
            </a:ln>
          </p:spPr>
          <p:txBody>
            <a:bodyPr wrap="none" lIns="0" tIns="0" rIns="0" bIns="0" anchor="t" anchorCtr="0">
              <a:spAutoFit/>
            </a:bodyPr>
            <a:lstStyle/>
            <a:p>
              <a:pPr algn="l"/>
              <a:r>
                <a:rPr lang="zh-CN" sz="900" dirty="0">
                  <a:solidFill>
                    <a:srgbClr val="DCE6FB"/>
                  </a:solidFill>
                  <a:latin typeface="Arial"/>
                  <a:ea typeface="Microsoft YaHei"/>
                  <a:cs typeface="Arial"/>
                </a:rPr>
                <a:t>· 三层组织成型</a:t>
              </a:r>
            </a:p>
          </p:txBody>
        </p:sp>
        <p:sp>
          <p:nvSpPr>
            <p:cNvPr id="79" name="TextBox 79"/>
            <p:cNvSpPr txBox="1"/>
            <p:nvPr/>
          </p:nvSpPr>
          <p:spPr>
            <a:xfrm>
              <a:off x="9037320" y="3979545"/>
              <a:ext cx="988981" cy="182880"/>
            </a:xfrm>
            <a:prstGeom prst="rect">
              <a:avLst/>
            </a:prstGeom>
            <a:noFill/>
            <a:ln>
              <a:noFill/>
            </a:ln>
          </p:spPr>
          <p:txBody>
            <a:bodyPr wrap="none" lIns="0" tIns="0" rIns="0" bIns="0" anchor="t" anchorCtr="0">
              <a:spAutoFit/>
            </a:bodyPr>
            <a:lstStyle/>
            <a:p>
              <a:pPr algn="l"/>
              <a:r>
                <a:rPr lang="zh-CN" sz="900" dirty="0">
                  <a:solidFill>
                    <a:srgbClr val="DCE6FB"/>
                  </a:solidFill>
                  <a:latin typeface="Arial"/>
                  <a:ea typeface="Microsoft YaHei"/>
                  <a:cs typeface="Arial"/>
                </a:rPr>
                <a:t>· 治理 ROI 制度化</a:t>
              </a:r>
            </a:p>
          </p:txBody>
        </p:sp>
        <p:sp>
          <p:nvSpPr>
            <p:cNvPr id="80" name="TextBox 80"/>
            <p:cNvSpPr txBox="1"/>
            <p:nvPr/>
          </p:nvSpPr>
          <p:spPr>
            <a:xfrm>
              <a:off x="9038272" y="4368641"/>
              <a:ext cx="571024" cy="167640"/>
            </a:xfrm>
            <a:prstGeom prst="rect">
              <a:avLst/>
            </a:prstGeom>
            <a:noFill/>
            <a:ln>
              <a:noFill/>
            </a:ln>
          </p:spPr>
          <p:txBody>
            <a:bodyPr wrap="none" lIns="0" tIns="0" rIns="0" bIns="0" anchor="t" anchorCtr="0">
              <a:spAutoFit/>
            </a:bodyPr>
            <a:lstStyle/>
            <a:p>
              <a:pPr algn="l"/>
              <a:r>
                <a:rPr lang="zh-CN" sz="825" dirty="0">
                  <a:solidFill>
                    <a:srgbClr val="B8C7E0"/>
                  </a:solidFill>
                  <a:latin typeface="Arial"/>
                  <a:ea typeface="Microsoft YaHei"/>
                  <a:cs typeface="Arial"/>
                </a:rPr>
                <a:t>规模化复用</a:t>
              </a:r>
            </a:p>
          </p:txBody>
        </p:sp>
      </p:grpSp>
      <p:grpSp>
        <p:nvGrpSpPr>
          <p:cNvPr id="86" name="Group 86"/>
          <p:cNvGrpSpPr/>
          <p:nvPr/>
        </p:nvGrpSpPr>
        <p:grpSpPr>
          <a:xfrm>
            <a:off x="762000" y="5029200"/>
            <a:ext cx="10668000" cy="952500"/>
            <a:chOff x="762000" y="5029200"/>
            <a:chExt cx="10668000" cy="952500"/>
          </a:xfrm>
        </p:grpSpPr>
        <p:sp>
          <p:nvSpPr>
            <p:cNvPr id="82" name="Rectangle 82"/>
            <p:cNvSpPr/>
            <p:nvPr/>
          </p:nvSpPr>
          <p:spPr>
            <a:xfrm>
              <a:off x="762000" y="5029200"/>
              <a:ext cx="10668000" cy="952500"/>
            </a:xfrm>
            <a:prstGeom prst="roundRect">
              <a:avLst>
                <a:gd name="adj" fmla="val 14000"/>
              </a:avLst>
            </a:prstGeom>
            <a:solidFill>
              <a:srgbClr val="F4F7FC"/>
            </a:solidFill>
            <a:ln>
              <a:noFill/>
            </a:ln>
          </p:spPr>
        </p:sp>
        <p:sp>
          <p:nvSpPr>
            <p:cNvPr id="83" name="Rectangle 83"/>
            <p:cNvSpPr/>
            <p:nvPr/>
          </p:nvSpPr>
          <p:spPr>
            <a:xfrm>
              <a:off x="762000" y="5029200"/>
              <a:ext cx="57150" cy="952500"/>
            </a:xfrm>
            <a:prstGeom prst="roundRect">
              <a:avLst>
                <a:gd name="adj" fmla="val 50000"/>
              </a:avLst>
            </a:prstGeom>
            <a:solidFill>
              <a:srgbClr val="0052A6"/>
            </a:solidFill>
            <a:ln>
              <a:noFill/>
            </a:ln>
          </p:spPr>
        </p:sp>
        <p:sp>
          <p:nvSpPr>
            <p:cNvPr id="84" name="TextBox 84"/>
            <p:cNvSpPr txBox="1"/>
            <p:nvPr/>
          </p:nvSpPr>
          <p:spPr>
            <a:xfrm>
              <a:off x="3892677" y="5286375"/>
              <a:ext cx="4406646" cy="304800"/>
            </a:xfrm>
            <a:prstGeom prst="rect">
              <a:avLst/>
            </a:prstGeom>
            <a:noFill/>
            <a:ln>
              <a:noFill/>
            </a:ln>
          </p:spPr>
          <p:txBody>
            <a:bodyPr wrap="none" lIns="0" tIns="0" rIns="0" bIns="0" anchor="t" anchorCtr="0">
              <a:spAutoFit/>
            </a:bodyPr>
            <a:lstStyle/>
            <a:p>
              <a:pPr algn="ctr"/>
              <a:r>
                <a:rPr lang="zh-CN" sz="1500" b="1" dirty="0">
                  <a:solidFill>
                    <a:srgbClr val="0052A6"/>
                  </a:solidFill>
                  <a:latin typeface="Arial"/>
                  <a:ea typeface="Microsoft YaHei"/>
                  <a:cs typeface="Arial"/>
                </a:rPr>
                <a:t>每阶段沉淀 5+2 范式的一部分;试点有效再复制</a:t>
              </a:r>
            </a:p>
          </p:txBody>
        </p:sp>
        <p:sp>
          <p:nvSpPr>
            <p:cNvPr id="85" name="TextBox 85"/>
            <p:cNvSpPr txBox="1"/>
            <p:nvPr/>
          </p:nvSpPr>
          <p:spPr>
            <a:xfrm>
              <a:off x="3383828" y="5639752"/>
              <a:ext cx="5424345" cy="213360"/>
            </a:xfrm>
            <a:prstGeom prst="rect">
              <a:avLst/>
            </a:prstGeom>
            <a:noFill/>
            <a:ln>
              <a:noFill/>
            </a:ln>
          </p:spPr>
          <p:txBody>
            <a:bodyPr wrap="none" lIns="0" tIns="0" rIns="0" bIns="0" anchor="t" anchorCtr="0">
              <a:spAutoFit/>
            </a:bodyPr>
            <a:lstStyle/>
            <a:p>
              <a:pPr algn="ctr"/>
              <a:r>
                <a:rPr lang="zh-CN" sz="1050" dirty="0">
                  <a:solidFill>
                    <a:srgbClr val="5E6A78"/>
                  </a:solidFill>
                  <a:latin typeface="Arial"/>
                  <a:ea typeface="Microsoft YaHei"/>
                  <a:cs typeface="Arial"/>
                </a:rPr>
                <a:t>不要先大规模改组织,先让一个产品具备 AI 可协同的工程底座,再复制到更多产品和领域</a:t>
              </a:r>
            </a:p>
          </p:txBody>
        </p:sp>
      </p:grpSp>
      <p:grpSp>
        <p:nvGrpSpPr>
          <p:cNvPr id="89" name="Group 89"/>
          <p:cNvGrpSpPr/>
          <p:nvPr/>
        </p:nvGrpSpPr>
        <p:grpSpPr>
          <a:xfrm>
            <a:off x="750570" y="6456045"/>
            <a:ext cx="10689907" cy="182880"/>
            <a:chOff x="750570" y="6456045"/>
            <a:chExt cx="10689907" cy="182880"/>
          </a:xfrm>
        </p:grpSpPr>
        <p:sp>
          <p:nvSpPr>
            <p:cNvPr id="87" name="TextBox 87"/>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第六章 · 价值实施</a:t>
              </a:r>
            </a:p>
          </p:txBody>
        </p:sp>
        <p:sp>
          <p:nvSpPr>
            <p:cNvPr id="88" name="TextBox 88"/>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29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400"/>
                                        <p:tgtEl>
                                          <p:spTgt spid="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image">
                                      <p:cBhvr>
                                        <p:cTn id="15" dur="400"/>
                                        <p:tgtEl>
                                          <p:spTgt spid="2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left)">
                                      <p:cBhvr>
                                        <p:cTn id="23" dur="400"/>
                                        <p:tgtEl>
                                          <p:spTgt spid="45"/>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slide(fromBottom)">
                                      <p:cBhvr>
                                        <p:cTn id="27" dur="400"/>
                                        <p:tgtEl>
                                          <p:spTgt spid="57"/>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image">
                                      <p:cBhvr>
                                        <p:cTn id="31" dur="400"/>
                                        <p:tgtEl>
                                          <p:spTgt spid="69"/>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81"/>
                                        </p:tgtEl>
                                        <p:attrNameLst>
                                          <p:attrName>style.visibility</p:attrName>
                                        </p:attrNameLst>
                                      </p:cBhvr>
                                      <p:to>
                                        <p:strVal val="visible"/>
                                      </p:to>
                                    </p:set>
                                    <p:animEffect transition="in" filter="fade">
                                      <p:cBhvr>
                                        <p:cTn id="35" dur="400"/>
                                        <p:tgtEl>
                                          <p:spTgt spid="81"/>
                                        </p:tgtEl>
                                      </p:cBhvr>
                                    </p:animEffect>
                                  </p:childTnLst>
                                </p:cTn>
                              </p:par>
                            </p:childTnLst>
                          </p:cTn>
                        </p:par>
                        <p:par>
                          <p:cTn id="36" fill="hold">
                            <p:stCondLst>
                              <p:cond delay="7200"/>
                            </p:stCondLst>
                            <p:childTnLst>
                              <p:par>
                                <p:cTn id="37" presetID="10" presetClass="entr" presetSubtype="0" fill="hold" nodeType="afterEffect">
                                  <p:stCondLst>
                                    <p:cond delay="0"/>
                                  </p:stCondLst>
                                  <p:childTnLst>
                                    <p:set>
                                      <p:cBhvr>
                                        <p:cTn id="38" dur="1" fill="hold">
                                          <p:stCondLst>
                                            <p:cond delay="0"/>
                                          </p:stCondLst>
                                        </p:cTn>
                                        <p:tgtEl>
                                          <p:spTgt spid="86"/>
                                        </p:tgtEl>
                                        <p:attrNameLst>
                                          <p:attrName>style.visibility</p:attrName>
                                        </p:attrNameLst>
                                      </p:cBhvr>
                                      <p:to>
                                        <p:strVal val="visible"/>
                                      </p:to>
                                    </p:set>
                                    <p:animEffect transition="in" filter="fade">
                                      <p:cBhvr>
                                        <p:cTn id="39" dur="4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0" grpId="0"/>
      <p:bldP spid="33" grpId="0"/>
      <p:bldP spid="45" grpId="0"/>
      <p:bldP spid="57" grpId="0"/>
      <p:bldP spid="69" grpId="0"/>
      <p:bldP spid="81" grpId="0"/>
      <p:bldP spid="8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5330" y="533400"/>
            <a:ext cx="7051415" cy="792956"/>
            <a:chOff x="735330" y="533400"/>
            <a:chExt cx="7051415" cy="792956"/>
          </a:xfrm>
        </p:grpSpPr>
        <p:sp>
          <p:nvSpPr>
            <p:cNvPr id="3" name="Rectangle 3"/>
            <p:cNvSpPr/>
            <p:nvPr/>
          </p:nvSpPr>
          <p:spPr>
            <a:xfrm>
              <a:off x="762000" y="533400"/>
              <a:ext cx="533400" cy="57150"/>
            </a:xfrm>
            <a:prstGeom prst="roundRect">
              <a:avLst>
                <a:gd name="adj" fmla="val 50000"/>
              </a:avLst>
            </a:prstGeom>
            <a:solidFill>
              <a:srgbClr val="0052A6"/>
            </a:solidFill>
            <a:ln>
              <a:noFill/>
            </a:ln>
          </p:spPr>
        </p:sp>
        <p:sp>
          <p:nvSpPr>
            <p:cNvPr id="4" name="TextBox 4"/>
            <p:cNvSpPr txBox="1"/>
            <p:nvPr/>
          </p:nvSpPr>
          <p:spPr>
            <a:xfrm>
              <a:off x="735330" y="725805"/>
              <a:ext cx="7051415" cy="426720"/>
            </a:xfrm>
            <a:prstGeom prst="rect">
              <a:avLst/>
            </a:prstGeom>
            <a:noFill/>
            <a:ln>
              <a:noFill/>
            </a:ln>
          </p:spPr>
          <p:txBody>
            <a:bodyPr wrap="none" lIns="0" tIns="0" rIns="0" bIns="0" anchor="t" anchorCtr="0">
              <a:spAutoFit/>
            </a:bodyPr>
            <a:lstStyle/>
            <a:p>
              <a:pPr algn="l"/>
              <a:r>
                <a:rPr lang="zh-CN" sz="2100" b="1" dirty="0">
                  <a:solidFill>
                    <a:srgbClr val="25364A"/>
                  </a:solidFill>
                  <a:latin typeface="Arial"/>
                  <a:ea typeface="Microsoft YaHei"/>
                  <a:cs typeface="Arial"/>
                </a:rPr>
                <a:t>为什么是法本 —— 四重保障托底 FarAI 研发流水线落地</a:t>
              </a:r>
            </a:p>
          </p:txBody>
        </p:sp>
        <p:sp>
          <p:nvSpPr>
            <p:cNvPr id="5" name="TextBox 5"/>
            <p:cNvSpPr txBox="1"/>
            <p:nvPr/>
          </p:nvSpPr>
          <p:spPr>
            <a:xfrm>
              <a:off x="747712" y="1097756"/>
              <a:ext cx="4079081" cy="228600"/>
            </a:xfrm>
            <a:prstGeom prst="rect">
              <a:avLst/>
            </a:prstGeom>
            <a:noFill/>
            <a:ln>
              <a:noFill/>
            </a:ln>
          </p:spPr>
          <p:txBody>
            <a:bodyPr wrap="none" lIns="0" tIns="0" rIns="0" bIns="0" anchor="t" anchorCtr="0">
              <a:spAutoFit/>
            </a:bodyPr>
            <a:lstStyle/>
            <a:p>
              <a:pPr algn="l"/>
              <a:r>
                <a:rPr lang="zh-CN" sz="1125" dirty="0">
                  <a:solidFill>
                    <a:srgbClr val="6B7785"/>
                  </a:solidFill>
                  <a:latin typeface="Arial"/>
                  <a:ea typeface="Microsoft YaHei"/>
                  <a:cs typeface="Arial"/>
                </a:rPr>
                <a:t>能力底座 + 交付经验 + 安全合规 + 生态合作,托底端到端落地</a:t>
              </a:r>
            </a:p>
          </p:txBody>
        </p:sp>
      </p:grpSp>
      <p:grpSp>
        <p:nvGrpSpPr>
          <p:cNvPr id="24" name="Group 24"/>
          <p:cNvGrpSpPr/>
          <p:nvPr/>
        </p:nvGrpSpPr>
        <p:grpSpPr>
          <a:xfrm>
            <a:off x="762000" y="1638300"/>
            <a:ext cx="2571750" cy="4267200"/>
            <a:chOff x="762000" y="1638300"/>
            <a:chExt cx="2571750" cy="4267200"/>
          </a:xfrm>
        </p:grpSpPr>
        <p:sp>
          <p:nvSpPr>
            <p:cNvPr id="7" name="Rectangle 7"/>
            <p:cNvSpPr/>
            <p:nvPr/>
          </p:nvSpPr>
          <p:spPr>
            <a:xfrm>
              <a:off x="762000" y="1638300"/>
              <a:ext cx="2571750" cy="4267200"/>
            </a:xfrm>
            <a:prstGeom prst="roundRect">
              <a:avLst>
                <a:gd name="adj" fmla="val 5926"/>
              </a:avLst>
            </a:prstGeom>
            <a:solidFill>
              <a:srgbClr val="F4F7FC"/>
            </a:solidFill>
            <a:ln>
              <a:noFill/>
            </a:ln>
          </p:spPr>
        </p:sp>
        <p:sp>
          <p:nvSpPr>
            <p:cNvPr id="8" name="Rectangle 8"/>
            <p:cNvSpPr/>
            <p:nvPr/>
          </p:nvSpPr>
          <p:spPr>
            <a:xfrm>
              <a:off x="762000" y="1638300"/>
              <a:ext cx="2571750" cy="952500"/>
            </a:xfrm>
            <a:prstGeom prst="roundRect">
              <a:avLst>
                <a:gd name="adj" fmla="val 16000"/>
              </a:avLst>
            </a:prstGeom>
            <a:solidFill>
              <a:srgbClr val="0052A6"/>
            </a:solidFill>
            <a:ln>
              <a:noFill/>
            </a:ln>
          </p:spPr>
        </p:sp>
        <p:sp>
          <p:nvSpPr>
            <p:cNvPr id="9" name="Rectangle 9"/>
            <p:cNvSpPr/>
            <p:nvPr/>
          </p:nvSpPr>
          <p:spPr>
            <a:xfrm>
              <a:off x="762000" y="2190750"/>
              <a:ext cx="2571750" cy="400050"/>
            </a:xfrm>
            <a:prstGeom prst="rect">
              <a:avLst/>
            </a:prstGeom>
            <a:solidFill>
              <a:srgbClr val="0052A6"/>
            </a:solidFill>
            <a:ln>
              <a:noFill/>
            </a:ln>
          </p:spPr>
        </p:sp>
        <p:grpSp>
          <p:nvGrpSpPr>
            <p:cNvPr id="14" name="Group 14"/>
            <p:cNvGrpSpPr/>
            <p:nvPr/>
          </p:nvGrpSpPr>
          <p:grpSpPr>
            <a:xfrm>
              <a:off x="1054100" y="1930400"/>
              <a:ext cx="254000" cy="254000"/>
              <a:chOff x="1054100" y="1930400"/>
              <a:chExt cx="254000" cy="254000"/>
            </a:xfrm>
          </p:grpSpPr>
          <p:sp>
            <p:nvSpPr>
              <p:cNvPr id="10" name="Freeform 10"/>
              <p:cNvSpPr/>
              <p:nvPr/>
            </p:nvSpPr>
            <p:spPr>
              <a:xfrm>
                <a:off x="1054100" y="1930400"/>
                <a:ext cx="95250" cy="79375"/>
              </a:xfrm>
              <a:custGeom>
                <a:avLst/>
                <a:gdLst/>
                <a:ahLst/>
                <a:cxnLst/>
                <a:rect l="l" t="t" r="r" b="b"/>
                <a:pathLst>
                  <a:path w="95250" h="79375">
                    <a:moveTo>
                      <a:pt x="0" y="31750"/>
                    </a:moveTo>
                    <a:cubicBezTo>
                      <a:pt x="0" y="14215"/>
                      <a:pt x="14215" y="0"/>
                      <a:pt x="31750" y="0"/>
                    </a:cubicBezTo>
                    <a:lnTo>
                      <a:pt x="63500" y="0"/>
                    </a:lnTo>
                    <a:cubicBezTo>
                      <a:pt x="81035" y="0"/>
                      <a:pt x="95250" y="14215"/>
                      <a:pt x="95250" y="31750"/>
                    </a:cubicBezTo>
                    <a:lnTo>
                      <a:pt x="95250" y="47625"/>
                    </a:lnTo>
                    <a:cubicBezTo>
                      <a:pt x="95250" y="65160"/>
                      <a:pt x="81035" y="79375"/>
                      <a:pt x="63500" y="79375"/>
                    </a:cubicBezTo>
                    <a:lnTo>
                      <a:pt x="31750" y="79375"/>
                    </a:lnTo>
                    <a:cubicBezTo>
                      <a:pt x="14215" y="79375"/>
                      <a:pt x="0" y="65160"/>
                      <a:pt x="0" y="47625"/>
                    </a:cubicBezTo>
                    <a:lnTo>
                      <a:pt x="0" y="31750"/>
                    </a:lnTo>
                  </a:path>
                </a:pathLst>
              </a:custGeom>
              <a:noFill/>
              <a:ln w="19050">
                <a:solidFill>
                  <a:srgbClr val="FFFFFF"/>
                </a:solidFill>
              </a:ln>
            </p:spPr>
          </p:sp>
          <p:sp>
            <p:nvSpPr>
              <p:cNvPr id="11" name="Freeform 11"/>
              <p:cNvSpPr/>
              <p:nvPr/>
            </p:nvSpPr>
            <p:spPr>
              <a:xfrm>
                <a:off x="1054100" y="2073275"/>
                <a:ext cx="95250" cy="111125"/>
              </a:xfrm>
              <a:custGeom>
                <a:avLst/>
                <a:gdLst/>
                <a:ahLst/>
                <a:cxnLst/>
                <a:rect l="l" t="t" r="r" b="b"/>
                <a:pathLst>
                  <a:path w="95250" h="111125">
                    <a:moveTo>
                      <a:pt x="0" y="31750"/>
                    </a:moveTo>
                    <a:cubicBezTo>
                      <a:pt x="0" y="14215"/>
                      <a:pt x="14215" y="0"/>
                      <a:pt x="31750" y="0"/>
                    </a:cubicBezTo>
                    <a:lnTo>
                      <a:pt x="63500" y="0"/>
                    </a:lnTo>
                    <a:cubicBezTo>
                      <a:pt x="81035" y="0"/>
                      <a:pt x="95250" y="14215"/>
                      <a:pt x="95250" y="31750"/>
                    </a:cubicBezTo>
                    <a:lnTo>
                      <a:pt x="95250" y="79375"/>
                    </a:lnTo>
                    <a:cubicBezTo>
                      <a:pt x="95250" y="96910"/>
                      <a:pt x="81035" y="111125"/>
                      <a:pt x="63500" y="111125"/>
                    </a:cubicBezTo>
                    <a:lnTo>
                      <a:pt x="31750" y="111125"/>
                    </a:lnTo>
                    <a:cubicBezTo>
                      <a:pt x="14215" y="111125"/>
                      <a:pt x="0" y="96910"/>
                      <a:pt x="0" y="79375"/>
                    </a:cubicBezTo>
                    <a:lnTo>
                      <a:pt x="0" y="31750"/>
                    </a:lnTo>
                  </a:path>
                </a:pathLst>
              </a:custGeom>
              <a:noFill/>
              <a:ln w="19050">
                <a:solidFill>
                  <a:srgbClr val="FFFFFF"/>
                </a:solidFill>
              </a:ln>
            </p:spPr>
          </p:sp>
          <p:sp>
            <p:nvSpPr>
              <p:cNvPr id="12" name="Freeform 12"/>
              <p:cNvSpPr/>
              <p:nvPr/>
            </p:nvSpPr>
            <p:spPr>
              <a:xfrm>
                <a:off x="1212850" y="1930400"/>
                <a:ext cx="95250" cy="111125"/>
              </a:xfrm>
              <a:custGeom>
                <a:avLst/>
                <a:gdLst/>
                <a:ahLst/>
                <a:cxnLst/>
                <a:rect l="l" t="t" r="r" b="b"/>
                <a:pathLst>
                  <a:path w="95250" h="111125">
                    <a:moveTo>
                      <a:pt x="0" y="31750"/>
                    </a:moveTo>
                    <a:cubicBezTo>
                      <a:pt x="0" y="14215"/>
                      <a:pt x="14215" y="0"/>
                      <a:pt x="31750" y="0"/>
                    </a:cubicBezTo>
                    <a:lnTo>
                      <a:pt x="63500" y="0"/>
                    </a:lnTo>
                    <a:cubicBezTo>
                      <a:pt x="81035" y="0"/>
                      <a:pt x="95250" y="14215"/>
                      <a:pt x="95250" y="31750"/>
                    </a:cubicBezTo>
                    <a:lnTo>
                      <a:pt x="95250" y="79375"/>
                    </a:lnTo>
                    <a:cubicBezTo>
                      <a:pt x="95250" y="96910"/>
                      <a:pt x="81035" y="111125"/>
                      <a:pt x="63500" y="111125"/>
                    </a:cubicBezTo>
                    <a:lnTo>
                      <a:pt x="31750" y="111125"/>
                    </a:lnTo>
                    <a:cubicBezTo>
                      <a:pt x="14215" y="111125"/>
                      <a:pt x="0" y="96910"/>
                      <a:pt x="0" y="79375"/>
                    </a:cubicBezTo>
                    <a:lnTo>
                      <a:pt x="0" y="31750"/>
                    </a:lnTo>
                  </a:path>
                </a:pathLst>
              </a:custGeom>
              <a:noFill/>
              <a:ln w="19050">
                <a:solidFill>
                  <a:srgbClr val="FFFFFF"/>
                </a:solidFill>
              </a:ln>
            </p:spPr>
          </p:sp>
          <p:sp>
            <p:nvSpPr>
              <p:cNvPr id="13" name="Freeform 13"/>
              <p:cNvSpPr/>
              <p:nvPr/>
            </p:nvSpPr>
            <p:spPr>
              <a:xfrm>
                <a:off x="1212850" y="2105025"/>
                <a:ext cx="95250" cy="79375"/>
              </a:xfrm>
              <a:custGeom>
                <a:avLst/>
                <a:gdLst/>
                <a:ahLst/>
                <a:cxnLst/>
                <a:rect l="l" t="t" r="r" b="b"/>
                <a:pathLst>
                  <a:path w="95250" h="79375">
                    <a:moveTo>
                      <a:pt x="0" y="31750"/>
                    </a:moveTo>
                    <a:cubicBezTo>
                      <a:pt x="0" y="14215"/>
                      <a:pt x="14215" y="0"/>
                      <a:pt x="31750" y="0"/>
                    </a:cubicBezTo>
                    <a:lnTo>
                      <a:pt x="63500" y="0"/>
                    </a:lnTo>
                    <a:cubicBezTo>
                      <a:pt x="81035" y="0"/>
                      <a:pt x="95250" y="14215"/>
                      <a:pt x="95250" y="31750"/>
                    </a:cubicBezTo>
                    <a:lnTo>
                      <a:pt x="95250" y="47625"/>
                    </a:lnTo>
                    <a:cubicBezTo>
                      <a:pt x="95250" y="65160"/>
                      <a:pt x="81035" y="79375"/>
                      <a:pt x="63500" y="79375"/>
                    </a:cubicBezTo>
                    <a:lnTo>
                      <a:pt x="31750" y="79375"/>
                    </a:lnTo>
                    <a:cubicBezTo>
                      <a:pt x="14215" y="79375"/>
                      <a:pt x="0" y="65160"/>
                      <a:pt x="0" y="47625"/>
                    </a:cubicBezTo>
                    <a:lnTo>
                      <a:pt x="0" y="31750"/>
                    </a:lnTo>
                  </a:path>
                </a:pathLst>
              </a:custGeom>
              <a:noFill/>
              <a:ln w="19050">
                <a:solidFill>
                  <a:srgbClr val="FFFFFF"/>
                </a:solidFill>
              </a:ln>
            </p:spPr>
          </p:sp>
        </p:grpSp>
        <p:sp>
          <p:nvSpPr>
            <p:cNvPr id="15" name="TextBox 15"/>
            <p:cNvSpPr txBox="1"/>
            <p:nvPr/>
          </p:nvSpPr>
          <p:spPr>
            <a:xfrm>
              <a:off x="1466850" y="1990725"/>
              <a:ext cx="87820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能力底座</a:t>
              </a:r>
            </a:p>
          </p:txBody>
        </p:sp>
        <p:sp>
          <p:nvSpPr>
            <p:cNvPr id="16" name="TextBox 16"/>
            <p:cNvSpPr txBox="1"/>
            <p:nvPr/>
          </p:nvSpPr>
          <p:spPr>
            <a:xfrm>
              <a:off x="977265" y="2934652"/>
              <a:ext cx="1258824"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FarAI 全栈产品矩阵</a:t>
              </a:r>
            </a:p>
          </p:txBody>
        </p:sp>
        <p:sp>
          <p:nvSpPr>
            <p:cNvPr id="17" name="TextBox 17"/>
            <p:cNvSpPr txBox="1"/>
            <p:nvPr/>
          </p:nvSpPr>
          <p:spPr>
            <a:xfrm>
              <a:off x="977265" y="3277552"/>
              <a:ext cx="1496854"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自研 Agent / Skill 框架</a:t>
              </a:r>
            </a:p>
          </p:txBody>
        </p:sp>
        <p:sp>
          <p:nvSpPr>
            <p:cNvPr id="18" name="TextBox 18"/>
            <p:cNvSpPr txBox="1"/>
            <p:nvPr/>
          </p:nvSpPr>
          <p:spPr>
            <a:xfrm>
              <a:off x="977265" y="3620452"/>
              <a:ext cx="128682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本体网络与知识工程</a:t>
              </a:r>
            </a:p>
          </p:txBody>
        </p:sp>
        <p:sp>
          <p:nvSpPr>
            <p:cNvPr id="19" name="TextBox 19"/>
            <p:cNvSpPr txBox="1"/>
            <p:nvPr/>
          </p:nvSpPr>
          <p:spPr>
            <a:xfrm>
              <a:off x="977265" y="3963352"/>
              <a:ext cx="130783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Harness 工程方法论</a:t>
              </a:r>
            </a:p>
          </p:txBody>
        </p:sp>
        <p:sp>
          <p:nvSpPr>
            <p:cNvPr id="20" name="Line 20"/>
            <p:cNvSpPr/>
            <p:nvPr/>
          </p:nvSpPr>
          <p:spPr>
            <a:xfrm>
              <a:off x="990600" y="4552950"/>
              <a:ext cx="2114550" cy="9525"/>
            </a:xfrm>
            <a:custGeom>
              <a:avLst/>
              <a:gdLst/>
              <a:ahLst/>
              <a:cxnLst/>
              <a:rect l="l" t="t" r="r" b="b"/>
              <a:pathLst>
                <a:path w="2114550" h="9525">
                  <a:moveTo>
                    <a:pt x="0" y="0"/>
                  </a:moveTo>
                  <a:lnTo>
                    <a:pt x="2114550" y="0"/>
                  </a:lnTo>
                </a:path>
              </a:pathLst>
            </a:custGeom>
            <a:noFill/>
            <a:ln w="9525">
              <a:solidFill>
                <a:srgbClr val="E3E9F2"/>
              </a:solidFill>
            </a:ln>
          </p:spPr>
        </p:sp>
        <p:sp>
          <p:nvSpPr>
            <p:cNvPr id="21" name="TextBox 21"/>
            <p:cNvSpPr txBox="1"/>
            <p:nvPr/>
          </p:nvSpPr>
          <p:spPr>
            <a:xfrm>
              <a:off x="979170" y="4855845"/>
              <a:ext cx="1313021"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从模型、Agent、Skill、</a:t>
              </a:r>
            </a:p>
          </p:txBody>
        </p:sp>
        <p:sp>
          <p:nvSpPr>
            <p:cNvPr id="22" name="TextBox 22"/>
            <p:cNvSpPr txBox="1"/>
            <p:nvPr/>
          </p:nvSpPr>
          <p:spPr>
            <a:xfrm>
              <a:off x="979170" y="5065395"/>
              <a:ext cx="1223010"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知识到底座的全栈能力</a:t>
              </a:r>
            </a:p>
          </p:txBody>
        </p:sp>
        <p:sp>
          <p:nvSpPr>
            <p:cNvPr id="23" name="TextBox 23"/>
            <p:cNvSpPr txBox="1"/>
            <p:nvPr/>
          </p:nvSpPr>
          <p:spPr>
            <a:xfrm>
              <a:off x="979170" y="5465445"/>
              <a:ext cx="1030986" cy="182880"/>
            </a:xfrm>
            <a:prstGeom prst="rect">
              <a:avLst/>
            </a:prstGeom>
            <a:noFill/>
            <a:ln>
              <a:noFill/>
            </a:ln>
          </p:spPr>
          <p:txBody>
            <a:bodyPr wrap="none" lIns="0" tIns="0" rIns="0" bIns="0" anchor="t" anchorCtr="0">
              <a:spAutoFit/>
            </a:bodyPr>
            <a:lstStyle/>
            <a:p>
              <a:pPr algn="l"/>
              <a:r>
                <a:rPr lang="zh-CN" sz="900" b="1" dirty="0">
                  <a:solidFill>
                    <a:srgbClr val="0052A6"/>
                  </a:solidFill>
                  <a:latin typeface="Arial"/>
                  <a:ea typeface="Microsoft YaHei"/>
                  <a:cs typeface="Arial"/>
                </a:rPr>
                <a:t>技术产品全栈自研</a:t>
              </a:r>
            </a:p>
          </p:txBody>
        </p:sp>
      </p:grpSp>
      <p:grpSp>
        <p:nvGrpSpPr>
          <p:cNvPr id="41" name="Group 41"/>
          <p:cNvGrpSpPr/>
          <p:nvPr/>
        </p:nvGrpSpPr>
        <p:grpSpPr>
          <a:xfrm>
            <a:off x="3524250" y="1638300"/>
            <a:ext cx="2571750" cy="4267200"/>
            <a:chOff x="3524250" y="1638300"/>
            <a:chExt cx="2571750" cy="4267200"/>
          </a:xfrm>
        </p:grpSpPr>
        <p:sp>
          <p:nvSpPr>
            <p:cNvPr id="25" name="Rectangle 25"/>
            <p:cNvSpPr/>
            <p:nvPr/>
          </p:nvSpPr>
          <p:spPr>
            <a:xfrm>
              <a:off x="3524250" y="1638300"/>
              <a:ext cx="2571750" cy="4267200"/>
            </a:xfrm>
            <a:prstGeom prst="roundRect">
              <a:avLst>
                <a:gd name="adj" fmla="val 5926"/>
              </a:avLst>
            </a:prstGeom>
            <a:solidFill>
              <a:srgbClr val="F4F7FC"/>
            </a:solidFill>
            <a:ln>
              <a:noFill/>
            </a:ln>
          </p:spPr>
        </p:sp>
        <p:sp>
          <p:nvSpPr>
            <p:cNvPr id="26" name="Rectangle 26"/>
            <p:cNvSpPr/>
            <p:nvPr/>
          </p:nvSpPr>
          <p:spPr>
            <a:xfrm>
              <a:off x="3524250" y="1638300"/>
              <a:ext cx="2571750" cy="952500"/>
            </a:xfrm>
            <a:prstGeom prst="roundRect">
              <a:avLst>
                <a:gd name="adj" fmla="val 16000"/>
              </a:avLst>
            </a:prstGeom>
            <a:solidFill>
              <a:srgbClr val="246BFE"/>
            </a:solidFill>
            <a:ln>
              <a:noFill/>
            </a:ln>
          </p:spPr>
        </p:sp>
        <p:sp>
          <p:nvSpPr>
            <p:cNvPr id="27" name="Rectangle 27"/>
            <p:cNvSpPr/>
            <p:nvPr/>
          </p:nvSpPr>
          <p:spPr>
            <a:xfrm>
              <a:off x="3524250" y="2190750"/>
              <a:ext cx="2571750" cy="400050"/>
            </a:xfrm>
            <a:prstGeom prst="rect">
              <a:avLst/>
            </a:prstGeom>
            <a:solidFill>
              <a:srgbClr val="246BFE"/>
            </a:solidFill>
            <a:ln>
              <a:noFill/>
            </a:ln>
          </p:spPr>
        </p:sp>
        <p:grpSp>
          <p:nvGrpSpPr>
            <p:cNvPr id="31" name="Group 31"/>
            <p:cNvGrpSpPr/>
            <p:nvPr/>
          </p:nvGrpSpPr>
          <p:grpSpPr>
            <a:xfrm>
              <a:off x="3800475" y="1914525"/>
              <a:ext cx="285750" cy="285750"/>
              <a:chOff x="3800475" y="1914525"/>
              <a:chExt cx="285750" cy="285750"/>
            </a:xfrm>
          </p:grpSpPr>
          <p:sp>
            <p:nvSpPr>
              <p:cNvPr id="28" name="Freeform 28"/>
              <p:cNvSpPr/>
              <p:nvPr/>
            </p:nvSpPr>
            <p:spPr>
              <a:xfrm>
                <a:off x="3800475" y="213677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FFFFFF"/>
                </a:solidFill>
              </a:ln>
            </p:spPr>
          </p:sp>
          <p:sp>
            <p:nvSpPr>
              <p:cNvPr id="29" name="Freeform 29"/>
              <p:cNvSpPr/>
              <p:nvPr/>
            </p:nvSpPr>
            <p:spPr>
              <a:xfrm>
                <a:off x="4022725" y="1914525"/>
                <a:ext cx="63500" cy="63500"/>
              </a:xfrm>
              <a:custGeom>
                <a:avLst/>
                <a:gdLst/>
                <a:ahLst/>
                <a:cxnLst/>
                <a:rect l="l" t="t" r="r" b="b"/>
                <a:pathLst>
                  <a:path w="63500" h="63500">
                    <a:moveTo>
                      <a:pt x="31750" y="63500"/>
                    </a:moveTo>
                    <a:cubicBezTo>
                      <a:pt x="49285" y="63500"/>
                      <a:pt x="63500" y="49285"/>
                      <a:pt x="63500" y="31750"/>
                    </a:cubicBezTo>
                    <a:cubicBezTo>
                      <a:pt x="63500" y="14215"/>
                      <a:pt x="49285" y="0"/>
                      <a:pt x="31750" y="0"/>
                    </a:cubicBezTo>
                    <a:cubicBezTo>
                      <a:pt x="14215" y="0"/>
                      <a:pt x="0" y="14215"/>
                      <a:pt x="0" y="31750"/>
                    </a:cubicBezTo>
                    <a:cubicBezTo>
                      <a:pt x="0" y="49285"/>
                      <a:pt x="14215" y="63500"/>
                      <a:pt x="31750" y="63500"/>
                    </a:cubicBezTo>
                  </a:path>
                </a:pathLst>
              </a:custGeom>
              <a:noFill/>
              <a:ln w="19050">
                <a:solidFill>
                  <a:srgbClr val="FFFFFF"/>
                </a:solidFill>
              </a:ln>
            </p:spPr>
          </p:sp>
          <p:sp>
            <p:nvSpPr>
              <p:cNvPr id="30" name="Freeform 30"/>
              <p:cNvSpPr/>
              <p:nvPr/>
            </p:nvSpPr>
            <p:spPr>
              <a:xfrm>
                <a:off x="3832225" y="1946275"/>
                <a:ext cx="238125" cy="222250"/>
              </a:xfrm>
              <a:custGeom>
                <a:avLst/>
                <a:gdLst/>
                <a:ahLst/>
                <a:cxnLst/>
                <a:rect l="l" t="t" r="r" b="b"/>
                <a:pathLst>
                  <a:path w="238125" h="222250">
                    <a:moveTo>
                      <a:pt x="95250" y="222250"/>
                    </a:moveTo>
                    <a:lnTo>
                      <a:pt x="182563" y="222250"/>
                    </a:lnTo>
                    <a:cubicBezTo>
                      <a:pt x="213249" y="222250"/>
                      <a:pt x="238125" y="197374"/>
                      <a:pt x="238125" y="166688"/>
                    </a:cubicBezTo>
                    <a:cubicBezTo>
                      <a:pt x="238125" y="136001"/>
                      <a:pt x="213249" y="111125"/>
                      <a:pt x="182563" y="111125"/>
                    </a:cubicBezTo>
                    <a:lnTo>
                      <a:pt x="55563" y="111125"/>
                    </a:lnTo>
                    <a:cubicBezTo>
                      <a:pt x="24876" y="111125"/>
                      <a:pt x="0" y="86249"/>
                      <a:pt x="0" y="55562"/>
                    </a:cubicBezTo>
                    <a:cubicBezTo>
                      <a:pt x="0" y="24876"/>
                      <a:pt x="24876" y="0"/>
                      <a:pt x="55563" y="0"/>
                    </a:cubicBezTo>
                    <a:lnTo>
                      <a:pt x="127000" y="0"/>
                    </a:lnTo>
                  </a:path>
                </a:pathLst>
              </a:custGeom>
              <a:noFill/>
              <a:ln w="19050">
                <a:solidFill>
                  <a:srgbClr val="FFFFFF"/>
                </a:solidFill>
              </a:ln>
            </p:spPr>
          </p:sp>
        </p:grpSp>
        <p:sp>
          <p:nvSpPr>
            <p:cNvPr id="32" name="TextBox 32"/>
            <p:cNvSpPr txBox="1"/>
            <p:nvPr/>
          </p:nvSpPr>
          <p:spPr>
            <a:xfrm>
              <a:off x="4229100" y="1990725"/>
              <a:ext cx="87820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交付经验</a:t>
              </a:r>
            </a:p>
          </p:txBody>
        </p:sp>
        <p:sp>
          <p:nvSpPr>
            <p:cNvPr id="33" name="TextBox 33"/>
            <p:cNvSpPr txBox="1"/>
            <p:nvPr/>
          </p:nvSpPr>
          <p:spPr>
            <a:xfrm>
              <a:off x="3739515" y="2934652"/>
              <a:ext cx="128682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多行业研发组织落地</a:t>
              </a:r>
            </a:p>
          </p:txBody>
        </p:sp>
        <p:sp>
          <p:nvSpPr>
            <p:cNvPr id="34" name="TextBox 34"/>
            <p:cNvSpPr txBox="1"/>
            <p:nvPr/>
          </p:nvSpPr>
          <p:spPr>
            <a:xfrm>
              <a:off x="3739515" y="32775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标准化实施方法论</a:t>
              </a:r>
            </a:p>
          </p:txBody>
        </p:sp>
        <p:sp>
          <p:nvSpPr>
            <p:cNvPr id="35" name="TextBox 35"/>
            <p:cNvSpPr txBox="1"/>
            <p:nvPr/>
          </p:nvSpPr>
          <p:spPr>
            <a:xfrm>
              <a:off x="3739515" y="3620452"/>
              <a:ext cx="122382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试点-复制路径成熟</a:t>
              </a:r>
            </a:p>
          </p:txBody>
        </p:sp>
        <p:sp>
          <p:nvSpPr>
            <p:cNvPr id="36" name="TextBox 36"/>
            <p:cNvSpPr txBox="1"/>
            <p:nvPr/>
          </p:nvSpPr>
          <p:spPr>
            <a:xfrm>
              <a:off x="3739515" y="3963352"/>
              <a:ext cx="128682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多产品线规模化实践</a:t>
              </a:r>
            </a:p>
          </p:txBody>
        </p:sp>
        <p:sp>
          <p:nvSpPr>
            <p:cNvPr id="37" name="Line 37"/>
            <p:cNvSpPr/>
            <p:nvPr/>
          </p:nvSpPr>
          <p:spPr>
            <a:xfrm>
              <a:off x="3752850" y="4552950"/>
              <a:ext cx="2114550" cy="9525"/>
            </a:xfrm>
            <a:custGeom>
              <a:avLst/>
              <a:gdLst/>
              <a:ahLst/>
              <a:cxnLst/>
              <a:rect l="l" t="t" r="r" b="b"/>
              <a:pathLst>
                <a:path w="2114550" h="9525">
                  <a:moveTo>
                    <a:pt x="0" y="0"/>
                  </a:moveTo>
                  <a:lnTo>
                    <a:pt x="2114550" y="0"/>
                  </a:lnTo>
                </a:path>
              </a:pathLst>
            </a:custGeom>
            <a:noFill/>
            <a:ln w="9525">
              <a:solidFill>
                <a:srgbClr val="E3E9F2"/>
              </a:solidFill>
            </a:ln>
          </p:spPr>
        </p:sp>
        <p:sp>
          <p:nvSpPr>
            <p:cNvPr id="38" name="TextBox 38"/>
            <p:cNvSpPr txBox="1"/>
            <p:nvPr/>
          </p:nvSpPr>
          <p:spPr>
            <a:xfrm>
              <a:off x="3741420" y="4855845"/>
              <a:ext cx="123501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金融/制造/科技等行业</a:t>
              </a:r>
            </a:p>
          </p:txBody>
        </p:sp>
        <p:sp>
          <p:nvSpPr>
            <p:cNvPr id="39" name="TextBox 39"/>
            <p:cNvSpPr txBox="1"/>
            <p:nvPr/>
          </p:nvSpPr>
          <p:spPr>
            <a:xfrm>
              <a:off x="3741420" y="5065395"/>
              <a:ext cx="982980"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研发效能落地经验</a:t>
              </a:r>
            </a:p>
          </p:txBody>
        </p:sp>
        <p:sp>
          <p:nvSpPr>
            <p:cNvPr id="40" name="TextBox 40"/>
            <p:cNvSpPr txBox="1"/>
            <p:nvPr/>
          </p:nvSpPr>
          <p:spPr>
            <a:xfrm>
              <a:off x="3741420" y="5465445"/>
              <a:ext cx="1049888" cy="182880"/>
            </a:xfrm>
            <a:prstGeom prst="rect">
              <a:avLst/>
            </a:prstGeom>
            <a:noFill/>
            <a:ln>
              <a:noFill/>
            </a:ln>
          </p:spPr>
          <p:txBody>
            <a:bodyPr wrap="none" lIns="0" tIns="0" rIns="0" bIns="0" anchor="t" anchorCtr="0">
              <a:spAutoFit/>
            </a:bodyPr>
            <a:lstStyle/>
            <a:p>
              <a:pPr algn="l"/>
              <a:r>
                <a:rPr lang="zh-CN" sz="900" b="1" dirty="0">
                  <a:solidFill>
                    <a:srgbClr val="246BFE"/>
                  </a:solidFill>
                  <a:latin typeface="Arial"/>
                  <a:ea typeface="Microsoft YaHei"/>
                  <a:cs typeface="Arial"/>
                </a:rPr>
                <a:t>方法论 + 标杆案例</a:t>
              </a:r>
            </a:p>
          </p:txBody>
        </p:sp>
      </p:grpSp>
      <p:grpSp>
        <p:nvGrpSpPr>
          <p:cNvPr id="55" name="Group 55"/>
          <p:cNvGrpSpPr/>
          <p:nvPr/>
        </p:nvGrpSpPr>
        <p:grpSpPr>
          <a:xfrm>
            <a:off x="6286500" y="1638300"/>
            <a:ext cx="2571750" cy="4267200"/>
            <a:chOff x="6286500" y="1638300"/>
            <a:chExt cx="2571750" cy="4267200"/>
          </a:xfrm>
        </p:grpSpPr>
        <p:sp>
          <p:nvSpPr>
            <p:cNvPr id="42" name="Rectangle 42"/>
            <p:cNvSpPr/>
            <p:nvPr/>
          </p:nvSpPr>
          <p:spPr>
            <a:xfrm>
              <a:off x="6286500" y="1638300"/>
              <a:ext cx="2571750" cy="4267200"/>
            </a:xfrm>
            <a:prstGeom prst="roundRect">
              <a:avLst>
                <a:gd name="adj" fmla="val 5926"/>
              </a:avLst>
            </a:prstGeom>
            <a:solidFill>
              <a:srgbClr val="F4F7FC"/>
            </a:solidFill>
            <a:ln>
              <a:noFill/>
            </a:ln>
          </p:spPr>
        </p:sp>
        <p:sp>
          <p:nvSpPr>
            <p:cNvPr id="43" name="Rectangle 43"/>
            <p:cNvSpPr/>
            <p:nvPr/>
          </p:nvSpPr>
          <p:spPr>
            <a:xfrm>
              <a:off x="6286500" y="1638300"/>
              <a:ext cx="2571750" cy="952500"/>
            </a:xfrm>
            <a:prstGeom prst="roundRect">
              <a:avLst>
                <a:gd name="adj" fmla="val 16000"/>
              </a:avLst>
            </a:prstGeom>
            <a:solidFill>
              <a:srgbClr val="518FEC"/>
            </a:solidFill>
            <a:ln>
              <a:noFill/>
            </a:ln>
          </p:spPr>
        </p:sp>
        <p:sp>
          <p:nvSpPr>
            <p:cNvPr id="44" name="Rectangle 44"/>
            <p:cNvSpPr/>
            <p:nvPr/>
          </p:nvSpPr>
          <p:spPr>
            <a:xfrm>
              <a:off x="6286500" y="2190750"/>
              <a:ext cx="2571750" cy="400050"/>
            </a:xfrm>
            <a:prstGeom prst="rect">
              <a:avLst/>
            </a:prstGeom>
            <a:solidFill>
              <a:srgbClr val="518FEC"/>
            </a:solidFill>
            <a:ln>
              <a:noFill/>
            </a:ln>
          </p:spPr>
        </p:sp>
        <p:sp>
          <p:nvSpPr>
            <p:cNvPr id="45" name="Freeform 45"/>
            <p:cNvSpPr/>
            <p:nvPr/>
          </p:nvSpPr>
          <p:spPr>
            <a:xfrm>
              <a:off x="6556114" y="1914525"/>
              <a:ext cx="298972" cy="285750"/>
            </a:xfrm>
            <a:custGeom>
              <a:avLst/>
              <a:gdLst/>
              <a:ahLst/>
              <a:cxnLst/>
              <a:rect l="l" t="t" r="r" b="b"/>
              <a:pathLst>
                <a:path w="298972" h="285750">
                  <a:moveTo>
                    <a:pt x="149486" y="0"/>
                  </a:moveTo>
                  <a:cubicBezTo>
                    <a:pt x="186567" y="32807"/>
                    <a:pt x="234965" y="49888"/>
                    <a:pt x="284424" y="47625"/>
                  </a:cubicBezTo>
                  <a:cubicBezTo>
                    <a:pt x="298972" y="97116"/>
                    <a:pt x="292828" y="150391"/>
                    <a:pt x="267396" y="195271"/>
                  </a:cubicBezTo>
                  <a:cubicBezTo>
                    <a:pt x="241964" y="240151"/>
                    <a:pt x="199419" y="272798"/>
                    <a:pt x="149486" y="285750"/>
                  </a:cubicBezTo>
                  <a:cubicBezTo>
                    <a:pt x="99554" y="272798"/>
                    <a:pt x="57008" y="240151"/>
                    <a:pt x="31576" y="195271"/>
                  </a:cubicBezTo>
                  <a:cubicBezTo>
                    <a:pt x="6144" y="150391"/>
                    <a:pt x="0" y="97116"/>
                    <a:pt x="14549" y="47625"/>
                  </a:cubicBezTo>
                  <a:cubicBezTo>
                    <a:pt x="64008" y="49888"/>
                    <a:pt x="112405" y="32807"/>
                    <a:pt x="149486" y="0"/>
                  </a:cubicBezTo>
                </a:path>
              </a:pathLst>
            </a:custGeom>
            <a:noFill/>
            <a:ln w="19050">
              <a:solidFill>
                <a:srgbClr val="FFFFFF"/>
              </a:solidFill>
            </a:ln>
          </p:spPr>
        </p:sp>
        <p:sp>
          <p:nvSpPr>
            <p:cNvPr id="46" name="TextBox 46"/>
            <p:cNvSpPr txBox="1"/>
            <p:nvPr/>
          </p:nvSpPr>
          <p:spPr>
            <a:xfrm>
              <a:off x="6991350" y="1990725"/>
              <a:ext cx="87820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安全合规</a:t>
              </a:r>
            </a:p>
          </p:txBody>
        </p:sp>
        <p:sp>
          <p:nvSpPr>
            <p:cNvPr id="47" name="TextBox 47"/>
            <p:cNvSpPr txBox="1"/>
            <p:nvPr/>
          </p:nvSpPr>
          <p:spPr>
            <a:xfrm>
              <a:off x="6501765" y="293465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企业级数据安全</a:t>
              </a:r>
            </a:p>
          </p:txBody>
        </p:sp>
        <p:sp>
          <p:nvSpPr>
            <p:cNvPr id="48" name="TextBox 48"/>
            <p:cNvSpPr txBox="1"/>
            <p:nvPr/>
          </p:nvSpPr>
          <p:spPr>
            <a:xfrm>
              <a:off x="6501765" y="3277552"/>
              <a:ext cx="726758"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权限与审计</a:t>
              </a:r>
            </a:p>
          </p:txBody>
        </p:sp>
        <p:sp>
          <p:nvSpPr>
            <p:cNvPr id="49" name="TextBox 49"/>
            <p:cNvSpPr txBox="1"/>
            <p:nvPr/>
          </p:nvSpPr>
          <p:spPr>
            <a:xfrm>
              <a:off x="6501765" y="36204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风险分级行权</a:t>
              </a:r>
            </a:p>
          </p:txBody>
        </p:sp>
        <p:sp>
          <p:nvSpPr>
            <p:cNvPr id="50" name="TextBox 50"/>
            <p:cNvSpPr txBox="1"/>
            <p:nvPr/>
          </p:nvSpPr>
          <p:spPr>
            <a:xfrm>
              <a:off x="6501765" y="396335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私有化部署支持</a:t>
              </a:r>
            </a:p>
          </p:txBody>
        </p:sp>
        <p:sp>
          <p:nvSpPr>
            <p:cNvPr id="51" name="Line 51"/>
            <p:cNvSpPr/>
            <p:nvPr/>
          </p:nvSpPr>
          <p:spPr>
            <a:xfrm>
              <a:off x="6515100" y="4552950"/>
              <a:ext cx="2114550" cy="9525"/>
            </a:xfrm>
            <a:custGeom>
              <a:avLst/>
              <a:gdLst/>
              <a:ahLst/>
              <a:cxnLst/>
              <a:rect l="l" t="t" r="r" b="b"/>
              <a:pathLst>
                <a:path w="2114550" h="9525">
                  <a:moveTo>
                    <a:pt x="0" y="0"/>
                  </a:moveTo>
                  <a:lnTo>
                    <a:pt x="2114550" y="0"/>
                  </a:lnTo>
                </a:path>
              </a:pathLst>
            </a:custGeom>
            <a:noFill/>
            <a:ln w="9525">
              <a:solidFill>
                <a:srgbClr val="E3E9F2"/>
              </a:solidFill>
            </a:ln>
          </p:spPr>
        </p:sp>
        <p:sp>
          <p:nvSpPr>
            <p:cNvPr id="52" name="TextBox 52"/>
            <p:cNvSpPr txBox="1"/>
            <p:nvPr/>
          </p:nvSpPr>
          <p:spPr>
            <a:xfrm>
              <a:off x="6503670" y="4855845"/>
              <a:ext cx="982980"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数据不出域、权限</a:t>
              </a:r>
            </a:p>
          </p:txBody>
        </p:sp>
        <p:sp>
          <p:nvSpPr>
            <p:cNvPr id="53" name="TextBox 53"/>
            <p:cNvSpPr txBox="1"/>
            <p:nvPr/>
          </p:nvSpPr>
          <p:spPr>
            <a:xfrm>
              <a:off x="6503670" y="5065395"/>
              <a:ext cx="982980"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可控、操作可审计</a:t>
              </a:r>
            </a:p>
          </p:txBody>
        </p:sp>
        <p:sp>
          <p:nvSpPr>
            <p:cNvPr id="54" name="TextBox 54"/>
            <p:cNvSpPr txBox="1"/>
            <p:nvPr/>
          </p:nvSpPr>
          <p:spPr>
            <a:xfrm>
              <a:off x="6503670" y="5465445"/>
              <a:ext cx="923873" cy="182880"/>
            </a:xfrm>
            <a:prstGeom prst="rect">
              <a:avLst/>
            </a:prstGeom>
            <a:noFill/>
            <a:ln>
              <a:noFill/>
            </a:ln>
          </p:spPr>
          <p:txBody>
            <a:bodyPr wrap="none" lIns="0" tIns="0" rIns="0" bIns="0" anchor="t" anchorCtr="0">
              <a:spAutoFit/>
            </a:bodyPr>
            <a:lstStyle/>
            <a:p>
              <a:pPr algn="l"/>
              <a:r>
                <a:rPr lang="zh-CN" sz="900" b="1" dirty="0">
                  <a:solidFill>
                    <a:srgbClr val="518FEC"/>
                  </a:solidFill>
                  <a:latin typeface="Arial"/>
                  <a:ea typeface="Microsoft YaHei"/>
                  <a:cs typeface="Arial"/>
                </a:rPr>
                <a:t>企业级 · 国产化</a:t>
              </a:r>
            </a:p>
          </p:txBody>
        </p:sp>
      </p:grpSp>
      <p:grpSp>
        <p:nvGrpSpPr>
          <p:cNvPr id="77" name="Group 77"/>
          <p:cNvGrpSpPr/>
          <p:nvPr/>
        </p:nvGrpSpPr>
        <p:grpSpPr>
          <a:xfrm>
            <a:off x="9048750" y="1638300"/>
            <a:ext cx="2381250" cy="4267200"/>
            <a:chOff x="9048750" y="1638300"/>
            <a:chExt cx="2381250" cy="4267200"/>
          </a:xfrm>
        </p:grpSpPr>
        <p:sp>
          <p:nvSpPr>
            <p:cNvPr id="56" name="Rectangle 56"/>
            <p:cNvSpPr/>
            <p:nvPr/>
          </p:nvSpPr>
          <p:spPr>
            <a:xfrm>
              <a:off x="9048750" y="1638300"/>
              <a:ext cx="2381250" cy="4267200"/>
            </a:xfrm>
            <a:prstGeom prst="roundRect">
              <a:avLst>
                <a:gd name="adj" fmla="val 6400"/>
              </a:avLst>
            </a:prstGeom>
            <a:solidFill>
              <a:srgbClr val="F4F7FC"/>
            </a:solidFill>
            <a:ln>
              <a:noFill/>
            </a:ln>
          </p:spPr>
        </p:sp>
        <p:sp>
          <p:nvSpPr>
            <p:cNvPr id="57" name="Rectangle 57"/>
            <p:cNvSpPr/>
            <p:nvPr/>
          </p:nvSpPr>
          <p:spPr>
            <a:xfrm>
              <a:off x="9048750" y="1638300"/>
              <a:ext cx="2381250" cy="952500"/>
            </a:xfrm>
            <a:prstGeom prst="roundRect">
              <a:avLst>
                <a:gd name="adj" fmla="val 16000"/>
              </a:avLst>
            </a:prstGeom>
            <a:solidFill>
              <a:srgbClr val="0E9F6E"/>
            </a:solidFill>
            <a:ln>
              <a:noFill/>
            </a:ln>
          </p:spPr>
        </p:sp>
        <p:sp>
          <p:nvSpPr>
            <p:cNvPr id="58" name="Rectangle 58"/>
            <p:cNvSpPr/>
            <p:nvPr/>
          </p:nvSpPr>
          <p:spPr>
            <a:xfrm>
              <a:off x="9048750" y="2190750"/>
              <a:ext cx="2381250" cy="400050"/>
            </a:xfrm>
            <a:prstGeom prst="rect">
              <a:avLst/>
            </a:prstGeom>
            <a:solidFill>
              <a:srgbClr val="0E9F6E"/>
            </a:solidFill>
            <a:ln>
              <a:noFill/>
            </a:ln>
          </p:spPr>
        </p:sp>
        <p:grpSp>
          <p:nvGrpSpPr>
            <p:cNvPr id="67" name="Group 67"/>
            <p:cNvGrpSpPr/>
            <p:nvPr/>
          </p:nvGrpSpPr>
          <p:grpSpPr>
            <a:xfrm>
              <a:off x="9324975" y="1914525"/>
              <a:ext cx="285750" cy="301625"/>
              <a:chOff x="9324975" y="1914525"/>
              <a:chExt cx="285750" cy="301625"/>
            </a:xfrm>
          </p:grpSpPr>
          <p:sp>
            <p:nvSpPr>
              <p:cNvPr id="59" name="Freeform 59"/>
              <p:cNvSpPr/>
              <p:nvPr/>
            </p:nvSpPr>
            <p:spPr>
              <a:xfrm>
                <a:off x="9372600" y="1914525"/>
                <a:ext cx="190500" cy="190500"/>
              </a:xfrm>
              <a:custGeom>
                <a:avLst/>
                <a:gdLst/>
                <a:ahLst/>
                <a:cxnLst/>
                <a:rect l="l" t="t" r="r" b="b"/>
                <a:pathLst>
                  <a:path w="190500" h="190500">
                    <a:moveTo>
                      <a:pt x="0" y="95250"/>
                    </a:moveTo>
                    <a:cubicBezTo>
                      <a:pt x="0" y="147855"/>
                      <a:pt x="42645" y="190500"/>
                      <a:pt x="95250" y="190500"/>
                    </a:cubicBezTo>
                    <a:cubicBezTo>
                      <a:pt x="147855" y="190500"/>
                      <a:pt x="190500" y="147855"/>
                      <a:pt x="190500" y="95250"/>
                    </a:cubicBezTo>
                    <a:cubicBezTo>
                      <a:pt x="190500" y="42645"/>
                      <a:pt x="147855" y="0"/>
                      <a:pt x="95250" y="0"/>
                    </a:cubicBezTo>
                    <a:cubicBezTo>
                      <a:pt x="42645" y="0"/>
                      <a:pt x="0" y="42645"/>
                      <a:pt x="0" y="95250"/>
                    </a:cubicBezTo>
                  </a:path>
                </a:pathLst>
              </a:custGeom>
              <a:noFill/>
              <a:ln w="19050">
                <a:solidFill>
                  <a:srgbClr val="FFFFFF"/>
                </a:solidFill>
              </a:ln>
            </p:spPr>
          </p:sp>
          <p:sp>
            <p:nvSpPr>
              <p:cNvPr id="60" name="Freeform 60"/>
              <p:cNvSpPr/>
              <p:nvPr/>
            </p:nvSpPr>
            <p:spPr>
              <a:xfrm>
                <a:off x="9467850" y="1914525"/>
                <a:ext cx="31750" cy="190500"/>
              </a:xfrm>
              <a:custGeom>
                <a:avLst/>
                <a:gdLst/>
                <a:ahLst/>
                <a:cxnLst/>
                <a:rect l="l" t="t" r="r" b="b"/>
                <a:pathLst>
                  <a:path w="31750" h="190500">
                    <a:moveTo>
                      <a:pt x="0" y="0"/>
                    </a:moveTo>
                    <a:cubicBezTo>
                      <a:pt x="21161" y="5286"/>
                      <a:pt x="31750" y="37036"/>
                      <a:pt x="31750" y="95250"/>
                    </a:cubicBezTo>
                    <a:cubicBezTo>
                      <a:pt x="31750" y="153464"/>
                      <a:pt x="21161" y="185214"/>
                      <a:pt x="0" y="190500"/>
                    </a:cubicBezTo>
                  </a:path>
                </a:pathLst>
              </a:custGeom>
              <a:noFill/>
              <a:ln w="19050">
                <a:solidFill>
                  <a:srgbClr val="FFFFFF"/>
                </a:solidFill>
              </a:ln>
            </p:spPr>
          </p:sp>
          <p:sp>
            <p:nvSpPr>
              <p:cNvPr id="61" name="Freeform 61"/>
              <p:cNvSpPr/>
              <p:nvPr/>
            </p:nvSpPr>
            <p:spPr>
              <a:xfrm>
                <a:off x="9436100" y="1914525"/>
                <a:ext cx="31750" cy="190500"/>
              </a:xfrm>
              <a:custGeom>
                <a:avLst/>
                <a:gdLst/>
                <a:ahLst/>
                <a:cxnLst/>
                <a:rect l="l" t="t" r="r" b="b"/>
                <a:pathLst>
                  <a:path w="31750" h="190500">
                    <a:moveTo>
                      <a:pt x="31750" y="0"/>
                    </a:moveTo>
                    <a:cubicBezTo>
                      <a:pt x="10589" y="5286"/>
                      <a:pt x="0" y="37036"/>
                      <a:pt x="0" y="95250"/>
                    </a:cubicBezTo>
                    <a:cubicBezTo>
                      <a:pt x="0" y="153464"/>
                      <a:pt x="10589" y="185214"/>
                      <a:pt x="31750" y="190500"/>
                    </a:cubicBezTo>
                  </a:path>
                </a:pathLst>
              </a:custGeom>
              <a:noFill/>
              <a:ln w="19050">
                <a:solidFill>
                  <a:srgbClr val="FFFFFF"/>
                </a:solidFill>
              </a:ln>
            </p:spPr>
          </p:sp>
          <p:sp>
            <p:nvSpPr>
              <p:cNvPr id="62" name="Freeform 62"/>
              <p:cNvSpPr/>
              <p:nvPr/>
            </p:nvSpPr>
            <p:spPr>
              <a:xfrm>
                <a:off x="9372600" y="2009775"/>
                <a:ext cx="190500" cy="9525"/>
              </a:xfrm>
              <a:custGeom>
                <a:avLst/>
                <a:gdLst/>
                <a:ahLst/>
                <a:cxnLst/>
                <a:rect l="l" t="t" r="r" b="b"/>
                <a:pathLst>
                  <a:path w="190500" h="9525">
                    <a:moveTo>
                      <a:pt x="0" y="0"/>
                    </a:moveTo>
                    <a:lnTo>
                      <a:pt x="190500" y="0"/>
                    </a:lnTo>
                  </a:path>
                </a:pathLst>
              </a:custGeom>
              <a:noFill/>
              <a:ln w="19050">
                <a:solidFill>
                  <a:srgbClr val="FFFFFF"/>
                </a:solidFill>
              </a:ln>
            </p:spPr>
          </p:sp>
          <p:sp>
            <p:nvSpPr>
              <p:cNvPr id="63" name="Freeform 63"/>
              <p:cNvSpPr/>
              <p:nvPr/>
            </p:nvSpPr>
            <p:spPr>
              <a:xfrm>
                <a:off x="9324975" y="2184400"/>
                <a:ext cx="111125" cy="9525"/>
              </a:xfrm>
              <a:custGeom>
                <a:avLst/>
                <a:gdLst/>
                <a:ahLst/>
                <a:cxnLst/>
                <a:rect l="l" t="t" r="r" b="b"/>
                <a:pathLst>
                  <a:path w="111125" h="9525">
                    <a:moveTo>
                      <a:pt x="0" y="0"/>
                    </a:moveTo>
                    <a:lnTo>
                      <a:pt x="111125" y="0"/>
                    </a:lnTo>
                  </a:path>
                </a:pathLst>
              </a:custGeom>
              <a:noFill/>
              <a:ln w="19050">
                <a:solidFill>
                  <a:srgbClr val="FFFFFF"/>
                </a:solidFill>
              </a:ln>
            </p:spPr>
          </p:sp>
          <p:sp>
            <p:nvSpPr>
              <p:cNvPr id="64" name="Freeform 64"/>
              <p:cNvSpPr/>
              <p:nvPr/>
            </p:nvSpPr>
            <p:spPr>
              <a:xfrm>
                <a:off x="9499600" y="2184400"/>
                <a:ext cx="111125" cy="9525"/>
              </a:xfrm>
              <a:custGeom>
                <a:avLst/>
                <a:gdLst/>
                <a:ahLst/>
                <a:cxnLst/>
                <a:rect l="l" t="t" r="r" b="b"/>
                <a:pathLst>
                  <a:path w="111125" h="9525">
                    <a:moveTo>
                      <a:pt x="0" y="0"/>
                    </a:moveTo>
                    <a:lnTo>
                      <a:pt x="111125" y="0"/>
                    </a:lnTo>
                  </a:path>
                </a:pathLst>
              </a:custGeom>
              <a:noFill/>
              <a:ln w="19050">
                <a:solidFill>
                  <a:srgbClr val="FFFFFF"/>
                </a:solidFill>
              </a:ln>
            </p:spPr>
          </p:sp>
          <p:sp>
            <p:nvSpPr>
              <p:cNvPr id="65" name="Freeform 65"/>
              <p:cNvSpPr/>
              <p:nvPr/>
            </p:nvSpPr>
            <p:spPr>
              <a:xfrm>
                <a:off x="9436100" y="2152650"/>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FFFFFF"/>
                </a:solidFill>
              </a:ln>
            </p:spPr>
          </p:sp>
          <p:sp>
            <p:nvSpPr>
              <p:cNvPr id="66" name="Freeform 66"/>
              <p:cNvSpPr/>
              <p:nvPr/>
            </p:nvSpPr>
            <p:spPr>
              <a:xfrm>
                <a:off x="9467850" y="2105025"/>
                <a:ext cx="9525" cy="47625"/>
              </a:xfrm>
              <a:custGeom>
                <a:avLst/>
                <a:gdLst/>
                <a:ahLst/>
                <a:cxnLst/>
                <a:rect l="l" t="t" r="r" b="b"/>
                <a:pathLst>
                  <a:path w="9525" h="47625">
                    <a:moveTo>
                      <a:pt x="0" y="0"/>
                    </a:moveTo>
                    <a:lnTo>
                      <a:pt x="0" y="47625"/>
                    </a:lnTo>
                  </a:path>
                </a:pathLst>
              </a:custGeom>
              <a:noFill/>
              <a:ln w="19050">
                <a:solidFill>
                  <a:srgbClr val="FFFFFF"/>
                </a:solidFill>
              </a:ln>
            </p:spPr>
          </p:sp>
        </p:grpSp>
        <p:sp>
          <p:nvSpPr>
            <p:cNvPr id="68" name="TextBox 68"/>
            <p:cNvSpPr txBox="1"/>
            <p:nvPr/>
          </p:nvSpPr>
          <p:spPr>
            <a:xfrm>
              <a:off x="9753600" y="1990725"/>
              <a:ext cx="87820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生态合作</a:t>
              </a:r>
            </a:p>
          </p:txBody>
        </p:sp>
        <p:sp>
          <p:nvSpPr>
            <p:cNvPr id="69" name="TextBox 69"/>
            <p:cNvSpPr txBox="1"/>
            <p:nvPr/>
          </p:nvSpPr>
          <p:spPr>
            <a:xfrm>
              <a:off x="9264015" y="2934652"/>
              <a:ext cx="1006792"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主流大模型集成</a:t>
              </a:r>
            </a:p>
          </p:txBody>
        </p:sp>
        <p:sp>
          <p:nvSpPr>
            <p:cNvPr id="70" name="TextBox 70"/>
            <p:cNvSpPr txBox="1"/>
            <p:nvPr/>
          </p:nvSpPr>
          <p:spPr>
            <a:xfrm>
              <a:off x="9264015" y="3277552"/>
              <a:ext cx="866775"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编码工具打通</a:t>
              </a:r>
            </a:p>
          </p:txBody>
        </p:sp>
        <p:sp>
          <p:nvSpPr>
            <p:cNvPr id="71" name="TextBox 71"/>
            <p:cNvSpPr txBox="1"/>
            <p:nvPr/>
          </p:nvSpPr>
          <p:spPr>
            <a:xfrm>
              <a:off x="9264015" y="3620452"/>
              <a:ext cx="1258824"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DevOps 工具链接入</a:t>
              </a:r>
            </a:p>
          </p:txBody>
        </p:sp>
        <p:sp>
          <p:nvSpPr>
            <p:cNvPr id="72" name="TextBox 72"/>
            <p:cNvSpPr txBox="1"/>
            <p:nvPr/>
          </p:nvSpPr>
          <p:spPr>
            <a:xfrm>
              <a:off x="9264015" y="3963352"/>
              <a:ext cx="1146810" cy="213360"/>
            </a:xfrm>
            <a:prstGeom prst="rect">
              <a:avLst/>
            </a:prstGeom>
            <a:noFill/>
            <a:ln>
              <a:noFill/>
            </a:ln>
          </p:spPr>
          <p:txBody>
            <a:bodyPr wrap="none" lIns="0" tIns="0" rIns="0" bIns="0" anchor="t" anchorCtr="0">
              <a:spAutoFit/>
            </a:bodyPr>
            <a:lstStyle/>
            <a:p>
              <a:pPr algn="l"/>
              <a:r>
                <a:rPr lang="zh-CN" sz="1050" dirty="0">
                  <a:solidFill>
                    <a:srgbClr val="25364A"/>
                  </a:solidFill>
                  <a:latin typeface="Arial"/>
                  <a:ea typeface="Microsoft YaHei"/>
                  <a:cs typeface="Arial"/>
                </a:rPr>
                <a:t>行业标杆客户协同</a:t>
              </a:r>
            </a:p>
          </p:txBody>
        </p:sp>
        <p:sp>
          <p:nvSpPr>
            <p:cNvPr id="73" name="Line 73"/>
            <p:cNvSpPr/>
            <p:nvPr/>
          </p:nvSpPr>
          <p:spPr>
            <a:xfrm>
              <a:off x="9277350" y="4552950"/>
              <a:ext cx="1924050" cy="9525"/>
            </a:xfrm>
            <a:custGeom>
              <a:avLst/>
              <a:gdLst/>
              <a:ahLst/>
              <a:cxnLst/>
              <a:rect l="l" t="t" r="r" b="b"/>
              <a:pathLst>
                <a:path w="1924050" h="9525">
                  <a:moveTo>
                    <a:pt x="0" y="0"/>
                  </a:moveTo>
                  <a:lnTo>
                    <a:pt x="1924050" y="0"/>
                  </a:lnTo>
                </a:path>
              </a:pathLst>
            </a:custGeom>
            <a:noFill/>
            <a:ln w="9525">
              <a:solidFill>
                <a:srgbClr val="E3E9F2"/>
              </a:solidFill>
            </a:ln>
          </p:spPr>
        </p:sp>
        <p:sp>
          <p:nvSpPr>
            <p:cNvPr id="74" name="TextBox 74"/>
            <p:cNvSpPr txBox="1"/>
            <p:nvPr/>
          </p:nvSpPr>
          <p:spPr>
            <a:xfrm>
              <a:off x="9265920" y="4855845"/>
              <a:ext cx="862965"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开放生态、持续</a:t>
              </a:r>
            </a:p>
          </p:txBody>
        </p:sp>
        <p:sp>
          <p:nvSpPr>
            <p:cNvPr id="75" name="TextBox 75"/>
            <p:cNvSpPr txBox="1"/>
            <p:nvPr/>
          </p:nvSpPr>
          <p:spPr>
            <a:xfrm>
              <a:off x="9265920" y="5065395"/>
              <a:ext cx="862965"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演进的技术合作</a:t>
              </a:r>
            </a:p>
          </p:txBody>
        </p:sp>
        <p:sp>
          <p:nvSpPr>
            <p:cNvPr id="76" name="TextBox 76"/>
            <p:cNvSpPr txBox="1"/>
            <p:nvPr/>
          </p:nvSpPr>
          <p:spPr>
            <a:xfrm>
              <a:off x="9265920" y="5465445"/>
              <a:ext cx="671841" cy="182880"/>
            </a:xfrm>
            <a:prstGeom prst="rect">
              <a:avLst/>
            </a:prstGeom>
            <a:noFill/>
            <a:ln>
              <a:noFill/>
            </a:ln>
          </p:spPr>
          <p:txBody>
            <a:bodyPr wrap="none" lIns="0" tIns="0" rIns="0" bIns="0" anchor="t" anchorCtr="0">
              <a:spAutoFit/>
            </a:bodyPr>
            <a:lstStyle/>
            <a:p>
              <a:pPr algn="l"/>
              <a:r>
                <a:rPr lang="zh-CN" sz="900" b="1" dirty="0">
                  <a:solidFill>
                    <a:srgbClr val="0E9F6E"/>
                  </a:solidFill>
                  <a:latin typeface="Arial"/>
                  <a:ea typeface="Microsoft YaHei"/>
                  <a:cs typeface="Arial"/>
                </a:rPr>
                <a:t>开放 · 共建</a:t>
              </a:r>
            </a:p>
          </p:txBody>
        </p:sp>
      </p:grpSp>
      <p:grpSp>
        <p:nvGrpSpPr>
          <p:cNvPr id="80" name="Group 80"/>
          <p:cNvGrpSpPr/>
          <p:nvPr/>
        </p:nvGrpSpPr>
        <p:grpSpPr>
          <a:xfrm>
            <a:off x="750570" y="6456045"/>
            <a:ext cx="10689907" cy="182880"/>
            <a:chOff x="750570" y="6456045"/>
            <a:chExt cx="10689907" cy="182880"/>
          </a:xfrm>
        </p:grpSpPr>
        <p:sp>
          <p:nvSpPr>
            <p:cNvPr id="78" name="TextBox 78"/>
            <p:cNvSpPr txBox="1"/>
            <p:nvPr/>
          </p:nvSpPr>
          <p:spPr>
            <a:xfrm>
              <a:off x="750570" y="6456045"/>
              <a:ext cx="1000982" cy="182880"/>
            </a:xfrm>
            <a:prstGeom prst="rect">
              <a:avLst/>
            </a:prstGeom>
            <a:noFill/>
            <a:ln>
              <a:noFill/>
            </a:ln>
          </p:spPr>
          <p:txBody>
            <a:bodyPr wrap="none" lIns="0" tIns="0" rIns="0" bIns="0" anchor="t" anchorCtr="0">
              <a:spAutoFit/>
            </a:bodyPr>
            <a:lstStyle/>
            <a:p>
              <a:pPr algn="l"/>
              <a:r>
                <a:rPr lang="zh-CN" sz="900" dirty="0">
                  <a:solidFill>
                    <a:srgbClr val="6B7785"/>
                  </a:solidFill>
                  <a:latin typeface="Arial"/>
                  <a:ea typeface="Microsoft YaHei"/>
                  <a:cs typeface="Arial"/>
                </a:rPr>
                <a:t>第六章 · 价值实施</a:t>
              </a:r>
            </a:p>
          </p:txBody>
        </p:sp>
        <p:sp>
          <p:nvSpPr>
            <p:cNvPr id="79" name="TextBox 79"/>
            <p:cNvSpPr txBox="1"/>
            <p:nvPr/>
          </p:nvSpPr>
          <p:spPr>
            <a:xfrm>
              <a:off x="11050976" y="6464141"/>
              <a:ext cx="389501" cy="167640"/>
            </a:xfrm>
            <a:prstGeom prst="rect">
              <a:avLst/>
            </a:prstGeom>
            <a:noFill/>
            <a:ln>
              <a:noFill/>
            </a:ln>
          </p:spPr>
          <p:txBody>
            <a:bodyPr wrap="none" lIns="0" tIns="0" rIns="0" bIns="0" anchor="t" anchorCtr="0">
              <a:spAutoFit/>
            </a:bodyPr>
            <a:lstStyle/>
            <a:p>
              <a:pPr algn="r"/>
              <a:r>
                <a:rPr lang="zh-CN" sz="825" dirty="0">
                  <a:solidFill>
                    <a:srgbClr val="6B7785"/>
                  </a:solidFill>
                  <a:latin typeface="Arial"/>
                  <a:ea typeface="Microsoft YaHei"/>
                  <a:cs typeface="Arial"/>
                </a:rPr>
                <a:t>30 / 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slide(fromBottom)">
                                      <p:cBhvr>
                                        <p:cTn id="15" dur="400"/>
                                        <p:tgtEl>
                                          <p:spTgt spid="4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Bottom)">
                                      <p:cBhvr>
                                        <p:cTn id="19" dur="400"/>
                                        <p:tgtEl>
                                          <p:spTgt spid="5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slide(fromBottom)">
                                      <p:cBhvr>
                                        <p:cTn id="23"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41" grpId="0"/>
      <p:bldP spid="55" grpId="0"/>
      <p:bldP spid="7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2A5E"/>
                </a:gs>
                <a:gs pos="55000">
                  <a:srgbClr val="0E367A"/>
                </a:gs>
                <a:gs pos="100000">
                  <a:srgbClr val="17365D"/>
                </a:gs>
              </a:gsLst>
              <a:lin ang="2700000" scaled="1"/>
            </a:gradFill>
            <a:ln>
              <a:noFill/>
            </a:ln>
          </p:spPr>
        </p:sp>
        <p:sp>
          <p:nvSpPr>
            <p:cNvPr id="3" name="Ellipse 3"/>
            <p:cNvSpPr/>
            <p:nvPr/>
          </p:nvSpPr>
          <p:spPr>
            <a:xfrm>
              <a:off x="3429000" y="762000"/>
              <a:ext cx="5334000" cy="5334000"/>
            </a:xfrm>
            <a:prstGeom prst="ellipse">
              <a:avLst/>
            </a:prstGeom>
            <a:solidFill>
              <a:srgbClr val="246BFE">
                <a:alpha val="6000"/>
              </a:srgbClr>
            </a:solidFill>
            <a:ln>
              <a:noFill/>
            </a:ln>
          </p:spPr>
        </p:sp>
        <p:sp>
          <p:nvSpPr>
            <p:cNvPr id="4" name="Ellipse 4"/>
            <p:cNvSpPr/>
            <p:nvPr/>
          </p:nvSpPr>
          <p:spPr>
            <a:xfrm>
              <a:off x="4381500" y="1714500"/>
              <a:ext cx="3429000" cy="3429000"/>
            </a:xfrm>
            <a:prstGeom prst="ellipse">
              <a:avLst/>
            </a:prstGeom>
            <a:solidFill>
              <a:srgbClr val="518FEC">
                <a:alpha val="4000"/>
              </a:srgbClr>
            </a:solidFill>
            <a:ln>
              <a:noFill/>
            </a:ln>
          </p:spPr>
        </p:sp>
      </p:grpSp>
      <p:grpSp>
        <p:nvGrpSpPr>
          <p:cNvPr id="17" name="Group 17"/>
          <p:cNvGrpSpPr/>
          <p:nvPr/>
        </p:nvGrpSpPr>
        <p:grpSpPr>
          <a:xfrm>
            <a:off x="5826125" y="1568450"/>
            <a:ext cx="1151414" cy="469900"/>
            <a:chOff x="5826125" y="1568450"/>
            <a:chExt cx="1151414" cy="469900"/>
          </a:xfrm>
        </p:grpSpPr>
        <p:grpSp>
          <p:nvGrpSpPr>
            <p:cNvPr id="15" name="Group 15"/>
            <p:cNvGrpSpPr/>
            <p:nvPr/>
          </p:nvGrpSpPr>
          <p:grpSpPr>
            <a:xfrm>
              <a:off x="5826125" y="1568450"/>
              <a:ext cx="311150" cy="422275"/>
              <a:chOff x="5826125" y="1568450"/>
              <a:chExt cx="311150" cy="422275"/>
            </a:xfrm>
          </p:grpSpPr>
          <p:sp>
            <p:nvSpPr>
              <p:cNvPr id="6" name="Freeform 6"/>
              <p:cNvSpPr/>
              <p:nvPr/>
            </p:nvSpPr>
            <p:spPr>
              <a:xfrm>
                <a:off x="5848350" y="1612900"/>
                <a:ext cx="266700" cy="177800"/>
              </a:xfrm>
              <a:custGeom>
                <a:avLst/>
                <a:gdLst/>
                <a:ahLst/>
                <a:cxnLst/>
                <a:rect l="l" t="t" r="r" b="b"/>
                <a:pathLst>
                  <a:path w="266700" h="177800">
                    <a:moveTo>
                      <a:pt x="0" y="44450"/>
                    </a:moveTo>
                    <a:cubicBezTo>
                      <a:pt x="0" y="19901"/>
                      <a:pt x="19901" y="0"/>
                      <a:pt x="44450" y="0"/>
                    </a:cubicBezTo>
                    <a:lnTo>
                      <a:pt x="222250" y="0"/>
                    </a:lnTo>
                    <a:cubicBezTo>
                      <a:pt x="246799" y="0"/>
                      <a:pt x="266700" y="19901"/>
                      <a:pt x="266700" y="44450"/>
                    </a:cubicBezTo>
                    <a:lnTo>
                      <a:pt x="266700" y="133350"/>
                    </a:lnTo>
                    <a:cubicBezTo>
                      <a:pt x="266700" y="157899"/>
                      <a:pt x="246799" y="177800"/>
                      <a:pt x="222250" y="177800"/>
                    </a:cubicBezTo>
                    <a:lnTo>
                      <a:pt x="44450" y="177800"/>
                    </a:lnTo>
                    <a:cubicBezTo>
                      <a:pt x="19901" y="177800"/>
                      <a:pt x="0" y="157899"/>
                      <a:pt x="0" y="133350"/>
                    </a:cubicBezTo>
                    <a:lnTo>
                      <a:pt x="0" y="44450"/>
                    </a:lnTo>
                  </a:path>
                </a:pathLst>
              </a:custGeom>
              <a:noFill/>
              <a:ln w="19050">
                <a:solidFill>
                  <a:srgbClr val="246BFE"/>
                </a:solidFill>
              </a:ln>
            </p:spPr>
          </p:sp>
          <p:sp>
            <p:nvSpPr>
              <p:cNvPr id="7" name="Freeform 7"/>
              <p:cNvSpPr/>
              <p:nvPr/>
            </p:nvSpPr>
            <p:spPr>
              <a:xfrm>
                <a:off x="5981700" y="1568450"/>
                <a:ext cx="9525" cy="44450"/>
              </a:xfrm>
              <a:custGeom>
                <a:avLst/>
                <a:gdLst/>
                <a:ahLst/>
                <a:cxnLst/>
                <a:rect l="l" t="t" r="r" b="b"/>
                <a:pathLst>
                  <a:path w="9525" h="44450">
                    <a:moveTo>
                      <a:pt x="0" y="0"/>
                    </a:moveTo>
                    <a:lnTo>
                      <a:pt x="0" y="44450"/>
                    </a:lnTo>
                  </a:path>
                </a:pathLst>
              </a:custGeom>
              <a:noFill/>
              <a:ln w="19050">
                <a:solidFill>
                  <a:srgbClr val="246BFE"/>
                </a:solidFill>
              </a:ln>
            </p:spPr>
          </p:sp>
          <p:sp>
            <p:nvSpPr>
              <p:cNvPr id="8" name="Freeform 8"/>
              <p:cNvSpPr/>
              <p:nvPr/>
            </p:nvSpPr>
            <p:spPr>
              <a:xfrm>
                <a:off x="5915025" y="1790700"/>
                <a:ext cx="9525" cy="200025"/>
              </a:xfrm>
              <a:custGeom>
                <a:avLst/>
                <a:gdLst/>
                <a:ahLst/>
                <a:cxnLst/>
                <a:rect l="l" t="t" r="r" b="b"/>
                <a:pathLst>
                  <a:path w="9525" h="200025">
                    <a:moveTo>
                      <a:pt x="0" y="0"/>
                    </a:moveTo>
                    <a:lnTo>
                      <a:pt x="0" y="200025"/>
                    </a:lnTo>
                  </a:path>
                </a:pathLst>
              </a:custGeom>
              <a:noFill/>
              <a:ln w="19050">
                <a:solidFill>
                  <a:srgbClr val="246BFE"/>
                </a:solidFill>
              </a:ln>
            </p:spPr>
          </p:sp>
          <p:sp>
            <p:nvSpPr>
              <p:cNvPr id="9" name="Freeform 9"/>
              <p:cNvSpPr/>
              <p:nvPr/>
            </p:nvSpPr>
            <p:spPr>
              <a:xfrm>
                <a:off x="6048375" y="1790700"/>
                <a:ext cx="9525" cy="200025"/>
              </a:xfrm>
              <a:custGeom>
                <a:avLst/>
                <a:gdLst/>
                <a:ahLst/>
                <a:cxnLst/>
                <a:rect l="l" t="t" r="r" b="b"/>
                <a:pathLst>
                  <a:path w="9525" h="200025">
                    <a:moveTo>
                      <a:pt x="0" y="0"/>
                    </a:moveTo>
                    <a:lnTo>
                      <a:pt x="0" y="200025"/>
                    </a:lnTo>
                  </a:path>
                </a:pathLst>
              </a:custGeom>
              <a:noFill/>
              <a:ln w="19050">
                <a:solidFill>
                  <a:srgbClr val="246BFE"/>
                </a:solidFill>
              </a:ln>
            </p:spPr>
          </p:sp>
          <p:sp>
            <p:nvSpPr>
              <p:cNvPr id="10" name="Freeform 10"/>
              <p:cNvSpPr/>
              <p:nvPr/>
            </p:nvSpPr>
            <p:spPr>
              <a:xfrm>
                <a:off x="5826125" y="1835150"/>
                <a:ext cx="88900" cy="44450"/>
              </a:xfrm>
              <a:custGeom>
                <a:avLst/>
                <a:gdLst/>
                <a:ahLst/>
                <a:cxnLst/>
                <a:rect l="l" t="t" r="r" b="b"/>
                <a:pathLst>
                  <a:path w="88900" h="44450">
                    <a:moveTo>
                      <a:pt x="0" y="44450"/>
                    </a:moveTo>
                    <a:lnTo>
                      <a:pt x="88900" y="0"/>
                    </a:lnTo>
                  </a:path>
                </a:pathLst>
              </a:custGeom>
              <a:noFill/>
              <a:ln w="19050">
                <a:solidFill>
                  <a:srgbClr val="246BFE"/>
                </a:solidFill>
              </a:ln>
            </p:spPr>
          </p:sp>
          <p:sp>
            <p:nvSpPr>
              <p:cNvPr id="11" name="Freeform 11"/>
              <p:cNvSpPr/>
              <p:nvPr/>
            </p:nvSpPr>
            <p:spPr>
              <a:xfrm>
                <a:off x="6048375" y="1835150"/>
                <a:ext cx="88900" cy="44450"/>
              </a:xfrm>
              <a:custGeom>
                <a:avLst/>
                <a:gdLst/>
                <a:ahLst/>
                <a:cxnLst/>
                <a:rect l="l" t="t" r="r" b="b"/>
                <a:pathLst>
                  <a:path w="88900" h="44450">
                    <a:moveTo>
                      <a:pt x="0" y="0"/>
                    </a:moveTo>
                    <a:lnTo>
                      <a:pt x="88900" y="44450"/>
                    </a:lnTo>
                  </a:path>
                </a:pathLst>
              </a:custGeom>
              <a:noFill/>
              <a:ln w="19050">
                <a:solidFill>
                  <a:srgbClr val="246BFE"/>
                </a:solidFill>
              </a:ln>
            </p:spPr>
          </p:sp>
          <p:sp>
            <p:nvSpPr>
              <p:cNvPr id="12" name="Freeform 12"/>
              <p:cNvSpPr/>
              <p:nvPr/>
            </p:nvSpPr>
            <p:spPr>
              <a:xfrm>
                <a:off x="5915025" y="1924050"/>
                <a:ext cx="133350" cy="9525"/>
              </a:xfrm>
              <a:custGeom>
                <a:avLst/>
                <a:gdLst/>
                <a:ahLst/>
                <a:cxnLst/>
                <a:rect l="l" t="t" r="r" b="b"/>
                <a:pathLst>
                  <a:path w="133350" h="9525">
                    <a:moveTo>
                      <a:pt x="0" y="0"/>
                    </a:moveTo>
                    <a:lnTo>
                      <a:pt x="133350" y="0"/>
                    </a:lnTo>
                  </a:path>
                </a:pathLst>
              </a:custGeom>
              <a:noFill/>
              <a:ln w="19050">
                <a:solidFill>
                  <a:srgbClr val="246BFE"/>
                </a:solidFill>
              </a:ln>
            </p:spPr>
          </p:sp>
          <p:sp>
            <p:nvSpPr>
              <p:cNvPr id="13" name="Freeform 13"/>
              <p:cNvSpPr/>
              <p:nvPr/>
            </p:nvSpPr>
            <p:spPr>
              <a:xfrm>
                <a:off x="5937250" y="1701800"/>
                <a:ext cx="9525" cy="9525"/>
              </a:xfrm>
              <a:custGeom>
                <a:avLst/>
                <a:gdLst/>
                <a:ahLst/>
                <a:cxnLst/>
                <a:rect l="l" t="t" r="r" b="b"/>
                <a:pathLst>
                  <a:path w="9525" h="9525">
                    <a:moveTo>
                      <a:pt x="0" y="0"/>
                    </a:moveTo>
                    <a:lnTo>
                      <a:pt x="0" y="222"/>
                    </a:lnTo>
                  </a:path>
                </a:pathLst>
              </a:custGeom>
              <a:noFill/>
              <a:ln w="19050">
                <a:solidFill>
                  <a:srgbClr val="246BFE"/>
                </a:solidFill>
              </a:ln>
            </p:spPr>
          </p:sp>
          <p:sp>
            <p:nvSpPr>
              <p:cNvPr id="14" name="Freeform 14"/>
              <p:cNvSpPr/>
              <p:nvPr/>
            </p:nvSpPr>
            <p:spPr>
              <a:xfrm>
                <a:off x="6026150" y="1701800"/>
                <a:ext cx="9525" cy="9525"/>
              </a:xfrm>
              <a:custGeom>
                <a:avLst/>
                <a:gdLst/>
                <a:ahLst/>
                <a:cxnLst/>
                <a:rect l="l" t="t" r="r" b="b"/>
                <a:pathLst>
                  <a:path w="9525" h="9525">
                    <a:moveTo>
                      <a:pt x="0" y="0"/>
                    </a:moveTo>
                    <a:lnTo>
                      <a:pt x="0" y="222"/>
                    </a:lnTo>
                  </a:path>
                </a:pathLst>
              </a:custGeom>
              <a:noFill/>
              <a:ln w="19050">
                <a:solidFill>
                  <a:srgbClr val="246BFE"/>
                </a:solidFill>
              </a:ln>
            </p:spPr>
          </p:sp>
        </p:grpSp>
        <p:sp>
          <p:nvSpPr>
            <p:cNvPr id="16" name="TextBox 16"/>
            <p:cNvSpPr txBox="1"/>
            <p:nvPr/>
          </p:nvSpPr>
          <p:spPr>
            <a:xfrm>
              <a:off x="6301740" y="1672590"/>
              <a:ext cx="675799"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FarAI</a:t>
              </a:r>
            </a:p>
          </p:txBody>
        </p:sp>
      </p:grpSp>
      <p:grpSp>
        <p:nvGrpSpPr>
          <p:cNvPr id="20" name="Group 20"/>
          <p:cNvGrpSpPr/>
          <p:nvPr/>
        </p:nvGrpSpPr>
        <p:grpSpPr>
          <a:xfrm>
            <a:off x="3512772" y="2977515"/>
            <a:ext cx="5166455" cy="1242060"/>
            <a:chOff x="3512772" y="2977515"/>
            <a:chExt cx="5166455" cy="1242060"/>
          </a:xfrm>
        </p:grpSpPr>
        <p:sp>
          <p:nvSpPr>
            <p:cNvPr id="18" name="TextBox 18"/>
            <p:cNvSpPr txBox="1"/>
            <p:nvPr/>
          </p:nvSpPr>
          <p:spPr>
            <a:xfrm>
              <a:off x="3512772" y="2977515"/>
              <a:ext cx="5166455" cy="670560"/>
            </a:xfrm>
            <a:prstGeom prst="rect">
              <a:avLst/>
            </a:prstGeom>
            <a:noFill/>
            <a:ln>
              <a:noFill/>
            </a:ln>
          </p:spPr>
          <p:txBody>
            <a:bodyPr wrap="none" lIns="0" tIns="0" rIns="0" bIns="0" anchor="t" anchorCtr="0">
              <a:spAutoFit/>
            </a:bodyPr>
            <a:lstStyle/>
            <a:p>
              <a:pPr algn="ctr"/>
              <a:r>
                <a:rPr lang="zh-CN" sz="3300" b="1" dirty="0">
                  <a:solidFill>
                    <a:srgbClr val="FFFFFF"/>
                  </a:solidFill>
                  <a:latin typeface="Arial"/>
                  <a:ea typeface="Microsoft YaHei"/>
                  <a:cs typeface="Arial"/>
                </a:rPr>
                <a:t>让 AI 在你的研发组织里,</a:t>
              </a:r>
            </a:p>
          </p:txBody>
        </p:sp>
        <p:sp>
          <p:nvSpPr>
            <p:cNvPr id="19" name="TextBox 19"/>
            <p:cNvSpPr txBox="1"/>
            <p:nvPr/>
          </p:nvSpPr>
          <p:spPr>
            <a:xfrm>
              <a:off x="4667917" y="3549015"/>
              <a:ext cx="2856166" cy="670560"/>
            </a:xfrm>
            <a:prstGeom prst="rect">
              <a:avLst/>
            </a:prstGeom>
            <a:noFill/>
            <a:ln>
              <a:noFill/>
            </a:ln>
          </p:spPr>
          <p:txBody>
            <a:bodyPr wrap="none" lIns="0" tIns="0" rIns="0" bIns="0" anchor="t" anchorCtr="0">
              <a:spAutoFit/>
            </a:bodyPr>
            <a:lstStyle/>
            <a:p>
              <a:pPr algn="ctr"/>
              <a:r>
                <a:rPr lang="zh-CN" sz="3300" b="1" dirty="0">
                  <a:solidFill>
                    <a:srgbClr val="FFFFFF"/>
                  </a:solidFill>
                  <a:latin typeface="Arial"/>
                  <a:ea typeface="Microsoft YaHei"/>
                  <a:cs typeface="Arial"/>
                </a:rPr>
                <a:t>可控地跑起来</a:t>
              </a:r>
            </a:p>
          </p:txBody>
        </p:sp>
      </p:grpSp>
      <p:grpSp>
        <p:nvGrpSpPr>
          <p:cNvPr id="22" name="Group 22"/>
          <p:cNvGrpSpPr/>
          <p:nvPr/>
        </p:nvGrpSpPr>
        <p:grpSpPr>
          <a:xfrm>
            <a:off x="5715000" y="4229100"/>
            <a:ext cx="762000" cy="38100"/>
            <a:chOff x="5715000" y="4229100"/>
            <a:chExt cx="762000" cy="38100"/>
          </a:xfrm>
        </p:grpSpPr>
        <p:sp>
          <p:nvSpPr>
            <p:cNvPr id="21" name="Rectangle 21"/>
            <p:cNvSpPr/>
            <p:nvPr/>
          </p:nvSpPr>
          <p:spPr>
            <a:xfrm>
              <a:off x="5715000" y="4229100"/>
              <a:ext cx="762000" cy="38100"/>
            </a:xfrm>
            <a:prstGeom prst="roundRect">
              <a:avLst>
                <a:gd name="adj" fmla="val 50000"/>
              </a:avLst>
            </a:prstGeom>
            <a:solidFill>
              <a:srgbClr val="246BFE"/>
            </a:solidFill>
            <a:ln>
              <a:noFill/>
            </a:ln>
          </p:spPr>
        </p:sp>
      </p:grpSp>
      <p:grpSp>
        <p:nvGrpSpPr>
          <p:cNvPr id="24" name="Group 24"/>
          <p:cNvGrpSpPr/>
          <p:nvPr/>
        </p:nvGrpSpPr>
        <p:grpSpPr>
          <a:xfrm>
            <a:off x="4266724" y="4600575"/>
            <a:ext cx="3658552" cy="304800"/>
            <a:chOff x="4266724" y="4600575"/>
            <a:chExt cx="3658552" cy="304800"/>
          </a:xfrm>
        </p:grpSpPr>
        <p:sp>
          <p:nvSpPr>
            <p:cNvPr id="23" name="TextBox 23"/>
            <p:cNvSpPr txBox="1"/>
            <p:nvPr/>
          </p:nvSpPr>
          <p:spPr>
            <a:xfrm>
              <a:off x="4266724" y="4600575"/>
              <a:ext cx="3658552" cy="304800"/>
            </a:xfrm>
            <a:prstGeom prst="rect">
              <a:avLst/>
            </a:prstGeom>
            <a:noFill/>
            <a:ln>
              <a:noFill/>
            </a:ln>
          </p:spPr>
          <p:txBody>
            <a:bodyPr wrap="none" lIns="0" tIns="0" rIns="0" bIns="0" anchor="t" anchorCtr="0">
              <a:spAutoFit/>
            </a:bodyPr>
            <a:lstStyle/>
            <a:p>
              <a:pPr algn="ctr"/>
              <a:r>
                <a:rPr lang="zh-CN" sz="1500" dirty="0">
                  <a:solidFill>
                    <a:srgbClr val="B8C7E0"/>
                  </a:solidFill>
                  <a:latin typeface="Arial"/>
                  <a:ea typeface="Microsoft YaHei"/>
                  <a:cs typeface="Arial"/>
                </a:rPr>
                <a:t>FarAI 研发流水线 · 个人提效 → 组织提效</a:t>
              </a:r>
            </a:p>
          </p:txBody>
        </p:sp>
      </p:grpSp>
      <p:grpSp>
        <p:nvGrpSpPr>
          <p:cNvPr id="47" name="Group 47"/>
          <p:cNvGrpSpPr/>
          <p:nvPr/>
        </p:nvGrpSpPr>
        <p:grpSpPr>
          <a:xfrm>
            <a:off x="4191000" y="5410200"/>
            <a:ext cx="4021455" cy="519112"/>
            <a:chOff x="4191000" y="5410200"/>
            <a:chExt cx="4021455" cy="519112"/>
          </a:xfrm>
        </p:grpSpPr>
        <p:sp>
          <p:nvSpPr>
            <p:cNvPr id="25" name="Line 25"/>
            <p:cNvSpPr/>
            <p:nvPr/>
          </p:nvSpPr>
          <p:spPr>
            <a:xfrm>
              <a:off x="4191000" y="5410200"/>
              <a:ext cx="3810000" cy="9525"/>
            </a:xfrm>
            <a:custGeom>
              <a:avLst/>
              <a:gdLst/>
              <a:ahLst/>
              <a:cxnLst/>
              <a:rect l="l" t="t" r="r" b="b"/>
              <a:pathLst>
                <a:path w="3810000" h="9525">
                  <a:moveTo>
                    <a:pt x="0" y="0"/>
                  </a:moveTo>
                  <a:lnTo>
                    <a:pt x="3810000" y="0"/>
                  </a:lnTo>
                </a:path>
              </a:pathLst>
            </a:custGeom>
            <a:noFill/>
            <a:ln w="9525">
              <a:solidFill>
                <a:srgbClr val="FFFFFF">
                  <a:alpha val="15000"/>
                </a:srgbClr>
              </a:solidFill>
            </a:ln>
          </p:spPr>
        </p:sp>
        <p:grpSp>
          <p:nvGrpSpPr>
            <p:cNvPr id="29" name="Group 29"/>
            <p:cNvGrpSpPr/>
            <p:nvPr/>
          </p:nvGrpSpPr>
          <p:grpSpPr>
            <a:xfrm>
              <a:off x="4886325" y="5676900"/>
              <a:ext cx="171450" cy="161925"/>
              <a:chOff x="4886325" y="5676900"/>
              <a:chExt cx="171450" cy="161925"/>
            </a:xfrm>
          </p:grpSpPr>
          <p:sp>
            <p:nvSpPr>
              <p:cNvPr id="26" name="Freeform 26"/>
              <p:cNvSpPr/>
              <p:nvPr/>
            </p:nvSpPr>
            <p:spPr>
              <a:xfrm>
                <a:off x="4933950" y="5724525"/>
                <a:ext cx="76200" cy="9525"/>
              </a:xfrm>
              <a:custGeom>
                <a:avLst/>
                <a:gdLst/>
                <a:ahLst/>
                <a:cxnLst/>
                <a:rect l="l" t="t" r="r" b="b"/>
                <a:pathLst>
                  <a:path w="76200" h="9525">
                    <a:moveTo>
                      <a:pt x="0" y="0"/>
                    </a:moveTo>
                    <a:lnTo>
                      <a:pt x="76200" y="0"/>
                    </a:lnTo>
                  </a:path>
                </a:pathLst>
              </a:custGeom>
              <a:noFill/>
              <a:ln w="19050">
                <a:solidFill>
                  <a:srgbClr val="518FEC"/>
                </a:solidFill>
              </a:ln>
            </p:spPr>
          </p:sp>
          <p:sp>
            <p:nvSpPr>
              <p:cNvPr id="27" name="Freeform 27"/>
              <p:cNvSpPr/>
              <p:nvPr/>
            </p:nvSpPr>
            <p:spPr>
              <a:xfrm>
                <a:off x="4933950" y="5762625"/>
                <a:ext cx="57150" cy="9525"/>
              </a:xfrm>
              <a:custGeom>
                <a:avLst/>
                <a:gdLst/>
                <a:ahLst/>
                <a:cxnLst/>
                <a:rect l="l" t="t" r="r" b="b"/>
                <a:pathLst>
                  <a:path w="57150" h="9525">
                    <a:moveTo>
                      <a:pt x="0" y="0"/>
                    </a:moveTo>
                    <a:lnTo>
                      <a:pt x="57150" y="0"/>
                    </a:lnTo>
                  </a:path>
                </a:pathLst>
              </a:custGeom>
              <a:noFill/>
              <a:ln w="19050">
                <a:solidFill>
                  <a:srgbClr val="518FEC"/>
                </a:solidFill>
              </a:ln>
            </p:spPr>
          </p:sp>
          <p:sp>
            <p:nvSpPr>
              <p:cNvPr id="28" name="Freeform 28"/>
              <p:cNvSpPr/>
              <p:nvPr/>
            </p:nvSpPr>
            <p:spPr>
              <a:xfrm>
                <a:off x="4886325" y="5676900"/>
                <a:ext cx="171450" cy="161925"/>
              </a:xfrm>
              <a:custGeom>
                <a:avLst/>
                <a:gdLst/>
                <a:ahLst/>
                <a:cxnLst/>
                <a:rect l="l" t="t" r="r" b="b"/>
                <a:pathLst>
                  <a:path w="171450" h="161925">
                    <a:moveTo>
                      <a:pt x="142875" y="0"/>
                    </a:moveTo>
                    <a:cubicBezTo>
                      <a:pt x="158657" y="0"/>
                      <a:pt x="171450" y="12793"/>
                      <a:pt x="171450" y="28575"/>
                    </a:cubicBezTo>
                    <a:lnTo>
                      <a:pt x="171450" y="104775"/>
                    </a:lnTo>
                    <a:cubicBezTo>
                      <a:pt x="171450" y="120557"/>
                      <a:pt x="158657" y="133350"/>
                      <a:pt x="142875" y="133350"/>
                    </a:cubicBezTo>
                    <a:lnTo>
                      <a:pt x="95250" y="133350"/>
                    </a:lnTo>
                    <a:lnTo>
                      <a:pt x="47625" y="161925"/>
                    </a:lnTo>
                    <a:lnTo>
                      <a:pt x="47625" y="133350"/>
                    </a:lnTo>
                    <a:lnTo>
                      <a:pt x="28575" y="133350"/>
                    </a:lnTo>
                    <a:cubicBezTo>
                      <a:pt x="12793" y="133350"/>
                      <a:pt x="0" y="120557"/>
                      <a:pt x="0" y="104775"/>
                    </a:cubicBezTo>
                    <a:lnTo>
                      <a:pt x="0" y="28575"/>
                    </a:lnTo>
                    <a:cubicBezTo>
                      <a:pt x="0" y="12793"/>
                      <a:pt x="12793" y="0"/>
                      <a:pt x="28575" y="0"/>
                    </a:cubicBezTo>
                    <a:lnTo>
                      <a:pt x="142875" y="0"/>
                    </a:lnTo>
                  </a:path>
                </a:pathLst>
              </a:custGeom>
              <a:noFill/>
              <a:ln w="19050">
                <a:solidFill>
                  <a:srgbClr val="518FEC"/>
                </a:solidFill>
              </a:ln>
            </p:spPr>
          </p:sp>
        </p:grpSp>
        <p:sp>
          <p:nvSpPr>
            <p:cNvPr id="30" name="TextBox 30"/>
            <p:cNvSpPr txBox="1"/>
            <p:nvPr/>
          </p:nvSpPr>
          <p:spPr>
            <a:xfrm>
              <a:off x="5149215" y="5715952"/>
              <a:ext cx="586740"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a:ea typeface="Microsoft YaHei"/>
                  <a:cs typeface="Arial"/>
                </a:rPr>
                <a:t>扫码咨询</a:t>
              </a:r>
            </a:p>
          </p:txBody>
        </p:sp>
        <p:grpSp>
          <p:nvGrpSpPr>
            <p:cNvPr id="39" name="Group 39"/>
            <p:cNvGrpSpPr/>
            <p:nvPr/>
          </p:nvGrpSpPr>
          <p:grpSpPr>
            <a:xfrm>
              <a:off x="6124575" y="5667375"/>
              <a:ext cx="171450" cy="180975"/>
              <a:chOff x="6124575" y="5667375"/>
              <a:chExt cx="171450" cy="180975"/>
            </a:xfrm>
          </p:grpSpPr>
          <p:sp>
            <p:nvSpPr>
              <p:cNvPr id="31" name="Freeform 31"/>
              <p:cNvSpPr/>
              <p:nvPr/>
            </p:nvSpPr>
            <p:spPr>
              <a:xfrm>
                <a:off x="6124575" y="5838825"/>
                <a:ext cx="171450" cy="9525"/>
              </a:xfrm>
              <a:custGeom>
                <a:avLst/>
                <a:gdLst/>
                <a:ahLst/>
                <a:cxnLst/>
                <a:rect l="l" t="t" r="r" b="b"/>
                <a:pathLst>
                  <a:path w="171450" h="9525">
                    <a:moveTo>
                      <a:pt x="0" y="0"/>
                    </a:moveTo>
                    <a:lnTo>
                      <a:pt x="171450" y="0"/>
                    </a:lnTo>
                  </a:path>
                </a:pathLst>
              </a:custGeom>
              <a:noFill/>
              <a:ln w="19050">
                <a:solidFill>
                  <a:srgbClr val="518FEC"/>
                </a:solidFill>
              </a:ln>
            </p:spPr>
          </p:sp>
          <p:sp>
            <p:nvSpPr>
              <p:cNvPr id="32" name="Freeform 32"/>
              <p:cNvSpPr/>
              <p:nvPr/>
            </p:nvSpPr>
            <p:spPr>
              <a:xfrm>
                <a:off x="6181725" y="5715000"/>
                <a:ext cx="9525" cy="9525"/>
              </a:xfrm>
              <a:custGeom>
                <a:avLst/>
                <a:gdLst/>
                <a:ahLst/>
                <a:cxnLst/>
                <a:rect l="l" t="t" r="r" b="b"/>
                <a:pathLst>
                  <a:path w="9525" h="9525">
                    <a:moveTo>
                      <a:pt x="0" y="0"/>
                    </a:moveTo>
                    <a:lnTo>
                      <a:pt x="9525" y="0"/>
                    </a:lnTo>
                  </a:path>
                </a:pathLst>
              </a:custGeom>
              <a:noFill/>
              <a:ln w="19050">
                <a:solidFill>
                  <a:srgbClr val="518FEC"/>
                </a:solidFill>
              </a:ln>
            </p:spPr>
          </p:sp>
          <p:sp>
            <p:nvSpPr>
              <p:cNvPr id="33" name="Freeform 33"/>
              <p:cNvSpPr/>
              <p:nvPr/>
            </p:nvSpPr>
            <p:spPr>
              <a:xfrm>
                <a:off x="6181725" y="5753100"/>
                <a:ext cx="9525" cy="9525"/>
              </a:xfrm>
              <a:custGeom>
                <a:avLst/>
                <a:gdLst/>
                <a:ahLst/>
                <a:cxnLst/>
                <a:rect l="l" t="t" r="r" b="b"/>
                <a:pathLst>
                  <a:path w="9525" h="9525">
                    <a:moveTo>
                      <a:pt x="0" y="0"/>
                    </a:moveTo>
                    <a:lnTo>
                      <a:pt x="9525" y="0"/>
                    </a:lnTo>
                  </a:path>
                </a:pathLst>
              </a:custGeom>
              <a:noFill/>
              <a:ln w="19050">
                <a:solidFill>
                  <a:srgbClr val="518FEC"/>
                </a:solidFill>
              </a:ln>
            </p:spPr>
          </p:sp>
          <p:sp>
            <p:nvSpPr>
              <p:cNvPr id="34" name="Freeform 34"/>
              <p:cNvSpPr/>
              <p:nvPr/>
            </p:nvSpPr>
            <p:spPr>
              <a:xfrm>
                <a:off x="6181725" y="5791200"/>
                <a:ext cx="9525" cy="9525"/>
              </a:xfrm>
              <a:custGeom>
                <a:avLst/>
                <a:gdLst/>
                <a:ahLst/>
                <a:cxnLst/>
                <a:rect l="l" t="t" r="r" b="b"/>
                <a:pathLst>
                  <a:path w="9525" h="9525">
                    <a:moveTo>
                      <a:pt x="0" y="0"/>
                    </a:moveTo>
                    <a:lnTo>
                      <a:pt x="9525" y="0"/>
                    </a:lnTo>
                  </a:path>
                </a:pathLst>
              </a:custGeom>
              <a:noFill/>
              <a:ln w="19050">
                <a:solidFill>
                  <a:srgbClr val="518FEC"/>
                </a:solidFill>
              </a:ln>
            </p:spPr>
          </p:sp>
          <p:sp>
            <p:nvSpPr>
              <p:cNvPr id="35" name="Freeform 35"/>
              <p:cNvSpPr/>
              <p:nvPr/>
            </p:nvSpPr>
            <p:spPr>
              <a:xfrm>
                <a:off x="6229350" y="5715000"/>
                <a:ext cx="9525" cy="9525"/>
              </a:xfrm>
              <a:custGeom>
                <a:avLst/>
                <a:gdLst/>
                <a:ahLst/>
                <a:cxnLst/>
                <a:rect l="l" t="t" r="r" b="b"/>
                <a:pathLst>
                  <a:path w="9525" h="9525">
                    <a:moveTo>
                      <a:pt x="0" y="0"/>
                    </a:moveTo>
                    <a:lnTo>
                      <a:pt x="9525" y="0"/>
                    </a:lnTo>
                  </a:path>
                </a:pathLst>
              </a:custGeom>
              <a:noFill/>
              <a:ln w="19050">
                <a:solidFill>
                  <a:srgbClr val="518FEC"/>
                </a:solidFill>
              </a:ln>
            </p:spPr>
          </p:sp>
          <p:sp>
            <p:nvSpPr>
              <p:cNvPr id="36" name="Freeform 36"/>
              <p:cNvSpPr/>
              <p:nvPr/>
            </p:nvSpPr>
            <p:spPr>
              <a:xfrm>
                <a:off x="6229350" y="5753100"/>
                <a:ext cx="9525" cy="9525"/>
              </a:xfrm>
              <a:custGeom>
                <a:avLst/>
                <a:gdLst/>
                <a:ahLst/>
                <a:cxnLst/>
                <a:rect l="l" t="t" r="r" b="b"/>
                <a:pathLst>
                  <a:path w="9525" h="9525">
                    <a:moveTo>
                      <a:pt x="0" y="0"/>
                    </a:moveTo>
                    <a:lnTo>
                      <a:pt x="9525" y="0"/>
                    </a:lnTo>
                  </a:path>
                </a:pathLst>
              </a:custGeom>
              <a:noFill/>
              <a:ln w="19050">
                <a:solidFill>
                  <a:srgbClr val="518FEC"/>
                </a:solidFill>
              </a:ln>
            </p:spPr>
          </p:sp>
          <p:sp>
            <p:nvSpPr>
              <p:cNvPr id="37" name="Freeform 37"/>
              <p:cNvSpPr/>
              <p:nvPr/>
            </p:nvSpPr>
            <p:spPr>
              <a:xfrm>
                <a:off x="6229350" y="5791200"/>
                <a:ext cx="9525" cy="9525"/>
              </a:xfrm>
              <a:custGeom>
                <a:avLst/>
                <a:gdLst/>
                <a:ahLst/>
                <a:cxnLst/>
                <a:rect l="l" t="t" r="r" b="b"/>
                <a:pathLst>
                  <a:path w="9525" h="9525">
                    <a:moveTo>
                      <a:pt x="0" y="0"/>
                    </a:moveTo>
                    <a:lnTo>
                      <a:pt x="9525" y="0"/>
                    </a:lnTo>
                  </a:path>
                </a:pathLst>
              </a:custGeom>
              <a:noFill/>
              <a:ln w="19050">
                <a:solidFill>
                  <a:srgbClr val="518FEC"/>
                </a:solidFill>
              </a:ln>
            </p:spPr>
          </p:sp>
          <p:sp>
            <p:nvSpPr>
              <p:cNvPr id="38" name="Freeform 38"/>
              <p:cNvSpPr/>
              <p:nvPr/>
            </p:nvSpPr>
            <p:spPr>
              <a:xfrm>
                <a:off x="6143625" y="5667375"/>
                <a:ext cx="133350" cy="171450"/>
              </a:xfrm>
              <a:custGeom>
                <a:avLst/>
                <a:gdLst/>
                <a:ahLst/>
                <a:cxnLst/>
                <a:rect l="l" t="t" r="r" b="b"/>
                <a:pathLst>
                  <a:path w="133350" h="171450">
                    <a:moveTo>
                      <a:pt x="0" y="171450"/>
                    </a:moveTo>
                    <a:lnTo>
                      <a:pt x="0" y="19050"/>
                    </a:lnTo>
                    <a:cubicBezTo>
                      <a:pt x="0" y="8529"/>
                      <a:pt x="8529" y="0"/>
                      <a:pt x="19050" y="0"/>
                    </a:cubicBezTo>
                    <a:lnTo>
                      <a:pt x="114300" y="0"/>
                    </a:lnTo>
                    <a:cubicBezTo>
                      <a:pt x="124821" y="0"/>
                      <a:pt x="133350" y="8529"/>
                      <a:pt x="133350" y="19050"/>
                    </a:cubicBezTo>
                    <a:lnTo>
                      <a:pt x="133350" y="171450"/>
                    </a:lnTo>
                  </a:path>
                </a:pathLst>
              </a:custGeom>
              <a:noFill/>
              <a:ln w="19050">
                <a:solidFill>
                  <a:srgbClr val="518FEC"/>
                </a:solidFill>
              </a:ln>
            </p:spPr>
          </p:sp>
        </p:grpSp>
        <p:sp>
          <p:nvSpPr>
            <p:cNvPr id="40" name="TextBox 40"/>
            <p:cNvSpPr txBox="1"/>
            <p:nvPr/>
          </p:nvSpPr>
          <p:spPr>
            <a:xfrm>
              <a:off x="6387465" y="5715952"/>
              <a:ext cx="1090803"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a:ea typeface="Microsoft YaHei"/>
                  <a:cs typeface="Arial"/>
                </a:rPr>
                <a:t>法本信息 Farben</a:t>
              </a:r>
            </a:p>
          </p:txBody>
        </p:sp>
        <p:grpSp>
          <p:nvGrpSpPr>
            <p:cNvPr id="45" name="Group 45"/>
            <p:cNvGrpSpPr/>
            <p:nvPr/>
          </p:nvGrpSpPr>
          <p:grpSpPr>
            <a:xfrm>
              <a:off x="7372350" y="5667375"/>
              <a:ext cx="152400" cy="180975"/>
              <a:chOff x="7372350" y="5667375"/>
              <a:chExt cx="152400" cy="180975"/>
            </a:xfrm>
          </p:grpSpPr>
          <p:sp>
            <p:nvSpPr>
              <p:cNvPr id="41" name="Freeform 41"/>
              <p:cNvSpPr/>
              <p:nvPr/>
            </p:nvSpPr>
            <p:spPr>
              <a:xfrm>
                <a:off x="7372350" y="5667375"/>
                <a:ext cx="152400" cy="104775"/>
              </a:xfrm>
              <a:custGeom>
                <a:avLst/>
                <a:gdLst/>
                <a:ahLst/>
                <a:cxnLst/>
                <a:rect l="l" t="t" r="r" b="b"/>
                <a:pathLst>
                  <a:path w="152400" h="104775">
                    <a:moveTo>
                      <a:pt x="0" y="104775"/>
                    </a:moveTo>
                    <a:lnTo>
                      <a:pt x="0" y="76200"/>
                    </a:lnTo>
                    <a:cubicBezTo>
                      <a:pt x="0" y="34116"/>
                      <a:pt x="34116" y="0"/>
                      <a:pt x="76200" y="0"/>
                    </a:cubicBezTo>
                    <a:cubicBezTo>
                      <a:pt x="118284" y="0"/>
                      <a:pt x="152400" y="34116"/>
                      <a:pt x="152400" y="76200"/>
                    </a:cubicBezTo>
                    <a:lnTo>
                      <a:pt x="152400" y="104775"/>
                    </a:lnTo>
                  </a:path>
                </a:pathLst>
              </a:custGeom>
              <a:noFill/>
              <a:ln w="19050">
                <a:solidFill>
                  <a:srgbClr val="518FEC"/>
                </a:solidFill>
              </a:ln>
            </p:spPr>
          </p:sp>
          <p:sp>
            <p:nvSpPr>
              <p:cNvPr id="42" name="Freeform 42"/>
              <p:cNvSpPr/>
              <p:nvPr/>
            </p:nvSpPr>
            <p:spPr>
              <a:xfrm>
                <a:off x="7448550" y="5819775"/>
                <a:ext cx="57150" cy="28575"/>
              </a:xfrm>
              <a:custGeom>
                <a:avLst/>
                <a:gdLst/>
                <a:ahLst/>
                <a:cxnLst/>
                <a:rect l="l" t="t" r="r" b="b"/>
                <a:pathLst>
                  <a:path w="57150" h="28575">
                    <a:moveTo>
                      <a:pt x="57150" y="0"/>
                    </a:moveTo>
                    <a:cubicBezTo>
                      <a:pt x="57150" y="15783"/>
                      <a:pt x="31566" y="28575"/>
                      <a:pt x="0" y="28575"/>
                    </a:cubicBezTo>
                  </a:path>
                </a:pathLst>
              </a:custGeom>
              <a:noFill/>
              <a:ln w="19050">
                <a:solidFill>
                  <a:srgbClr val="518FEC"/>
                </a:solidFill>
              </a:ln>
            </p:spPr>
          </p:sp>
          <p:sp>
            <p:nvSpPr>
              <p:cNvPr id="43" name="Freeform 43"/>
              <p:cNvSpPr/>
              <p:nvPr/>
            </p:nvSpPr>
            <p:spPr>
              <a:xfrm>
                <a:off x="7372350" y="5753100"/>
                <a:ext cx="47625" cy="66675"/>
              </a:xfrm>
              <a:custGeom>
                <a:avLst/>
                <a:gdLst/>
                <a:ahLst/>
                <a:cxnLst/>
                <a:rect l="l" t="t" r="r" b="b"/>
                <a:pathLst>
                  <a:path w="47625" h="66675">
                    <a:moveTo>
                      <a:pt x="0" y="19050"/>
                    </a:moveTo>
                    <a:cubicBezTo>
                      <a:pt x="0" y="8529"/>
                      <a:pt x="8529" y="0"/>
                      <a:pt x="19050" y="0"/>
                    </a:cubicBezTo>
                    <a:lnTo>
                      <a:pt x="28575" y="0"/>
                    </a:lnTo>
                    <a:cubicBezTo>
                      <a:pt x="39096" y="0"/>
                      <a:pt x="47625" y="8529"/>
                      <a:pt x="47625" y="19050"/>
                    </a:cubicBezTo>
                    <a:lnTo>
                      <a:pt x="47625" y="47625"/>
                    </a:lnTo>
                    <a:cubicBezTo>
                      <a:pt x="47625" y="58146"/>
                      <a:pt x="39096" y="66675"/>
                      <a:pt x="28575" y="66675"/>
                    </a:cubicBezTo>
                    <a:lnTo>
                      <a:pt x="19050" y="66675"/>
                    </a:lnTo>
                    <a:cubicBezTo>
                      <a:pt x="8529" y="66675"/>
                      <a:pt x="0" y="58146"/>
                      <a:pt x="0" y="47625"/>
                    </a:cubicBezTo>
                    <a:lnTo>
                      <a:pt x="0" y="19050"/>
                    </a:lnTo>
                  </a:path>
                </a:pathLst>
              </a:custGeom>
              <a:noFill/>
              <a:ln w="19050">
                <a:solidFill>
                  <a:srgbClr val="518FEC"/>
                </a:solidFill>
              </a:ln>
            </p:spPr>
          </p:sp>
          <p:sp>
            <p:nvSpPr>
              <p:cNvPr id="44" name="Freeform 44"/>
              <p:cNvSpPr/>
              <p:nvPr/>
            </p:nvSpPr>
            <p:spPr>
              <a:xfrm>
                <a:off x="7477125" y="5753100"/>
                <a:ext cx="47625" cy="66675"/>
              </a:xfrm>
              <a:custGeom>
                <a:avLst/>
                <a:gdLst/>
                <a:ahLst/>
                <a:cxnLst/>
                <a:rect l="l" t="t" r="r" b="b"/>
                <a:pathLst>
                  <a:path w="47625" h="66675">
                    <a:moveTo>
                      <a:pt x="0" y="19050"/>
                    </a:moveTo>
                    <a:cubicBezTo>
                      <a:pt x="0" y="8529"/>
                      <a:pt x="8529" y="0"/>
                      <a:pt x="19050" y="0"/>
                    </a:cubicBezTo>
                    <a:lnTo>
                      <a:pt x="28575" y="0"/>
                    </a:lnTo>
                    <a:cubicBezTo>
                      <a:pt x="39096" y="0"/>
                      <a:pt x="47625" y="8529"/>
                      <a:pt x="47625" y="19050"/>
                    </a:cubicBezTo>
                    <a:lnTo>
                      <a:pt x="47625" y="47625"/>
                    </a:lnTo>
                    <a:cubicBezTo>
                      <a:pt x="47625" y="58146"/>
                      <a:pt x="39096" y="66675"/>
                      <a:pt x="28575" y="66675"/>
                    </a:cubicBezTo>
                    <a:lnTo>
                      <a:pt x="19050" y="66675"/>
                    </a:lnTo>
                    <a:cubicBezTo>
                      <a:pt x="8529" y="66675"/>
                      <a:pt x="0" y="58146"/>
                      <a:pt x="0" y="47625"/>
                    </a:cubicBezTo>
                    <a:lnTo>
                      <a:pt x="0" y="19050"/>
                    </a:lnTo>
                  </a:path>
                </a:pathLst>
              </a:custGeom>
              <a:noFill/>
              <a:ln w="19050">
                <a:solidFill>
                  <a:srgbClr val="518FEC"/>
                </a:solidFill>
              </a:ln>
            </p:spPr>
          </p:sp>
        </p:grpSp>
        <p:sp>
          <p:nvSpPr>
            <p:cNvPr id="46" name="TextBox 46"/>
            <p:cNvSpPr txBox="1"/>
            <p:nvPr/>
          </p:nvSpPr>
          <p:spPr>
            <a:xfrm>
              <a:off x="7625715" y="5715952"/>
              <a:ext cx="586740" cy="213360"/>
            </a:xfrm>
            <a:prstGeom prst="rect">
              <a:avLst/>
            </a:prstGeom>
            <a:noFill/>
            <a:ln>
              <a:noFill/>
            </a:ln>
          </p:spPr>
          <p:txBody>
            <a:bodyPr wrap="none" lIns="0" tIns="0" rIns="0" bIns="0" anchor="t" anchorCtr="0">
              <a:spAutoFit/>
            </a:bodyPr>
            <a:lstStyle/>
            <a:p>
              <a:pPr algn="l"/>
              <a:r>
                <a:rPr lang="zh-CN" sz="1050" dirty="0">
                  <a:solidFill>
                    <a:srgbClr val="B8C7E0"/>
                  </a:solidFill>
                  <a:latin typeface="Arial"/>
                  <a:ea typeface="Microsoft YaHei"/>
                  <a:cs typeface="Arial"/>
                </a:rPr>
                <a:t>售前对接</a:t>
              </a:r>
            </a:p>
          </p:txBody>
        </p:sp>
      </p:grpSp>
      <p:sp>
        <p:nvSpPr>
          <p:cNvPr id="48" name="TextBox 48"/>
          <p:cNvSpPr txBox="1"/>
          <p:nvPr/>
        </p:nvSpPr>
        <p:spPr>
          <a:xfrm>
            <a:off x="4866418" y="6379845"/>
            <a:ext cx="2459164" cy="182880"/>
          </a:xfrm>
          <a:prstGeom prst="rect">
            <a:avLst/>
          </a:prstGeom>
          <a:noFill/>
          <a:ln>
            <a:noFill/>
          </a:ln>
        </p:spPr>
        <p:txBody>
          <a:bodyPr wrap="none" lIns="0" tIns="0" rIns="0" bIns="0" anchor="t" anchorCtr="0">
            <a:spAutoFit/>
          </a:bodyPr>
          <a:lstStyle/>
          <a:p>
            <a:pPr algn="ctr"/>
            <a:r>
              <a:rPr lang="zh-CN" sz="900" dirty="0">
                <a:solidFill>
                  <a:srgbClr val="8FA3C4"/>
                </a:solidFill>
                <a:latin typeface="Arial"/>
                <a:ea typeface="Microsoft YaHei"/>
                <a:cs typeface="Arial"/>
              </a:rPr>
              <a:t>法本信息 · FarAI 研发流水线售前方案 · 2026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image">
                                      <p:cBhvr>
                                        <p:cTn id="7" dur="400"/>
                                        <p:tgtEl>
                                          <p:spTgt spid="2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slide(fromBottom)">
                                      <p:cBhvr>
                                        <p:cTn id="19"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4" grpId="0"/>
      <p:bldP spid="4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2026-08-05T09:23:55Z</dcterms:created>
  <dcterms:modified xsi:type="dcterms:W3CDTF">2026-08-05T09:23:55Z</dcterms:modified>
  <cp:category/>
  <cp:contentStatus/>
</cp:coreProperties>
</file>