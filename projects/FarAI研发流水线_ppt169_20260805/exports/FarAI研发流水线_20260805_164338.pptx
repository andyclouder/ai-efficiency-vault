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各位领导、各位同事,大家好。今天向大家汇报的是法本信息 FarAI 研发流水线。一句话讲清楚我们要解决的事:让"个人用 AI 变快",真正变成"组织级的系统提速"。这不是又一个 AI 编码工具,而是一套驾驭框架先行、四闭环工艺驱动、先建安全网再放大自主度的人智协同研发平台。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整个汇报围绕五章展开。第一章讲清楚核心命题,为什么个人提效不等于组织提效。第二章展示产品全景,也就是 FarAI 研发流水线的四层架构。第三章展开四大场景方案。第四章给技术负责人讲工程底座 Harness 驾驭框架。第五章谈价值、实施路径和法本的保障。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我们首先进入第一章,核心命题。一切问题的起点,是一个悖论——AI 工具已经下沉到每个人,但组织为什么没变快?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过去一年,我们在很多研发组织都能观察到同一个现象。产品经理用 AI 生成原型,工程师用 AI 读码、写码、补测试,测试用 AI 整理用例,架构师用 AI 做影响分析。从个人视角看,变化实实在在,每个人似乎都变快了一些。但回到组织层面,管理者的感受并没有那么强。需求仍然在排队,版本仍然按原节奏推进,跨团队沟通、联调评审仍然反复,测试环境仍然紧张。这就形成了 AI 时代软件工程的一个典型悖论:个人提效已经发生,但组织提效没有自然发生。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为什么会这样?根因有三层。第一,成本结构变了。代码理解、生成、测试补充、缺陷分析的成本正在下降,"写出代码"从最稀缺的能力,变成可被 AI 大幅放大的能力。第二,瓶颈转移了。新瓶颈不在开发产能,而在需求是否清楚、架构边界是否合理、测试能否自动验证、环境数据能否快速准备、知识能否复用。第三,也是最关键的,协作链路没变。软件交付是一条协作链,需求、方案、编码、测试、发布、运营,环环相扣。只给每人加一个 AI 工具,链路不变,个人变快就被链路吃掉,组织自然不变快。所以,真正要解决的不是个人能不能变快,而是组织有没有新的协作方式来承接。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FarAI 研发流水线,就是为承接这件事而生的。我们的回答是四层。第一,驾驭框架先行,也就是 Harness,让 AI 改完代码即可验证。第二,四闭环工艺,创意、需求、交付、运营持续闭环。第三,知识本体底座,让 Agent 拿到准确上下文。第四,治理与度量,先建安全网再放大自主度。一句话总结:让"个人用 AI 变快",变成"组织级系统提速"。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接下来进入第二章,产品全景。FarAI 研发流水线,一个平台,四层架构,把人、智能体、资产、数据、治理协同起来。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FarAI 研发流水线的四层架构,自下而上。最底层是知识与本体底座,本体网络、语义连接、Agent 记忆、经验进化,让知识可被人和 Agent 共同理解。往上是 Harness 驾驭框架,这是工程底座,包括 CLI 化、fullcheck、CLI E2E、hooks、traceId、Agent OS,是 Agent 可控的前提。再往上是人智协同平台,也叫 Delivery Workbench,连接桌面智能体、云端智能体、任务权限审计和 Skill 治理。最上层是治理与度量层,风险分级、Human-in-Loop、AI FinOps、效能度量。向上承载场景,向下沉淀能力,这就是 FarAI 以智能系统为中枢的人智协同平台。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四大场景不是孤立的点,而是覆盖需求、交付、知识、治理的研发全链路。S1 智能需求闭环主要落在人智协同和 Harness 这两层,靠编码 Agent 反读代码反向提问。S2 智能交付闭环主要落在 Harness 驾驭框架,靠 fullcheck、E2E 和自动化测试。S3 智能知识底座落在知识与本体底座。S4 智能治理与 FinOps 落在治理与度量层。四大场景乘以四层架构,等于端到端的研发流水线。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下面进入第三章,四大场景方案。每个场景都是一个完整闭环,解决一个 AI 能切入的高价值环节。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第一个场景,智能需求闭环。痛点很普遍:产品闭门写 PRD,进开发才发现接口不存在、数据结构不符、边界没想清,于是返工,排期延误。需求阶段的返工,是组织提效最大的隐形漏斗。看现状流程,产品写 PRD、评审、开发、发现问题、返工,问题总是到开发阶段才暴露。FarAI 改变了这个顺序,产品提需求后,编码 Agent 反读代码、接口、数据结构、历史需求和配置,然后反向提问,推动产品澄清边界、异常、权限和状态流。最终输出的是高质量 PRD、澄清问题清单、验收标准和需求契约。需求在进入开发前,就和真实系统发生了碰撞。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FarAI 在这个场景提供四项能力:编码 Agent 反读代码库、自动识别需求缺陷、生成澄清问题清单、输出可验证的需求契约。价值上,需求返工率预计下降百分之四十到五十,需求一次澄清通过率预计提升两到三倍,更重要的是开发前消缺带来的隐形成本节省。需要说明的是,这些是预估值,可按客户实际业务量校准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第二个场景,智能交付闭环。这个痛点大家最有共鸣:工程师用 AI 写代码很快,但代码评审靠人肉,测试靠人工,环境数据靠手动准备,结果就是不敢快速合并、不敢重构、不敢频繁发布。交付闭环的核心是把质量内嵌在每一步。需求转 Spec,设计加编码,AI 加 Agent 协作,fullcheck 全量检查,CLI E2E 自动验证,AI 代码评审,最后是可发布版本。关键判断是,没有自动化安全网,AI 写得再快组织也不敢合并、重构、发布。Harness 先行,才能让组织敢于让 AI 高频自主。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这个场景的能力都是 Harness 组件:fullcheck 全量检查、CLI E2E 自动化、AI 代码评审、架构规则 as Code、traceId 全链路追踪。价值上,返工和缺陷率预计下降百分之四十到六十,安全合并和重构吞吐预计提升三到五倍,而 AI 能承担的自主执行范围,会随安全网强度持续放大。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第三个场景,智能知识底座。痛点是 Agent 拿不到准确上下文,老找错代码、误解业务。需求在 Confluence,设计在 Figma,代码在 Git,测试在 TestRail,契约在 Swagger,规则散落在文档里。Agent 检索只能靠关键词或向量相似度去猜,结果就是找错上下文、误解概念、遗漏约束,生成看似合理实则错误的方案。FarAI 的解法是三层资产结构:第一层底层工程资产,第二层用本体网络做语义连接,第三层是 Agent 记忆、Skill、Prompt 这些能力资产。不是堆更多文件,而是用本体网络把资产连起来。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FarAI 在这个场景提供四项能力:本体网络做语义关联,知识联通底座结合语义检索、向量检索和代码引用,Agent 记忆结构化保存执行过程,经验进化底座让 Prompt、Skill、规则持续改进。价值上,上下文获取时效从分钟级降到秒级,知识资产复用率预计提升百分之五十以上。最关键的是 Agent 越用越准,组织经验持续进化成能力。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第四个场景,智能治理与 FinOps。这里的痛点是两难加黑箱。两难是:不管,怕 AI 乱跑出事;管太死,每步人工审批,速度优势被抵消。黑箱是 Token 成本、模型调用成本、Agent 执行成本没有度量,"用了多少 AI"清楚,"带来什么收益"说不清。FarAI 的治理五步阶梯是:多层自动化测试作为安全网起点,AI 参与评审做前置发现,规则守护与熵减做技术债持续治理,风险分级加 Human-in-Loop 分级行权,最后是效能度量加 AI FinOps。核心原则是,不是让 AI 慢下来,而是让 AI 在可控边界内跑得更快。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这个场景的能力包括风险分级行权、AI FinOps、效能度量、能力差异洞察。低风险 Agent 自主,中风险确认,高风险涉及资金、权限、隐私的必须人工把关。价值上,AI 投入产出可度量,高风险变更漏审风险预计下降百分之三十到五十,Token ROI 持续可视化。风险分级决定自主度,效能度量决定投入产出。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下面进入第四章,工程底座。这一章主要给技术负责人,Harness 是 Agent 可控的前提。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Harness 一共九大组件,是驾驭 Agent 的工程抓手。第一,CLI Harness,CLI 化是基础,让 Agent 能调用代码。第二,fullcheck 全量检查,AI 改完即验证。第三,CLI E2E 端到端自动化。第四,Agent traceId,执行全链路可追踪。第五,Agent OS,Agent 的操作系统。第六,UI Harness,UI 自动化驾驭。第七,API Harness,接口契约可验证。第八,SOP Harness,高频任务沉淀成标准作业流程。第九,Harness flake,驾驭框架自身的稳定性治理。这九个组件,把"Agent 能跑"升级为"Agent 可控、可验证、可追溯"。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Harness 先行原则是这一章的核心。正确顺序是三步:Harness 先建,Agent 在 Harness 内跑 Loop 和 Graph,Agent 的 feedback 反哺 Harness 持续强化。这样可控、可验证、可持续放大自主度。反过来,有两种典型反模式。一种是 Loop Engineering,先让 Agent 跑循环再补约束,结果循环失控,事故已经发生,补不回来。另一种是 Graph Engineering,先让 Agent 跑任务图再补治理,治理滞后于破坏。共性是顺序错了,后期补 Harness 成本极高。所以,先建安全网,再放大自主度。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Harness 先行不是理论。我们看一组行业工程化实践的参考量级:百万行以上的单库规模,Agent 也能协同;代码 CLI 化率可以做到三成以上,意味着超过三分之一的代码 Agent 可直接调用;日均 Agent 协同提交可以做到三十次以上,这是人智协同密度的真实形态;而这一切靠的是九大 Harness 组件构成的驾驭框架。需要强调,这些是行业参考量级,不是对客户的承诺值,实际数值要按代码库和团队规模校准。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最后进入第五章,价值、实施与保障。从试点到规模化的路径。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FarAI 研发流水线的商业价值可以拆成四个维度。效率上,需求返工预计下降百分之四十到五十,安全合并吞吐预计提升三到五倍,个人变快升级为组织级系统提速。质量上,缺陷返工率预计下降百分之四十到六十,高风险漏审预计下降百分之三十到五十,Harness 安全网让 AI 改完即可验证。成本上,上下文获取从分钟级降到秒级,Token ROI 持续可视化。进化上,知识资产复用率预计提升百分之五十以上,Agent 越用越准,组织经验持续成能力。这些都是预估值,可按实际业务量校准。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落地路径我们建议分六阶段。阶段零,启动前两到四周,选产品、建基线、定义风险边界。阶段一,M1 到 M2,工程底座试点,CLI 化、环境自动化、自动化测试补强、资产 Git 化。阶段二,M2 到 M4,产品 AI 小队,跑通 AI 快速原型、契约驱动交付、产品全栈协同,个人提效开始变成小队提效。阶段三,M3 到 M6,数据与知识试点,推进本体网络雏形。阶段四,M6 到 M9,FDE 小队试点,应用、数据、知识融合。阶段五,M9 到 M18,组织架构转型,三层组织成型,治理和 ROI 制度化。核心原则是:每阶段沉淀五加二范式的一部分,试点有效再复制,不要先大规模改组织。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为什么是法本?四重保障托底。能力底座,FarAI 全栈产品矩阵,自研 Agent 和 Skill 框架,本体网络与知识工程能力,Harness 工程方法论。交付经验,多行业研发组织落地,标准化实施方法论,试点到复制的成熟路径。安全合规,企业级数据安全,权限与审计,风险分级行权,支持私有化和国产化部署。生态合作,主流大模型集成,编码工具打通,DevOps 工具链接入,行业标杆客户协同。这四重保障,托底 FarAI 研发流水线的端到端落地。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最后用一句话收尾:让 AI 在你的研发组织里,可控地跑起来。这就是 FarAI 研发流水线要做的事——个人提效,组织提效。感谢各位的聆听,期待与各位进一步交流。谢谢。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382500" cy="7429500"/>
            <a:chOff x="0" y="-381000"/>
            <a:chExt cx="12382500" cy="7429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55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763000" y="-381000"/>
              <a:ext cx="3429000" cy="3429000"/>
            </a:xfrm>
            <a:prstGeom prst="ellipse">
              <a:avLst/>
            </a:prstGeom>
            <a:solidFill>
              <a:srgbClr val="246BFE">
                <a:alpha val="8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096500" y="4762500"/>
              <a:ext cx="2286000" cy="2286000"/>
            </a:xfrm>
            <a:prstGeom prst="ellipse">
              <a:avLst/>
            </a:prstGeom>
            <a:solidFill>
              <a:srgbClr val="518FEC">
                <a:alpha val="6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33350" cy="6858000"/>
            <a:chOff x="0" y="0"/>
            <a:chExt cx="133350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gradFill>
              <a:gsLst>
                <a:gs pos="0">
                  <a:srgbClr val="246BFE"/>
                </a:gs>
                <a:gs pos="100000">
                  <a:srgbClr val="518FEC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44562" y="911225"/>
            <a:ext cx="3119803" cy="427037"/>
            <a:chOff x="944562" y="911225"/>
            <a:chExt cx="3119803" cy="427037"/>
          </a:xfrm>
        </p:grpSpPr>
        <p:grpSp>
          <p:nvGrpSpPr>
            <p:cNvPr id="17" name="Group 17"/>
            <p:cNvGrpSpPr/>
            <p:nvPr/>
          </p:nvGrpSpPr>
          <p:grpSpPr>
            <a:xfrm>
              <a:off x="944562" y="911225"/>
              <a:ext cx="244476" cy="331787"/>
              <a:chOff x="944562" y="911225"/>
              <a:chExt cx="244476" cy="33178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62025" y="9461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4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4"/>
                      <a:pt x="193914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4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66800" y="9112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14412" y="10858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19188" y="10858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44562" y="11207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19188" y="11207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4412" y="1190625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31875" y="1016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01725" y="1016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69695" y="1002982"/>
              <a:ext cx="6194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FarAI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96465" y="1067752"/>
              <a:ext cx="1867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法本信息 · 人智协同研发平台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3910" y="2880360"/>
            <a:ext cx="5590794" cy="1386840"/>
            <a:chOff x="803910" y="2880360"/>
            <a:chExt cx="5590794" cy="1386840"/>
          </a:xfrm>
        </p:grpSpPr>
        <p:sp>
          <p:nvSpPr>
            <p:cNvPr id="21" name="TextBox 21"/>
            <p:cNvSpPr txBox="1"/>
            <p:nvPr/>
          </p:nvSpPr>
          <p:spPr>
            <a:xfrm>
              <a:off x="803910" y="2880360"/>
              <a:ext cx="469365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FarAI 研发流水线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485" y="3694748"/>
              <a:ext cx="556221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让</a:t>
              </a:r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"个人用 AI 变快"</a:t>
              </a:r>
              <a:r>
                <a:rPr lang="zh-CN" sz="19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,真正变成</a:t>
              </a:r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"组织级系统提速"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57250" y="42291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57250" y="4667250"/>
            <a:ext cx="6438900" cy="381000"/>
            <a:chOff x="857250" y="4667250"/>
            <a:chExt cx="6438900" cy="381000"/>
          </a:xfrm>
        </p:grpSpPr>
        <p:sp>
          <p:nvSpPr>
            <p:cNvPr id="25" name="Rectangle 25"/>
            <p:cNvSpPr/>
            <p:nvPr/>
          </p:nvSpPr>
          <p:spPr>
            <a:xfrm>
              <a:off x="857250" y="4667250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23950" y="47853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驾驭框架先行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495550" y="4667250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842260" y="47853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四闭环工艺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133850" y="4667250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80560" y="47853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先建安全网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72150" y="4667250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38850" y="47853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再放大自主度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42010" y="6156960"/>
            <a:ext cx="10506075" cy="243840"/>
            <a:chOff x="842010" y="6156960"/>
            <a:chExt cx="10506075" cy="243840"/>
          </a:xfrm>
        </p:grpSpPr>
        <p:sp>
          <p:nvSpPr>
            <p:cNvPr id="34" name="TextBox 34"/>
            <p:cNvSpPr txBox="1"/>
            <p:nvPr/>
          </p:nvSpPr>
          <p:spPr>
            <a:xfrm>
              <a:off x="842010" y="6156960"/>
              <a:ext cx="17826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法本信息 Farben · 2026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60220" y="6173152"/>
              <a:ext cx="15878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售前方案 · 面向研发组织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4" grpId="0"/>
      <p:bldP spid="3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3425" y="609600"/>
            <a:ext cx="5129284" cy="838200"/>
            <a:chOff x="733425" y="609600"/>
            <a:chExt cx="5129284" cy="838200"/>
          </a:xfrm>
        </p:grpSpPr>
        <p:sp>
          <p:nvSpPr>
            <p:cNvPr id="3" name="Rectangle 3"/>
            <p:cNvSpPr/>
            <p:nvPr/>
          </p:nvSpPr>
          <p:spPr>
            <a:xfrm>
              <a:off x="762000" y="6096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3425" y="785812"/>
              <a:ext cx="51292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五章构成"从悖论到落地"的完整叙事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1203960"/>
              <a:ext cx="30068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命题 → 全景 → 场景 → 工程底座 → 价值实施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714500"/>
            <a:ext cx="2057400" cy="4381500"/>
            <a:chOff x="762000" y="1714500"/>
            <a:chExt cx="2057400" cy="4381500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2057400" cy="4381500"/>
            </a:xfrm>
            <a:prstGeom prst="roundRect">
              <a:avLst>
                <a:gd name="adj" fmla="val 6481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714500"/>
              <a:ext cx="2057400" cy="533400"/>
            </a:xfrm>
            <a:prstGeom prst="roundRect">
              <a:avLst>
                <a:gd name="adj" fmla="val 25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981200"/>
              <a:ext cx="2057400" cy="266700"/>
            </a:xfrm>
            <a:prstGeom prst="rect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6310" y="176593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1550" y="2505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核心命题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7265" y="285845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个人提效 ≠ 组织提效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90600" y="31813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8218" y="34189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核心悖论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8218" y="36475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根因剖析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876199"/>
              <a:ext cx="8893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FarAI 的回答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9170" y="5732145"/>
              <a:ext cx="556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P03 — P06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971800" y="1714500"/>
            <a:ext cx="2057400" cy="4381500"/>
            <a:chOff x="2971800" y="1714500"/>
            <a:chExt cx="2057400" cy="4381500"/>
          </a:xfrm>
        </p:grpSpPr>
        <p:sp>
          <p:nvSpPr>
            <p:cNvPr id="19" name="Rectangle 19"/>
            <p:cNvSpPr/>
            <p:nvPr/>
          </p:nvSpPr>
          <p:spPr>
            <a:xfrm>
              <a:off x="2971800" y="1714500"/>
              <a:ext cx="2057400" cy="4381500"/>
            </a:xfrm>
            <a:prstGeom prst="roundRect">
              <a:avLst>
                <a:gd name="adj" fmla="val 6481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971800" y="1714500"/>
              <a:ext cx="2057400" cy="533400"/>
            </a:xfrm>
            <a:prstGeom prst="roundRect">
              <a:avLst>
                <a:gd name="adj" fmla="val 25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971800" y="1981200"/>
              <a:ext cx="2057400" cy="266700"/>
            </a:xfrm>
            <a:prstGeom prst="rect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66110" y="176593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81350" y="2505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产品全景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87065" y="2858452"/>
              <a:ext cx="1118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FarAI 研发流水线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200400" y="31813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88018" y="34189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四层架构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88018" y="3647599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四大场景映射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88970" y="5732145"/>
              <a:ext cx="556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P07 — P09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181600" y="1714500"/>
            <a:ext cx="2057400" cy="4381500"/>
            <a:chOff x="5181600" y="1714500"/>
            <a:chExt cx="2057400" cy="4381500"/>
          </a:xfrm>
        </p:grpSpPr>
        <p:sp>
          <p:nvSpPr>
            <p:cNvPr id="30" name="Rectangle 30"/>
            <p:cNvSpPr/>
            <p:nvPr/>
          </p:nvSpPr>
          <p:spPr>
            <a:xfrm>
              <a:off x="5181600" y="1714500"/>
              <a:ext cx="2057400" cy="4381500"/>
            </a:xfrm>
            <a:prstGeom prst="roundRect">
              <a:avLst>
                <a:gd name="adj" fmla="val 6481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81600" y="1714500"/>
              <a:ext cx="2057400" cy="533400"/>
            </a:xfrm>
            <a:prstGeom prst="roundRect">
              <a:avLst>
                <a:gd name="adj" fmla="val 25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181600" y="1981200"/>
              <a:ext cx="2057400" cy="266700"/>
            </a:xfrm>
            <a:prstGeom prst="rect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75910" y="176593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91150" y="2505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四大场景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96865" y="28584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每个场景一个闭环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410200" y="31813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97818" y="34189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需求闭环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97818" y="36475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交付闭环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97818" y="38761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知识底座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97818" y="4104799"/>
              <a:ext cx="8568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治理 FinOps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98770" y="5732145"/>
              <a:ext cx="556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P10 — P18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391400" y="1714500"/>
            <a:ext cx="2057400" cy="4381500"/>
            <a:chOff x="7391400" y="1714500"/>
            <a:chExt cx="2057400" cy="4381500"/>
          </a:xfrm>
        </p:grpSpPr>
        <p:sp>
          <p:nvSpPr>
            <p:cNvPr id="43" name="Rectangle 43"/>
            <p:cNvSpPr/>
            <p:nvPr/>
          </p:nvSpPr>
          <p:spPr>
            <a:xfrm>
              <a:off x="7391400" y="1714500"/>
              <a:ext cx="2057400" cy="4381500"/>
            </a:xfrm>
            <a:prstGeom prst="roundRect">
              <a:avLst>
                <a:gd name="adj" fmla="val 6481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91400" y="1714500"/>
              <a:ext cx="2057400" cy="533400"/>
            </a:xfrm>
            <a:prstGeom prst="roundRect">
              <a:avLst>
                <a:gd name="adj" fmla="val 25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91400" y="1981200"/>
              <a:ext cx="2057400" cy="266700"/>
            </a:xfrm>
            <a:prstGeom prst="rect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85710" y="176593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00950" y="2505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工程底座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06665" y="2858452"/>
              <a:ext cx="1167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Harness 驾驭框架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620000" y="31813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07618" y="3418999"/>
              <a:ext cx="635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9 大组件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07618" y="36475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先行原则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07618" y="38761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实战度量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08570" y="5732145"/>
              <a:ext cx="556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P19 — P22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601200" y="1714500"/>
            <a:ext cx="1828800" cy="4381500"/>
            <a:chOff x="9601200" y="1714500"/>
            <a:chExt cx="1828800" cy="4381500"/>
          </a:xfrm>
        </p:grpSpPr>
        <p:sp>
          <p:nvSpPr>
            <p:cNvPr id="55" name="Rectangle 55"/>
            <p:cNvSpPr/>
            <p:nvPr/>
          </p:nvSpPr>
          <p:spPr>
            <a:xfrm>
              <a:off x="9601200" y="1714500"/>
              <a:ext cx="1828800" cy="4381500"/>
            </a:xfrm>
            <a:prstGeom prst="roundRect">
              <a:avLst>
                <a:gd name="adj" fmla="val 7292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601200" y="1714500"/>
              <a:ext cx="1828800" cy="533400"/>
            </a:xfrm>
            <a:prstGeom prst="roundRect">
              <a:avLst>
                <a:gd name="adj" fmla="val 25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01200" y="1981200"/>
              <a:ext cx="1828800" cy="266700"/>
            </a:xfrm>
            <a:prstGeom prst="rect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795510" y="176593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10750" y="2505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价值实施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16465" y="28584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从试点到规模化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9829800" y="318135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817418" y="3418999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商业价值矩阵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17418" y="36475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实施路径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17418" y="38761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法本保障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818370" y="5732145"/>
              <a:ext cx="556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P23 — P27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050976" y="646414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02 / 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2" grpId="0"/>
      <p:bldP spid="54" grpId="0"/>
      <p:bldP spid="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7048500"/>
            <a:chOff x="0" y="0"/>
            <a:chExt cx="121920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096250" y="0"/>
              <a:ext cx="3810000" cy="3810000"/>
            </a:xfrm>
            <a:prstGeom prst="ellipse">
              <a:avLst/>
            </a:prstGeom>
            <a:solidFill>
              <a:srgbClr val="246BFE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571500" y="4381500"/>
              <a:ext cx="2667000" cy="2667000"/>
            </a:xfrm>
            <a:prstGeom prst="ellipse">
              <a:avLst/>
            </a:prstGeom>
            <a:solidFill>
              <a:srgbClr val="518FEC">
                <a:alpha val="5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52450" y="2981325"/>
            <a:ext cx="2960418" cy="3352800"/>
            <a:chOff x="552450" y="2981325"/>
            <a:chExt cx="2960418" cy="335280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0105" y="2209800"/>
            <a:ext cx="1160145" cy="547688"/>
            <a:chOff x="840105" y="2209800"/>
            <a:chExt cx="1160145" cy="547688"/>
          </a:xfrm>
        </p:grpSpPr>
        <p:sp>
          <p:nvSpPr>
            <p:cNvPr id="8" name="Rectangle 8"/>
            <p:cNvSpPr/>
            <p:nvPr/>
          </p:nvSpPr>
          <p:spPr>
            <a:xfrm>
              <a:off x="857250" y="2209800"/>
              <a:ext cx="11430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0105" y="24831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CHAPTER 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9150" y="3067050"/>
            <a:ext cx="4277868" cy="1428750"/>
            <a:chOff x="819150" y="3067050"/>
            <a:chExt cx="4277868" cy="1428750"/>
          </a:xfrm>
        </p:grpSpPr>
        <p:sp>
          <p:nvSpPr>
            <p:cNvPr id="11" name="TextBox 11"/>
            <p:cNvSpPr txBox="1"/>
            <p:nvPr/>
          </p:nvSpPr>
          <p:spPr>
            <a:xfrm>
              <a:off x="819150" y="3067050"/>
              <a:ext cx="17564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核心命题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694748"/>
              <a:ext cx="242882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个人提效 ≠ 组织提效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4251960"/>
              <a:ext cx="42550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一切问题的起点 —— AI 工具下沉到个人后,组织为什么没变快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594419" y="6464141"/>
            <a:ext cx="8460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FA3C4"/>
                </a:solidFill>
                <a:latin typeface="Arial"/>
                <a:ea typeface="Microsoft YaHei"/>
                <a:cs typeface="Arial"/>
              </a:rPr>
              <a:t>03 / 27 · 第一章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33425" y="647700"/>
            <a:ext cx="5003268" cy="633412"/>
            <a:chOff x="733425" y="647700"/>
            <a:chExt cx="5003268" cy="633412"/>
          </a:xfrm>
        </p:grpSpPr>
        <p:sp>
          <p:nvSpPr>
            <p:cNvPr id="3" name="Rectangle 3"/>
            <p:cNvSpPr/>
            <p:nvPr/>
          </p:nvSpPr>
          <p:spPr>
            <a:xfrm>
              <a:off x="762000" y="6477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3425" y="823912"/>
              <a:ext cx="50032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个人都在用 AI,版本还是按原节奏发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524000"/>
            <a:ext cx="5143500" cy="3238500"/>
            <a:chOff x="762000" y="1524000"/>
            <a:chExt cx="5143500" cy="3238500"/>
          </a:xfrm>
        </p:grpSpPr>
        <p:sp>
          <p:nvSpPr>
            <p:cNvPr id="6" name="Rectangle 6"/>
            <p:cNvSpPr/>
            <p:nvPr/>
          </p:nvSpPr>
          <p:spPr>
            <a:xfrm>
              <a:off x="762000" y="1524000"/>
              <a:ext cx="5143500" cy="3238500"/>
            </a:xfrm>
            <a:prstGeom prst="roundRect">
              <a:avLst>
                <a:gd name="adj" fmla="val 470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524000"/>
              <a:ext cx="57150" cy="32385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52525" y="1795462"/>
              <a:ext cx="171450" cy="257175"/>
              <a:chOff x="1152525" y="1795462"/>
              <a:chExt cx="171450" cy="2571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81100" y="17954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52525" y="19669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04950" y="1857375"/>
              <a:ext cx="20438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个人层面:已经变快了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66800" y="228600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1560" y="2575560"/>
              <a:ext cx="17026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产品经理用 AI 生成原型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1560" y="2956560"/>
              <a:ext cx="23427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工程师用 AI 读码、写码、补测试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1560" y="3337560"/>
              <a:ext cx="21827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测试用 AI 整理用例、分析缺陷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1560" y="3718560"/>
              <a:ext cx="17026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架构师用 AI 做影响分析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9655" y="4273868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每个人似乎都变快了一些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524000"/>
            <a:ext cx="5143500" cy="3238500"/>
            <a:chOff x="6286500" y="1524000"/>
            <a:chExt cx="5143500" cy="32385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524000"/>
              <a:ext cx="5143500" cy="3238500"/>
            </a:xfrm>
            <a:prstGeom prst="roundRect">
              <a:avLst>
                <a:gd name="adj" fmla="val 470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86500" y="1524000"/>
              <a:ext cx="57150" cy="32385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18659" y="1790716"/>
              <a:ext cx="288171" cy="247577"/>
              <a:chOff x="6618659" y="1790716"/>
              <a:chExt cx="288171" cy="24757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762750" y="188118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618659" y="179071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62750" y="1981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029450" y="1857375"/>
              <a:ext cx="22538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组织层面:感受不到提速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591300" y="228600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76060" y="25755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需求仍然在排队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76060" y="29565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版本仍按原节奏推进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76060" y="33375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跨团队沟通、联调评审仍反复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76060" y="37185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测试环境仍然紧张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74155" y="4273868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组织整体并没有同步变快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5219700"/>
            <a:ext cx="10668000" cy="952500"/>
            <a:chOff x="762000" y="5219700"/>
            <a:chExt cx="10668000" cy="952500"/>
          </a:xfrm>
        </p:grpSpPr>
        <p:sp>
          <p:nvSpPr>
            <p:cNvPr id="33" name="Rectangle 33"/>
            <p:cNvSpPr/>
            <p:nvPr/>
          </p:nvSpPr>
          <p:spPr>
            <a:xfrm>
              <a:off x="762000" y="5219700"/>
              <a:ext cx="10668000" cy="952500"/>
            </a:xfrm>
            <a:prstGeom prst="roundRect">
              <a:avLst>
                <a:gd name="adj" fmla="val 16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28128" y="5360670"/>
              <a:ext cx="31357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个人提效 ≠ 组织提效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96574" y="5814060"/>
              <a:ext cx="29988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个人提效已经发生,组织提效没有自然发生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37" name="TextBox 37"/>
            <p:cNvSpPr txBox="1"/>
            <p:nvPr/>
          </p:nvSpPr>
          <p:spPr>
            <a:xfrm>
              <a:off x="750570" y="64560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第一章 · 核心命题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04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32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3425" y="609600"/>
            <a:ext cx="4325934" cy="819150"/>
            <a:chOff x="733425" y="609600"/>
            <a:chExt cx="4325934" cy="819150"/>
          </a:xfrm>
        </p:grpSpPr>
        <p:sp>
          <p:nvSpPr>
            <p:cNvPr id="3" name="Rectangle 3"/>
            <p:cNvSpPr/>
            <p:nvPr/>
          </p:nvSpPr>
          <p:spPr>
            <a:xfrm>
              <a:off x="762000" y="6096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3425" y="785812"/>
              <a:ext cx="43259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成本结构变了,但协作链路没变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1184910"/>
              <a:ext cx="43110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瓶颈从"开发产能"转移到"协作链路",链路不变则组织不变快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638300"/>
            <a:ext cx="7429500" cy="1104900"/>
            <a:chOff x="762000" y="1638300"/>
            <a:chExt cx="7429500" cy="1104900"/>
          </a:xfrm>
        </p:grpSpPr>
        <p:sp>
          <p:nvSpPr>
            <p:cNvPr id="7" name="Rectangle 7"/>
            <p:cNvSpPr/>
            <p:nvPr/>
          </p:nvSpPr>
          <p:spPr>
            <a:xfrm>
              <a:off x="762000" y="1638300"/>
              <a:ext cx="7429500" cy="1104900"/>
            </a:xfrm>
            <a:prstGeom prst="roundRect">
              <a:avLst>
                <a:gd name="adj" fmla="val 1206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71550" y="1771650"/>
              <a:ext cx="419100" cy="419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11974" y="19116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587500" y="1828800"/>
              <a:ext cx="177800" cy="228600"/>
            </a:xfrm>
            <a:custGeom>
              <a:avLst/>
              <a:gdLst/>
              <a:ahLst/>
              <a:cxnLst/>
              <a:rect l="l" t="t" r="r" b="b"/>
              <a:pathLst>
                <a:path w="177800" h="228600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600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0052A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62150" y="18192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成本结构变了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66912" y="2164556"/>
              <a:ext cx="35615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代码理解/生成、测试补充、缺陷分析的成本正在下降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66912" y="2412206"/>
              <a:ext cx="37940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"写出代码"从最稀缺的能力,变成可被 AI 大幅放大的能力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2857500"/>
            <a:ext cx="7429500" cy="1104900"/>
            <a:chOff x="762000" y="2857500"/>
            <a:chExt cx="7429500" cy="1104900"/>
          </a:xfrm>
        </p:grpSpPr>
        <p:sp>
          <p:nvSpPr>
            <p:cNvPr id="15" name="Rectangle 15"/>
            <p:cNvSpPr/>
            <p:nvPr/>
          </p:nvSpPr>
          <p:spPr>
            <a:xfrm>
              <a:off x="762000" y="2857500"/>
              <a:ext cx="7429500" cy="1104900"/>
            </a:xfrm>
            <a:prstGeom prst="roundRect">
              <a:avLst>
                <a:gd name="adj" fmla="val 1206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71550" y="2990850"/>
              <a:ext cx="419100" cy="4191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11974" y="31308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562100" y="3048000"/>
              <a:ext cx="228600" cy="228600"/>
              <a:chOff x="1562100" y="3048000"/>
              <a:chExt cx="228600" cy="228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663700" y="31496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612900" y="30988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562100" y="30480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962150" y="30384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瓶颈转移了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6912" y="3383756"/>
              <a:ext cx="2983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新瓶颈在:需求是否清楚 · 架构边界是否合理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66912" y="3631406"/>
              <a:ext cx="40565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测试能否自动验证 · 环境/数据能否快速准备 · 知识能否复用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" y="4076700"/>
            <a:ext cx="7429500" cy="1104900"/>
            <a:chOff x="762000" y="4076700"/>
            <a:chExt cx="7429500" cy="1104900"/>
          </a:xfrm>
        </p:grpSpPr>
        <p:sp>
          <p:nvSpPr>
            <p:cNvPr id="26" name="Rectangle 26"/>
            <p:cNvSpPr/>
            <p:nvPr/>
          </p:nvSpPr>
          <p:spPr>
            <a:xfrm>
              <a:off x="762000" y="4076700"/>
              <a:ext cx="7429500" cy="1104900"/>
            </a:xfrm>
            <a:prstGeom prst="roundRect">
              <a:avLst>
                <a:gd name="adj" fmla="val 1206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2000" y="407670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71550" y="4210050"/>
              <a:ext cx="419100" cy="4191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11974" y="43500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587500" y="4279900"/>
              <a:ext cx="190500" cy="203200"/>
              <a:chOff x="1587500" y="4279900"/>
              <a:chExt cx="190500" cy="203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587500" y="4432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587500" y="42799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714500" y="42799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612900" y="43307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638300" y="43688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88900"/>
                    </a:moveTo>
                    <a:lnTo>
                      <a:pt x="76200" y="88900"/>
                    </a:lnTo>
                    <a:cubicBezTo>
                      <a:pt x="90228" y="88900"/>
                      <a:pt x="101600" y="77528"/>
                      <a:pt x="101600" y="6350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701800" y="436880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38100" y="0"/>
                    </a:ln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962150" y="4257675"/>
              <a:ext cx="25899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协作链路没变 → 组织不变快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66912" y="4602956"/>
              <a:ext cx="4274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软件交付是一条协作链:需求 → 评审 → 合入 → 验证 → 发布 → 运营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66912" y="4850606"/>
              <a:ext cx="4274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只给每人加 AI 工具,链路不变 → 协作链路仍是瓶颈 → 组织不变快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477250" y="1638300"/>
            <a:ext cx="2952750" cy="3543300"/>
            <a:chOff x="8477250" y="1638300"/>
            <a:chExt cx="2952750" cy="3543300"/>
          </a:xfrm>
        </p:grpSpPr>
        <p:sp>
          <p:nvSpPr>
            <p:cNvPr id="41" name="Rectangle 41"/>
            <p:cNvSpPr/>
            <p:nvPr/>
          </p:nvSpPr>
          <p:spPr>
            <a:xfrm>
              <a:off x="8477250" y="1638300"/>
              <a:ext cx="2952750" cy="3543300"/>
            </a:xfrm>
            <a:prstGeom prst="roundRect">
              <a:avLst>
                <a:gd name="adj" fmla="val 4516"/>
              </a:avLst>
            </a:prstGeom>
            <a:solidFill>
              <a:srgbClr val="0E36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50312" y="18707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软件交付协作链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763000" y="219075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246BFE">
                  <a:alpha val="5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686800" y="24003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04948" y="25346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077450" y="24003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495597" y="25346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686800" y="30480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04948" y="31823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编码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077450" y="30480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495597" y="31823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686800" y="36957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04948" y="38300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077450" y="36957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488597" y="38300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运营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16202" y="444769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协作链不变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56169" y="46572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个人变快被链路吃掉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89734" y="4877752"/>
              <a:ext cx="1327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→ 必须重构生产关系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60" name="TextBox 60"/>
            <p:cNvSpPr txBox="1"/>
            <p:nvPr/>
          </p:nvSpPr>
          <p:spPr>
            <a:xfrm>
              <a:off x="750570" y="64560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第一章 · 核心命题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05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25" grpId="0"/>
      <p:bldP spid="40" grpId="0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3425" y="609600"/>
            <a:ext cx="6531209" cy="819150"/>
            <a:chOff x="733425" y="609600"/>
            <a:chExt cx="6531209" cy="819150"/>
          </a:xfrm>
        </p:grpSpPr>
        <p:sp>
          <p:nvSpPr>
            <p:cNvPr id="3" name="Rectangle 3"/>
            <p:cNvSpPr/>
            <p:nvPr/>
          </p:nvSpPr>
          <p:spPr>
            <a:xfrm>
              <a:off x="762000" y="6096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3425" y="785812"/>
              <a:ext cx="653120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先建驾驭框架,把个人变快转化为组织系统提速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1184910"/>
              <a:ext cx="3942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不是再卖一个 AI 工具,而是让 AI 在组织里可控地跑起来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81500" y="2095500"/>
            <a:ext cx="3429000" cy="3429000"/>
            <a:chOff x="4381500" y="2095500"/>
            <a:chExt cx="3429000" cy="3429000"/>
          </a:xfrm>
        </p:grpSpPr>
        <p:sp>
          <p:nvSpPr>
            <p:cNvPr id="7" name="Ellipse 7"/>
            <p:cNvSpPr/>
            <p:nvPr/>
          </p:nvSpPr>
          <p:spPr>
            <a:xfrm>
              <a:off x="4381500" y="2095500"/>
              <a:ext cx="3429000" cy="3429000"/>
            </a:xfrm>
            <a:prstGeom prst="ellipse">
              <a:avLst/>
            </a:prstGeom>
            <a:gradFill>
              <a:gsLst>
                <a:gs pos="0">
                  <a:srgbClr val="246BFE">
                    <a:alpha val="18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953000" y="2667000"/>
              <a:ext cx="2286000" cy="22860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953000" y="2667000"/>
              <a:ext cx="2286000" cy="2286000"/>
            </a:xfrm>
            <a:prstGeom prst="ellipse">
              <a:avLst/>
            </a:prstGeom>
            <a:noFill/>
            <a:ln w="19050">
              <a:solidFill>
                <a:srgbClr val="246BFE">
                  <a:alpha val="40000"/>
                </a:srgbClr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929312" y="3286125"/>
              <a:ext cx="333376" cy="452437"/>
              <a:chOff x="5929312" y="3286125"/>
              <a:chExt cx="333376" cy="45243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953125" y="333375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142875"/>
                    </a:lnTo>
                    <a:cubicBezTo>
                      <a:pt x="285750" y="169178"/>
                      <a:pt x="264428" y="190500"/>
                      <a:pt x="238125" y="190500"/>
                    </a:cubicBezTo>
                    <a:lnTo>
                      <a:pt x="47625" y="190500"/>
                    </a:lnTo>
                    <a:cubicBezTo>
                      <a:pt x="21322" y="190500"/>
                      <a:pt x="0" y="169178"/>
                      <a:pt x="0" y="1428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096000" y="32861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024562" y="3524250"/>
                <a:ext cx="952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4312">
                    <a:moveTo>
                      <a:pt x="0" y="0"/>
                    </a:moveTo>
                    <a:lnTo>
                      <a:pt x="0" y="21431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167438" y="3524250"/>
                <a:ext cx="952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4312">
                    <a:moveTo>
                      <a:pt x="0" y="0"/>
                    </a:moveTo>
                    <a:lnTo>
                      <a:pt x="0" y="21431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929312" y="3571875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167438" y="3571875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0"/>
                    </a:moveTo>
                    <a:lnTo>
                      <a:pt x="9525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024562" y="3667125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48375" y="3429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143625" y="3429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5174032" y="3917632"/>
              <a:ext cx="18439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FarAI 研发流水线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63552" y="42571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人智协同研发平台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667250" y="1485900"/>
            <a:ext cx="2857500" cy="1181100"/>
            <a:chOff x="4667250" y="1485900"/>
            <a:chExt cx="2857500" cy="1181100"/>
          </a:xfrm>
        </p:grpSpPr>
        <p:sp>
          <p:nvSpPr>
            <p:cNvPr id="23" name="Line 23"/>
            <p:cNvSpPr/>
            <p:nvPr/>
          </p:nvSpPr>
          <p:spPr>
            <a:xfrm>
              <a:off x="6096000" y="19050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52A6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038850" y="19050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0052A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667250" y="1485900"/>
              <a:ext cx="2857500" cy="762000"/>
            </a:xfrm>
            <a:prstGeom prst="roundRect">
              <a:avLst>
                <a:gd name="adj" fmla="val 175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890561" y="1752600"/>
              <a:ext cx="239178" cy="228600"/>
            </a:xfrm>
            <a:custGeom>
              <a:avLst/>
              <a:gdLst/>
              <a:ahLst/>
              <a:cxnLst/>
              <a:rect l="l" t="t" r="r" b="b"/>
              <a:pathLst>
                <a:path w="239178" h="228600">
                  <a:moveTo>
                    <a:pt x="119589" y="0"/>
                  </a:moveTo>
                  <a:cubicBezTo>
                    <a:pt x="149254" y="26246"/>
                    <a:pt x="187972" y="39911"/>
                    <a:pt x="227539" y="38100"/>
                  </a:cubicBezTo>
                  <a:cubicBezTo>
                    <a:pt x="239178" y="77693"/>
                    <a:pt x="234262" y="120313"/>
                    <a:pt x="213917" y="156217"/>
                  </a:cubicBezTo>
                  <a:cubicBezTo>
                    <a:pt x="193571" y="192121"/>
                    <a:pt x="159535" y="218239"/>
                    <a:pt x="119589" y="228600"/>
                  </a:cubicBezTo>
                  <a:cubicBezTo>
                    <a:pt x="79643" y="218239"/>
                    <a:pt x="45606" y="192121"/>
                    <a:pt x="25261" y="156217"/>
                  </a:cubicBezTo>
                  <a:cubicBezTo>
                    <a:pt x="4915" y="120313"/>
                    <a:pt x="0" y="77693"/>
                    <a:pt x="11639" y="38100"/>
                  </a:cubicBezTo>
                  <a:cubicBezTo>
                    <a:pt x="51206" y="39911"/>
                    <a:pt x="89924" y="26246"/>
                    <a:pt x="119589" y="0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40655" y="16640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驾驭框架先行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45418" y="1952149"/>
              <a:ext cx="18449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Harness —— 让 AI 改完即可验证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239000" y="3429000"/>
            <a:ext cx="3714750" cy="762000"/>
            <a:chOff x="7239000" y="3429000"/>
            <a:chExt cx="3714750" cy="762000"/>
          </a:xfrm>
        </p:grpSpPr>
        <p:sp>
          <p:nvSpPr>
            <p:cNvPr id="30" name="Line 30"/>
            <p:cNvSpPr/>
            <p:nvPr/>
          </p:nvSpPr>
          <p:spPr>
            <a:xfrm>
              <a:off x="7239000" y="3810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246BFE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7981950" y="37528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46BFE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96250" y="3429000"/>
              <a:ext cx="2857500" cy="762000"/>
            </a:xfrm>
            <a:prstGeom prst="roundRect">
              <a:avLst>
                <a:gd name="adj" fmla="val 17500"/>
              </a:avLst>
            </a:prstGeom>
            <a:solidFill>
              <a:srgbClr val="246BFE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337550" y="3703500"/>
              <a:ext cx="203200" cy="213000"/>
              <a:chOff x="8337550" y="3703500"/>
              <a:chExt cx="203200" cy="213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37550" y="37035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203200" y="93800"/>
                    </a:moveTo>
                    <a:cubicBezTo>
                      <a:pt x="196815" y="47858"/>
                      <a:pt x="160476" y="11871"/>
                      <a:pt x="114474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37550" y="38227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0" y="0"/>
                    </a:moveTo>
                    <a:cubicBezTo>
                      <a:pt x="6385" y="45942"/>
                      <a:pt x="42724" y="81929"/>
                      <a:pt x="88726" y="87864"/>
                    </a:cubicBezTo>
                    <a:cubicBezTo>
                      <a:pt x="134728" y="93800"/>
                      <a:pt x="179013" y="68216"/>
                      <a:pt x="196850" y="25400"/>
                    </a:cubicBezTo>
                    <a:moveTo>
                      <a:pt x="203200" y="76200"/>
                    </a:moveTo>
                    <a:lnTo>
                      <a:pt x="203200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669655" y="36071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四闭环工艺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74418" y="3895249"/>
              <a:ext cx="2033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创意 · 需求 · 交付 · 运营持续闭环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667250" y="4953000"/>
            <a:ext cx="2857500" cy="1524000"/>
            <a:chOff x="4667250" y="4953000"/>
            <a:chExt cx="2857500" cy="1524000"/>
          </a:xfrm>
        </p:grpSpPr>
        <p:sp>
          <p:nvSpPr>
            <p:cNvPr id="39" name="Line 39"/>
            <p:cNvSpPr/>
            <p:nvPr/>
          </p:nvSpPr>
          <p:spPr>
            <a:xfrm>
              <a:off x="6096000" y="49530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rgbClr val="518FEC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6038850" y="56007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11430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518FEC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667250" y="5715000"/>
              <a:ext cx="2857500" cy="762000"/>
            </a:xfrm>
            <a:prstGeom prst="roundRect">
              <a:avLst>
                <a:gd name="adj" fmla="val 17500"/>
              </a:avLst>
            </a:prstGeom>
            <a:solidFill>
              <a:srgbClr val="518FEC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4895850" y="5981700"/>
              <a:ext cx="228600" cy="241300"/>
              <a:chOff x="4895850" y="5981700"/>
              <a:chExt cx="228600" cy="2413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4933950" y="59817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010150" y="59817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cubicBezTo>
                      <a:pt x="16929" y="4229"/>
                      <a:pt x="25400" y="29629"/>
                      <a:pt x="25400" y="76200"/>
                    </a:cubicBezTo>
                    <a:cubicBezTo>
                      <a:pt x="25400" y="122771"/>
                      <a:pt x="16929" y="148171"/>
                      <a:pt x="0" y="152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984750" y="59817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25400" y="0"/>
                    </a:moveTo>
                    <a:cubicBezTo>
                      <a:pt x="8471" y="4229"/>
                      <a:pt x="0" y="29629"/>
                      <a:pt x="0" y="76200"/>
                    </a:cubicBezTo>
                    <a:cubicBezTo>
                      <a:pt x="0" y="122771"/>
                      <a:pt x="8471" y="148171"/>
                      <a:pt x="25400" y="152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933950" y="60579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895850" y="61976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035550" y="61976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984750" y="6172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010150" y="61341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240655" y="58931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知识本体底座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45418" y="618124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让 Agent 拿到准确上下文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38250" y="3429000"/>
            <a:ext cx="3714750" cy="762000"/>
            <a:chOff x="1238250" y="3429000"/>
            <a:chExt cx="3714750" cy="762000"/>
          </a:xfrm>
        </p:grpSpPr>
        <p:sp>
          <p:nvSpPr>
            <p:cNvPr id="54" name="Line 54"/>
            <p:cNvSpPr/>
            <p:nvPr/>
          </p:nvSpPr>
          <p:spPr>
            <a:xfrm>
              <a:off x="4095750" y="3810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8572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52A6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4095750" y="37528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lnTo>
                    <a:pt x="114300" y="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0052A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238250" y="3429000"/>
              <a:ext cx="2857500" cy="762000"/>
            </a:xfrm>
            <a:prstGeom prst="roundRect">
              <a:avLst>
                <a:gd name="adj" fmla="val 175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1466850" y="3708400"/>
              <a:ext cx="228600" cy="212725"/>
              <a:chOff x="1466850" y="3708400"/>
              <a:chExt cx="228600" cy="2127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1466850" y="381000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619250" y="37592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543050" y="3708400"/>
                <a:ext cx="762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200"/>
                      <a:pt x="63500" y="203200"/>
                    </a:cubicBezTo>
                    <a:lnTo>
                      <a:pt x="12700" y="203200"/>
                    </a:lnTo>
                    <a:cubicBezTo>
                      <a:pt x="5686" y="203200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479550" y="3911600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811655" y="36071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治理与度量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816418" y="3895249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先建安全网,再放大自主度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4671289" y="6630352"/>
            <a:ext cx="28494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A6"/>
                </a:solidFill>
                <a:latin typeface="Arial"/>
                <a:ea typeface="Microsoft YaHei"/>
                <a:cs typeface="Arial"/>
              </a:rPr>
              <a:t>让"个人用 AI 变快",变成"组织级系统提速"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38" grpId="0"/>
      <p:bldP spid="53" grpId="0"/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7048500"/>
            <a:chOff x="0" y="0"/>
            <a:chExt cx="121920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096250" y="0"/>
              <a:ext cx="3810000" cy="3810000"/>
            </a:xfrm>
            <a:prstGeom prst="ellipse">
              <a:avLst/>
            </a:prstGeom>
            <a:solidFill>
              <a:srgbClr val="246BFE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571500" y="4381500"/>
              <a:ext cx="2667000" cy="2667000"/>
            </a:xfrm>
            <a:prstGeom prst="ellipse">
              <a:avLst/>
            </a:prstGeom>
            <a:solidFill>
              <a:srgbClr val="518FEC">
                <a:alpha val="5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52450" y="2981325"/>
            <a:ext cx="2960418" cy="3352800"/>
            <a:chOff x="552450" y="2981325"/>
            <a:chExt cx="2960418" cy="335280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0105" y="2209800"/>
            <a:ext cx="1160145" cy="547688"/>
            <a:chOff x="840105" y="2209800"/>
            <a:chExt cx="1160145" cy="547688"/>
          </a:xfrm>
        </p:grpSpPr>
        <p:sp>
          <p:nvSpPr>
            <p:cNvPr id="8" name="Rectangle 8"/>
            <p:cNvSpPr/>
            <p:nvPr/>
          </p:nvSpPr>
          <p:spPr>
            <a:xfrm>
              <a:off x="857250" y="2209800"/>
              <a:ext cx="11430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0105" y="24831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CHAPTER 02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9150" y="3067050"/>
            <a:ext cx="4549902" cy="1428750"/>
            <a:chOff x="819150" y="3067050"/>
            <a:chExt cx="4549902" cy="1428750"/>
          </a:xfrm>
        </p:grpSpPr>
        <p:sp>
          <p:nvSpPr>
            <p:cNvPr id="11" name="TextBox 11"/>
            <p:cNvSpPr txBox="1"/>
            <p:nvPr/>
          </p:nvSpPr>
          <p:spPr>
            <a:xfrm>
              <a:off x="819150" y="3067050"/>
              <a:ext cx="17564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产品全景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694748"/>
              <a:ext cx="20777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FarAI 研发流水线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4251960"/>
              <a:ext cx="45270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一个平台,四层架构,把人、智能体、资产、数据、治理协同起来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594419" y="6464141"/>
            <a:ext cx="8460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FA3C4"/>
                </a:solidFill>
                <a:latin typeface="Arial"/>
                <a:ea typeface="Microsoft YaHei"/>
                <a:cs typeface="Arial"/>
              </a:rPr>
              <a:t>07 / 27 · 第二章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5330" y="533400"/>
            <a:ext cx="5551827" cy="792956"/>
            <a:chOff x="735330" y="533400"/>
            <a:chExt cx="5551827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725805"/>
              <a:ext cx="555182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四层架构 —— 从底座到治理的人智协同平台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1097756"/>
              <a:ext cx="53317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FarAI 以智能系统为中枢,让研发组织的人、智能体、资产、数据和治理协同运转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485900"/>
            <a:ext cx="9525000" cy="952500"/>
            <a:chOff x="762000" y="1485900"/>
            <a:chExt cx="9525000" cy="952500"/>
          </a:xfrm>
        </p:grpSpPr>
        <p:sp>
          <p:nvSpPr>
            <p:cNvPr id="7" name="Rectangle 7"/>
            <p:cNvSpPr/>
            <p:nvPr/>
          </p:nvSpPr>
          <p:spPr>
            <a:xfrm>
              <a:off x="762000" y="1485900"/>
              <a:ext cx="9525000" cy="952500"/>
            </a:xfrm>
            <a:prstGeom prst="roundRect">
              <a:avLst>
                <a:gd name="adj" fmla="val 14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485900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DCE6FB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65613" y="1757362"/>
              <a:ext cx="269075" cy="257175"/>
            </a:xfrm>
            <a:custGeom>
              <a:avLst/>
              <a:gdLst/>
              <a:ahLst/>
              <a:cxnLst/>
              <a:rect l="l" t="t" r="r" b="b"/>
              <a:pathLst>
                <a:path w="269075" h="257175">
                  <a:moveTo>
                    <a:pt x="134537" y="0"/>
                  </a:moveTo>
                  <a:cubicBezTo>
                    <a:pt x="167911" y="29526"/>
                    <a:pt x="211468" y="44899"/>
                    <a:pt x="255981" y="42862"/>
                  </a:cubicBezTo>
                  <a:cubicBezTo>
                    <a:pt x="269075" y="87404"/>
                    <a:pt x="263545" y="135352"/>
                    <a:pt x="240656" y="175744"/>
                  </a:cubicBezTo>
                  <a:cubicBezTo>
                    <a:pt x="217768" y="216136"/>
                    <a:pt x="179477" y="245519"/>
                    <a:pt x="134537" y="257175"/>
                  </a:cubicBezTo>
                  <a:cubicBezTo>
                    <a:pt x="89598" y="245519"/>
                    <a:pt x="51307" y="216136"/>
                    <a:pt x="28418" y="175744"/>
                  </a:cubicBezTo>
                  <a:cubicBezTo>
                    <a:pt x="5530" y="135352"/>
                    <a:pt x="0" y="87404"/>
                    <a:pt x="13094" y="42862"/>
                  </a:cubicBezTo>
                  <a:cubicBezTo>
                    <a:pt x="57607" y="44899"/>
                    <a:pt x="101164" y="29526"/>
                    <a:pt x="134537" y="0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72565" y="171545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④ 治理与度量层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6850" y="1933575"/>
              <a:ext cx="48582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风险分级 · Human-in-Loop · AI FinOps · 效能度量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73518" y="2199799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先建安全网,再放大自主度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2571750"/>
            <a:ext cx="9525000" cy="952500"/>
            <a:chOff x="762000" y="2571750"/>
            <a:chExt cx="9525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762000" y="2571750"/>
              <a:ext cx="9525000" cy="952500"/>
            </a:xfrm>
            <a:prstGeom prst="roundRect">
              <a:avLst>
                <a:gd name="adj" fmla="val 14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" y="2571750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DCE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071562" y="2843212"/>
              <a:ext cx="257175" cy="257176"/>
              <a:chOff x="1071562" y="2843212"/>
              <a:chExt cx="257175" cy="25717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100138" y="28432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71562" y="30146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257300" y="28450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285875" y="30168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472565" y="2801302"/>
              <a:ext cx="2490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③ 人智协同平台 (Delivery Workbench)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66850" y="3019425"/>
              <a:ext cx="5257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桌面智能体 · 云端智能体 · 任务/权限/审计 · Skill 治理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73518" y="328564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连接人、任务、代码、智能体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3657600"/>
            <a:ext cx="9525000" cy="952500"/>
            <a:chOff x="762000" y="3657600"/>
            <a:chExt cx="9525000" cy="952500"/>
          </a:xfrm>
        </p:grpSpPr>
        <p:sp>
          <p:nvSpPr>
            <p:cNvPr id="25" name="Rectangle 25"/>
            <p:cNvSpPr/>
            <p:nvPr/>
          </p:nvSpPr>
          <p:spPr>
            <a:xfrm>
              <a:off x="762000" y="3657600"/>
              <a:ext cx="9525000" cy="952500"/>
            </a:xfrm>
            <a:prstGeom prst="roundRect">
              <a:avLst>
                <a:gd name="adj" fmla="val 14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2000" y="3657600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065290" y="3922790"/>
              <a:ext cx="269719" cy="269719"/>
              <a:chOff x="1065290" y="3922790"/>
              <a:chExt cx="269719" cy="26971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65290" y="3922790"/>
                <a:ext cx="269719" cy="269719"/>
              </a:xfrm>
              <a:custGeom>
                <a:avLst/>
                <a:gdLst/>
                <a:ahLst/>
                <a:cxnLst/>
                <a:rect l="l" t="t" r="r" b="b"/>
                <a:pathLst>
                  <a:path w="269719" h="269719">
                    <a:moveTo>
                      <a:pt x="110928" y="25089"/>
                    </a:moveTo>
                    <a:cubicBezTo>
                      <a:pt x="117015" y="0"/>
                      <a:pt x="152705" y="0"/>
                      <a:pt x="158791" y="25089"/>
                    </a:cubicBezTo>
                    <a:cubicBezTo>
                      <a:pt x="160644" y="32734"/>
                      <a:pt x="166036" y="39034"/>
                      <a:pt x="173302" y="42044"/>
                    </a:cubicBezTo>
                    <a:cubicBezTo>
                      <a:pt x="180569" y="45055"/>
                      <a:pt x="188837" y="44414"/>
                      <a:pt x="195553" y="40319"/>
                    </a:cubicBezTo>
                    <a:cubicBezTo>
                      <a:pt x="217599" y="26889"/>
                      <a:pt x="242845" y="52121"/>
                      <a:pt x="229414" y="74181"/>
                    </a:cubicBezTo>
                    <a:cubicBezTo>
                      <a:pt x="225325" y="80894"/>
                      <a:pt x="224686" y="89155"/>
                      <a:pt x="227693" y="96417"/>
                    </a:cubicBezTo>
                    <a:cubicBezTo>
                      <a:pt x="230700" y="103680"/>
                      <a:pt x="236993" y="109071"/>
                      <a:pt x="244631" y="110928"/>
                    </a:cubicBezTo>
                    <a:cubicBezTo>
                      <a:pt x="269719" y="117015"/>
                      <a:pt x="269719" y="152705"/>
                      <a:pt x="244631" y="158791"/>
                    </a:cubicBezTo>
                    <a:cubicBezTo>
                      <a:pt x="236986" y="160644"/>
                      <a:pt x="230686" y="166036"/>
                      <a:pt x="227675" y="173302"/>
                    </a:cubicBezTo>
                    <a:cubicBezTo>
                      <a:pt x="224664" y="180569"/>
                      <a:pt x="225305" y="188837"/>
                      <a:pt x="229400" y="195553"/>
                    </a:cubicBezTo>
                    <a:cubicBezTo>
                      <a:pt x="242830" y="217599"/>
                      <a:pt x="217599" y="242845"/>
                      <a:pt x="195539" y="229414"/>
                    </a:cubicBezTo>
                    <a:cubicBezTo>
                      <a:pt x="188826" y="225325"/>
                      <a:pt x="180564" y="224686"/>
                      <a:pt x="173302" y="227693"/>
                    </a:cubicBezTo>
                    <a:cubicBezTo>
                      <a:pt x="166040" y="230700"/>
                      <a:pt x="160649" y="236993"/>
                      <a:pt x="158791" y="244631"/>
                    </a:cubicBezTo>
                    <a:cubicBezTo>
                      <a:pt x="152705" y="269719"/>
                      <a:pt x="117015" y="269719"/>
                      <a:pt x="110928" y="244631"/>
                    </a:cubicBezTo>
                    <a:cubicBezTo>
                      <a:pt x="109076" y="236986"/>
                      <a:pt x="103684" y="230686"/>
                      <a:pt x="96417" y="227675"/>
                    </a:cubicBezTo>
                    <a:cubicBezTo>
                      <a:pt x="89150" y="224664"/>
                      <a:pt x="80882" y="225305"/>
                      <a:pt x="74166" y="229400"/>
                    </a:cubicBezTo>
                    <a:cubicBezTo>
                      <a:pt x="52121" y="242830"/>
                      <a:pt x="26875" y="217599"/>
                      <a:pt x="40305" y="195539"/>
                    </a:cubicBezTo>
                    <a:cubicBezTo>
                      <a:pt x="44394" y="188826"/>
                      <a:pt x="45033" y="180564"/>
                      <a:pt x="42026" y="173302"/>
                    </a:cubicBezTo>
                    <a:cubicBezTo>
                      <a:pt x="39019" y="166040"/>
                      <a:pt x="32727" y="160649"/>
                      <a:pt x="25089" y="158791"/>
                    </a:cubicBezTo>
                    <a:cubicBezTo>
                      <a:pt x="0" y="152705"/>
                      <a:pt x="0" y="117015"/>
                      <a:pt x="25089" y="110928"/>
                    </a:cubicBezTo>
                    <a:cubicBezTo>
                      <a:pt x="32734" y="109076"/>
                      <a:pt x="39034" y="103684"/>
                      <a:pt x="42044" y="96417"/>
                    </a:cubicBezTo>
                    <a:cubicBezTo>
                      <a:pt x="45055" y="89150"/>
                      <a:pt x="44414" y="80882"/>
                      <a:pt x="40319" y="74166"/>
                    </a:cubicBezTo>
                    <a:cubicBezTo>
                      <a:pt x="26889" y="52121"/>
                      <a:pt x="52121" y="26875"/>
                      <a:pt x="74181" y="40305"/>
                    </a:cubicBezTo>
                    <a:cubicBezTo>
                      <a:pt x="88468" y="48992"/>
                      <a:pt x="106985" y="41305"/>
                      <a:pt x="110928" y="25089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57288" y="40147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72565" y="3887152"/>
              <a:ext cx="20009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② Harness 驾驭框架(工程底座)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66850" y="4105275"/>
              <a:ext cx="56983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CLI 化 · fullcheck · CLI E2E · hooks · traceId · Agent OS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73518" y="437149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Agent 可控的前提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4743450"/>
            <a:ext cx="9525000" cy="952500"/>
            <a:chOff x="762000" y="4743450"/>
            <a:chExt cx="9525000" cy="952500"/>
          </a:xfrm>
        </p:grpSpPr>
        <p:sp>
          <p:nvSpPr>
            <p:cNvPr id="34" name="Rectangle 34"/>
            <p:cNvSpPr/>
            <p:nvPr/>
          </p:nvSpPr>
          <p:spPr>
            <a:xfrm>
              <a:off x="762000" y="4743450"/>
              <a:ext cx="9525000" cy="952500"/>
            </a:xfrm>
            <a:prstGeom prst="roundRect">
              <a:avLst>
                <a:gd name="adj" fmla="val 14000"/>
              </a:avLst>
            </a:prstGeom>
            <a:solidFill>
              <a:srgbClr val="0A2A5E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4743450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85850" y="5014912"/>
              <a:ext cx="228600" cy="257176"/>
              <a:chOff x="1085850" y="5014912"/>
              <a:chExt cx="228600" cy="25717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085850" y="50149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85850" y="50577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85850" y="51435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472565" y="497300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① 知识与本体底座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66850" y="5191125"/>
              <a:ext cx="43436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本体网络 · 语义连接 · Agent 记忆 · 经验进化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73518" y="5457349"/>
              <a:ext cx="1890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让知识可被人和 Agent 共同理解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77500" y="1485900"/>
            <a:ext cx="952500" cy="4210050"/>
            <a:chOff x="10477500" y="1485900"/>
            <a:chExt cx="952500" cy="4210050"/>
          </a:xfrm>
        </p:grpSpPr>
        <p:sp>
          <p:nvSpPr>
            <p:cNvPr id="44" name="Rectangle 44"/>
            <p:cNvSpPr/>
            <p:nvPr/>
          </p:nvSpPr>
          <p:spPr>
            <a:xfrm>
              <a:off x="10477500" y="1485900"/>
              <a:ext cx="952500" cy="4210050"/>
            </a:xfrm>
            <a:prstGeom prst="roundRect">
              <a:avLst>
                <a:gd name="adj" fmla="val 1400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804850" y="19902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23245" y="21969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承载场景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10858500" y="35242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804850" y="46572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向下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23245" y="48639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沉淀能力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51" name="TextBox 51"/>
            <p:cNvSpPr txBox="1"/>
            <p:nvPr/>
          </p:nvSpPr>
          <p:spPr>
            <a:xfrm>
              <a:off x="750570" y="64560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第二章 · 产品全景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08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24" grpId="0"/>
      <p:bldP spid="33" grpId="0"/>
      <p:bldP spid="43" grpId="0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5330" y="533400"/>
            <a:ext cx="6389832" cy="792956"/>
            <a:chOff x="735330" y="533400"/>
            <a:chExt cx="6389832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725805"/>
              <a:ext cx="638983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四大场景串联成完整研发闭环,四层架构逐层支撑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1097756"/>
              <a:ext cx="48291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四个场景不是孤立的点,而是覆盖需求 → 交付 → 知识 → 治理的研发全链路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53718" y="1565910"/>
            <a:ext cx="6753606" cy="243840"/>
            <a:chOff x="1553718" y="1565910"/>
            <a:chExt cx="6753606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1553718" y="1565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四大场景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932676" y="15659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主要落在哪层架构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05000"/>
            <a:ext cx="4000500" cy="876300"/>
            <a:chOff x="762000" y="1905000"/>
            <a:chExt cx="4000500" cy="876300"/>
          </a:xfrm>
        </p:grpSpPr>
        <p:sp>
          <p:nvSpPr>
            <p:cNvPr id="10" name="Rectangle 10"/>
            <p:cNvSpPr/>
            <p:nvPr/>
          </p:nvSpPr>
          <p:spPr>
            <a:xfrm>
              <a:off x="762000" y="1905000"/>
              <a:ext cx="4000500" cy="876300"/>
            </a:xfrm>
            <a:prstGeom prst="roundRect">
              <a:avLst>
                <a:gd name="adj" fmla="val 15217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9050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28700" y="2000250"/>
              <a:ext cx="304800" cy="3048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3633" y="21045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31608" y="20721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智能需求闭环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35418" y="239029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需求进入开发前与真实系统碰撞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36370" y="2588895"/>
              <a:ext cx="16250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编码 Agent 反读代码反向提问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857750" y="2343150"/>
            <a:ext cx="952500" cy="1"/>
            <a:chOff x="4857750" y="2343150"/>
            <a:chExt cx="952500" cy="1"/>
          </a:xfrm>
        </p:grpSpPr>
        <p:sp>
          <p:nvSpPr>
            <p:cNvPr id="18" name="Line 18"/>
            <p:cNvSpPr/>
            <p:nvPr/>
          </p:nvSpPr>
          <p:spPr>
            <a:xfrm>
              <a:off x="4857750" y="2343150"/>
              <a:ext cx="952500" cy="1"/>
            </a:xfrm>
            <a:prstGeom prst="line">
              <a:avLst/>
            </a:prstGeom>
            <a:noFill/>
            <a:ln w="19050">
              <a:solidFill>
                <a:srgbClr val="0052A6"/>
              </a:solidFill>
              <a:tailEnd type="triangle" w="lg" len="lg"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905500" y="2000250"/>
            <a:ext cx="3048000" cy="685800"/>
            <a:chOff x="5905500" y="2000250"/>
            <a:chExt cx="3048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5905500" y="200025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7071" y="2153602"/>
              <a:ext cx="15248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③ 人智协同 + ② Harness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04516" y="24283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编码 Agent 反读 + 反向提问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2895600"/>
            <a:ext cx="4000500" cy="876300"/>
            <a:chOff x="762000" y="2895600"/>
            <a:chExt cx="4000500" cy="876300"/>
          </a:xfrm>
        </p:grpSpPr>
        <p:sp>
          <p:nvSpPr>
            <p:cNvPr id="24" name="Rectangle 24"/>
            <p:cNvSpPr/>
            <p:nvPr/>
          </p:nvSpPr>
          <p:spPr>
            <a:xfrm>
              <a:off x="762000" y="2895600"/>
              <a:ext cx="4000500" cy="876300"/>
            </a:xfrm>
            <a:prstGeom prst="roundRect">
              <a:avLst>
                <a:gd name="adj" fmla="val 15217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28956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28700" y="2990850"/>
              <a:ext cx="304800" cy="3048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3633" y="30951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31608" y="30627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智能交付闭环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35418" y="3380899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AI 改完即可验证可发布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36370" y="3579495"/>
              <a:ext cx="18950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Harness + fullcheck + 自动化测试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857750" y="3333750"/>
            <a:ext cx="952500" cy="1"/>
            <a:chOff x="4857750" y="3333750"/>
            <a:chExt cx="952500" cy="1"/>
          </a:xfrm>
        </p:grpSpPr>
        <p:sp>
          <p:nvSpPr>
            <p:cNvPr id="32" name="Line 32"/>
            <p:cNvSpPr/>
            <p:nvPr/>
          </p:nvSpPr>
          <p:spPr>
            <a:xfrm>
              <a:off x="4857750" y="3333750"/>
              <a:ext cx="952500" cy="1"/>
            </a:xfrm>
            <a:prstGeom prst="line">
              <a:avLst/>
            </a:prstGeom>
            <a:noFill/>
            <a:ln w="19050">
              <a:solidFill>
                <a:srgbClr val="246BFE"/>
              </a:solidFill>
              <a:tailEnd type="triangle" w="lg" len="lg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905500" y="2990850"/>
            <a:ext cx="3048000" cy="685800"/>
            <a:chOff x="5905500" y="2990850"/>
            <a:chExt cx="3048000" cy="685800"/>
          </a:xfrm>
        </p:grpSpPr>
        <p:sp>
          <p:nvSpPr>
            <p:cNvPr id="34" name="Rectangle 34"/>
            <p:cNvSpPr/>
            <p:nvPr/>
          </p:nvSpPr>
          <p:spPr>
            <a:xfrm>
              <a:off x="5905500" y="299085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86086" y="31442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② Harness 驾驭框架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6009" y="3418999"/>
              <a:ext cx="17669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fullcheck / E2E / 自动化测试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3886200"/>
            <a:ext cx="4000500" cy="876300"/>
            <a:chOff x="762000" y="3886200"/>
            <a:chExt cx="4000500" cy="876300"/>
          </a:xfrm>
        </p:grpSpPr>
        <p:sp>
          <p:nvSpPr>
            <p:cNvPr id="38" name="Rectangle 38"/>
            <p:cNvSpPr/>
            <p:nvPr/>
          </p:nvSpPr>
          <p:spPr>
            <a:xfrm>
              <a:off x="762000" y="3886200"/>
              <a:ext cx="4000500" cy="876300"/>
            </a:xfrm>
            <a:prstGeom prst="roundRect">
              <a:avLst>
                <a:gd name="adj" fmla="val 15217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2000" y="38862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28700" y="3981450"/>
              <a:ext cx="304800" cy="30480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3633" y="40857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31608" y="40533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智能知识底座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5418" y="4371499"/>
              <a:ext cx="15914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Agent 沿语义找准确上下文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36370" y="4570095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本体网络 + 知识联通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857750" y="4324350"/>
            <a:ext cx="952500" cy="1"/>
            <a:chOff x="4857750" y="4324350"/>
            <a:chExt cx="952500" cy="1"/>
          </a:xfrm>
        </p:grpSpPr>
        <p:sp>
          <p:nvSpPr>
            <p:cNvPr id="46" name="Line 46"/>
            <p:cNvSpPr/>
            <p:nvPr/>
          </p:nvSpPr>
          <p:spPr>
            <a:xfrm>
              <a:off x="4857750" y="4324350"/>
              <a:ext cx="952500" cy="1"/>
            </a:xfrm>
            <a:prstGeom prst="line">
              <a:avLst/>
            </a:prstGeom>
            <a:noFill/>
            <a:ln w="19050">
              <a:solidFill>
                <a:srgbClr val="518FEC"/>
              </a:solidFill>
              <a:tailEnd type="triangle" w="lg" len="lg"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5905500" y="3981450"/>
            <a:ext cx="3048000" cy="685800"/>
            <a:chOff x="5905500" y="3981450"/>
            <a:chExt cx="3048000" cy="685800"/>
          </a:xfrm>
        </p:grpSpPr>
        <p:sp>
          <p:nvSpPr>
            <p:cNvPr id="48" name="Rectangle 48"/>
            <p:cNvSpPr/>
            <p:nvPr/>
          </p:nvSpPr>
          <p:spPr>
            <a:xfrm>
              <a:off x="5905500" y="398145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66596" y="413480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① 知识与本体底座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22293" y="440959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本体网络 · 语义连接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4876800"/>
            <a:ext cx="4000500" cy="876300"/>
            <a:chOff x="762000" y="4876800"/>
            <a:chExt cx="4000500" cy="876300"/>
          </a:xfrm>
        </p:grpSpPr>
        <p:sp>
          <p:nvSpPr>
            <p:cNvPr id="52" name="Rectangle 52"/>
            <p:cNvSpPr/>
            <p:nvPr/>
          </p:nvSpPr>
          <p:spPr>
            <a:xfrm>
              <a:off x="762000" y="4876800"/>
              <a:ext cx="4000500" cy="876300"/>
            </a:xfrm>
            <a:prstGeom prst="roundRect">
              <a:avLst>
                <a:gd name="adj" fmla="val 15217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62000" y="48768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0A2A5E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028700" y="4972050"/>
              <a:ext cx="304800" cy="304800"/>
            </a:xfrm>
            <a:prstGeom prst="ellipse">
              <a:avLst/>
            </a:prstGeom>
            <a:solidFill>
              <a:srgbClr val="0A2A5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93633" y="50763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31608" y="5043964"/>
              <a:ext cx="155875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智能治理与 FinOps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435418" y="536209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AI 投入产出可度量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436370" y="556069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风险分级 + 效能度量 + Token ROI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857750" y="5314950"/>
            <a:ext cx="952500" cy="1"/>
            <a:chOff x="4857750" y="5314950"/>
            <a:chExt cx="952500" cy="1"/>
          </a:xfrm>
        </p:grpSpPr>
        <p:sp>
          <p:nvSpPr>
            <p:cNvPr id="60" name="Line 60"/>
            <p:cNvSpPr/>
            <p:nvPr/>
          </p:nvSpPr>
          <p:spPr>
            <a:xfrm>
              <a:off x="4857750" y="5314950"/>
              <a:ext cx="952500" cy="1"/>
            </a:xfrm>
            <a:prstGeom prst="line">
              <a:avLst/>
            </a:prstGeom>
            <a:noFill/>
            <a:ln w="19050">
              <a:solidFill>
                <a:srgbClr val="0A2A5E"/>
              </a:solidFill>
              <a:tailEnd type="triangle" w="lg" len="lg"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5905500" y="4972050"/>
            <a:ext cx="3048000" cy="685800"/>
            <a:chOff x="5905500" y="4972050"/>
            <a:chExt cx="3048000" cy="685800"/>
          </a:xfrm>
        </p:grpSpPr>
        <p:sp>
          <p:nvSpPr>
            <p:cNvPr id="62" name="Rectangle 62"/>
            <p:cNvSpPr/>
            <p:nvPr/>
          </p:nvSpPr>
          <p:spPr>
            <a:xfrm>
              <a:off x="5905500" y="497205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rgbClr val="0A2A5E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36605" y="51254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④ 治理与度量层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66274" y="5400199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风险分级 · FinOps · 度量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239250" y="1905000"/>
            <a:ext cx="2190750" cy="3848100"/>
            <a:chOff x="9239250" y="1905000"/>
            <a:chExt cx="2190750" cy="3848100"/>
          </a:xfrm>
        </p:grpSpPr>
        <p:sp>
          <p:nvSpPr>
            <p:cNvPr id="66" name="Rectangle 66"/>
            <p:cNvSpPr/>
            <p:nvPr/>
          </p:nvSpPr>
          <p:spPr>
            <a:xfrm>
              <a:off x="9239250" y="1905000"/>
              <a:ext cx="2190750" cy="3848100"/>
            </a:xfrm>
            <a:prstGeom prst="roundRect">
              <a:avLst>
                <a:gd name="adj" fmla="val 6087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721834" y="2011680"/>
              <a:ext cx="122558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 × 4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620250" y="268605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9525">
              <a:solidFill>
                <a:srgbClr val="246BFE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05298" y="2964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四大场景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06953" y="32284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× 四层架构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995945" y="3870960"/>
              <a:ext cx="6773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= 端到端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899333" y="41376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研发流水线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014156" y="5236845"/>
              <a:ext cx="640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需求 → 交付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14156" y="5427345"/>
              <a:ext cx="640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知识 → 治理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76" name="TextBox 76"/>
            <p:cNvSpPr txBox="1"/>
            <p:nvPr/>
          </p:nvSpPr>
          <p:spPr>
            <a:xfrm>
              <a:off x="750570" y="64560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第二章 · 产品全景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09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19" grpId="0"/>
      <p:bldP spid="23" grpId="0"/>
      <p:bldP spid="31" grpId="0"/>
      <p:bldP spid="33" grpId="0"/>
      <p:bldP spid="37" grpId="0"/>
      <p:bldP spid="45" grpId="0"/>
      <p:bldP spid="47" grpId="0"/>
      <p:bldP spid="51" grpId="0"/>
      <p:bldP spid="59" grpId="0"/>
      <p:bldP spid="61" grpId="0"/>
      <p:bldP spid="65" grpId="0"/>
      <p:bldP spid="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7048500"/>
            <a:chOff x="0" y="0"/>
            <a:chExt cx="121920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096250" y="0"/>
              <a:ext cx="3810000" cy="3810000"/>
            </a:xfrm>
            <a:prstGeom prst="ellipse">
              <a:avLst/>
            </a:prstGeom>
            <a:solidFill>
              <a:srgbClr val="246BFE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571500" y="4381500"/>
              <a:ext cx="2667000" cy="2667000"/>
            </a:xfrm>
            <a:prstGeom prst="ellipse">
              <a:avLst/>
            </a:prstGeom>
            <a:solidFill>
              <a:srgbClr val="518FEC">
                <a:alpha val="5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52450" y="2981325"/>
            <a:ext cx="2960418" cy="3352800"/>
            <a:chOff x="552450" y="2981325"/>
            <a:chExt cx="2960418" cy="335280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0105" y="2209800"/>
            <a:ext cx="1160145" cy="547688"/>
            <a:chOff x="840105" y="2209800"/>
            <a:chExt cx="1160145" cy="547688"/>
          </a:xfrm>
        </p:grpSpPr>
        <p:sp>
          <p:nvSpPr>
            <p:cNvPr id="8" name="Rectangle 8"/>
            <p:cNvSpPr/>
            <p:nvPr/>
          </p:nvSpPr>
          <p:spPr>
            <a:xfrm>
              <a:off x="857250" y="2209800"/>
              <a:ext cx="11430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0105" y="24831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CHAPTER 03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9150" y="3067050"/>
            <a:ext cx="3541776" cy="1428750"/>
            <a:chOff x="819150" y="3067050"/>
            <a:chExt cx="3541776" cy="1428750"/>
          </a:xfrm>
        </p:grpSpPr>
        <p:sp>
          <p:nvSpPr>
            <p:cNvPr id="11" name="TextBox 11"/>
            <p:cNvSpPr txBox="1"/>
            <p:nvPr/>
          </p:nvSpPr>
          <p:spPr>
            <a:xfrm>
              <a:off x="819150" y="3067050"/>
              <a:ext cx="25965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四大场景方案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694748"/>
              <a:ext cx="264985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每个场景一个完整闭环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4251960"/>
              <a:ext cx="35189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四个场景,每个解决一个"AI 能切入的高价值环节"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57250" y="4857750"/>
            <a:ext cx="6057900" cy="381000"/>
            <a:chOff x="857250" y="4857750"/>
            <a:chExt cx="6057900" cy="381000"/>
          </a:xfrm>
        </p:grpSpPr>
        <p:sp>
          <p:nvSpPr>
            <p:cNvPr id="15" name="Rectangle 15"/>
            <p:cNvSpPr/>
            <p:nvPr/>
          </p:nvSpPr>
          <p:spPr>
            <a:xfrm>
              <a:off x="857250" y="485775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80243" y="4992052"/>
              <a:ext cx="7827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S1 需求闭环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400300" y="485775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23293" y="4992052"/>
              <a:ext cx="7827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S2 交付闭环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943350" y="485775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66343" y="4992052"/>
              <a:ext cx="7827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S3 知识底座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486400" y="485775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00879" y="4992052"/>
              <a:ext cx="999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S4 治理 FinOps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594419" y="6464141"/>
            <a:ext cx="8460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FA3C4"/>
                </a:solidFill>
                <a:latin typeface="Arial"/>
                <a:ea typeface="Microsoft YaHei"/>
                <a:cs typeface="Arial"/>
              </a:rPr>
              <a:t>10 / 27 · 第三章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7271147" cy="619125"/>
            <a:chOff x="762000" y="533400"/>
            <a:chExt cx="7271147" cy="619125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90600" y="742950"/>
              <a:ext cx="266700" cy="2667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3211" y="8362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3980" y="725805"/>
              <a:ext cx="666916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需求不清反复返工,PRD 进开发前没和真实系统碰撞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295400"/>
            <a:ext cx="10668000" cy="1104900"/>
            <a:chOff x="762000" y="1295400"/>
            <a:chExt cx="10668000" cy="1104900"/>
          </a:xfrm>
        </p:grpSpPr>
        <p:sp>
          <p:nvSpPr>
            <p:cNvPr id="8" name="Rectangle 8"/>
            <p:cNvSpPr/>
            <p:nvPr/>
          </p:nvSpPr>
          <p:spPr>
            <a:xfrm>
              <a:off x="762000" y="1295400"/>
              <a:ext cx="10668000" cy="1104900"/>
            </a:xfrm>
            <a:prstGeom prst="roundRect">
              <a:avLst>
                <a:gd name="adj" fmla="val 1206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29540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0549" y="1517663"/>
              <a:ext cx="240143" cy="206314"/>
              <a:chOff x="1070549" y="1517663"/>
              <a:chExt cx="240143" cy="20631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90625" y="15930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0549" y="151766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90625" y="1676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11605" y="15497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痛点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4462" y="1878806"/>
              <a:ext cx="61343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产品闭门写 PRD → 进开发才发现接口不存在 / 数据结构不符 / 边界没想清 → 返工 → 排期延误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6368" y="2142649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需求阶段的返工,是组织提效最大的隐形漏斗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6760" y="2651760"/>
            <a:ext cx="1794701" cy="243840"/>
            <a:chOff x="746760" y="2651760"/>
            <a:chExt cx="1794701" cy="243840"/>
          </a:xfrm>
        </p:grpSpPr>
        <p:sp>
          <p:nvSpPr>
            <p:cNvPr id="18" name="TextBox 18"/>
            <p:cNvSpPr txBox="1"/>
            <p:nvPr/>
          </p:nvSpPr>
          <p:spPr>
            <a:xfrm>
              <a:off x="746760" y="2651760"/>
              <a:ext cx="17947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现状流程 vs FarAI 流程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48665" y="2971800"/>
            <a:ext cx="6280785" cy="342900"/>
            <a:chOff x="748665" y="2971800"/>
            <a:chExt cx="6280785" cy="342900"/>
          </a:xfrm>
        </p:grpSpPr>
        <p:sp>
          <p:nvSpPr>
            <p:cNvPr id="20" name="TextBox 20"/>
            <p:cNvSpPr txBox="1"/>
            <p:nvPr/>
          </p:nvSpPr>
          <p:spPr>
            <a:xfrm>
              <a:off x="748665" y="30108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现状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238250" y="29718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99830" y="3095149"/>
              <a:ext cx="629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产品写PRD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209800" y="3143250"/>
              <a:ext cx="190500" cy="1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00300" y="29718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734151" y="3095149"/>
              <a:ext cx="284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371850" y="3143250"/>
              <a:ext cx="190500" cy="1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tailEnd type="triangle" w="lg" len="lg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62350" y="29718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96201" y="3095149"/>
              <a:ext cx="284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开发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533900" y="3143250"/>
              <a:ext cx="190500" cy="1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724400" y="2971800"/>
              <a:ext cx="11430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F59E0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10483" y="30951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发现问题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886450" y="3143250"/>
              <a:ext cx="190500" cy="1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76950" y="29718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F59E0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4300" y="30951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返工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48665" y="3810000"/>
            <a:ext cx="10281285" cy="342900"/>
            <a:chOff x="748665" y="3810000"/>
            <a:chExt cx="10281285" cy="342900"/>
          </a:xfrm>
        </p:grpSpPr>
        <p:sp>
          <p:nvSpPr>
            <p:cNvPr id="36" name="TextBox 36"/>
            <p:cNvSpPr txBox="1"/>
            <p:nvPr/>
          </p:nvSpPr>
          <p:spPr>
            <a:xfrm>
              <a:off x="748665" y="3849052"/>
              <a:ext cx="376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FarAI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238250" y="3810000"/>
              <a:ext cx="1047750" cy="342900"/>
            </a:xfrm>
            <a:prstGeom prst="roundRect">
              <a:avLst>
                <a:gd name="adj" fmla="val 16667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24702" y="39333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产品提需求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2305050" y="3981450"/>
              <a:ext cx="190500" cy="1"/>
            </a:xfrm>
            <a:prstGeom prst="line">
              <a:avLst/>
            </a:prstGeom>
            <a:noFill/>
            <a:ln w="19050">
              <a:solidFill>
                <a:srgbClr val="0052A6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495550" y="3810000"/>
              <a:ext cx="1714500" cy="342900"/>
            </a:xfrm>
            <a:prstGeom prst="roundRect">
              <a:avLst>
                <a:gd name="adj" fmla="val 16667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32592" y="3933349"/>
              <a:ext cx="12404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编码 Agent 反读代码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229100" y="3981450"/>
              <a:ext cx="190500" cy="1"/>
            </a:xfrm>
            <a:prstGeom prst="line">
              <a:avLst/>
            </a:prstGeom>
            <a:noFill/>
            <a:ln w="19050">
              <a:solidFill>
                <a:srgbClr val="0052A6"/>
              </a:solidFill>
              <a:tailEnd type="triangle" w="lg" len="lg"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19600" y="3810000"/>
              <a:ext cx="1714500" cy="342900"/>
            </a:xfrm>
            <a:prstGeom prst="roundRect">
              <a:avLst>
                <a:gd name="adj" fmla="val 16667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806160" y="3933349"/>
              <a:ext cx="9413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 反向提问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153150" y="3981450"/>
              <a:ext cx="190500" cy="1"/>
            </a:xfrm>
            <a:prstGeom prst="line">
              <a:avLst/>
            </a:prstGeom>
            <a:noFill/>
            <a:ln w="19050">
              <a:solidFill>
                <a:srgbClr val="0052A6"/>
              </a:solidFill>
              <a:tailEnd type="triangle" w="lg" len="lg"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43650" y="3810000"/>
              <a:ext cx="1809750" cy="342900"/>
            </a:xfrm>
            <a:prstGeom prst="roundRect">
              <a:avLst>
                <a:gd name="adj" fmla="val 16667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80323" y="39333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产品澄清边界/异常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8172450" y="3981450"/>
              <a:ext cx="190500" cy="1"/>
            </a:xfrm>
            <a:prstGeom prst="line">
              <a:avLst/>
            </a:prstGeom>
            <a:noFill/>
            <a:ln w="19050">
              <a:solidFill>
                <a:srgbClr val="0052A6"/>
              </a:solidFill>
              <a:tailEnd type="triangle" w="lg" len="lg"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362950" y="3810000"/>
              <a:ext cx="2667000" cy="342900"/>
            </a:xfrm>
            <a:prstGeom prst="roundRect">
              <a:avLst>
                <a:gd name="adj" fmla="val 16667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779642" y="3933349"/>
              <a:ext cx="18336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高质量 PRD + 验收标准 + 契约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62000" y="4457700"/>
            <a:ext cx="10668000" cy="1524000"/>
            <a:chOff x="762000" y="4457700"/>
            <a:chExt cx="10668000" cy="1524000"/>
          </a:xfrm>
        </p:grpSpPr>
        <p:sp>
          <p:nvSpPr>
            <p:cNvPr id="52" name="Rectangle 52"/>
            <p:cNvSpPr/>
            <p:nvPr/>
          </p:nvSpPr>
          <p:spPr>
            <a:xfrm>
              <a:off x="762000" y="44577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62000" y="445770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1103312" y="4681538"/>
              <a:ext cx="155575" cy="200025"/>
              <a:chOff x="1103312" y="4681538"/>
              <a:chExt cx="155575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203325" y="4681538"/>
                <a:ext cx="55562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55562" h="55562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2"/>
                      <a:pt x="11112" y="55562"/>
                    </a:cubicBezTo>
                    <a:lnTo>
                      <a:pt x="55562" y="55562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03312" y="4681538"/>
                <a:ext cx="1555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5">
                    <a:moveTo>
                      <a:pt x="133350" y="200025"/>
                    </a:moveTo>
                    <a:lnTo>
                      <a:pt x="22225" y="200025"/>
                    </a:lnTo>
                    <a:cubicBezTo>
                      <a:pt x="9950" y="200025"/>
                      <a:pt x="0" y="190075"/>
                      <a:pt x="0" y="177800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2"/>
                    </a:lnTo>
                    <a:lnTo>
                      <a:pt x="155575" y="177800"/>
                    </a:lnTo>
                    <a:cubicBezTo>
                      <a:pt x="155575" y="190075"/>
                      <a:pt x="145625" y="200025"/>
                      <a:pt x="133350" y="20002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47762" y="4748212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47762" y="479266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47762" y="483711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394460" y="47282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输出物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1047750" y="5029200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0" y="0"/>
                  </a:moveTo>
                  <a:lnTo>
                    <a:pt x="101917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47750" y="5219700"/>
              <a:ext cx="209550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718295" y="5334952"/>
              <a:ext cx="754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高质量 PRD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74446" y="5549741"/>
              <a:ext cx="12421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边界/异常/状态流已澄清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333750" y="5219700"/>
              <a:ext cx="209550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927110" y="53349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澄清问题清单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983224" y="5549741"/>
              <a:ext cx="796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Agent 反向推动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619750" y="5219700"/>
              <a:ext cx="209550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60128" y="533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验收标准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71974" y="5549741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可验证的验收点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905750" y="5219700"/>
              <a:ext cx="228600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741378" y="533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需求契约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708231" y="55497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契约驱动开发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75" name="TextBox 75"/>
            <p:cNvSpPr txBox="1"/>
            <p:nvPr/>
          </p:nvSpPr>
          <p:spPr>
            <a:xfrm>
              <a:off x="750570" y="6456045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第三章 · S1 智能需求闭环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11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19" grpId="0"/>
      <p:bldP spid="35" grpId="0"/>
      <p:bldP spid="51" grpId="0"/>
      <p:bldP spid="7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47712" y="533400"/>
            <a:ext cx="6418026" cy="792956"/>
            <a:chOff x="747712" y="533400"/>
            <a:chExt cx="6418026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90600" y="742950"/>
              <a:ext cx="266700" cy="2667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3211" y="8362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3980" y="725805"/>
              <a:ext cx="580175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让需求在进入开发前,就和真实系统发生碰撞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7712" y="1097756"/>
              <a:ext cx="31639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编码 Agent 反向提问,把需求缺陷消灭在开发前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1524000"/>
            <a:ext cx="6096000" cy="4381500"/>
            <a:chOff x="762000" y="1524000"/>
            <a:chExt cx="6096000" cy="4381500"/>
          </a:xfrm>
        </p:grpSpPr>
        <p:sp>
          <p:nvSpPr>
            <p:cNvPr id="9" name="Rectangle 9"/>
            <p:cNvSpPr/>
            <p:nvPr/>
          </p:nvSpPr>
          <p:spPr>
            <a:xfrm>
              <a:off x="762000" y="1524000"/>
              <a:ext cx="6096000" cy="4381500"/>
            </a:xfrm>
            <a:prstGeom prst="roundRect">
              <a:avLst>
                <a:gd name="adj" fmla="val 3478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092200" y="1790700"/>
              <a:ext cx="177800" cy="228600"/>
            </a:xfrm>
            <a:custGeom>
              <a:avLst/>
              <a:gdLst/>
              <a:ahLst/>
              <a:cxnLst/>
              <a:rect l="l" t="t" r="r" b="b"/>
              <a:pathLst>
                <a:path w="177800" h="228600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600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0052A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09700" y="1819275"/>
              <a:ext cx="10462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FarAI 能力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28700" y="220980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47750" y="2533650"/>
              <a:ext cx="3658553" cy="500062"/>
              <a:chOff x="1047750" y="2533650"/>
              <a:chExt cx="3658553" cy="500062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047750" y="2533650"/>
                <a:ext cx="266700" cy="266700"/>
              </a:xfrm>
              <a:prstGeom prst="ellipse">
                <a:avLst/>
              </a:prstGeom>
              <a:solidFill>
                <a:srgbClr val="0052A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35016" y="2626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1443038" y="2559050"/>
                <a:ext cx="200024" cy="177800"/>
                <a:chOff x="1443038" y="2559050"/>
                <a:chExt cx="200024" cy="17780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1443038" y="2603500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44450" y="0"/>
                      </a:moveTo>
                      <a:lnTo>
                        <a:pt x="0" y="44450"/>
                      </a:lnTo>
                      <a:lnTo>
                        <a:pt x="44450" y="8890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598612" y="2603500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0" y="0"/>
                      </a:moveTo>
                      <a:lnTo>
                        <a:pt x="44450" y="44450"/>
                      </a:lnTo>
                      <a:lnTo>
                        <a:pt x="0" y="8890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520825" y="2559050"/>
                  <a:ext cx="4445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177800">
                      <a:moveTo>
                        <a:pt x="44450" y="0"/>
                      </a:moveTo>
                      <a:lnTo>
                        <a:pt x="0" y="17780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737360" y="2575560"/>
                <a:ext cx="1769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编码 Agent 反读代码库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39265" y="2820352"/>
                <a:ext cx="29670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读取接口契约、数据结构、历史需求、现有配置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47750" y="3295650"/>
              <a:ext cx="2678430" cy="500062"/>
              <a:chOff x="1047750" y="3295650"/>
              <a:chExt cx="2678430" cy="500062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047750" y="3295650"/>
                <a:ext cx="266700" cy="266700"/>
              </a:xfrm>
              <a:prstGeom prst="ellipse">
                <a:avLst/>
              </a:prstGeom>
              <a:solidFill>
                <a:srgbClr val="0052A6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35016" y="3388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1443038" y="3309938"/>
                <a:ext cx="200025" cy="200025"/>
                <a:chOff x="1443038" y="3309938"/>
                <a:chExt cx="200025" cy="20002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443038" y="3309938"/>
                  <a:ext cx="155575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55575">
                      <a:moveTo>
                        <a:pt x="0" y="77788"/>
                      </a:moveTo>
                      <a:cubicBezTo>
                        <a:pt x="0" y="120748"/>
                        <a:pt x="34827" y="155575"/>
                        <a:pt x="77787" y="155575"/>
                      </a:cubicBezTo>
                      <a:cubicBezTo>
                        <a:pt x="120748" y="155575"/>
                        <a:pt x="155575" y="120748"/>
                        <a:pt x="155575" y="77788"/>
                      </a:cubicBezTo>
                      <a:cubicBezTo>
                        <a:pt x="155575" y="34827"/>
                        <a:pt x="120748" y="0"/>
                        <a:pt x="77787" y="0"/>
                      </a:cubicBezTo>
                      <a:cubicBezTo>
                        <a:pt x="34827" y="0"/>
                        <a:pt x="0" y="34827"/>
                        <a:pt x="0" y="77788"/>
                      </a:cubicBez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576388" y="344328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66675" y="666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737360" y="3337560"/>
                <a:ext cx="137464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自动识别需求缺陷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739265" y="35823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歧义、边界缺失、验收标准不全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047750" y="4057650"/>
              <a:ext cx="3518535" cy="500062"/>
              <a:chOff x="1047750" y="4057650"/>
              <a:chExt cx="3518535" cy="500062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1047750" y="4057650"/>
                <a:ext cx="266700" cy="266700"/>
              </a:xfrm>
              <a:prstGeom prst="ellipse">
                <a:avLst/>
              </a:prstGeom>
              <a:solidFill>
                <a:srgbClr val="0052A6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135016" y="4150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1443038" y="4083050"/>
                <a:ext cx="200025" cy="188912"/>
                <a:chOff x="1443038" y="4083050"/>
                <a:chExt cx="200025" cy="188912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1498600" y="4138612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498600" y="4183062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443038" y="4083050"/>
                  <a:ext cx="200025" cy="188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88912">
                      <a:moveTo>
                        <a:pt x="166688" y="0"/>
                      </a:move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122237"/>
                      </a:lnTo>
                      <a:cubicBezTo>
                        <a:pt x="200025" y="140649"/>
                        <a:pt x="185099" y="155575"/>
                        <a:pt x="166688" y="155575"/>
                      </a:cubicBezTo>
                      <a:lnTo>
                        <a:pt x="111125" y="155575"/>
                      </a:lnTo>
                      <a:lnTo>
                        <a:pt x="55563" y="188912"/>
                      </a:lnTo>
                      <a:lnTo>
                        <a:pt x="55563" y="155575"/>
                      </a:lnTo>
                      <a:lnTo>
                        <a:pt x="33338" y="155575"/>
                      </a:lnTo>
                      <a:cubicBezTo>
                        <a:pt x="14926" y="155575"/>
                        <a:pt x="0" y="140649"/>
                        <a:pt x="0" y="122237"/>
                      </a:cubicBez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737360" y="4099560"/>
                <a:ext cx="137464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生成澄清问题清单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39265" y="4344352"/>
                <a:ext cx="28270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反向推动产品澄清边界、异常、权限、状态流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047750" y="4819650"/>
              <a:ext cx="2615422" cy="500062"/>
              <a:chOff x="1047750" y="4819650"/>
              <a:chExt cx="2615422" cy="500062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1047750" y="4819650"/>
                <a:ext cx="266700" cy="266700"/>
              </a:xfrm>
              <a:prstGeom prst="ellipse">
                <a:avLst/>
              </a:prstGeom>
              <a:solidFill>
                <a:srgbClr val="0052A6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135016" y="4912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1465262" y="4833938"/>
                <a:ext cx="155575" cy="200025"/>
                <a:chOff x="1465262" y="4833938"/>
                <a:chExt cx="155575" cy="200025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565275" y="4833938"/>
                  <a:ext cx="55562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3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3"/>
                        <a:pt x="11112" y="55563"/>
                      </a:cubicBezTo>
                      <a:lnTo>
                        <a:pt x="55562" y="55563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465262" y="4833938"/>
                  <a:ext cx="15557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200025">
                      <a:moveTo>
                        <a:pt x="133350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3"/>
                      </a:lnTo>
                      <a:lnTo>
                        <a:pt x="155575" y="177800"/>
                      </a:lnTo>
                      <a:cubicBezTo>
                        <a:pt x="155575" y="190075"/>
                        <a:pt x="145625" y="200025"/>
                        <a:pt x="133350" y="200025"/>
                      </a:cubicBez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509712" y="4900612"/>
                  <a:ext cx="111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" h="9525">
                      <a:moveTo>
                        <a:pt x="0" y="0"/>
                      </a:moveTo>
                      <a:lnTo>
                        <a:pt x="11112" y="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509712" y="4945062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509712" y="4989512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1737360" y="4861560"/>
                <a:ext cx="15426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输出可验证需求契约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739265" y="5106352"/>
                <a:ext cx="19239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契约驱动开发,需求即测试基线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7048500" y="1524000"/>
            <a:ext cx="4381500" cy="4381500"/>
            <a:chOff x="7048500" y="1524000"/>
            <a:chExt cx="4381500" cy="4381500"/>
          </a:xfrm>
        </p:grpSpPr>
        <p:sp>
          <p:nvSpPr>
            <p:cNvPr id="51" name="Rectangle 51"/>
            <p:cNvSpPr/>
            <p:nvPr/>
          </p:nvSpPr>
          <p:spPr>
            <a:xfrm>
              <a:off x="7048500" y="1524000"/>
              <a:ext cx="4381500" cy="4381500"/>
            </a:xfrm>
            <a:prstGeom prst="roundRect">
              <a:avLst>
                <a:gd name="adj" fmla="val 3478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53300" y="1841500"/>
              <a:ext cx="228600" cy="127000"/>
              <a:chOff x="7353300" y="1841500"/>
              <a:chExt cx="228600" cy="1270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53300" y="1841500"/>
                <a:ext cx="2286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7000">
                    <a:moveTo>
                      <a:pt x="0" y="127000"/>
                    </a:moveTo>
                    <a:lnTo>
                      <a:pt x="76200" y="50800"/>
                    </a:lnTo>
                    <a:lnTo>
                      <a:pt x="127000" y="101600"/>
                    </a:ln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493000" y="184150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889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69620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价值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315200" y="22098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246BFE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77100" y="2533650"/>
              <a:ext cx="1777413" cy="923925"/>
              <a:chOff x="7277100" y="2533650"/>
              <a:chExt cx="1777413" cy="923925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7277100" y="2533650"/>
                <a:ext cx="1777413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↓40-50%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299960" y="30327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CE6FB"/>
                    </a:solidFill>
                    <a:latin typeface="Arial"/>
                    <a:ea typeface="Microsoft YaHei"/>
                    <a:cs typeface="Arial"/>
                  </a:rPr>
                  <a:t>需求返工率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303770" y="3274695"/>
                <a:ext cx="3949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A3C4"/>
                    </a:solidFill>
                    <a:latin typeface="Arial"/>
                    <a:ea typeface="Microsoft YaHei"/>
                    <a:cs typeface="Arial"/>
                  </a:rPr>
                  <a:t>(预估)</a:t>
                </a:r>
              </a:p>
            </p:txBody>
          </p:sp>
        </p:grpSp>
        <p:sp>
          <p:nvSpPr>
            <p:cNvPr id="61" name="Line 61"/>
            <p:cNvSpPr/>
            <p:nvPr/>
          </p:nvSpPr>
          <p:spPr>
            <a:xfrm>
              <a:off x="7315200" y="36195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FFFFFF">
                  <a:alpha val="15000"/>
                </a:srgbClr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77100" y="3867150"/>
              <a:ext cx="1546384" cy="923925"/>
              <a:chOff x="7277100" y="3867150"/>
              <a:chExt cx="1546384" cy="923925"/>
            </a:xfrm>
          </p:grpSpPr>
          <p:sp>
            <p:nvSpPr>
              <p:cNvPr id="62" name="TextBox 62"/>
              <p:cNvSpPr txBox="1"/>
              <p:nvPr/>
            </p:nvSpPr>
            <p:spPr>
              <a:xfrm>
                <a:off x="7277100" y="3867150"/>
                <a:ext cx="1546384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↑2-3 倍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299960" y="43662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CE6FB"/>
                    </a:solidFill>
                    <a:latin typeface="Arial"/>
                    <a:ea typeface="Microsoft YaHei"/>
                    <a:cs typeface="Arial"/>
                  </a:rPr>
                  <a:t>需求一次澄清通过率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303770" y="4608195"/>
                <a:ext cx="3949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A3C4"/>
                    </a:solidFill>
                    <a:latin typeface="Arial"/>
                    <a:ea typeface="Microsoft YaHei"/>
                    <a:cs typeface="Arial"/>
                  </a:rPr>
                  <a:t>(预估)</a:t>
                </a:r>
              </a:p>
            </p:txBody>
          </p:sp>
        </p:grpSp>
        <p:sp>
          <p:nvSpPr>
            <p:cNvPr id="66" name="Line 66"/>
            <p:cNvSpPr/>
            <p:nvPr/>
          </p:nvSpPr>
          <p:spPr>
            <a:xfrm>
              <a:off x="7315200" y="49530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FFFFFF">
                  <a:alpha val="15000"/>
                </a:srgbClr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298055" y="5302568"/>
              <a:ext cx="1304639" cy="474344"/>
              <a:chOff x="7298055" y="5302568"/>
              <a:chExt cx="1304639" cy="474344"/>
            </a:xfrm>
          </p:grpSpPr>
          <p:sp>
            <p:nvSpPr>
              <p:cNvPr id="67" name="TextBox 67"/>
              <p:cNvSpPr txBox="1"/>
              <p:nvPr/>
            </p:nvSpPr>
            <p:spPr>
              <a:xfrm>
                <a:off x="7298055" y="53025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开发前消缺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301865" y="5563552"/>
                <a:ext cx="13008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CE6FB"/>
                    </a:solidFill>
                    <a:latin typeface="Arial"/>
                    <a:ea typeface="Microsoft YaHei"/>
                    <a:cs typeface="Arial"/>
                  </a:rPr>
                  <a:t>隐形成本节省(预估)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71" name="TextBox 71"/>
            <p:cNvSpPr txBox="1"/>
            <p:nvPr/>
          </p:nvSpPr>
          <p:spPr>
            <a:xfrm>
              <a:off x="750570" y="6456045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第三章 · S1 智能需求闭环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12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0" grpId="0"/>
      <p:bldP spid="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6741881" cy="619125"/>
            <a:chOff x="762000" y="533400"/>
            <a:chExt cx="6741881" cy="619125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90600" y="742950"/>
              <a:ext cx="266700" cy="2667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3211" y="8362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3980" y="725805"/>
              <a:ext cx="61399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AI 写的代码不敢合、不敢重构,质量靠人工把关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295400"/>
            <a:ext cx="10668000" cy="1181100"/>
            <a:chOff x="762000" y="1295400"/>
            <a:chExt cx="10668000" cy="1181100"/>
          </a:xfrm>
        </p:grpSpPr>
        <p:sp>
          <p:nvSpPr>
            <p:cNvPr id="8" name="Rectangle 8"/>
            <p:cNvSpPr/>
            <p:nvPr/>
          </p:nvSpPr>
          <p:spPr>
            <a:xfrm>
              <a:off x="762000" y="1295400"/>
              <a:ext cx="10668000" cy="1181100"/>
            </a:xfrm>
            <a:prstGeom prst="roundRect">
              <a:avLst>
                <a:gd name="adj" fmla="val 1129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295400"/>
              <a:ext cx="57150" cy="1181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0549" y="1536713"/>
              <a:ext cx="240143" cy="206314"/>
              <a:chOff x="1070549" y="1536713"/>
              <a:chExt cx="240143" cy="20631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90625" y="161210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0549" y="153671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90625" y="169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11605" y="15687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痛点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4462" y="1897856"/>
              <a:ext cx="53692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工程师用 AI 写代码很快 → 但代码评审靠人肉、测试靠人工、环境数据靠手动准备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4462" y="2164556"/>
              <a:ext cx="29978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→ 不敢快速合并、不敢重构、不敢频繁发布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46760" y="2766060"/>
            <a:ext cx="3089506" cy="451009"/>
            <a:chOff x="746760" y="2766060"/>
            <a:chExt cx="3089506" cy="451009"/>
          </a:xfrm>
        </p:grpSpPr>
        <p:sp>
          <p:nvSpPr>
            <p:cNvPr id="18" name="TextBox 18"/>
            <p:cNvSpPr txBox="1"/>
            <p:nvPr/>
          </p:nvSpPr>
          <p:spPr>
            <a:xfrm>
              <a:off x="746760" y="2766060"/>
              <a:ext cx="21391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交付闭环:质量内嵌在每一步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018949"/>
              <a:ext cx="30866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质量不是最后一道关,而是交付闭环每一步的内置能力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2500" y="3429000"/>
            <a:ext cx="1524000" cy="647700"/>
            <a:chOff x="952500" y="3429000"/>
            <a:chExt cx="1524000" cy="647700"/>
          </a:xfrm>
        </p:grpSpPr>
        <p:sp>
          <p:nvSpPr>
            <p:cNvPr id="21" name="Rectangle 21"/>
            <p:cNvSpPr/>
            <p:nvPr/>
          </p:nvSpPr>
          <p:spPr>
            <a:xfrm>
              <a:off x="952500" y="3429000"/>
              <a:ext cx="1524000" cy="647700"/>
            </a:xfrm>
            <a:prstGeom prst="roundRect">
              <a:avLst>
                <a:gd name="adj" fmla="val 17647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1148556" y="3626644"/>
              <a:ext cx="122238" cy="157162"/>
              <a:chOff x="1148556" y="3626644"/>
              <a:chExt cx="122238" cy="1571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227138" y="3626644"/>
                <a:ext cx="43656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43656" h="43656">
                    <a:moveTo>
                      <a:pt x="0" y="0"/>
                    </a:moveTo>
                    <a:lnTo>
                      <a:pt x="0" y="34925"/>
                    </a:lnTo>
                    <a:cubicBezTo>
                      <a:pt x="0" y="39747"/>
                      <a:pt x="3909" y="43656"/>
                      <a:pt x="8731" y="43656"/>
                    </a:cubicBezTo>
                    <a:lnTo>
                      <a:pt x="43656" y="4365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48556" y="3626644"/>
                <a:ext cx="12223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57162">
                    <a:moveTo>
                      <a:pt x="104775" y="157162"/>
                    </a:moveTo>
                    <a:lnTo>
                      <a:pt x="17463" y="157162"/>
                    </a:lnTo>
                    <a:cubicBezTo>
                      <a:pt x="7818" y="157162"/>
                      <a:pt x="0" y="149344"/>
                      <a:pt x="0" y="139700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3" y="0"/>
                    </a:cubicBezTo>
                    <a:lnTo>
                      <a:pt x="78581" y="0"/>
                    </a:lnTo>
                    <a:lnTo>
                      <a:pt x="122237" y="43656"/>
                    </a:lnTo>
                    <a:lnTo>
                      <a:pt x="122237" y="139700"/>
                    </a:lnTo>
                    <a:cubicBezTo>
                      <a:pt x="122237" y="149344"/>
                      <a:pt x="114419" y="157162"/>
                      <a:pt x="104775" y="1571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83481" y="36790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31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83481" y="3713956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83481" y="3748881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326696" y="3647599"/>
              <a:ext cx="775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需求转 Spec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05223" y="3873341"/>
              <a:ext cx="8185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Builder + Agent</a:t>
              </a:r>
            </a:p>
          </p:txBody>
        </p:sp>
      </p:grpSp>
      <p:sp>
        <p:nvSpPr>
          <p:cNvPr id="31" name="Line 31"/>
          <p:cNvSpPr/>
          <p:nvPr/>
        </p:nvSpPr>
        <p:spPr>
          <a:xfrm>
            <a:off x="2495550" y="3752850"/>
            <a:ext cx="285750" cy="1"/>
          </a:xfrm>
          <a:prstGeom prst="line">
            <a:avLst/>
          </a:prstGeom>
          <a:noFill/>
          <a:ln w="19050">
            <a:solidFill>
              <a:srgbClr val="246BFE"/>
            </a:solidFill>
            <a:tailEnd type="triangle" w="lg" len="lg"/>
          </a:ln>
        </p:spPr>
      </p:sp>
      <p:grpSp>
        <p:nvGrpSpPr>
          <p:cNvPr id="39" name="Group 39"/>
          <p:cNvGrpSpPr/>
          <p:nvPr/>
        </p:nvGrpSpPr>
        <p:grpSpPr>
          <a:xfrm>
            <a:off x="2800350" y="3429000"/>
            <a:ext cx="1524000" cy="647700"/>
            <a:chOff x="2800350" y="3429000"/>
            <a:chExt cx="1524000" cy="647700"/>
          </a:xfrm>
        </p:grpSpPr>
        <p:sp>
          <p:nvSpPr>
            <p:cNvPr id="32" name="Rectangle 32"/>
            <p:cNvSpPr/>
            <p:nvPr/>
          </p:nvSpPr>
          <p:spPr>
            <a:xfrm>
              <a:off x="2800350" y="3429000"/>
              <a:ext cx="1524000" cy="647700"/>
            </a:xfrm>
            <a:prstGeom prst="roundRect">
              <a:avLst>
                <a:gd name="adj" fmla="val 17647"/>
              </a:avLst>
            </a:prstGeom>
            <a:solidFill>
              <a:srgbClr val="246BFE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2978944" y="3635375"/>
              <a:ext cx="157162" cy="139700"/>
              <a:chOff x="2978944" y="3635375"/>
              <a:chExt cx="157162" cy="1397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2978944" y="367030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34925" y="0"/>
                    </a:moveTo>
                    <a:lnTo>
                      <a:pt x="0" y="34925"/>
                    </a:lnTo>
                    <a:lnTo>
                      <a:pt x="34925" y="698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101181" y="367030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0" y="0"/>
                    </a:moveTo>
                    <a:lnTo>
                      <a:pt x="34925" y="34925"/>
                    </a:ln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040062" y="3635375"/>
                <a:ext cx="3492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139700">
                    <a:moveTo>
                      <a:pt x="34925" y="0"/>
                    </a:moveTo>
                    <a:lnTo>
                      <a:pt x="0" y="1397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3198436" y="3647599"/>
              <a:ext cx="727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设计 + 编码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64074" y="3873341"/>
              <a:ext cx="796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AI + Agent 协作</a:t>
              </a:r>
            </a:p>
          </p:txBody>
        </p:sp>
      </p:grpSp>
      <p:sp>
        <p:nvSpPr>
          <p:cNvPr id="40" name="Line 40"/>
          <p:cNvSpPr/>
          <p:nvPr/>
        </p:nvSpPr>
        <p:spPr>
          <a:xfrm>
            <a:off x="4343400" y="3752850"/>
            <a:ext cx="285750" cy="1"/>
          </a:xfrm>
          <a:prstGeom prst="line">
            <a:avLst/>
          </a:prstGeom>
          <a:noFill/>
          <a:ln w="19050">
            <a:solidFill>
              <a:srgbClr val="246BFE"/>
            </a:solidFill>
            <a:tailEnd type="triangle" w="lg" len="lg"/>
          </a:ln>
        </p:spPr>
      </p:sp>
      <p:grpSp>
        <p:nvGrpSpPr>
          <p:cNvPr id="47" name="Group 47"/>
          <p:cNvGrpSpPr/>
          <p:nvPr/>
        </p:nvGrpSpPr>
        <p:grpSpPr>
          <a:xfrm>
            <a:off x="4648200" y="3429000"/>
            <a:ext cx="1524000" cy="647700"/>
            <a:chOff x="4648200" y="3429000"/>
            <a:chExt cx="1524000" cy="647700"/>
          </a:xfrm>
        </p:grpSpPr>
        <p:sp>
          <p:nvSpPr>
            <p:cNvPr id="41" name="Rectangle 41"/>
            <p:cNvSpPr/>
            <p:nvPr/>
          </p:nvSpPr>
          <p:spPr>
            <a:xfrm>
              <a:off x="4648200" y="3429000"/>
              <a:ext cx="1524000" cy="647700"/>
            </a:xfrm>
            <a:prstGeom prst="roundRect">
              <a:avLst>
                <a:gd name="adj" fmla="val 17647"/>
              </a:avLst>
            </a:prstGeom>
            <a:solidFill>
              <a:srgbClr val="246BFE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4826794" y="3626644"/>
              <a:ext cx="157162" cy="157162"/>
              <a:chOff x="4826794" y="3626644"/>
              <a:chExt cx="157162" cy="15716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4826794" y="36266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879181" y="3687762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2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4937072" y="3647599"/>
              <a:ext cx="9462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fullcheck 全检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61430" y="38733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AI 改完即验证</a:t>
              </a:r>
            </a:p>
          </p:txBody>
        </p:sp>
      </p:grpSp>
      <p:sp>
        <p:nvSpPr>
          <p:cNvPr id="48" name="Line 48"/>
          <p:cNvSpPr/>
          <p:nvPr/>
        </p:nvSpPr>
        <p:spPr>
          <a:xfrm>
            <a:off x="6191250" y="3752850"/>
            <a:ext cx="285750" cy="1"/>
          </a:xfrm>
          <a:prstGeom prst="line">
            <a:avLst/>
          </a:prstGeom>
          <a:noFill/>
          <a:ln w="19050">
            <a:solidFill>
              <a:srgbClr val="246BFE"/>
            </a:solidFill>
            <a:tailEnd type="triangle" w="lg" len="lg"/>
          </a:ln>
        </p:spPr>
      </p:sp>
      <p:grpSp>
        <p:nvGrpSpPr>
          <p:cNvPr id="55" name="Group 55"/>
          <p:cNvGrpSpPr/>
          <p:nvPr/>
        </p:nvGrpSpPr>
        <p:grpSpPr>
          <a:xfrm>
            <a:off x="6496050" y="3429000"/>
            <a:ext cx="1524000" cy="647700"/>
            <a:chOff x="6496050" y="3429000"/>
            <a:chExt cx="1524000" cy="647700"/>
          </a:xfrm>
        </p:grpSpPr>
        <p:sp>
          <p:nvSpPr>
            <p:cNvPr id="49" name="Rectangle 49"/>
            <p:cNvSpPr/>
            <p:nvPr/>
          </p:nvSpPr>
          <p:spPr>
            <a:xfrm>
              <a:off x="6496050" y="3429000"/>
              <a:ext cx="1524000" cy="647700"/>
            </a:xfrm>
            <a:prstGeom prst="roundRect">
              <a:avLst>
                <a:gd name="adj" fmla="val 17647"/>
              </a:avLst>
            </a:prstGeom>
            <a:solidFill>
              <a:srgbClr val="246BFE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92106" y="3661569"/>
              <a:ext cx="122238" cy="114300"/>
              <a:chOff x="6692106" y="3661569"/>
              <a:chExt cx="122238" cy="1143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92106" y="3661569"/>
                <a:ext cx="43656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43656" h="87312">
                    <a:moveTo>
                      <a:pt x="0" y="0"/>
                    </a:moveTo>
                    <a:lnTo>
                      <a:pt x="43656" y="43656"/>
                    </a:lnTo>
                    <a:lnTo>
                      <a:pt x="0" y="8731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53225" y="3766344"/>
                <a:ext cx="611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9525">
                    <a:moveTo>
                      <a:pt x="0" y="0"/>
                    </a:moveTo>
                    <a:lnTo>
                      <a:pt x="61119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23490" y="3647599"/>
              <a:ext cx="10691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CLI E2E 自动验证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32271" y="3873341"/>
              <a:ext cx="8515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环境/造数脚本化</a:t>
              </a:r>
            </a:p>
          </p:txBody>
        </p:sp>
      </p:grpSp>
      <p:sp>
        <p:nvSpPr>
          <p:cNvPr id="56" name="Line 56"/>
          <p:cNvSpPr/>
          <p:nvPr/>
        </p:nvSpPr>
        <p:spPr>
          <a:xfrm>
            <a:off x="8039100" y="3752850"/>
            <a:ext cx="285750" cy="1"/>
          </a:xfrm>
          <a:prstGeom prst="line">
            <a:avLst/>
          </a:prstGeom>
          <a:noFill/>
          <a:ln w="19050">
            <a:solidFill>
              <a:srgbClr val="246BFE"/>
            </a:solidFill>
            <a:tailEnd type="triangle" w="lg" len="lg"/>
          </a:ln>
        </p:spPr>
      </p:sp>
      <p:grpSp>
        <p:nvGrpSpPr>
          <p:cNvPr id="63" name="Group 63"/>
          <p:cNvGrpSpPr/>
          <p:nvPr/>
        </p:nvGrpSpPr>
        <p:grpSpPr>
          <a:xfrm>
            <a:off x="8343900" y="3429000"/>
            <a:ext cx="1524000" cy="647700"/>
            <a:chOff x="8343900" y="3429000"/>
            <a:chExt cx="1524000" cy="647700"/>
          </a:xfrm>
        </p:grpSpPr>
        <p:sp>
          <p:nvSpPr>
            <p:cNvPr id="57" name="Rectangle 57"/>
            <p:cNvSpPr/>
            <p:nvPr/>
          </p:nvSpPr>
          <p:spPr>
            <a:xfrm>
              <a:off x="8343900" y="3429000"/>
              <a:ext cx="1524000" cy="647700"/>
            </a:xfrm>
            <a:prstGeom prst="roundRect">
              <a:avLst>
                <a:gd name="adj" fmla="val 17647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522494" y="3652838"/>
              <a:ext cx="157162" cy="104775"/>
              <a:chOff x="8522494" y="3652838"/>
              <a:chExt cx="157162" cy="10477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583612" y="3687762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522494" y="3652838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57162" y="52388"/>
                    </a:moveTo>
                    <a:cubicBezTo>
                      <a:pt x="136207" y="87313"/>
                      <a:pt x="110014" y="104775"/>
                      <a:pt x="78581" y="104775"/>
                    </a:cubicBezTo>
                    <a:cubicBezTo>
                      <a:pt x="47149" y="104775"/>
                      <a:pt x="20955" y="87313"/>
                      <a:pt x="0" y="52388"/>
                    </a:cubicBezTo>
                    <a:cubicBezTo>
                      <a:pt x="20955" y="17462"/>
                      <a:pt x="47149" y="0"/>
                      <a:pt x="78581" y="0"/>
                    </a:cubicBezTo>
                    <a:cubicBezTo>
                      <a:pt x="110014" y="0"/>
                      <a:pt x="136207" y="17462"/>
                      <a:pt x="157162" y="523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741986" y="3647599"/>
              <a:ext cx="727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代码评审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04874" y="387334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缺陷/安全/性能</a:t>
              </a:r>
            </a:p>
          </p:txBody>
        </p:sp>
      </p:grpSp>
      <p:sp>
        <p:nvSpPr>
          <p:cNvPr id="64" name="Line 64"/>
          <p:cNvSpPr/>
          <p:nvPr/>
        </p:nvSpPr>
        <p:spPr>
          <a:xfrm>
            <a:off x="9886950" y="3752850"/>
            <a:ext cx="285750" cy="1"/>
          </a:xfrm>
          <a:prstGeom prst="line">
            <a:avLst/>
          </a:prstGeom>
          <a:noFill/>
          <a:ln w="19050">
            <a:solidFill>
              <a:srgbClr val="246BFE"/>
            </a:solidFill>
            <a:tailEnd type="triangle" w="lg" len="lg"/>
          </a:ln>
        </p:spPr>
      </p:sp>
      <p:grpSp>
        <p:nvGrpSpPr>
          <p:cNvPr id="71" name="Group 71"/>
          <p:cNvGrpSpPr/>
          <p:nvPr/>
        </p:nvGrpSpPr>
        <p:grpSpPr>
          <a:xfrm>
            <a:off x="10191750" y="3429000"/>
            <a:ext cx="1238250" cy="647700"/>
            <a:chOff x="10191750" y="3429000"/>
            <a:chExt cx="1238250" cy="647700"/>
          </a:xfrm>
        </p:grpSpPr>
        <p:sp>
          <p:nvSpPr>
            <p:cNvPr id="65" name="Rectangle 65"/>
            <p:cNvSpPr/>
            <p:nvPr/>
          </p:nvSpPr>
          <p:spPr>
            <a:xfrm>
              <a:off x="10191750" y="3429000"/>
              <a:ext cx="1238250" cy="647700"/>
            </a:xfrm>
            <a:prstGeom prst="roundRect">
              <a:avLst>
                <a:gd name="adj" fmla="val 17647"/>
              </a:avLst>
            </a:prstGeom>
            <a:solidFill>
              <a:srgbClr val="0E9F6E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0370344" y="3626644"/>
              <a:ext cx="157162" cy="157162"/>
              <a:chOff x="10370344" y="3626644"/>
              <a:chExt cx="157162" cy="157162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0370344" y="36266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0422731" y="3687762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2"/>
                    </a:moveTo>
                    <a:lnTo>
                      <a:pt x="17462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57200" y="3647599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可发布版本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580370" y="38733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回归通过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4533900"/>
            <a:ext cx="10668000" cy="1524000"/>
            <a:chOff x="762000" y="4533900"/>
            <a:chExt cx="10668000" cy="1524000"/>
          </a:xfrm>
        </p:grpSpPr>
        <p:sp>
          <p:nvSpPr>
            <p:cNvPr id="72" name="Rectangle 72"/>
            <p:cNvSpPr/>
            <p:nvPr/>
          </p:nvSpPr>
          <p:spPr>
            <a:xfrm>
              <a:off x="762000" y="45339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708519" y="4834890"/>
              <a:ext cx="67749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没有自动化安全网,AI 写得再快组织也不敢合并、重构、发布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5143500" y="52959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996499" y="5509260"/>
              <a:ext cx="41990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Harness 先行 → AI 改完即可验证 → 组织才敢让 AI 高频自主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77" name="TextBox 77"/>
            <p:cNvSpPr txBox="1"/>
            <p:nvPr/>
          </p:nvSpPr>
          <p:spPr>
            <a:xfrm>
              <a:off x="750570" y="6456045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第三章 · S2 智能交付闭环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13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20" grpId="0"/>
      <p:bldP spid="30" grpId="0"/>
      <p:bldP spid="39" grpId="0"/>
      <p:bldP spid="47" grpId="0"/>
      <p:bldP spid="55" grpId="0"/>
      <p:bldP spid="63" grpId="0"/>
      <p:bldP spid="71" grpId="0"/>
      <p:bldP spid="7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47712" y="533400"/>
            <a:ext cx="7138416" cy="792956"/>
            <a:chOff x="747712" y="533400"/>
            <a:chExt cx="7138416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90600" y="742950"/>
              <a:ext cx="266700" cy="2667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3211" y="8362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3980" y="725805"/>
              <a:ext cx="652214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Harness + 自动化测试,让 AI 改完即可验证可发布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7712" y="1097756"/>
              <a:ext cx="35840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自动化测试安全网越强,AI 能承担的自主执行范围越大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" y="1524000"/>
            <a:ext cx="6096000" cy="4381500"/>
            <a:chOff x="762000" y="1524000"/>
            <a:chExt cx="6096000" cy="4381500"/>
          </a:xfrm>
        </p:grpSpPr>
        <p:sp>
          <p:nvSpPr>
            <p:cNvPr id="9" name="Rectangle 9"/>
            <p:cNvSpPr/>
            <p:nvPr/>
          </p:nvSpPr>
          <p:spPr>
            <a:xfrm>
              <a:off x="762000" y="1524000"/>
              <a:ext cx="6096000" cy="4381500"/>
            </a:xfrm>
            <a:prstGeom prst="roundRect">
              <a:avLst>
                <a:gd name="adj" fmla="val 3478"/>
              </a:avLst>
            </a:prstGeom>
            <a:solidFill>
              <a:srgbClr val="F4F7FC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61225" y="1785125"/>
              <a:ext cx="239751" cy="239751"/>
              <a:chOff x="1061225" y="1785125"/>
              <a:chExt cx="239751" cy="23975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61225" y="1785125"/>
                <a:ext cx="239751" cy="239751"/>
              </a:xfrm>
              <a:custGeom>
                <a:avLst/>
                <a:gdLst/>
                <a:ahLst/>
                <a:cxnLst/>
                <a:rect l="l" t="t" r="r" b="b"/>
                <a:pathLst>
                  <a:path w="239751" h="239751">
                    <a:moveTo>
                      <a:pt x="98603" y="22301"/>
                    </a:moveTo>
                    <a:cubicBezTo>
                      <a:pt x="104013" y="0"/>
                      <a:pt x="135738" y="0"/>
                      <a:pt x="141148" y="22301"/>
                    </a:cubicBezTo>
                    <a:cubicBezTo>
                      <a:pt x="142794" y="29096"/>
                      <a:pt x="147587" y="34697"/>
                      <a:pt x="154047" y="37373"/>
                    </a:cubicBezTo>
                    <a:cubicBezTo>
                      <a:pt x="160506" y="40049"/>
                      <a:pt x="167855" y="39479"/>
                      <a:pt x="173825" y="35839"/>
                    </a:cubicBezTo>
                    <a:cubicBezTo>
                      <a:pt x="193421" y="23901"/>
                      <a:pt x="215862" y="46330"/>
                      <a:pt x="203924" y="65938"/>
                    </a:cubicBezTo>
                    <a:cubicBezTo>
                      <a:pt x="200289" y="71906"/>
                      <a:pt x="199721" y="79249"/>
                      <a:pt x="202394" y="85704"/>
                    </a:cubicBezTo>
                    <a:cubicBezTo>
                      <a:pt x="205067" y="92160"/>
                      <a:pt x="210660" y="96952"/>
                      <a:pt x="217449" y="98603"/>
                    </a:cubicBezTo>
                    <a:cubicBezTo>
                      <a:pt x="239751" y="104013"/>
                      <a:pt x="239751" y="135738"/>
                      <a:pt x="217449" y="141148"/>
                    </a:cubicBezTo>
                    <a:cubicBezTo>
                      <a:pt x="210654" y="142794"/>
                      <a:pt x="205054" y="147587"/>
                      <a:pt x="202378" y="154047"/>
                    </a:cubicBezTo>
                    <a:cubicBezTo>
                      <a:pt x="199702" y="160506"/>
                      <a:pt x="200271" y="167855"/>
                      <a:pt x="203911" y="173825"/>
                    </a:cubicBezTo>
                    <a:cubicBezTo>
                      <a:pt x="215849" y="193421"/>
                      <a:pt x="193421" y="215862"/>
                      <a:pt x="173812" y="203924"/>
                    </a:cubicBezTo>
                    <a:cubicBezTo>
                      <a:pt x="167845" y="200289"/>
                      <a:pt x="160502" y="199721"/>
                      <a:pt x="154046" y="202394"/>
                    </a:cubicBezTo>
                    <a:cubicBezTo>
                      <a:pt x="147591" y="205067"/>
                      <a:pt x="142799" y="210660"/>
                      <a:pt x="141148" y="217449"/>
                    </a:cubicBezTo>
                    <a:cubicBezTo>
                      <a:pt x="135738" y="239751"/>
                      <a:pt x="104013" y="239751"/>
                      <a:pt x="98603" y="217449"/>
                    </a:cubicBezTo>
                    <a:cubicBezTo>
                      <a:pt x="96956" y="210654"/>
                      <a:pt x="92163" y="205054"/>
                      <a:pt x="85704" y="202378"/>
                    </a:cubicBezTo>
                    <a:cubicBezTo>
                      <a:pt x="79245" y="199702"/>
                      <a:pt x="71895" y="200271"/>
                      <a:pt x="65926" y="203911"/>
                    </a:cubicBezTo>
                    <a:cubicBezTo>
                      <a:pt x="46330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2"/>
                      <a:pt x="37357" y="154046"/>
                    </a:cubicBezTo>
                    <a:cubicBezTo>
                      <a:pt x="34684" y="147591"/>
                      <a:pt x="29090" y="142799"/>
                      <a:pt x="22301" y="141148"/>
                    </a:cubicBezTo>
                    <a:cubicBezTo>
                      <a:pt x="0" y="135738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5"/>
                      <a:pt x="39479" y="71895"/>
                      <a:pt x="35839" y="65926"/>
                    </a:cubicBezTo>
                    <a:cubicBezTo>
                      <a:pt x="23901" y="46330"/>
                      <a:pt x="46330" y="23889"/>
                      <a:pt x="65938" y="35827"/>
                    </a:cubicBezTo>
                    <a:cubicBezTo>
                      <a:pt x="78638" y="43548"/>
                      <a:pt x="95098" y="36716"/>
                      <a:pt x="98603" y="22301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43000" y="1866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09700" y="1819275"/>
              <a:ext cx="25689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FarAI 能力(Harness 组件)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28700" y="220980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057275" y="2412206"/>
              <a:ext cx="2776609" cy="404813"/>
              <a:chOff x="1057275" y="2412206"/>
              <a:chExt cx="2776609" cy="404813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057275" y="2447925"/>
                <a:ext cx="247650" cy="247650"/>
              </a:xfrm>
              <a:prstGeom prst="ellipse">
                <a:avLst/>
              </a:prstGeom>
              <a:solidFill>
                <a:srgbClr val="246BFE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38856" y="2539841"/>
                <a:ext cx="844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95412" y="2412206"/>
                <a:ext cx="14068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fullcheck 全量检查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97318" y="2618899"/>
                <a:ext cx="24365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单测/接口/契约/E2E/回归,AI 改完即验证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57275" y="2964656"/>
              <a:ext cx="2796112" cy="404813"/>
              <a:chOff x="1057275" y="2964656"/>
              <a:chExt cx="2796112" cy="40481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057275" y="3000375"/>
                <a:ext cx="247650" cy="247650"/>
              </a:xfrm>
              <a:prstGeom prst="ellipse">
                <a:avLst/>
              </a:prstGeom>
              <a:solidFill>
                <a:srgbClr val="246BF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38856" y="3092291"/>
                <a:ext cx="844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95412" y="2964656"/>
                <a:ext cx="10760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CLI E2E 自动化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97318" y="3171349"/>
                <a:ext cx="24560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环境/数据/造数脚本化,Agent 可自主验证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57275" y="3517106"/>
              <a:ext cx="2575084" cy="404813"/>
              <a:chOff x="1057275" y="3517106"/>
              <a:chExt cx="2575084" cy="404813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057275" y="3552825"/>
                <a:ext cx="247650" cy="247650"/>
              </a:xfrm>
              <a:prstGeom prst="ellipse">
                <a:avLst/>
              </a:prstGeom>
              <a:solidFill>
                <a:srgbClr val="246BFE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38856" y="3644741"/>
                <a:ext cx="844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395412" y="3517106"/>
                <a:ext cx="8398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AI 代码评审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397318" y="3723799"/>
                <a:ext cx="22350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提前发现缺陷、安全、性能、测试缺口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57275" y="4069556"/>
              <a:ext cx="2588086" cy="404813"/>
              <a:chOff x="1057275" y="4069556"/>
              <a:chExt cx="2588086" cy="404813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1057275" y="4105275"/>
                <a:ext cx="247650" cy="247650"/>
              </a:xfrm>
              <a:prstGeom prst="ellipse">
                <a:avLst/>
              </a:prstGeom>
              <a:solidFill>
                <a:srgbClr val="246BFE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138856" y="4197191"/>
                <a:ext cx="844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395412" y="4069556"/>
                <a:ext cx="12729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架构规则 as Code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397318" y="4276249"/>
                <a:ext cx="22480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分层依赖/契约兼容/越权访问持续守护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057275" y="4622006"/>
              <a:ext cx="2061520" cy="404813"/>
              <a:chOff x="1057275" y="4622006"/>
              <a:chExt cx="2061520" cy="404813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1057275" y="4657725"/>
                <a:ext cx="247650" cy="247650"/>
              </a:xfrm>
              <a:prstGeom prst="ellipse">
                <a:avLst/>
              </a:prstGeom>
              <a:solidFill>
                <a:srgbClr val="246BFE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138856" y="4749641"/>
                <a:ext cx="844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395412" y="4622006"/>
                <a:ext cx="1430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traceId 全链路追踪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397318" y="4828699"/>
                <a:ext cx="17214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Agent 每一步可追溯、可复盘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7048500" y="1524000"/>
            <a:ext cx="4381500" cy="4381500"/>
            <a:chOff x="7048500" y="1524000"/>
            <a:chExt cx="4381500" cy="4381500"/>
          </a:xfrm>
        </p:grpSpPr>
        <p:sp>
          <p:nvSpPr>
            <p:cNvPr id="41" name="Rectangle 41"/>
            <p:cNvSpPr/>
            <p:nvPr/>
          </p:nvSpPr>
          <p:spPr>
            <a:xfrm>
              <a:off x="7048500" y="1524000"/>
              <a:ext cx="4381500" cy="4381500"/>
            </a:xfrm>
            <a:prstGeom prst="roundRect">
              <a:avLst>
                <a:gd name="adj" fmla="val 3478"/>
              </a:avLst>
            </a:prstGeom>
            <a:solidFill>
              <a:srgbClr val="246BFE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53300" y="1841500"/>
              <a:ext cx="228600" cy="127000"/>
              <a:chOff x="7353300" y="1841500"/>
              <a:chExt cx="228600" cy="1270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53300" y="1841500"/>
                <a:ext cx="2286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7000">
                    <a:moveTo>
                      <a:pt x="0" y="127000"/>
                    </a:moveTo>
                    <a:lnTo>
                      <a:pt x="76200" y="50800"/>
                    </a:lnTo>
                    <a:lnTo>
                      <a:pt x="127000" y="101600"/>
                    </a:ln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493000" y="184150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889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69620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价值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7315200" y="22098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77100" y="2533650"/>
              <a:ext cx="1777413" cy="923925"/>
              <a:chOff x="7277100" y="2533650"/>
              <a:chExt cx="1777413" cy="923925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7277100" y="2533650"/>
                <a:ext cx="1777413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↓40-60%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299960" y="3032760"/>
                <a:ext cx="9185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CE6FB"/>
                    </a:solidFill>
                    <a:latin typeface="Arial"/>
                    <a:ea typeface="Microsoft YaHei"/>
                    <a:cs typeface="Arial"/>
                  </a:rPr>
                  <a:t>返工/缺陷率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303770" y="3274695"/>
                <a:ext cx="3949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B8C7E0"/>
                    </a:solidFill>
                    <a:latin typeface="Arial"/>
                    <a:ea typeface="Microsoft YaHei"/>
                    <a:cs typeface="Arial"/>
                  </a:rPr>
                  <a:t>(预估)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7315200" y="36195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FFFFFF">
                  <a:alpha val="15000"/>
                </a:srgbClr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77100" y="3867150"/>
              <a:ext cx="1546384" cy="923925"/>
              <a:chOff x="7277100" y="3867150"/>
              <a:chExt cx="1546384" cy="923925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7277100" y="3867150"/>
                <a:ext cx="1546384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↑3-5 倍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299960" y="4366260"/>
                <a:ext cx="139865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CE6FB"/>
                    </a:solidFill>
                    <a:latin typeface="Arial"/>
                    <a:ea typeface="Microsoft YaHei"/>
                    <a:cs typeface="Arial"/>
                  </a:rPr>
                  <a:t>安全合并/重构吞吐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303770" y="4608195"/>
                <a:ext cx="3949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B8C7E0"/>
                    </a:solidFill>
                    <a:latin typeface="Arial"/>
                    <a:ea typeface="Microsoft YaHei"/>
                    <a:cs typeface="Arial"/>
                  </a:rPr>
                  <a:t>(预估)</a:t>
                </a:r>
              </a:p>
            </p:txBody>
          </p:sp>
        </p:grpSp>
        <p:sp>
          <p:nvSpPr>
            <p:cNvPr id="56" name="Line 56"/>
            <p:cNvSpPr/>
            <p:nvPr/>
          </p:nvSpPr>
          <p:spPr>
            <a:xfrm>
              <a:off x="7315200" y="49530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FFFFFF">
                  <a:alpha val="15000"/>
                </a:srgbClr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298055" y="5302568"/>
              <a:ext cx="1584674" cy="474344"/>
              <a:chOff x="7298055" y="5302568"/>
              <a:chExt cx="1584674" cy="474344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7298055" y="5302568"/>
                <a:ext cx="138580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AI 自主执行范围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301865" y="5563552"/>
                <a:ext cx="15808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CE6FB"/>
                    </a:solidFill>
                    <a:latin typeface="Arial"/>
                    <a:ea typeface="Microsoft YaHei"/>
                    <a:cs typeface="Arial"/>
                  </a:rPr>
                  <a:t>随安全网强度放大(预估)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750570" y="6456045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第三章 · S2 智能交付闭环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14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0" grpId="0"/>
      <p:bldP spid="6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7006514" cy="619125"/>
            <a:chOff x="762000" y="533400"/>
            <a:chExt cx="7006514" cy="619125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90600" y="742950"/>
              <a:ext cx="266700" cy="26670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3211" y="8362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3980" y="725805"/>
              <a:ext cx="64045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Agent 拿不到准确上下文,老找错代码、误解业务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295400"/>
            <a:ext cx="10668000" cy="1281112"/>
            <a:chOff x="762000" y="1295400"/>
            <a:chExt cx="10668000" cy="1281112"/>
          </a:xfrm>
        </p:grpSpPr>
        <p:sp>
          <p:nvSpPr>
            <p:cNvPr id="8" name="Rectangle 8"/>
            <p:cNvSpPr/>
            <p:nvPr/>
          </p:nvSpPr>
          <p:spPr>
            <a:xfrm>
              <a:off x="762000" y="1295400"/>
              <a:ext cx="10668000" cy="1257300"/>
            </a:xfrm>
            <a:prstGeom prst="roundRect">
              <a:avLst>
                <a:gd name="adj" fmla="val 1060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29540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0549" y="1536713"/>
              <a:ext cx="240143" cy="206314"/>
              <a:chOff x="1070549" y="1536713"/>
              <a:chExt cx="240143" cy="20631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90625" y="161210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0549" y="153671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90625" y="169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11605" y="1568768"/>
              <a:ext cx="27278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痛点:知识散落,Agent 只能"猜"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5415" y="1905952"/>
              <a:ext cx="62644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需求在 Confluence · 设计在 Figma · 代码在 Git · 测试在 TestRail · 契约在 Swagger · 规则在文档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5415" y="2153602"/>
              <a:ext cx="2469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→ Agent 检索只能靠关键词/向量相似度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15415" y="2363152"/>
              <a:ext cx="4437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→ 找错上下文、误解概念、遗漏约束 → 生成看似合理实则错误的方案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46760" y="2880360"/>
            <a:ext cx="4079786" cy="243840"/>
            <a:chOff x="746760" y="2880360"/>
            <a:chExt cx="4079786" cy="243840"/>
          </a:xfrm>
        </p:grpSpPr>
        <p:sp>
          <p:nvSpPr>
            <p:cNvPr id="19" name="TextBox 19"/>
            <p:cNvSpPr txBox="1"/>
            <p:nvPr/>
          </p:nvSpPr>
          <p:spPr>
            <a:xfrm>
              <a:off x="746760" y="2880360"/>
              <a:ext cx="40797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三层资产结构:不是堆文件,是用本体网络把资产连起来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3238500"/>
            <a:ext cx="10668000" cy="800100"/>
            <a:chOff x="762000" y="3238500"/>
            <a:chExt cx="10668000" cy="800100"/>
          </a:xfrm>
        </p:grpSpPr>
        <p:sp>
          <p:nvSpPr>
            <p:cNvPr id="21" name="Rectangle 21"/>
            <p:cNvSpPr/>
            <p:nvPr/>
          </p:nvSpPr>
          <p:spPr>
            <a:xfrm>
              <a:off x="762000" y="3238500"/>
              <a:ext cx="10668000" cy="800100"/>
            </a:xfrm>
            <a:prstGeom prst="roundRect">
              <a:avLst>
                <a:gd name="adj" fmla="val 14286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46162" y="3500438"/>
              <a:ext cx="155575" cy="200025"/>
            </a:xfrm>
            <a:custGeom>
              <a:avLst/>
              <a:gdLst/>
              <a:ahLst/>
              <a:cxnLst/>
              <a:rect l="l" t="t" r="r" b="b"/>
              <a:pathLst>
                <a:path w="155575" h="200025">
                  <a:moveTo>
                    <a:pt x="88900" y="0"/>
                  </a:moveTo>
                  <a:lnTo>
                    <a:pt x="88900" y="77788"/>
                  </a:lnTo>
                  <a:lnTo>
                    <a:pt x="155575" y="77788"/>
                  </a:lnTo>
                  <a:lnTo>
                    <a:pt x="66675" y="200025"/>
                  </a:lnTo>
                  <a:lnTo>
                    <a:pt x="66675" y="122237"/>
                  </a:lnTo>
                  <a:lnTo>
                    <a:pt x="0" y="122237"/>
                  </a:ln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58265" y="3410902"/>
              <a:ext cx="1167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第三层 · 能力资产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54455" y="3664268"/>
              <a:ext cx="55726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 记忆 · Skill · Prompt · 工具调用模板 · 评测集 · 专家规则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4152900"/>
            <a:ext cx="10668000" cy="800100"/>
            <a:chOff x="762000" y="4152900"/>
            <a:chExt cx="10668000" cy="800100"/>
          </a:xfrm>
        </p:grpSpPr>
        <p:sp>
          <p:nvSpPr>
            <p:cNvPr id="26" name="Rectangle 26"/>
            <p:cNvSpPr/>
            <p:nvPr/>
          </p:nvSpPr>
          <p:spPr>
            <a:xfrm>
              <a:off x="762000" y="4152900"/>
              <a:ext cx="10668000" cy="800100"/>
            </a:xfrm>
            <a:prstGeom prst="roundRect">
              <a:avLst>
                <a:gd name="adj" fmla="val 14286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23938" y="4414838"/>
              <a:ext cx="200024" cy="211137"/>
              <a:chOff x="1023938" y="4414838"/>
              <a:chExt cx="200024" cy="21113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57275" y="4414838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9"/>
                      <a:pt x="29851" y="133350"/>
                      <a:pt x="66675" y="133350"/>
                    </a:cubicBezTo>
                    <a:cubicBezTo>
                      <a:pt x="103499" y="133350"/>
                      <a:pt x="133350" y="103499"/>
                      <a:pt x="133350" y="66675"/>
                    </a:cubicBez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23950" y="4414838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0" y="0"/>
                    </a:moveTo>
                    <a:cubicBezTo>
                      <a:pt x="14813" y="3700"/>
                      <a:pt x="22225" y="25925"/>
                      <a:pt x="22225" y="66675"/>
                    </a:cubicBezTo>
                    <a:cubicBezTo>
                      <a:pt x="22225" y="107425"/>
                      <a:pt x="14813" y="129650"/>
                      <a:pt x="0" y="1333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01725" y="4414838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22225" y="0"/>
                    </a:moveTo>
                    <a:cubicBezTo>
                      <a:pt x="7412" y="3700"/>
                      <a:pt x="0" y="25925"/>
                      <a:pt x="0" y="66675"/>
                    </a:cubicBezTo>
                    <a:cubicBezTo>
                      <a:pt x="0" y="107425"/>
                      <a:pt x="7412" y="129650"/>
                      <a:pt x="22225" y="1333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57275" y="4481512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23938" y="4603750"/>
                <a:ext cx="777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9525">
                    <a:moveTo>
                      <a:pt x="0" y="0"/>
                    </a:moveTo>
                    <a:lnTo>
                      <a:pt x="777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46175" y="4603750"/>
                <a:ext cx="777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9525">
                    <a:moveTo>
                      <a:pt x="0" y="0"/>
                    </a:moveTo>
                    <a:lnTo>
                      <a:pt x="77787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01725" y="45815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23950" y="4548188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358265" y="43253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第二层 · 语义连接层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54455" y="4578668"/>
              <a:ext cx="68202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本体网络 + 知识图谱:概念 · 系统 · 数据 · 规则 · 接口 · 测试 · 经验 全语义关联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" y="5067300"/>
            <a:ext cx="10668000" cy="800100"/>
            <a:chOff x="762000" y="5067300"/>
            <a:chExt cx="10668000" cy="800100"/>
          </a:xfrm>
        </p:grpSpPr>
        <p:sp>
          <p:nvSpPr>
            <p:cNvPr id="39" name="Rectangle 39"/>
            <p:cNvSpPr/>
            <p:nvPr/>
          </p:nvSpPr>
          <p:spPr>
            <a:xfrm>
              <a:off x="762000" y="5067300"/>
              <a:ext cx="10668000" cy="800100"/>
            </a:xfrm>
            <a:prstGeom prst="roundRect">
              <a:avLst>
                <a:gd name="adj" fmla="val 14286"/>
              </a:avLst>
            </a:prstGeom>
            <a:solidFill>
              <a:srgbClr val="0A2A5E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35050" y="5329238"/>
              <a:ext cx="177800" cy="200024"/>
              <a:chOff x="1035050" y="5329238"/>
              <a:chExt cx="177800" cy="200024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35050" y="5329238"/>
                <a:ext cx="1778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8" y="66675"/>
                      <a:pt x="177800" y="51749"/>
                      <a:pt x="177800" y="33338"/>
                    </a:cubicBezTo>
                    <a:cubicBezTo>
                      <a:pt x="177800" y="14926"/>
                      <a:pt x="137998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35050" y="5362575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35050" y="5429250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358265" y="5239702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第一层 · 底层工程资产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54455" y="5493068"/>
              <a:ext cx="64705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需求 · 设计 · 代码 · 测试 · 契约/API · 运行日志 · 评测集 · Agent 执行轨迹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14006" y="6096952"/>
            <a:ext cx="3363987" cy="213360"/>
            <a:chOff x="4414006" y="6096952"/>
            <a:chExt cx="3363987" cy="213360"/>
          </a:xfrm>
        </p:grpSpPr>
        <p:sp>
          <p:nvSpPr>
            <p:cNvPr id="47" name="TextBox 47"/>
            <p:cNvSpPr txBox="1"/>
            <p:nvPr/>
          </p:nvSpPr>
          <p:spPr>
            <a:xfrm>
              <a:off x="4414006" y="6096952"/>
              <a:ext cx="33639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Agent 不再靠关键词"猜",而是沿语义关系精确检索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49" name="TextBox 49"/>
            <p:cNvSpPr txBox="1"/>
            <p:nvPr/>
          </p:nvSpPr>
          <p:spPr>
            <a:xfrm>
              <a:off x="750570" y="6456045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第三章 · S3 智能知识底座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15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20" grpId="0"/>
      <p:bldP spid="25" grpId="0"/>
      <p:bldP spid="38" grpId="0"/>
      <p:bldP spid="46" grpId="0"/>
      <p:bldP spid="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47712" y="533400"/>
            <a:ext cx="8285160" cy="792956"/>
            <a:chOff x="747712" y="533400"/>
            <a:chExt cx="8285160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90600" y="742950"/>
              <a:ext cx="266700" cy="26670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3211" y="8362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3980" y="725805"/>
              <a:ext cx="766889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本体网络让 Agent 沿业务语义和工程依赖,找到准确上下文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7712" y="1097756"/>
              <a:ext cx="28339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Agent 不再"猜",而是沿语义关系精确检索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62000" y="1524000"/>
            <a:ext cx="6096000" cy="4381500"/>
            <a:chOff x="762000" y="1524000"/>
            <a:chExt cx="6096000" cy="4381500"/>
          </a:xfrm>
        </p:grpSpPr>
        <p:sp>
          <p:nvSpPr>
            <p:cNvPr id="9" name="Rectangle 9"/>
            <p:cNvSpPr/>
            <p:nvPr/>
          </p:nvSpPr>
          <p:spPr>
            <a:xfrm>
              <a:off x="762000" y="1524000"/>
              <a:ext cx="6096000" cy="4381500"/>
            </a:xfrm>
            <a:prstGeom prst="roundRect">
              <a:avLst>
                <a:gd name="adj" fmla="val 3478"/>
              </a:avLst>
            </a:prstGeom>
            <a:solidFill>
              <a:srgbClr val="F4F7FC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066800" y="1790700"/>
              <a:ext cx="228600" cy="241300"/>
              <a:chOff x="1066800" y="1790700"/>
              <a:chExt cx="228600" cy="2413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04900" y="17907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81100" y="17907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cubicBezTo>
                      <a:pt x="16929" y="4229"/>
                      <a:pt x="25400" y="29629"/>
                      <a:pt x="25400" y="76200"/>
                    </a:cubicBezTo>
                    <a:cubicBezTo>
                      <a:pt x="25400" y="122771"/>
                      <a:pt x="16929" y="148171"/>
                      <a:pt x="0" y="152400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55700" y="17907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25400" y="0"/>
                    </a:moveTo>
                    <a:cubicBezTo>
                      <a:pt x="8471" y="4229"/>
                      <a:pt x="0" y="29629"/>
                      <a:pt x="0" y="76200"/>
                    </a:cubicBezTo>
                    <a:cubicBezTo>
                      <a:pt x="0" y="122771"/>
                      <a:pt x="8471" y="148171"/>
                      <a:pt x="25400" y="152400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04900" y="18669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6800" y="20066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06500" y="20066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55700" y="1981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81100" y="19431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09700" y="1819275"/>
              <a:ext cx="10462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FarAI 能力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028700" y="220980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047750" y="2533650"/>
              <a:ext cx="3844576" cy="492919"/>
              <a:chOff x="1047750" y="2533650"/>
              <a:chExt cx="3844576" cy="492919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1047750" y="2533650"/>
                <a:ext cx="266700" cy="266700"/>
              </a:xfrm>
              <a:prstGeom prst="ellipse">
                <a:avLst/>
              </a:prstGeom>
              <a:solidFill>
                <a:srgbClr val="518FEC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35016" y="2626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grpSp>
            <p:nvGrpSpPr>
              <p:cNvPr id="31" name="Group 31"/>
              <p:cNvGrpSpPr/>
              <p:nvPr/>
            </p:nvGrpSpPr>
            <p:grpSpPr>
              <a:xfrm>
                <a:off x="1440656" y="2545556"/>
                <a:ext cx="185737" cy="196057"/>
                <a:chOff x="1440656" y="2545556"/>
                <a:chExt cx="185737" cy="196057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471612" y="2545556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61912"/>
                      </a:moveTo>
                      <a:cubicBezTo>
                        <a:pt x="0" y="96106"/>
                        <a:pt x="27719" y="123825"/>
                        <a:pt x="61912" y="123825"/>
                      </a:cubicBezTo>
                      <a:cubicBezTo>
                        <a:pt x="96106" y="123825"/>
                        <a:pt x="123825" y="96106"/>
                        <a:pt x="123825" y="61912"/>
                      </a:cubicBezTo>
                      <a:cubicBezTo>
                        <a:pt x="123825" y="27719"/>
                        <a:pt x="96106" y="0"/>
                        <a:pt x="61912" y="0"/>
                      </a:cubicBezTo>
                      <a:cubicBezTo>
                        <a:pt x="27719" y="0"/>
                        <a:pt x="0" y="27719"/>
                        <a:pt x="0" y="61912"/>
                      </a:cubicBez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533525" y="2545556"/>
                  <a:ext cx="20637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123825">
                      <a:moveTo>
                        <a:pt x="0" y="0"/>
                      </a:moveTo>
                      <a:cubicBezTo>
                        <a:pt x="13755" y="3436"/>
                        <a:pt x="20637" y="24074"/>
                        <a:pt x="20637" y="61912"/>
                      </a:cubicBezTo>
                      <a:cubicBezTo>
                        <a:pt x="20637" y="99751"/>
                        <a:pt x="13755" y="120389"/>
                        <a:pt x="0" y="123825"/>
                      </a:cubicBez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512888" y="2545556"/>
                  <a:ext cx="20637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123825">
                      <a:moveTo>
                        <a:pt x="20637" y="0"/>
                      </a:moveTo>
                      <a:cubicBezTo>
                        <a:pt x="6883" y="3436"/>
                        <a:pt x="0" y="24074"/>
                        <a:pt x="0" y="61912"/>
                      </a:cubicBezTo>
                      <a:cubicBezTo>
                        <a:pt x="0" y="99751"/>
                        <a:pt x="6883" y="120389"/>
                        <a:pt x="20637" y="123825"/>
                      </a:cubicBez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471612" y="2607469"/>
                  <a:ext cx="1238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9525">
                      <a:moveTo>
                        <a:pt x="0" y="0"/>
                      </a:moveTo>
                      <a:lnTo>
                        <a:pt x="123825" y="0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440656" y="2720975"/>
                  <a:ext cx="7223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9525">
                      <a:moveTo>
                        <a:pt x="0" y="0"/>
                      </a:moveTo>
                      <a:lnTo>
                        <a:pt x="72231" y="0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554162" y="2720975"/>
                  <a:ext cx="7223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9525">
                      <a:moveTo>
                        <a:pt x="0" y="0"/>
                      </a:moveTo>
                      <a:lnTo>
                        <a:pt x="72231" y="0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512888" y="2700338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533525" y="2669381"/>
                  <a:ext cx="952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956">
                      <a:moveTo>
                        <a:pt x="0" y="0"/>
                      </a:moveTo>
                      <a:lnTo>
                        <a:pt x="0" y="30956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718310" y="25755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本体网络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721168" y="2828449"/>
                <a:ext cx="31711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业务概念/系统边界/数据实体/接口契约/规则语义关联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047750" y="3295650"/>
              <a:ext cx="3487032" cy="492919"/>
              <a:chOff x="1047750" y="3295650"/>
              <a:chExt cx="3487032" cy="492919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1047750" y="3295650"/>
                <a:ext cx="266700" cy="266700"/>
              </a:xfrm>
              <a:prstGeom prst="ellipse">
                <a:avLst/>
              </a:prstGeom>
              <a:solidFill>
                <a:srgbClr val="518FEC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135016" y="3388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grpSp>
            <p:nvGrpSpPr>
              <p:cNvPr id="39" name="Group 39"/>
              <p:cNvGrpSpPr/>
              <p:nvPr/>
            </p:nvGrpSpPr>
            <p:grpSpPr>
              <a:xfrm>
                <a:off x="1440656" y="3307556"/>
                <a:ext cx="185737" cy="185737"/>
                <a:chOff x="1440656" y="3307556"/>
                <a:chExt cx="185737" cy="185737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1440656" y="3307556"/>
                  <a:ext cx="144462" cy="144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44463">
                      <a:moveTo>
                        <a:pt x="0" y="72231"/>
                      </a:moveTo>
                      <a:cubicBezTo>
                        <a:pt x="0" y="112123"/>
                        <a:pt x="32339" y="144463"/>
                        <a:pt x="72231" y="144463"/>
                      </a:cubicBezTo>
                      <a:cubicBezTo>
                        <a:pt x="112123" y="144463"/>
                        <a:pt x="144462" y="112123"/>
                        <a:pt x="144462" y="72231"/>
                      </a:cubicBezTo>
                      <a:cubicBezTo>
                        <a:pt x="144462" y="32339"/>
                        <a:pt x="112123" y="0"/>
                        <a:pt x="72231" y="0"/>
                      </a:cubicBezTo>
                      <a:cubicBezTo>
                        <a:pt x="32339" y="0"/>
                        <a:pt x="0" y="32339"/>
                        <a:pt x="0" y="72231"/>
                      </a:cubicBez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564481" y="3431381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61912" y="619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1718310" y="33375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知识联通底座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721168" y="3590449"/>
                <a:ext cx="28136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本体网络 + 语义检索 + 向量检索 + 代码引用关系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047750" y="4057650"/>
              <a:ext cx="3454528" cy="492919"/>
              <a:chOff x="1047750" y="4057650"/>
              <a:chExt cx="3454528" cy="492919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1047750" y="4057650"/>
                <a:ext cx="266700" cy="266700"/>
              </a:xfrm>
              <a:prstGeom prst="ellipse">
                <a:avLst/>
              </a:prstGeom>
              <a:solidFill>
                <a:srgbClr val="518FEC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135016" y="4150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grpSp>
            <p:nvGrpSpPr>
              <p:cNvPr id="51" name="Group 51"/>
              <p:cNvGrpSpPr/>
              <p:nvPr/>
            </p:nvGrpSpPr>
            <p:grpSpPr>
              <a:xfrm>
                <a:off x="1440656" y="4069556"/>
                <a:ext cx="185738" cy="185738"/>
                <a:chOff x="1440656" y="4069556"/>
                <a:chExt cx="185738" cy="185738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1533525" y="4172744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16170" y="0"/>
                        <a:pt x="0" y="16170"/>
                        <a:pt x="0" y="36116"/>
                      </a:cubicBezTo>
                      <a:lnTo>
                        <a:pt x="0" y="46434"/>
                      </a:lnTo>
                      <a:cubicBezTo>
                        <a:pt x="0" y="66380"/>
                        <a:pt x="16170" y="82550"/>
                        <a:pt x="36116" y="82550"/>
                      </a:cubicBezTo>
                      <a:cubicBezTo>
                        <a:pt x="56062" y="82550"/>
                        <a:pt x="72231" y="66380"/>
                        <a:pt x="72231" y="46434"/>
                      </a:cubicBezTo>
                      <a:lnTo>
                        <a:pt x="72231" y="27861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461294" y="4172744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56062" y="0"/>
                        <a:pt x="72231" y="16170"/>
                        <a:pt x="72231" y="36116"/>
                      </a:cubicBezTo>
                      <a:lnTo>
                        <a:pt x="72231" y="46434"/>
                      </a:lnTo>
                      <a:cubicBezTo>
                        <a:pt x="72231" y="66380"/>
                        <a:pt x="56062" y="82550"/>
                        <a:pt x="36116" y="82550"/>
                      </a:cubicBezTo>
                      <a:cubicBezTo>
                        <a:pt x="16170" y="82550"/>
                        <a:pt x="0" y="66380"/>
                        <a:pt x="0" y="46434"/>
                      </a:cubicBezTo>
                      <a:lnTo>
                        <a:pt x="0" y="27861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585119" y="4131469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5159" y="72231"/>
                      </a:moveTo>
                      <a:cubicBezTo>
                        <a:pt x="25105" y="72231"/>
                        <a:pt x="41275" y="56062"/>
                        <a:pt x="41275" y="36116"/>
                      </a:cubicBezTo>
                      <a:cubicBezTo>
                        <a:pt x="41275" y="16170"/>
                        <a:pt x="25105" y="0"/>
                        <a:pt x="515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533525" y="4069556"/>
                  <a:ext cx="72231" cy="65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65008">
                      <a:moveTo>
                        <a:pt x="72231" y="65008"/>
                      </a:moveTo>
                      <a:lnTo>
                        <a:pt x="72231" y="36116"/>
                      </a:lnTo>
                      <a:cubicBezTo>
                        <a:pt x="72231" y="16170"/>
                        <a:pt x="56062" y="0"/>
                        <a:pt x="36116" y="0"/>
                      </a:cubicBezTo>
                      <a:cubicBezTo>
                        <a:pt x="16170" y="0"/>
                        <a:pt x="0" y="16170"/>
                        <a:pt x="0" y="36116"/>
                      </a:cubicBez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1440656" y="4131469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36116" y="72231"/>
                      </a:moveTo>
                      <a:cubicBezTo>
                        <a:pt x="16170" y="72231"/>
                        <a:pt x="0" y="56062"/>
                        <a:pt x="0" y="36116"/>
                      </a:cubicBezTo>
                      <a:cubicBezTo>
                        <a:pt x="0" y="16170"/>
                        <a:pt x="16170" y="0"/>
                        <a:pt x="36116" y="0"/>
                      </a:cubicBezTo>
                      <a:lnTo>
                        <a:pt x="41275" y="0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1461294" y="4069556"/>
                  <a:ext cx="72231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139303">
                      <a:moveTo>
                        <a:pt x="0" y="65008"/>
                      </a:moveTo>
                      <a:lnTo>
                        <a:pt x="0" y="36116"/>
                      </a:lnTo>
                      <a:cubicBezTo>
                        <a:pt x="0" y="16170"/>
                        <a:pt x="16170" y="0"/>
                        <a:pt x="36116" y="0"/>
                      </a:cubicBezTo>
                      <a:cubicBezTo>
                        <a:pt x="56062" y="0"/>
                        <a:pt x="72231" y="16170"/>
                        <a:pt x="72231" y="36116"/>
                      </a:cubicBezTo>
                      <a:lnTo>
                        <a:pt x="72231" y="139303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1718310" y="4099560"/>
                <a:ext cx="8789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Agent 记忆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721168" y="4352449"/>
                <a:ext cx="27811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任务/工具/文档/失败/纠偏过程数据结构化保存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047750" y="4819650"/>
              <a:ext cx="3877080" cy="492919"/>
              <a:chOff x="1047750" y="4819650"/>
              <a:chExt cx="3877080" cy="492919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1047750" y="4819650"/>
                <a:ext cx="266700" cy="266700"/>
              </a:xfrm>
              <a:prstGeom prst="ellipse">
                <a:avLst/>
              </a:prstGeom>
              <a:solidFill>
                <a:srgbClr val="518FEC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135016" y="4912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grpSp>
            <p:nvGrpSpPr>
              <p:cNvPr id="59" name="Group 59"/>
              <p:cNvGrpSpPr/>
              <p:nvPr/>
            </p:nvGrpSpPr>
            <p:grpSpPr>
              <a:xfrm>
                <a:off x="1450975" y="4837894"/>
                <a:ext cx="165100" cy="173063"/>
                <a:chOff x="1450975" y="4837894"/>
                <a:chExt cx="165100" cy="173063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1450975" y="4837894"/>
                  <a:ext cx="165100" cy="76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76213">
                      <a:moveTo>
                        <a:pt x="165100" y="76213"/>
                      </a:moveTo>
                      <a:cubicBezTo>
                        <a:pt x="159913" y="38885"/>
                        <a:pt x="130386" y="9646"/>
                        <a:pt x="93010" y="4823"/>
                      </a:cubicBezTo>
                      <a:cubicBezTo>
                        <a:pt x="55633" y="0"/>
                        <a:pt x="19652" y="20787"/>
                        <a:pt x="5159" y="55575"/>
                      </a:cubicBezTo>
                      <a:moveTo>
                        <a:pt x="0" y="14300"/>
                      </a:moveTo>
                      <a:lnTo>
                        <a:pt x="0" y="55575"/>
                      </a:lnTo>
                      <a:lnTo>
                        <a:pt x="41275" y="55575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1450975" y="4934744"/>
                  <a:ext cx="165100" cy="76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76213">
                      <a:moveTo>
                        <a:pt x="0" y="0"/>
                      </a:moveTo>
                      <a:cubicBezTo>
                        <a:pt x="5187" y="37328"/>
                        <a:pt x="34714" y="66567"/>
                        <a:pt x="72090" y="71390"/>
                      </a:cubicBezTo>
                      <a:cubicBezTo>
                        <a:pt x="109467" y="76213"/>
                        <a:pt x="145448" y="55426"/>
                        <a:pt x="159941" y="20637"/>
                      </a:cubicBezTo>
                      <a:moveTo>
                        <a:pt x="165100" y="61912"/>
                      </a:moveTo>
                      <a:lnTo>
                        <a:pt x="165100" y="20637"/>
                      </a:lnTo>
                      <a:lnTo>
                        <a:pt x="123825" y="20637"/>
                      </a:lnTo>
                    </a:path>
                  </a:pathLst>
                </a:custGeom>
                <a:noFill/>
                <a:ln w="19050">
                  <a:solidFill>
                    <a:srgbClr val="0052A6"/>
                  </a:solidFill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1718310" y="48615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经验进化底座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721168" y="5114449"/>
                <a:ext cx="32036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Prompt/Skill/规则/最佳实践 版本化、评测、持续改进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7048500" y="1524000"/>
            <a:ext cx="4381500" cy="4381500"/>
            <a:chOff x="7048500" y="1524000"/>
            <a:chExt cx="4381500" cy="4381500"/>
          </a:xfrm>
        </p:grpSpPr>
        <p:sp>
          <p:nvSpPr>
            <p:cNvPr id="64" name="Rectangle 64"/>
            <p:cNvSpPr/>
            <p:nvPr/>
          </p:nvSpPr>
          <p:spPr>
            <a:xfrm>
              <a:off x="7048500" y="1524000"/>
              <a:ext cx="4381500" cy="4381500"/>
            </a:xfrm>
            <a:prstGeom prst="roundRect">
              <a:avLst>
                <a:gd name="adj" fmla="val 3478"/>
              </a:avLst>
            </a:prstGeom>
            <a:solidFill>
              <a:srgbClr val="518FEC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53300" y="1841500"/>
              <a:ext cx="228600" cy="127000"/>
              <a:chOff x="7353300" y="1841500"/>
              <a:chExt cx="228600" cy="1270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53300" y="1841500"/>
                <a:ext cx="2286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7000">
                    <a:moveTo>
                      <a:pt x="0" y="127000"/>
                    </a:moveTo>
                    <a:lnTo>
                      <a:pt x="76200" y="50800"/>
                    </a:lnTo>
                    <a:lnTo>
                      <a:pt x="127000" y="101600"/>
                    </a:ln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493000" y="184150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889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69620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价值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7315200" y="22098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284720" y="2598420"/>
              <a:ext cx="2127618" cy="859155"/>
              <a:chOff x="7284720" y="2598420"/>
              <a:chExt cx="2127618" cy="859155"/>
            </a:xfrm>
          </p:grpSpPr>
          <p:sp>
            <p:nvSpPr>
              <p:cNvPr id="70" name="TextBox 70"/>
              <p:cNvSpPr txBox="1"/>
              <p:nvPr/>
            </p:nvSpPr>
            <p:spPr>
              <a:xfrm>
                <a:off x="7284720" y="2598420"/>
                <a:ext cx="2127618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分钟级 → 秒级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299960" y="303276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CE6FB"/>
                    </a:solidFill>
                    <a:latin typeface="Arial"/>
                    <a:ea typeface="Microsoft YaHei"/>
                    <a:cs typeface="Arial"/>
                  </a:rPr>
                  <a:t>上下文获取时效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303770" y="3274695"/>
                <a:ext cx="3949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B8C7E0"/>
                    </a:solidFill>
                    <a:latin typeface="Arial"/>
                    <a:ea typeface="Microsoft YaHei"/>
                    <a:cs typeface="Arial"/>
                  </a:rPr>
                  <a:t>(预估)</a:t>
                </a:r>
              </a:p>
            </p:txBody>
          </p:sp>
        </p:grpSp>
        <p:sp>
          <p:nvSpPr>
            <p:cNvPr id="74" name="Line 74"/>
            <p:cNvSpPr/>
            <p:nvPr/>
          </p:nvSpPr>
          <p:spPr>
            <a:xfrm>
              <a:off x="7315200" y="36195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277100" y="3867150"/>
              <a:ext cx="1315355" cy="923925"/>
              <a:chOff x="7277100" y="3867150"/>
              <a:chExt cx="1315355" cy="923925"/>
            </a:xfrm>
          </p:grpSpPr>
          <p:sp>
            <p:nvSpPr>
              <p:cNvPr id="75" name="TextBox 75"/>
              <p:cNvSpPr txBox="1"/>
              <p:nvPr/>
            </p:nvSpPr>
            <p:spPr>
              <a:xfrm>
                <a:off x="7277100" y="3867150"/>
                <a:ext cx="1315355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↑50%+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299960" y="4366260"/>
                <a:ext cx="12386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CE6FB"/>
                    </a:solidFill>
                    <a:latin typeface="Arial"/>
                    <a:ea typeface="Microsoft YaHei"/>
                    <a:cs typeface="Arial"/>
                  </a:rPr>
                  <a:t>知识/资产复用率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303770" y="4608195"/>
                <a:ext cx="3949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B8C7E0"/>
                    </a:solidFill>
                    <a:latin typeface="Arial"/>
                    <a:ea typeface="Microsoft YaHei"/>
                    <a:cs typeface="Arial"/>
                  </a:rPr>
                  <a:t>(预估)</a:t>
                </a:r>
              </a:p>
            </p:txBody>
          </p:sp>
        </p:grpSp>
        <p:sp>
          <p:nvSpPr>
            <p:cNvPr id="79" name="Line 79"/>
            <p:cNvSpPr/>
            <p:nvPr/>
          </p:nvSpPr>
          <p:spPr>
            <a:xfrm>
              <a:off x="7315200" y="49530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298055" y="5302568"/>
              <a:ext cx="2004727" cy="474344"/>
              <a:chOff x="7298055" y="5302568"/>
              <a:chExt cx="2004727" cy="474344"/>
            </a:xfrm>
          </p:grpSpPr>
          <p:sp>
            <p:nvSpPr>
              <p:cNvPr id="80" name="TextBox 80"/>
              <p:cNvSpPr txBox="1"/>
              <p:nvPr/>
            </p:nvSpPr>
            <p:spPr>
              <a:xfrm>
                <a:off x="7298055" y="5302568"/>
                <a:ext cx="136690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Agent 越用越准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301865" y="5563552"/>
                <a:ext cx="20009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CE6FB"/>
                    </a:solidFill>
                    <a:latin typeface="Arial"/>
                    <a:ea typeface="Microsoft YaHei"/>
                    <a:cs typeface="Arial"/>
                  </a:rPr>
                  <a:t>组织经验持续进化成能力(预估)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84" name="TextBox 84"/>
            <p:cNvSpPr txBox="1"/>
            <p:nvPr/>
          </p:nvSpPr>
          <p:spPr>
            <a:xfrm>
              <a:off x="750570" y="6456045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第三章 · S3 智能知识底座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16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3" grpId="0"/>
      <p:bldP spid="8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7800413" cy="619125"/>
            <a:chOff x="762000" y="533400"/>
            <a:chExt cx="7800413" cy="619125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90600" y="742950"/>
              <a:ext cx="266700" cy="266700"/>
            </a:xfrm>
            <a:prstGeom prst="ellipse">
              <a:avLst/>
            </a:prstGeom>
            <a:solidFill>
              <a:srgbClr val="0A2A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3211" y="8362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3980" y="725805"/>
              <a:ext cx="719843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AI 效能说不清,Token 钱花得没底;管太死又把速度抵消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295400"/>
            <a:ext cx="10668000" cy="1281112"/>
            <a:chOff x="762000" y="1295400"/>
            <a:chExt cx="10668000" cy="1281112"/>
          </a:xfrm>
        </p:grpSpPr>
        <p:sp>
          <p:nvSpPr>
            <p:cNvPr id="8" name="Rectangle 8"/>
            <p:cNvSpPr/>
            <p:nvPr/>
          </p:nvSpPr>
          <p:spPr>
            <a:xfrm>
              <a:off x="762000" y="1295400"/>
              <a:ext cx="10668000" cy="1257300"/>
            </a:xfrm>
            <a:prstGeom prst="roundRect">
              <a:avLst>
                <a:gd name="adj" fmla="val 1060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29540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0549" y="1536713"/>
              <a:ext cx="240143" cy="206314"/>
              <a:chOff x="1070549" y="1536713"/>
              <a:chExt cx="240143" cy="20631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90625" y="161210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0549" y="153671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90625" y="169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11605" y="1568768"/>
              <a:ext cx="22458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痛点:治理两难 + 效能黑箱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5415" y="1905952"/>
              <a:ext cx="54313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两难:不管 → 怕 AI 乱跑出事(质量/安全/合规);管太死 → 每步人工审批,速度优势被抵消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5415" y="2153602"/>
              <a:ext cx="36321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黑箱:Token 成本/模型调用成本/Agent 执行成本没有度量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15415" y="2363152"/>
              <a:ext cx="29302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→ "用了多少 AI"清楚,"带来什么收益"说不清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6760" y="2880360"/>
            <a:ext cx="3071660" cy="431959"/>
            <a:chOff x="746760" y="2880360"/>
            <a:chExt cx="3071660" cy="431959"/>
          </a:xfrm>
        </p:grpSpPr>
        <p:sp>
          <p:nvSpPr>
            <p:cNvPr id="19" name="TextBox 19"/>
            <p:cNvSpPr txBox="1"/>
            <p:nvPr/>
          </p:nvSpPr>
          <p:spPr>
            <a:xfrm>
              <a:off x="746760" y="2880360"/>
              <a:ext cx="3071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治理五步阶梯:先建安全网,再放大自主度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3114199"/>
              <a:ext cx="29436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不是让 AI 慢下来,而是让 AI 在可控边界内跑得更快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3524250"/>
            <a:ext cx="1905000" cy="723900"/>
            <a:chOff x="762000" y="3524250"/>
            <a:chExt cx="1905000" cy="723900"/>
          </a:xfrm>
        </p:grpSpPr>
        <p:sp>
          <p:nvSpPr>
            <p:cNvPr id="22" name="Rectangle 22"/>
            <p:cNvSpPr/>
            <p:nvPr/>
          </p:nvSpPr>
          <p:spPr>
            <a:xfrm>
              <a:off x="762000" y="3524250"/>
              <a:ext cx="1905000" cy="723900"/>
            </a:xfrm>
            <a:prstGeom prst="roundRect">
              <a:avLst>
                <a:gd name="adj" fmla="val 13158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0118" y="3647599"/>
              <a:ext cx="421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165" y="38490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多层自动化测试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2022" y="40638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安全网起点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2686050" y="3886200"/>
            <a:ext cx="190500" cy="1"/>
          </a:xfrm>
          <a:prstGeom prst="line">
            <a:avLst/>
          </a:prstGeom>
          <a:noFill/>
          <a:ln w="19050">
            <a:solidFill>
              <a:srgbClr val="0052A6"/>
            </a:solidFill>
            <a:tailEnd type="triangle" w="lg" len="lg"/>
          </a:ln>
        </p:spPr>
      </p:sp>
      <p:grpSp>
        <p:nvGrpSpPr>
          <p:cNvPr id="32" name="Group 32"/>
          <p:cNvGrpSpPr/>
          <p:nvPr/>
        </p:nvGrpSpPr>
        <p:grpSpPr>
          <a:xfrm>
            <a:off x="2895600" y="3771900"/>
            <a:ext cx="1905000" cy="723900"/>
            <a:chOff x="2895600" y="3771900"/>
            <a:chExt cx="1905000" cy="723900"/>
          </a:xfrm>
        </p:grpSpPr>
        <p:sp>
          <p:nvSpPr>
            <p:cNvPr id="28" name="Rectangle 28"/>
            <p:cNvSpPr/>
            <p:nvPr/>
          </p:nvSpPr>
          <p:spPr>
            <a:xfrm>
              <a:off x="2895600" y="3771900"/>
              <a:ext cx="1905000" cy="723900"/>
            </a:xfrm>
            <a:prstGeom prst="roundRect">
              <a:avLst>
                <a:gd name="adj" fmla="val 13158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73718" y="3895249"/>
              <a:ext cx="421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72765" y="4096702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参与评审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75622" y="4311491"/>
              <a:ext cx="10275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前置发现 + 并行辅助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4819650" y="4133850"/>
            <a:ext cx="190500" cy="1"/>
          </a:xfrm>
          <a:prstGeom prst="line">
            <a:avLst/>
          </a:prstGeom>
          <a:noFill/>
          <a:ln w="19050">
            <a:solidFill>
              <a:srgbClr val="0052A6"/>
            </a:solidFill>
            <a:tailEnd type="triangle" w="lg" len="lg"/>
          </a:ln>
        </p:spPr>
      </p:sp>
      <p:grpSp>
        <p:nvGrpSpPr>
          <p:cNvPr id="38" name="Group 38"/>
          <p:cNvGrpSpPr/>
          <p:nvPr/>
        </p:nvGrpSpPr>
        <p:grpSpPr>
          <a:xfrm>
            <a:off x="5029200" y="4019550"/>
            <a:ext cx="1905000" cy="723900"/>
            <a:chOff x="5029200" y="4019550"/>
            <a:chExt cx="1905000" cy="723900"/>
          </a:xfrm>
        </p:grpSpPr>
        <p:sp>
          <p:nvSpPr>
            <p:cNvPr id="34" name="Rectangle 34"/>
            <p:cNvSpPr/>
            <p:nvPr/>
          </p:nvSpPr>
          <p:spPr>
            <a:xfrm>
              <a:off x="5029200" y="4019550"/>
              <a:ext cx="1905000" cy="723900"/>
            </a:xfrm>
            <a:prstGeom prst="roundRect">
              <a:avLst>
                <a:gd name="adj" fmla="val 13158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07318" y="4142899"/>
              <a:ext cx="421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06365" y="43443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规则守护与熵减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09222" y="4559141"/>
              <a:ext cx="13466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规则 as Code + 技术债治理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6953250" y="4381500"/>
            <a:ext cx="190500" cy="1"/>
          </a:xfrm>
          <a:prstGeom prst="line">
            <a:avLst/>
          </a:prstGeom>
          <a:noFill/>
          <a:ln w="19050">
            <a:solidFill>
              <a:srgbClr val="0052A6"/>
            </a:solidFill>
            <a:tailEnd type="triangle" w="lg" len="lg"/>
          </a:ln>
        </p:spPr>
      </p:sp>
      <p:grpSp>
        <p:nvGrpSpPr>
          <p:cNvPr id="44" name="Group 44"/>
          <p:cNvGrpSpPr/>
          <p:nvPr/>
        </p:nvGrpSpPr>
        <p:grpSpPr>
          <a:xfrm>
            <a:off x="7162800" y="4267200"/>
            <a:ext cx="1905000" cy="723900"/>
            <a:chOff x="7162800" y="4267200"/>
            <a:chExt cx="1905000" cy="723900"/>
          </a:xfrm>
        </p:grpSpPr>
        <p:sp>
          <p:nvSpPr>
            <p:cNvPr id="40" name="Rectangle 40"/>
            <p:cNvSpPr/>
            <p:nvPr/>
          </p:nvSpPr>
          <p:spPr>
            <a:xfrm>
              <a:off x="7162800" y="4267200"/>
              <a:ext cx="1905000" cy="723900"/>
            </a:xfrm>
            <a:prstGeom prst="roundRect">
              <a:avLst>
                <a:gd name="adj" fmla="val 13158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40918" y="4390549"/>
              <a:ext cx="421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STEP 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39965" y="4592002"/>
              <a:ext cx="1070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风险分级 + HITL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42822" y="4806791"/>
              <a:ext cx="9120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低/中/高分级行权</a:t>
              </a:r>
            </a:p>
          </p:txBody>
        </p:sp>
      </p:grpSp>
      <p:sp>
        <p:nvSpPr>
          <p:cNvPr id="45" name="Line 45"/>
          <p:cNvSpPr/>
          <p:nvPr/>
        </p:nvSpPr>
        <p:spPr>
          <a:xfrm>
            <a:off x="9086850" y="4629150"/>
            <a:ext cx="190500" cy="1"/>
          </a:xfrm>
          <a:prstGeom prst="line">
            <a:avLst/>
          </a:prstGeom>
          <a:noFill/>
          <a:ln w="19050">
            <a:solidFill>
              <a:srgbClr val="0052A6"/>
            </a:solidFill>
            <a:tailEnd type="triangle" w="lg" len="lg"/>
          </a:ln>
        </p:spPr>
      </p:sp>
      <p:grpSp>
        <p:nvGrpSpPr>
          <p:cNvPr id="50" name="Group 50"/>
          <p:cNvGrpSpPr/>
          <p:nvPr/>
        </p:nvGrpSpPr>
        <p:grpSpPr>
          <a:xfrm>
            <a:off x="9296400" y="4514850"/>
            <a:ext cx="2133600" cy="723900"/>
            <a:chOff x="9296400" y="4514850"/>
            <a:chExt cx="2133600" cy="723900"/>
          </a:xfrm>
        </p:grpSpPr>
        <p:sp>
          <p:nvSpPr>
            <p:cNvPr id="46" name="Rectangle 46"/>
            <p:cNvSpPr/>
            <p:nvPr/>
          </p:nvSpPr>
          <p:spPr>
            <a:xfrm>
              <a:off x="9296400" y="4514850"/>
              <a:ext cx="2133600" cy="723900"/>
            </a:xfrm>
            <a:prstGeom prst="roundRect">
              <a:avLst>
                <a:gd name="adj" fmla="val 13158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74518" y="4638199"/>
              <a:ext cx="421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STEP 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73565" y="4839652"/>
              <a:ext cx="14306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效能度量 + AI FinOps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76422" y="5054441"/>
              <a:ext cx="10990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Token ROI / 业务价值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62000" y="5486400"/>
            <a:ext cx="10668000" cy="609600"/>
            <a:chOff x="762000" y="5486400"/>
            <a:chExt cx="10668000" cy="609600"/>
          </a:xfrm>
        </p:grpSpPr>
        <p:sp>
          <p:nvSpPr>
            <p:cNvPr id="51" name="Rectangle 51"/>
            <p:cNvSpPr/>
            <p:nvPr/>
          </p:nvSpPr>
          <p:spPr>
            <a:xfrm>
              <a:off x="762000" y="5486400"/>
              <a:ext cx="10668000" cy="609600"/>
            </a:xfrm>
            <a:prstGeom prst="roundRect">
              <a:avLst>
                <a:gd name="adj" fmla="val 1875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71199" y="5705475"/>
              <a:ext cx="40496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不是堆审批,而是先建安全网,再放大自主度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54" name="TextBox 54"/>
            <p:cNvSpPr txBox="1"/>
            <p:nvPr/>
          </p:nvSpPr>
          <p:spPr>
            <a:xfrm>
              <a:off x="750570" y="6456045"/>
              <a:ext cx="1715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第三章 · S4 智能治理与 FinOps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17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21" grpId="0"/>
      <p:bldP spid="26" grpId="0"/>
      <p:bldP spid="32" grpId="0"/>
      <p:bldP spid="38" grpId="0"/>
      <p:bldP spid="44" grpId="0"/>
      <p:bldP spid="50" grpId="0"/>
      <p:bldP spid="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47712" y="533400"/>
            <a:ext cx="8049930" cy="792956"/>
            <a:chOff x="747712" y="533400"/>
            <a:chExt cx="8049930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90600" y="742950"/>
              <a:ext cx="266700" cy="266700"/>
            </a:xfrm>
            <a:prstGeom prst="ellipse">
              <a:avLst/>
            </a:prstGeom>
            <a:solidFill>
              <a:srgbClr val="0A2A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3211" y="8362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3980" y="725805"/>
              <a:ext cx="74336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先建安全网,再放大自主度,让速度质量责任价值同时可控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7712" y="1097756"/>
              <a:ext cx="2961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风险分级决定自主度,效能度量决定投入产出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524000"/>
            <a:ext cx="6096000" cy="4381500"/>
            <a:chOff x="762000" y="1524000"/>
            <a:chExt cx="6096000" cy="4381500"/>
          </a:xfrm>
        </p:grpSpPr>
        <p:sp>
          <p:nvSpPr>
            <p:cNvPr id="9" name="Rectangle 9"/>
            <p:cNvSpPr/>
            <p:nvPr/>
          </p:nvSpPr>
          <p:spPr>
            <a:xfrm>
              <a:off x="762000" y="1524000"/>
              <a:ext cx="6096000" cy="4381500"/>
            </a:xfrm>
            <a:prstGeom prst="roundRect">
              <a:avLst>
                <a:gd name="adj" fmla="val 3478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061511" y="1790700"/>
              <a:ext cx="239178" cy="228600"/>
            </a:xfrm>
            <a:custGeom>
              <a:avLst/>
              <a:gdLst/>
              <a:ahLst/>
              <a:cxnLst/>
              <a:rect l="l" t="t" r="r" b="b"/>
              <a:pathLst>
                <a:path w="239178" h="228600">
                  <a:moveTo>
                    <a:pt x="119589" y="0"/>
                  </a:moveTo>
                  <a:cubicBezTo>
                    <a:pt x="149254" y="26246"/>
                    <a:pt x="187972" y="39911"/>
                    <a:pt x="227539" y="38100"/>
                  </a:cubicBezTo>
                  <a:cubicBezTo>
                    <a:pt x="239178" y="77693"/>
                    <a:pt x="234262" y="120313"/>
                    <a:pt x="213917" y="156217"/>
                  </a:cubicBezTo>
                  <a:cubicBezTo>
                    <a:pt x="193571" y="192121"/>
                    <a:pt x="159535" y="218239"/>
                    <a:pt x="119589" y="228600"/>
                  </a:cubicBezTo>
                  <a:cubicBezTo>
                    <a:pt x="79643" y="218239"/>
                    <a:pt x="45606" y="192121"/>
                    <a:pt x="25261" y="156217"/>
                  </a:cubicBezTo>
                  <a:cubicBezTo>
                    <a:pt x="4915" y="120313"/>
                    <a:pt x="0" y="77693"/>
                    <a:pt x="11639" y="38100"/>
                  </a:cubicBezTo>
                  <a:cubicBezTo>
                    <a:pt x="51206" y="39911"/>
                    <a:pt x="89924" y="26246"/>
                    <a:pt x="119589" y="0"/>
                  </a:cubicBezTo>
                </a:path>
              </a:pathLst>
            </a:custGeom>
            <a:noFill/>
            <a:ln w="19050">
              <a:solidFill>
                <a:srgbClr val="0052A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09700" y="1819275"/>
              <a:ext cx="10462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FarAI 能力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28700" y="220980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47750" y="2533650"/>
              <a:ext cx="4709184" cy="492919"/>
              <a:chOff x="1047750" y="2533650"/>
              <a:chExt cx="4709184" cy="492919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047750" y="2533650"/>
                <a:ext cx="266700" cy="266700"/>
              </a:xfrm>
              <a:prstGeom prst="ellipse">
                <a:avLst/>
              </a:prstGeom>
              <a:solidFill>
                <a:srgbClr val="0052A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35016" y="2626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1440656" y="2545556"/>
                <a:ext cx="185738" cy="185738"/>
                <a:chOff x="1440656" y="2545556"/>
                <a:chExt cx="185738" cy="185738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1440656" y="2690019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585119" y="2545556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20638" y="41275"/>
                      </a:move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  <a:cubicBezTo>
                        <a:pt x="0" y="32035"/>
                        <a:pt x="9240" y="41275"/>
                        <a:pt x="20638" y="41275"/>
                      </a:cubicBez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461294" y="2566194"/>
                  <a:ext cx="154781" cy="14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44462">
                      <a:moveTo>
                        <a:pt x="61912" y="144462"/>
                      </a:moveTo>
                      <a:lnTo>
                        <a:pt x="118666" y="144462"/>
                      </a:lnTo>
                      <a:cubicBezTo>
                        <a:pt x="138612" y="144462"/>
                        <a:pt x="154781" y="128293"/>
                        <a:pt x="154781" y="108347"/>
                      </a:cubicBezTo>
                      <a:cubicBezTo>
                        <a:pt x="154781" y="88401"/>
                        <a:pt x="138612" y="72231"/>
                        <a:pt x="118666" y="72231"/>
                      </a:cubicBezTo>
                      <a:lnTo>
                        <a:pt x="36116" y="72231"/>
                      </a:lnTo>
                      <a:cubicBezTo>
                        <a:pt x="16170" y="72231"/>
                        <a:pt x="0" y="56062"/>
                        <a:pt x="0" y="36116"/>
                      </a:cubicBezTo>
                      <a:cubicBezTo>
                        <a:pt x="0" y="16170"/>
                        <a:pt x="16170" y="0"/>
                        <a:pt x="36116" y="0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718310" y="25755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风险分级行权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21168" y="2828449"/>
                <a:ext cx="40357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低风险 Agent 自主 · 中风险确认 · 高风险(资金/权限/隐私)人工把关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47750" y="3295650"/>
              <a:ext cx="3948589" cy="492919"/>
              <a:chOff x="1047750" y="3295650"/>
              <a:chExt cx="3948589" cy="492919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047750" y="3295650"/>
                <a:ext cx="266700" cy="266700"/>
              </a:xfrm>
              <a:prstGeom prst="ellipse">
                <a:avLst/>
              </a:prstGeom>
              <a:solidFill>
                <a:srgbClr val="0052A6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35016" y="3388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1440656" y="3328194"/>
                <a:ext cx="185737" cy="144462"/>
                <a:chOff x="1440656" y="3328194"/>
                <a:chExt cx="185737" cy="144462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440656" y="3328194"/>
                  <a:ext cx="144462" cy="103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03187">
                      <a:moveTo>
                        <a:pt x="41275" y="103187"/>
                      </a:moveTo>
                      <a:lnTo>
                        <a:pt x="10319" y="103187"/>
                      </a:lnTo>
                      <a:cubicBezTo>
                        <a:pt x="4620" y="103187"/>
                        <a:pt x="0" y="98568"/>
                        <a:pt x="0" y="92869"/>
                      </a:cubicBezTo>
                      <a:lnTo>
                        <a:pt x="0" y="10319"/>
                      </a:ln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34144" y="0"/>
                      </a:lnTo>
                      <a:cubicBezTo>
                        <a:pt x="139843" y="0"/>
                        <a:pt x="144462" y="4620"/>
                        <a:pt x="144462" y="10319"/>
                      </a:cubicBezTo>
                      <a:lnTo>
                        <a:pt x="144462" y="41275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481931" y="3369469"/>
                  <a:ext cx="144462" cy="103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03187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34144" y="0"/>
                      </a:lnTo>
                      <a:cubicBezTo>
                        <a:pt x="139843" y="0"/>
                        <a:pt x="144462" y="4620"/>
                        <a:pt x="144462" y="10319"/>
                      </a:cubicBezTo>
                      <a:lnTo>
                        <a:pt x="144462" y="92869"/>
                      </a:lnTo>
                      <a:cubicBezTo>
                        <a:pt x="144462" y="98568"/>
                        <a:pt x="139843" y="103187"/>
                        <a:pt x="134144" y="103187"/>
                      </a:cubicBezTo>
                      <a:lnTo>
                        <a:pt x="10319" y="103187"/>
                      </a:lnTo>
                      <a:cubicBezTo>
                        <a:pt x="4620" y="103187"/>
                        <a:pt x="0" y="98568"/>
                        <a:pt x="0" y="92869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533525" y="3400425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718310" y="3337560"/>
                <a:ext cx="7697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AI FinOps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721168" y="3590449"/>
                <a:ext cx="32751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Token/Agent 执行成本/成功率/返工率/缺陷率全量度量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047750" y="4057650"/>
              <a:ext cx="4254127" cy="492919"/>
              <a:chOff x="1047750" y="4057650"/>
              <a:chExt cx="4254127" cy="492919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1047750" y="4057650"/>
                <a:ext cx="266700" cy="266700"/>
              </a:xfrm>
              <a:prstGeom prst="ellipse">
                <a:avLst/>
              </a:prstGeom>
              <a:solidFill>
                <a:srgbClr val="0052A6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135016" y="4150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grpSp>
            <p:nvGrpSpPr>
              <p:cNvPr id="37" name="Group 37"/>
              <p:cNvGrpSpPr/>
              <p:nvPr/>
            </p:nvGrpSpPr>
            <p:grpSpPr>
              <a:xfrm>
                <a:off x="1440656" y="4079875"/>
                <a:ext cx="185737" cy="174625"/>
                <a:chOff x="1440656" y="4079875"/>
                <a:chExt cx="185737" cy="174625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1440656" y="4162425"/>
                  <a:ext cx="61912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82550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3" y="0"/>
                        <a:pt x="61912" y="4620"/>
                        <a:pt x="61912" y="10319"/>
                      </a:cubicBezTo>
                      <a:lnTo>
                        <a:pt x="61912" y="72231"/>
                      </a:lnTo>
                      <a:cubicBezTo>
                        <a:pt x="61912" y="77930"/>
                        <a:pt x="57293" y="82550"/>
                        <a:pt x="51594" y="82550"/>
                      </a:cubicBezTo>
                      <a:lnTo>
                        <a:pt x="10319" y="82550"/>
                      </a:lnTo>
                      <a:cubicBezTo>
                        <a:pt x="4620" y="82550"/>
                        <a:pt x="0" y="77930"/>
                        <a:pt x="0" y="72231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564481" y="4121150"/>
                  <a:ext cx="61912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123825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3" y="0"/>
                        <a:pt x="61912" y="4620"/>
                        <a:pt x="61912" y="10319"/>
                      </a:cubicBezTo>
                      <a:lnTo>
                        <a:pt x="61912" y="113506"/>
                      </a:lnTo>
                      <a:cubicBezTo>
                        <a:pt x="61912" y="119205"/>
                        <a:pt x="57293" y="123825"/>
                        <a:pt x="51594" y="123825"/>
                      </a:cubicBezTo>
                      <a:lnTo>
                        <a:pt x="10319" y="123825"/>
                      </a:lnTo>
                      <a:cubicBezTo>
                        <a:pt x="4620" y="123825"/>
                        <a:pt x="0" y="119205"/>
                        <a:pt x="0" y="113506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502569" y="4079875"/>
                  <a:ext cx="61912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165100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3" y="0"/>
                        <a:pt x="61912" y="4620"/>
                        <a:pt x="61912" y="10319"/>
                      </a:cubicBezTo>
                      <a:lnTo>
                        <a:pt x="61912" y="154781"/>
                      </a:lnTo>
                      <a:cubicBezTo>
                        <a:pt x="61912" y="160480"/>
                        <a:pt x="57293" y="165100"/>
                        <a:pt x="51594" y="165100"/>
                      </a:cubicBezTo>
                      <a:lnTo>
                        <a:pt x="10319" y="165100"/>
                      </a:lnTo>
                      <a:cubicBezTo>
                        <a:pt x="4620" y="165100"/>
                        <a:pt x="0" y="160480"/>
                        <a:pt x="0" y="154781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450975" y="4244975"/>
                  <a:ext cx="1444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9525">
                      <a:moveTo>
                        <a:pt x="0" y="0"/>
                      </a:moveTo>
                      <a:lnTo>
                        <a:pt x="144462" y="0"/>
                      </a:ln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718310" y="40995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效能度量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721168" y="4352449"/>
                <a:ext cx="35807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交付周期/吞吐/测试覆盖/上线后价值,工具使用量 → 真实影响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047750" y="4819650"/>
              <a:ext cx="3812072" cy="492919"/>
              <a:chOff x="1047750" y="4819650"/>
              <a:chExt cx="3812072" cy="492919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1047750" y="4819650"/>
                <a:ext cx="266700" cy="266700"/>
              </a:xfrm>
              <a:prstGeom prst="ellipse">
                <a:avLst/>
              </a:prstGeom>
              <a:solidFill>
                <a:srgbClr val="0052A6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135016" y="491299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1440656" y="4862512"/>
                <a:ext cx="185738" cy="123825"/>
                <a:chOff x="1440656" y="4862512"/>
                <a:chExt cx="185738" cy="123825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1512888" y="4903788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440656" y="4862512"/>
                  <a:ext cx="185738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23825">
                      <a:moveTo>
                        <a:pt x="185738" y="61912"/>
                      </a:moveTo>
                      <a:cubicBezTo>
                        <a:pt x="160973" y="103188"/>
                        <a:pt x="130016" y="123825"/>
                        <a:pt x="92869" y="123825"/>
                      </a:cubicBezTo>
                      <a:cubicBezTo>
                        <a:pt x="55721" y="123825"/>
                        <a:pt x="24765" y="103188"/>
                        <a:pt x="0" y="61912"/>
                      </a:cubicBezTo>
                      <a:cubicBezTo>
                        <a:pt x="24765" y="20637"/>
                        <a:pt x="55721" y="0"/>
                        <a:pt x="92869" y="0"/>
                      </a:cubicBezTo>
                      <a:cubicBezTo>
                        <a:pt x="130016" y="0"/>
                        <a:pt x="160973" y="20637"/>
                        <a:pt x="185738" y="61912"/>
                      </a:cubicBezTo>
                    </a:path>
                  </a:pathLst>
                </a:custGeom>
                <a:noFill/>
                <a:ln w="19050">
                  <a:solidFill>
                    <a:srgbClr val="246BFE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718310" y="48615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能力差异洞察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721168" y="5114449"/>
                <a:ext cx="31386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同样工具不同用法,定位培训/Skill 复用/团队建设重点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7048500" y="1524000"/>
            <a:ext cx="4381500" cy="4381500"/>
            <a:chOff x="7048500" y="1524000"/>
            <a:chExt cx="4381500" cy="4381500"/>
          </a:xfrm>
        </p:grpSpPr>
        <p:sp>
          <p:nvSpPr>
            <p:cNvPr id="50" name="Rectangle 50"/>
            <p:cNvSpPr/>
            <p:nvPr/>
          </p:nvSpPr>
          <p:spPr>
            <a:xfrm>
              <a:off x="7048500" y="1524000"/>
              <a:ext cx="4381500" cy="4381500"/>
            </a:xfrm>
            <a:prstGeom prst="roundRect">
              <a:avLst>
                <a:gd name="adj" fmla="val 3478"/>
              </a:avLst>
            </a:prstGeom>
            <a:solidFill>
              <a:srgbClr val="0A2A5E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53300" y="1841500"/>
              <a:ext cx="228600" cy="127000"/>
              <a:chOff x="7353300" y="1841500"/>
              <a:chExt cx="228600" cy="1270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53300" y="1841500"/>
                <a:ext cx="2286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7000">
                    <a:moveTo>
                      <a:pt x="0" y="127000"/>
                    </a:moveTo>
                    <a:lnTo>
                      <a:pt x="76200" y="50800"/>
                    </a:lnTo>
                    <a:lnTo>
                      <a:pt x="127000" y="101600"/>
                    </a:ln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493000" y="184150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889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69620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价值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315200" y="22098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246BFE">
                  <a:alpha val="40000"/>
                </a:srgbClr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02818" y="2609850"/>
              <a:ext cx="2335322" cy="588169"/>
              <a:chOff x="7302818" y="2609850"/>
              <a:chExt cx="2335322" cy="588169"/>
            </a:xfrm>
          </p:grpSpPr>
          <p:grpSp>
            <p:nvGrpSpPr>
              <p:cNvPr id="58" name="Group 58"/>
              <p:cNvGrpSpPr/>
              <p:nvPr/>
            </p:nvGrpSpPr>
            <p:grpSpPr>
              <a:xfrm>
                <a:off x="7353300" y="2609850"/>
                <a:ext cx="228600" cy="228600"/>
                <a:chOff x="7353300" y="2609850"/>
                <a:chExt cx="228600" cy="228600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7353300" y="26098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114300"/>
                      </a:move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518FEC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429500" y="2698750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518FEC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7713345" y="2622232"/>
                <a:ext cx="192479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AI 投入产出可度量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302818" y="2999899"/>
                <a:ext cx="20140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B8C7E0"/>
                    </a:solidFill>
                    <a:latin typeface="Arial"/>
                    <a:ea typeface="Microsoft YaHei"/>
                    <a:cs typeface="Arial"/>
                  </a:rPr>
                  <a:t>从"用了多少"到"带来什么"(预估)</a:t>
                </a:r>
              </a:p>
            </p:txBody>
          </p:sp>
        </p:grpSp>
        <p:sp>
          <p:nvSpPr>
            <p:cNvPr id="62" name="Line 62"/>
            <p:cNvSpPr/>
            <p:nvPr/>
          </p:nvSpPr>
          <p:spPr>
            <a:xfrm>
              <a:off x="7315200" y="33337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FFFFFF">
                  <a:alpha val="15000"/>
                </a:srgbClr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77100" y="3676650"/>
              <a:ext cx="1777413" cy="923925"/>
              <a:chOff x="7277100" y="3676650"/>
              <a:chExt cx="1777413" cy="923925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7277100" y="3676650"/>
                <a:ext cx="1777413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↓30-50%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299960" y="41757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CE6FB"/>
                    </a:solidFill>
                    <a:latin typeface="Arial"/>
                    <a:ea typeface="Microsoft YaHei"/>
                    <a:cs typeface="Arial"/>
                  </a:rPr>
                  <a:t>高风险变更漏审风险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303770" y="4417695"/>
                <a:ext cx="3949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A3C4"/>
                    </a:solidFill>
                    <a:latin typeface="Arial"/>
                    <a:ea typeface="Microsoft YaHei"/>
                    <a:cs typeface="Arial"/>
                  </a:rPr>
                  <a:t>(预估)</a:t>
                </a:r>
              </a:p>
            </p:txBody>
          </p:sp>
        </p:grpSp>
        <p:sp>
          <p:nvSpPr>
            <p:cNvPr id="67" name="Line 67"/>
            <p:cNvSpPr/>
            <p:nvPr/>
          </p:nvSpPr>
          <p:spPr>
            <a:xfrm>
              <a:off x="7315200" y="47625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FFFFFF">
                  <a:alpha val="15000"/>
                </a:srgbClr>
              </a:solidFill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02818" y="5064919"/>
              <a:ext cx="2082141" cy="590550"/>
              <a:chOff x="7302818" y="5064919"/>
              <a:chExt cx="2082141" cy="590550"/>
            </a:xfrm>
          </p:grpSpPr>
          <p:grpSp>
            <p:nvGrpSpPr>
              <p:cNvPr id="71" name="Group 71"/>
              <p:cNvGrpSpPr/>
              <p:nvPr/>
            </p:nvGrpSpPr>
            <p:grpSpPr>
              <a:xfrm>
                <a:off x="7350919" y="5064919"/>
                <a:ext cx="214312" cy="214312"/>
                <a:chOff x="7350919" y="5064919"/>
                <a:chExt cx="214312" cy="214312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7350919" y="50649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518FEC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7422356" y="5124154"/>
                  <a:ext cx="71438" cy="9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95842">
                      <a:moveTo>
                        <a:pt x="69056" y="12202"/>
                      </a:moveTo>
                      <a:cubicBezTo>
                        <a:pt x="64661" y="4579"/>
                        <a:pt x="56420" y="0"/>
                        <a:pt x="47625" y="296"/>
                      </a:cubicBezTo>
                      <a:lnTo>
                        <a:pt x="23812" y="296"/>
                      </a:lnTo>
                      <a:cubicBezTo>
                        <a:pt x="10661" y="296"/>
                        <a:pt x="0" y="10957"/>
                        <a:pt x="0" y="24109"/>
                      </a:cubicBezTo>
                      <a:cubicBezTo>
                        <a:pt x="0" y="37260"/>
                        <a:pt x="10661" y="47921"/>
                        <a:pt x="23812" y="47921"/>
                      </a:cubicBezTo>
                      <a:lnTo>
                        <a:pt x="47625" y="47921"/>
                      </a:lnTo>
                      <a:cubicBezTo>
                        <a:pt x="60776" y="47921"/>
                        <a:pt x="71438" y="58582"/>
                        <a:pt x="71438" y="71734"/>
                      </a:cubicBezTo>
                      <a:cubicBezTo>
                        <a:pt x="71438" y="84885"/>
                        <a:pt x="60776" y="95546"/>
                        <a:pt x="47625" y="95546"/>
                      </a:cubicBezTo>
                      <a:lnTo>
                        <a:pt x="23812" y="95546"/>
                      </a:lnTo>
                      <a:cubicBezTo>
                        <a:pt x="15018" y="95842"/>
                        <a:pt x="6776" y="91264"/>
                        <a:pt x="2381" y="83640"/>
                      </a:cubicBezTo>
                    </a:path>
                  </a:pathLst>
                </a:custGeom>
                <a:noFill/>
                <a:ln w="19050">
                  <a:solidFill>
                    <a:srgbClr val="518FEC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7458075" y="5112544"/>
                  <a:ext cx="9525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9062">
                      <a:moveTo>
                        <a:pt x="0" y="0"/>
                      </a:moveTo>
                      <a:lnTo>
                        <a:pt x="0" y="119062"/>
                      </a:lnTo>
                    </a:path>
                  </a:pathLst>
                </a:custGeom>
                <a:noFill/>
                <a:ln w="19050">
                  <a:solidFill>
                    <a:srgbClr val="518FEC"/>
                  </a:solidFill>
                </a:ln>
              </p:spPr>
            </p:sp>
          </p:grpSp>
          <p:sp>
            <p:nvSpPr>
              <p:cNvPr id="72" name="TextBox 72"/>
              <p:cNvSpPr txBox="1"/>
              <p:nvPr/>
            </p:nvSpPr>
            <p:spPr>
              <a:xfrm>
                <a:off x="7677150" y="5095875"/>
                <a:ext cx="170780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Token ROI 可视化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302818" y="5457349"/>
                <a:ext cx="15394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B8C7E0"/>
                    </a:solidFill>
                    <a:latin typeface="Arial"/>
                    <a:ea typeface="Microsoft YaHei"/>
                    <a:cs typeface="Arial"/>
                  </a:rPr>
                  <a:t>成本-收益持续追踪(预估)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76" name="TextBox 76"/>
            <p:cNvSpPr txBox="1"/>
            <p:nvPr/>
          </p:nvSpPr>
          <p:spPr>
            <a:xfrm>
              <a:off x="750570" y="6456045"/>
              <a:ext cx="1715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第三章 · S4 智能治理与 FinOps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18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9" grpId="0"/>
      <p:bldP spid="7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7048500"/>
            <a:chOff x="0" y="0"/>
            <a:chExt cx="121920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096250" y="0"/>
              <a:ext cx="3810000" cy="3810000"/>
            </a:xfrm>
            <a:prstGeom prst="ellipse">
              <a:avLst/>
            </a:prstGeom>
            <a:solidFill>
              <a:srgbClr val="246BFE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571500" y="4381500"/>
              <a:ext cx="2667000" cy="2667000"/>
            </a:xfrm>
            <a:prstGeom prst="ellipse">
              <a:avLst/>
            </a:prstGeom>
            <a:solidFill>
              <a:srgbClr val="518FEC">
                <a:alpha val="5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52450" y="2981325"/>
            <a:ext cx="2960418" cy="3352800"/>
            <a:chOff x="552450" y="2981325"/>
            <a:chExt cx="2960418" cy="335280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0105" y="2209800"/>
            <a:ext cx="1160145" cy="547688"/>
            <a:chOff x="840105" y="2209800"/>
            <a:chExt cx="1160145" cy="547688"/>
          </a:xfrm>
        </p:grpSpPr>
        <p:sp>
          <p:nvSpPr>
            <p:cNvPr id="8" name="Rectangle 8"/>
            <p:cNvSpPr/>
            <p:nvPr/>
          </p:nvSpPr>
          <p:spPr>
            <a:xfrm>
              <a:off x="857250" y="2209800"/>
              <a:ext cx="11430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0105" y="24831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CHAPTER 04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9150" y="3067050"/>
            <a:ext cx="4245864" cy="1428750"/>
            <a:chOff x="819150" y="3067050"/>
            <a:chExt cx="4245864" cy="1428750"/>
          </a:xfrm>
        </p:grpSpPr>
        <p:sp>
          <p:nvSpPr>
            <p:cNvPr id="11" name="TextBox 11"/>
            <p:cNvSpPr txBox="1"/>
            <p:nvPr/>
          </p:nvSpPr>
          <p:spPr>
            <a:xfrm>
              <a:off x="819150" y="3067050"/>
              <a:ext cx="17564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工程底座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694748"/>
              <a:ext cx="216879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Harness 驾驭框架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4251960"/>
              <a:ext cx="42230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Harness 是 Agent 可控的前提 —— 给技术负责人的工程视图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594419" y="6464141"/>
            <a:ext cx="8460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FA3C4"/>
                </a:solidFill>
                <a:latin typeface="Arial"/>
                <a:ea typeface="Microsoft YaHei"/>
                <a:cs typeface="Arial"/>
              </a:rPr>
              <a:t>19 / 27 · 第四章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5330" y="533400"/>
            <a:ext cx="5948777" cy="792956"/>
            <a:chOff x="735330" y="533400"/>
            <a:chExt cx="5948777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725805"/>
              <a:ext cx="594877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Harness 9 大组件 —— 驾驭 Agent 的工程抓手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1097756"/>
              <a:ext cx="43341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9 个工程组件,把"Agent 能跑"升级为"Agent 可控可验证可追溯"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524000"/>
            <a:ext cx="3429000" cy="1409700"/>
            <a:chOff x="762000" y="1524000"/>
            <a:chExt cx="3429000" cy="1409700"/>
          </a:xfrm>
        </p:grpSpPr>
        <p:sp>
          <p:nvSpPr>
            <p:cNvPr id="7" name="Rectangle 7"/>
            <p:cNvSpPr/>
            <p:nvPr/>
          </p:nvSpPr>
          <p:spPr>
            <a:xfrm>
              <a:off x="762000" y="1524000"/>
              <a:ext cx="3429000" cy="1409700"/>
            </a:xfrm>
            <a:prstGeom prst="roundRect">
              <a:avLst>
                <a:gd name="adj" fmla="val 94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33450" y="1676400"/>
              <a:ext cx="342900" cy="3429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0705" y="179165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469231" y="1778794"/>
              <a:ext cx="166688" cy="152400"/>
              <a:chOff x="1469231" y="1778794"/>
              <a:chExt cx="166688" cy="152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69231" y="1778794"/>
                <a:ext cx="59531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119062">
                    <a:moveTo>
                      <a:pt x="0" y="0"/>
                    </a:moveTo>
                    <a:lnTo>
                      <a:pt x="59531" y="59531"/>
                    </a:lnTo>
                    <a:lnTo>
                      <a:pt x="0" y="119062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552575" y="1921669"/>
                <a:ext cx="833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">
                    <a:moveTo>
                      <a:pt x="0" y="0"/>
                    </a:moveTo>
                    <a:lnTo>
                      <a:pt x="83344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754505" y="175926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CLI Harness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6315" y="2210752"/>
              <a:ext cx="8247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CLI 化是基础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7268" y="2447449"/>
              <a:ext cx="1571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让 Agent 能调用代码,代码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7268" y="2637949"/>
              <a:ext cx="1630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具备可被 Agent 操作的接口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1500" y="1524000"/>
            <a:ext cx="3429000" cy="1409700"/>
            <a:chOff x="4381500" y="1524000"/>
            <a:chExt cx="3429000" cy="1409700"/>
          </a:xfrm>
        </p:grpSpPr>
        <p:sp>
          <p:nvSpPr>
            <p:cNvPr id="19" name="Rectangle 19"/>
            <p:cNvSpPr/>
            <p:nvPr/>
          </p:nvSpPr>
          <p:spPr>
            <a:xfrm>
              <a:off x="4381500" y="1524000"/>
              <a:ext cx="3429000" cy="1409700"/>
            </a:xfrm>
            <a:prstGeom prst="roundRect">
              <a:avLst>
                <a:gd name="adj" fmla="val 94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81500" y="15240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552950" y="1676400"/>
              <a:ext cx="342900" cy="3429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30205" y="179165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064919" y="1731169"/>
              <a:ext cx="214312" cy="214312"/>
              <a:chOff x="5064919" y="1731169"/>
              <a:chExt cx="214312" cy="21431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064919" y="17311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136356" y="1814512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374005" y="1759268"/>
              <a:ext cx="16882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fullcheck 全量检查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15815" y="2210752"/>
              <a:ext cx="887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AI 改完即验证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16768" y="2447449"/>
              <a:ext cx="15654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单测/接口/契约/E2E/回归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16768" y="263794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全量自动检查,反馈闭环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01000" y="1524000"/>
            <a:ext cx="3429000" cy="1409700"/>
            <a:chOff x="8001000" y="1524000"/>
            <a:chExt cx="3429000" cy="1409700"/>
          </a:xfrm>
        </p:grpSpPr>
        <p:sp>
          <p:nvSpPr>
            <p:cNvPr id="31" name="Rectangle 31"/>
            <p:cNvSpPr/>
            <p:nvPr/>
          </p:nvSpPr>
          <p:spPr>
            <a:xfrm>
              <a:off x="8001000" y="1524000"/>
              <a:ext cx="3429000" cy="1409700"/>
            </a:xfrm>
            <a:prstGeom prst="roundRect">
              <a:avLst>
                <a:gd name="adj" fmla="val 94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01000" y="15240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172450" y="1676400"/>
              <a:ext cx="342900" cy="3429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49705" y="179165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8708231" y="1743075"/>
              <a:ext cx="178595" cy="190500"/>
              <a:chOff x="8708231" y="1743075"/>
              <a:chExt cx="178595" cy="1905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708231" y="18859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08231" y="17430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827294" y="17430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32044" y="17907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55856" y="18264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815388" y="18264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993505" y="175926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CLI E2E 端到端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35315" y="22107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端到端 CLI 自动化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36268" y="2447449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环境准备/数据构造/造数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36268" y="26379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全流程脚本化、自动化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3086100"/>
            <a:ext cx="3429000" cy="1409700"/>
            <a:chOff x="762000" y="3086100"/>
            <a:chExt cx="3429000" cy="1409700"/>
          </a:xfrm>
        </p:grpSpPr>
        <p:sp>
          <p:nvSpPr>
            <p:cNvPr id="47" name="Rectangle 47"/>
            <p:cNvSpPr/>
            <p:nvPr/>
          </p:nvSpPr>
          <p:spPr>
            <a:xfrm>
              <a:off x="762000" y="3086100"/>
              <a:ext cx="3429000" cy="1409700"/>
            </a:xfrm>
            <a:prstGeom prst="roundRect">
              <a:avLst>
                <a:gd name="adj" fmla="val 94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2000" y="30861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33450" y="3238500"/>
              <a:ext cx="342900" cy="3429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10705" y="335375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1445419" y="3293269"/>
              <a:ext cx="214312" cy="214312"/>
              <a:chOff x="1445419" y="3293269"/>
              <a:chExt cx="214312" cy="214312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1445419" y="3459956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612106" y="329326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469231" y="3317081"/>
                <a:ext cx="178594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166688">
                    <a:moveTo>
                      <a:pt x="71438" y="166688"/>
                    </a:moveTo>
                    <a:lnTo>
                      <a:pt x="136922" y="166688"/>
                    </a:lnTo>
                    <a:cubicBezTo>
                      <a:pt x="159937" y="166688"/>
                      <a:pt x="178594" y="148030"/>
                      <a:pt x="178594" y="125016"/>
                    </a:cubicBezTo>
                    <a:cubicBezTo>
                      <a:pt x="178594" y="102001"/>
                      <a:pt x="159937" y="83344"/>
                      <a:pt x="136922" y="83344"/>
                    </a:cubicBezTo>
                    <a:lnTo>
                      <a:pt x="41672" y="83344"/>
                    </a:ln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754505" y="332136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Agent traceId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6315" y="37728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执行全链路可追踪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7268" y="40095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每个任务、每步操作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7268" y="42000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可追溯、可复盘、可审计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4381500" y="3086100"/>
            <a:ext cx="3429000" cy="1409700"/>
            <a:chOff x="4381500" y="3086100"/>
            <a:chExt cx="3429000" cy="1409700"/>
          </a:xfrm>
        </p:grpSpPr>
        <p:sp>
          <p:nvSpPr>
            <p:cNvPr id="60" name="Rectangle 60"/>
            <p:cNvSpPr/>
            <p:nvPr/>
          </p:nvSpPr>
          <p:spPr>
            <a:xfrm>
              <a:off x="4381500" y="3086100"/>
              <a:ext cx="3429000" cy="1409700"/>
            </a:xfrm>
            <a:prstGeom prst="roundRect">
              <a:avLst>
                <a:gd name="adj" fmla="val 94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381500" y="30861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4552950" y="3238500"/>
              <a:ext cx="342900" cy="3429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630205" y="335375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5064919" y="3305175"/>
              <a:ext cx="214312" cy="190500"/>
              <a:chOff x="5064919" y="3305175"/>
              <a:chExt cx="214312" cy="1905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5064919" y="330517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5064919" y="340042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  <a:lnTo>
                      <a:pt x="0" y="357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5112544" y="3352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5112544" y="3448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5374005" y="3321368"/>
              <a:ext cx="856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Agent OS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615815" y="3772852"/>
              <a:ext cx="1013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Agent 操作系统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616768" y="4009549"/>
              <a:ext cx="1207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身份/权限/任务队列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616768" y="4200049"/>
              <a:ext cx="1331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Agent 运行的系统底座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001000" y="3086100"/>
            <a:ext cx="3429000" cy="1409700"/>
            <a:chOff x="8001000" y="3086100"/>
            <a:chExt cx="3429000" cy="1409700"/>
          </a:xfrm>
        </p:grpSpPr>
        <p:sp>
          <p:nvSpPr>
            <p:cNvPr id="74" name="Rectangle 74"/>
            <p:cNvSpPr/>
            <p:nvPr/>
          </p:nvSpPr>
          <p:spPr>
            <a:xfrm>
              <a:off x="8001000" y="3086100"/>
              <a:ext cx="3429000" cy="1409700"/>
            </a:xfrm>
            <a:prstGeom prst="roundRect">
              <a:avLst>
                <a:gd name="adj" fmla="val 94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001000" y="30861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8172450" y="3238500"/>
              <a:ext cx="342900" cy="3429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249705" y="335375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8696325" y="3305175"/>
              <a:ext cx="190501" cy="190500"/>
              <a:chOff x="8696325" y="3305175"/>
              <a:chExt cx="190501" cy="1905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696325" y="3305175"/>
                <a:ext cx="7143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59531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lnTo>
                      <a:pt x="71438" y="35719"/>
                    </a:lnTo>
                    <a:cubicBezTo>
                      <a:pt x="71438" y="48870"/>
                      <a:pt x="60776" y="59531"/>
                      <a:pt x="47625" y="59531"/>
                    </a:cubicBezTo>
                    <a:lnTo>
                      <a:pt x="23812" y="59531"/>
                    </a:lnTo>
                    <a:cubicBezTo>
                      <a:pt x="10661" y="59531"/>
                      <a:pt x="0" y="48870"/>
                      <a:pt x="0" y="35719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696325" y="3412331"/>
                <a:ext cx="71438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lnTo>
                      <a:pt x="71438" y="59531"/>
                    </a:lnTo>
                    <a:cubicBezTo>
                      <a:pt x="71438" y="72683"/>
                      <a:pt x="60776" y="83344"/>
                      <a:pt x="47625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815388" y="3305175"/>
                <a:ext cx="71438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lnTo>
                      <a:pt x="71438" y="59531"/>
                    </a:lnTo>
                    <a:cubicBezTo>
                      <a:pt x="71438" y="72683"/>
                      <a:pt x="60776" y="83344"/>
                      <a:pt x="47625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815388" y="3436144"/>
                <a:ext cx="7143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59531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lnTo>
                      <a:pt x="71438" y="35719"/>
                    </a:lnTo>
                    <a:cubicBezTo>
                      <a:pt x="71438" y="48870"/>
                      <a:pt x="60776" y="59531"/>
                      <a:pt x="47625" y="59531"/>
                    </a:cubicBezTo>
                    <a:lnTo>
                      <a:pt x="23812" y="59531"/>
                    </a:lnTo>
                    <a:cubicBezTo>
                      <a:pt x="10661" y="59531"/>
                      <a:pt x="0" y="48870"/>
                      <a:pt x="0" y="35719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8993505" y="33213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UI Harness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35315" y="3772852"/>
              <a:ext cx="887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UI 自动化驾驭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236268" y="4009549"/>
              <a:ext cx="12404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界面层 Agent 可操作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236268" y="4200049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UI 验证脚本化、可重放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62000" y="4648200"/>
            <a:ext cx="3429000" cy="1409700"/>
            <a:chOff x="762000" y="4648200"/>
            <a:chExt cx="3429000" cy="1409700"/>
          </a:xfrm>
        </p:grpSpPr>
        <p:sp>
          <p:nvSpPr>
            <p:cNvPr id="88" name="Rectangle 88"/>
            <p:cNvSpPr/>
            <p:nvPr/>
          </p:nvSpPr>
          <p:spPr>
            <a:xfrm>
              <a:off x="762000" y="4648200"/>
              <a:ext cx="3429000" cy="1409700"/>
            </a:xfrm>
            <a:prstGeom prst="roundRect">
              <a:avLst>
                <a:gd name="adj" fmla="val 94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762000" y="46482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933450" y="4800600"/>
              <a:ext cx="342900" cy="34290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10705" y="491585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92" name="Freeform 92"/>
            <p:cNvSpPr/>
            <p:nvPr/>
          </p:nvSpPr>
          <p:spPr>
            <a:xfrm>
              <a:off x="1433512" y="4875490"/>
              <a:ext cx="238125" cy="158520"/>
            </a:xfrm>
            <a:custGeom>
              <a:avLst/>
              <a:gdLst/>
              <a:ahLst/>
              <a:cxnLst/>
              <a:rect l="l" t="t" r="r" b="b"/>
              <a:pathLst>
                <a:path w="238125" h="158520">
                  <a:moveTo>
                    <a:pt x="55447" y="158472"/>
                  </a:moveTo>
                  <a:cubicBezTo>
                    <a:pt x="24825" y="158472"/>
                    <a:pt x="0" y="134576"/>
                    <a:pt x="0" y="105096"/>
                  </a:cubicBezTo>
                  <a:cubicBezTo>
                    <a:pt x="0" y="75628"/>
                    <a:pt x="24825" y="51733"/>
                    <a:pt x="55447" y="51733"/>
                  </a:cubicBezTo>
                  <a:cubicBezTo>
                    <a:pt x="60127" y="30754"/>
                    <a:pt x="76807" y="13633"/>
                    <a:pt x="99203" y="6810"/>
                  </a:cubicBezTo>
                  <a:cubicBezTo>
                    <a:pt x="121587" y="0"/>
                    <a:pt x="146304" y="4512"/>
                    <a:pt x="164020" y="18717"/>
                  </a:cubicBezTo>
                  <a:cubicBezTo>
                    <a:pt x="181737" y="32885"/>
                    <a:pt x="189762" y="54519"/>
                    <a:pt x="185095" y="75498"/>
                  </a:cubicBezTo>
                  <a:lnTo>
                    <a:pt x="196882" y="75498"/>
                  </a:lnTo>
                  <a:cubicBezTo>
                    <a:pt x="219658" y="75498"/>
                    <a:pt x="238125" y="94071"/>
                    <a:pt x="238125" y="117003"/>
                  </a:cubicBezTo>
                  <a:cubicBezTo>
                    <a:pt x="238125" y="139946"/>
                    <a:pt x="219658" y="158520"/>
                    <a:pt x="196870" y="158520"/>
                  </a:cubicBezTo>
                  <a:lnTo>
                    <a:pt x="55447" y="158520"/>
                  </a:lnTo>
                </a:path>
              </a:pathLst>
            </a:custGeom>
            <a:noFill/>
            <a:ln w="19050">
              <a:solidFill>
                <a:srgbClr val="246BFE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754505" y="488346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API Harness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96315" y="5334952"/>
              <a:ext cx="9647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API 自动化驾驭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97268" y="55716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接口契约可验证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97268" y="57621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契约兼容性持续守护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4381500" y="4648200"/>
            <a:ext cx="3429000" cy="1409700"/>
            <a:chOff x="4381500" y="4648200"/>
            <a:chExt cx="3429000" cy="1409700"/>
          </a:xfrm>
        </p:grpSpPr>
        <p:sp>
          <p:nvSpPr>
            <p:cNvPr id="98" name="Rectangle 98"/>
            <p:cNvSpPr/>
            <p:nvPr/>
          </p:nvSpPr>
          <p:spPr>
            <a:xfrm>
              <a:off x="4381500" y="4648200"/>
              <a:ext cx="3429000" cy="1409700"/>
            </a:xfrm>
            <a:prstGeom prst="roundRect">
              <a:avLst>
                <a:gd name="adj" fmla="val 94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4381500" y="46482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4552950" y="4800600"/>
              <a:ext cx="342900" cy="34290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4630205" y="491585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grpSp>
          <p:nvGrpSpPr>
            <p:cNvPr id="108" name="Group 108"/>
            <p:cNvGrpSpPr/>
            <p:nvPr/>
          </p:nvGrpSpPr>
          <p:grpSpPr>
            <a:xfrm>
              <a:off x="5088731" y="4855369"/>
              <a:ext cx="166688" cy="214312"/>
              <a:chOff x="5088731" y="4855369"/>
              <a:chExt cx="166688" cy="214312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5088731" y="487918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5136356" y="485536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5136356" y="4962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5183981" y="496252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5136356" y="5010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5183981" y="5010150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5374005" y="48834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SOP Harness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4615815" y="53349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标准作业流程驾驭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4616768" y="557164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高频任务沉淀成 SOP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4616768" y="57621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流程可复用、可治理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001000" y="4648200"/>
            <a:ext cx="3429000" cy="1409700"/>
            <a:chOff x="8001000" y="4648200"/>
            <a:chExt cx="3429000" cy="1409700"/>
          </a:xfrm>
        </p:grpSpPr>
        <p:sp>
          <p:nvSpPr>
            <p:cNvPr id="114" name="Rectangle 114"/>
            <p:cNvSpPr/>
            <p:nvPr/>
          </p:nvSpPr>
          <p:spPr>
            <a:xfrm>
              <a:off x="8001000" y="4648200"/>
              <a:ext cx="3429000" cy="1409700"/>
            </a:xfrm>
            <a:prstGeom prst="roundRect">
              <a:avLst>
                <a:gd name="adj" fmla="val 94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8001000" y="46482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8172450" y="4800600"/>
              <a:ext cx="342900" cy="34290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8249705" y="491585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  <p:grpSp>
          <p:nvGrpSpPr>
            <p:cNvPr id="120" name="Group 120"/>
            <p:cNvGrpSpPr/>
            <p:nvPr/>
          </p:nvGrpSpPr>
          <p:grpSpPr>
            <a:xfrm>
              <a:off x="8685014" y="4853706"/>
              <a:ext cx="219694" cy="224739"/>
              <a:chOff x="8685014" y="4853706"/>
              <a:chExt cx="219694" cy="224739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8791575" y="4914900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0"/>
                    </a:moveTo>
                    <a:lnTo>
                      <a:pt x="0" y="47625"/>
                    </a:lnTo>
                    <a:lnTo>
                      <a:pt x="23812" y="71438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8685014" y="4853706"/>
                <a:ext cx="219694" cy="224739"/>
              </a:xfrm>
              <a:custGeom>
                <a:avLst/>
                <a:gdLst/>
                <a:ahLst/>
                <a:cxnLst/>
                <a:rect l="l" t="t" r="r" b="b"/>
                <a:pathLst>
                  <a:path w="219694" h="224739">
                    <a:moveTo>
                      <a:pt x="0" y="96913"/>
                    </a:moveTo>
                    <a:cubicBezTo>
                      <a:pt x="5524" y="42685"/>
                      <a:pt x="50876" y="1245"/>
                      <a:pt x="105381" y="623"/>
                    </a:cubicBezTo>
                    <a:cubicBezTo>
                      <a:pt x="159885" y="0"/>
                      <a:pt x="206172" y="40393"/>
                      <a:pt x="212933" y="94481"/>
                    </a:cubicBezTo>
                    <a:cubicBezTo>
                      <a:pt x="219694" y="148568"/>
                      <a:pt x="184774" y="199112"/>
                      <a:pt x="131794" y="211925"/>
                    </a:cubicBezTo>
                    <a:cubicBezTo>
                      <a:pt x="78813" y="224739"/>
                      <a:pt x="24655" y="195737"/>
                      <a:pt x="5953" y="144538"/>
                    </a:cubicBezTo>
                    <a:moveTo>
                      <a:pt x="0" y="204069"/>
                    </a:moveTo>
                    <a:lnTo>
                      <a:pt x="0" y="144538"/>
                    </a:lnTo>
                    <a:lnTo>
                      <a:pt x="59531" y="144538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8993505" y="488346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Harness flake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235315" y="53349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框架自身稳定性治理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236268" y="55716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驾驭框架本身的稳定性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236268" y="57621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抖动检测、修复、加固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126" name="TextBox 126"/>
            <p:cNvSpPr txBox="1"/>
            <p:nvPr/>
          </p:nvSpPr>
          <p:spPr>
            <a:xfrm>
              <a:off x="750570" y="64560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第四章 · 工程底座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20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30" grpId="0"/>
      <p:bldP spid="46" grpId="0"/>
      <p:bldP spid="59" grpId="0"/>
      <p:bldP spid="73" grpId="0"/>
      <p:bldP spid="87" grpId="0"/>
      <p:bldP spid="97" grpId="0"/>
      <p:bldP spid="113" grpId="0"/>
      <p:bldP spid="1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3425" y="533400"/>
            <a:ext cx="6688729" cy="831056"/>
            <a:chOff x="733425" y="533400"/>
            <a:chExt cx="6688729" cy="8310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3425" y="709612"/>
              <a:ext cx="66887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先建 Harness 再放 Agent,顺序错了全是反模式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1135856"/>
              <a:ext cx="5039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Harness 先行,Agent 在 Harness 内跑;先放 Agent 再补 Harness = 不可控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1638300"/>
            <a:ext cx="5143500" cy="3810000"/>
            <a:chOff x="762000" y="1638300"/>
            <a:chExt cx="51435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638300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38300"/>
              <a:ext cx="5143500" cy="571500"/>
            </a:xfrm>
            <a:prstGeom prst="roundRect">
              <a:avLst>
                <a:gd name="adj" fmla="val 26667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905000"/>
              <a:ext cx="5143500" cy="304800"/>
            </a:xfrm>
            <a:prstGeom prst="rect">
              <a:avLst/>
            </a:prstGeom>
            <a:solidFill>
              <a:srgbClr val="0E9F6E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28700" y="1809750"/>
              <a:ext cx="228600" cy="228600"/>
              <a:chOff x="1028700" y="1809750"/>
              <a:chExt cx="228600" cy="2286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28700" y="18097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04900" y="18986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71600" y="183832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✓ 正确顺序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2759" y="1894999"/>
              <a:ext cx="8893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Harness First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971550" y="2510314"/>
              <a:ext cx="3088958" cy="459105"/>
              <a:chOff x="971550" y="2510314"/>
              <a:chExt cx="3088958" cy="459105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971550" y="2514600"/>
                <a:ext cx="342900" cy="342900"/>
              </a:xfrm>
              <a:prstGeom prst="ellipse">
                <a:avLst/>
              </a:prstGeom>
              <a:solidFill>
                <a:srgbClr val="0E9F6E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48805" y="262985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31608" y="2510314"/>
                <a:ext cx="11302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Harness 先建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35418" y="2771299"/>
                <a:ext cx="26250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CLI / fullcheck / E2E / hooks 工程底座就位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971550" y="3272314"/>
              <a:ext cx="3030451" cy="459105"/>
              <a:chOff x="971550" y="3272314"/>
              <a:chExt cx="3030451" cy="45910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971550" y="3276600"/>
                <a:ext cx="342900" cy="342900"/>
              </a:xfrm>
              <a:prstGeom prst="ellipse">
                <a:avLst/>
              </a:prstGeom>
              <a:solidFill>
                <a:srgbClr val="0E9F6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48805" y="339185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431608" y="3272314"/>
                <a:ext cx="190686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Agent 在 Harness 内跑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435418" y="3533299"/>
                <a:ext cx="25665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Loop / Graph / 任务编排 在驾驭框架内运行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971550" y="4034314"/>
              <a:ext cx="2445378" cy="459105"/>
              <a:chOff x="971550" y="4034314"/>
              <a:chExt cx="2445378" cy="45910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971550" y="4038600"/>
                <a:ext cx="342900" cy="342900"/>
              </a:xfrm>
              <a:prstGeom prst="ellipse">
                <a:avLst/>
              </a:prstGeom>
              <a:solidFill>
                <a:srgbClr val="0E9F6E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48805" y="415385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431608" y="4034314"/>
                <a:ext cx="19693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25364A"/>
                    </a:solidFill>
                    <a:latin typeface="Arial"/>
                    <a:ea typeface="Microsoft YaHei"/>
                    <a:cs typeface="Arial"/>
                  </a:rPr>
                  <a:t>feedback 反哺 Harness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435418" y="4295299"/>
                <a:ext cx="19815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Agent 执行反馈持续强化驾驭框架</a:t>
                </a:r>
              </a:p>
            </p:txBody>
          </p:sp>
        </p:grpSp>
        <p:sp>
          <p:nvSpPr>
            <p:cNvPr id="30" name="Rectangle 30"/>
            <p:cNvSpPr/>
            <p:nvPr/>
          </p:nvSpPr>
          <p:spPr>
            <a:xfrm>
              <a:off x="1009650" y="4819650"/>
              <a:ext cx="4648200" cy="419100"/>
            </a:xfrm>
            <a:prstGeom prst="roundRect">
              <a:avLst>
                <a:gd name="adj" fmla="val 22727"/>
              </a:avLst>
            </a:prstGeom>
            <a:solidFill>
              <a:srgbClr val="0E9F6E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95724" y="4973002"/>
              <a:ext cx="22760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可控 → 可验证 → 可持续放大自主度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1638300"/>
            <a:ext cx="5143500" cy="3810000"/>
            <a:chOff x="6286500" y="1638300"/>
            <a:chExt cx="5143500" cy="3810000"/>
          </a:xfrm>
        </p:grpSpPr>
        <p:sp>
          <p:nvSpPr>
            <p:cNvPr id="33" name="Rectangle 33"/>
            <p:cNvSpPr/>
            <p:nvPr/>
          </p:nvSpPr>
          <p:spPr>
            <a:xfrm>
              <a:off x="6286500" y="1638300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86500" y="1638300"/>
              <a:ext cx="5143500" cy="571500"/>
            </a:xfrm>
            <a:prstGeom prst="roundRect">
              <a:avLst>
                <a:gd name="adj" fmla="val 26667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86500" y="1905000"/>
              <a:ext cx="5143500" cy="3048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553200" y="1835150"/>
              <a:ext cx="228600" cy="190500"/>
              <a:chOff x="6553200" y="1835150"/>
              <a:chExt cx="228600" cy="1905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629400" y="18351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508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508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04000" y="1885950"/>
                <a:ext cx="1270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39700">
                    <a:moveTo>
                      <a:pt x="12700" y="0"/>
                    </a:moveTo>
                    <a:lnTo>
                      <a:pt x="114300" y="0"/>
                    </a:lnTo>
                    <a:cubicBezTo>
                      <a:pt x="121864" y="11336"/>
                      <a:pt x="126250" y="24493"/>
                      <a:pt x="127000" y="38100"/>
                    </a:cubicBezTo>
                    <a:lnTo>
                      <a:pt x="127000" y="76200"/>
                    </a:lnTo>
                    <a:cubicBezTo>
                      <a:pt x="127000" y="111270"/>
                      <a:pt x="98570" y="139700"/>
                      <a:pt x="63500" y="139700"/>
                    </a:cubicBezTo>
                    <a:cubicBezTo>
                      <a:pt x="28430" y="139700"/>
                      <a:pt x="0" y="111270"/>
                      <a:pt x="0" y="76200"/>
                    </a:cubicBezTo>
                    <a:lnTo>
                      <a:pt x="0" y="38100"/>
                    </a:lnTo>
                    <a:cubicBezTo>
                      <a:pt x="750" y="24493"/>
                      <a:pt x="5136" y="11336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53200" y="19367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31000" y="19367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67500" y="19494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762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65900" y="1987550"/>
                <a:ext cx="4254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25400">
                    <a:moveTo>
                      <a:pt x="0" y="25400"/>
                    </a:moveTo>
                    <a:lnTo>
                      <a:pt x="4254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26555" y="1987550"/>
                <a:ext cx="4254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25400">
                    <a:moveTo>
                      <a:pt x="42545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65900" y="1860550"/>
                <a:ext cx="47625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0480">
                    <a:moveTo>
                      <a:pt x="0" y="0"/>
                    </a:moveTo>
                    <a:lnTo>
                      <a:pt x="47625" y="3048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21475" y="1860550"/>
                <a:ext cx="47625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0480">
                    <a:moveTo>
                      <a:pt x="47625" y="0"/>
                    </a:moveTo>
                    <a:lnTo>
                      <a:pt x="0" y="3048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896100" y="1838325"/>
              <a:ext cx="8467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✗ 反模式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10277" y="1894999"/>
              <a:ext cx="746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Agent First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6534150" y="2495550"/>
              <a:ext cx="4648200" cy="876300"/>
              <a:chOff x="6534150" y="2495550"/>
              <a:chExt cx="4648200" cy="8763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534150" y="2495550"/>
                <a:ext cx="4648200" cy="876300"/>
              </a:xfrm>
              <a:prstGeom prst="roundRect">
                <a:avLst>
                  <a:gd name="adj" fmla="val 10870"/>
                </a:avLst>
              </a:prstGeom>
              <a:solidFill>
                <a:srgbClr val="FFFFFF"/>
              </a:solidFill>
              <a:ln w="9525">
                <a:solidFill>
                  <a:srgbClr val="F59E0B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690360" y="2632710"/>
                <a:ext cx="13830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Loop Engineering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693218" y="2904649"/>
                <a:ext cx="17019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先让 Agent 跑循环,再补约束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694170" y="3122295"/>
                <a:ext cx="18170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785"/>
                    </a:solidFill>
                    <a:latin typeface="Arial"/>
                    <a:ea typeface="Microsoft YaHei"/>
                    <a:cs typeface="Arial"/>
                  </a:rPr>
                  <a:t>→ 循环失控,事故已发生,补不回来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534150" y="3524250"/>
              <a:ext cx="4648200" cy="876300"/>
              <a:chOff x="6534150" y="3524250"/>
              <a:chExt cx="4648200" cy="8763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6534150" y="3524250"/>
                <a:ext cx="4648200" cy="876300"/>
              </a:xfrm>
              <a:prstGeom prst="roundRect">
                <a:avLst>
                  <a:gd name="adj" fmla="val 10870"/>
                </a:avLst>
              </a:prstGeom>
              <a:solidFill>
                <a:srgbClr val="FFFFFF"/>
              </a:solidFill>
              <a:ln w="9525">
                <a:solidFill>
                  <a:srgbClr val="F59E0B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690360" y="3661410"/>
                <a:ext cx="147546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Graph Engineering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693218" y="3933349"/>
                <a:ext cx="1831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6A78"/>
                    </a:solidFill>
                    <a:latin typeface="Arial"/>
                    <a:ea typeface="Microsoft YaHei"/>
                    <a:cs typeface="Arial"/>
                  </a:rPr>
                  <a:t>先让 Agent 跑任务图,再补治理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694170" y="4150995"/>
                <a:ext cx="16310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785"/>
                    </a:solidFill>
                    <a:latin typeface="Arial"/>
                    <a:ea typeface="Microsoft YaHei"/>
                    <a:cs typeface="Arial"/>
                  </a:rPr>
                  <a:t>→ 任务图失控,治理滞后于破坏</a:t>
                </a:r>
              </a:p>
            </p:txBody>
          </p:sp>
        </p:grpSp>
        <p:sp>
          <p:nvSpPr>
            <p:cNvPr id="58" name="Rectangle 58"/>
            <p:cNvSpPr/>
            <p:nvPr/>
          </p:nvSpPr>
          <p:spPr>
            <a:xfrm>
              <a:off x="6534150" y="4552950"/>
              <a:ext cx="4648200" cy="685800"/>
            </a:xfrm>
            <a:prstGeom prst="roundRect">
              <a:avLst>
                <a:gd name="adj" fmla="val 13889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63430" y="4706302"/>
              <a:ext cx="9896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共性:顺序错了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75721" y="4942999"/>
              <a:ext cx="2365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后期补 Harness 成本极高,且事故已发生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62000" y="5676900"/>
            <a:ext cx="10668000" cy="571500"/>
            <a:chOff x="762000" y="5676900"/>
            <a:chExt cx="10668000" cy="571500"/>
          </a:xfrm>
        </p:grpSpPr>
        <p:sp>
          <p:nvSpPr>
            <p:cNvPr id="62" name="Rectangle 62"/>
            <p:cNvSpPr/>
            <p:nvPr/>
          </p:nvSpPr>
          <p:spPr>
            <a:xfrm>
              <a:off x="762000" y="5676900"/>
              <a:ext cx="10668000" cy="571500"/>
            </a:xfrm>
            <a:prstGeom prst="roundRect">
              <a:avLst>
                <a:gd name="adj" fmla="val 23333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617658" y="5844540"/>
              <a:ext cx="29566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先建安全网,再放大自主度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65" name="TextBox 65"/>
            <p:cNvSpPr txBox="1"/>
            <p:nvPr/>
          </p:nvSpPr>
          <p:spPr>
            <a:xfrm>
              <a:off x="750570" y="64560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第四章 · 工程底座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21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2" grpId="0"/>
      <p:bldP spid="61" grpId="0"/>
      <p:bldP spid="6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5330" y="533400"/>
            <a:ext cx="7448364" cy="792956"/>
            <a:chOff x="735330" y="533400"/>
            <a:chExt cx="7448364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725805"/>
              <a:ext cx="744836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工程底座建成后的度量参考 —— 规模化 AI 协同的真实形态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1097756"/>
              <a:ext cx="42516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Harness 先行不是理论,以下是工程化 AI 协同的可观察度量参考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638300"/>
            <a:ext cx="2571750" cy="2095500"/>
            <a:chOff x="762000" y="1638300"/>
            <a:chExt cx="2571750" cy="2095500"/>
          </a:xfrm>
        </p:grpSpPr>
        <p:sp>
          <p:nvSpPr>
            <p:cNvPr id="7" name="Rectangle 7"/>
            <p:cNvSpPr/>
            <p:nvPr/>
          </p:nvSpPr>
          <p:spPr>
            <a:xfrm>
              <a:off x="762000" y="1638300"/>
              <a:ext cx="2571750" cy="2095500"/>
            </a:xfrm>
            <a:prstGeom prst="roundRect">
              <a:avLst>
                <a:gd name="adj" fmla="val 727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3830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79500" y="1905000"/>
              <a:ext cx="203200" cy="228600"/>
              <a:chOff x="1079500" y="1905000"/>
              <a:chExt cx="203200" cy="228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79500" y="190500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9500" y="19431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9500" y="20193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88695" y="2307908"/>
              <a:ext cx="162370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175 万+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3460" y="2804160"/>
              <a:ext cx="10066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单库规模(行)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28700" y="30861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6318" y="3228499"/>
              <a:ext cx="1331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Agent 可协同的代码库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6318" y="34380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量级参考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524250" y="1638300"/>
            <a:ext cx="2571750" cy="2095500"/>
            <a:chOff x="3524250" y="1638300"/>
            <a:chExt cx="2571750" cy="2095500"/>
          </a:xfrm>
        </p:grpSpPr>
        <p:sp>
          <p:nvSpPr>
            <p:cNvPr id="19" name="Rectangle 19"/>
            <p:cNvSpPr/>
            <p:nvPr/>
          </p:nvSpPr>
          <p:spPr>
            <a:xfrm>
              <a:off x="3524250" y="1638300"/>
              <a:ext cx="2571750" cy="2095500"/>
            </a:xfrm>
            <a:prstGeom prst="roundRect">
              <a:avLst>
                <a:gd name="adj" fmla="val 727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24250" y="163830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854450" y="1955800"/>
              <a:ext cx="177800" cy="161925"/>
              <a:chOff x="3854450" y="1955800"/>
              <a:chExt cx="177800" cy="1619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854450" y="19558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943350" y="21082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750945" y="2307908"/>
              <a:ext cx="113854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34%+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75710" y="28041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代码 CLI 化率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790950" y="30861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78568" y="3228499"/>
              <a:ext cx="1201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Agent 可调用的代码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78568" y="34380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占比参考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638300"/>
            <a:ext cx="2571750" cy="2095500"/>
            <a:chOff x="6286500" y="1638300"/>
            <a:chExt cx="2571750" cy="2095500"/>
          </a:xfrm>
        </p:grpSpPr>
        <p:sp>
          <p:nvSpPr>
            <p:cNvPr id="30" name="Rectangle 30"/>
            <p:cNvSpPr/>
            <p:nvPr/>
          </p:nvSpPr>
          <p:spPr>
            <a:xfrm>
              <a:off x="6286500" y="1638300"/>
              <a:ext cx="2571750" cy="2095500"/>
            </a:xfrm>
            <a:prstGeom prst="roundRect">
              <a:avLst>
                <a:gd name="adj" fmla="val 727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86500" y="163830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616700" y="1917700"/>
              <a:ext cx="190500" cy="203200"/>
              <a:chOff x="6616700" y="1917700"/>
              <a:chExt cx="190500" cy="203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16700" y="20701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16700" y="1917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43700" y="1917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42100" y="19685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67500" y="20066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88900"/>
                    </a:moveTo>
                    <a:lnTo>
                      <a:pt x="76200" y="88900"/>
                    </a:lnTo>
                    <a:cubicBezTo>
                      <a:pt x="90228" y="88900"/>
                      <a:pt x="101600" y="77528"/>
                      <a:pt x="101600" y="6350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31000" y="200660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38100" y="0"/>
                    </a:ln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13195" y="2307908"/>
              <a:ext cx="149138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35/天+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37960" y="2804160"/>
              <a:ext cx="11586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Agent 协同提交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553200" y="30861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40818" y="32284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日均提交强度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40818" y="34380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人智协同密度参考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048750" y="1638300"/>
            <a:ext cx="2381250" cy="2095500"/>
            <a:chOff x="9048750" y="1638300"/>
            <a:chExt cx="2381250" cy="2095500"/>
          </a:xfrm>
        </p:grpSpPr>
        <p:sp>
          <p:nvSpPr>
            <p:cNvPr id="45" name="Rectangle 45"/>
            <p:cNvSpPr/>
            <p:nvPr/>
          </p:nvSpPr>
          <p:spPr>
            <a:xfrm>
              <a:off x="9048750" y="1638300"/>
              <a:ext cx="2381250" cy="2095500"/>
            </a:xfrm>
            <a:prstGeom prst="roundRect">
              <a:avLst>
                <a:gd name="adj" fmla="val 727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048750" y="163830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366250" y="1917700"/>
              <a:ext cx="203200" cy="203200"/>
              <a:chOff x="9366250" y="1917700"/>
              <a:chExt cx="203200" cy="2032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366250" y="1917700"/>
                <a:ext cx="762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35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lnTo>
                      <a:pt x="76200" y="38100"/>
                    </a:lnTo>
                    <a:cubicBezTo>
                      <a:pt x="76200" y="52128"/>
                      <a:pt x="64828" y="63500"/>
                      <a:pt x="50800" y="63500"/>
                    </a:cubicBezTo>
                    <a:lnTo>
                      <a:pt x="25400" y="63500"/>
                    </a:lnTo>
                    <a:cubicBezTo>
                      <a:pt x="11372" y="63500"/>
                      <a:pt x="0" y="52128"/>
                      <a:pt x="0" y="381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366250" y="2032000"/>
                <a:ext cx="762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89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lnTo>
                      <a:pt x="76200" y="63500"/>
                    </a:lnTo>
                    <a:cubicBezTo>
                      <a:pt x="76200" y="77528"/>
                      <a:pt x="64828" y="88900"/>
                      <a:pt x="50800" y="88900"/>
                    </a:cubicBezTo>
                    <a:lnTo>
                      <a:pt x="25400" y="88900"/>
                    </a:lnTo>
                    <a:cubicBezTo>
                      <a:pt x="11372" y="88900"/>
                      <a:pt x="0" y="77528"/>
                      <a:pt x="0" y="635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493250" y="1917700"/>
                <a:ext cx="762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89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lnTo>
                      <a:pt x="76200" y="63500"/>
                    </a:lnTo>
                    <a:cubicBezTo>
                      <a:pt x="76200" y="77528"/>
                      <a:pt x="64828" y="88900"/>
                      <a:pt x="50800" y="88900"/>
                    </a:cubicBezTo>
                    <a:lnTo>
                      <a:pt x="25400" y="88900"/>
                    </a:lnTo>
                    <a:cubicBezTo>
                      <a:pt x="11372" y="88900"/>
                      <a:pt x="0" y="77528"/>
                      <a:pt x="0" y="635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493250" y="2057400"/>
                <a:ext cx="762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35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lnTo>
                      <a:pt x="76200" y="38100"/>
                    </a:lnTo>
                    <a:cubicBezTo>
                      <a:pt x="76200" y="52128"/>
                      <a:pt x="64828" y="63500"/>
                      <a:pt x="50800" y="63500"/>
                    </a:cubicBezTo>
                    <a:lnTo>
                      <a:pt x="25400" y="63500"/>
                    </a:lnTo>
                    <a:cubicBezTo>
                      <a:pt x="11372" y="63500"/>
                      <a:pt x="0" y="52128"/>
                      <a:pt x="0" y="381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9275445" y="230790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9 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00210" y="2804160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Harness 组件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315450" y="3086100"/>
              <a:ext cx="1847850" cy="9525"/>
            </a:xfrm>
            <a:custGeom>
              <a:avLst/>
              <a:gdLst/>
              <a:ahLst/>
              <a:cxnLst/>
              <a:rect l="l" t="t" r="r" b="b"/>
              <a:pathLst>
                <a:path w="1847850" h="9525">
                  <a:moveTo>
                    <a:pt x="0" y="0"/>
                  </a:moveTo>
                  <a:lnTo>
                    <a:pt x="18478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303068" y="32284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驾驭框架的工程抓手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03068" y="3438049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CLI/fullcheck/E2E 等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62000" y="4076700"/>
            <a:ext cx="10668000" cy="1752600"/>
            <a:chOff x="762000" y="4076700"/>
            <a:chExt cx="10668000" cy="1752600"/>
          </a:xfrm>
        </p:grpSpPr>
        <p:sp>
          <p:nvSpPr>
            <p:cNvPr id="58" name="Rectangle 58"/>
            <p:cNvSpPr/>
            <p:nvPr/>
          </p:nvSpPr>
          <p:spPr>
            <a:xfrm>
              <a:off x="762000" y="4076700"/>
              <a:ext cx="10668000" cy="1752600"/>
            </a:xfrm>
            <a:prstGeom prst="roundRect">
              <a:avLst>
                <a:gd name="adj" fmla="val 8696"/>
              </a:avLst>
            </a:prstGeom>
            <a:solidFill>
              <a:srgbClr val="0A2A5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337353" y="4355782"/>
              <a:ext cx="55172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Harness 先行的真实形态:规模化、可验证、高频协同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4667250" y="47625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246BFE">
                  <a:alpha val="50000"/>
                </a:srgbClr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88473" y="5013960"/>
              <a:ext cx="46150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百万行级代码库 · 三成以上 CLI 化 · 日均数十次 Agent 协同提交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95454" y="5334952"/>
              <a:ext cx="34010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这才是"个人提效转化为组织级系统提效"的工程化形态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1522" y="6464141"/>
            <a:ext cx="10688955" cy="167640"/>
            <a:chOff x="751522" y="6464141"/>
            <a:chExt cx="10688955" cy="167640"/>
          </a:xfrm>
        </p:grpSpPr>
        <p:sp>
          <p:nvSpPr>
            <p:cNvPr id="64" name="TextBox 64"/>
            <p:cNvSpPr txBox="1"/>
            <p:nvPr/>
          </p:nvSpPr>
          <p:spPr>
            <a:xfrm>
              <a:off x="751522" y="6464141"/>
              <a:ext cx="41959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* 以上为行业工程化实践的参考量级,非客户承诺值;实际数值视代码库与团队规模校准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22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29" grpId="0"/>
      <p:bldP spid="44" grpId="0"/>
      <p:bldP spid="57" grpId="0"/>
      <p:bldP spid="6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7048500"/>
            <a:chOff x="0" y="0"/>
            <a:chExt cx="121920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096250" y="0"/>
              <a:ext cx="3810000" cy="3810000"/>
            </a:xfrm>
            <a:prstGeom prst="ellipse">
              <a:avLst/>
            </a:prstGeom>
            <a:solidFill>
              <a:srgbClr val="246BFE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571500" y="4381500"/>
              <a:ext cx="2667000" cy="2667000"/>
            </a:xfrm>
            <a:prstGeom prst="ellipse">
              <a:avLst/>
            </a:prstGeom>
            <a:solidFill>
              <a:srgbClr val="518FEC">
                <a:alpha val="5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52450" y="2981325"/>
            <a:ext cx="2960418" cy="3352800"/>
            <a:chOff x="552450" y="2981325"/>
            <a:chExt cx="2960418" cy="335280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0105" y="2209800"/>
            <a:ext cx="1160145" cy="547688"/>
            <a:chOff x="840105" y="2209800"/>
            <a:chExt cx="1160145" cy="547688"/>
          </a:xfrm>
        </p:grpSpPr>
        <p:sp>
          <p:nvSpPr>
            <p:cNvPr id="8" name="Rectangle 8"/>
            <p:cNvSpPr/>
            <p:nvPr/>
          </p:nvSpPr>
          <p:spPr>
            <a:xfrm>
              <a:off x="857250" y="2209800"/>
              <a:ext cx="11430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0105" y="24831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CHAPTER 05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9150" y="3067050"/>
            <a:ext cx="3436620" cy="1428750"/>
            <a:chOff x="819150" y="3067050"/>
            <a:chExt cx="3436620" cy="1428750"/>
          </a:xfrm>
        </p:grpSpPr>
        <p:sp>
          <p:nvSpPr>
            <p:cNvPr id="11" name="TextBox 11"/>
            <p:cNvSpPr txBox="1"/>
            <p:nvPr/>
          </p:nvSpPr>
          <p:spPr>
            <a:xfrm>
              <a:off x="819150" y="3067050"/>
              <a:ext cx="343662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价值、实施与保障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694748"/>
              <a:ext cx="264985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从试点到规模化的路径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4251960"/>
              <a:ext cx="25187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不要先改组织,先让一个产品跑起来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594419" y="6464141"/>
            <a:ext cx="8460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FA3C4"/>
                </a:solidFill>
                <a:latin typeface="Arial"/>
                <a:ea typeface="Microsoft YaHei"/>
                <a:cs typeface="Arial"/>
              </a:rPr>
              <a:t>23 / 27 · 第五章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5330" y="533400"/>
            <a:ext cx="5096070" cy="792956"/>
            <a:chOff x="735330" y="533400"/>
            <a:chExt cx="5096070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725805"/>
              <a:ext cx="50960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四维价值 —— 效率 · 质量 · 成本 · 进化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1097756"/>
              <a:ext cx="41315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FarAI 研发流水线从四个维度,把个人提效升级为组织系统提效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524000"/>
            <a:ext cx="5286375" cy="2209800"/>
            <a:chOff x="762000" y="1524000"/>
            <a:chExt cx="5286375" cy="2209800"/>
          </a:xfrm>
        </p:grpSpPr>
        <p:sp>
          <p:nvSpPr>
            <p:cNvPr id="7" name="Rectangle 7"/>
            <p:cNvSpPr/>
            <p:nvPr/>
          </p:nvSpPr>
          <p:spPr>
            <a:xfrm>
              <a:off x="762000" y="1524000"/>
              <a:ext cx="5286375" cy="2209800"/>
            </a:xfrm>
            <a:prstGeom prst="roundRect">
              <a:avLst>
                <a:gd name="adj" fmla="val 6897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7150" cy="22098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92200" y="1790700"/>
              <a:ext cx="177800" cy="228600"/>
            </a:xfrm>
            <a:custGeom>
              <a:avLst/>
              <a:gdLst/>
              <a:ahLst/>
              <a:cxnLst/>
              <a:rect l="l" t="t" r="r" b="b"/>
              <a:pathLst>
                <a:path w="177800" h="228600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600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0052A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07795" y="18030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效率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44452" y="18678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速度类指标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28700" y="2209800"/>
              <a:ext cx="4829175" cy="9525"/>
            </a:xfrm>
            <a:custGeom>
              <a:avLst/>
              <a:gdLst/>
              <a:ahLst/>
              <a:cxnLst/>
              <a:rect l="l" t="t" r="r" b="b"/>
              <a:pathLst>
                <a:path w="4829175" h="9525">
                  <a:moveTo>
                    <a:pt x="0" y="0"/>
                  </a:moveTo>
                  <a:lnTo>
                    <a:pt x="4829175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6315" y="2467928"/>
              <a:ext cx="151080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↓40-50%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4412" y="2907506"/>
              <a:ext cx="12437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需求返工率(预估)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53740" y="2467928"/>
              <a:ext cx="131442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↑3-5 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71838" y="2907506"/>
              <a:ext cx="13937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安全合并吞吐(预估)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6318" y="3399949"/>
              <a:ext cx="2397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个人变快 → 小队/产品线/组织级系统提速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38875" y="1524000"/>
            <a:ext cx="5191125" cy="2209800"/>
            <a:chOff x="6238875" y="1524000"/>
            <a:chExt cx="5191125" cy="2209800"/>
          </a:xfrm>
        </p:grpSpPr>
        <p:sp>
          <p:nvSpPr>
            <p:cNvPr id="19" name="Rectangle 19"/>
            <p:cNvSpPr/>
            <p:nvPr/>
          </p:nvSpPr>
          <p:spPr>
            <a:xfrm>
              <a:off x="6238875" y="1524000"/>
              <a:ext cx="5191125" cy="2209800"/>
            </a:xfrm>
            <a:prstGeom prst="roundRect">
              <a:avLst>
                <a:gd name="adj" fmla="val 6897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38875" y="1524000"/>
              <a:ext cx="57150" cy="22098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538386" y="1790700"/>
              <a:ext cx="239178" cy="228600"/>
            </a:xfrm>
            <a:custGeom>
              <a:avLst/>
              <a:gdLst/>
              <a:ahLst/>
              <a:cxnLst/>
              <a:rect l="l" t="t" r="r" b="b"/>
              <a:pathLst>
                <a:path w="239178" h="228600">
                  <a:moveTo>
                    <a:pt x="119589" y="0"/>
                  </a:moveTo>
                  <a:cubicBezTo>
                    <a:pt x="149254" y="26246"/>
                    <a:pt x="187972" y="39911"/>
                    <a:pt x="227539" y="38100"/>
                  </a:cubicBezTo>
                  <a:cubicBezTo>
                    <a:pt x="239178" y="77693"/>
                    <a:pt x="234262" y="120313"/>
                    <a:pt x="213917" y="156217"/>
                  </a:cubicBezTo>
                  <a:cubicBezTo>
                    <a:pt x="193571" y="192121"/>
                    <a:pt x="159535" y="218239"/>
                    <a:pt x="119589" y="228600"/>
                  </a:cubicBezTo>
                  <a:cubicBezTo>
                    <a:pt x="79643" y="218239"/>
                    <a:pt x="45606" y="192121"/>
                    <a:pt x="25261" y="156217"/>
                  </a:cubicBezTo>
                  <a:cubicBezTo>
                    <a:pt x="4915" y="120313"/>
                    <a:pt x="0" y="77693"/>
                    <a:pt x="11639" y="38100"/>
                  </a:cubicBezTo>
                  <a:cubicBezTo>
                    <a:pt x="51206" y="39911"/>
                    <a:pt x="89924" y="26246"/>
                    <a:pt x="119589" y="0"/>
                  </a:cubicBezTo>
                </a:path>
              </a:pathLst>
            </a:custGeom>
            <a:noFill/>
            <a:ln w="19050">
              <a:solidFill>
                <a:srgbClr val="246BF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84670" y="18030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26078" y="18678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风险类指标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05575" y="2209800"/>
              <a:ext cx="4733925" cy="9525"/>
            </a:xfrm>
            <a:custGeom>
              <a:avLst/>
              <a:gdLst/>
              <a:ahLst/>
              <a:cxnLst/>
              <a:rect l="l" t="t" r="r" b="b"/>
              <a:pathLst>
                <a:path w="4733925" h="9525">
                  <a:moveTo>
                    <a:pt x="0" y="0"/>
                  </a:moveTo>
                  <a:lnTo>
                    <a:pt x="4733925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73190" y="2467928"/>
              <a:ext cx="151080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↓40-60%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1288" y="2907506"/>
              <a:ext cx="13262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缺陷/返工率(预估)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30615" y="2467928"/>
              <a:ext cx="151080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↓30-50%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48712" y="2907506"/>
              <a:ext cx="12437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高风险漏审(预估)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3192" y="339994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Harness 安全网让 AI 改完即可验证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3848100"/>
            <a:ext cx="5286375" cy="2209800"/>
            <a:chOff x="762000" y="3848100"/>
            <a:chExt cx="5286375" cy="2209800"/>
          </a:xfrm>
        </p:grpSpPr>
        <p:sp>
          <p:nvSpPr>
            <p:cNvPr id="31" name="Rectangle 31"/>
            <p:cNvSpPr/>
            <p:nvPr/>
          </p:nvSpPr>
          <p:spPr>
            <a:xfrm>
              <a:off x="762000" y="3848100"/>
              <a:ext cx="5286375" cy="2209800"/>
            </a:xfrm>
            <a:prstGeom prst="roundRect">
              <a:avLst>
                <a:gd name="adj" fmla="val 6897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2000" y="3848100"/>
              <a:ext cx="57150" cy="220980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066800" y="4140200"/>
              <a:ext cx="228600" cy="177800"/>
              <a:chOff x="1066800" y="4140200"/>
              <a:chExt cx="228600" cy="177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66800" y="4140200"/>
                <a:ext cx="1778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27000">
                    <a:moveTo>
                      <a:pt x="50800" y="127000"/>
                    </a:moveTo>
                    <a:lnTo>
                      <a:pt x="12700" y="127000"/>
                    </a:lnTo>
                    <a:cubicBezTo>
                      <a:pt x="5686" y="127000"/>
                      <a:pt x="0" y="121314"/>
                      <a:pt x="0" y="1143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5080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17600" y="4191000"/>
                <a:ext cx="1778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270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14300"/>
                    </a:lnTo>
                    <a:cubicBezTo>
                      <a:pt x="177800" y="121314"/>
                      <a:pt x="172114" y="127000"/>
                      <a:pt x="165100" y="127000"/>
                    </a:cubicBezTo>
                    <a:lnTo>
                      <a:pt x="12700" y="127000"/>
                    </a:lnTo>
                    <a:cubicBezTo>
                      <a:pt x="5686" y="127000"/>
                      <a:pt x="0" y="121314"/>
                      <a:pt x="0" y="1143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81100" y="42291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407795" y="41271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成本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44452" y="41919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资源类指标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1028700" y="4533900"/>
              <a:ext cx="4829175" cy="9525"/>
            </a:xfrm>
            <a:custGeom>
              <a:avLst/>
              <a:gdLst/>
              <a:ahLst/>
              <a:cxnLst/>
              <a:rect l="l" t="t" r="r" b="b"/>
              <a:pathLst>
                <a:path w="4829175" h="9525">
                  <a:moveTo>
                    <a:pt x="0" y="0"/>
                  </a:moveTo>
                  <a:lnTo>
                    <a:pt x="4829175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02030" y="4840605"/>
              <a:ext cx="18616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分钟级 → 秒级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4412" y="5231606"/>
              <a:ext cx="1543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上下文获取时效(预估)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59455" y="4840605"/>
              <a:ext cx="142061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Token ROI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71838" y="5231606"/>
              <a:ext cx="12437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持续可视化(预估)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6318" y="5724049"/>
              <a:ext cx="27421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AI FinOps 让"用了多少"升级为"带来什么收益"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38875" y="3848100"/>
            <a:ext cx="5191125" cy="2209800"/>
            <a:chOff x="6238875" y="3848100"/>
            <a:chExt cx="5191125" cy="2209800"/>
          </a:xfrm>
        </p:grpSpPr>
        <p:sp>
          <p:nvSpPr>
            <p:cNvPr id="46" name="Rectangle 46"/>
            <p:cNvSpPr/>
            <p:nvPr/>
          </p:nvSpPr>
          <p:spPr>
            <a:xfrm>
              <a:off x="6238875" y="3848100"/>
              <a:ext cx="5191125" cy="2209800"/>
            </a:xfrm>
            <a:prstGeom prst="roundRect">
              <a:avLst>
                <a:gd name="adj" fmla="val 6897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38875" y="3848100"/>
              <a:ext cx="57150" cy="22098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556375" y="4122600"/>
              <a:ext cx="203200" cy="213000"/>
              <a:chOff x="6556375" y="4122600"/>
              <a:chExt cx="203200" cy="2130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556375" y="41226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203200" y="93800"/>
                    </a:moveTo>
                    <a:cubicBezTo>
                      <a:pt x="196815" y="47858"/>
                      <a:pt x="160476" y="11871"/>
                      <a:pt x="114474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56375" y="42418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0" y="0"/>
                    </a:moveTo>
                    <a:cubicBezTo>
                      <a:pt x="6385" y="45942"/>
                      <a:pt x="42724" y="81929"/>
                      <a:pt x="88726" y="87864"/>
                    </a:cubicBezTo>
                    <a:cubicBezTo>
                      <a:pt x="134728" y="93800"/>
                      <a:pt x="179013" y="68216"/>
                      <a:pt x="196850" y="25400"/>
                    </a:cubicBezTo>
                    <a:moveTo>
                      <a:pt x="203200" y="76200"/>
                    </a:moveTo>
                    <a:lnTo>
                      <a:pt x="203200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884670" y="41271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进化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66095" y="41919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长期复利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505575" y="4533900"/>
              <a:ext cx="4733925" cy="9525"/>
            </a:xfrm>
            <a:custGeom>
              <a:avLst/>
              <a:gdLst/>
              <a:ahLst/>
              <a:cxnLst/>
              <a:rect l="l" t="t" r="r" b="b"/>
              <a:pathLst>
                <a:path w="4733925" h="9525">
                  <a:moveTo>
                    <a:pt x="0" y="0"/>
                  </a:moveTo>
                  <a:lnTo>
                    <a:pt x="4733925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73190" y="4792028"/>
              <a:ext cx="111805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↑50%+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91288" y="5231606"/>
              <a:ext cx="16262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知识/资产复用率(预估)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43950" y="49053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越用越准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48712" y="5231606"/>
              <a:ext cx="1543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组织经验成能力(预估)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93192" y="5724049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本体网络 + Agent 记忆 + 经验进化底座持续复利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51522" y="6464141"/>
            <a:ext cx="10688955" cy="167640"/>
            <a:chOff x="751522" y="6464141"/>
            <a:chExt cx="10688955" cy="167640"/>
          </a:xfrm>
        </p:grpSpPr>
        <p:sp>
          <p:nvSpPr>
            <p:cNvPr id="60" name="TextBox 60"/>
            <p:cNvSpPr txBox="1"/>
            <p:nvPr/>
          </p:nvSpPr>
          <p:spPr>
            <a:xfrm>
              <a:off x="751522" y="6464141"/>
              <a:ext cx="35083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* 以上为预估值,可按实际业务量与代码库规模校准 · 第五章 · 价值实施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24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30" grpId="0"/>
      <p:bldP spid="45" grpId="0"/>
      <p:bldP spid="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5330" y="533400"/>
            <a:ext cx="7154328" cy="792956"/>
            <a:chOff x="735330" y="533400"/>
            <a:chExt cx="7154328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725805"/>
              <a:ext cx="71543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六阶段落地 —— 先让一个产品具备 AI 可协同的工程底座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1097756"/>
              <a:ext cx="42441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不要先大规模改组织,先跑通一个试点,再复制到更多产品和领域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" y="2286000"/>
            <a:ext cx="10287000" cy="9525"/>
            <a:chOff x="1143000" y="2286000"/>
            <a:chExt cx="10287000" cy="9525"/>
          </a:xfrm>
        </p:grpSpPr>
        <p:sp>
          <p:nvSpPr>
            <p:cNvPr id="7" name="Line 7"/>
            <p:cNvSpPr/>
            <p:nvPr/>
          </p:nvSpPr>
          <p:spPr>
            <a:xfrm>
              <a:off x="1143000" y="2286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28575">
              <a:solidFill>
                <a:srgbClr val="E3E9F2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62000" y="2133600"/>
            <a:ext cx="1619250" cy="2476500"/>
            <a:chOff x="762000" y="2133600"/>
            <a:chExt cx="1619250" cy="2476500"/>
          </a:xfrm>
        </p:grpSpPr>
        <p:sp>
          <p:nvSpPr>
            <p:cNvPr id="9" name="Ellipse 9"/>
            <p:cNvSpPr/>
            <p:nvPr/>
          </p:nvSpPr>
          <p:spPr>
            <a:xfrm>
              <a:off x="1276350" y="2133600"/>
              <a:ext cx="304800" cy="3048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78825" y="22378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705100"/>
              <a:ext cx="1619250" cy="1905000"/>
            </a:xfrm>
            <a:prstGeom prst="roundRect">
              <a:avLst>
                <a:gd name="adj" fmla="val 70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7051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0118" y="2885599"/>
              <a:ext cx="8373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启动前 2-4 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7260" y="31280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选产品建基线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52500" y="34099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1070" y="3560445"/>
              <a:ext cx="7249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选试点产品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1070" y="3769995"/>
              <a:ext cx="7249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建基线指标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397954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定义风险边界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2022" y="4368641"/>
              <a:ext cx="1639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M0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381250" y="2133600"/>
            <a:ext cx="1619250" cy="2476500"/>
            <a:chOff x="2381250" y="2133600"/>
            <a:chExt cx="1619250" cy="2476500"/>
          </a:xfrm>
        </p:grpSpPr>
        <p:sp>
          <p:nvSpPr>
            <p:cNvPr id="21" name="Ellipse 21"/>
            <p:cNvSpPr/>
            <p:nvPr/>
          </p:nvSpPr>
          <p:spPr>
            <a:xfrm>
              <a:off x="2895600" y="2133600"/>
              <a:ext cx="304800" cy="3048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98075" y="22378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381250" y="2705100"/>
              <a:ext cx="1619250" cy="1905000"/>
            </a:xfrm>
            <a:prstGeom prst="roundRect">
              <a:avLst>
                <a:gd name="adj" fmla="val 70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81250" y="27051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59368" y="2885599"/>
              <a:ext cx="512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M1 - M2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56510" y="31280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工程底座试点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571750" y="34099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60320" y="356044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CLI 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60320" y="3769995"/>
              <a:ext cx="7249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环境自动化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60320" y="3979545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自动化测试补强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60320" y="4189095"/>
              <a:ext cx="7249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资产 Git 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1272" y="4368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Harness 起步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000500" y="2133600"/>
            <a:ext cx="1619250" cy="2476500"/>
            <a:chOff x="4000500" y="2133600"/>
            <a:chExt cx="1619250" cy="2476500"/>
          </a:xfrm>
        </p:grpSpPr>
        <p:sp>
          <p:nvSpPr>
            <p:cNvPr id="34" name="Ellipse 34"/>
            <p:cNvSpPr/>
            <p:nvPr/>
          </p:nvSpPr>
          <p:spPr>
            <a:xfrm>
              <a:off x="4514850" y="2133600"/>
              <a:ext cx="304800" cy="3048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17325" y="22378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000500" y="2705100"/>
              <a:ext cx="1619250" cy="1905000"/>
            </a:xfrm>
            <a:prstGeom prst="roundRect">
              <a:avLst>
                <a:gd name="adj" fmla="val 70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00500" y="27051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78618" y="2885599"/>
              <a:ext cx="512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M2 - M4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75760" y="3128010"/>
              <a:ext cx="9461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产品 AI 小队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4191000" y="34099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79570" y="35604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AI 快速原型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79570" y="376999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契约驱动交付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179570" y="397954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产品全栈协同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80522" y="4368641"/>
              <a:ext cx="7415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个人→小队提效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19750" y="2133600"/>
            <a:ext cx="1619250" cy="2476500"/>
            <a:chOff x="5619750" y="2133600"/>
            <a:chExt cx="1619250" cy="2476500"/>
          </a:xfrm>
        </p:grpSpPr>
        <p:sp>
          <p:nvSpPr>
            <p:cNvPr id="46" name="Ellipse 46"/>
            <p:cNvSpPr/>
            <p:nvPr/>
          </p:nvSpPr>
          <p:spPr>
            <a:xfrm>
              <a:off x="6134100" y="2133600"/>
              <a:ext cx="304800" cy="3048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36575" y="22378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619750" y="2705100"/>
              <a:ext cx="1619250" cy="1905000"/>
            </a:xfrm>
            <a:prstGeom prst="roundRect">
              <a:avLst>
                <a:gd name="adj" fmla="val 70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619750" y="27051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97868" y="2885599"/>
              <a:ext cx="512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M3 - M6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95010" y="31280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数据与知识试点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810250" y="34099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98820" y="356044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知识工程纳入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98820" y="376999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本体网络雏形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98820" y="397954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数据资产沉淀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799772" y="4368641"/>
              <a:ext cx="6150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S3 底座起步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239000" y="2133600"/>
            <a:ext cx="1619250" cy="2476500"/>
            <a:chOff x="7239000" y="2133600"/>
            <a:chExt cx="1619250" cy="2476500"/>
          </a:xfrm>
        </p:grpSpPr>
        <p:sp>
          <p:nvSpPr>
            <p:cNvPr id="58" name="Ellipse 58"/>
            <p:cNvSpPr/>
            <p:nvPr/>
          </p:nvSpPr>
          <p:spPr>
            <a:xfrm>
              <a:off x="7753350" y="2133600"/>
              <a:ext cx="304800" cy="30480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55825" y="22378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239000" y="2705100"/>
              <a:ext cx="1619250" cy="1905000"/>
            </a:xfrm>
            <a:prstGeom prst="roundRect">
              <a:avLst>
                <a:gd name="adj" fmla="val 7059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39000" y="27051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17118" y="2885599"/>
              <a:ext cx="512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M6 - M9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14260" y="3128010"/>
              <a:ext cx="1030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FDE 小队试点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7429500" y="34099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18070" y="3560445"/>
              <a:ext cx="1217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应用/数据/知识融合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18070" y="376999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人智协同平台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18070" y="3979545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· 云端智能体接入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19022" y="43686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领域级协同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858250" y="2133600"/>
            <a:ext cx="2571750" cy="2476500"/>
            <a:chOff x="8858250" y="2133600"/>
            <a:chExt cx="2571750" cy="2476500"/>
          </a:xfrm>
        </p:grpSpPr>
        <p:sp>
          <p:nvSpPr>
            <p:cNvPr id="70" name="Ellipse 70"/>
            <p:cNvSpPr/>
            <p:nvPr/>
          </p:nvSpPr>
          <p:spPr>
            <a:xfrm>
              <a:off x="9372600" y="2133600"/>
              <a:ext cx="304800" cy="30480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5075" y="22378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858250" y="2705100"/>
              <a:ext cx="2571750" cy="1905000"/>
            </a:xfrm>
            <a:prstGeom prst="roundRect">
              <a:avLst>
                <a:gd name="adj" fmla="val 6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858250" y="27051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036368" y="2885599"/>
              <a:ext cx="583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M9 - M18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33510" y="31280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组织架构转型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9048750" y="34099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246BFE">
                  <a:alpha val="50000"/>
                </a:srgbClr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037320" y="3560445"/>
              <a:ext cx="8389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· FDE 领域团队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037320" y="376999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· 三层组织成型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037320" y="3979545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· 治理 ROI 制度化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038272" y="43686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规模化复用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62000" y="5029200"/>
            <a:ext cx="10668000" cy="952500"/>
            <a:chOff x="762000" y="5029200"/>
            <a:chExt cx="10668000" cy="952500"/>
          </a:xfrm>
        </p:grpSpPr>
        <p:sp>
          <p:nvSpPr>
            <p:cNvPr id="82" name="Rectangle 82"/>
            <p:cNvSpPr/>
            <p:nvPr/>
          </p:nvSpPr>
          <p:spPr>
            <a:xfrm>
              <a:off x="762000" y="5029200"/>
              <a:ext cx="10668000" cy="952500"/>
            </a:xfrm>
            <a:prstGeom prst="roundRect">
              <a:avLst>
                <a:gd name="adj" fmla="val 1400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62000" y="502920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892677" y="5286375"/>
              <a:ext cx="44066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每阶段沉淀 5+2 范式的一部分;试点有效再复制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383828" y="5639752"/>
              <a:ext cx="54243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不要先大规模改组织,先让一个产品具备 AI 可协同的工程底座,再复制到更多产品和领域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87" name="TextBox 87"/>
            <p:cNvSpPr txBox="1"/>
            <p:nvPr/>
          </p:nvSpPr>
          <p:spPr>
            <a:xfrm>
              <a:off x="750570" y="64560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第五章 · 价值实施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25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0" grpId="0"/>
      <p:bldP spid="33" grpId="0"/>
      <p:bldP spid="45" grpId="0"/>
      <p:bldP spid="57" grpId="0"/>
      <p:bldP spid="69" grpId="0"/>
      <p:bldP spid="81" grpId="0"/>
      <p:bldP spid="8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5330" y="533400"/>
            <a:ext cx="7051415" cy="792956"/>
            <a:chOff x="735330" y="533400"/>
            <a:chExt cx="7051415" cy="792956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725805"/>
              <a:ext cx="705141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为什么是法本 —— 四重保障托底 FarAI 研发流水线落地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1097756"/>
              <a:ext cx="40790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能力底座 + 交付经验 + 安全合规 + 生态合作,托底端到端落地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638300"/>
            <a:ext cx="2571750" cy="4267200"/>
            <a:chOff x="762000" y="1638300"/>
            <a:chExt cx="2571750" cy="4267200"/>
          </a:xfrm>
        </p:grpSpPr>
        <p:sp>
          <p:nvSpPr>
            <p:cNvPr id="7" name="Rectangle 7"/>
            <p:cNvSpPr/>
            <p:nvPr/>
          </p:nvSpPr>
          <p:spPr>
            <a:xfrm>
              <a:off x="762000" y="1638300"/>
              <a:ext cx="2571750" cy="4267200"/>
            </a:xfrm>
            <a:prstGeom prst="roundRect">
              <a:avLst>
                <a:gd name="adj" fmla="val 592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38300"/>
              <a:ext cx="2571750" cy="952500"/>
            </a:xfrm>
            <a:prstGeom prst="roundRect">
              <a:avLst>
                <a:gd name="adj" fmla="val 16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2190750"/>
              <a:ext cx="2571750" cy="400050"/>
            </a:xfrm>
            <a:prstGeom prst="rect">
              <a:avLst/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54100" y="1930400"/>
              <a:ext cx="254000" cy="254000"/>
              <a:chOff x="1054100" y="1930400"/>
              <a:chExt cx="254000" cy="254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54100" y="1930400"/>
                <a:ext cx="9525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9375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lnTo>
                      <a:pt x="95250" y="47625"/>
                    </a:lnTo>
                    <a:cubicBezTo>
                      <a:pt x="95250" y="65160"/>
                      <a:pt x="81035" y="79375"/>
                      <a:pt x="63500" y="79375"/>
                    </a:cubicBezTo>
                    <a:lnTo>
                      <a:pt x="31750" y="79375"/>
                    </a:lnTo>
                    <a:cubicBezTo>
                      <a:pt x="14215" y="79375"/>
                      <a:pt x="0" y="65160"/>
                      <a:pt x="0" y="47625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54100" y="2073275"/>
                <a:ext cx="95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1125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lnTo>
                      <a:pt x="95250" y="79375"/>
                    </a:lnTo>
                    <a:cubicBezTo>
                      <a:pt x="95250" y="96910"/>
                      <a:pt x="81035" y="111125"/>
                      <a:pt x="63500" y="111125"/>
                    </a:cubicBezTo>
                    <a:lnTo>
                      <a:pt x="31750" y="111125"/>
                    </a:lnTo>
                    <a:cubicBezTo>
                      <a:pt x="14215" y="111125"/>
                      <a:pt x="0" y="96910"/>
                      <a:pt x="0" y="79375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2850" y="1930400"/>
                <a:ext cx="95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1125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lnTo>
                      <a:pt x="95250" y="79375"/>
                    </a:lnTo>
                    <a:cubicBezTo>
                      <a:pt x="95250" y="96910"/>
                      <a:pt x="81035" y="111125"/>
                      <a:pt x="63500" y="111125"/>
                    </a:cubicBezTo>
                    <a:lnTo>
                      <a:pt x="31750" y="111125"/>
                    </a:lnTo>
                    <a:cubicBezTo>
                      <a:pt x="14215" y="111125"/>
                      <a:pt x="0" y="96910"/>
                      <a:pt x="0" y="79375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12850" y="2105025"/>
                <a:ext cx="9525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9375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lnTo>
                      <a:pt x="95250" y="47625"/>
                    </a:lnTo>
                    <a:cubicBezTo>
                      <a:pt x="95250" y="65160"/>
                      <a:pt x="81035" y="79375"/>
                      <a:pt x="63500" y="79375"/>
                    </a:cubicBezTo>
                    <a:lnTo>
                      <a:pt x="31750" y="79375"/>
                    </a:lnTo>
                    <a:cubicBezTo>
                      <a:pt x="14215" y="79375"/>
                      <a:pt x="0" y="65160"/>
                      <a:pt x="0" y="47625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66850" y="19907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能力底座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7265" y="2934652"/>
              <a:ext cx="12588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FarAI 全栈产品矩阵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7265" y="3277552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自研 Agent / Skill 框架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7265" y="36204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本体网络与知识工程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7265" y="396335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Harness 工程方法论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90600" y="455295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9170" y="4855845"/>
              <a:ext cx="1313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从模型、Agent、Skill、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170" y="506539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知识到底座的全栈能力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9170" y="5465445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技术产品全栈自研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524250" y="1638300"/>
            <a:ext cx="2571750" cy="4267200"/>
            <a:chOff x="3524250" y="1638300"/>
            <a:chExt cx="2571750" cy="4267200"/>
          </a:xfrm>
        </p:grpSpPr>
        <p:sp>
          <p:nvSpPr>
            <p:cNvPr id="25" name="Rectangle 25"/>
            <p:cNvSpPr/>
            <p:nvPr/>
          </p:nvSpPr>
          <p:spPr>
            <a:xfrm>
              <a:off x="3524250" y="1638300"/>
              <a:ext cx="2571750" cy="4267200"/>
            </a:xfrm>
            <a:prstGeom prst="roundRect">
              <a:avLst>
                <a:gd name="adj" fmla="val 592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24250" y="1638300"/>
              <a:ext cx="2571750" cy="952500"/>
            </a:xfrm>
            <a:prstGeom prst="roundRect">
              <a:avLst>
                <a:gd name="adj" fmla="val 16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24250" y="2190750"/>
              <a:ext cx="2571750" cy="400050"/>
            </a:xfrm>
            <a:prstGeom prst="rect">
              <a:avLst/>
            </a:prstGeom>
            <a:solidFill>
              <a:srgbClr val="246BFE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3800475" y="1914525"/>
              <a:ext cx="285750" cy="285750"/>
              <a:chOff x="3800475" y="1914525"/>
              <a:chExt cx="285750" cy="2857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3800475" y="21367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22725" y="19145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832225" y="19462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2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229100" y="19907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交付经验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39515" y="29346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多行业研发组织落地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39515" y="32775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标准化实施方法论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39515" y="3620452"/>
              <a:ext cx="1223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试点-复制路径成熟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39515" y="39633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多产品线规模化实践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752850" y="455295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41420" y="4855845"/>
              <a:ext cx="12350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金融/制造/科技等行业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41420" y="50653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研发效能落地经验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41420" y="5465445"/>
              <a:ext cx="104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方法论 + 标杆案例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286500" y="1638300"/>
            <a:ext cx="2571750" cy="4267200"/>
            <a:chOff x="6286500" y="1638300"/>
            <a:chExt cx="2571750" cy="4267200"/>
          </a:xfrm>
        </p:grpSpPr>
        <p:sp>
          <p:nvSpPr>
            <p:cNvPr id="42" name="Rectangle 42"/>
            <p:cNvSpPr/>
            <p:nvPr/>
          </p:nvSpPr>
          <p:spPr>
            <a:xfrm>
              <a:off x="6286500" y="1638300"/>
              <a:ext cx="2571750" cy="4267200"/>
            </a:xfrm>
            <a:prstGeom prst="roundRect">
              <a:avLst>
                <a:gd name="adj" fmla="val 592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86500" y="1638300"/>
              <a:ext cx="2571750" cy="952500"/>
            </a:xfrm>
            <a:prstGeom prst="roundRect">
              <a:avLst>
                <a:gd name="adj" fmla="val 16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86500" y="2190750"/>
              <a:ext cx="2571750" cy="400050"/>
            </a:xfrm>
            <a:prstGeom prst="rect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556114" y="1914525"/>
              <a:ext cx="298972" cy="285750"/>
            </a:xfrm>
            <a:custGeom>
              <a:avLst/>
              <a:gdLst/>
              <a:ahLst/>
              <a:cxnLst/>
              <a:rect l="l" t="t" r="r" b="b"/>
              <a:pathLst>
                <a:path w="298972" h="285750">
                  <a:moveTo>
                    <a:pt x="149486" y="0"/>
                  </a:moveTo>
                  <a:cubicBezTo>
                    <a:pt x="186567" y="32807"/>
                    <a:pt x="234965" y="49888"/>
                    <a:pt x="284424" y="47625"/>
                  </a:cubicBezTo>
                  <a:cubicBezTo>
                    <a:pt x="298972" y="97116"/>
                    <a:pt x="292828" y="150391"/>
                    <a:pt x="267396" y="195271"/>
                  </a:cubicBezTo>
                  <a:cubicBezTo>
                    <a:pt x="241964" y="240151"/>
                    <a:pt x="199419" y="272798"/>
                    <a:pt x="149486" y="285750"/>
                  </a:cubicBezTo>
                  <a:cubicBezTo>
                    <a:pt x="99554" y="272798"/>
                    <a:pt x="57008" y="240151"/>
                    <a:pt x="31576" y="195271"/>
                  </a:cubicBezTo>
                  <a:cubicBezTo>
                    <a:pt x="6144" y="150391"/>
                    <a:pt x="0" y="97116"/>
                    <a:pt x="14549" y="47625"/>
                  </a:cubicBezTo>
                  <a:cubicBezTo>
                    <a:pt x="64008" y="49888"/>
                    <a:pt x="112405" y="32807"/>
                    <a:pt x="149486" y="0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91350" y="19907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安全合规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01765" y="2934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企业级数据安全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01765" y="32775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权限与审计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01765" y="36204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风险分级行权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01765" y="39633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私有化部署支持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515100" y="455295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03670" y="48558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数据不出域、权限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03670" y="50653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可控、操作可审计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03670" y="5465445"/>
              <a:ext cx="923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企业级 · 国产化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48750" y="1638300"/>
            <a:ext cx="2381250" cy="4267200"/>
            <a:chOff x="9048750" y="1638300"/>
            <a:chExt cx="2381250" cy="4267200"/>
          </a:xfrm>
        </p:grpSpPr>
        <p:sp>
          <p:nvSpPr>
            <p:cNvPr id="56" name="Rectangle 56"/>
            <p:cNvSpPr/>
            <p:nvPr/>
          </p:nvSpPr>
          <p:spPr>
            <a:xfrm>
              <a:off x="9048750" y="1638300"/>
              <a:ext cx="2381250" cy="4267200"/>
            </a:xfrm>
            <a:prstGeom prst="roundRect">
              <a:avLst>
                <a:gd name="adj" fmla="val 640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048750" y="1638300"/>
              <a:ext cx="2381250" cy="952500"/>
            </a:xfrm>
            <a:prstGeom prst="roundRect">
              <a:avLst>
                <a:gd name="adj" fmla="val 16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048750" y="2190750"/>
              <a:ext cx="2381250" cy="400050"/>
            </a:xfrm>
            <a:prstGeom prst="rect">
              <a:avLst/>
            </a:prstGeom>
            <a:solidFill>
              <a:srgbClr val="0E9F6E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9324975" y="1914525"/>
              <a:ext cx="285750" cy="301625"/>
              <a:chOff x="9324975" y="1914525"/>
              <a:chExt cx="285750" cy="3016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372600" y="19145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467850" y="1914525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0" y="0"/>
                    </a:moveTo>
                    <a:cubicBezTo>
                      <a:pt x="21161" y="5286"/>
                      <a:pt x="31750" y="37036"/>
                      <a:pt x="31750" y="95250"/>
                    </a:cubicBezTo>
                    <a:cubicBezTo>
                      <a:pt x="31750" y="153464"/>
                      <a:pt x="21161" y="185214"/>
                      <a:pt x="0" y="190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436100" y="1914525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31750" y="0"/>
                    </a:moveTo>
                    <a:cubicBezTo>
                      <a:pt x="10589" y="5286"/>
                      <a:pt x="0" y="37036"/>
                      <a:pt x="0" y="95250"/>
                    </a:cubicBezTo>
                    <a:cubicBezTo>
                      <a:pt x="0" y="153464"/>
                      <a:pt x="10589" y="185214"/>
                      <a:pt x="31750" y="190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372600" y="20097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324975" y="218440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499600" y="218440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436100" y="21526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467850" y="21050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9753600" y="19907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生态合作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264015" y="2934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主流大模型集成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264015" y="32775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编码工具打通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264015" y="3620452"/>
              <a:ext cx="12588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DevOps 工具链接入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264015" y="39633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行业标杆客户协同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9277350" y="4552950"/>
              <a:ext cx="1924050" cy="9525"/>
            </a:xfrm>
            <a:custGeom>
              <a:avLst/>
              <a:gdLst/>
              <a:ahLst/>
              <a:cxnLst/>
              <a:rect l="l" t="t" r="r" b="b"/>
              <a:pathLst>
                <a:path w="1924050" h="9525">
                  <a:moveTo>
                    <a:pt x="0" y="0"/>
                  </a:moveTo>
                  <a:lnTo>
                    <a:pt x="19240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265920" y="485584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开放生态、持续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265920" y="506539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演进的技术合作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265920" y="5465445"/>
              <a:ext cx="6718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开放 · 共建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50570" y="6456045"/>
            <a:ext cx="10689907" cy="182880"/>
            <a:chOff x="750570" y="6456045"/>
            <a:chExt cx="10689907" cy="182880"/>
          </a:xfrm>
        </p:grpSpPr>
        <p:sp>
          <p:nvSpPr>
            <p:cNvPr id="78" name="TextBox 78"/>
            <p:cNvSpPr txBox="1"/>
            <p:nvPr/>
          </p:nvSpPr>
          <p:spPr>
            <a:xfrm>
              <a:off x="750570" y="64560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第五章 · 价值实施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050976" y="6464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26 / 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4" grpId="0"/>
      <p:bldP spid="41" grpId="0"/>
      <p:bldP spid="55" grpId="0"/>
      <p:bldP spid="7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55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429000" y="762000"/>
              <a:ext cx="5334000" cy="5334000"/>
            </a:xfrm>
            <a:prstGeom prst="ellipse">
              <a:avLst/>
            </a:prstGeom>
            <a:solidFill>
              <a:srgbClr val="246BFE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4381500" y="1714500"/>
              <a:ext cx="3429000" cy="3429000"/>
            </a:xfrm>
            <a:prstGeom prst="ellipse">
              <a:avLst/>
            </a:prstGeom>
            <a:solidFill>
              <a:srgbClr val="518FEC">
                <a:alpha val="4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826125" y="1568450"/>
            <a:ext cx="1151414" cy="469900"/>
            <a:chOff x="5826125" y="1568450"/>
            <a:chExt cx="1151414" cy="469900"/>
          </a:xfrm>
        </p:grpSpPr>
        <p:grpSp>
          <p:nvGrpSpPr>
            <p:cNvPr id="15" name="Group 15"/>
            <p:cNvGrpSpPr/>
            <p:nvPr/>
          </p:nvGrpSpPr>
          <p:grpSpPr>
            <a:xfrm>
              <a:off x="5826125" y="1568450"/>
              <a:ext cx="311150" cy="422275"/>
              <a:chOff x="5826125" y="1568450"/>
              <a:chExt cx="311150" cy="42227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5848350" y="1612900"/>
                <a:ext cx="2667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7800">
                    <a:moveTo>
                      <a:pt x="0" y="44450"/>
                    </a:moveTo>
                    <a:cubicBezTo>
                      <a:pt x="0" y="19901"/>
                      <a:pt x="19901" y="0"/>
                      <a:pt x="44450" y="0"/>
                    </a:cubicBezTo>
                    <a:lnTo>
                      <a:pt x="222250" y="0"/>
                    </a:lnTo>
                    <a:cubicBezTo>
                      <a:pt x="246799" y="0"/>
                      <a:pt x="266700" y="19901"/>
                      <a:pt x="266700" y="44450"/>
                    </a:cubicBezTo>
                    <a:lnTo>
                      <a:pt x="266700" y="133350"/>
                    </a:lnTo>
                    <a:cubicBezTo>
                      <a:pt x="266700" y="157899"/>
                      <a:pt x="246799" y="177800"/>
                      <a:pt x="222250" y="177800"/>
                    </a:cubicBezTo>
                    <a:lnTo>
                      <a:pt x="44450" y="177800"/>
                    </a:lnTo>
                    <a:cubicBezTo>
                      <a:pt x="19901" y="177800"/>
                      <a:pt x="0" y="157899"/>
                      <a:pt x="0" y="133350"/>
                    </a:cubicBez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5981700" y="15684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915025" y="1790700"/>
                <a:ext cx="95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0025">
                    <a:moveTo>
                      <a:pt x="0" y="0"/>
                    </a:moveTo>
                    <a:lnTo>
                      <a:pt x="0" y="200025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048375" y="1790700"/>
                <a:ext cx="95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0025">
                    <a:moveTo>
                      <a:pt x="0" y="0"/>
                    </a:moveTo>
                    <a:lnTo>
                      <a:pt x="0" y="200025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826125" y="1835150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4445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048375" y="1835150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0"/>
                    </a:moveTo>
                    <a:lnTo>
                      <a:pt x="88900" y="4445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915025" y="192405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937250" y="170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22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26150" y="170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22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6301740" y="1672590"/>
              <a:ext cx="6757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FarAI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12772" y="2977515"/>
            <a:ext cx="5166455" cy="1242060"/>
            <a:chOff x="3512772" y="2977515"/>
            <a:chExt cx="5166455" cy="1242060"/>
          </a:xfrm>
        </p:grpSpPr>
        <p:sp>
          <p:nvSpPr>
            <p:cNvPr id="18" name="TextBox 18"/>
            <p:cNvSpPr txBox="1"/>
            <p:nvPr/>
          </p:nvSpPr>
          <p:spPr>
            <a:xfrm>
              <a:off x="3512772" y="2977515"/>
              <a:ext cx="516645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让 AI 在你的研发组织里,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7917" y="3549015"/>
              <a:ext cx="285616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可控地跑起来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0" y="4229100"/>
            <a:ext cx="762000" cy="38100"/>
            <a:chOff x="5715000" y="4229100"/>
            <a:chExt cx="762000" cy="38100"/>
          </a:xfrm>
        </p:grpSpPr>
        <p:sp>
          <p:nvSpPr>
            <p:cNvPr id="21" name="Rectangle 21"/>
            <p:cNvSpPr/>
            <p:nvPr/>
          </p:nvSpPr>
          <p:spPr>
            <a:xfrm>
              <a:off x="5715000" y="42291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266724" y="4600575"/>
            <a:ext cx="3658552" cy="304800"/>
            <a:chOff x="4266724" y="4600575"/>
            <a:chExt cx="3658552" cy="304800"/>
          </a:xfrm>
        </p:grpSpPr>
        <p:sp>
          <p:nvSpPr>
            <p:cNvPr id="23" name="TextBox 23"/>
            <p:cNvSpPr txBox="1"/>
            <p:nvPr/>
          </p:nvSpPr>
          <p:spPr>
            <a:xfrm>
              <a:off x="4266724" y="4600575"/>
              <a:ext cx="36585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FarAI 研发流水线 · 个人提效 → 组织提效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191000" y="5410200"/>
            <a:ext cx="4021455" cy="519112"/>
            <a:chOff x="4191000" y="5410200"/>
            <a:chExt cx="4021455" cy="519112"/>
          </a:xfrm>
        </p:grpSpPr>
        <p:sp>
          <p:nvSpPr>
            <p:cNvPr id="25" name="Line 25"/>
            <p:cNvSpPr/>
            <p:nvPr/>
          </p:nvSpPr>
          <p:spPr>
            <a:xfrm>
              <a:off x="4191000" y="54102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FFFFFF">
                  <a:alpha val="15000"/>
                </a:srgbClr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886325" y="5676900"/>
              <a:ext cx="171450" cy="161925"/>
              <a:chOff x="4886325" y="5676900"/>
              <a:chExt cx="171450" cy="1619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933950" y="57245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933950" y="57626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886325" y="5676900"/>
                <a:ext cx="1714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61925">
                    <a:moveTo>
                      <a:pt x="142875" y="0"/>
                    </a:move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04775"/>
                    </a:lnTo>
                    <a:cubicBezTo>
                      <a:pt x="171450" y="120557"/>
                      <a:pt x="158657" y="133350"/>
                      <a:pt x="142875" y="133350"/>
                    </a:cubicBezTo>
                    <a:lnTo>
                      <a:pt x="95250" y="133350"/>
                    </a:lnTo>
                    <a:lnTo>
                      <a:pt x="47625" y="161925"/>
                    </a:lnTo>
                    <a:lnTo>
                      <a:pt x="47625" y="133350"/>
                    </a:lnTo>
                    <a:lnTo>
                      <a:pt x="28575" y="133350"/>
                    </a:lnTo>
                    <a:cubicBezTo>
                      <a:pt x="12793" y="133350"/>
                      <a:pt x="0" y="120557"/>
                      <a:pt x="0" y="1047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149215" y="57159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扫码咨询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6124575" y="5667375"/>
              <a:ext cx="171450" cy="180975"/>
              <a:chOff x="6124575" y="5667375"/>
              <a:chExt cx="171450" cy="1809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124575" y="5838825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81725" y="571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181725" y="5753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81725" y="5791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229350" y="571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229350" y="5753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229350" y="5791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143625" y="56673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0" y="171450"/>
                    </a:move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7145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387465" y="5715952"/>
              <a:ext cx="10908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法本信息 Farben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372350" y="5667375"/>
              <a:ext cx="152400" cy="180975"/>
              <a:chOff x="7372350" y="5667375"/>
              <a:chExt cx="152400" cy="18097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72350" y="5667375"/>
                <a:ext cx="1524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4775">
                    <a:moveTo>
                      <a:pt x="0" y="104775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ubicBezTo>
                      <a:pt x="118284" y="0"/>
                      <a:pt x="152400" y="34116"/>
                      <a:pt x="152400" y="76200"/>
                    </a:cubicBezTo>
                    <a:lnTo>
                      <a:pt x="152400" y="104775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448550" y="581977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57150" y="0"/>
                    </a:moveTo>
                    <a:cubicBezTo>
                      <a:pt x="57150" y="15783"/>
                      <a:pt x="31566" y="28575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372350" y="5753100"/>
                <a:ext cx="476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6675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28575" y="0"/>
                    </a:lnTo>
                    <a:cubicBezTo>
                      <a:pt x="39096" y="0"/>
                      <a:pt x="47625" y="8529"/>
                      <a:pt x="47625" y="19050"/>
                    </a:cubicBezTo>
                    <a:lnTo>
                      <a:pt x="47625" y="47625"/>
                    </a:lnTo>
                    <a:cubicBezTo>
                      <a:pt x="47625" y="58146"/>
                      <a:pt x="39096" y="66675"/>
                      <a:pt x="28575" y="66675"/>
                    </a:cubicBezTo>
                    <a:lnTo>
                      <a:pt x="19050" y="66675"/>
                    </a:lnTo>
                    <a:cubicBezTo>
                      <a:pt x="8529" y="66675"/>
                      <a:pt x="0" y="58146"/>
                      <a:pt x="0" y="47625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477125" y="5753100"/>
                <a:ext cx="476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6675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28575" y="0"/>
                    </a:lnTo>
                    <a:cubicBezTo>
                      <a:pt x="39096" y="0"/>
                      <a:pt x="47625" y="8529"/>
                      <a:pt x="47625" y="19050"/>
                    </a:cubicBezTo>
                    <a:lnTo>
                      <a:pt x="47625" y="47625"/>
                    </a:lnTo>
                    <a:cubicBezTo>
                      <a:pt x="47625" y="58146"/>
                      <a:pt x="39096" y="66675"/>
                      <a:pt x="28575" y="66675"/>
                    </a:cubicBezTo>
                    <a:lnTo>
                      <a:pt x="19050" y="66675"/>
                    </a:lnTo>
                    <a:cubicBezTo>
                      <a:pt x="8529" y="66675"/>
                      <a:pt x="0" y="58146"/>
                      <a:pt x="0" y="47625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625715" y="57159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售前对接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4866418" y="6379845"/>
            <a:ext cx="24591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FA3C4"/>
                </a:solidFill>
                <a:latin typeface="Arial"/>
                <a:ea typeface="Microsoft YaHei"/>
                <a:cs typeface="Arial"/>
              </a:rPr>
              <a:t>法本信息 · FarAI 研发流水线售前方案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4" grpId="0"/>
      <p:bldP spid="4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2026-08-05T08:43:39Z</dcterms:created>
  <dcterms:modified xsi:type="dcterms:W3CDTF">2026-08-05T08:43:39Z</dcterms:modified>
  <cp:category/>
  <cp:contentStatus/>
</cp:coreProperties>
</file>